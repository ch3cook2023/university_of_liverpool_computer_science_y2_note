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5" r:id="rId1"/>
  </p:sldMasterIdLst>
  <p:notesMasterIdLst>
    <p:notesMasterId r:id="rId38"/>
  </p:notesMasterIdLst>
  <p:handoutMasterIdLst>
    <p:handoutMasterId r:id="rId39"/>
  </p:handoutMasterIdLst>
  <p:sldIdLst>
    <p:sldId id="595" r:id="rId2"/>
    <p:sldId id="571" r:id="rId3"/>
    <p:sldId id="555" r:id="rId4"/>
    <p:sldId id="593" r:id="rId5"/>
    <p:sldId id="556" r:id="rId6"/>
    <p:sldId id="557" r:id="rId7"/>
    <p:sldId id="558" r:id="rId8"/>
    <p:sldId id="559" r:id="rId9"/>
    <p:sldId id="560" r:id="rId10"/>
    <p:sldId id="561" r:id="rId11"/>
    <p:sldId id="562" r:id="rId12"/>
    <p:sldId id="601" r:id="rId13"/>
    <p:sldId id="563" r:id="rId14"/>
    <p:sldId id="572" r:id="rId15"/>
    <p:sldId id="573" r:id="rId16"/>
    <p:sldId id="574" r:id="rId17"/>
    <p:sldId id="596" r:id="rId18"/>
    <p:sldId id="581" r:id="rId19"/>
    <p:sldId id="583" r:id="rId20"/>
    <p:sldId id="582" r:id="rId21"/>
    <p:sldId id="575" r:id="rId22"/>
    <p:sldId id="594" r:id="rId23"/>
    <p:sldId id="576" r:id="rId24"/>
    <p:sldId id="577" r:id="rId25"/>
    <p:sldId id="578" r:id="rId26"/>
    <p:sldId id="569" r:id="rId27"/>
    <p:sldId id="599" r:id="rId28"/>
    <p:sldId id="585" r:id="rId29"/>
    <p:sldId id="586" r:id="rId30"/>
    <p:sldId id="587" r:id="rId31"/>
    <p:sldId id="600" r:id="rId32"/>
    <p:sldId id="589" r:id="rId33"/>
    <p:sldId id="590" r:id="rId34"/>
    <p:sldId id="597" r:id="rId35"/>
    <p:sldId id="598" r:id="rId36"/>
    <p:sldId id="602" r:id="rId37"/>
  </p:sldIdLst>
  <p:sldSz cx="9144000" cy="6858000" type="screen4x3"/>
  <p:notesSz cx="7086600" cy="102235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19">
          <p15:clr>
            <a:srgbClr val="A4A3A4"/>
          </p15:clr>
        </p15:guide>
        <p15:guide id="2" pos="223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FF0000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2773" autoAdjust="0"/>
    <p:restoredTop sz="96127" autoAdjust="0"/>
  </p:normalViewPr>
  <p:slideViewPr>
    <p:cSldViewPr>
      <p:cViewPr varScale="1">
        <p:scale>
          <a:sx n="94" d="100"/>
          <a:sy n="94" d="100"/>
        </p:scale>
        <p:origin x="557" y="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1698" y="-60"/>
      </p:cViewPr>
      <p:guideLst>
        <p:guide orient="horz" pos="3219"/>
        <p:guide pos="223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18.xml"/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97213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393" tIns="48197" rIns="96393" bIns="48197" numCol="1" anchor="t" anchorCtr="0" compatLnSpc="1">
            <a:prstTxWarp prst="textNoShape">
              <a:avLst/>
            </a:prstTxWarp>
          </a:bodyPr>
          <a:lstStyle>
            <a:lvl1pPr defTabSz="957263">
              <a:defRPr sz="1300"/>
            </a:lvl1pPr>
          </a:lstStyle>
          <a:p>
            <a:endParaRPr lang="en-GB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95738" y="0"/>
            <a:ext cx="3097212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393" tIns="48197" rIns="96393" bIns="48197" numCol="1" anchor="t" anchorCtr="0" compatLnSpc="1">
            <a:prstTxWarp prst="textNoShape">
              <a:avLst/>
            </a:prstTxWarp>
          </a:bodyPr>
          <a:lstStyle>
            <a:lvl1pPr algn="r" defTabSz="957263">
              <a:defRPr sz="1300"/>
            </a:lvl1pPr>
          </a:lstStyle>
          <a:p>
            <a:endParaRPr lang="en-GB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53600"/>
            <a:ext cx="3097213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393" tIns="48197" rIns="96393" bIns="48197" numCol="1" anchor="b" anchorCtr="0" compatLnSpc="1">
            <a:prstTxWarp prst="textNoShape">
              <a:avLst/>
            </a:prstTxWarp>
          </a:bodyPr>
          <a:lstStyle>
            <a:lvl1pPr defTabSz="957263">
              <a:defRPr sz="1300"/>
            </a:lvl1pPr>
          </a:lstStyle>
          <a:p>
            <a:endParaRPr lang="en-GB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95738" y="9753600"/>
            <a:ext cx="3097212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393" tIns="48197" rIns="96393" bIns="48197" numCol="1" anchor="b" anchorCtr="0" compatLnSpc="1">
            <a:prstTxWarp prst="textNoShape">
              <a:avLst/>
            </a:prstTxWarp>
          </a:bodyPr>
          <a:lstStyle>
            <a:lvl1pPr algn="r" defTabSz="957263">
              <a:defRPr sz="1300"/>
            </a:lvl1pPr>
          </a:lstStyle>
          <a:p>
            <a:fld id="{1E8902D3-4130-42FF-9B85-0889F8B09A64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80361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1813" cy="50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393" tIns="48197" rIns="96393" bIns="48197" numCol="1" anchor="t" anchorCtr="0" compatLnSpc="1">
            <a:prstTxWarp prst="textNoShape">
              <a:avLst/>
            </a:prstTxWarp>
          </a:bodyPr>
          <a:lstStyle>
            <a:lvl1pPr defTabSz="957263">
              <a:defRPr sz="1300"/>
            </a:lvl1pPr>
          </a:lstStyle>
          <a:p>
            <a:endParaRPr lang="en-GB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14788" y="0"/>
            <a:ext cx="3071812" cy="50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393" tIns="48197" rIns="96393" bIns="48197" numCol="1" anchor="t" anchorCtr="0" compatLnSpc="1">
            <a:prstTxWarp prst="textNoShape">
              <a:avLst/>
            </a:prstTxWarp>
          </a:bodyPr>
          <a:lstStyle>
            <a:lvl1pPr algn="r" defTabSz="957263">
              <a:defRPr sz="1300"/>
            </a:lvl1pPr>
          </a:lstStyle>
          <a:p>
            <a:endParaRPr lang="en-GB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89013" y="768350"/>
            <a:ext cx="5111750" cy="383222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563" y="4856163"/>
            <a:ext cx="5197475" cy="460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393" tIns="48197" rIns="96393" bIns="4819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0"/>
            <a:r>
              <a:rPr lang="en-GB"/>
              <a:t>Second level</a:t>
            </a:r>
          </a:p>
          <a:p>
            <a:pPr lvl="0"/>
            <a:r>
              <a:rPr lang="en-GB"/>
              <a:t>Third level</a:t>
            </a:r>
          </a:p>
          <a:p>
            <a:pPr lvl="0"/>
            <a:r>
              <a:rPr lang="en-GB"/>
              <a:t>Fourth level</a:t>
            </a:r>
          </a:p>
          <a:p>
            <a:pPr lvl="0"/>
            <a:r>
              <a:rPr lang="en-GB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13913"/>
            <a:ext cx="3071813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393" tIns="48197" rIns="96393" bIns="48197" numCol="1" anchor="b" anchorCtr="0" compatLnSpc="1">
            <a:prstTxWarp prst="textNoShape">
              <a:avLst/>
            </a:prstTxWarp>
          </a:bodyPr>
          <a:lstStyle>
            <a:lvl1pPr defTabSz="957263">
              <a:defRPr sz="1300"/>
            </a:lvl1pPr>
          </a:lstStyle>
          <a:p>
            <a:endParaRPr lang="en-GB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4788" y="9713913"/>
            <a:ext cx="3071812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393" tIns="48197" rIns="96393" bIns="48197" numCol="1" anchor="b" anchorCtr="0" compatLnSpc="1">
            <a:prstTxWarp prst="textNoShape">
              <a:avLst/>
            </a:prstTxWarp>
          </a:bodyPr>
          <a:lstStyle>
            <a:lvl1pPr algn="r" defTabSz="957263">
              <a:defRPr sz="1300"/>
            </a:lvl1pPr>
          </a:lstStyle>
          <a:p>
            <a:fld id="{5111A484-802B-4224-BB0C-48C29DBEEECE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202072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0600" y="768350"/>
            <a:ext cx="5108575" cy="3832225"/>
          </a:xfrm>
          <a:ln/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4013636" y="9710688"/>
            <a:ext cx="3071303" cy="511175"/>
          </a:xfrm>
          <a:prstGeom prst="rect">
            <a:avLst/>
          </a:prstGeom>
          <a:noFill/>
        </p:spPr>
        <p:txBody>
          <a:bodyPr lIns="94920" tIns="47460" rIns="94920" bIns="47460"/>
          <a:lstStyle/>
          <a:p>
            <a:fld id="{7670DF06-4775-4E82-8772-90B18856C867}" type="slidenum">
              <a:rPr lang="en-GB" smtClean="0"/>
              <a:pPr/>
              <a:t>1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DA04BC7-2C3D-4B02-9F1A-47EAB91D470E}" type="slidenum">
              <a:rPr lang="en-GB"/>
              <a:pPr/>
              <a:t>2</a:t>
            </a:fld>
            <a:endParaRPr lang="en-GB"/>
          </a:p>
        </p:txBody>
      </p:sp>
      <p:sp>
        <p:nvSpPr>
          <p:cNvPr id="350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90600" y="768350"/>
            <a:ext cx="5110163" cy="3832225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02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4563" y="4856163"/>
            <a:ext cx="5197475" cy="460057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6393" tIns="48197" rIns="96393" bIns="48197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2301F11-BFA5-4EB0-A606-3C046C077011}" type="slidenum">
              <a:rPr lang="en-GB"/>
              <a:pPr/>
              <a:t>14</a:t>
            </a:fld>
            <a:endParaRPr lang="en-GB"/>
          </a:p>
        </p:txBody>
      </p:sp>
      <p:sp>
        <p:nvSpPr>
          <p:cNvPr id="352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90600" y="768350"/>
            <a:ext cx="5110163" cy="3832225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22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4563" y="4856163"/>
            <a:ext cx="5197475" cy="460057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6393" tIns="48197" rIns="96393" bIns="48197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243F3DD-33E7-409F-BF1B-38F89B7363E3}" type="slidenum">
              <a:rPr lang="en-GB"/>
              <a:pPr/>
              <a:t>15</a:t>
            </a:fld>
            <a:endParaRPr lang="en-GB"/>
          </a:p>
        </p:txBody>
      </p:sp>
      <p:sp>
        <p:nvSpPr>
          <p:cNvPr id="354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90600" y="768350"/>
            <a:ext cx="5110163" cy="3832225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43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4563" y="4856163"/>
            <a:ext cx="5197475" cy="460057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6393" tIns="48197" rIns="96393" bIns="48197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2ED919C-1595-4426-A965-BAC01E0188F8}" type="slidenum">
              <a:rPr lang="en-GB"/>
              <a:pPr/>
              <a:t>16</a:t>
            </a:fld>
            <a:endParaRPr lang="en-GB"/>
          </a:p>
        </p:txBody>
      </p:sp>
      <p:sp>
        <p:nvSpPr>
          <p:cNvPr id="356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90600" y="768350"/>
            <a:ext cx="5110163" cy="3832225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63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4563" y="4856163"/>
            <a:ext cx="5197475" cy="460057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6393" tIns="48197" rIns="96393" bIns="48197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4392F68-4A14-4580-80B8-B72061469366}" type="slidenum">
              <a:rPr lang="en-GB"/>
              <a:pPr/>
              <a:t>21</a:t>
            </a:fld>
            <a:endParaRPr lang="en-GB"/>
          </a:p>
        </p:txBody>
      </p:sp>
      <p:sp>
        <p:nvSpPr>
          <p:cNvPr id="358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90600" y="768350"/>
            <a:ext cx="5110163" cy="3832225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4563" y="4856163"/>
            <a:ext cx="5197475" cy="460057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6393" tIns="48197" rIns="96393" bIns="48197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93273B0-AA96-46E5-BA1D-C894DA4E2A65}" type="slidenum">
              <a:rPr lang="en-GB"/>
              <a:pPr/>
              <a:t>23</a:t>
            </a:fld>
            <a:endParaRPr lang="en-GB"/>
          </a:p>
        </p:txBody>
      </p:sp>
      <p:sp>
        <p:nvSpPr>
          <p:cNvPr id="360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90600" y="768350"/>
            <a:ext cx="5110163" cy="3832225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04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4563" y="4856163"/>
            <a:ext cx="5197475" cy="460057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6393" tIns="48197" rIns="96393" bIns="48197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5CB7A4C-AF72-46A8-A7D4-5EB6F6EF70D3}" type="slidenum">
              <a:rPr lang="en-GB"/>
              <a:pPr/>
              <a:t>25</a:t>
            </a:fld>
            <a:endParaRPr lang="en-GB"/>
          </a:p>
        </p:txBody>
      </p:sp>
      <p:sp>
        <p:nvSpPr>
          <p:cNvPr id="363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90600" y="768350"/>
            <a:ext cx="5110163" cy="3832225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35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4563" y="4856163"/>
            <a:ext cx="5197475" cy="460057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6393" tIns="48197" rIns="96393" bIns="48197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F28A04C-DBC1-4BDC-83B1-B41F419B5652}" type="slidenum">
              <a:rPr lang="en-GB"/>
              <a:pPr/>
              <a:t>28</a:t>
            </a:fld>
            <a:endParaRPr lang="en-GB"/>
          </a:p>
        </p:txBody>
      </p:sp>
      <p:sp>
        <p:nvSpPr>
          <p:cNvPr id="372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90600" y="768350"/>
            <a:ext cx="5108575" cy="3832225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27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4563" y="4856163"/>
            <a:ext cx="5197475" cy="460057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6393" tIns="48197" rIns="96393" bIns="48197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8CD0AD9-CD7C-444C-9CAA-139C61883B31}" type="slidenum">
              <a:rPr lang="en-GB"/>
              <a:pPr/>
              <a:t>29</a:t>
            </a:fld>
            <a:endParaRPr lang="en-GB"/>
          </a:p>
        </p:txBody>
      </p:sp>
      <p:sp>
        <p:nvSpPr>
          <p:cNvPr id="374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89013" y="766763"/>
            <a:ext cx="5113337" cy="38354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3747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4563" y="4856163"/>
            <a:ext cx="5197475" cy="460057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6393" tIns="48197" rIns="96393" bIns="48197"/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COMP201 - Software Engineering</a:t>
            </a: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57E98-F8F3-4482-B747-61138EB2D6E5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  <a:endParaRPr kumimoji="0"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8688" y="266700"/>
            <a:ext cx="7772400" cy="7239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143000"/>
            <a:ext cx="7772400" cy="2324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619500"/>
            <a:ext cx="7772400" cy="2324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96086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algn="l" eaLnBrk="1" latinLnBrk="0" hangingPunct="1"/>
            <a:r>
              <a:rPr kumimoji="0" lang="en-US" dirty="0">
                <a:solidFill>
                  <a:schemeClr val="tx2">
                    <a:shade val="90000"/>
                  </a:schemeClr>
                </a:solidFill>
              </a:rPr>
              <a:t>COMP201 - Software Engineering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  <p:sp>
        <p:nvSpPr>
          <p:cNvPr id="14" name="Rectangle 11"/>
          <p:cNvSpPr>
            <a:spLocks noChangeArrowheads="1"/>
          </p:cNvSpPr>
          <p:nvPr userDrawn="1"/>
        </p:nvSpPr>
        <p:spPr bwMode="auto">
          <a:xfrm>
            <a:off x="1270000" y="6324600"/>
            <a:ext cx="7264400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r>
              <a:rPr lang="en-GB" sz="1800" dirty="0">
                <a:solidFill>
                  <a:schemeClr val="tx2"/>
                </a:solidFill>
                <a:latin typeface="Times" pitchFamily="18" charset="0"/>
              </a:rPr>
              <a:t>	</a:t>
            </a:r>
            <a:r>
              <a:rPr lang="en-GB" sz="1800" dirty="0">
                <a:solidFill>
                  <a:schemeClr val="folHlink"/>
                </a:solidFill>
                <a:latin typeface="Times" pitchFamily="18" charset="0"/>
              </a:rPr>
              <a:t>	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</p:sldLayoutIdLst>
  <p:hf hdr="0" dt="0"/>
  <p:txStyles>
    <p:titleStyle>
      <a:lvl1pPr algn="ctr" rtl="0" eaLnBrk="1" latinLnBrk="0" hangingPunct="1">
        <a:spcBef>
          <a:spcPct val="0"/>
        </a:spcBef>
        <a:buNone/>
        <a:defRPr kumimoji="0" sz="4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571480"/>
            <a:ext cx="7772400" cy="1643074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 Engineering</a:t>
            </a:r>
            <a:br>
              <a:rPr lang="en-GB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 201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10712" y="2373313"/>
            <a:ext cx="7924800" cy="3265487"/>
          </a:xfrm>
        </p:spPr>
        <p:txBody>
          <a:bodyPr>
            <a:normAutofit fontScale="92500" lnSpcReduction="20000"/>
          </a:bodyPr>
          <a:lstStyle/>
          <a:p>
            <a:r>
              <a:rPr lang="en-GB" sz="2800" dirty="0"/>
              <a:t>Lecturer: </a:t>
            </a:r>
            <a:r>
              <a:rPr lang="en-GB" sz="2800" b="1" dirty="0"/>
              <a:t>Sebastian </a:t>
            </a:r>
            <a:r>
              <a:rPr lang="en-GB" sz="2800" b="1" dirty="0" err="1"/>
              <a:t>Coope</a:t>
            </a:r>
            <a:endParaRPr lang="en-GB" sz="2800" b="1" dirty="0"/>
          </a:p>
          <a:p>
            <a:r>
              <a:rPr lang="en-GB" sz="2800" i="1" dirty="0"/>
              <a:t>Ashton Building, Room G.18</a:t>
            </a:r>
          </a:p>
          <a:p>
            <a:r>
              <a:rPr lang="en-GB" sz="2800" i="1" dirty="0"/>
              <a:t>E-mail: </a:t>
            </a:r>
            <a:r>
              <a:rPr lang="en-GB" sz="2800" b="1" i="1" dirty="0"/>
              <a:t>coopes@liverpool.ac.uk </a:t>
            </a:r>
          </a:p>
          <a:p>
            <a:endParaRPr lang="en-GB" sz="2400" b="1" i="1" dirty="0"/>
          </a:p>
          <a:p>
            <a:r>
              <a:rPr lang="en-GB" sz="2800" b="1" dirty="0"/>
              <a:t>COMP 201 web-page:</a:t>
            </a:r>
          </a:p>
          <a:p>
            <a:r>
              <a:rPr lang="en-GB" sz="2400" b="1" dirty="0"/>
              <a:t>http://www.csc.liv.ac.uk/~coopes/comp201</a:t>
            </a:r>
          </a:p>
          <a:p>
            <a:pPr eaLnBrk="1" hangingPunct="1"/>
            <a:endParaRPr lang="en-GB" sz="2800" u="sng" dirty="0"/>
          </a:p>
          <a:p>
            <a:pPr eaLnBrk="1" hangingPunct="1"/>
            <a:r>
              <a:rPr lang="en-GB" sz="2800" u="sng" dirty="0"/>
              <a:t>Lecture 17 – Concepts of Object Oriented Design</a:t>
            </a:r>
          </a:p>
          <a:p>
            <a:pPr eaLnBrk="1" hangingPunct="1"/>
            <a:endParaRPr lang="en-GB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Object-Oriented</a:t>
            </a:r>
          </a:p>
        </p:txBody>
      </p:sp>
      <p:sp>
        <p:nvSpPr>
          <p:cNvPr id="3491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sz="2800" b="1" dirty="0">
                <a:solidFill>
                  <a:schemeClr val="accent3"/>
                </a:solidFill>
              </a:rPr>
              <a:t>Object orientation </a:t>
            </a:r>
            <a:r>
              <a:rPr lang="en-GB" sz="2800" dirty="0"/>
              <a:t>means to organize the software as a collection of discrete objects that incorporate both </a:t>
            </a:r>
            <a:r>
              <a:rPr lang="en-GB" sz="2800" b="1" dirty="0"/>
              <a:t>data structure </a:t>
            </a:r>
            <a:r>
              <a:rPr lang="en-GB" sz="2800" dirty="0"/>
              <a:t>and </a:t>
            </a:r>
            <a:r>
              <a:rPr lang="en-GB" sz="2800" b="1" dirty="0"/>
              <a:t>behaviour</a:t>
            </a:r>
          </a:p>
          <a:p>
            <a:r>
              <a:rPr lang="en-GB" sz="2800" dirty="0"/>
              <a:t>System functionality is expressed in terms of object services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 Concepts</a:t>
            </a:r>
          </a:p>
        </p:txBody>
      </p:sp>
      <p:sp>
        <p:nvSpPr>
          <p:cNvPr id="332803" name="Rectangle 3"/>
          <p:cNvSpPr>
            <a:spLocks noGrp="1" noChangeArrowheads="1"/>
          </p:cNvSpPr>
          <p:nvPr>
            <p:ph idx="1"/>
          </p:nvPr>
        </p:nvSpPr>
        <p:spPr>
          <a:xfrm>
            <a:off x="428596" y="1714488"/>
            <a:ext cx="8329642" cy="4610112"/>
          </a:xfrm>
        </p:spPr>
        <p:txBody>
          <a:bodyPr/>
          <a:lstStyle/>
          <a:p>
            <a:r>
              <a:rPr lang="en-GB" dirty="0"/>
              <a:t>We continue to explore the question “what are good systems like?” by describing the object oriented paradigm.</a:t>
            </a:r>
          </a:p>
          <a:p>
            <a:r>
              <a:rPr lang="en-GB" dirty="0"/>
              <a:t>We shall answer these questions:</a:t>
            </a:r>
          </a:p>
          <a:p>
            <a:pPr lvl="1"/>
            <a:r>
              <a:rPr lang="en-GB" dirty="0"/>
              <a:t>What is an </a:t>
            </a:r>
            <a:r>
              <a:rPr lang="en-GB" dirty="0">
                <a:solidFill>
                  <a:schemeClr val="accent2"/>
                </a:solidFill>
              </a:rPr>
              <a:t>object</a:t>
            </a:r>
            <a:r>
              <a:rPr lang="en-GB" dirty="0"/>
              <a:t>?</a:t>
            </a:r>
          </a:p>
          <a:p>
            <a:pPr lvl="1"/>
            <a:r>
              <a:rPr lang="en-GB" dirty="0"/>
              <a:t>How do objects </a:t>
            </a:r>
            <a:r>
              <a:rPr lang="en-GB" dirty="0">
                <a:solidFill>
                  <a:schemeClr val="accent2"/>
                </a:solidFill>
              </a:rPr>
              <a:t>communicate</a:t>
            </a:r>
            <a:r>
              <a:rPr lang="en-GB" dirty="0"/>
              <a:t>?</a:t>
            </a:r>
          </a:p>
          <a:p>
            <a:pPr lvl="1"/>
            <a:r>
              <a:rPr lang="en-GB" dirty="0"/>
              <a:t>How is an object’s </a:t>
            </a:r>
            <a:r>
              <a:rPr lang="en-GB" dirty="0">
                <a:solidFill>
                  <a:schemeClr val="accent2"/>
                </a:solidFill>
              </a:rPr>
              <a:t>interface</a:t>
            </a:r>
            <a:r>
              <a:rPr lang="en-GB" dirty="0"/>
              <a:t> defined?</a:t>
            </a:r>
          </a:p>
          <a:p>
            <a:pPr lvl="1"/>
            <a:r>
              <a:rPr lang="en-GB" dirty="0"/>
              <a:t>What have objects to do with </a:t>
            </a:r>
            <a:r>
              <a:rPr lang="en-GB" dirty="0">
                <a:solidFill>
                  <a:schemeClr val="accent2"/>
                </a:solidFill>
              </a:rPr>
              <a:t>components</a:t>
            </a:r>
            <a:r>
              <a:rPr lang="en-GB" dirty="0"/>
              <a:t>?</a:t>
            </a:r>
          </a:p>
          <a:p>
            <a:r>
              <a:rPr lang="en-GB" dirty="0"/>
              <a:t>Finally we consider </a:t>
            </a:r>
            <a:r>
              <a:rPr lang="en-GB" dirty="0">
                <a:solidFill>
                  <a:schemeClr val="accent3"/>
                </a:solidFill>
              </a:rPr>
              <a:t>inheritance</a:t>
            </a:r>
            <a:r>
              <a:rPr lang="en-GB" dirty="0"/>
              <a:t>, </a:t>
            </a:r>
            <a:r>
              <a:rPr lang="en-GB" dirty="0">
                <a:solidFill>
                  <a:schemeClr val="accent3"/>
                </a:solidFill>
              </a:rPr>
              <a:t>polymorphism</a:t>
            </a:r>
            <a:r>
              <a:rPr lang="en-GB" dirty="0"/>
              <a:t> and </a:t>
            </a:r>
            <a:r>
              <a:rPr lang="en-GB" dirty="0">
                <a:solidFill>
                  <a:schemeClr val="accent3"/>
                </a:solidFill>
              </a:rPr>
              <a:t>dynamic binding</a:t>
            </a:r>
            <a:r>
              <a:rPr lang="en-GB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3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 Concepts</a:t>
            </a:r>
          </a:p>
        </p:txBody>
      </p:sp>
      <p:sp>
        <p:nvSpPr>
          <p:cNvPr id="385027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Don’t think of what an object holds – but what it will do for you</a:t>
            </a:r>
          </a:p>
          <a:p>
            <a:pPr lvl="1"/>
            <a:r>
              <a:rPr lang="en-GB" dirty="0"/>
              <a:t>Consequently no public data members</a:t>
            </a:r>
          </a:p>
          <a:p>
            <a:pPr lvl="1"/>
            <a:r>
              <a:rPr lang="en-GB" dirty="0"/>
              <a:t>Think only about the methods (the </a:t>
            </a:r>
            <a:r>
              <a:rPr lang="en-GB" i="1" dirty="0"/>
              <a:t>public interface</a:t>
            </a:r>
            <a:r>
              <a:rPr lang="en-GB" dirty="0"/>
              <a:t>)</a:t>
            </a:r>
          </a:p>
          <a:p>
            <a:r>
              <a:rPr lang="en-GB" dirty="0"/>
              <a:t>Objects are </a:t>
            </a:r>
            <a:r>
              <a:rPr lang="en-GB" dirty="0">
                <a:solidFill>
                  <a:schemeClr val="accent2"/>
                </a:solidFill>
              </a:rPr>
              <a:t>potentially</a:t>
            </a:r>
            <a:r>
              <a:rPr lang="en-GB" dirty="0"/>
              <a:t> reusable components.</a:t>
            </a:r>
          </a:p>
          <a:p>
            <a:r>
              <a:rPr lang="en-GB" dirty="0"/>
              <a:t>An object may represent something in the real world</a:t>
            </a:r>
          </a:p>
          <a:p>
            <a:pPr lvl="1"/>
            <a:r>
              <a:rPr lang="en-GB" dirty="0"/>
              <a:t>But often not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4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an Object?</a:t>
            </a:r>
          </a:p>
        </p:txBody>
      </p:sp>
      <p:sp>
        <p:nvSpPr>
          <p:cNvPr id="3338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dirty="0"/>
              <a:t>Conceptually, an object is a thing you can interact with: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you can send it various messages and 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it will react</a:t>
            </a:r>
          </a:p>
          <a:p>
            <a:pPr>
              <a:lnSpc>
                <a:spcPct val="90000"/>
              </a:lnSpc>
            </a:pPr>
            <a:r>
              <a:rPr lang="en-GB" dirty="0"/>
              <a:t>How it behaves depends on the current internal state of the object, which may change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For example: as part of the object’s reaction to receiving a message.</a:t>
            </a:r>
          </a:p>
          <a:p>
            <a:pPr>
              <a:lnSpc>
                <a:spcPct val="90000"/>
              </a:lnSpc>
            </a:pPr>
            <a:r>
              <a:rPr lang="en-GB" dirty="0"/>
              <a:t>It matters which object you interact with, an object has an identity which distinguishes it from all other objects.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5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Again… What is an Object?</a:t>
            </a:r>
          </a:p>
        </p:txBody>
      </p:sp>
      <p:sp>
        <p:nvSpPr>
          <p:cNvPr id="33485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An object is a thing which has </a:t>
            </a:r>
          </a:p>
          <a:p>
            <a:pPr lvl="1"/>
            <a:r>
              <a:rPr lang="en-GB" dirty="0">
                <a:solidFill>
                  <a:schemeClr val="accent3"/>
                </a:solidFill>
              </a:rPr>
              <a:t>behaviour</a:t>
            </a:r>
            <a:r>
              <a:rPr lang="en-GB" dirty="0"/>
              <a:t>, </a:t>
            </a:r>
          </a:p>
          <a:p>
            <a:pPr lvl="1"/>
            <a:r>
              <a:rPr lang="en-GB" dirty="0">
                <a:solidFill>
                  <a:schemeClr val="accent3"/>
                </a:solidFill>
              </a:rPr>
              <a:t>state</a:t>
            </a:r>
            <a:r>
              <a:rPr lang="en-GB" dirty="0"/>
              <a:t> and </a:t>
            </a:r>
          </a:p>
          <a:p>
            <a:pPr lvl="1"/>
            <a:r>
              <a:rPr lang="en-GB" dirty="0">
                <a:solidFill>
                  <a:schemeClr val="accent3"/>
                </a:solidFill>
              </a:rPr>
              <a:t>identity </a:t>
            </a:r>
            <a:r>
              <a:rPr lang="en-GB" dirty="0"/>
              <a:t>		[Grady, </a:t>
            </a:r>
            <a:r>
              <a:rPr lang="en-GB" dirty="0" err="1"/>
              <a:t>Booch</a:t>
            </a:r>
            <a:r>
              <a:rPr lang="en-GB" dirty="0"/>
              <a:t>, 1991]</a:t>
            </a:r>
          </a:p>
          <a:p>
            <a:r>
              <a:rPr lang="en-GB" sz="2800" dirty="0"/>
              <a:t>Advantages:</a:t>
            </a:r>
          </a:p>
          <a:p>
            <a:pPr lvl="1"/>
            <a:r>
              <a:rPr lang="en-GB" dirty="0"/>
              <a:t>Shared data areas are eliminated. Objects communicate by message passing.</a:t>
            </a:r>
          </a:p>
          <a:p>
            <a:pPr lvl="1"/>
            <a:r>
              <a:rPr lang="en-GB" dirty="0"/>
              <a:t>Objects are independent and encapsulate state and representation information. Their independence can lead to easier maintenance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6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State</a:t>
            </a:r>
          </a:p>
        </p:txBody>
      </p:sp>
      <p:sp>
        <p:nvSpPr>
          <p:cNvPr id="33587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The </a:t>
            </a:r>
            <a:r>
              <a:rPr lang="en-GB" dirty="0">
                <a:solidFill>
                  <a:schemeClr val="accent2"/>
                </a:solidFill>
              </a:rPr>
              <a:t>state</a:t>
            </a:r>
            <a:r>
              <a:rPr lang="en-GB" dirty="0"/>
              <a:t> of the object is all the data which it currently encapsulates</a:t>
            </a:r>
          </a:p>
          <a:p>
            <a:r>
              <a:rPr lang="en-GB" dirty="0"/>
              <a:t>An object normally has a number of named </a:t>
            </a:r>
            <a:r>
              <a:rPr lang="en-GB" i="1" dirty="0">
                <a:solidFill>
                  <a:schemeClr val="accent2"/>
                </a:solidFill>
              </a:rPr>
              <a:t>attributes</a:t>
            </a:r>
            <a:r>
              <a:rPr lang="en-GB" dirty="0">
                <a:solidFill>
                  <a:schemeClr val="accent2"/>
                </a:solidFill>
              </a:rPr>
              <a:t> </a:t>
            </a:r>
            <a:r>
              <a:rPr lang="en-GB" dirty="0"/>
              <a:t>(or </a:t>
            </a:r>
            <a:r>
              <a:rPr lang="en-GB" i="1" dirty="0"/>
              <a:t>instance variables</a:t>
            </a:r>
            <a:r>
              <a:rPr lang="en-GB" dirty="0"/>
              <a:t> or </a:t>
            </a:r>
            <a:r>
              <a:rPr lang="en-GB" i="1" dirty="0"/>
              <a:t>data members</a:t>
            </a:r>
            <a:r>
              <a:rPr lang="en-GB" dirty="0"/>
              <a:t>) each of which has a value</a:t>
            </a:r>
          </a:p>
          <a:p>
            <a:r>
              <a:rPr lang="en-GB" dirty="0"/>
              <a:t>Some attributes can be </a:t>
            </a:r>
            <a:r>
              <a:rPr lang="en-GB" dirty="0">
                <a:solidFill>
                  <a:schemeClr val="accent2"/>
                </a:solidFill>
              </a:rPr>
              <a:t>mutable</a:t>
            </a:r>
            <a:r>
              <a:rPr lang="en-GB" dirty="0"/>
              <a:t> (variable)</a:t>
            </a:r>
          </a:p>
          <a:p>
            <a:pPr lvl="1"/>
            <a:r>
              <a:rPr lang="en-GB" dirty="0"/>
              <a:t>An attribute ADDRESS </a:t>
            </a:r>
          </a:p>
          <a:p>
            <a:r>
              <a:rPr lang="en-GB" dirty="0"/>
              <a:t>other attributes may be </a:t>
            </a:r>
            <a:r>
              <a:rPr lang="en-GB" dirty="0">
                <a:solidFill>
                  <a:schemeClr val="accent2"/>
                </a:solidFill>
              </a:rPr>
              <a:t>immutable</a:t>
            </a:r>
            <a:r>
              <a:rPr lang="en-GB" dirty="0"/>
              <a:t> (constant)</a:t>
            </a:r>
          </a:p>
          <a:p>
            <a:pPr lvl="1"/>
            <a:r>
              <a:rPr lang="en-GB" dirty="0"/>
              <a:t>Date of birth</a:t>
            </a:r>
          </a:p>
          <a:p>
            <a:pPr lvl="1"/>
            <a:r>
              <a:rPr lang="en-GB" dirty="0"/>
              <a:t>Identifying number</a:t>
            </a:r>
          </a:p>
          <a:p>
            <a:pPr>
              <a:buFontTx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7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Behaviour</a:t>
            </a:r>
          </a:p>
        </p:txBody>
      </p:sp>
      <p:sp>
        <p:nvSpPr>
          <p:cNvPr id="3368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way an object acts and reacts, in terms of its state changes as message passing.</a:t>
            </a:r>
          </a:p>
          <a:p>
            <a:r>
              <a:rPr lang="en-GB" dirty="0"/>
              <a:t>An object understands certain messages,</a:t>
            </a:r>
          </a:p>
          <a:p>
            <a:pPr lvl="2"/>
            <a:r>
              <a:rPr lang="en-GB" sz="2400" dirty="0"/>
              <a:t>it can receive the message and act on them</a:t>
            </a:r>
            <a:r>
              <a:rPr lang="en-GB" dirty="0"/>
              <a:t>.</a:t>
            </a:r>
          </a:p>
          <a:p>
            <a:r>
              <a:rPr lang="en-GB" dirty="0"/>
              <a:t>The set of messages that the object understands, like the set of attributes it has, is normally </a:t>
            </a:r>
            <a:r>
              <a:rPr lang="en-GB" u="sng" dirty="0"/>
              <a:t>fixed</a:t>
            </a:r>
            <a:r>
              <a:rPr lang="en-GB" dirty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8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Identity is more Tricky</a:t>
            </a:r>
          </a:p>
        </p:txBody>
      </p:sp>
      <p:sp>
        <p:nvSpPr>
          <p:cNvPr id="3379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idea is that objects are not defined just by the current values of their attributes</a:t>
            </a:r>
          </a:p>
          <a:p>
            <a:r>
              <a:rPr lang="en-GB" dirty="0"/>
              <a:t>An object has a continuous existence </a:t>
            </a:r>
          </a:p>
          <a:p>
            <a:pPr lvl="1"/>
            <a:r>
              <a:rPr lang="en-GB" sz="2600" dirty="0"/>
              <a:t>For example the values of the object’s attributes could change, perhaps in response to a message, but it would still be the same object.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9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Example </a:t>
            </a:r>
          </a:p>
        </p:txBody>
      </p:sp>
      <p:sp>
        <p:nvSpPr>
          <p:cNvPr id="3389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GB" dirty="0"/>
              <a:t>Consider an object which we’ll call </a:t>
            </a:r>
            <a:r>
              <a:rPr lang="en-GB" dirty="0" err="1"/>
              <a:t>myClock</a:t>
            </a:r>
            <a:r>
              <a:rPr lang="en-GB" dirty="0"/>
              <a:t>, which understands the messages:</a:t>
            </a:r>
          </a:p>
          <a:p>
            <a:pPr lvl="1">
              <a:lnSpc>
                <a:spcPct val="90000"/>
              </a:lnSpc>
            </a:pPr>
            <a:r>
              <a:rPr lang="en-GB" dirty="0" err="1"/>
              <a:t>reportTime</a:t>
            </a:r>
            <a:r>
              <a:rPr lang="en-GB" dirty="0"/>
              <a:t>()</a:t>
            </a:r>
          </a:p>
          <a:p>
            <a:pPr lvl="1">
              <a:lnSpc>
                <a:spcPct val="90000"/>
              </a:lnSpc>
            </a:pPr>
            <a:r>
              <a:rPr lang="en-GB" dirty="0" err="1"/>
              <a:t>resetTimeTo</a:t>
            </a:r>
            <a:r>
              <a:rPr lang="en-GB" dirty="0"/>
              <a:t>(07:43), </a:t>
            </a:r>
            <a:r>
              <a:rPr lang="en-GB" dirty="0" err="1"/>
              <a:t>resetTimeTo</a:t>
            </a:r>
            <a:r>
              <a:rPr lang="en-GB" dirty="0"/>
              <a:t>(12:30) </a:t>
            </a:r>
            <a:r>
              <a:rPr lang="en-GB" dirty="0">
                <a:solidFill>
                  <a:schemeClr val="tx1"/>
                </a:solidFill>
              </a:rPr>
              <a:t>or indeed more generally</a:t>
            </a:r>
            <a:r>
              <a:rPr lang="en-GB" dirty="0"/>
              <a:t> </a:t>
            </a:r>
            <a:r>
              <a:rPr lang="en-GB" dirty="0" err="1"/>
              <a:t>resetTimeTo</a:t>
            </a:r>
            <a:r>
              <a:rPr lang="en-GB" dirty="0"/>
              <a:t>(</a:t>
            </a:r>
            <a:r>
              <a:rPr lang="en-GB" dirty="0" err="1"/>
              <a:t>newTime</a:t>
            </a:r>
            <a:r>
              <a:rPr lang="en-GB" dirty="0"/>
              <a:t>) </a:t>
            </a:r>
          </a:p>
          <a:p>
            <a:pPr>
              <a:lnSpc>
                <a:spcPct val="90000"/>
              </a:lnSpc>
            </a:pPr>
            <a:r>
              <a:rPr lang="en-GB" dirty="0"/>
              <a:t>How does it implement this functionality?</a:t>
            </a:r>
          </a:p>
          <a:p>
            <a:pPr>
              <a:lnSpc>
                <a:spcPct val="90000"/>
              </a:lnSpc>
            </a:pPr>
            <a:r>
              <a:rPr lang="en-GB" dirty="0"/>
              <a:t>The outside world doesn’t need to know – the information </a:t>
            </a:r>
            <a:r>
              <a:rPr lang="en-GB" dirty="0">
                <a:solidFill>
                  <a:schemeClr val="accent3"/>
                </a:solidFill>
              </a:rPr>
              <a:t>should be hidden</a:t>
            </a:r>
            <a:r>
              <a:rPr lang="en-GB" dirty="0"/>
              <a:t> – but perhaps it has an attribute </a:t>
            </a:r>
            <a:r>
              <a:rPr lang="en-GB" i="1" dirty="0"/>
              <a:t>time</a:t>
            </a:r>
            <a:r>
              <a:rPr lang="en-GB" dirty="0"/>
              <a:t> 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Or perhaps it passes these messages on to some other object, which it knows about, and has the other object deal with messages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10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Messages</a:t>
            </a:r>
          </a:p>
        </p:txBody>
      </p:sp>
      <p:sp>
        <p:nvSpPr>
          <p:cNvPr id="3399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message includes a </a:t>
            </a:r>
            <a:r>
              <a:rPr lang="en-GB" b="1" dirty="0">
                <a:solidFill>
                  <a:schemeClr val="accent2"/>
                </a:solidFill>
              </a:rPr>
              <a:t>selector</a:t>
            </a:r>
            <a:r>
              <a:rPr lang="en-GB" dirty="0"/>
              <a:t>; here we’ve seen the selectors </a:t>
            </a:r>
          </a:p>
          <a:p>
            <a:pPr lvl="1"/>
            <a:r>
              <a:rPr lang="en-GB" dirty="0" err="1"/>
              <a:t>reportTime</a:t>
            </a:r>
            <a:r>
              <a:rPr lang="en-GB" dirty="0"/>
              <a:t> and </a:t>
            </a:r>
            <a:r>
              <a:rPr lang="en-GB" dirty="0" err="1"/>
              <a:t>resetTimeTo</a:t>
            </a:r>
            <a:endParaRPr lang="en-GB" dirty="0"/>
          </a:p>
          <a:p>
            <a:r>
              <a:rPr lang="en-GB" dirty="0"/>
              <a:t>A message may, but need not, include one or more </a:t>
            </a:r>
            <a:r>
              <a:rPr lang="en-GB" b="1" dirty="0"/>
              <a:t>arguments</a:t>
            </a:r>
          </a:p>
          <a:p>
            <a:r>
              <a:rPr lang="en-GB" dirty="0"/>
              <a:t>Often, for a given selector there is a single “correct” number of arguments (</a:t>
            </a:r>
            <a:r>
              <a:rPr lang="en-GB" dirty="0">
                <a:solidFill>
                  <a:schemeClr val="accent3"/>
                </a:solidFill>
              </a:rPr>
              <a:t>Recall</a:t>
            </a:r>
            <a:r>
              <a:rPr lang="en-GB" dirty="0"/>
              <a:t> method overloading however..)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11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796086"/>
          </a:xfrm>
        </p:spPr>
        <p:txBody>
          <a:bodyPr>
            <a:normAutofit fontScale="90000"/>
          </a:bodyPr>
          <a:lstStyle/>
          <a:p>
            <a:br>
              <a:rPr lang="en-GB" dirty="0"/>
            </a:br>
            <a:r>
              <a:rPr lang="en-GB" dirty="0"/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60160"/>
            <a:ext cx="8229600" cy="4389120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Person</a:t>
            </a:r>
          </a:p>
          <a:p>
            <a:pPr lvl="1"/>
            <a:r>
              <a:rPr lang="en-GB" dirty="0"/>
              <a:t>Identity </a:t>
            </a:r>
            <a:r>
              <a:rPr lang="en-GB" dirty="0" err="1"/>
              <a:t>Seb_Coope</a:t>
            </a:r>
            <a:endParaRPr lang="en-GB" dirty="0"/>
          </a:p>
          <a:p>
            <a:pPr lvl="1"/>
            <a:r>
              <a:rPr lang="en-GB" dirty="0"/>
              <a:t>State	Age, weight, height</a:t>
            </a:r>
          </a:p>
          <a:p>
            <a:pPr lvl="1"/>
            <a:r>
              <a:rPr lang="en-GB" dirty="0"/>
              <a:t>Behaviour</a:t>
            </a:r>
          </a:p>
          <a:p>
            <a:pPr lvl="2"/>
            <a:r>
              <a:rPr lang="en-GB" dirty="0" err="1"/>
              <a:t>setAge</a:t>
            </a:r>
            <a:endParaRPr lang="en-GB" dirty="0"/>
          </a:p>
          <a:p>
            <a:r>
              <a:rPr lang="en-GB" dirty="0"/>
              <a:t>Printer</a:t>
            </a:r>
          </a:p>
          <a:p>
            <a:pPr lvl="1"/>
            <a:r>
              <a:rPr lang="en-GB" dirty="0"/>
              <a:t>State	offline, online</a:t>
            </a:r>
          </a:p>
          <a:p>
            <a:pPr lvl="1"/>
            <a:r>
              <a:rPr lang="en-GB" dirty="0"/>
              <a:t>Behaviour</a:t>
            </a:r>
          </a:p>
          <a:p>
            <a:pPr lvl="2"/>
            <a:r>
              <a:rPr lang="en-GB" dirty="0" err="1"/>
              <a:t>printDocument</a:t>
            </a:r>
            <a:r>
              <a:rPr lang="en-GB" dirty="0"/>
              <a:t>		Sends control signals to printer</a:t>
            </a:r>
          </a:p>
          <a:p>
            <a:r>
              <a:rPr lang="en-GB" dirty="0"/>
              <a:t>Security login</a:t>
            </a:r>
          </a:p>
          <a:p>
            <a:pPr lvl="1"/>
            <a:r>
              <a:rPr lang="en-GB" dirty="0"/>
              <a:t>State	username, password</a:t>
            </a:r>
          </a:p>
          <a:p>
            <a:pPr lvl="1"/>
            <a:r>
              <a:rPr lang="en-GB" dirty="0"/>
              <a:t>Validate</a:t>
            </a:r>
          </a:p>
          <a:p>
            <a:pPr lvl="2"/>
            <a:r>
              <a:rPr lang="en-GB" dirty="0"/>
              <a:t>Hash password, load credentials from database, check password</a:t>
            </a:r>
          </a:p>
          <a:p>
            <a:endParaRPr lang="en-GB" dirty="0"/>
          </a:p>
          <a:p>
            <a:pPr lvl="1"/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12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313327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00042"/>
            <a:ext cx="8229600" cy="857256"/>
          </a:xfrm>
        </p:spPr>
        <p:txBody>
          <a:bodyPr>
            <a:normAutofit/>
          </a:bodyPr>
          <a:lstStyle/>
          <a:p>
            <a:r>
              <a:rPr lang="en-GB" dirty="0"/>
              <a:t>Interfaces</a:t>
            </a:r>
          </a:p>
        </p:txBody>
      </p:sp>
      <p:sp>
        <p:nvSpPr>
          <p:cNvPr id="340995" name="Rectangle 3"/>
          <p:cNvSpPr>
            <a:spLocks noGrp="1" noChangeArrowheads="1"/>
          </p:cNvSpPr>
          <p:nvPr>
            <p:ph idx="1"/>
          </p:nvPr>
        </p:nvSpPr>
        <p:spPr>
          <a:xfrm>
            <a:off x="357158" y="1500174"/>
            <a:ext cx="8558242" cy="4672026"/>
          </a:xfrm>
        </p:spPr>
        <p:txBody>
          <a:bodyPr/>
          <a:lstStyle/>
          <a:p>
            <a:r>
              <a:rPr lang="en-GB" dirty="0"/>
              <a:t>The object’s public interface defines which messages it will accept</a:t>
            </a:r>
          </a:p>
          <a:p>
            <a:r>
              <a:rPr lang="en-GB" dirty="0"/>
              <a:t>An object can also send to itself any message which it is capable of understanding (in either its </a:t>
            </a:r>
            <a:r>
              <a:rPr lang="en-GB" b="1" dirty="0"/>
              <a:t>public or private interface</a:t>
            </a:r>
            <a:r>
              <a:rPr lang="en-GB" dirty="0"/>
              <a:t>)</a:t>
            </a:r>
          </a:p>
          <a:p>
            <a:r>
              <a:rPr lang="en-GB" dirty="0"/>
              <a:t>So typically an object has two interfaces:</a:t>
            </a:r>
          </a:p>
          <a:p>
            <a:pPr lvl="1"/>
            <a:r>
              <a:rPr lang="en-GB" dirty="0">
                <a:solidFill>
                  <a:schemeClr val="accent2"/>
                </a:solidFill>
              </a:rPr>
              <a:t>The public interface </a:t>
            </a:r>
            <a:r>
              <a:rPr lang="en-GB" dirty="0"/>
              <a:t>(any part of the system can use)</a:t>
            </a:r>
          </a:p>
          <a:p>
            <a:pPr lvl="1"/>
            <a:r>
              <a:rPr lang="en-GB" dirty="0">
                <a:solidFill>
                  <a:schemeClr val="accent2"/>
                </a:solidFill>
              </a:rPr>
              <a:t>The  larger private interface </a:t>
            </a:r>
            <a:r>
              <a:rPr lang="en-GB" dirty="0"/>
              <a:t>(which the object itself and other privileged parts of the system can use)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13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Rectangle 2"/>
          <p:cNvSpPr>
            <a:spLocks noGrp="1" noChangeArrowheads="1"/>
          </p:cNvSpPr>
          <p:nvPr>
            <p:ph type="title"/>
          </p:nvPr>
        </p:nvSpPr>
        <p:spPr>
          <a:xfrm>
            <a:off x="928688" y="266700"/>
            <a:ext cx="7772400" cy="1090598"/>
          </a:xfrm>
        </p:spPr>
        <p:txBody>
          <a:bodyPr/>
          <a:lstStyle/>
          <a:p>
            <a:r>
              <a:rPr lang="en-GB" dirty="0"/>
              <a:t>Object: Classification</a:t>
            </a:r>
          </a:p>
        </p:txBody>
      </p:sp>
      <p:graphicFrame>
        <p:nvGraphicFramePr>
          <p:cNvPr id="351235" name="Object 3"/>
          <p:cNvGraphicFramePr>
            <a:graphicFrameLocks noGrp="1" noChangeAspect="1"/>
          </p:cNvGraphicFramePr>
          <p:nvPr>
            <p:ph sz="half" idx="1"/>
          </p:nvPr>
        </p:nvGraphicFramePr>
        <p:xfrm>
          <a:off x="1571604" y="1428736"/>
          <a:ext cx="6096000" cy="431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3" imgW="3448531" imgH="2438095" progId="">
                  <p:embed/>
                </p:oleObj>
              </mc:Choice>
              <mc:Fallback>
                <p:oleObj name="Photo Editor Photo" r:id="rId3" imgW="3448531" imgH="2438095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04" y="1428736"/>
                        <a:ext cx="6096000" cy="4311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1236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928662" y="5929330"/>
            <a:ext cx="7772400" cy="533400"/>
          </a:xfrm>
        </p:spPr>
        <p:txBody>
          <a:bodyPr>
            <a:normAutofit/>
          </a:bodyPr>
          <a:lstStyle/>
          <a:p>
            <a:r>
              <a:rPr lang="en-GB" sz="2400" dirty="0"/>
              <a:t>It depends on the abstraction level and the point of view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82" name="Rectangle 2"/>
          <p:cNvSpPr>
            <a:spLocks noGrp="1" noChangeArrowheads="1"/>
          </p:cNvSpPr>
          <p:nvPr>
            <p:ph type="title"/>
          </p:nvPr>
        </p:nvSpPr>
        <p:spPr>
          <a:xfrm>
            <a:off x="357158" y="266700"/>
            <a:ext cx="8343930" cy="1019160"/>
          </a:xfrm>
        </p:spPr>
        <p:txBody>
          <a:bodyPr/>
          <a:lstStyle/>
          <a:p>
            <a:r>
              <a:rPr lang="en-GB" dirty="0"/>
              <a:t>Object: Classification</a:t>
            </a:r>
          </a:p>
        </p:txBody>
      </p:sp>
      <p:graphicFrame>
        <p:nvGraphicFramePr>
          <p:cNvPr id="353283" name="Object 3"/>
          <p:cNvGraphicFramePr>
            <a:graphicFrameLocks noGrp="1" noChangeAspect="1"/>
          </p:cNvGraphicFramePr>
          <p:nvPr>
            <p:ph sz="half" idx="1"/>
          </p:nvPr>
        </p:nvGraphicFramePr>
        <p:xfrm>
          <a:off x="1857356" y="1571612"/>
          <a:ext cx="4773612" cy="347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3" imgW="3390476" imgH="2467319" progId="">
                  <p:embed/>
                </p:oleObj>
              </mc:Choice>
              <mc:Fallback>
                <p:oleObj name="Photo Editor Photo" r:id="rId3" imgW="3390476" imgH="2467319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7356" y="1571612"/>
                        <a:ext cx="4773612" cy="3473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3284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714348" y="5072074"/>
            <a:ext cx="7772400" cy="1371600"/>
          </a:xfrm>
        </p:spPr>
        <p:txBody>
          <a:bodyPr/>
          <a:lstStyle/>
          <a:p>
            <a:r>
              <a:rPr lang="en-GB" sz="2400" dirty="0"/>
              <a:t>objects with the same data structure (attributes) and behaviour (operations) are grouped into a class</a:t>
            </a:r>
          </a:p>
          <a:p>
            <a:r>
              <a:rPr lang="en-GB" sz="2400" dirty="0"/>
              <a:t>each class defines a possibly infinite set of objects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71480"/>
            <a:ext cx="8229600" cy="857256"/>
          </a:xfrm>
        </p:spPr>
        <p:txBody>
          <a:bodyPr/>
          <a:lstStyle/>
          <a:p>
            <a:r>
              <a:rPr lang="en-GB" dirty="0"/>
              <a:t>Object: Classification</a:t>
            </a:r>
          </a:p>
        </p:txBody>
      </p:sp>
      <p:sp>
        <p:nvSpPr>
          <p:cNvPr id="35533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43050"/>
            <a:ext cx="8229600" cy="4681550"/>
          </a:xfrm>
        </p:spPr>
        <p:txBody>
          <a:bodyPr>
            <a:normAutofit/>
          </a:bodyPr>
          <a:lstStyle/>
          <a:p>
            <a:r>
              <a:rPr lang="en-GB" dirty="0"/>
              <a:t>Each </a:t>
            </a:r>
            <a:r>
              <a:rPr lang="en-GB" b="1" dirty="0"/>
              <a:t>object</a:t>
            </a:r>
            <a:r>
              <a:rPr lang="en-GB" dirty="0"/>
              <a:t> is an </a:t>
            </a:r>
            <a:r>
              <a:rPr lang="en-GB" dirty="0">
                <a:solidFill>
                  <a:schemeClr val="accent2"/>
                </a:solidFill>
              </a:rPr>
              <a:t>instance</a:t>
            </a:r>
            <a:r>
              <a:rPr lang="en-GB" dirty="0"/>
              <a:t> of a </a:t>
            </a:r>
            <a:r>
              <a:rPr lang="en-GB" b="1" dirty="0"/>
              <a:t>class</a:t>
            </a:r>
          </a:p>
          <a:p>
            <a:r>
              <a:rPr lang="en-GB" dirty="0"/>
              <a:t>Each object knows its class</a:t>
            </a:r>
          </a:p>
          <a:p>
            <a:r>
              <a:rPr lang="en-GB" dirty="0"/>
              <a:t>Each instance has its own value for each attribute (state) but shares the attribute names and operations with other instances of the class</a:t>
            </a:r>
          </a:p>
          <a:p>
            <a:pPr lvl="1"/>
            <a:r>
              <a:rPr lang="en-GB" sz="2600" dirty="0"/>
              <a:t>also “</a:t>
            </a:r>
            <a:r>
              <a:rPr lang="en-GB" sz="2600" dirty="0">
                <a:solidFill>
                  <a:schemeClr val="accent2"/>
                </a:solidFill>
              </a:rPr>
              <a:t>static</a:t>
            </a:r>
            <a:r>
              <a:rPr lang="en-GB" sz="2600" dirty="0"/>
              <a:t>” i.e. class variables</a:t>
            </a:r>
          </a:p>
          <a:p>
            <a:r>
              <a:rPr lang="en-GB" dirty="0"/>
              <a:t>A class </a:t>
            </a:r>
            <a:r>
              <a:rPr lang="en-GB" dirty="0">
                <a:solidFill>
                  <a:schemeClr val="accent3"/>
                </a:solidFill>
              </a:rPr>
              <a:t>encapsulates </a:t>
            </a:r>
            <a:r>
              <a:rPr lang="en-GB" dirty="0"/>
              <a:t>data and behaviour, </a:t>
            </a:r>
            <a:r>
              <a:rPr lang="en-GB" i="1" dirty="0"/>
              <a:t>hiding the implementation details</a:t>
            </a:r>
            <a:r>
              <a:rPr lang="en-GB" dirty="0"/>
              <a:t> of an object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16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 Interface Specification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85926"/>
            <a:ext cx="8229600" cy="4538674"/>
          </a:xfrm>
        </p:spPr>
        <p:txBody>
          <a:bodyPr/>
          <a:lstStyle/>
          <a:p>
            <a:r>
              <a:rPr lang="en-GB" sz="2800" dirty="0"/>
              <a:t>Object interfaces have to be specified so that the objects and other components can be designed in parallel.</a:t>
            </a:r>
          </a:p>
          <a:p>
            <a:r>
              <a:rPr lang="en-GB" sz="2800" dirty="0"/>
              <a:t>Objects may have several interfaces which are viewpoints on the methods provided.</a:t>
            </a:r>
          </a:p>
          <a:p>
            <a:r>
              <a:rPr lang="en-GB" sz="2800" dirty="0"/>
              <a:t>Hiding information inside objects means that </a:t>
            </a:r>
            <a:br>
              <a:rPr lang="en-GB" sz="2800" dirty="0"/>
            </a:br>
            <a:r>
              <a:rPr lang="en-GB" sz="2800" dirty="0"/>
              <a:t>changes made to an object do not affect other </a:t>
            </a:r>
            <a:br>
              <a:rPr lang="en-GB" sz="2800" dirty="0"/>
            </a:br>
            <a:r>
              <a:rPr lang="en-GB" sz="2800" dirty="0"/>
              <a:t>objects in an unpredictable way.</a:t>
            </a:r>
          </a:p>
          <a:p>
            <a:endParaRPr lang="en-GB" sz="2800" dirty="0"/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17</a:t>
            </a:fld>
            <a:endParaRPr kumimoji="0"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94" name="Rectangle 2"/>
          <p:cNvSpPr>
            <a:spLocks noGrp="1" noChangeArrowheads="1"/>
          </p:cNvSpPr>
          <p:nvPr>
            <p:ph type="title"/>
          </p:nvPr>
        </p:nvSpPr>
        <p:spPr>
          <a:xfrm>
            <a:off x="285720" y="714356"/>
            <a:ext cx="8572560" cy="785818"/>
          </a:xfrm>
        </p:spPr>
        <p:txBody>
          <a:bodyPr/>
          <a:lstStyle/>
          <a:p>
            <a:r>
              <a:rPr lang="en-GB" dirty="0"/>
              <a:t>Digression: Why have Classes?</a:t>
            </a:r>
          </a:p>
        </p:txBody>
      </p:sp>
      <p:sp>
        <p:nvSpPr>
          <p:cNvPr id="3665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Why not just have objects, which have state, behaviour and identity as we require?</a:t>
            </a:r>
          </a:p>
          <a:p>
            <a:r>
              <a:rPr lang="en-GB" dirty="0"/>
              <a:t>Classes in object oriented languages serve two purposes:</a:t>
            </a:r>
          </a:p>
          <a:p>
            <a:pPr lvl="1"/>
            <a:r>
              <a:rPr lang="en-GB" dirty="0"/>
              <a:t>Convenient way of describing a collection (a class) of objects which have the same properties</a:t>
            </a:r>
          </a:p>
          <a:p>
            <a:pPr lvl="1"/>
            <a:r>
              <a:rPr lang="en-GB" dirty="0"/>
              <a:t>In most modern OO languages, classes are used in the same way that types are used in many other languages</a:t>
            </a:r>
          </a:p>
          <a:p>
            <a:pPr lvl="2"/>
            <a:r>
              <a:rPr lang="en-GB" sz="2400" dirty="0"/>
              <a:t>To specify what values are acceptable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18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Classes and Types</a:t>
            </a:r>
          </a:p>
        </p:txBody>
      </p:sp>
      <p:sp>
        <p:nvSpPr>
          <p:cNvPr id="3686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Often, people think of </a:t>
            </a:r>
            <a:r>
              <a:rPr lang="en-GB" dirty="0">
                <a:solidFill>
                  <a:schemeClr val="accent2"/>
                </a:solidFill>
              </a:rPr>
              <a:t>classes</a:t>
            </a:r>
            <a:r>
              <a:rPr lang="en-GB" dirty="0"/>
              <a:t> and </a:t>
            </a:r>
            <a:r>
              <a:rPr lang="en-GB" dirty="0">
                <a:solidFill>
                  <a:schemeClr val="accent2"/>
                </a:solidFill>
              </a:rPr>
              <a:t>types</a:t>
            </a:r>
            <a:r>
              <a:rPr lang="en-GB" dirty="0"/>
              <a:t> as being the same thing (indeed it is sometimes convenient and not  misleading to do so). It is not strictly correct however.</a:t>
            </a:r>
            <a:endParaRPr lang="en-GB" dirty="0">
              <a:solidFill>
                <a:srgbClr val="FF0000"/>
              </a:solidFill>
            </a:endParaRPr>
          </a:p>
          <a:p>
            <a:endParaRPr lang="en-GB" dirty="0"/>
          </a:p>
          <a:p>
            <a:r>
              <a:rPr lang="en-GB" dirty="0"/>
              <a:t>Remember that a class does not only define what messages an object understands! </a:t>
            </a:r>
          </a:p>
          <a:p>
            <a:r>
              <a:rPr lang="en-GB" dirty="0">
                <a:solidFill>
                  <a:schemeClr val="accent2"/>
                </a:solidFill>
              </a:rPr>
              <a:t>It also defines what the object does in response to the messages.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19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71480"/>
            <a:ext cx="8229600" cy="785818"/>
          </a:xfrm>
        </p:spPr>
        <p:txBody>
          <a:bodyPr>
            <a:normAutofit fontScale="90000"/>
          </a:bodyPr>
          <a:lstStyle/>
          <a:p>
            <a:r>
              <a:rPr lang="en-GB" dirty="0"/>
              <a:t>What have Objects to do with Components?</a:t>
            </a:r>
          </a:p>
        </p:txBody>
      </p:sp>
      <p:sp>
        <p:nvSpPr>
          <p:cNvPr id="367619" name="Rectangle 3"/>
          <p:cNvSpPr>
            <a:spLocks noGrp="1" noChangeArrowheads="1"/>
          </p:cNvSpPr>
          <p:nvPr>
            <p:ph idx="1"/>
          </p:nvPr>
        </p:nvSpPr>
        <p:spPr>
          <a:xfrm>
            <a:off x="428596" y="1538294"/>
            <a:ext cx="8258204" cy="481966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sz="2400" dirty="0"/>
              <a:t>The hype surrounding object orientation sometimes suggests that any class is automatically a reusable component.</a:t>
            </a:r>
          </a:p>
          <a:p>
            <a:pPr>
              <a:lnSpc>
                <a:spcPct val="90000"/>
              </a:lnSpc>
            </a:pPr>
            <a:r>
              <a:rPr lang="en-GB" sz="2400" dirty="0">
                <a:solidFill>
                  <a:schemeClr val="accent3"/>
                </a:solidFill>
              </a:rPr>
              <a:t>This, of course, is not true!</a:t>
            </a:r>
          </a:p>
          <a:p>
            <a:pPr>
              <a:lnSpc>
                <a:spcPct val="90000"/>
              </a:lnSpc>
            </a:pPr>
            <a:r>
              <a:rPr lang="en-GB" sz="2400" dirty="0">
                <a:solidFill>
                  <a:schemeClr val="accent2"/>
                </a:solidFill>
              </a:rPr>
              <a:t>The first factor </a:t>
            </a:r>
            <a:r>
              <a:rPr lang="en-GB" sz="2400" dirty="0"/>
              <a:t>is that the reusability of a component is not simply a property of the component itself, i</a:t>
            </a:r>
            <a:r>
              <a:rPr lang="en-GB" dirty="0"/>
              <a:t>t also depends upon the </a:t>
            </a:r>
            <a:r>
              <a:rPr lang="en-GB" i="1" dirty="0"/>
              <a:t>context </a:t>
            </a:r>
            <a:r>
              <a:rPr lang="en-GB" dirty="0"/>
              <a:t>of development and proposed reuse.</a:t>
            </a:r>
          </a:p>
          <a:p>
            <a:pPr>
              <a:lnSpc>
                <a:spcPct val="90000"/>
              </a:lnSpc>
            </a:pPr>
            <a:r>
              <a:rPr lang="en-GB" sz="2400" dirty="0">
                <a:solidFill>
                  <a:schemeClr val="accent2"/>
                </a:solidFill>
              </a:rPr>
              <a:t>Another important factor </a:t>
            </a:r>
            <a:r>
              <a:rPr lang="en-GB" sz="2400" dirty="0"/>
              <a:t>is that the class structure often turns out to be too fine grained for effective reuse.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In order to reuse a single class you have </a:t>
            </a:r>
          </a:p>
          <a:p>
            <a:pPr lvl="2">
              <a:lnSpc>
                <a:spcPct val="90000"/>
              </a:lnSpc>
            </a:pPr>
            <a:r>
              <a:rPr lang="en-GB" sz="2400" dirty="0"/>
              <a:t>To be writing in the same programming language and </a:t>
            </a:r>
          </a:p>
          <a:p>
            <a:pPr lvl="2">
              <a:lnSpc>
                <a:spcPct val="90000"/>
              </a:lnSpc>
            </a:pPr>
            <a:r>
              <a:rPr lang="en-GB" sz="2400" dirty="0"/>
              <a:t>using a compatible architecture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20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Object: Inheritance</a:t>
            </a:r>
          </a:p>
        </p:txBody>
      </p:sp>
      <p:sp>
        <p:nvSpPr>
          <p:cNvPr id="3573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accent2"/>
                </a:solidFill>
              </a:rPr>
              <a:t>Inheritance</a:t>
            </a:r>
            <a:r>
              <a:rPr lang="en-GB" dirty="0"/>
              <a:t> is the sharing of attributes and operations among classes based upon a hierarchical relationship</a:t>
            </a:r>
          </a:p>
          <a:p>
            <a:r>
              <a:rPr lang="en-GB" dirty="0"/>
              <a:t>A class can be defined broadly and then refined into successively finer subclasses</a:t>
            </a:r>
          </a:p>
          <a:p>
            <a:r>
              <a:rPr lang="en-GB" dirty="0"/>
              <a:t>Each subclass incorporates or inherits all of the properties of its super class and its own unique properties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21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Subclass </a:t>
            </a:r>
            <a:r>
              <a:rPr lang="en-GB" dirty="0">
                <a:sym typeface="Wingdings" pitchFamily="2" charset="2"/>
              </a:rPr>
              <a:t></a:t>
            </a:r>
            <a:r>
              <a:rPr lang="en-GB" dirty="0"/>
              <a:t> </a:t>
            </a:r>
            <a:r>
              <a:rPr lang="en-GB" dirty="0" err="1"/>
              <a:t>Superclass</a:t>
            </a:r>
            <a:r>
              <a:rPr lang="en-GB" dirty="0"/>
              <a:t> </a:t>
            </a:r>
          </a:p>
        </p:txBody>
      </p:sp>
      <p:sp>
        <p:nvSpPr>
          <p:cNvPr id="386051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357298"/>
            <a:ext cx="8382000" cy="4586302"/>
          </a:xfrm>
        </p:spPr>
        <p:txBody>
          <a:bodyPr/>
          <a:lstStyle/>
          <a:p>
            <a:endParaRPr lang="en-GB" sz="3600" dirty="0"/>
          </a:p>
          <a:p>
            <a:r>
              <a:rPr lang="en-GB" sz="2800" dirty="0"/>
              <a:t>A </a:t>
            </a:r>
            <a:r>
              <a:rPr lang="en-GB" sz="2800" b="1" dirty="0">
                <a:solidFill>
                  <a:schemeClr val="accent2"/>
                </a:solidFill>
              </a:rPr>
              <a:t>subclass</a:t>
            </a:r>
            <a:r>
              <a:rPr lang="en-GB" sz="2800" b="1" dirty="0"/>
              <a:t> </a:t>
            </a:r>
            <a:r>
              <a:rPr lang="en-GB" sz="2800" dirty="0"/>
              <a:t>is an extended, specialized version of its </a:t>
            </a:r>
            <a:r>
              <a:rPr lang="en-GB" sz="2800" b="1" dirty="0" err="1">
                <a:solidFill>
                  <a:schemeClr val="accent2"/>
                </a:solidFill>
              </a:rPr>
              <a:t>superclass</a:t>
            </a:r>
            <a:r>
              <a:rPr lang="en-GB" sz="2800" dirty="0"/>
              <a:t>. </a:t>
            </a:r>
          </a:p>
          <a:p>
            <a:r>
              <a:rPr lang="en-GB" sz="2800" dirty="0"/>
              <a:t>It includes the operations and attributes of the </a:t>
            </a:r>
            <a:r>
              <a:rPr lang="en-GB" sz="2800" dirty="0" err="1"/>
              <a:t>superclass</a:t>
            </a:r>
            <a:r>
              <a:rPr lang="en-GB" sz="2800" dirty="0"/>
              <a:t>, and possibly extra ones which extend the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22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Object: Inheritance</a:t>
            </a:r>
          </a:p>
        </p:txBody>
      </p:sp>
      <p:grpSp>
        <p:nvGrpSpPr>
          <p:cNvPr id="359428" name="Group 4"/>
          <p:cNvGrpSpPr>
            <a:grpSpLocks/>
          </p:cNvGrpSpPr>
          <p:nvPr/>
        </p:nvGrpSpPr>
        <p:grpSpPr bwMode="auto">
          <a:xfrm>
            <a:off x="785786" y="2428868"/>
            <a:ext cx="7569200" cy="3094038"/>
            <a:chOff x="608" y="720"/>
            <a:chExt cx="4768" cy="1949"/>
          </a:xfrm>
        </p:grpSpPr>
        <p:sp>
          <p:nvSpPr>
            <p:cNvPr id="359429" name="Rectangle 5"/>
            <p:cNvSpPr>
              <a:spLocks noChangeArrowheads="1"/>
            </p:cNvSpPr>
            <p:nvPr/>
          </p:nvSpPr>
          <p:spPr bwMode="auto">
            <a:xfrm>
              <a:off x="1564" y="816"/>
              <a:ext cx="580" cy="23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1800">
                  <a:latin typeface="Arial" charset="0"/>
                </a:rPr>
                <a:t>Person</a:t>
              </a:r>
            </a:p>
          </p:txBody>
        </p:sp>
        <p:sp>
          <p:nvSpPr>
            <p:cNvPr id="359430" name="Rectangle 6"/>
            <p:cNvSpPr>
              <a:spLocks noChangeArrowheads="1"/>
            </p:cNvSpPr>
            <p:nvPr/>
          </p:nvSpPr>
          <p:spPr bwMode="auto">
            <a:xfrm>
              <a:off x="1905" y="1392"/>
              <a:ext cx="508" cy="23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1800" dirty="0">
                  <a:latin typeface="Arial" charset="0"/>
                </a:rPr>
                <a:t>Nurse</a:t>
              </a:r>
            </a:p>
          </p:txBody>
        </p:sp>
        <p:sp>
          <p:nvSpPr>
            <p:cNvPr id="359431" name="Rectangle 7"/>
            <p:cNvSpPr>
              <a:spLocks noChangeArrowheads="1"/>
            </p:cNvSpPr>
            <p:nvPr/>
          </p:nvSpPr>
          <p:spPr bwMode="auto">
            <a:xfrm>
              <a:off x="1143" y="1392"/>
              <a:ext cx="548" cy="23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1800">
                  <a:latin typeface="Arial" charset="0"/>
                </a:rPr>
                <a:t>Doctor</a:t>
              </a:r>
            </a:p>
          </p:txBody>
        </p:sp>
        <p:sp>
          <p:nvSpPr>
            <p:cNvPr id="359432" name="Line 8"/>
            <p:cNvSpPr>
              <a:spLocks noChangeShapeType="1"/>
            </p:cNvSpPr>
            <p:nvPr/>
          </p:nvSpPr>
          <p:spPr bwMode="auto">
            <a:xfrm flipV="1">
              <a:off x="1433" y="1056"/>
              <a:ext cx="335" cy="33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59433" name="Line 9"/>
            <p:cNvSpPr>
              <a:spLocks noChangeShapeType="1"/>
            </p:cNvSpPr>
            <p:nvPr/>
          </p:nvSpPr>
          <p:spPr bwMode="auto">
            <a:xfrm flipH="1" flipV="1">
              <a:off x="1961" y="1056"/>
              <a:ext cx="143" cy="33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59434" name="Rectangle 10"/>
            <p:cNvSpPr>
              <a:spLocks noChangeArrowheads="1"/>
            </p:cNvSpPr>
            <p:nvPr/>
          </p:nvSpPr>
          <p:spPr bwMode="auto">
            <a:xfrm>
              <a:off x="608" y="1920"/>
              <a:ext cx="668" cy="23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1800">
                  <a:latin typeface="Arial" charset="0"/>
                </a:rPr>
                <a:t>Surgeon</a:t>
              </a:r>
            </a:p>
          </p:txBody>
        </p:sp>
        <p:sp>
          <p:nvSpPr>
            <p:cNvPr id="359435" name="Rectangle 11"/>
            <p:cNvSpPr>
              <a:spLocks noChangeArrowheads="1"/>
            </p:cNvSpPr>
            <p:nvPr/>
          </p:nvSpPr>
          <p:spPr bwMode="auto">
            <a:xfrm>
              <a:off x="1527" y="1920"/>
              <a:ext cx="548" cy="38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1800">
                  <a:latin typeface="Arial" charset="0"/>
                </a:rPr>
                <a:t>Family</a:t>
              </a:r>
            </a:p>
            <a:p>
              <a:pPr algn="ctr">
                <a:lnSpc>
                  <a:spcPct val="85000"/>
                </a:lnSpc>
              </a:pPr>
              <a:r>
                <a:rPr lang="en-GB" sz="1800">
                  <a:latin typeface="Arial" charset="0"/>
                </a:rPr>
                <a:t>Doctor</a:t>
              </a:r>
            </a:p>
          </p:txBody>
        </p:sp>
        <p:sp>
          <p:nvSpPr>
            <p:cNvPr id="359436" name="Line 12"/>
            <p:cNvSpPr>
              <a:spLocks noChangeShapeType="1"/>
            </p:cNvSpPr>
            <p:nvPr/>
          </p:nvSpPr>
          <p:spPr bwMode="auto">
            <a:xfrm flipV="1">
              <a:off x="1001" y="1632"/>
              <a:ext cx="287" cy="2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59437" name="Line 13"/>
            <p:cNvSpPr>
              <a:spLocks noChangeShapeType="1"/>
            </p:cNvSpPr>
            <p:nvPr/>
          </p:nvSpPr>
          <p:spPr bwMode="auto">
            <a:xfrm flipH="1" flipV="1">
              <a:off x="1481" y="1632"/>
              <a:ext cx="239" cy="2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59438" name="Rectangle 14"/>
            <p:cNvSpPr>
              <a:spLocks noChangeArrowheads="1"/>
            </p:cNvSpPr>
            <p:nvPr/>
          </p:nvSpPr>
          <p:spPr bwMode="auto">
            <a:xfrm>
              <a:off x="1296" y="2304"/>
              <a:ext cx="784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>
              <a:spAutoFit/>
            </a:bodyPr>
            <a:lstStyle/>
            <a:p>
              <a:pPr algn="ctr"/>
              <a:r>
                <a:rPr lang="en-GB" sz="3200">
                  <a:solidFill>
                    <a:schemeClr val="folHlink"/>
                  </a:solidFill>
                  <a:latin typeface="Arial" charset="0"/>
                </a:rPr>
                <a:t>single</a:t>
              </a:r>
            </a:p>
          </p:txBody>
        </p:sp>
        <p:sp>
          <p:nvSpPr>
            <p:cNvPr id="359439" name="Rectangle 15"/>
            <p:cNvSpPr>
              <a:spLocks noChangeArrowheads="1"/>
            </p:cNvSpPr>
            <p:nvPr/>
          </p:nvSpPr>
          <p:spPr bwMode="auto">
            <a:xfrm>
              <a:off x="3822" y="720"/>
              <a:ext cx="596" cy="23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1800" dirty="0">
                  <a:latin typeface="Arial" charset="0"/>
                </a:rPr>
                <a:t>Vehicle</a:t>
              </a:r>
            </a:p>
          </p:txBody>
        </p:sp>
        <p:sp>
          <p:nvSpPr>
            <p:cNvPr id="359440" name="Rectangle 16"/>
            <p:cNvSpPr>
              <a:spLocks noChangeArrowheads="1"/>
            </p:cNvSpPr>
            <p:nvPr/>
          </p:nvSpPr>
          <p:spPr bwMode="auto">
            <a:xfrm>
              <a:off x="3195" y="1296"/>
              <a:ext cx="956" cy="23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1800">
                  <a:latin typeface="Arial" charset="0"/>
                </a:rPr>
                <a:t>Land Vehicle</a:t>
              </a:r>
            </a:p>
          </p:txBody>
        </p:sp>
        <p:sp>
          <p:nvSpPr>
            <p:cNvPr id="359441" name="Rectangle 17"/>
            <p:cNvSpPr>
              <a:spLocks noChangeArrowheads="1"/>
            </p:cNvSpPr>
            <p:nvPr/>
          </p:nvSpPr>
          <p:spPr bwMode="auto">
            <a:xfrm>
              <a:off x="4304" y="1296"/>
              <a:ext cx="1020" cy="23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1800">
                  <a:latin typeface="Arial" charset="0"/>
                </a:rPr>
                <a:t>Water Vehicle</a:t>
              </a:r>
            </a:p>
          </p:txBody>
        </p:sp>
        <p:sp>
          <p:nvSpPr>
            <p:cNvPr id="359442" name="Rectangle 18"/>
            <p:cNvSpPr>
              <a:spLocks noChangeArrowheads="1"/>
            </p:cNvSpPr>
            <p:nvPr/>
          </p:nvSpPr>
          <p:spPr bwMode="auto">
            <a:xfrm>
              <a:off x="2971" y="2016"/>
              <a:ext cx="356" cy="23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1800">
                  <a:latin typeface="Arial" charset="0"/>
                </a:rPr>
                <a:t>Car</a:t>
              </a:r>
            </a:p>
          </p:txBody>
        </p:sp>
        <p:sp>
          <p:nvSpPr>
            <p:cNvPr id="359443" name="Rectangle 19"/>
            <p:cNvSpPr>
              <a:spLocks noChangeArrowheads="1"/>
            </p:cNvSpPr>
            <p:nvPr/>
          </p:nvSpPr>
          <p:spPr bwMode="auto">
            <a:xfrm>
              <a:off x="3480" y="2016"/>
              <a:ext cx="1388" cy="23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1800">
                  <a:latin typeface="Arial" charset="0"/>
                </a:rPr>
                <a:t>Amphibious Vehicle</a:t>
              </a:r>
            </a:p>
          </p:txBody>
        </p:sp>
        <p:sp>
          <p:nvSpPr>
            <p:cNvPr id="359444" name="Rectangle 20"/>
            <p:cNvSpPr>
              <a:spLocks noChangeArrowheads="1"/>
            </p:cNvSpPr>
            <p:nvPr/>
          </p:nvSpPr>
          <p:spPr bwMode="auto">
            <a:xfrm>
              <a:off x="4956" y="2016"/>
              <a:ext cx="420" cy="23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1800">
                  <a:latin typeface="Arial" charset="0"/>
                </a:rPr>
                <a:t>Boat</a:t>
              </a:r>
            </a:p>
          </p:txBody>
        </p:sp>
        <p:sp>
          <p:nvSpPr>
            <p:cNvPr id="359445" name="Line 21"/>
            <p:cNvSpPr>
              <a:spLocks noChangeShapeType="1"/>
            </p:cNvSpPr>
            <p:nvPr/>
          </p:nvSpPr>
          <p:spPr bwMode="auto">
            <a:xfrm flipV="1">
              <a:off x="3641" y="960"/>
              <a:ext cx="335" cy="33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59446" name="Line 22"/>
            <p:cNvSpPr>
              <a:spLocks noChangeShapeType="1"/>
            </p:cNvSpPr>
            <p:nvPr/>
          </p:nvSpPr>
          <p:spPr bwMode="auto">
            <a:xfrm flipH="1" flipV="1">
              <a:off x="4313" y="960"/>
              <a:ext cx="383" cy="33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59447" name="Line 23"/>
            <p:cNvSpPr>
              <a:spLocks noChangeShapeType="1"/>
            </p:cNvSpPr>
            <p:nvPr/>
          </p:nvSpPr>
          <p:spPr bwMode="auto">
            <a:xfrm flipV="1">
              <a:off x="3161" y="1536"/>
              <a:ext cx="335" cy="47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59448" name="Line 24"/>
            <p:cNvSpPr>
              <a:spLocks noChangeShapeType="1"/>
            </p:cNvSpPr>
            <p:nvPr/>
          </p:nvSpPr>
          <p:spPr bwMode="auto">
            <a:xfrm flipH="1" flipV="1">
              <a:off x="3785" y="1536"/>
              <a:ext cx="191" cy="47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59449" name="Line 25"/>
            <p:cNvSpPr>
              <a:spLocks noChangeShapeType="1"/>
            </p:cNvSpPr>
            <p:nvPr/>
          </p:nvSpPr>
          <p:spPr bwMode="auto">
            <a:xfrm flipV="1">
              <a:off x="4361" y="1536"/>
              <a:ext cx="191" cy="47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59450" name="Line 26"/>
            <p:cNvSpPr>
              <a:spLocks noChangeShapeType="1"/>
            </p:cNvSpPr>
            <p:nvPr/>
          </p:nvSpPr>
          <p:spPr bwMode="auto">
            <a:xfrm flipH="1" flipV="1">
              <a:off x="4937" y="1536"/>
              <a:ext cx="239" cy="47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59451" name="Rectangle 27"/>
            <p:cNvSpPr>
              <a:spLocks noChangeArrowheads="1"/>
            </p:cNvSpPr>
            <p:nvPr/>
          </p:nvSpPr>
          <p:spPr bwMode="auto">
            <a:xfrm>
              <a:off x="3600" y="2256"/>
              <a:ext cx="997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>
              <a:spAutoFit/>
            </a:bodyPr>
            <a:lstStyle/>
            <a:p>
              <a:pPr algn="ctr"/>
              <a:r>
                <a:rPr lang="en-GB" sz="3200">
                  <a:solidFill>
                    <a:schemeClr val="folHlink"/>
                  </a:solidFill>
                  <a:latin typeface="Arial" charset="0"/>
                </a:rPr>
                <a:t>multiple</a:t>
              </a:r>
            </a:p>
          </p:txBody>
        </p:sp>
      </p:grp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23</a:t>
            </a:fld>
            <a:endParaRPr kumimoji="0"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Inheritance - Warning</a:t>
            </a:r>
          </a:p>
        </p:txBody>
      </p:sp>
      <p:sp>
        <p:nvSpPr>
          <p:cNvPr id="3614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/>
              <a:t>One should not abuse inheritance</a:t>
            </a:r>
          </a:p>
          <a:p>
            <a:pPr lvl="1"/>
            <a:r>
              <a:rPr lang="en-GB" dirty="0"/>
              <a:t>It is not just a way to be able to access some of the methods of the subclass</a:t>
            </a:r>
          </a:p>
          <a:p>
            <a:pPr lvl="1"/>
            <a:r>
              <a:rPr lang="en-GB" dirty="0"/>
              <a:t>A subclass must inherit </a:t>
            </a:r>
            <a:r>
              <a:rPr lang="en-GB" b="1" dirty="0"/>
              <a:t>all</a:t>
            </a:r>
            <a:r>
              <a:rPr lang="en-GB" dirty="0"/>
              <a:t> the </a:t>
            </a:r>
            <a:r>
              <a:rPr lang="en-GB" dirty="0" err="1"/>
              <a:t>superclass</a:t>
            </a:r>
            <a:endParaRPr lang="en-GB" dirty="0"/>
          </a:p>
          <a:p>
            <a:r>
              <a:rPr lang="en-GB" sz="2400" dirty="0">
                <a:solidFill>
                  <a:schemeClr val="accent2"/>
                </a:solidFill>
              </a:rPr>
              <a:t>Composition</a:t>
            </a:r>
            <a:r>
              <a:rPr lang="en-GB" sz="2400" dirty="0"/>
              <a:t> is often “better” than inheritance</a:t>
            </a:r>
          </a:p>
          <a:p>
            <a:endParaRPr lang="en-GB" sz="2400" dirty="0"/>
          </a:p>
          <a:p>
            <a:pPr eaLnBrk="1" hangingPunct="1"/>
            <a:r>
              <a:rPr kumimoji="0" lang="en-US" b="1" dirty="0">
                <a:solidFill>
                  <a:schemeClr val="accent3"/>
                </a:solidFill>
                <a:latin typeface="Times New Roman" charset="0"/>
              </a:rPr>
              <a:t>(!)</a:t>
            </a:r>
            <a:r>
              <a:rPr kumimoji="0" lang="en-US" b="1" dirty="0">
                <a:solidFill>
                  <a:srgbClr val="666699"/>
                </a:solidFill>
                <a:latin typeface="Times New Roman" charset="0"/>
              </a:rPr>
              <a:t> </a:t>
            </a:r>
            <a:r>
              <a:rPr kumimoji="0" lang="en-US" b="1" dirty="0">
                <a:solidFill>
                  <a:schemeClr val="accent2"/>
                </a:solidFill>
                <a:latin typeface="Times New Roman" charset="0"/>
              </a:rPr>
              <a:t>An object class is coupled to its super-classes</a:t>
            </a:r>
            <a:r>
              <a:rPr kumimoji="0" lang="en-US" dirty="0">
                <a:latin typeface="Times New Roman" charset="0"/>
              </a:rPr>
              <a:t>. Changes made to the attributes or operations in a super-class propagate to all sub-classes.</a:t>
            </a:r>
          </a:p>
          <a:p>
            <a:endParaRPr 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24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Object: Polymorphism</a:t>
            </a:r>
          </a:p>
        </p:txBody>
      </p:sp>
      <p:sp>
        <p:nvSpPr>
          <p:cNvPr id="3624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>
                <a:solidFill>
                  <a:schemeClr val="accent2"/>
                </a:solidFill>
              </a:rPr>
              <a:t>Polymorphism </a:t>
            </a:r>
            <a:r>
              <a:rPr lang="en-GB" dirty="0"/>
              <a:t>allows the programmer to use a subclass anywhere that a </a:t>
            </a:r>
            <a:r>
              <a:rPr lang="en-GB" dirty="0" err="1"/>
              <a:t>superclass</a:t>
            </a:r>
            <a:r>
              <a:rPr lang="en-GB" dirty="0"/>
              <a:t> is expected. E.g., if </a:t>
            </a:r>
            <a:r>
              <a:rPr lang="en-GB" dirty="0">
                <a:solidFill>
                  <a:schemeClr val="accent3"/>
                </a:solidFill>
              </a:rPr>
              <a:t>B</a:t>
            </a:r>
            <a:r>
              <a:rPr lang="en-GB" dirty="0"/>
              <a:t> is a subclass of type </a:t>
            </a:r>
            <a:r>
              <a:rPr lang="en-GB" dirty="0">
                <a:solidFill>
                  <a:schemeClr val="accent3"/>
                </a:solidFill>
              </a:rPr>
              <a:t>A</a:t>
            </a:r>
            <a:r>
              <a:rPr lang="en-GB" dirty="0"/>
              <a:t> then if an argument expects a variable of type </a:t>
            </a:r>
            <a:r>
              <a:rPr lang="en-GB" dirty="0">
                <a:solidFill>
                  <a:schemeClr val="accent3"/>
                </a:solidFill>
              </a:rPr>
              <a:t>A</a:t>
            </a:r>
            <a:r>
              <a:rPr lang="en-GB" dirty="0"/>
              <a:t>, it should also be able to take any variable of type </a:t>
            </a:r>
            <a:r>
              <a:rPr lang="en-GB" dirty="0">
                <a:solidFill>
                  <a:schemeClr val="accent3"/>
                </a:solidFill>
              </a:rPr>
              <a:t>B</a:t>
            </a:r>
            <a:r>
              <a:rPr lang="en-GB" dirty="0"/>
              <a:t>.</a:t>
            </a:r>
          </a:p>
          <a:p>
            <a:r>
              <a:rPr lang="en-GB" dirty="0"/>
              <a:t>Polymorphism essentially reduces the amount of code duplication required. However, Object-Oriented Programming Languages also usually have a feature called “dynamic binding” which makes this idea even more </a:t>
            </a:r>
            <a:r>
              <a:rPr lang="en-GB"/>
              <a:t>useful..</a:t>
            </a:r>
            <a:endParaRPr lang="en-GB" dirty="0"/>
          </a:p>
          <a:p>
            <a:endParaRPr lang="en-GB" dirty="0"/>
          </a:p>
          <a:p>
            <a:pPr>
              <a:buFontTx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25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785786" y="3714752"/>
            <a:ext cx="7286676" cy="85725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7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Dynamic Binding</a:t>
            </a:r>
          </a:p>
        </p:txBody>
      </p:sp>
      <p:sp>
        <p:nvSpPr>
          <p:cNvPr id="347139" name="Rectangle 3"/>
          <p:cNvSpPr>
            <a:spLocks noGrp="1" noChangeArrowheads="1"/>
          </p:cNvSpPr>
          <p:nvPr>
            <p:ph idx="1"/>
          </p:nvPr>
        </p:nvSpPr>
        <p:spPr>
          <a:xfrm>
            <a:off x="428596" y="1785926"/>
            <a:ext cx="8229600" cy="4389120"/>
          </a:xfrm>
        </p:spPr>
        <p:txBody>
          <a:bodyPr>
            <a:normAutofit lnSpcReduction="10000"/>
          </a:bodyPr>
          <a:lstStyle/>
          <a:p>
            <a:r>
              <a:rPr lang="en-GB" dirty="0">
                <a:solidFill>
                  <a:schemeClr val="accent3"/>
                </a:solidFill>
              </a:rPr>
              <a:t>Dynamic Binding </a:t>
            </a:r>
            <a:r>
              <a:rPr lang="en-GB" dirty="0"/>
              <a:t>is when an object determines (possibly at run time) which code to execute as the result of a method call on a base type. </a:t>
            </a:r>
          </a:p>
          <a:p>
            <a:r>
              <a:rPr lang="en-GB" dirty="0"/>
              <a:t>For example, imagine </a:t>
            </a:r>
            <a:r>
              <a:rPr lang="en-GB" dirty="0">
                <a:solidFill>
                  <a:schemeClr val="accent2"/>
                </a:solidFill>
              </a:rPr>
              <a:t>C</a:t>
            </a:r>
            <a:r>
              <a:rPr lang="en-GB" dirty="0"/>
              <a:t> is a subclass of </a:t>
            </a:r>
            <a:r>
              <a:rPr lang="en-GB" dirty="0">
                <a:solidFill>
                  <a:schemeClr val="accent2"/>
                </a:solidFill>
              </a:rPr>
              <a:t>B</a:t>
            </a:r>
            <a:r>
              <a:rPr lang="en-GB" dirty="0"/>
              <a:t> and both have a method named </a:t>
            </a:r>
            <a:r>
              <a:rPr lang="en-GB" dirty="0" err="1"/>
              <a:t>printName</a:t>
            </a:r>
            <a:r>
              <a:rPr lang="en-GB" dirty="0"/>
              <a:t>(). Then if we write: </a:t>
            </a:r>
          </a:p>
          <a:p>
            <a:pPr lvl="1">
              <a:buNone/>
            </a:pPr>
            <a:r>
              <a:rPr lang="en-GB" dirty="0"/>
              <a:t>B temp = new C(); // (This is allowed by polymorphism)</a:t>
            </a:r>
          </a:p>
          <a:p>
            <a:pPr lvl="1">
              <a:buNone/>
            </a:pPr>
            <a:r>
              <a:rPr lang="en-GB" dirty="0" err="1"/>
              <a:t>temp.printName</a:t>
            </a:r>
            <a:r>
              <a:rPr lang="en-GB" dirty="0"/>
              <a:t>();</a:t>
            </a:r>
          </a:p>
          <a:p>
            <a:pPr>
              <a:buNone/>
            </a:pPr>
            <a:r>
              <a:rPr lang="en-GB" dirty="0"/>
              <a:t>	we would invoke the </a:t>
            </a:r>
            <a:r>
              <a:rPr lang="en-GB" dirty="0" err="1"/>
              <a:t>printName</a:t>
            </a:r>
            <a:r>
              <a:rPr lang="en-GB" dirty="0"/>
              <a:t>() method of object </a:t>
            </a:r>
            <a:r>
              <a:rPr lang="en-GB" dirty="0">
                <a:solidFill>
                  <a:schemeClr val="accent2"/>
                </a:solidFill>
              </a:rPr>
              <a:t>C</a:t>
            </a:r>
            <a:r>
              <a:rPr lang="en-GB" dirty="0"/>
              <a:t>, </a:t>
            </a:r>
            <a:r>
              <a:rPr lang="en-GB" b="1" dirty="0"/>
              <a:t>not </a:t>
            </a:r>
            <a:r>
              <a:rPr lang="en-GB" dirty="0"/>
              <a:t>of object </a:t>
            </a:r>
            <a:r>
              <a:rPr lang="en-GB" dirty="0">
                <a:solidFill>
                  <a:schemeClr val="accent2"/>
                </a:solidFill>
              </a:rPr>
              <a:t>B</a:t>
            </a:r>
            <a:r>
              <a:rPr lang="en-GB" dirty="0"/>
              <a:t>, even though the type of temp is </a:t>
            </a:r>
            <a:r>
              <a:rPr lang="en-GB" dirty="0">
                <a:solidFill>
                  <a:schemeClr val="accent2"/>
                </a:solidFill>
              </a:rPr>
              <a:t>B</a:t>
            </a:r>
            <a:r>
              <a:rPr lang="en-GB" dirty="0"/>
              <a:t>.</a:t>
            </a:r>
          </a:p>
          <a:p>
            <a:r>
              <a:rPr lang="en-GB" dirty="0"/>
              <a:t>This is </a:t>
            </a:r>
            <a:r>
              <a:rPr lang="en-GB" b="1" i="1" dirty="0"/>
              <a:t>dynamic binding</a:t>
            </a:r>
            <a:r>
              <a:rPr lang="en-GB" dirty="0"/>
              <a:t>. Let us consider another example..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26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04088"/>
            <a:ext cx="8305800" cy="796086"/>
          </a:xfrm>
        </p:spPr>
        <p:txBody>
          <a:bodyPr>
            <a:normAutofit/>
          </a:bodyPr>
          <a:lstStyle/>
          <a:p>
            <a:pPr algn="ctr"/>
            <a:r>
              <a:rPr lang="en-GB" sz="4000" dirty="0"/>
              <a:t>Dynamic Binding - Example</a:t>
            </a:r>
          </a:p>
        </p:txBody>
      </p:sp>
      <p:sp>
        <p:nvSpPr>
          <p:cNvPr id="364547" name="Text Box 3"/>
          <p:cNvSpPr txBox="1">
            <a:spLocks noChangeArrowheads="1"/>
          </p:cNvSpPr>
          <p:nvPr/>
        </p:nvSpPr>
        <p:spPr bwMode="auto">
          <a:xfrm>
            <a:off x="714348" y="2285992"/>
            <a:ext cx="3500462" cy="2234458"/>
          </a:xfrm>
          <a:prstGeom prst="rect">
            <a:avLst/>
          </a:prstGeom>
          <a:noFill/>
          <a:ln w="12700">
            <a:noFill/>
            <a:miter lim="800000"/>
            <a:headEnd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kumimoji="1" lang="en-GB" dirty="0">
                <a:latin typeface="+mn-lt"/>
              </a:rPr>
              <a:t>Vehicle v = null;</a:t>
            </a:r>
          </a:p>
          <a:p>
            <a:pPr>
              <a:spcBef>
                <a:spcPct val="20000"/>
              </a:spcBef>
            </a:pPr>
            <a:r>
              <a:rPr kumimoji="1" lang="en-GB" dirty="0">
                <a:latin typeface="+mn-lt"/>
              </a:rPr>
              <a:t>v = new Car();</a:t>
            </a:r>
          </a:p>
          <a:p>
            <a:pPr>
              <a:spcBef>
                <a:spcPct val="20000"/>
              </a:spcBef>
            </a:pPr>
            <a:r>
              <a:rPr kumimoji="1" lang="en-GB" dirty="0" err="1">
                <a:latin typeface="+mn-lt"/>
              </a:rPr>
              <a:t>v.startEngine</a:t>
            </a:r>
            <a:r>
              <a:rPr kumimoji="1" lang="en-GB" dirty="0">
                <a:latin typeface="+mn-lt"/>
              </a:rPr>
              <a:t>();</a:t>
            </a:r>
          </a:p>
          <a:p>
            <a:pPr>
              <a:spcBef>
                <a:spcPct val="20000"/>
              </a:spcBef>
            </a:pPr>
            <a:r>
              <a:rPr kumimoji="1" lang="en-GB" dirty="0">
                <a:latin typeface="+mn-lt"/>
              </a:rPr>
              <a:t>v = new Boat();</a:t>
            </a:r>
          </a:p>
          <a:p>
            <a:pPr>
              <a:spcBef>
                <a:spcPct val="20000"/>
              </a:spcBef>
            </a:pPr>
            <a:r>
              <a:rPr kumimoji="1" lang="en-GB" dirty="0" err="1">
                <a:latin typeface="+mn-lt"/>
              </a:rPr>
              <a:t>v.startEngine</a:t>
            </a:r>
            <a:r>
              <a:rPr kumimoji="1" lang="en-GB" dirty="0">
                <a:latin typeface="+mn-lt"/>
              </a:rPr>
              <a:t>(); </a:t>
            </a:r>
            <a:endParaRPr lang="en-GB" dirty="0">
              <a:latin typeface="+mn-lt"/>
            </a:endParaRPr>
          </a:p>
        </p:txBody>
      </p:sp>
      <p:graphicFrame>
        <p:nvGraphicFramePr>
          <p:cNvPr id="387072" name="Object 0"/>
          <p:cNvGraphicFramePr>
            <a:graphicFrameLocks noChangeAspect="1"/>
          </p:cNvGraphicFramePr>
          <p:nvPr/>
        </p:nvGraphicFramePr>
        <p:xfrm>
          <a:off x="4500562" y="2143116"/>
          <a:ext cx="4495800" cy="3335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3448531" imgH="2523810" progId="">
                  <p:embed/>
                </p:oleObj>
              </mc:Choice>
              <mc:Fallback>
                <p:oleObj name="Photo Editor Photo" r:id="rId2" imgW="3448531" imgH="252381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2" y="2143116"/>
                        <a:ext cx="4495800" cy="3335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27</a:t>
            </a:fld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71802" y="2786058"/>
            <a:ext cx="1428760" cy="923330"/>
          </a:xfrm>
          <a:prstGeom prst="rect">
            <a:avLst/>
          </a:prstGeom>
          <a:solidFill>
            <a:schemeClr val="tx2">
              <a:lumMod val="75000"/>
            </a:schemeClr>
          </a:solidFill>
          <a:ln w="15875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en-GB" sz="1800" dirty="0">
                <a:solidFill>
                  <a:schemeClr val="bg2"/>
                </a:solidFill>
              </a:rPr>
              <a:t>Call Car </a:t>
            </a:r>
            <a:r>
              <a:rPr lang="en-GB" sz="1800" dirty="0" err="1">
                <a:solidFill>
                  <a:schemeClr val="bg2"/>
                </a:solidFill>
              </a:rPr>
              <a:t>startEngine</a:t>
            </a:r>
            <a:r>
              <a:rPr lang="en-GB" sz="1800" dirty="0">
                <a:solidFill>
                  <a:schemeClr val="bg2"/>
                </a:solidFill>
              </a:rPr>
              <a:t>() 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8926" y="4214818"/>
            <a:ext cx="1428760" cy="923330"/>
          </a:xfrm>
          <a:prstGeom prst="rect">
            <a:avLst/>
          </a:prstGeom>
          <a:solidFill>
            <a:schemeClr val="tx2">
              <a:lumMod val="75000"/>
            </a:schemeClr>
          </a:solidFill>
          <a:ln w="15875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en-GB" sz="1800" dirty="0">
                <a:solidFill>
                  <a:schemeClr val="bg2"/>
                </a:solidFill>
              </a:rPr>
              <a:t>Call Boat </a:t>
            </a:r>
            <a:r>
              <a:rPr lang="en-GB" sz="1800" dirty="0" err="1">
                <a:solidFill>
                  <a:schemeClr val="bg2"/>
                </a:solidFill>
              </a:rPr>
              <a:t>startEngine</a:t>
            </a:r>
            <a:r>
              <a:rPr lang="en-GB" sz="1800" dirty="0">
                <a:solidFill>
                  <a:schemeClr val="bg2"/>
                </a:solidFill>
              </a:rPr>
              <a:t>() method</a:t>
            </a:r>
          </a:p>
        </p:txBody>
      </p:sp>
      <p:cxnSp>
        <p:nvCxnSpPr>
          <p:cNvPr id="10" name="Straight Arrow Connector 9"/>
          <p:cNvCxnSpPr>
            <a:stCxn id="7" idx="1"/>
          </p:cNvCxnSpPr>
          <p:nvPr/>
        </p:nvCxnSpPr>
        <p:spPr>
          <a:xfrm rot="10800000" flipV="1">
            <a:off x="2643174" y="3247723"/>
            <a:ext cx="428628" cy="1812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8" idx="1"/>
          </p:cNvCxnSpPr>
          <p:nvPr/>
        </p:nvCxnSpPr>
        <p:spPr>
          <a:xfrm rot="10800000">
            <a:off x="2643174" y="4286263"/>
            <a:ext cx="285752" cy="39022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1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28596" y="266700"/>
            <a:ext cx="8334404" cy="1233474"/>
          </a:xfrm>
        </p:spPr>
        <p:txBody>
          <a:bodyPr/>
          <a:lstStyle/>
          <a:p>
            <a:pPr algn="ctr"/>
            <a:r>
              <a:rPr lang="en-GB" dirty="0"/>
              <a:t>Unified Modelling Language(UML)</a:t>
            </a:r>
          </a:p>
        </p:txBody>
      </p:sp>
      <p:sp>
        <p:nvSpPr>
          <p:cNvPr id="371715" name="Rectangle 1027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sz="2400" dirty="0"/>
              <a:t>Unify notations</a:t>
            </a:r>
          </a:p>
          <a:p>
            <a:r>
              <a:rPr lang="en-GB" sz="2400" dirty="0"/>
              <a:t>UML is a language for:</a:t>
            </a:r>
          </a:p>
          <a:p>
            <a:pPr lvl="1"/>
            <a:r>
              <a:rPr lang="en-GB" sz="2000" dirty="0">
                <a:solidFill>
                  <a:schemeClr val="accent2"/>
                </a:solidFill>
              </a:rPr>
              <a:t>Specifying</a:t>
            </a:r>
          </a:p>
          <a:p>
            <a:pPr lvl="1"/>
            <a:r>
              <a:rPr lang="en-GB" sz="2000" dirty="0">
                <a:solidFill>
                  <a:schemeClr val="accent2"/>
                </a:solidFill>
              </a:rPr>
              <a:t>Visualizing</a:t>
            </a:r>
            <a:r>
              <a:rPr lang="en-GB" sz="2000" dirty="0"/>
              <a:t> and</a:t>
            </a:r>
          </a:p>
          <a:p>
            <a:pPr lvl="1"/>
            <a:r>
              <a:rPr lang="en-GB" sz="2000" dirty="0">
                <a:solidFill>
                  <a:schemeClr val="accent2"/>
                </a:solidFill>
              </a:rPr>
              <a:t>Documenting</a:t>
            </a:r>
          </a:p>
          <a:p>
            <a:pPr>
              <a:buFontTx/>
              <a:buNone/>
            </a:pPr>
            <a:r>
              <a:rPr lang="en-GB" sz="2400" dirty="0"/>
              <a:t>	the parts of a system under development</a:t>
            </a:r>
          </a:p>
          <a:p>
            <a:r>
              <a:rPr lang="en-GB" sz="2400" dirty="0"/>
              <a:t>Authors (</a:t>
            </a:r>
            <a:r>
              <a:rPr lang="en-GB" sz="2400" dirty="0" err="1"/>
              <a:t>Booch</a:t>
            </a:r>
            <a:r>
              <a:rPr lang="en-GB" sz="2400" dirty="0"/>
              <a:t>, </a:t>
            </a:r>
            <a:r>
              <a:rPr lang="en-GB" sz="2400" dirty="0" err="1"/>
              <a:t>Rumbaugh</a:t>
            </a:r>
            <a:r>
              <a:rPr lang="en-GB" sz="2400" dirty="0"/>
              <a:t> and Jacobsen) agreed on notation but </a:t>
            </a:r>
            <a:r>
              <a:rPr lang="en-GB" sz="2400" b="1" dirty="0">
                <a:solidFill>
                  <a:schemeClr val="accent3"/>
                </a:solidFill>
              </a:rPr>
              <a:t>not able to agree on a single method</a:t>
            </a:r>
          </a:p>
          <a:p>
            <a:pPr lvl="1"/>
            <a:r>
              <a:rPr lang="en-GB" sz="2000" dirty="0"/>
              <a:t>This is probably a “good thing”</a:t>
            </a:r>
          </a:p>
          <a:p>
            <a:r>
              <a:rPr lang="en-GB" sz="2400" dirty="0"/>
              <a:t>UML has been adopted by the Object Management Group (OMG) as an Object-Oriented notation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28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UML – Other Influences</a:t>
            </a:r>
          </a:p>
        </p:txBody>
      </p:sp>
      <p:sp>
        <p:nvSpPr>
          <p:cNvPr id="3737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Meyer – pre and post conditions</a:t>
            </a:r>
          </a:p>
          <a:p>
            <a:r>
              <a:rPr lang="en-GB" dirty="0" err="1"/>
              <a:t>Harel</a:t>
            </a:r>
            <a:r>
              <a:rPr lang="en-GB" dirty="0"/>
              <a:t> - </a:t>
            </a:r>
            <a:r>
              <a:rPr lang="en-GB" dirty="0" err="1"/>
              <a:t>statecharts</a:t>
            </a:r>
            <a:endParaRPr lang="en-GB" dirty="0"/>
          </a:p>
          <a:p>
            <a:r>
              <a:rPr lang="en-GB" dirty="0" err="1"/>
              <a:t>Wirfs</a:t>
            </a:r>
            <a:r>
              <a:rPr lang="en-GB" dirty="0"/>
              <a:t>-Brock - responsibilities</a:t>
            </a:r>
          </a:p>
          <a:p>
            <a:r>
              <a:rPr lang="en-GB" dirty="0"/>
              <a:t>Coleman - message numbering scheme</a:t>
            </a:r>
          </a:p>
          <a:p>
            <a:r>
              <a:rPr lang="en-GB" dirty="0" err="1"/>
              <a:t>Embley</a:t>
            </a:r>
            <a:r>
              <a:rPr lang="en-GB" dirty="0"/>
              <a:t> - singleton classes</a:t>
            </a:r>
          </a:p>
          <a:p>
            <a:r>
              <a:rPr lang="en-GB" dirty="0"/>
              <a:t>Gamma - patterns, notes</a:t>
            </a:r>
          </a:p>
          <a:p>
            <a:r>
              <a:rPr lang="en-GB" dirty="0" err="1"/>
              <a:t>Shlaer</a:t>
            </a:r>
            <a:r>
              <a:rPr lang="en-GB" dirty="0"/>
              <a:t>, Mellor - object lifecycles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29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UML – Some Notation</a:t>
            </a:r>
          </a:p>
        </p:txBody>
      </p:sp>
      <p:sp>
        <p:nvSpPr>
          <p:cNvPr id="3758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Object classes </a:t>
            </a:r>
            <a:r>
              <a:rPr lang="en-GB" dirty="0"/>
              <a:t>are rectangles with the name at the top, attributes in the middle section (“compartment”) and operations in the next compartment.</a:t>
            </a:r>
          </a:p>
          <a:p>
            <a:r>
              <a:rPr lang="en-GB" dirty="0"/>
              <a:t>Relationships between object classes (known as associations) are shown as lines linking objects</a:t>
            </a:r>
          </a:p>
          <a:p>
            <a:r>
              <a:rPr lang="en-GB" dirty="0"/>
              <a:t>Inheritance is referred to as </a:t>
            </a:r>
            <a:r>
              <a:rPr lang="en-GB" dirty="0">
                <a:solidFill>
                  <a:schemeClr val="accent2"/>
                </a:solidFill>
              </a:rPr>
              <a:t>generalisation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It uses an </a:t>
            </a:r>
            <a:r>
              <a:rPr lang="en-GB" i="1" dirty="0"/>
              <a:t>open triangular arrow </a:t>
            </a:r>
            <a:r>
              <a:rPr lang="en-GB" dirty="0"/>
              <a:t>head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30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Library System UML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31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pic>
        <p:nvPicPr>
          <p:cNvPr id="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785786" y="1643050"/>
            <a:ext cx="7467600" cy="4608513"/>
          </a:xfrm>
          <a:noFill/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1142976" y="1785926"/>
            <a:ext cx="3200400" cy="1569660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  <a:miter lim="800000"/>
            <a:headEnd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dirty="0">
                <a:solidFill>
                  <a:schemeClr val="accent3"/>
                </a:solidFill>
                <a:latin typeface="Arial" charset="0"/>
              </a:rPr>
              <a:t>Note that if you avoid “Generalisation” you have a recognisable ER diagram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CASE Tools/Workbenches</a:t>
            </a:r>
          </a:p>
        </p:txBody>
      </p:sp>
      <p:sp>
        <p:nvSpPr>
          <p:cNvPr id="3778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 </a:t>
            </a:r>
            <a:r>
              <a:rPr lang="en-GB" dirty="0">
                <a:solidFill>
                  <a:schemeClr val="accent3"/>
                </a:solidFill>
              </a:rPr>
              <a:t>C</a:t>
            </a:r>
            <a:r>
              <a:rPr lang="en-GB" dirty="0"/>
              <a:t>omputer </a:t>
            </a:r>
            <a:r>
              <a:rPr lang="en-GB" dirty="0">
                <a:solidFill>
                  <a:schemeClr val="accent3"/>
                </a:solidFill>
              </a:rPr>
              <a:t>A</a:t>
            </a:r>
            <a:r>
              <a:rPr lang="en-GB" dirty="0"/>
              <a:t>ided </a:t>
            </a:r>
            <a:r>
              <a:rPr lang="en-GB" dirty="0">
                <a:solidFill>
                  <a:schemeClr val="accent3"/>
                </a:solidFill>
              </a:rPr>
              <a:t>S</a:t>
            </a:r>
            <a:r>
              <a:rPr lang="en-GB" dirty="0"/>
              <a:t>oftware </a:t>
            </a:r>
            <a:r>
              <a:rPr lang="en-GB" dirty="0">
                <a:solidFill>
                  <a:schemeClr val="accent3"/>
                </a:solidFill>
              </a:rPr>
              <a:t>E</a:t>
            </a:r>
            <a:r>
              <a:rPr lang="en-GB" dirty="0"/>
              <a:t>ngineering (CASE)</a:t>
            </a:r>
          </a:p>
          <a:p>
            <a:r>
              <a:rPr lang="en-GB" dirty="0"/>
              <a:t>A coherent set of tools to support a software engineering method</a:t>
            </a:r>
          </a:p>
          <a:p>
            <a:r>
              <a:rPr lang="en-GB" dirty="0"/>
              <a:t>These workbenches may support a specific SE method or may provide support for creating several different types of system model. </a:t>
            </a:r>
          </a:p>
          <a:p>
            <a:r>
              <a:rPr lang="en-GB" dirty="0"/>
              <a:t>There are also </a:t>
            </a:r>
            <a:r>
              <a:rPr lang="en-GB" dirty="0">
                <a:solidFill>
                  <a:schemeClr val="accent2"/>
                </a:solidFill>
              </a:rPr>
              <a:t>meta-CASE</a:t>
            </a:r>
            <a:r>
              <a:rPr lang="en-GB" dirty="0"/>
              <a:t> tools</a:t>
            </a:r>
          </a:p>
          <a:p>
            <a:pPr lvl="1"/>
            <a:r>
              <a:rPr lang="en-GB" dirty="0"/>
              <a:t>A CASE tool to build CASE tools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32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CASE Tool Components</a:t>
            </a:r>
          </a:p>
        </p:txBody>
      </p:sp>
      <p:sp>
        <p:nvSpPr>
          <p:cNvPr id="3788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Diagram editors</a:t>
            </a:r>
          </a:p>
          <a:p>
            <a:r>
              <a:rPr lang="en-GB"/>
              <a:t>Model analysis and checking tools</a:t>
            </a:r>
          </a:p>
          <a:p>
            <a:r>
              <a:rPr lang="en-GB"/>
              <a:t>Repository and associated query language</a:t>
            </a:r>
          </a:p>
          <a:p>
            <a:r>
              <a:rPr lang="en-GB"/>
              <a:t>Data dictionary</a:t>
            </a:r>
          </a:p>
          <a:p>
            <a:r>
              <a:rPr lang="en-GB"/>
              <a:t>Report definition and generation tools</a:t>
            </a:r>
          </a:p>
          <a:p>
            <a:r>
              <a:rPr lang="en-GB"/>
              <a:t>Forms definition tools</a:t>
            </a:r>
          </a:p>
          <a:p>
            <a:r>
              <a:rPr lang="en-GB"/>
              <a:t>Code generation tools</a:t>
            </a:r>
          </a:p>
          <a:p>
            <a:r>
              <a:rPr lang="en-GB"/>
              <a:t>Import/export translators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33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34" y="1935480"/>
            <a:ext cx="8072494" cy="4389120"/>
          </a:xfrm>
        </p:spPr>
        <p:txBody>
          <a:bodyPr>
            <a:normAutofit/>
          </a:bodyPr>
          <a:lstStyle/>
          <a:p>
            <a:r>
              <a:rPr lang="en-GB" sz="2800" dirty="0"/>
              <a:t>Object Oriented Design is an approach to design so that design components have their own </a:t>
            </a:r>
            <a:r>
              <a:rPr lang="en-GB" sz="2800" dirty="0">
                <a:solidFill>
                  <a:schemeClr val="accent2"/>
                </a:solidFill>
              </a:rPr>
              <a:t>private state and operations</a:t>
            </a:r>
            <a:r>
              <a:rPr lang="en-GB" sz="2800" dirty="0"/>
              <a:t>.</a:t>
            </a:r>
          </a:p>
          <a:p>
            <a:r>
              <a:rPr lang="en-GB" sz="2800" dirty="0"/>
              <a:t>Objects should have a constructor as well as inspection operations. They provide services to other objects.</a:t>
            </a:r>
          </a:p>
          <a:p>
            <a:r>
              <a:rPr lang="en-GB" sz="2800" dirty="0"/>
              <a:t>Objects may be implemented </a:t>
            </a:r>
            <a:r>
              <a:rPr lang="en-GB" sz="2800" i="1" dirty="0"/>
              <a:t>sequentially</a:t>
            </a:r>
            <a:r>
              <a:rPr lang="en-GB" sz="2800" dirty="0"/>
              <a:t> or </a:t>
            </a:r>
            <a:r>
              <a:rPr lang="en-GB" sz="2800" i="1" dirty="0"/>
              <a:t>concurrently</a:t>
            </a:r>
            <a:r>
              <a:rPr lang="en-GB" sz="2800" dirty="0"/>
              <a:t>.</a:t>
            </a:r>
          </a:p>
          <a:p>
            <a:endParaRPr lang="en-GB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34</a:t>
            </a:fld>
            <a:endParaRPr kumimoji="0"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/>
              <a:t>Object interfaces should be defined precisely using e.g. a programming language like Java.</a:t>
            </a:r>
          </a:p>
          <a:p>
            <a:r>
              <a:rPr lang="en-GB" sz="2800" dirty="0"/>
              <a:t>Object-oriented design potentially simplifies  system evolution.</a:t>
            </a:r>
          </a:p>
          <a:p>
            <a:r>
              <a:rPr lang="en-GB" sz="2800" dirty="0"/>
              <a:t>The Unified </a:t>
            </a:r>
            <a:r>
              <a:rPr lang="en-GB" sz="2800" dirty="0" err="1"/>
              <a:t>Modeling</a:t>
            </a:r>
            <a:r>
              <a:rPr lang="en-GB" sz="2800" dirty="0"/>
              <a:t> Language provides different notations for defining different object models.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35</a:t>
            </a:fld>
            <a:endParaRPr kumimoji="0"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FA49B-5D5A-AE6A-4007-655E4256E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Next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EA452-C0A4-4CBC-200C-91BCAB7B8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Have a look at…</a:t>
            </a:r>
          </a:p>
          <a:p>
            <a:endParaRPr lang="en-US" dirty="0"/>
          </a:p>
          <a:p>
            <a:pPr lvl="1"/>
            <a:r>
              <a:rPr lang="en-US" dirty="0"/>
              <a:t>designWorkshop.pdf</a:t>
            </a:r>
          </a:p>
          <a:p>
            <a:r>
              <a:rPr lang="en-US" dirty="0"/>
              <a:t>  and</a:t>
            </a:r>
          </a:p>
          <a:p>
            <a:pPr lvl="1"/>
            <a:r>
              <a:rPr lang="en-US" dirty="0"/>
              <a:t>COMP201Hotel RequirementsV2.pdf</a:t>
            </a:r>
          </a:p>
          <a:p>
            <a:endParaRPr lang="en-US" dirty="0"/>
          </a:p>
          <a:p>
            <a:r>
              <a:rPr lang="en-US" dirty="0"/>
              <a:t>Do some work yourself in preparation </a:t>
            </a:r>
            <a:r>
              <a:rPr lang="en-US"/>
              <a:t>for next week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7156B3-354A-B67F-5021-A02D7EC5A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FE89F4-8C99-78AB-07D0-06FDA12B4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36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4555747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Custom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1F1F33"/>
      </a:accent1>
      <a:accent2>
        <a:srgbClr val="B54703"/>
      </a:accent2>
      <a:accent3>
        <a:srgbClr val="CE0202"/>
      </a:accent3>
      <a:accent4>
        <a:srgbClr val="C4652D"/>
      </a:accent4>
      <a:accent5>
        <a:srgbClr val="8B5D3D"/>
      </a:accent5>
      <a:accent6>
        <a:srgbClr val="3F6E8C"/>
      </a:accent6>
      <a:hlink>
        <a:srgbClr val="E0EFF1"/>
      </a:hlink>
      <a:folHlink>
        <a:srgbClr val="C2A87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12897</TotalTime>
  <Words>2135</Words>
  <Application>Microsoft Office PowerPoint</Application>
  <PresentationFormat>On-screen Show (4:3)</PresentationFormat>
  <Paragraphs>305</Paragraphs>
  <Slides>36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Arial</vt:lpstr>
      <vt:lpstr>Calibri</vt:lpstr>
      <vt:lpstr>Times</vt:lpstr>
      <vt:lpstr>Times New Roman</vt:lpstr>
      <vt:lpstr>Wingdings 2</vt:lpstr>
      <vt:lpstr>Flow</vt:lpstr>
      <vt:lpstr>Photo Editor Photo</vt:lpstr>
      <vt:lpstr>Software Engineering COMP 201</vt:lpstr>
      <vt:lpstr>Object-Oriented</vt:lpstr>
      <vt:lpstr>Object Concepts</vt:lpstr>
      <vt:lpstr>Object Concepts</vt:lpstr>
      <vt:lpstr>What is an Object?</vt:lpstr>
      <vt:lpstr>Again… What is an Object?</vt:lpstr>
      <vt:lpstr>State</vt:lpstr>
      <vt:lpstr>Behaviour</vt:lpstr>
      <vt:lpstr>Identity is more Tricky</vt:lpstr>
      <vt:lpstr>Example </vt:lpstr>
      <vt:lpstr>Messages</vt:lpstr>
      <vt:lpstr> Examples</vt:lpstr>
      <vt:lpstr>Interfaces</vt:lpstr>
      <vt:lpstr>Object: Classification</vt:lpstr>
      <vt:lpstr>Object: Classification</vt:lpstr>
      <vt:lpstr>Object: Classification</vt:lpstr>
      <vt:lpstr>Object Interface Specification</vt:lpstr>
      <vt:lpstr>Digression: Why have Classes?</vt:lpstr>
      <vt:lpstr>Classes and Types</vt:lpstr>
      <vt:lpstr>What have Objects to do with Components?</vt:lpstr>
      <vt:lpstr>Object: Inheritance</vt:lpstr>
      <vt:lpstr>Subclass  Superclass </vt:lpstr>
      <vt:lpstr>Object: Inheritance</vt:lpstr>
      <vt:lpstr>Inheritance - Warning</vt:lpstr>
      <vt:lpstr>Object: Polymorphism</vt:lpstr>
      <vt:lpstr>Dynamic Binding</vt:lpstr>
      <vt:lpstr>Dynamic Binding - Example</vt:lpstr>
      <vt:lpstr>Unified Modelling Language(UML)</vt:lpstr>
      <vt:lpstr>UML – Other Influences</vt:lpstr>
      <vt:lpstr>UML – Some Notation</vt:lpstr>
      <vt:lpstr>Library System UML Example</vt:lpstr>
      <vt:lpstr>CASE Tools/Workbenches</vt:lpstr>
      <vt:lpstr>CASE Tool Components</vt:lpstr>
      <vt:lpstr>Key Points</vt:lpstr>
      <vt:lpstr>Key Points</vt:lpstr>
      <vt:lpstr>Next lecture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Methods, UML Origins and OO reminder</dc:title>
  <dc:creator>Steve Fisher</dc:creator>
  <cp:lastModifiedBy>Coope, Sebastian</cp:lastModifiedBy>
  <cp:revision>388</cp:revision>
  <cp:lastPrinted>1998-10-05T17:59:03Z</cp:lastPrinted>
  <dcterms:created xsi:type="dcterms:W3CDTF">1998-04-15T14:00:20Z</dcterms:created>
  <dcterms:modified xsi:type="dcterms:W3CDTF">2023-09-14T11:49:59Z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1</vt:i4>
  </property>
  <property fmtid="{D5CDD505-2E9C-101B-9397-08002B2CF9AE}" pid="6" name="ScreenUsage">
    <vt:i4>3</vt:i4>
  </property>
  <property fmtid="{D5CDD505-2E9C-101B-9397-08002B2CF9AE}" pid="7" name="MailAddress">
    <vt:lpwstr>travasso@cs.umd.edu</vt:lpwstr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3</vt:i4>
  </property>
  <property fmtid="{D5CDD505-2E9C-101B-9397-08002B2CF9AE}" pid="21" name="OutputDir">
    <vt:lpwstr>C:\ght\Courses</vt:lpwstr>
  </property>
</Properties>
</file>