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4" r:id="rId1"/>
  </p:sldMasterIdLst>
  <p:notesMasterIdLst>
    <p:notesMasterId r:id="rId30"/>
  </p:notesMasterIdLst>
  <p:handoutMasterIdLst>
    <p:handoutMasterId r:id="rId31"/>
  </p:handoutMasterIdLst>
  <p:sldIdLst>
    <p:sldId id="534" r:id="rId2"/>
    <p:sldId id="548" r:id="rId3"/>
    <p:sldId id="535" r:id="rId4"/>
    <p:sldId id="519" r:id="rId5"/>
    <p:sldId id="520" r:id="rId6"/>
    <p:sldId id="521" r:id="rId7"/>
    <p:sldId id="536" r:id="rId8"/>
    <p:sldId id="522" r:id="rId9"/>
    <p:sldId id="523" r:id="rId10"/>
    <p:sldId id="524" r:id="rId11"/>
    <p:sldId id="526" r:id="rId12"/>
    <p:sldId id="525" r:id="rId13"/>
    <p:sldId id="527" r:id="rId14"/>
    <p:sldId id="537" r:id="rId15"/>
    <p:sldId id="538" r:id="rId16"/>
    <p:sldId id="539" r:id="rId17"/>
    <p:sldId id="532" r:id="rId18"/>
    <p:sldId id="546" r:id="rId19"/>
    <p:sldId id="547" r:id="rId20"/>
    <p:sldId id="542" r:id="rId21"/>
    <p:sldId id="528" r:id="rId22"/>
    <p:sldId id="529" r:id="rId23"/>
    <p:sldId id="543" r:id="rId24"/>
    <p:sldId id="530" r:id="rId25"/>
    <p:sldId id="545" r:id="rId26"/>
    <p:sldId id="531" r:id="rId27"/>
    <p:sldId id="533" r:id="rId28"/>
    <p:sldId id="544" r:id="rId29"/>
  </p:sldIdLst>
  <p:sldSz cx="9144000" cy="6858000" type="screen4x3"/>
  <p:notesSz cx="7086600" cy="102235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19">
          <p15:clr>
            <a:srgbClr val="A4A3A4"/>
          </p15:clr>
        </p15:guide>
        <p15:guide id="2" pos="223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  <a:srgbClr val="9966FF"/>
    <a:srgbClr val="FF6600"/>
    <a:srgbClr val="FF0000"/>
    <a:srgbClr val="00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911" autoAdjust="0"/>
    <p:restoredTop sz="87479" autoAdjust="0"/>
  </p:normalViewPr>
  <p:slideViewPr>
    <p:cSldViewPr snapToGrid="0">
      <p:cViewPr varScale="1">
        <p:scale>
          <a:sx n="86" d="100"/>
          <a:sy n="86" d="100"/>
        </p:scale>
        <p:origin x="1018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0" d="100"/>
          <a:sy n="60" d="100"/>
        </p:scale>
        <p:origin x="-1698" y="-60"/>
      </p:cViewPr>
      <p:guideLst>
        <p:guide orient="horz" pos="3219"/>
        <p:guide pos="223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97213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393" tIns="48197" rIns="96393" bIns="48197" numCol="1" anchor="t" anchorCtr="0" compatLnSpc="1">
            <a:prstTxWarp prst="textNoShape">
              <a:avLst/>
            </a:prstTxWarp>
          </a:bodyPr>
          <a:lstStyle>
            <a:lvl1pPr defTabSz="957263">
              <a:defRPr sz="1300"/>
            </a:lvl1pPr>
          </a:lstStyle>
          <a:p>
            <a:endParaRPr lang="en-GB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95738" y="0"/>
            <a:ext cx="3097212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393" tIns="48197" rIns="96393" bIns="48197" numCol="1" anchor="t" anchorCtr="0" compatLnSpc="1">
            <a:prstTxWarp prst="textNoShape">
              <a:avLst/>
            </a:prstTxWarp>
          </a:bodyPr>
          <a:lstStyle>
            <a:lvl1pPr algn="r" defTabSz="957263">
              <a:defRPr sz="1300"/>
            </a:lvl1pPr>
          </a:lstStyle>
          <a:p>
            <a:endParaRPr lang="en-GB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53600"/>
            <a:ext cx="3097213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393" tIns="48197" rIns="96393" bIns="48197" numCol="1" anchor="b" anchorCtr="0" compatLnSpc="1">
            <a:prstTxWarp prst="textNoShape">
              <a:avLst/>
            </a:prstTxWarp>
          </a:bodyPr>
          <a:lstStyle>
            <a:lvl1pPr defTabSz="957263">
              <a:defRPr sz="1300"/>
            </a:lvl1pPr>
          </a:lstStyle>
          <a:p>
            <a:endParaRPr lang="en-GB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95738" y="9753600"/>
            <a:ext cx="3097212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393" tIns="48197" rIns="96393" bIns="48197" numCol="1" anchor="b" anchorCtr="0" compatLnSpc="1">
            <a:prstTxWarp prst="textNoShape">
              <a:avLst/>
            </a:prstTxWarp>
          </a:bodyPr>
          <a:lstStyle>
            <a:lvl1pPr algn="r" defTabSz="957263">
              <a:defRPr sz="1300"/>
            </a:lvl1pPr>
          </a:lstStyle>
          <a:p>
            <a:fld id="{2437974C-E301-4179-BD0E-D1704E0C2098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91153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1813" cy="50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393" tIns="48197" rIns="96393" bIns="48197" numCol="1" anchor="t" anchorCtr="0" compatLnSpc="1">
            <a:prstTxWarp prst="textNoShape">
              <a:avLst/>
            </a:prstTxWarp>
          </a:bodyPr>
          <a:lstStyle>
            <a:lvl1pPr defTabSz="957263">
              <a:defRPr sz="1300"/>
            </a:lvl1pPr>
          </a:lstStyle>
          <a:p>
            <a:endParaRPr lang="en-GB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14788" y="0"/>
            <a:ext cx="3071812" cy="50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393" tIns="48197" rIns="96393" bIns="48197" numCol="1" anchor="t" anchorCtr="0" compatLnSpc="1">
            <a:prstTxWarp prst="textNoShape">
              <a:avLst/>
            </a:prstTxWarp>
          </a:bodyPr>
          <a:lstStyle>
            <a:lvl1pPr algn="r" defTabSz="957263">
              <a:defRPr sz="1300"/>
            </a:lvl1pPr>
          </a:lstStyle>
          <a:p>
            <a:endParaRPr lang="en-GB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89013" y="768350"/>
            <a:ext cx="5111750" cy="3832225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4563" y="4856163"/>
            <a:ext cx="5197475" cy="4600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393" tIns="48197" rIns="96393" bIns="4819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0"/>
            <a:r>
              <a:rPr lang="en-GB"/>
              <a:t>Second level</a:t>
            </a:r>
          </a:p>
          <a:p>
            <a:pPr lvl="0"/>
            <a:r>
              <a:rPr lang="en-GB"/>
              <a:t>Third level</a:t>
            </a:r>
          </a:p>
          <a:p>
            <a:pPr lvl="0"/>
            <a:r>
              <a:rPr lang="en-GB"/>
              <a:t>Fourth level</a:t>
            </a:r>
          </a:p>
          <a:p>
            <a:pPr lvl="0"/>
            <a:r>
              <a:rPr lang="en-GB"/>
              <a:t>Fifth level</a:t>
            </a: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13913"/>
            <a:ext cx="3071813" cy="50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393" tIns="48197" rIns="96393" bIns="48197" numCol="1" anchor="b" anchorCtr="0" compatLnSpc="1">
            <a:prstTxWarp prst="textNoShape">
              <a:avLst/>
            </a:prstTxWarp>
          </a:bodyPr>
          <a:lstStyle>
            <a:lvl1pPr defTabSz="957263">
              <a:defRPr sz="1300"/>
            </a:lvl1pPr>
          </a:lstStyle>
          <a:p>
            <a:endParaRPr lang="en-GB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14788" y="9713913"/>
            <a:ext cx="3071812" cy="50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393" tIns="48197" rIns="96393" bIns="48197" numCol="1" anchor="b" anchorCtr="0" compatLnSpc="1">
            <a:prstTxWarp prst="textNoShape">
              <a:avLst/>
            </a:prstTxWarp>
          </a:bodyPr>
          <a:lstStyle>
            <a:lvl1pPr algn="r" defTabSz="957263">
              <a:defRPr sz="1300"/>
            </a:lvl1pPr>
          </a:lstStyle>
          <a:p>
            <a:fld id="{EBE318AB-BD41-429A-AD55-F9F8CA7A8D8A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676743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57288" y="768350"/>
            <a:ext cx="4784725" cy="3587750"/>
          </a:xfrm>
          <a:ln/>
        </p:spPr>
      </p:sp>
      <p:sp>
        <p:nvSpPr>
          <p:cNvPr id="2765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670DF06-4775-4E82-8772-90B18856C867}" type="slidenum">
              <a:rPr lang="en-GB" smtClean="0"/>
              <a:pPr/>
              <a:t>1</a:t>
            </a:fld>
            <a:endParaRPr lang="en-GB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Steve Fisher/RAL - 2001</a:t>
            </a:r>
            <a:endParaRPr lang="en-GB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COMP201 - Software Engineering</a:t>
            </a:r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8DC8E-0C98-424D-ADA6-B838D397D2DC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Steve Fisher/RAL - 2001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70014-7BEF-40E2-951A-3A20FE14B530}" type="slidenum">
              <a:rPr lang="en-GB" smtClean="0"/>
              <a:pPr/>
              <a:t>‹#›</a:t>
            </a:fld>
            <a:endParaRPr lang="en-GB">
              <a:solidFill>
                <a:schemeClr val="tx1"/>
              </a:solidFill>
              <a:latin typeface="Impact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Steve Fisher/RAL - 2001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231F8-724F-444C-B543-9B6D1AE05969}" type="slidenum">
              <a:rPr lang="en-GB" smtClean="0"/>
              <a:pPr/>
              <a:t>‹#›</a:t>
            </a:fld>
            <a:endParaRPr lang="en-GB">
              <a:solidFill>
                <a:schemeClr val="tx1"/>
              </a:solidFill>
              <a:latin typeface="Impact" pitchFamily="34" charset="0"/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Steve Fisher/RAL - 2001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F84CA-4036-43A6-A8FF-52A0E8B876DC}" type="slidenum">
              <a:rPr lang="en-GB" smtClean="0"/>
              <a:pPr/>
              <a:t>‹#›</a:t>
            </a:fld>
            <a:endParaRPr lang="en-GB">
              <a:solidFill>
                <a:schemeClr val="tx1"/>
              </a:solidFill>
              <a:latin typeface="Impact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Steve Fisher/RAL - 2001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  <a:endParaRPr kumimoji="0"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629C2-F101-4BD6-85F2-B16AC3B1957E}" type="slidenum">
              <a:rPr lang="en-GB" smtClean="0"/>
              <a:pPr/>
              <a:t>‹#›</a:t>
            </a:fld>
            <a:endParaRPr lang="en-GB">
              <a:solidFill>
                <a:schemeClr val="tx1"/>
              </a:solidFill>
              <a:latin typeface="Impact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796086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ctr" rtl="0">
              <a:spcBef>
                <a:spcPct val="0"/>
              </a:spcBef>
              <a:buNone/>
              <a:defRPr sz="4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Steve Fisher/RAL - 2001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6764E-B848-4B75-A56A-E2D317BF9D79}" type="slidenum">
              <a:rPr lang="en-GB" smtClean="0"/>
              <a:pPr/>
              <a:t>‹#›</a:t>
            </a:fld>
            <a:endParaRPr lang="en-GB">
              <a:solidFill>
                <a:schemeClr val="tx1"/>
              </a:solidFill>
              <a:latin typeface="Impact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Steve Fisher/RAL - 2001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E522B-F483-4793-ABF6-3E5BAF4B1194}" type="slidenum">
              <a:rPr lang="en-GB" smtClean="0"/>
              <a:pPr/>
              <a:t>‹#›</a:t>
            </a:fld>
            <a:endParaRPr lang="en-GB">
              <a:solidFill>
                <a:schemeClr val="tx1"/>
              </a:solidFill>
              <a:latin typeface="Impact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Steve Fisher/RAL - 2001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91559-00D0-4536-8D9B-8B7E5A41291D}" type="slidenum">
              <a:rPr lang="en-GB" smtClean="0"/>
              <a:pPr/>
              <a:t>‹#›</a:t>
            </a:fld>
            <a:endParaRPr lang="en-GB">
              <a:solidFill>
                <a:schemeClr val="tx1"/>
              </a:solidFill>
              <a:latin typeface="Impact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Steve Fisher/RAL - 2001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51CF4A51-0BEC-43ED-8447-7D013E249C0E}" type="slidenum">
              <a:rPr lang="en-GB" smtClean="0"/>
              <a:pPr/>
              <a:t>‹#›</a:t>
            </a:fld>
            <a:endParaRPr lang="en-GB">
              <a:solidFill>
                <a:schemeClr val="tx1"/>
              </a:solidFill>
              <a:latin typeface="Impact" pitchFamily="34" charset="0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Steve Fisher/RAL - 2001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FDA6E-BA49-4428-8C45-BC9167D3AC75}" type="slidenum">
              <a:rPr lang="en-GB" smtClean="0"/>
              <a:pPr/>
              <a:t>‹#›</a:t>
            </a:fld>
            <a:endParaRPr lang="en-GB">
              <a:solidFill>
                <a:schemeClr val="tx1"/>
              </a:solidFill>
              <a:latin typeface="Impact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Steve Fisher/RAL - 2001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80363-6663-47DF-9781-9C869EA51D66}" type="slidenum">
              <a:rPr lang="en-GB" smtClean="0"/>
              <a:pPr/>
              <a:t>‹#›</a:t>
            </a:fld>
            <a:endParaRPr lang="en-GB">
              <a:solidFill>
                <a:schemeClr val="tx1"/>
              </a:solidFill>
              <a:latin typeface="Impact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724648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dirty="0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r>
              <a:rPr lang="en-US"/>
              <a:t>Steve Fisher/RAL - 2001</a:t>
            </a:r>
            <a:endParaRPr lang="en-US" dirty="0">
              <a:solidFill>
                <a:schemeClr val="tx2">
                  <a:shade val="90000"/>
                </a:schemeClr>
              </a:solidFill>
            </a:endParaRPr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 algn="l" eaLnBrk="1" latinLnBrk="0" hangingPunct="1"/>
            <a:r>
              <a:rPr kumimoji="0" lang="en-US">
                <a:solidFill>
                  <a:schemeClr val="tx2">
                    <a:shade val="90000"/>
                  </a:schemeClr>
                </a:solidFill>
              </a:rPr>
              <a:t>COMP201 - Software Engineering</a:t>
            </a:r>
            <a:endParaRPr kumimoji="0" lang="en-US" dirty="0">
              <a:solidFill>
                <a:schemeClr val="tx2">
                  <a:shade val="90000"/>
                </a:schemeClr>
              </a:solidFill>
            </a:endParaRP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BFB86DC9-4196-4E1E-8B12-17F35C2339D6}" type="slidenum">
              <a:rPr lang="en-GB" smtClean="0"/>
              <a:pPr/>
              <a:t>‹#›</a:t>
            </a:fld>
            <a:endParaRPr lang="en-GB">
              <a:latin typeface="Impact" pitchFamily="34" charset="0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</p:sldLayoutIdLst>
  <p:hf hdr="0" dt="0"/>
  <p:txStyles>
    <p:titleStyle>
      <a:lvl1pPr algn="ctr" rtl="0" eaLnBrk="1" latinLnBrk="0" hangingPunct="1">
        <a:spcBef>
          <a:spcPct val="0"/>
        </a:spcBef>
        <a:buNone/>
        <a:defRPr kumimoji="0" sz="4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571480"/>
            <a:ext cx="7772400" cy="1643074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Software Engineering</a:t>
            </a:r>
            <a:br>
              <a:rPr lang="en-GB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GB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 201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710712" y="2373313"/>
            <a:ext cx="7924800" cy="3265487"/>
          </a:xfrm>
        </p:spPr>
        <p:txBody>
          <a:bodyPr>
            <a:normAutofit fontScale="92500" lnSpcReduction="20000"/>
          </a:bodyPr>
          <a:lstStyle/>
          <a:p>
            <a:r>
              <a:rPr lang="en-GB" sz="2800" dirty="0"/>
              <a:t>Lecturer: </a:t>
            </a:r>
            <a:r>
              <a:rPr lang="en-GB" sz="2800" b="1" dirty="0"/>
              <a:t>Sebastian </a:t>
            </a:r>
            <a:r>
              <a:rPr lang="en-GB" sz="2800" b="1" dirty="0" err="1"/>
              <a:t>Coope</a:t>
            </a:r>
            <a:endParaRPr lang="en-GB" sz="2800" b="1" dirty="0"/>
          </a:p>
          <a:p>
            <a:r>
              <a:rPr lang="en-GB" sz="2800" i="1" dirty="0"/>
              <a:t>Ashton Building, Room G.18</a:t>
            </a:r>
          </a:p>
          <a:p>
            <a:r>
              <a:rPr lang="en-GB" sz="2800" i="1" dirty="0"/>
              <a:t>E-mail: </a:t>
            </a:r>
            <a:r>
              <a:rPr lang="en-GB" sz="2800" b="1" i="1" dirty="0"/>
              <a:t>coopes@liverpool.ac.uk </a:t>
            </a:r>
          </a:p>
          <a:p>
            <a:endParaRPr lang="en-GB" sz="2400" b="1" i="1" dirty="0"/>
          </a:p>
          <a:p>
            <a:r>
              <a:rPr lang="en-GB" sz="2800" b="1" dirty="0"/>
              <a:t>COMP 201 web-page:</a:t>
            </a:r>
          </a:p>
          <a:p>
            <a:r>
              <a:rPr lang="en-GB" sz="2400" b="1" dirty="0"/>
              <a:t>http://www.csc.liv.ac.uk/~coopes/comp201</a:t>
            </a:r>
          </a:p>
          <a:p>
            <a:pPr eaLnBrk="1" hangingPunct="1"/>
            <a:endParaRPr lang="en-GB" sz="2800" u="sng" dirty="0"/>
          </a:p>
          <a:p>
            <a:pPr eaLnBrk="1" hangingPunct="1"/>
            <a:r>
              <a:rPr lang="en-GB" sz="2800" u="sng"/>
              <a:t>Lecture 20 </a:t>
            </a:r>
            <a:r>
              <a:rPr lang="en-GB" sz="2800" u="sng" dirty="0"/>
              <a:t>– Essentials of Class Models</a:t>
            </a:r>
          </a:p>
          <a:p>
            <a:pPr eaLnBrk="1" hangingPunct="1"/>
            <a:endParaRPr lang="en-GB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8DC8E-0C98-424D-ADA6-B838D397D2DC}" type="slidenum">
              <a:rPr lang="en-GB" smtClean="0"/>
              <a:pPr/>
              <a:t>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COMP201 - Software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On Naming classes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dirty="0"/>
              <a:t>NO PLURALS!</a:t>
            </a:r>
          </a:p>
          <a:p>
            <a:pPr lvl="1"/>
            <a:r>
              <a:rPr lang="en-GB" dirty="0"/>
              <a:t>Person	not Persons</a:t>
            </a:r>
          </a:p>
          <a:p>
            <a:pPr lvl="1"/>
            <a:r>
              <a:rPr lang="en-GB" dirty="0"/>
              <a:t>Car	not Cars</a:t>
            </a:r>
          </a:p>
          <a:p>
            <a:r>
              <a:rPr lang="en-GB" sz="2400" dirty="0"/>
              <a:t>NO VERBS</a:t>
            </a:r>
          </a:p>
          <a:p>
            <a:pPr lvl="1"/>
            <a:r>
              <a:rPr lang="en-GB" dirty="0"/>
              <a:t>Encrypt </a:t>
            </a:r>
            <a:r>
              <a:rPr lang="en-GB" b="1" dirty="0">
                <a:solidFill>
                  <a:srgbClr val="FF0000"/>
                </a:solidFill>
              </a:rPr>
              <a:t>X </a:t>
            </a:r>
          </a:p>
          <a:p>
            <a:r>
              <a:rPr lang="en-GB" sz="2400" dirty="0"/>
              <a:t>Not general process descriptors</a:t>
            </a:r>
            <a:br>
              <a:rPr lang="en-GB" sz="2400" dirty="0"/>
            </a:br>
            <a:r>
              <a:rPr lang="en-GB" sz="2400" dirty="0"/>
              <a:t>	Encryption  </a:t>
            </a:r>
            <a:r>
              <a:rPr lang="en-GB" sz="2400" b="1" dirty="0">
                <a:solidFill>
                  <a:srgbClr val="FF0000"/>
                </a:solidFill>
              </a:rPr>
              <a:t>X </a:t>
            </a:r>
          </a:p>
          <a:p>
            <a:r>
              <a:rPr lang="en-GB" sz="2400" dirty="0" err="1"/>
              <a:t>Encryptor</a:t>
            </a:r>
            <a:r>
              <a:rPr lang="en-GB" sz="2400" dirty="0"/>
              <a:t> or </a:t>
            </a:r>
            <a:r>
              <a:rPr lang="en-GB" sz="2400" dirty="0" err="1"/>
              <a:t>EncryptionHelper</a:t>
            </a:r>
            <a:endParaRPr lang="en-GB" sz="2400" dirty="0"/>
          </a:p>
          <a:p>
            <a:r>
              <a:rPr lang="en-GB" sz="2400" dirty="0"/>
              <a:t>Printer Good,  Printing Bad</a:t>
            </a:r>
          </a:p>
          <a:p>
            <a:pPr lvl="1"/>
            <a:endParaRPr lang="en-GB" b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 dirty="0"/>
              <a:t>COMP201 - Software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70014-7BEF-40E2-951A-3A20FE14B530}" type="slidenum">
              <a:rPr lang="en-GB" smtClean="0"/>
              <a:pPr/>
              <a:t>2</a:t>
            </a:fld>
            <a:endParaRPr lang="en-GB">
              <a:solidFill>
                <a:schemeClr val="tx1"/>
              </a:solidFill>
              <a:latin typeface="Impac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40822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Class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 this lecture we will be studying </a:t>
            </a:r>
            <a:r>
              <a:rPr lang="en-GB" b="1" dirty="0">
                <a:solidFill>
                  <a:schemeClr val="accent3"/>
                </a:solidFill>
              </a:rPr>
              <a:t>Class Models </a:t>
            </a:r>
            <a:r>
              <a:rPr lang="en-GB" dirty="0"/>
              <a:t>which are a part of the </a:t>
            </a:r>
            <a:r>
              <a:rPr lang="en-GB" b="1" dirty="0"/>
              <a:t>Unified </a:t>
            </a:r>
            <a:r>
              <a:rPr lang="en-GB" b="1" dirty="0" err="1"/>
              <a:t>Modeling</a:t>
            </a:r>
            <a:r>
              <a:rPr lang="en-GB" b="1" dirty="0"/>
              <a:t> Language </a:t>
            </a:r>
            <a:r>
              <a:rPr lang="en-GB" dirty="0"/>
              <a:t>(UML).</a:t>
            </a:r>
          </a:p>
          <a:p>
            <a:r>
              <a:rPr lang="en-GB" dirty="0"/>
              <a:t>Of the various models in UML, we have the categories:</a:t>
            </a:r>
          </a:p>
          <a:p>
            <a:pPr lvl="1"/>
            <a:r>
              <a:rPr lang="en-GB" dirty="0">
                <a:solidFill>
                  <a:schemeClr val="accent3"/>
                </a:solidFill>
              </a:rPr>
              <a:t>Use case models </a:t>
            </a:r>
            <a:r>
              <a:rPr lang="en-GB" dirty="0"/>
              <a:t>– describing a system from the users’ point of view;</a:t>
            </a:r>
          </a:p>
          <a:p>
            <a:pPr lvl="1"/>
            <a:r>
              <a:rPr lang="en-GB" dirty="0">
                <a:solidFill>
                  <a:schemeClr val="accent3"/>
                </a:solidFill>
              </a:rPr>
              <a:t>Static models </a:t>
            </a:r>
            <a:r>
              <a:rPr lang="en-GB" dirty="0"/>
              <a:t>– describing the elements of the system and their relationship; </a:t>
            </a:r>
            <a:r>
              <a:rPr lang="en-GB" b="1" dirty="0"/>
              <a:t>class models fall into this category;</a:t>
            </a:r>
          </a:p>
          <a:p>
            <a:pPr lvl="1"/>
            <a:r>
              <a:rPr lang="en-GB" dirty="0">
                <a:solidFill>
                  <a:schemeClr val="accent3"/>
                </a:solidFill>
              </a:rPr>
              <a:t>Dynamic models </a:t>
            </a:r>
            <a:r>
              <a:rPr lang="en-GB" dirty="0"/>
              <a:t>– describing the behaviour of the system over time.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70014-7BEF-40E2-951A-3A20FE14B530}" type="slidenum">
              <a:rPr lang="en-GB" smtClean="0"/>
              <a:pPr/>
              <a:t>3</a:t>
            </a:fld>
            <a:endParaRPr lang="en-GB">
              <a:solidFill>
                <a:schemeClr val="tx1"/>
              </a:solidFill>
              <a:latin typeface="Impact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0" lang="en-GB" dirty="0">
                <a:solidFill>
                  <a:schemeClr val="tx1"/>
                </a:solidFill>
                <a:latin typeface="Times New Roman" charset="0"/>
              </a:rPr>
              <a:t>A </a:t>
            </a:r>
            <a:r>
              <a:rPr lang="en-GB" dirty="0">
                <a:solidFill>
                  <a:schemeClr val="tx1"/>
                </a:solidFill>
                <a:latin typeface="Times New Roman" charset="0"/>
              </a:rPr>
              <a:t>V</a:t>
            </a:r>
            <a:r>
              <a:rPr kumimoji="0" lang="en-GB" dirty="0">
                <a:solidFill>
                  <a:schemeClr val="tx1"/>
                </a:solidFill>
                <a:latin typeface="Times New Roman" charset="0"/>
              </a:rPr>
              <a:t>ery Simple Class </a:t>
            </a:r>
            <a:r>
              <a:rPr lang="en-GB" dirty="0">
                <a:solidFill>
                  <a:schemeClr val="tx1"/>
                </a:solidFill>
                <a:latin typeface="Times New Roman" charset="0"/>
              </a:rPr>
              <a:t>M</a:t>
            </a:r>
            <a:r>
              <a:rPr kumimoji="0" lang="en-GB" dirty="0">
                <a:solidFill>
                  <a:schemeClr val="tx1"/>
                </a:solidFill>
                <a:latin typeface="Times New Roman" charset="0"/>
              </a:rPr>
              <a:t>odel</a:t>
            </a:r>
          </a:p>
        </p:txBody>
      </p:sp>
      <p:sp>
        <p:nvSpPr>
          <p:cNvPr id="4065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 the </a:t>
            </a:r>
            <a:r>
              <a:rPr lang="en-GB" dirty="0">
                <a:solidFill>
                  <a:schemeClr val="accent2"/>
                </a:solidFill>
              </a:rPr>
              <a:t>Unified Modelling Language </a:t>
            </a:r>
            <a:r>
              <a:rPr lang="en-GB" dirty="0"/>
              <a:t>(UML), a class is shown in a class diagram as a rectangle giving its name:</a:t>
            </a: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2695A-973B-443E-8D5E-8ABF8279280F}" type="slidenum">
              <a:rPr lang="en-GB"/>
              <a:pPr/>
              <a:t>4</a:t>
            </a:fld>
            <a:endParaRPr lang="en-GB">
              <a:solidFill>
                <a:schemeClr val="tx1"/>
              </a:solidFill>
              <a:latin typeface="Impact" pitchFamily="34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2" name="Rectangle 1"/>
          <p:cNvSpPr/>
          <p:nvPr/>
        </p:nvSpPr>
        <p:spPr>
          <a:xfrm>
            <a:off x="1508760" y="3200400"/>
            <a:ext cx="6416040" cy="292608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800" dirty="0">
                <a:solidFill>
                  <a:schemeClr val="tx1"/>
                </a:solidFill>
              </a:rPr>
              <a:t>Doctor</a:t>
            </a: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55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dirty="0"/>
              <a:t>What Makes a Good Class Model?</a:t>
            </a:r>
          </a:p>
        </p:txBody>
      </p:sp>
      <p:sp>
        <p:nvSpPr>
          <p:cNvPr id="407555" name="Rectangle 3"/>
          <p:cNvSpPr>
            <a:spLocks noGrp="1" noChangeArrowheads="1"/>
          </p:cNvSpPr>
          <p:nvPr>
            <p:ph idx="1"/>
          </p:nvPr>
        </p:nvSpPr>
        <p:spPr>
          <a:xfrm>
            <a:off x="357158" y="1714488"/>
            <a:ext cx="8501122" cy="4643470"/>
          </a:xfrm>
        </p:spPr>
        <p:txBody>
          <a:bodyPr>
            <a:normAutofit/>
          </a:bodyPr>
          <a:lstStyle/>
          <a:p>
            <a:r>
              <a:rPr lang="en-GB" dirty="0"/>
              <a:t>Ultimately, we have two objectives which we aim to meet:</a:t>
            </a:r>
          </a:p>
          <a:p>
            <a:pPr marL="850392" lvl="1" indent="-457200">
              <a:buFont typeface="+mj-lt"/>
              <a:buAutoNum type="arabicPeriod"/>
            </a:pPr>
            <a:r>
              <a:rPr lang="en-GB" dirty="0"/>
              <a:t>Build, as quickly and cheaply as possible, a system which satisfies our current requirements;</a:t>
            </a:r>
          </a:p>
          <a:p>
            <a:pPr lvl="2"/>
            <a:r>
              <a:rPr lang="en-GB" sz="2400" dirty="0"/>
              <a:t>Every piece of behaviour required of the system must be provided by the objects we choose</a:t>
            </a:r>
          </a:p>
          <a:p>
            <a:pPr marL="850392" lvl="1" indent="-457200">
              <a:buFont typeface="+mj-lt"/>
              <a:buAutoNum type="arabicPeriod"/>
            </a:pPr>
            <a:r>
              <a:rPr lang="en-GB" dirty="0"/>
              <a:t>Build a system which will be easy to maintain and adapt to future requirements (Evolution)</a:t>
            </a:r>
          </a:p>
          <a:p>
            <a:pPr lvl="2"/>
            <a:r>
              <a:rPr lang="en-GB" sz="2400" dirty="0"/>
              <a:t>Thus build a system composed of encapsulated modules with low coupling and high cohesion.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9368A-9159-4366-B5EE-35BEFF0B30D3}" type="slidenum">
              <a:rPr lang="en-GB"/>
              <a:pPr/>
              <a:t>5</a:t>
            </a:fld>
            <a:endParaRPr lang="en-GB">
              <a:solidFill>
                <a:schemeClr val="tx1"/>
              </a:solidFill>
              <a:latin typeface="Impact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 Order to Meet the Objectives:</a:t>
            </a:r>
          </a:p>
        </p:txBody>
      </p:sp>
      <p:sp>
        <p:nvSpPr>
          <p:cNvPr id="40857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ct val="50000"/>
              </a:spcBef>
            </a:pPr>
            <a:r>
              <a:rPr kumimoji="0" lang="en-GB" sz="3200" dirty="0">
                <a:latin typeface="Times New Roman" charset="0"/>
              </a:rPr>
              <a:t> </a:t>
            </a:r>
            <a:r>
              <a:rPr kumimoji="0" lang="en-GB" sz="2800" b="1" dirty="0">
                <a:solidFill>
                  <a:schemeClr val="accent3"/>
                </a:solidFill>
                <a:latin typeface="Times New Roman" charset="0"/>
              </a:rPr>
              <a:t>A good class model </a:t>
            </a:r>
            <a:r>
              <a:rPr kumimoji="0" lang="en-GB" sz="2800" dirty="0">
                <a:latin typeface="Times New Roman" charset="0"/>
              </a:rPr>
              <a:t>consists of classes which represent enduring classes domain objects, which don’t depend on the particular functionality required today</a:t>
            </a:r>
          </a:p>
          <a:p>
            <a:pPr>
              <a:spcBef>
                <a:spcPct val="50000"/>
              </a:spcBef>
            </a:pPr>
            <a:r>
              <a:rPr lang="en-GB" sz="2800" dirty="0">
                <a:latin typeface="Times New Roman" charset="0"/>
              </a:rPr>
              <a:t>Remember that the names of classes are also important; use meaningful names for classes when possible and consider using a </a:t>
            </a:r>
            <a:r>
              <a:rPr lang="en-GB" sz="2800" b="1" dirty="0">
                <a:latin typeface="Times New Roman" charset="0"/>
              </a:rPr>
              <a:t>data dictionary </a:t>
            </a:r>
            <a:r>
              <a:rPr lang="en-GB" sz="2800" dirty="0">
                <a:latin typeface="Times New Roman" charset="0"/>
              </a:rPr>
              <a:t>to avoid conflicts</a:t>
            </a:r>
            <a:endParaRPr lang="en-GB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476CD-7B00-4DC8-946B-E35839CC2885}" type="slidenum">
              <a:rPr lang="en-GB"/>
              <a:pPr/>
              <a:t>6</a:t>
            </a:fld>
            <a:endParaRPr lang="en-GB">
              <a:solidFill>
                <a:schemeClr val="tx1"/>
              </a:solidFill>
              <a:latin typeface="Impact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Deriving Classes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Recall that we previously mentioned the </a:t>
            </a:r>
            <a:r>
              <a:rPr lang="en-GB" i="1" dirty="0"/>
              <a:t>noun identification technique</a:t>
            </a:r>
            <a:r>
              <a:rPr lang="en-GB" dirty="0"/>
              <a:t> to find potential classes.</a:t>
            </a:r>
          </a:p>
          <a:p>
            <a:r>
              <a:rPr lang="en-GB" dirty="0"/>
              <a:t>There are two main (extreme) techniques used to find classes in general:</a:t>
            </a:r>
          </a:p>
          <a:p>
            <a:pPr lvl="1"/>
            <a:r>
              <a:rPr lang="en-GB" b="1" dirty="0">
                <a:solidFill>
                  <a:schemeClr val="accent3"/>
                </a:solidFill>
              </a:rPr>
              <a:t>Data-driven-design</a:t>
            </a:r>
            <a:r>
              <a:rPr lang="en-GB" dirty="0"/>
              <a:t> (DDD) – We identify all the data of the system and divide it into classes. We then assign particular responsibilities (methods) to these classes</a:t>
            </a:r>
          </a:p>
          <a:p>
            <a:pPr lvl="1"/>
            <a:r>
              <a:rPr lang="en-GB" b="1" dirty="0">
                <a:solidFill>
                  <a:schemeClr val="accent3"/>
                </a:solidFill>
              </a:rPr>
              <a:t>Responsibility-driven-design</a:t>
            </a:r>
            <a:r>
              <a:rPr lang="en-GB" dirty="0"/>
              <a:t> (RDD) – We identify all the responsibilities of the system and divide them into classes. We then find the data each class requires.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70014-7BEF-40E2-951A-3A20FE14B530}" type="slidenum">
              <a:rPr lang="en-GB" smtClean="0"/>
              <a:pPr/>
              <a:t>7</a:t>
            </a:fld>
            <a:endParaRPr lang="en-GB">
              <a:solidFill>
                <a:schemeClr val="tx1"/>
              </a:solidFill>
              <a:latin typeface="Impact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Associations</a:t>
            </a:r>
          </a:p>
        </p:txBody>
      </p:sp>
      <p:sp>
        <p:nvSpPr>
          <p:cNvPr id="40960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 the same sense that classes correspond to </a:t>
            </a:r>
            <a:r>
              <a:rPr lang="en-GB" dirty="0">
                <a:solidFill>
                  <a:schemeClr val="accent3"/>
                </a:solidFill>
              </a:rPr>
              <a:t>nouns</a:t>
            </a:r>
            <a:r>
              <a:rPr lang="en-GB" dirty="0"/>
              <a:t>, associations correspond to </a:t>
            </a:r>
            <a:r>
              <a:rPr lang="en-GB" dirty="0">
                <a:solidFill>
                  <a:schemeClr val="accent3"/>
                </a:solidFill>
              </a:rPr>
              <a:t>verbs</a:t>
            </a:r>
            <a:r>
              <a:rPr lang="en-GB" dirty="0"/>
              <a:t>.</a:t>
            </a:r>
          </a:p>
          <a:p>
            <a:r>
              <a:rPr lang="en-GB" dirty="0"/>
              <a:t>They express the relationship between classes.</a:t>
            </a:r>
          </a:p>
          <a:p>
            <a:r>
              <a:rPr lang="en-GB" b="1" dirty="0">
                <a:solidFill>
                  <a:schemeClr val="accent2"/>
                </a:solidFill>
              </a:rPr>
              <a:t>There are instances of associations, just as there are instances of classes</a:t>
            </a:r>
          </a:p>
          <a:p>
            <a:r>
              <a:rPr lang="en-GB" dirty="0"/>
              <a:t>Instances of a classes are called </a:t>
            </a:r>
            <a:r>
              <a:rPr lang="en-GB" b="1" i="1" dirty="0">
                <a:solidFill>
                  <a:schemeClr val="accent3"/>
                </a:solidFill>
              </a:rPr>
              <a:t>objects</a:t>
            </a:r>
            <a:r>
              <a:rPr lang="en-GB" dirty="0"/>
              <a:t>; </a:t>
            </a:r>
          </a:p>
          <a:p>
            <a:r>
              <a:rPr lang="en-GB" dirty="0"/>
              <a:t>Instances of associations are called </a:t>
            </a:r>
            <a:r>
              <a:rPr lang="en-GB" b="1" i="1" dirty="0">
                <a:solidFill>
                  <a:schemeClr val="accent3"/>
                </a:solidFill>
              </a:rPr>
              <a:t>links</a:t>
            </a:r>
            <a:r>
              <a:rPr lang="en-GB" dirty="0"/>
              <a:t> in UML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93A0B-74FC-4045-A35D-B44494D14416}" type="slidenum">
              <a:rPr lang="en-GB"/>
              <a:pPr/>
              <a:t>8</a:t>
            </a:fld>
            <a:endParaRPr lang="en-GB">
              <a:solidFill>
                <a:schemeClr val="tx1"/>
              </a:solidFill>
              <a:latin typeface="Impact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626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66700"/>
            <a:ext cx="7986713" cy="1019160"/>
          </a:xfrm>
        </p:spPr>
        <p:txBody>
          <a:bodyPr/>
          <a:lstStyle/>
          <a:p>
            <a:r>
              <a:rPr lang="en-GB" sz="3600" dirty="0"/>
              <a:t>Class A and B are Associated if</a:t>
            </a:r>
          </a:p>
        </p:txBody>
      </p:sp>
      <p:sp>
        <p:nvSpPr>
          <p:cNvPr id="410627" name="Rectangle 3"/>
          <p:cNvSpPr>
            <a:spLocks noGrp="1" noChangeArrowheads="1"/>
          </p:cNvSpPr>
          <p:nvPr>
            <p:ph idx="1"/>
          </p:nvPr>
        </p:nvSpPr>
        <p:spPr>
          <a:xfrm>
            <a:off x="500034" y="1428736"/>
            <a:ext cx="8415366" cy="3857652"/>
          </a:xfrm>
        </p:spPr>
        <p:txBody>
          <a:bodyPr/>
          <a:lstStyle/>
          <a:p>
            <a:r>
              <a:rPr lang="en-GB" dirty="0"/>
              <a:t>an object of class A </a:t>
            </a:r>
            <a:r>
              <a:rPr lang="en-GB" dirty="0">
                <a:solidFill>
                  <a:srgbClr val="0033CC"/>
                </a:solidFill>
              </a:rPr>
              <a:t>sends</a:t>
            </a:r>
            <a:r>
              <a:rPr lang="en-GB" dirty="0"/>
              <a:t> a message to an object of class B</a:t>
            </a:r>
          </a:p>
          <a:p>
            <a:r>
              <a:rPr lang="en-GB" dirty="0"/>
              <a:t>an object of class A </a:t>
            </a:r>
            <a:r>
              <a:rPr lang="en-GB" dirty="0">
                <a:solidFill>
                  <a:srgbClr val="0033CC"/>
                </a:solidFill>
              </a:rPr>
              <a:t>creates</a:t>
            </a:r>
            <a:r>
              <a:rPr lang="en-GB" dirty="0"/>
              <a:t> an object of class B</a:t>
            </a:r>
          </a:p>
          <a:p>
            <a:r>
              <a:rPr lang="en-GB" dirty="0"/>
              <a:t>an object of class A </a:t>
            </a:r>
            <a:r>
              <a:rPr lang="en-GB" dirty="0">
                <a:solidFill>
                  <a:srgbClr val="0033CC"/>
                </a:solidFill>
              </a:rPr>
              <a:t>has an attribute </a:t>
            </a:r>
            <a:r>
              <a:rPr lang="en-GB" dirty="0"/>
              <a:t>whose values are objects of class B or collections of objects of class B</a:t>
            </a:r>
          </a:p>
          <a:p>
            <a:r>
              <a:rPr lang="en-GB" dirty="0"/>
              <a:t>an object of class A </a:t>
            </a:r>
            <a:r>
              <a:rPr lang="en-GB" dirty="0">
                <a:solidFill>
                  <a:srgbClr val="0033CC"/>
                </a:solidFill>
              </a:rPr>
              <a:t>receives a message </a:t>
            </a:r>
            <a:r>
              <a:rPr lang="en-GB" dirty="0"/>
              <a:t>with an object of class B as argument</a:t>
            </a: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6D44C-83C2-4339-969B-3B3DD69AD39B}" type="slidenum">
              <a:rPr lang="en-GB"/>
              <a:pPr/>
              <a:t>9</a:t>
            </a:fld>
            <a:endParaRPr lang="en-GB">
              <a:solidFill>
                <a:schemeClr val="tx1"/>
              </a:solidFill>
              <a:latin typeface="Impact" pitchFamily="34" charset="0"/>
            </a:endParaRPr>
          </a:p>
        </p:txBody>
      </p:sp>
      <p:sp>
        <p:nvSpPr>
          <p:cNvPr id="410628" name="Text Box 4"/>
          <p:cNvSpPr txBox="1">
            <a:spLocks noChangeArrowheads="1"/>
          </p:cNvSpPr>
          <p:nvPr/>
        </p:nvSpPr>
        <p:spPr bwMode="auto">
          <a:xfrm>
            <a:off x="685800" y="4876800"/>
            <a:ext cx="7924800" cy="1077218"/>
          </a:xfrm>
          <a:prstGeom prst="rect">
            <a:avLst/>
          </a:prstGeom>
          <a:noFill/>
          <a:ln w="57150" cmpd="thinThick">
            <a:solidFill>
              <a:schemeClr val="tx1"/>
            </a:solidFill>
            <a:miter lim="800000"/>
            <a:headEnd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3200" b="1" dirty="0">
                <a:solidFill>
                  <a:schemeClr val="accent2"/>
                </a:solidFill>
              </a:rPr>
              <a:t>In other words,  if some object of class A has to know about some object of class B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0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0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10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10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10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10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10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10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410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627" grpId="0" uiExpand="1" build="p" autoUpdateAnimBg="0"/>
      <p:bldP spid="410628" grpId="0" animBg="1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6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Simple Association between Classes</a:t>
            </a:r>
          </a:p>
        </p:txBody>
      </p:sp>
      <p:sp>
        <p:nvSpPr>
          <p:cNvPr id="411651" name="Rectangle 3"/>
          <p:cNvSpPr>
            <a:spLocks noGrp="1" noChangeArrowheads="1"/>
          </p:cNvSpPr>
          <p:nvPr>
            <p:ph idx="1"/>
          </p:nvPr>
        </p:nvSpPr>
        <p:spPr>
          <a:xfrm>
            <a:off x="914400" y="3581400"/>
            <a:ext cx="7772400" cy="2362200"/>
          </a:xfrm>
        </p:spPr>
        <p:txBody>
          <a:bodyPr/>
          <a:lstStyle/>
          <a:p>
            <a:r>
              <a:rPr lang="en-GB" dirty="0"/>
              <a:t>One annotation which is often used early is </a:t>
            </a:r>
            <a:r>
              <a:rPr lang="en-GB" dirty="0">
                <a:solidFill>
                  <a:schemeClr val="accent3"/>
                </a:solidFill>
              </a:rPr>
              <a:t>the multiplicity </a:t>
            </a:r>
            <a:r>
              <a:rPr lang="en-GB" dirty="0"/>
              <a:t>of an association</a:t>
            </a:r>
          </a:p>
          <a:p>
            <a:r>
              <a:rPr lang="en-GB" dirty="0"/>
              <a:t>This is so fundamental that we will spend some time thinking about it.</a:t>
            </a: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A0C92-BB8B-46C8-89D1-BD69264D69BA}" type="slidenum">
              <a:rPr lang="en-GB"/>
              <a:pPr/>
              <a:t>10</a:t>
            </a:fld>
            <a:endParaRPr lang="en-GB">
              <a:solidFill>
                <a:schemeClr val="tx1"/>
              </a:solidFill>
              <a:latin typeface="Impact" pitchFamily="34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6032665" y="2173184"/>
            <a:ext cx="273132" cy="2612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rot="5400000" flipH="1" flipV="1">
            <a:off x="6068292" y="2434443"/>
            <a:ext cx="225629" cy="2018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056" y="1649309"/>
            <a:ext cx="7610957" cy="1395342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Example</a:t>
            </a:r>
          </a:p>
        </p:txBody>
      </p:sp>
      <p:sp>
        <p:nvSpPr>
          <p:cNvPr id="413699" name="Rectangle 3"/>
          <p:cNvSpPr>
            <a:spLocks noGrp="1" noChangeArrowheads="1"/>
          </p:cNvSpPr>
          <p:nvPr>
            <p:ph idx="1"/>
          </p:nvPr>
        </p:nvSpPr>
        <p:spPr>
          <a:xfrm>
            <a:off x="914400" y="3276600"/>
            <a:ext cx="7772400" cy="2743200"/>
          </a:xfrm>
        </p:spPr>
        <p:txBody>
          <a:bodyPr/>
          <a:lstStyle/>
          <a:p>
            <a:r>
              <a:rPr lang="en-GB" i="1" dirty="0">
                <a:solidFill>
                  <a:schemeClr val="accent3"/>
                </a:solidFill>
              </a:rPr>
              <a:t>Doctor</a:t>
            </a:r>
            <a:r>
              <a:rPr lang="en-GB" dirty="0"/>
              <a:t> is associated by </a:t>
            </a:r>
            <a:r>
              <a:rPr lang="en-GB" i="1" dirty="0">
                <a:solidFill>
                  <a:schemeClr val="accent2"/>
                </a:solidFill>
              </a:rPr>
              <a:t>has allocated</a:t>
            </a:r>
            <a:r>
              <a:rPr lang="en-GB" dirty="0">
                <a:solidFill>
                  <a:schemeClr val="accent2"/>
                </a:solidFill>
              </a:rPr>
              <a:t> </a:t>
            </a:r>
            <a:r>
              <a:rPr lang="en-GB" dirty="0"/>
              <a:t>with just one or more than one patient. We showed a </a:t>
            </a:r>
            <a:r>
              <a:rPr lang="en-GB" b="1" dirty="0"/>
              <a:t>1</a:t>
            </a:r>
            <a:r>
              <a:rPr lang="en-GB" dirty="0"/>
              <a:t> at the </a:t>
            </a:r>
            <a:r>
              <a:rPr lang="en-GB" dirty="0">
                <a:solidFill>
                  <a:schemeClr val="accent3"/>
                </a:solidFill>
              </a:rPr>
              <a:t>Doctor</a:t>
            </a:r>
            <a:r>
              <a:rPr lang="en-GB" dirty="0"/>
              <a:t> end of the association (alternately we can use 1..1)</a:t>
            </a:r>
            <a:endParaRPr lang="en-GB" dirty="0">
              <a:solidFill>
                <a:srgbClr val="0033CC"/>
              </a:solidFill>
            </a:endParaRPr>
          </a:p>
          <a:p>
            <a:r>
              <a:rPr lang="en-GB" dirty="0"/>
              <a:t>On the other hand, there may be any number of patients for a given Doctor in our system. So the multiplicity on the </a:t>
            </a:r>
            <a:r>
              <a:rPr lang="en-GB" dirty="0">
                <a:solidFill>
                  <a:schemeClr val="accent3"/>
                </a:solidFill>
              </a:rPr>
              <a:t>Patient</a:t>
            </a:r>
            <a:r>
              <a:rPr lang="en-GB" dirty="0"/>
              <a:t> end is</a:t>
            </a:r>
            <a:r>
              <a:rPr lang="en-GB" i="1" dirty="0"/>
              <a:t> </a:t>
            </a:r>
            <a:r>
              <a:rPr lang="en-GB" b="1" dirty="0"/>
              <a:t>1..*</a:t>
            </a:r>
            <a:r>
              <a:rPr lang="en-GB" dirty="0">
                <a:solidFill>
                  <a:srgbClr val="0033CC"/>
                </a:solidFill>
              </a:rPr>
              <a:t> </a:t>
            </a:r>
            <a:r>
              <a:rPr lang="en-GB" i="1" dirty="0"/>
              <a:t>.</a:t>
            </a:r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5F5DB-EE37-4E3F-A778-2DA8146EC989}" type="slidenum">
              <a:rPr lang="en-GB"/>
              <a:pPr/>
              <a:t>11</a:t>
            </a:fld>
            <a:endParaRPr lang="en-GB">
              <a:solidFill>
                <a:schemeClr val="tx1"/>
              </a:solidFill>
              <a:latin typeface="Impact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 dirty="0"/>
              <a:t>COMP201 - Software Engineering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4354" y="1649761"/>
            <a:ext cx="7224824" cy="1324551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Multiplicity</a:t>
            </a:r>
          </a:p>
        </p:txBody>
      </p:sp>
      <p:sp>
        <p:nvSpPr>
          <p:cNvPr id="4126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GB" dirty="0"/>
              <a:t>We can specify:</a:t>
            </a:r>
          </a:p>
          <a:p>
            <a:r>
              <a:rPr lang="en-GB" b="1" dirty="0">
                <a:solidFill>
                  <a:schemeClr val="accent2"/>
                </a:solidFill>
              </a:rPr>
              <a:t>an exact number</a:t>
            </a:r>
            <a:r>
              <a:rPr lang="en-GB" dirty="0">
                <a:solidFill>
                  <a:schemeClr val="accent2"/>
                </a:solidFill>
              </a:rPr>
              <a:t> </a:t>
            </a:r>
            <a:r>
              <a:rPr lang="en-GB" dirty="0"/>
              <a:t>simply by writing it, e.g. </a:t>
            </a:r>
            <a:r>
              <a:rPr lang="en-GB" b="1" dirty="0"/>
              <a:t>1</a:t>
            </a:r>
          </a:p>
          <a:p>
            <a:r>
              <a:rPr lang="en-GB" b="1" dirty="0">
                <a:solidFill>
                  <a:schemeClr val="accent2"/>
                </a:solidFill>
              </a:rPr>
              <a:t>a range of numbers</a:t>
            </a:r>
            <a:r>
              <a:rPr lang="en-GB" dirty="0">
                <a:solidFill>
                  <a:schemeClr val="accent2"/>
                </a:solidFill>
              </a:rPr>
              <a:t> </a:t>
            </a:r>
            <a:r>
              <a:rPr lang="en-GB" dirty="0"/>
              <a:t>using two dots between a pair of numbers, e.g., </a:t>
            </a:r>
            <a:r>
              <a:rPr lang="en-GB" b="1" dirty="0"/>
              <a:t>1..10</a:t>
            </a:r>
          </a:p>
          <a:p>
            <a:r>
              <a:rPr lang="en-GB" b="1" dirty="0">
                <a:solidFill>
                  <a:schemeClr val="accent2"/>
                </a:solidFill>
              </a:rPr>
              <a:t>an arbitrary, unspecified number</a:t>
            </a:r>
            <a:r>
              <a:rPr lang="en-GB" dirty="0">
                <a:solidFill>
                  <a:schemeClr val="accent2"/>
                </a:solidFill>
              </a:rPr>
              <a:t> </a:t>
            </a:r>
            <a:r>
              <a:rPr lang="en-GB" dirty="0"/>
              <a:t>using </a:t>
            </a:r>
            <a:r>
              <a:rPr lang="en-GB" b="1" dirty="0">
                <a:solidFill>
                  <a:schemeClr val="accent3"/>
                </a:solidFill>
              </a:rPr>
              <a:t>*</a:t>
            </a:r>
          </a:p>
          <a:p>
            <a:endParaRPr lang="en-GB" dirty="0"/>
          </a:p>
          <a:p>
            <a:r>
              <a:rPr lang="en-GB" dirty="0"/>
              <a:t>Loosely, you can think of UML’s </a:t>
            </a:r>
            <a:r>
              <a:rPr lang="en-GB" dirty="0">
                <a:solidFill>
                  <a:schemeClr val="accent3"/>
                </a:solidFill>
              </a:rPr>
              <a:t>*</a:t>
            </a:r>
            <a:r>
              <a:rPr lang="en-GB" dirty="0"/>
              <a:t> as an infinity sign, so the </a:t>
            </a:r>
            <a:r>
              <a:rPr lang="en-GB" i="1" dirty="0"/>
              <a:t>multiplicity</a:t>
            </a:r>
            <a:r>
              <a:rPr lang="en-GB" i="1" dirty="0">
                <a:solidFill>
                  <a:srgbClr val="0033CC"/>
                </a:solidFill>
              </a:rPr>
              <a:t>  </a:t>
            </a:r>
            <a:r>
              <a:rPr lang="en-GB" b="1" i="1" dirty="0">
                <a:solidFill>
                  <a:schemeClr val="accent3"/>
                </a:solidFill>
              </a:rPr>
              <a:t>1 .. *</a:t>
            </a:r>
            <a:r>
              <a:rPr lang="en-GB" i="1" dirty="0">
                <a:solidFill>
                  <a:schemeClr val="accent3"/>
                </a:solidFill>
              </a:rPr>
              <a:t>  </a:t>
            </a:r>
            <a:r>
              <a:rPr lang="en-GB" i="1" dirty="0"/>
              <a:t>expresses that number of copies can be anything</a:t>
            </a:r>
            <a:r>
              <a:rPr lang="en-GB" i="1" dirty="0">
                <a:solidFill>
                  <a:srgbClr val="0033CC"/>
                </a:solidFill>
              </a:rPr>
              <a:t> </a:t>
            </a:r>
            <a:r>
              <a:rPr lang="en-GB" b="1" i="1" dirty="0">
                <a:solidFill>
                  <a:schemeClr val="accent2"/>
                </a:solidFill>
              </a:rPr>
              <a:t>between 1 and infinity</a:t>
            </a:r>
            <a:r>
              <a:rPr lang="en-GB" dirty="0"/>
              <a:t>.</a:t>
            </a: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AC12C-5DB6-4EED-8E65-B3EFFFDE37F6}" type="slidenum">
              <a:rPr lang="en-GB"/>
              <a:pPr/>
              <a:t>12</a:t>
            </a:fld>
            <a:endParaRPr lang="en-GB">
              <a:solidFill>
                <a:schemeClr val="tx1"/>
              </a:solidFill>
              <a:latin typeface="Impact" pitchFamily="34" charset="0"/>
            </a:endParaRPr>
          </a:p>
        </p:txBody>
      </p:sp>
      <p:sp>
        <p:nvSpPr>
          <p:cNvPr id="412676" name="Line 4"/>
          <p:cNvSpPr>
            <a:spLocks noChangeShapeType="1"/>
          </p:cNvSpPr>
          <p:nvPr/>
        </p:nvSpPr>
        <p:spPr bwMode="auto">
          <a:xfrm>
            <a:off x="1071538" y="4429132"/>
            <a:ext cx="6781800" cy="0"/>
          </a:xfrm>
          <a:prstGeom prst="line">
            <a:avLst/>
          </a:prstGeom>
          <a:noFill/>
          <a:ln w="38100">
            <a:gradFill flip="none" rotWithShape="1">
              <a:gsLst>
                <a:gs pos="0">
                  <a:srgbClr val="D6B19C"/>
                </a:gs>
                <a:gs pos="30000">
                  <a:srgbClr val="D49E6C"/>
                </a:gs>
                <a:gs pos="70000">
                  <a:srgbClr val="A65528"/>
                </a:gs>
                <a:gs pos="100000">
                  <a:srgbClr val="663012"/>
                </a:gs>
              </a:gsLst>
              <a:lin ang="10800000" scaled="1"/>
              <a:tileRect/>
            </a:gradFill>
            <a:round/>
            <a:headEnd/>
            <a:tailEnd type="none" w="sm" len="sm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2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2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12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12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12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12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2675" grpId="0" uiExpand="1" build="p" autoUpdateAnimBg="0"/>
      <p:bldP spid="41267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7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00042"/>
            <a:ext cx="8229600" cy="857256"/>
          </a:xfrm>
        </p:spPr>
        <p:txBody>
          <a:bodyPr>
            <a:normAutofit/>
          </a:bodyPr>
          <a:lstStyle/>
          <a:p>
            <a:r>
              <a:rPr lang="en-GB" dirty="0"/>
              <a:t>Attributes and Operations</a:t>
            </a:r>
          </a:p>
        </p:txBody>
      </p:sp>
      <p:sp>
        <p:nvSpPr>
          <p:cNvPr id="414723" name="Rectangle 3"/>
          <p:cNvSpPr>
            <a:spLocks noGrp="1" noChangeArrowheads="1"/>
          </p:cNvSpPr>
          <p:nvPr>
            <p:ph idx="1"/>
          </p:nvPr>
        </p:nvSpPr>
        <p:spPr>
          <a:xfrm>
            <a:off x="714348" y="1500174"/>
            <a:ext cx="8201052" cy="2071702"/>
          </a:xfrm>
        </p:spPr>
        <p:txBody>
          <a:bodyPr>
            <a:normAutofit/>
          </a:bodyPr>
          <a:lstStyle/>
          <a:p>
            <a:r>
              <a:rPr lang="en-GB" dirty="0"/>
              <a:t>The </a:t>
            </a:r>
            <a:r>
              <a:rPr lang="en-GB" b="1" dirty="0">
                <a:solidFill>
                  <a:schemeClr val="accent3"/>
                </a:solidFill>
              </a:rPr>
              <a:t>attributes</a:t>
            </a:r>
            <a:r>
              <a:rPr lang="en-GB" dirty="0"/>
              <a:t> of a class describe the data contained in an object of the class and their type</a:t>
            </a:r>
          </a:p>
          <a:p>
            <a:r>
              <a:rPr lang="en-GB" dirty="0"/>
              <a:t>Most important are the </a:t>
            </a:r>
            <a:r>
              <a:rPr lang="en-GB" b="1" dirty="0">
                <a:solidFill>
                  <a:schemeClr val="accent3"/>
                </a:solidFill>
              </a:rPr>
              <a:t>operations</a:t>
            </a:r>
            <a:r>
              <a:rPr lang="en-GB" dirty="0"/>
              <a:t> of a class, which define the ways in which objects may interact.</a:t>
            </a:r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A1686-72E7-465A-B7D1-1459586AA96E}" type="slidenum">
              <a:rPr lang="en-GB"/>
              <a:pPr/>
              <a:t>13</a:t>
            </a:fld>
            <a:endParaRPr lang="en-GB">
              <a:solidFill>
                <a:schemeClr val="tx1"/>
              </a:solidFill>
              <a:latin typeface="Impact" pitchFamily="34" charset="0"/>
            </a:endParaRPr>
          </a:p>
        </p:txBody>
      </p:sp>
      <p:sp>
        <p:nvSpPr>
          <p:cNvPr id="414725" name="AutoShape 5"/>
          <p:cNvSpPr>
            <a:spLocks noChangeArrowheads="1"/>
          </p:cNvSpPr>
          <p:nvPr/>
        </p:nvSpPr>
        <p:spPr bwMode="auto">
          <a:xfrm>
            <a:off x="142844" y="1714488"/>
            <a:ext cx="619156" cy="3427783"/>
          </a:xfrm>
          <a:prstGeom prst="curvedRightArrow">
            <a:avLst>
              <a:gd name="adj1" fmla="val 60056"/>
              <a:gd name="adj2" fmla="val 177867"/>
              <a:gd name="adj3" fmla="val 54167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 type="none" w="sm" len="sm"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414726" name="AutoShape 6"/>
          <p:cNvSpPr>
            <a:spLocks noChangeArrowheads="1"/>
          </p:cNvSpPr>
          <p:nvPr/>
        </p:nvSpPr>
        <p:spPr bwMode="auto">
          <a:xfrm>
            <a:off x="7248694" y="2867328"/>
            <a:ext cx="1143000" cy="3002530"/>
          </a:xfrm>
          <a:prstGeom prst="curvedLeftArrow">
            <a:avLst>
              <a:gd name="adj1" fmla="val 18256"/>
              <a:gd name="adj2" fmla="val 52923"/>
              <a:gd name="adj3" fmla="val 33333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 type="none" w="sm" len="sm"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6300" y="3352512"/>
            <a:ext cx="5857353" cy="306838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7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00042"/>
            <a:ext cx="8229600" cy="857256"/>
          </a:xfrm>
        </p:spPr>
        <p:txBody>
          <a:bodyPr>
            <a:normAutofit/>
          </a:bodyPr>
          <a:lstStyle/>
          <a:p>
            <a:r>
              <a:rPr lang="en-GB" dirty="0"/>
              <a:t>Operation Signatures</a:t>
            </a:r>
          </a:p>
        </p:txBody>
      </p:sp>
      <p:sp>
        <p:nvSpPr>
          <p:cNvPr id="414723" name="Rectangle 3"/>
          <p:cNvSpPr>
            <a:spLocks noGrp="1" noChangeArrowheads="1"/>
          </p:cNvSpPr>
          <p:nvPr>
            <p:ph idx="1"/>
          </p:nvPr>
        </p:nvSpPr>
        <p:spPr>
          <a:xfrm>
            <a:off x="500034" y="1500174"/>
            <a:ext cx="8286808" cy="4786346"/>
          </a:xfrm>
        </p:spPr>
        <p:txBody>
          <a:bodyPr>
            <a:normAutofit/>
          </a:bodyPr>
          <a:lstStyle/>
          <a:p>
            <a:r>
              <a:rPr lang="en-GB" dirty="0"/>
              <a:t>The </a:t>
            </a:r>
            <a:r>
              <a:rPr lang="en-GB" b="1" dirty="0">
                <a:solidFill>
                  <a:schemeClr val="accent3"/>
                </a:solidFill>
              </a:rPr>
              <a:t>signature</a:t>
            </a:r>
            <a:r>
              <a:rPr lang="en-GB" dirty="0"/>
              <a:t> of an operation gives the </a:t>
            </a:r>
            <a:r>
              <a:rPr lang="en-GB" i="1" dirty="0"/>
              <a:t>selector</a:t>
            </a:r>
            <a:r>
              <a:rPr lang="en-GB" dirty="0"/>
              <a:t>, </a:t>
            </a:r>
            <a:r>
              <a:rPr lang="en-GB" i="1" dirty="0"/>
              <a:t>names</a:t>
            </a:r>
            <a:r>
              <a:rPr lang="en-GB" dirty="0"/>
              <a:t> and </a:t>
            </a:r>
            <a:r>
              <a:rPr lang="en-GB" i="1" dirty="0"/>
              <a:t>types</a:t>
            </a:r>
            <a:r>
              <a:rPr lang="en-GB" dirty="0"/>
              <a:t> of all formal parameters (arguments) and the </a:t>
            </a:r>
            <a:r>
              <a:rPr lang="en-GB" i="1" dirty="0"/>
              <a:t>return type</a:t>
            </a:r>
            <a:r>
              <a:rPr lang="en-GB" dirty="0"/>
              <a:t>. For example:</a:t>
            </a:r>
          </a:p>
          <a:p>
            <a:pPr lvl="1" algn="ctr">
              <a:buNone/>
            </a:pPr>
            <a:endParaRPr lang="en-GB" dirty="0"/>
          </a:p>
          <a:p>
            <a:pPr lvl="1" algn="ctr">
              <a:buNone/>
            </a:pPr>
            <a:r>
              <a:rPr lang="en-GB" dirty="0" err="1"/>
              <a:t>computeMean</a:t>
            </a:r>
            <a:r>
              <a:rPr lang="en-GB" dirty="0"/>
              <a:t>(List </a:t>
            </a:r>
            <a:r>
              <a:rPr lang="en-GB" dirty="0" err="1"/>
              <a:t>inputList</a:t>
            </a:r>
            <a:r>
              <a:rPr lang="en-GB" dirty="0"/>
              <a:t>): Float</a:t>
            </a:r>
          </a:p>
          <a:p>
            <a:pPr>
              <a:buNone/>
            </a:pPr>
            <a:endParaRPr lang="en-GB" dirty="0"/>
          </a:p>
          <a:p>
            <a:endParaRPr lang="en-GB" dirty="0"/>
          </a:p>
          <a:p>
            <a:r>
              <a:rPr lang="en-GB" dirty="0"/>
              <a:t>Recall that the method called may depend upon a classes position within the inheritance hierarchy. There may be methods with the same name, do you remember the concept of </a:t>
            </a:r>
            <a:r>
              <a:rPr lang="en-GB" b="1" dirty="0">
                <a:solidFill>
                  <a:schemeClr val="accent3"/>
                </a:solidFill>
              </a:rPr>
              <a:t>dynamic binding</a:t>
            </a:r>
            <a:r>
              <a:rPr lang="en-GB" dirty="0"/>
              <a:t>?</a:t>
            </a:r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A1686-72E7-465A-B7D1-1459586AA96E}" type="slidenum">
              <a:rPr lang="en-GB"/>
              <a:pPr/>
              <a:t>14</a:t>
            </a:fld>
            <a:endParaRPr lang="en-GB">
              <a:solidFill>
                <a:schemeClr val="tx1"/>
              </a:solidFill>
              <a:latin typeface="Impact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8926" y="3786190"/>
            <a:ext cx="825867" cy="338554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GB" sz="1600" dirty="0">
                <a:solidFill>
                  <a:schemeClr val="bg1"/>
                </a:solidFill>
              </a:rPr>
              <a:t>selector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43372" y="2786058"/>
            <a:ext cx="1420069" cy="338554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GB" sz="1600" dirty="0">
                <a:solidFill>
                  <a:schemeClr val="bg1"/>
                </a:solidFill>
              </a:rPr>
              <a:t>Argument type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00628" y="3786190"/>
            <a:ext cx="1511439" cy="338554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GB" sz="1600" dirty="0">
                <a:solidFill>
                  <a:schemeClr val="bg1"/>
                </a:solidFill>
              </a:rPr>
              <a:t>Argument name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5074" y="2786058"/>
            <a:ext cx="1149674" cy="338554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GB" sz="1600" dirty="0">
                <a:solidFill>
                  <a:schemeClr val="bg1"/>
                </a:solidFill>
              </a:rPr>
              <a:t>Return type</a:t>
            </a:r>
          </a:p>
        </p:txBody>
      </p:sp>
      <p:cxnSp>
        <p:nvCxnSpPr>
          <p:cNvPr id="14" name="Straight Arrow Connector 13"/>
          <p:cNvCxnSpPr/>
          <p:nvPr/>
        </p:nvCxnSpPr>
        <p:spPr>
          <a:xfrm rot="10800000" flipV="1">
            <a:off x="4714876" y="3071810"/>
            <a:ext cx="285754" cy="21431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9" idx="0"/>
          </p:cNvCxnSpPr>
          <p:nvPr/>
        </p:nvCxnSpPr>
        <p:spPr>
          <a:xfrm rot="5400000" flipH="1" flipV="1">
            <a:off x="3421145" y="3492591"/>
            <a:ext cx="214314" cy="37288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11" idx="0"/>
          </p:cNvCxnSpPr>
          <p:nvPr/>
        </p:nvCxnSpPr>
        <p:spPr>
          <a:xfrm rot="16200000" flipV="1">
            <a:off x="5485645" y="3515487"/>
            <a:ext cx="214314" cy="32709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12" idx="2"/>
          </p:cNvCxnSpPr>
          <p:nvPr/>
        </p:nvCxnSpPr>
        <p:spPr>
          <a:xfrm rot="5400000">
            <a:off x="6600332" y="3096545"/>
            <a:ext cx="161512" cy="21764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5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04088"/>
            <a:ext cx="8305800" cy="796086"/>
          </a:xfrm>
        </p:spPr>
        <p:txBody>
          <a:bodyPr>
            <a:normAutofit/>
          </a:bodyPr>
          <a:lstStyle/>
          <a:p>
            <a:pPr algn="ctr"/>
            <a:r>
              <a:rPr lang="en-GB" sz="4000" dirty="0"/>
              <a:t>Dynamic Binding (recap)</a:t>
            </a:r>
          </a:p>
        </p:txBody>
      </p:sp>
      <p:sp>
        <p:nvSpPr>
          <p:cNvPr id="364547" name="Text Box 3"/>
          <p:cNvSpPr txBox="1">
            <a:spLocks noChangeArrowheads="1"/>
          </p:cNvSpPr>
          <p:nvPr/>
        </p:nvSpPr>
        <p:spPr bwMode="auto">
          <a:xfrm>
            <a:off x="714348" y="2285992"/>
            <a:ext cx="3500462" cy="2234458"/>
          </a:xfrm>
          <a:prstGeom prst="rect">
            <a:avLst/>
          </a:prstGeom>
          <a:noFill/>
          <a:ln w="12700">
            <a:noFill/>
            <a:miter lim="800000"/>
            <a:headEnd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</a:pPr>
            <a:r>
              <a:rPr kumimoji="1" lang="en-GB" dirty="0">
                <a:latin typeface="+mn-lt"/>
              </a:rPr>
              <a:t>Vehicle v = null;</a:t>
            </a:r>
          </a:p>
          <a:p>
            <a:pPr>
              <a:spcBef>
                <a:spcPct val="20000"/>
              </a:spcBef>
            </a:pPr>
            <a:r>
              <a:rPr kumimoji="1" lang="en-GB" dirty="0">
                <a:latin typeface="+mn-lt"/>
              </a:rPr>
              <a:t>v = new Car();</a:t>
            </a:r>
          </a:p>
          <a:p>
            <a:pPr>
              <a:spcBef>
                <a:spcPct val="20000"/>
              </a:spcBef>
            </a:pPr>
            <a:r>
              <a:rPr kumimoji="1" lang="en-GB" dirty="0" err="1">
                <a:latin typeface="+mn-lt"/>
              </a:rPr>
              <a:t>v.startEngine</a:t>
            </a:r>
            <a:r>
              <a:rPr kumimoji="1" lang="en-GB" dirty="0">
                <a:latin typeface="+mn-lt"/>
              </a:rPr>
              <a:t>();</a:t>
            </a:r>
          </a:p>
          <a:p>
            <a:pPr>
              <a:spcBef>
                <a:spcPct val="20000"/>
              </a:spcBef>
            </a:pPr>
            <a:r>
              <a:rPr kumimoji="1" lang="en-GB" dirty="0">
                <a:latin typeface="+mn-lt"/>
              </a:rPr>
              <a:t>v = new Boat();</a:t>
            </a:r>
          </a:p>
          <a:p>
            <a:pPr>
              <a:spcBef>
                <a:spcPct val="20000"/>
              </a:spcBef>
            </a:pPr>
            <a:r>
              <a:rPr kumimoji="1" lang="en-GB" dirty="0" err="1">
                <a:latin typeface="+mn-lt"/>
              </a:rPr>
              <a:t>v.startEngine</a:t>
            </a:r>
            <a:r>
              <a:rPr kumimoji="1" lang="en-GB" dirty="0">
                <a:latin typeface="+mn-lt"/>
              </a:rPr>
              <a:t>(); </a:t>
            </a:r>
            <a:endParaRPr lang="en-GB" dirty="0">
              <a:latin typeface="+mn-lt"/>
            </a:endParaRPr>
          </a:p>
        </p:txBody>
      </p:sp>
      <p:graphicFrame>
        <p:nvGraphicFramePr>
          <p:cNvPr id="387072" name="Object 0"/>
          <p:cNvGraphicFramePr>
            <a:graphicFrameLocks noChangeAspect="1"/>
          </p:cNvGraphicFramePr>
          <p:nvPr/>
        </p:nvGraphicFramePr>
        <p:xfrm>
          <a:off x="4500562" y="2143116"/>
          <a:ext cx="4495800" cy="3335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2" imgW="3448531" imgH="2523810" progId="">
                  <p:embed/>
                </p:oleObj>
              </mc:Choice>
              <mc:Fallback>
                <p:oleObj name="Photo Editor Photo" r:id="rId2" imgW="3448531" imgH="252381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0562" y="2143116"/>
                        <a:ext cx="4495800" cy="3335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15</a:t>
            </a:fld>
            <a:endParaRPr kumimoji="0"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71802" y="2786058"/>
            <a:ext cx="1285884" cy="830997"/>
          </a:xfrm>
          <a:prstGeom prst="rect">
            <a:avLst/>
          </a:prstGeom>
          <a:solidFill>
            <a:schemeClr val="tx2">
              <a:lumMod val="75000"/>
            </a:schemeClr>
          </a:solidFill>
          <a:ln w="15875">
            <a:solidFill>
              <a:schemeClr val="accent3"/>
            </a:solidFill>
          </a:ln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bg2"/>
                </a:solidFill>
              </a:rPr>
              <a:t>Call Car </a:t>
            </a:r>
            <a:r>
              <a:rPr lang="en-GB" sz="1600" dirty="0" err="1">
                <a:solidFill>
                  <a:schemeClr val="bg2"/>
                </a:solidFill>
              </a:rPr>
              <a:t>startEngine</a:t>
            </a:r>
            <a:r>
              <a:rPr lang="en-GB" sz="1600" dirty="0">
                <a:solidFill>
                  <a:schemeClr val="bg2"/>
                </a:solidFill>
              </a:rPr>
              <a:t>() method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8926" y="4214818"/>
            <a:ext cx="1285884" cy="830997"/>
          </a:xfrm>
          <a:prstGeom prst="rect">
            <a:avLst/>
          </a:prstGeom>
          <a:solidFill>
            <a:schemeClr val="tx2">
              <a:lumMod val="75000"/>
            </a:schemeClr>
          </a:solidFill>
          <a:ln w="15875">
            <a:solidFill>
              <a:schemeClr val="accent3"/>
            </a:solidFill>
          </a:ln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bg2"/>
                </a:solidFill>
              </a:rPr>
              <a:t>Call Boat </a:t>
            </a:r>
            <a:r>
              <a:rPr lang="en-GB" sz="1600" dirty="0" err="1">
                <a:solidFill>
                  <a:schemeClr val="bg2"/>
                </a:solidFill>
              </a:rPr>
              <a:t>startEngine</a:t>
            </a:r>
            <a:r>
              <a:rPr lang="en-GB" sz="1600" dirty="0">
                <a:solidFill>
                  <a:schemeClr val="bg2"/>
                </a:solidFill>
              </a:rPr>
              <a:t>() method</a:t>
            </a:r>
          </a:p>
        </p:txBody>
      </p:sp>
      <p:cxnSp>
        <p:nvCxnSpPr>
          <p:cNvPr id="10" name="Straight Arrow Connector 9"/>
          <p:cNvCxnSpPr>
            <a:stCxn id="7" idx="1"/>
          </p:cNvCxnSpPr>
          <p:nvPr/>
        </p:nvCxnSpPr>
        <p:spPr>
          <a:xfrm rot="10800000" flipV="1">
            <a:off x="2643174" y="3201556"/>
            <a:ext cx="428628" cy="22744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8" idx="1"/>
          </p:cNvCxnSpPr>
          <p:nvPr/>
        </p:nvCxnSpPr>
        <p:spPr>
          <a:xfrm rot="10800000">
            <a:off x="2643174" y="4286257"/>
            <a:ext cx="285752" cy="34406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Generalization</a:t>
            </a:r>
          </a:p>
        </p:txBody>
      </p:sp>
      <p:sp>
        <p:nvSpPr>
          <p:cNvPr id="419843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500174"/>
            <a:ext cx="8001000" cy="4443426"/>
          </a:xfrm>
        </p:spPr>
        <p:txBody>
          <a:bodyPr>
            <a:normAutofit/>
          </a:bodyPr>
          <a:lstStyle/>
          <a:p>
            <a:r>
              <a:rPr lang="en-GB" dirty="0"/>
              <a:t>Important relationships which may exist between classes are called </a:t>
            </a:r>
            <a:r>
              <a:rPr lang="en-GB" b="1" dirty="0">
                <a:solidFill>
                  <a:schemeClr val="accent3"/>
                </a:solidFill>
              </a:rPr>
              <a:t>generalization. </a:t>
            </a:r>
            <a:r>
              <a:rPr lang="en-GB" dirty="0"/>
              <a:t>Conceptually this means that if class </a:t>
            </a:r>
            <a:r>
              <a:rPr lang="en-GB" b="1" dirty="0"/>
              <a:t>A</a:t>
            </a:r>
            <a:r>
              <a:rPr lang="en-GB" dirty="0"/>
              <a:t> is a generalization of class </a:t>
            </a:r>
            <a:r>
              <a:rPr lang="en-GB" b="1" dirty="0"/>
              <a:t>B</a:t>
            </a:r>
            <a:r>
              <a:rPr lang="en-GB" dirty="0"/>
              <a:t>, then the interface of class </a:t>
            </a:r>
            <a:r>
              <a:rPr lang="en-GB" b="1" dirty="0"/>
              <a:t>B</a:t>
            </a:r>
            <a:r>
              <a:rPr lang="en-GB" dirty="0"/>
              <a:t> must conform to the interface of class </a:t>
            </a:r>
            <a:r>
              <a:rPr lang="en-GB" b="1" dirty="0"/>
              <a:t>A</a:t>
            </a:r>
            <a:r>
              <a:rPr lang="en-GB" dirty="0"/>
              <a:t>.</a:t>
            </a:r>
            <a:endParaRPr lang="en-GB" dirty="0">
              <a:solidFill>
                <a:schemeClr val="accent3"/>
              </a:solidFill>
            </a:endParaRPr>
          </a:p>
          <a:p>
            <a:r>
              <a:rPr lang="en-GB" dirty="0"/>
              <a:t>Every attribute and operation of </a:t>
            </a:r>
            <a:r>
              <a:rPr lang="en-GB" b="1" dirty="0"/>
              <a:t>A</a:t>
            </a:r>
            <a:r>
              <a:rPr lang="en-GB" dirty="0"/>
              <a:t> will also be supported by </a:t>
            </a:r>
            <a:r>
              <a:rPr lang="en-GB" b="1" dirty="0"/>
              <a:t>B</a:t>
            </a:r>
            <a:r>
              <a:rPr lang="en-GB" dirty="0"/>
              <a:t>. In addition, </a:t>
            </a:r>
            <a:r>
              <a:rPr lang="en-GB" b="1" dirty="0"/>
              <a:t>B</a:t>
            </a:r>
            <a:r>
              <a:rPr lang="en-GB" dirty="0"/>
              <a:t> may contain some </a:t>
            </a:r>
            <a:r>
              <a:rPr lang="en-GB" i="1" dirty="0"/>
              <a:t>extra</a:t>
            </a:r>
            <a:r>
              <a:rPr lang="en-GB" dirty="0"/>
              <a:t> operations and data specific to its class.</a:t>
            </a:r>
          </a:p>
          <a:p>
            <a:r>
              <a:rPr lang="en-GB" dirty="0"/>
              <a:t>Let’s see an example of this on the next slide…</a:t>
            </a:r>
          </a:p>
          <a:p>
            <a:pPr>
              <a:buFontTx/>
              <a:buNone/>
            </a:pPr>
            <a:r>
              <a:rPr lang="en-GB" dirty="0"/>
              <a:t>	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39AC0-EB45-4145-950F-109A32498CEC}" type="slidenum">
              <a:rPr lang="en-GB"/>
              <a:pPr/>
              <a:t>16</a:t>
            </a:fld>
            <a:endParaRPr lang="en-GB">
              <a:solidFill>
                <a:schemeClr val="tx1"/>
              </a:solidFill>
              <a:latin typeface="Impact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 dirty="0"/>
              <a:t>COMP201 - Software Engineering</a:t>
            </a: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1643042" y="1428736"/>
            <a:ext cx="5715040" cy="3143272"/>
          </a:xfrm>
          <a:prstGeom prst="rect">
            <a:avLst/>
          </a:prstGeom>
          <a:solidFill>
            <a:schemeClr val="bg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9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Generalization</a:t>
            </a:r>
          </a:p>
        </p:txBody>
      </p:sp>
      <p:sp>
        <p:nvSpPr>
          <p:cNvPr id="419843" name="Rectangle 3"/>
          <p:cNvSpPr>
            <a:spLocks noGrp="1" noChangeArrowheads="1"/>
          </p:cNvSpPr>
          <p:nvPr>
            <p:ph idx="1"/>
          </p:nvPr>
        </p:nvSpPr>
        <p:spPr>
          <a:xfrm>
            <a:off x="428596" y="4714884"/>
            <a:ext cx="8286808" cy="1800220"/>
          </a:xfrm>
        </p:spPr>
        <p:txBody>
          <a:bodyPr>
            <a:normAutofit fontScale="32500" lnSpcReduction="20000"/>
          </a:bodyPr>
          <a:lstStyle/>
          <a:p>
            <a:r>
              <a:rPr lang="en-GB" sz="8000" dirty="0"/>
              <a:t>An object of a specialized class can be substituted for an object of a more general class in any context which expects a member of the more general class, </a:t>
            </a:r>
            <a:r>
              <a:rPr lang="en-GB" sz="8000" dirty="0">
                <a:solidFill>
                  <a:schemeClr val="accent2"/>
                </a:solidFill>
              </a:rPr>
              <a:t>but not the other way round</a:t>
            </a:r>
          </a:p>
          <a:p>
            <a:endParaRPr lang="en-GB" dirty="0"/>
          </a:p>
          <a:p>
            <a:pPr>
              <a:buFontTx/>
              <a:buNone/>
            </a:pPr>
            <a:r>
              <a:rPr lang="en-GB" dirty="0"/>
              <a:t>	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39AC0-EB45-4145-950F-109A32498CEC}" type="slidenum">
              <a:rPr lang="en-GB"/>
              <a:pPr/>
              <a:t>17</a:t>
            </a:fld>
            <a:endParaRPr lang="en-GB">
              <a:solidFill>
                <a:schemeClr val="tx1"/>
              </a:solidFill>
              <a:latin typeface="Impact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595702" y="1571612"/>
          <a:ext cx="1762116" cy="11430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621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Animal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Age: Integer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1328">
                <a:tc>
                  <a:txBody>
                    <a:bodyPr/>
                    <a:lstStyle/>
                    <a:p>
                      <a:pPr algn="ctr"/>
                      <a:r>
                        <a:rPr lang="en-GB" dirty="0" err="1"/>
                        <a:t>getAge</a:t>
                      </a:r>
                      <a:r>
                        <a:rPr lang="en-GB" dirty="0"/>
                        <a:t>(): Integer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881190" y="3214686"/>
          <a:ext cx="1762116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621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Cat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meow(): void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381652" y="3214686"/>
          <a:ext cx="1762116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621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Dog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bark(): void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Isosceles Triangle 10"/>
          <p:cNvSpPr/>
          <p:nvPr/>
        </p:nvSpPr>
        <p:spPr>
          <a:xfrm>
            <a:off x="4429124" y="2714620"/>
            <a:ext cx="214314" cy="142876"/>
          </a:xfrm>
          <a:prstGeom prst="triangl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7" name="Straight Connector 16"/>
          <p:cNvCxnSpPr>
            <a:stCxn id="11" idx="3"/>
          </p:cNvCxnSpPr>
          <p:nvPr/>
        </p:nvCxnSpPr>
        <p:spPr>
          <a:xfrm rot="16200000" flipH="1">
            <a:off x="4429390" y="2964387"/>
            <a:ext cx="220004" cy="62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2762865" y="3077497"/>
            <a:ext cx="35297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rot="5400000">
            <a:off x="2694040" y="3136490"/>
            <a:ext cx="13765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rot="16200000" flipH="1">
            <a:off x="6228736" y="3141406"/>
            <a:ext cx="117987" cy="98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1643042" y="1428736"/>
            <a:ext cx="5715040" cy="3143272"/>
          </a:xfrm>
          <a:prstGeom prst="rect">
            <a:avLst/>
          </a:prstGeom>
          <a:solidFill>
            <a:schemeClr val="bg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9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Generalization</a:t>
            </a:r>
          </a:p>
        </p:txBody>
      </p:sp>
      <p:sp>
        <p:nvSpPr>
          <p:cNvPr id="419843" name="Rectangle 3"/>
          <p:cNvSpPr>
            <a:spLocks noGrp="1" noChangeArrowheads="1"/>
          </p:cNvSpPr>
          <p:nvPr>
            <p:ph idx="1"/>
          </p:nvPr>
        </p:nvSpPr>
        <p:spPr>
          <a:xfrm>
            <a:off x="428596" y="4714884"/>
            <a:ext cx="8286808" cy="1800220"/>
          </a:xfrm>
        </p:spPr>
        <p:txBody>
          <a:bodyPr>
            <a:normAutofit/>
          </a:bodyPr>
          <a:lstStyle/>
          <a:p>
            <a:endParaRPr lang="en-GB" dirty="0"/>
          </a:p>
          <a:p>
            <a:pPr>
              <a:buFontTx/>
              <a:buNone/>
            </a:pPr>
            <a:r>
              <a:rPr lang="en-GB" dirty="0"/>
              <a:t>	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39AC0-EB45-4145-950F-109A32498CEC}" type="slidenum">
              <a:rPr lang="en-GB"/>
              <a:pPr/>
              <a:t>18</a:t>
            </a:fld>
            <a:endParaRPr lang="en-GB">
              <a:solidFill>
                <a:schemeClr val="tx1"/>
              </a:solidFill>
              <a:latin typeface="Impact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595702" y="1571612"/>
          <a:ext cx="1762116" cy="11430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621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Animal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Age: Integer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1328">
                <a:tc>
                  <a:txBody>
                    <a:bodyPr/>
                    <a:lstStyle/>
                    <a:p>
                      <a:pPr algn="ctr"/>
                      <a:r>
                        <a:rPr lang="en-GB" dirty="0" err="1"/>
                        <a:t>getAge</a:t>
                      </a:r>
                      <a:r>
                        <a:rPr lang="en-GB" dirty="0"/>
                        <a:t>(): Integer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881190" y="3214686"/>
          <a:ext cx="1762116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621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Cat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meow(): void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381652" y="3214686"/>
          <a:ext cx="1762116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621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Dog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bark(): void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Isosceles Triangle 10"/>
          <p:cNvSpPr/>
          <p:nvPr/>
        </p:nvSpPr>
        <p:spPr>
          <a:xfrm>
            <a:off x="4429124" y="2714620"/>
            <a:ext cx="214314" cy="142876"/>
          </a:xfrm>
          <a:prstGeom prst="triangl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7" name="Straight Connector 16"/>
          <p:cNvCxnSpPr>
            <a:stCxn id="11" idx="3"/>
          </p:cNvCxnSpPr>
          <p:nvPr/>
        </p:nvCxnSpPr>
        <p:spPr>
          <a:xfrm rot="16200000" flipH="1">
            <a:off x="4429390" y="2964387"/>
            <a:ext cx="220004" cy="62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2762865" y="3077497"/>
            <a:ext cx="35297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rot="5400000">
            <a:off x="2694040" y="3136490"/>
            <a:ext cx="13765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rot="16200000" flipH="1">
            <a:off x="6228736" y="3141406"/>
            <a:ext cx="117987" cy="98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11277" y="4768646"/>
            <a:ext cx="4046942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GB" dirty="0"/>
              <a:t>Animal any = new Animal(12);</a:t>
            </a:r>
          </a:p>
          <a:p>
            <a:pPr>
              <a:buNone/>
            </a:pPr>
            <a:r>
              <a:rPr lang="en-GB" dirty="0" err="1"/>
              <a:t>any.getAge</a:t>
            </a:r>
            <a:r>
              <a:rPr lang="en-GB" dirty="0"/>
              <a:t>();</a:t>
            </a:r>
          </a:p>
          <a:p>
            <a:pPr>
              <a:buNone/>
            </a:pPr>
            <a:r>
              <a:rPr lang="en-GB" dirty="0" err="1"/>
              <a:t>any.meow</a:t>
            </a:r>
            <a:r>
              <a:rPr lang="en-GB" dirty="0"/>
              <a:t>();</a:t>
            </a:r>
          </a:p>
          <a:p>
            <a:pPr>
              <a:buNone/>
            </a:pPr>
            <a:r>
              <a:rPr lang="en-GB" dirty="0" err="1"/>
              <a:t>any.bark</a:t>
            </a:r>
            <a:r>
              <a:rPr lang="en-GB" dirty="0"/>
              <a:t>();</a:t>
            </a:r>
          </a:p>
          <a:p>
            <a:endParaRPr lang="en-GB" dirty="0"/>
          </a:p>
        </p:txBody>
      </p:sp>
      <p:sp>
        <p:nvSpPr>
          <p:cNvPr id="16" name="TextBox 15"/>
          <p:cNvSpPr txBox="1"/>
          <p:nvPr/>
        </p:nvSpPr>
        <p:spPr>
          <a:xfrm>
            <a:off x="3470934" y="5179198"/>
            <a:ext cx="1500198" cy="338554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  <a:effectLst/>
        </p:spPr>
        <p:txBody>
          <a:bodyPr wrap="square" rtlCol="0">
            <a:spAutoFit/>
          </a:bodyPr>
          <a:lstStyle/>
          <a:p>
            <a:r>
              <a:rPr lang="en-GB" sz="1600" dirty="0"/>
              <a:t>Fine, returns 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0934" y="5607826"/>
            <a:ext cx="2714644" cy="338554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  <a:effectLst/>
        </p:spPr>
        <p:txBody>
          <a:bodyPr wrap="square" rtlCol="0">
            <a:spAutoFit/>
          </a:bodyPr>
          <a:lstStyle/>
          <a:p>
            <a:r>
              <a:rPr lang="en-GB" sz="1600" dirty="0"/>
              <a:t>Error – No meow() method!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0934" y="6036454"/>
            <a:ext cx="2714644" cy="338554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  <a:effectLst/>
        </p:spPr>
        <p:txBody>
          <a:bodyPr wrap="square" rtlCol="0">
            <a:spAutoFit/>
          </a:bodyPr>
          <a:lstStyle/>
          <a:p>
            <a:r>
              <a:rPr lang="en-GB" sz="1600" dirty="0"/>
              <a:t>Error – No bark() method!</a:t>
            </a:r>
          </a:p>
        </p:txBody>
      </p:sp>
      <p:cxnSp>
        <p:nvCxnSpPr>
          <p:cNvPr id="22" name="Straight Arrow Connector 21"/>
          <p:cNvCxnSpPr>
            <a:stCxn id="16" idx="1"/>
          </p:cNvCxnSpPr>
          <p:nvPr/>
        </p:nvCxnSpPr>
        <p:spPr>
          <a:xfrm rot="10800000" flipV="1">
            <a:off x="2613678" y="5348474"/>
            <a:ext cx="857256" cy="2640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19" idx="1"/>
          </p:cNvCxnSpPr>
          <p:nvPr/>
        </p:nvCxnSpPr>
        <p:spPr>
          <a:xfrm rot="10800000" flipV="1">
            <a:off x="2542240" y="5777102"/>
            <a:ext cx="928694" cy="2640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20" idx="1"/>
          </p:cNvCxnSpPr>
          <p:nvPr/>
        </p:nvCxnSpPr>
        <p:spPr>
          <a:xfrm rot="10800000" flipV="1">
            <a:off x="2327926" y="6205730"/>
            <a:ext cx="1143008" cy="2640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Content Placeholder 12"/>
          <p:cNvSpPr txBox="1">
            <a:spLocks/>
          </p:cNvSpPr>
          <p:nvPr/>
        </p:nvSpPr>
        <p:spPr>
          <a:xfrm>
            <a:off x="655356" y="4706300"/>
            <a:ext cx="7972452" cy="1752592"/>
          </a:xfrm>
          <a:prstGeom prst="rect">
            <a:avLst/>
          </a:prstGeom>
        </p:spPr>
        <p:txBody>
          <a:bodyPr vert="horz">
            <a:normAutofit fontScale="92500" lnSpcReduction="10000"/>
          </a:bodyPr>
          <a:lstStyle/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 2"/>
              <a:buNone/>
              <a:tabLst/>
              <a:defRPr/>
            </a:pPr>
            <a:r>
              <a:rPr lang="en-GB" sz="2600" dirty="0">
                <a:latin typeface="+mn-lt"/>
              </a:rPr>
              <a:t>Cat</a:t>
            </a:r>
            <a:r>
              <a:rPr kumimoji="0" lang="en-GB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animal = new Cat(8);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 2"/>
              <a:buNone/>
              <a:tabLst/>
              <a:defRPr/>
            </a:pPr>
            <a:r>
              <a:rPr lang="en-GB" sz="2600" dirty="0" err="1">
                <a:latin typeface="+mn-lt"/>
              </a:rPr>
              <a:t>a</a:t>
            </a:r>
            <a:r>
              <a:rPr kumimoji="0" lang="en-GB" sz="2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ny.getAge</a:t>
            </a:r>
            <a:r>
              <a:rPr kumimoji="0" lang="en-GB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();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 2"/>
              <a:buNone/>
              <a:tabLst/>
              <a:defRPr/>
            </a:pPr>
            <a:r>
              <a:rPr lang="en-GB" sz="2600" dirty="0" err="1">
                <a:latin typeface="+mn-lt"/>
              </a:rPr>
              <a:t>a</a:t>
            </a:r>
            <a:r>
              <a:rPr kumimoji="0" lang="en-GB" sz="2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ny.meow</a:t>
            </a:r>
            <a:r>
              <a:rPr kumimoji="0" lang="en-GB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();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 2"/>
              <a:buNone/>
              <a:tabLst/>
              <a:defRPr/>
            </a:pPr>
            <a:r>
              <a:rPr lang="en-GB" sz="2600" dirty="0" err="1">
                <a:latin typeface="+mn-lt"/>
              </a:rPr>
              <a:t>a</a:t>
            </a:r>
            <a:r>
              <a:rPr kumimoji="0" lang="en-GB" sz="2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ny.bark</a:t>
            </a:r>
            <a:r>
              <a:rPr kumimoji="0" lang="en-GB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();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43042" y="1428736"/>
            <a:ext cx="5715040" cy="3143272"/>
          </a:xfrm>
          <a:prstGeom prst="rect">
            <a:avLst/>
          </a:prstGeom>
          <a:solidFill>
            <a:schemeClr val="bg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98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75488"/>
            <a:ext cx="8229600" cy="724648"/>
          </a:xfrm>
        </p:spPr>
        <p:txBody>
          <a:bodyPr/>
          <a:lstStyle/>
          <a:p>
            <a:r>
              <a:rPr lang="en-GB" dirty="0"/>
              <a:t>Generalization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39AC0-EB45-4145-950F-109A32498CEC}" type="slidenum">
              <a:rPr lang="en-GB"/>
              <a:pPr/>
              <a:t>19</a:t>
            </a:fld>
            <a:endParaRPr lang="en-GB">
              <a:solidFill>
                <a:schemeClr val="tx1"/>
              </a:solidFill>
              <a:latin typeface="Impact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595702" y="1571612"/>
          <a:ext cx="1762116" cy="11430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621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Animal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Age: Integer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1328">
                <a:tc>
                  <a:txBody>
                    <a:bodyPr/>
                    <a:lstStyle/>
                    <a:p>
                      <a:pPr algn="ctr"/>
                      <a:r>
                        <a:rPr lang="en-GB" dirty="0" err="1"/>
                        <a:t>getAge</a:t>
                      </a:r>
                      <a:r>
                        <a:rPr lang="en-GB" dirty="0"/>
                        <a:t>(): Integer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881190" y="3214686"/>
          <a:ext cx="1762116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621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Cat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meow(): void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381652" y="3214686"/>
          <a:ext cx="1762116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621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Dog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bark(): void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Isosceles Triangle 10"/>
          <p:cNvSpPr/>
          <p:nvPr/>
        </p:nvSpPr>
        <p:spPr>
          <a:xfrm>
            <a:off x="4429124" y="2714620"/>
            <a:ext cx="214314" cy="142876"/>
          </a:xfrm>
          <a:prstGeom prst="triangl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7" name="Straight Connector 16"/>
          <p:cNvCxnSpPr>
            <a:stCxn id="11" idx="3"/>
          </p:cNvCxnSpPr>
          <p:nvPr/>
        </p:nvCxnSpPr>
        <p:spPr>
          <a:xfrm rot="16200000" flipH="1">
            <a:off x="4429390" y="2964387"/>
            <a:ext cx="220004" cy="62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2762865" y="3077497"/>
            <a:ext cx="35297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rot="5400000">
            <a:off x="2694040" y="3136490"/>
            <a:ext cx="13765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rot="16200000" flipH="1">
            <a:off x="6228736" y="3141406"/>
            <a:ext cx="117987" cy="98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3500430" y="5090710"/>
            <a:ext cx="1428760" cy="338554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  <a:effectLst/>
        </p:spPr>
        <p:txBody>
          <a:bodyPr wrap="square" rtlCol="0">
            <a:spAutoFit/>
          </a:bodyPr>
          <a:lstStyle/>
          <a:p>
            <a:r>
              <a:rPr lang="en-GB" sz="1600" dirty="0"/>
              <a:t>Fine, returns 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0430" y="5519338"/>
            <a:ext cx="2714644" cy="338554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  <a:effectLst/>
        </p:spPr>
        <p:txBody>
          <a:bodyPr wrap="square" rtlCol="0">
            <a:spAutoFit/>
          </a:bodyPr>
          <a:lstStyle/>
          <a:p>
            <a:r>
              <a:rPr lang="en-GB" sz="1600" dirty="0"/>
              <a:t>Fine, object “meows”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0430" y="5947966"/>
            <a:ext cx="2714644" cy="338554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  <a:effectLst/>
        </p:spPr>
        <p:txBody>
          <a:bodyPr wrap="square" rtlCol="0">
            <a:spAutoFit/>
          </a:bodyPr>
          <a:lstStyle/>
          <a:p>
            <a:r>
              <a:rPr lang="en-GB" sz="1600" dirty="0"/>
              <a:t>Error – No bark() method!</a:t>
            </a:r>
          </a:p>
        </p:txBody>
      </p:sp>
      <p:cxnSp>
        <p:nvCxnSpPr>
          <p:cNvPr id="31" name="Straight Arrow Connector 30"/>
          <p:cNvCxnSpPr>
            <a:stCxn id="28" idx="1"/>
          </p:cNvCxnSpPr>
          <p:nvPr/>
        </p:nvCxnSpPr>
        <p:spPr>
          <a:xfrm rot="10800000" flipV="1">
            <a:off x="2643174" y="5259987"/>
            <a:ext cx="857256" cy="26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29" idx="1"/>
          </p:cNvCxnSpPr>
          <p:nvPr/>
        </p:nvCxnSpPr>
        <p:spPr>
          <a:xfrm rot="10800000" flipV="1">
            <a:off x="2571736" y="5688614"/>
            <a:ext cx="928694" cy="2640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30" idx="1"/>
          </p:cNvCxnSpPr>
          <p:nvPr/>
        </p:nvCxnSpPr>
        <p:spPr>
          <a:xfrm rot="10800000" flipV="1">
            <a:off x="2357422" y="6117242"/>
            <a:ext cx="1143008" cy="2640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Inheritance versus Generalization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solidFill>
                  <a:schemeClr val="accent3"/>
                </a:solidFill>
              </a:rPr>
              <a:t>Generalization</a:t>
            </a:r>
            <a:r>
              <a:rPr lang="en-GB" dirty="0"/>
              <a:t> is a </a:t>
            </a:r>
            <a:r>
              <a:rPr lang="en-GB" i="1" dirty="0"/>
              <a:t>conceptual relationship </a:t>
            </a:r>
            <a:r>
              <a:rPr lang="en-GB" dirty="0"/>
              <a:t>between classes whereas </a:t>
            </a:r>
            <a:r>
              <a:rPr lang="en-GB" dirty="0">
                <a:solidFill>
                  <a:schemeClr val="accent3"/>
                </a:solidFill>
              </a:rPr>
              <a:t>inheritance</a:t>
            </a:r>
            <a:r>
              <a:rPr lang="en-GB" dirty="0"/>
              <a:t> is an </a:t>
            </a:r>
            <a:r>
              <a:rPr lang="en-GB" i="1" dirty="0"/>
              <a:t>implementation relationship</a:t>
            </a:r>
            <a:r>
              <a:rPr lang="en-GB" dirty="0"/>
              <a:t>.</a:t>
            </a:r>
          </a:p>
          <a:p>
            <a:r>
              <a:rPr lang="en-GB" dirty="0"/>
              <a:t>Generalization obviously </a:t>
            </a:r>
            <a:r>
              <a:rPr lang="en-GB" i="1" dirty="0"/>
              <a:t>increases the coupling </a:t>
            </a:r>
            <a:r>
              <a:rPr lang="en-GB" dirty="0"/>
              <a:t>of a system and if a subclass is changed it usually necessitates a recompilation of the subclass also (this is a pragmatic issue).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70014-7BEF-40E2-951A-3A20FE14B530}" type="slidenum">
              <a:rPr lang="en-GB" smtClean="0"/>
              <a:pPr/>
              <a:t>20</a:t>
            </a:fld>
            <a:endParaRPr lang="en-GB">
              <a:solidFill>
                <a:schemeClr val="tx1"/>
              </a:solidFill>
              <a:latin typeface="Impact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CRC Cards</a:t>
            </a:r>
          </a:p>
        </p:txBody>
      </p:sp>
      <p:sp>
        <p:nvSpPr>
          <p:cNvPr id="41574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714488"/>
            <a:ext cx="8229600" cy="4610112"/>
          </a:xfrm>
        </p:spPr>
        <p:txBody>
          <a:bodyPr/>
          <a:lstStyle/>
          <a:p>
            <a:r>
              <a:rPr lang="en-GB" dirty="0"/>
              <a:t>One common way of checking for a good design and guiding its refinement is to use CRC cards.</a:t>
            </a:r>
          </a:p>
          <a:p>
            <a:r>
              <a:rPr lang="en-GB" dirty="0"/>
              <a:t>CRC stands for </a:t>
            </a:r>
            <a:r>
              <a:rPr lang="en-GB" dirty="0">
                <a:solidFill>
                  <a:schemeClr val="accent3"/>
                </a:solidFill>
              </a:rPr>
              <a:t>Classes</a:t>
            </a:r>
            <a:r>
              <a:rPr lang="en-GB" dirty="0"/>
              <a:t>, </a:t>
            </a:r>
            <a:r>
              <a:rPr lang="en-GB" dirty="0">
                <a:solidFill>
                  <a:schemeClr val="accent3"/>
                </a:solidFill>
              </a:rPr>
              <a:t>Responsibilities</a:t>
            </a:r>
            <a:r>
              <a:rPr lang="en-GB" dirty="0"/>
              <a:t>, </a:t>
            </a:r>
            <a:r>
              <a:rPr lang="en-GB" dirty="0">
                <a:solidFill>
                  <a:schemeClr val="accent3"/>
                </a:solidFill>
              </a:rPr>
              <a:t>Collaborations</a:t>
            </a:r>
            <a:r>
              <a:rPr lang="en-GB" dirty="0"/>
              <a:t>.</a:t>
            </a:r>
          </a:p>
          <a:p>
            <a:r>
              <a:rPr lang="en-GB" dirty="0"/>
              <a:t>Although </a:t>
            </a:r>
            <a:r>
              <a:rPr lang="en-GB" dirty="0">
                <a:solidFill>
                  <a:schemeClr val="accent2"/>
                </a:solidFill>
              </a:rPr>
              <a:t>CRC is not part of UML</a:t>
            </a:r>
            <a:r>
              <a:rPr lang="en-GB" dirty="0"/>
              <a:t>, they add some very useful insights throughout a development.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0AE43-2F28-4CC0-9A44-E4DF5E83C7A2}" type="slidenum">
              <a:rPr lang="en-GB"/>
              <a:pPr/>
              <a:t>21</a:t>
            </a:fld>
            <a:endParaRPr lang="en-GB">
              <a:solidFill>
                <a:schemeClr val="tx1"/>
              </a:solidFill>
              <a:latin typeface="Impact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Creating CRC Cards</a:t>
            </a:r>
          </a:p>
        </p:txBody>
      </p:sp>
      <p:sp>
        <p:nvSpPr>
          <p:cNvPr id="416771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643050"/>
            <a:ext cx="8001000" cy="430055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GB" b="1" dirty="0">
                <a:solidFill>
                  <a:schemeClr val="accent2"/>
                </a:solidFill>
              </a:rPr>
              <a:t>The name of a class</a:t>
            </a:r>
            <a:r>
              <a:rPr lang="en-GB" dirty="0"/>
              <a:t>, at the top</a:t>
            </a:r>
          </a:p>
          <a:p>
            <a:pPr>
              <a:lnSpc>
                <a:spcPct val="90000"/>
              </a:lnSpc>
            </a:pPr>
            <a:r>
              <a:rPr lang="en-GB" b="1" dirty="0">
                <a:solidFill>
                  <a:schemeClr val="accent2"/>
                </a:solidFill>
              </a:rPr>
              <a:t>The responsibilities of the class</a:t>
            </a:r>
            <a:r>
              <a:rPr lang="en-GB" dirty="0"/>
              <a:t>, on the left-hand side</a:t>
            </a:r>
          </a:p>
          <a:p>
            <a:pPr>
              <a:lnSpc>
                <a:spcPct val="90000"/>
              </a:lnSpc>
            </a:pPr>
            <a:r>
              <a:rPr lang="en-GB" b="1" dirty="0">
                <a:solidFill>
                  <a:schemeClr val="accent2"/>
                </a:solidFill>
              </a:rPr>
              <a:t>The collaborators of the class</a:t>
            </a:r>
            <a:r>
              <a:rPr lang="en-GB" dirty="0"/>
              <a:t>, which help to carry out each responsibility, on the right-hand side of the card.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GB" dirty="0"/>
              <a:t>	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GB" dirty="0">
                <a:solidFill>
                  <a:srgbClr val="0033CC"/>
                </a:solidFill>
              </a:rPr>
              <a:t>   </a:t>
            </a:r>
            <a:r>
              <a:rPr lang="en-GB" dirty="0"/>
              <a:t>The responsibilities of the class describe at a high level the purpose of the class’s existence :</a:t>
            </a:r>
          </a:p>
          <a:p>
            <a:pPr lvl="1">
              <a:lnSpc>
                <a:spcPct val="90000"/>
              </a:lnSpc>
            </a:pPr>
            <a:r>
              <a:rPr lang="en-GB" dirty="0"/>
              <a:t>They are connected with the operations the class provides, but are more general than that might imply – i.e., they can be an abstraction of several operations.</a:t>
            </a: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4049E-FD8A-4D3B-95D2-C686574DD056}" type="slidenum">
              <a:rPr lang="en-GB"/>
              <a:pPr/>
              <a:t>22</a:t>
            </a:fld>
            <a:endParaRPr lang="en-GB">
              <a:solidFill>
                <a:schemeClr val="tx1"/>
              </a:solidFill>
              <a:latin typeface="Impact" pitchFamily="34" charset="0"/>
            </a:endParaRPr>
          </a:p>
        </p:txBody>
      </p:sp>
      <p:sp>
        <p:nvSpPr>
          <p:cNvPr id="416772" name="Line 4"/>
          <p:cNvSpPr>
            <a:spLocks noChangeShapeType="1"/>
          </p:cNvSpPr>
          <p:nvPr/>
        </p:nvSpPr>
        <p:spPr bwMode="auto">
          <a:xfrm>
            <a:off x="1000100" y="3571876"/>
            <a:ext cx="7315200" cy="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 type="none" w="sm" len="sm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CRC Cards</a:t>
            </a:r>
          </a:p>
        </p:txBody>
      </p:sp>
      <p:sp>
        <p:nvSpPr>
          <p:cNvPr id="416771" name="Rectangle 3"/>
          <p:cNvSpPr>
            <a:spLocks noGrp="1" noChangeArrowheads="1"/>
          </p:cNvSpPr>
          <p:nvPr>
            <p:ph idx="1"/>
          </p:nvPr>
        </p:nvSpPr>
        <p:spPr>
          <a:xfrm>
            <a:off x="500034" y="1643050"/>
            <a:ext cx="8186766" cy="430055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GB" dirty="0"/>
              <a:t>In general there should be </a:t>
            </a:r>
            <a:r>
              <a:rPr lang="en-GB" dirty="0">
                <a:solidFill>
                  <a:schemeClr val="accent2"/>
                </a:solidFill>
              </a:rPr>
              <a:t>one or two </a:t>
            </a:r>
            <a:r>
              <a:rPr lang="en-GB" dirty="0"/>
              <a:t>responsibilities per class and usually no more than four. Too many responsibilities often signals </a:t>
            </a:r>
            <a:r>
              <a:rPr lang="en-GB" b="1" dirty="0"/>
              <a:t>low cohesion </a:t>
            </a:r>
            <a:r>
              <a:rPr lang="en-GB" dirty="0"/>
              <a:t>(i.e., a bad level of abstraction) in the system.</a:t>
            </a:r>
          </a:p>
          <a:p>
            <a:pPr>
              <a:lnSpc>
                <a:spcPct val="90000"/>
              </a:lnSpc>
            </a:pPr>
            <a:r>
              <a:rPr lang="en-GB" dirty="0"/>
              <a:t>Too many collaborators can signify </a:t>
            </a:r>
            <a:r>
              <a:rPr lang="en-GB" b="1" dirty="0"/>
              <a:t>high coupling </a:t>
            </a:r>
            <a:r>
              <a:rPr lang="en-GB" dirty="0"/>
              <a:t>in the system (the class is connected to too many other classes). </a:t>
            </a:r>
          </a:p>
          <a:p>
            <a:pPr>
              <a:lnSpc>
                <a:spcPct val="90000"/>
              </a:lnSpc>
            </a:pPr>
            <a:r>
              <a:rPr lang="en-GB" dirty="0"/>
              <a:t>Since we aim to have systems with </a:t>
            </a:r>
            <a:r>
              <a:rPr lang="en-GB" i="1" dirty="0"/>
              <a:t>high cohesion and low coupling</a:t>
            </a:r>
            <a:r>
              <a:rPr lang="en-GB" dirty="0"/>
              <a:t>, we should aim to find a compromise between these values which is still conceptually sound.</a:t>
            </a: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4049E-FD8A-4D3B-95D2-C686574DD056}" type="slidenum">
              <a:rPr lang="en-GB"/>
              <a:pPr/>
              <a:t>23</a:t>
            </a:fld>
            <a:endParaRPr lang="en-GB">
              <a:solidFill>
                <a:schemeClr val="tx1"/>
              </a:solidFill>
              <a:latin typeface="Impact" pitchFamily="34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CRC Card 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C05E5-3C3F-4B0D-9084-6AD1A11B3D98}" type="slidenum">
              <a:rPr lang="en-GB"/>
              <a:pPr/>
              <a:t>24</a:t>
            </a:fld>
            <a:endParaRPr lang="en-GB">
              <a:solidFill>
                <a:schemeClr val="tx1"/>
              </a:solidFill>
              <a:latin typeface="Impact" pitchFamily="34" charset="0"/>
            </a:endParaRPr>
          </a:p>
        </p:txBody>
      </p:sp>
      <p:pic>
        <p:nvPicPr>
          <p:cNvPr id="417796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28662" y="1571613"/>
            <a:ext cx="7246934" cy="4000528"/>
          </a:xfrm>
          <a:prstGeom prst="rect">
            <a:avLst/>
          </a:prstGeom>
          <a:noFill/>
          <a:ln w="12700">
            <a:noFill/>
            <a:miter lim="800000"/>
            <a:headEnd/>
            <a:tailEnd type="none" w="sm" len="sm"/>
          </a:ln>
          <a:effectLst/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472" y="5572140"/>
            <a:ext cx="7858180" cy="830997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  <a:effectLst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accent3"/>
                </a:solidFill>
              </a:rPr>
              <a:t>Questions</a:t>
            </a:r>
            <a:r>
              <a:rPr lang="en-GB" dirty="0"/>
              <a:t>: Do these three classes conform to our notion of a good design? What is their level or cohesion and coupling?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CRC Card of a </a:t>
            </a:r>
            <a:r>
              <a:rPr lang="en-GB" b="1" dirty="0"/>
              <a:t>Bad</a:t>
            </a:r>
            <a:r>
              <a:rPr lang="en-GB" dirty="0"/>
              <a:t> Object Class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C05E5-3C3F-4B0D-9084-6AD1A11B3D98}" type="slidenum">
              <a:rPr lang="en-GB"/>
              <a:pPr/>
              <a:t>25</a:t>
            </a:fld>
            <a:endParaRPr lang="en-GB">
              <a:solidFill>
                <a:schemeClr val="tx1"/>
              </a:solidFill>
              <a:latin typeface="Impact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472" y="5572140"/>
            <a:ext cx="7858180" cy="830997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  <a:effectLst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accent3"/>
                </a:solidFill>
              </a:rPr>
              <a:t>Questions</a:t>
            </a:r>
            <a:r>
              <a:rPr lang="en-GB" dirty="0"/>
              <a:t>: Why is this a bad class according to the principals of good design we have identified? How can it be improved?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14348" y="2786058"/>
          <a:ext cx="7462684" cy="2643205"/>
        </p:xfrm>
        <a:graphic>
          <a:graphicData uri="http://schemas.openxmlformats.org/drawingml/2006/table">
            <a:tbl>
              <a:tblPr/>
              <a:tblGrid>
                <a:gridCol w="37313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13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5930">
                <a:tc gridSpan="2">
                  <a:txBody>
                    <a:bodyPr/>
                    <a:lstStyle/>
                    <a:p>
                      <a:r>
                        <a:rPr lang="en-GB" sz="2000" dirty="0" err="1"/>
                        <a:t>Word_Processor_</a:t>
                      </a:r>
                      <a:r>
                        <a:rPr lang="en-GB" sz="2000" baseline="0" dirty="0" err="1"/>
                        <a:t>Object</a:t>
                      </a:r>
                      <a:endParaRPr lang="en-GB" sz="2000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796">
                <a:tc>
                  <a:txBody>
                    <a:bodyPr/>
                    <a:lstStyle/>
                    <a:p>
                      <a:r>
                        <a:rPr lang="en-GB" b="1" dirty="0"/>
                        <a:t>Responsibilities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Collaborators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96479"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GB" dirty="0"/>
                        <a:t> </a:t>
                      </a:r>
                      <a:r>
                        <a:rPr lang="en-GB" dirty="0" err="1"/>
                        <a:t>Spellcheck</a:t>
                      </a:r>
                      <a:r>
                        <a:rPr lang="en-GB" baseline="0" dirty="0"/>
                        <a:t> the document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GB" baseline="0" dirty="0"/>
                        <a:t> Print the document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GB" baseline="0" dirty="0"/>
                        <a:t> Open a new document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GB" baseline="0" dirty="0"/>
                        <a:t> Save the document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GB" baseline="0" dirty="0"/>
                        <a:t> Email document</a:t>
                      </a:r>
                    </a:p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Dictionary</a:t>
                      </a:r>
                    </a:p>
                    <a:p>
                      <a:r>
                        <a:rPr lang="en-GB" dirty="0"/>
                        <a:t>Printer</a:t>
                      </a:r>
                    </a:p>
                    <a:p>
                      <a:r>
                        <a:rPr lang="en-GB" dirty="0"/>
                        <a:t>File</a:t>
                      </a:r>
                      <a:r>
                        <a:rPr lang="en-GB" baseline="0" dirty="0"/>
                        <a:t> I/O</a:t>
                      </a:r>
                    </a:p>
                    <a:p>
                      <a:r>
                        <a:rPr lang="en-GB" baseline="0" dirty="0"/>
                        <a:t>Networking API</a:t>
                      </a:r>
                    </a:p>
                    <a:p>
                      <a:endParaRPr lang="en-GB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2910" y="1714488"/>
            <a:ext cx="76438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Here is an example of a CRC card for a bad object class called </a:t>
            </a:r>
            <a:r>
              <a:rPr lang="en-GB" dirty="0" err="1"/>
              <a:t>Word_Processor_Object</a:t>
            </a:r>
            <a:r>
              <a:rPr lang="en-GB" dirty="0"/>
              <a:t>:</a:t>
            </a:r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More about Associations</a:t>
            </a:r>
          </a:p>
        </p:txBody>
      </p:sp>
      <p:sp>
        <p:nvSpPr>
          <p:cNvPr id="418819" name="Rectangle 3"/>
          <p:cNvSpPr>
            <a:spLocks noGrp="1" noChangeArrowheads="1"/>
          </p:cNvSpPr>
          <p:nvPr>
            <p:ph idx="1"/>
          </p:nvPr>
        </p:nvSpPr>
        <p:spPr>
          <a:xfrm>
            <a:off x="428596" y="1857364"/>
            <a:ext cx="8272466" cy="3567114"/>
          </a:xfrm>
        </p:spPr>
        <p:txBody>
          <a:bodyPr/>
          <a:lstStyle/>
          <a:p>
            <a:pPr>
              <a:buFontTx/>
              <a:buNone/>
            </a:pPr>
            <a:r>
              <a:rPr lang="en-GB" sz="3200" dirty="0"/>
              <a:t>	</a:t>
            </a:r>
            <a:r>
              <a:rPr lang="en-GB" sz="2800" dirty="0"/>
              <a:t>One of UML’s strengths is its </a:t>
            </a:r>
            <a:r>
              <a:rPr lang="en-GB" sz="2800" i="1" dirty="0">
                <a:solidFill>
                  <a:schemeClr val="accent3"/>
                </a:solidFill>
              </a:rPr>
              <a:t>expressiveness</a:t>
            </a:r>
            <a:r>
              <a:rPr lang="en-GB" sz="2800" dirty="0"/>
              <a:t>, and during this lecture we have seen a taste of that, covering most (but not quite all) features of class diagrams.</a:t>
            </a:r>
            <a:endParaRPr lang="en-GB" sz="3200" dirty="0"/>
          </a:p>
          <a:p>
            <a:pPr>
              <a:buFontTx/>
              <a:buNone/>
            </a:pPr>
            <a:endParaRPr lang="en-GB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3C8A6-C5D3-4E22-9260-2476F8730291}" type="slidenum">
              <a:rPr lang="en-GB"/>
              <a:pPr/>
              <a:t>26</a:t>
            </a:fld>
            <a:endParaRPr lang="en-GB">
              <a:solidFill>
                <a:schemeClr val="tx1"/>
              </a:solidFill>
              <a:latin typeface="Impact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866" name="Rectangle 2"/>
          <p:cNvSpPr>
            <a:spLocks noGrp="1" noChangeArrowheads="1"/>
          </p:cNvSpPr>
          <p:nvPr>
            <p:ph type="title"/>
          </p:nvPr>
        </p:nvSpPr>
        <p:spPr>
          <a:xfrm>
            <a:off x="428597" y="266700"/>
            <a:ext cx="8410604" cy="1090598"/>
          </a:xfrm>
        </p:spPr>
        <p:txBody>
          <a:bodyPr>
            <a:normAutofit fontScale="90000"/>
          </a:bodyPr>
          <a:lstStyle/>
          <a:p>
            <a:br>
              <a:rPr lang="en-GB" sz="3600" dirty="0"/>
            </a:br>
            <a:r>
              <a:rPr lang="en-GB" dirty="0"/>
              <a:t>More on Class Models</a:t>
            </a:r>
            <a:endParaRPr lang="en-GB" sz="3600" dirty="0"/>
          </a:p>
        </p:txBody>
      </p:sp>
      <p:sp>
        <p:nvSpPr>
          <p:cNvPr id="42086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357298"/>
            <a:ext cx="8229600" cy="4967302"/>
          </a:xfrm>
        </p:spPr>
        <p:txBody>
          <a:bodyPr>
            <a:normAutofit/>
          </a:bodyPr>
          <a:lstStyle/>
          <a:p>
            <a:endParaRPr lang="en-GB" dirty="0"/>
          </a:p>
          <a:p>
            <a:r>
              <a:rPr lang="en-GB" sz="2400" dirty="0"/>
              <a:t>Aggregation and composition</a:t>
            </a:r>
          </a:p>
          <a:p>
            <a:r>
              <a:rPr lang="en-GB" sz="2400" dirty="0"/>
              <a:t>Roles</a:t>
            </a:r>
          </a:p>
          <a:p>
            <a:r>
              <a:rPr lang="en-GB" sz="2400" dirty="0"/>
              <a:t>Navigability</a:t>
            </a:r>
          </a:p>
          <a:p>
            <a:r>
              <a:rPr lang="en-GB" sz="2400" dirty="0"/>
              <a:t>Qualified association</a:t>
            </a:r>
          </a:p>
          <a:p>
            <a:r>
              <a:rPr lang="en-GB" sz="2400" dirty="0"/>
              <a:t>Derived association</a:t>
            </a:r>
          </a:p>
          <a:p>
            <a:r>
              <a:rPr lang="en-GB" sz="2400" dirty="0"/>
              <a:t>Constraints</a:t>
            </a:r>
          </a:p>
          <a:p>
            <a:r>
              <a:rPr lang="en-GB" sz="2400" dirty="0"/>
              <a:t>Association classes</a:t>
            </a:r>
          </a:p>
          <a:p>
            <a:r>
              <a:rPr lang="en-GB" sz="2400" dirty="0"/>
              <a:t>More about classes</a:t>
            </a:r>
            <a:endParaRPr lang="en-GB" dirty="0"/>
          </a:p>
          <a:p>
            <a:r>
              <a:rPr lang="en-GB" dirty="0"/>
              <a:t>We study these next lecture 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90058-8157-430E-BA9E-C7641D07FF85}" type="slidenum">
              <a:rPr lang="en-GB"/>
              <a:pPr/>
              <a:t>27</a:t>
            </a:fld>
            <a:endParaRPr lang="en-GB">
              <a:solidFill>
                <a:schemeClr val="tx1"/>
              </a:solidFill>
              <a:latin typeface="Impact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Lecture Key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During this lecture we introduced class diagrams which represent the static (as opposed to the dynamic) nature of the system to be built.</a:t>
            </a:r>
          </a:p>
          <a:p>
            <a:r>
              <a:rPr lang="en-GB" dirty="0"/>
              <a:t>We discussed how classes and their associations can be found and the concept of multiplicity.</a:t>
            </a:r>
          </a:p>
          <a:p>
            <a:r>
              <a:rPr lang="en-GB" dirty="0"/>
              <a:t>We also discussed class attributes and operations as well as looking at representations of generalization.</a:t>
            </a:r>
          </a:p>
          <a:p>
            <a:r>
              <a:rPr lang="en-GB" dirty="0"/>
              <a:t>Finally we used the idea of CRC cards to validate a model.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70014-7BEF-40E2-951A-3A20FE14B530}" type="slidenum">
              <a:rPr lang="en-GB" smtClean="0"/>
              <a:pPr/>
              <a:t>28</a:t>
            </a:fld>
            <a:endParaRPr lang="en-GB">
              <a:solidFill>
                <a:schemeClr val="tx1"/>
              </a:solidFill>
              <a:latin typeface="Impact" pitchFamily="34" charset="0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Custom 2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1F1F33"/>
      </a:accent1>
      <a:accent2>
        <a:srgbClr val="B54703"/>
      </a:accent2>
      <a:accent3>
        <a:srgbClr val="CE0202"/>
      </a:accent3>
      <a:accent4>
        <a:srgbClr val="C4652D"/>
      </a:accent4>
      <a:accent5>
        <a:srgbClr val="8B5D3D"/>
      </a:accent5>
      <a:accent6>
        <a:srgbClr val="3F6E8C"/>
      </a:accent6>
      <a:hlink>
        <a:srgbClr val="E0EFF1"/>
      </a:hlink>
      <a:folHlink>
        <a:srgbClr val="C2A874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13720</TotalTime>
  <Words>1813</Words>
  <Application>Microsoft Office PowerPoint</Application>
  <PresentationFormat>On-screen Show (4:3)</PresentationFormat>
  <Paragraphs>246</Paragraphs>
  <Slides>28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Calibri</vt:lpstr>
      <vt:lpstr>Impact</vt:lpstr>
      <vt:lpstr>Times New Roman</vt:lpstr>
      <vt:lpstr>Wingdings 2</vt:lpstr>
      <vt:lpstr>Flow</vt:lpstr>
      <vt:lpstr>Photo Editor Photo</vt:lpstr>
      <vt:lpstr>Software Engineering COMP 201</vt:lpstr>
      <vt:lpstr>On Naming classes</vt:lpstr>
      <vt:lpstr>Class Models</vt:lpstr>
      <vt:lpstr>A Very Simple Class Model</vt:lpstr>
      <vt:lpstr>What Makes a Good Class Model?</vt:lpstr>
      <vt:lpstr>In Order to Meet the Objectives:</vt:lpstr>
      <vt:lpstr>Deriving Classes</vt:lpstr>
      <vt:lpstr>Associations</vt:lpstr>
      <vt:lpstr>Class A and B are Associated if</vt:lpstr>
      <vt:lpstr>Simple Association between Classes</vt:lpstr>
      <vt:lpstr>Example</vt:lpstr>
      <vt:lpstr>Multiplicity</vt:lpstr>
      <vt:lpstr>Attributes and Operations</vt:lpstr>
      <vt:lpstr>Operation Signatures</vt:lpstr>
      <vt:lpstr>Dynamic Binding (recap)</vt:lpstr>
      <vt:lpstr>Generalization</vt:lpstr>
      <vt:lpstr>Generalization</vt:lpstr>
      <vt:lpstr>Generalization</vt:lpstr>
      <vt:lpstr>Generalization</vt:lpstr>
      <vt:lpstr>Inheritance versus Generalization</vt:lpstr>
      <vt:lpstr>CRC Cards</vt:lpstr>
      <vt:lpstr>Creating CRC Cards</vt:lpstr>
      <vt:lpstr>CRC Cards</vt:lpstr>
      <vt:lpstr>CRC Card Example</vt:lpstr>
      <vt:lpstr>CRC Card of a Bad Object Class</vt:lpstr>
      <vt:lpstr>More about Associations</vt:lpstr>
      <vt:lpstr> More on Class Models</vt:lpstr>
      <vt:lpstr>Lecture Key Points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 Methods, UML Origins and OO reminder</dc:title>
  <dc:creator>Steve Fisher</dc:creator>
  <cp:lastModifiedBy>Coope, Sebastian</cp:lastModifiedBy>
  <cp:revision>450</cp:revision>
  <cp:lastPrinted>1998-10-05T17:59:03Z</cp:lastPrinted>
  <dcterms:created xsi:type="dcterms:W3CDTF">1998-04-15T14:00:20Z</dcterms:created>
  <dcterms:modified xsi:type="dcterms:W3CDTF">2023-09-12T17:31:34Z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i4>1</vt:i4>
  </property>
  <property fmtid="{D5CDD505-2E9C-101B-9397-08002B2CF9AE}" pid="3" name="GraphicType">
    <vt:i4>1</vt:i4>
  </property>
  <property fmtid="{D5CDD505-2E9C-101B-9397-08002B2CF9AE}" pid="4" name="Compression">
    <vt:i4>100</vt:i4>
  </property>
  <property fmtid="{D5CDD505-2E9C-101B-9397-08002B2CF9AE}" pid="5" name="ScreenSize">
    <vt:i4>1</vt:i4>
  </property>
  <property fmtid="{D5CDD505-2E9C-101B-9397-08002B2CF9AE}" pid="6" name="ScreenUsage">
    <vt:i4>3</vt:i4>
  </property>
  <property fmtid="{D5CDD505-2E9C-101B-9397-08002B2CF9AE}" pid="7" name="MailAddress">
    <vt:lpwstr>travasso@cs.umd.edu</vt:lpwstr>
  </property>
  <property fmtid="{D5CDD505-2E9C-101B-9397-08002B2CF9AE}" pid="8" name="HomePage">
    <vt:lpwstr/>
  </property>
  <property fmtid="{D5CDD505-2E9C-101B-9397-08002B2CF9AE}" pid="9" name="Other">
    <vt:lpwstr/>
  </property>
  <property fmtid="{D5CDD505-2E9C-101B-9397-08002B2CF9AE}" pid="10" name="DownloadOriginal">
    <vt:bool>false</vt:bool>
  </property>
  <property fmtid="{D5CDD505-2E9C-101B-9397-08002B2CF9AE}" pid="11" name="DownloadIEButton">
    <vt:bool>false</vt:bool>
  </property>
  <property fmtid="{D5CDD505-2E9C-101B-9397-08002B2CF9AE}" pid="12" name="UseBrowserColor">
    <vt:bool>true</vt:bool>
  </property>
  <property fmtid="{D5CDD505-2E9C-101B-9397-08002B2CF9AE}" pid="13" name="BackColor">
    <vt:i4>15132390</vt:i4>
  </property>
  <property fmtid="{D5CDD505-2E9C-101B-9397-08002B2CF9AE}" pid="14" name="TextColor">
    <vt:i4>0</vt:i4>
  </property>
  <property fmtid="{D5CDD505-2E9C-101B-9397-08002B2CF9AE}" pid="15" name="LinkColor">
    <vt:i4>16711782</vt:i4>
  </property>
  <property fmtid="{D5CDD505-2E9C-101B-9397-08002B2CF9AE}" pid="16" name="VisitedColor">
    <vt:i4>10040268</vt:i4>
  </property>
  <property fmtid="{D5CDD505-2E9C-101B-9397-08002B2CF9AE}" pid="17" name="TransparentButton">
    <vt:i4>0</vt:i4>
  </property>
  <property fmtid="{D5CDD505-2E9C-101B-9397-08002B2CF9AE}" pid="18" name="ButtonType">
    <vt:i4>3</vt:i4>
  </property>
  <property fmtid="{D5CDD505-2E9C-101B-9397-08002B2CF9AE}" pid="19" name="ShowNotes">
    <vt:bool>false</vt:bool>
  </property>
  <property fmtid="{D5CDD505-2E9C-101B-9397-08002B2CF9AE}" pid="20" name="NavBtnPos">
    <vt:i4>3</vt:i4>
  </property>
  <property fmtid="{D5CDD505-2E9C-101B-9397-08002B2CF9AE}" pid="21" name="OutputDir">
    <vt:lpwstr>C:\ght\Courses</vt:lpwstr>
  </property>
</Properties>
</file>