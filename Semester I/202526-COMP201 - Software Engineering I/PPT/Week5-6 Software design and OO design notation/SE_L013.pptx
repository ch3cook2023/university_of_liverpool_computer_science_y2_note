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295" r:id="rId2"/>
    <p:sldId id="257" r:id="rId3"/>
    <p:sldId id="307" r:id="rId4"/>
    <p:sldId id="308" r:id="rId5"/>
    <p:sldId id="305" r:id="rId6"/>
    <p:sldId id="306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81" r:id="rId16"/>
    <p:sldId id="266" r:id="rId17"/>
    <p:sldId id="267" r:id="rId18"/>
    <p:sldId id="268" r:id="rId19"/>
    <p:sldId id="269" r:id="rId20"/>
    <p:sldId id="297" r:id="rId21"/>
    <p:sldId id="270" r:id="rId22"/>
    <p:sldId id="271" r:id="rId23"/>
    <p:sldId id="272" r:id="rId24"/>
    <p:sldId id="273" r:id="rId25"/>
    <p:sldId id="274" r:id="rId26"/>
    <p:sldId id="275" r:id="rId27"/>
    <p:sldId id="302" r:id="rId28"/>
    <p:sldId id="301" r:id="rId29"/>
    <p:sldId id="298" r:id="rId30"/>
    <p:sldId id="309" r:id="rId31"/>
    <p:sldId id="299" r:id="rId32"/>
    <p:sldId id="300" r:id="rId33"/>
    <p:sldId id="303" r:id="rId34"/>
  </p:sldIdLst>
  <p:sldSz cx="9906000" cy="6858000" type="A4"/>
  <p:notesSz cx="6769100" cy="9906000"/>
  <p:defaultTextStyle>
    <a:defPPr>
      <a:defRPr lang="en-GB"/>
    </a:defPPr>
    <a:lvl1pPr algn="l" rtl="0" fontAlgn="base">
      <a:lnSpc>
        <a:spcPct val="90000"/>
      </a:lnSpc>
      <a:spcBef>
        <a:spcPct val="20000"/>
      </a:spcBef>
      <a:spcAft>
        <a:spcPct val="0"/>
      </a:spcAft>
      <a:buChar char="•"/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har char="•"/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har char="•"/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har char="•"/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har char="•"/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660033"/>
    <a:srgbClr val="FF9900"/>
    <a:srgbClr val="9933FF"/>
    <a:srgbClr val="FF0000"/>
    <a:srgbClr val="00FF00"/>
    <a:srgbClr val="CC99FF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77" d="100"/>
          <a:sy n="77" d="100"/>
        </p:scale>
        <p:origin x="72" y="341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-1699" y="-67"/>
      </p:cViewPr>
      <p:guideLst>
        <p:guide orient="horz" pos="3120"/>
        <p:guide pos="21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4.xml"/><Relationship Id="rId13" Type="http://schemas.openxmlformats.org/officeDocument/2006/relationships/slide" Target="slides/slide23.xml"/><Relationship Id="rId3" Type="http://schemas.openxmlformats.org/officeDocument/2006/relationships/slide" Target="slides/slide7.xml"/><Relationship Id="rId7" Type="http://schemas.openxmlformats.org/officeDocument/2006/relationships/slide" Target="slides/slide13.xml"/><Relationship Id="rId12" Type="http://schemas.openxmlformats.org/officeDocument/2006/relationships/slide" Target="slides/slide22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12.xml"/><Relationship Id="rId11" Type="http://schemas.openxmlformats.org/officeDocument/2006/relationships/slide" Target="slides/slide21.xml"/><Relationship Id="rId5" Type="http://schemas.openxmlformats.org/officeDocument/2006/relationships/slide" Target="slides/slide11.xml"/><Relationship Id="rId15" Type="http://schemas.openxmlformats.org/officeDocument/2006/relationships/slide" Target="slides/slide26.xml"/><Relationship Id="rId10" Type="http://schemas.openxmlformats.org/officeDocument/2006/relationships/slide" Target="slides/slide17.xml"/><Relationship Id="rId4" Type="http://schemas.openxmlformats.org/officeDocument/2006/relationships/slide" Target="slides/slide8.xml"/><Relationship Id="rId9" Type="http://schemas.openxmlformats.org/officeDocument/2006/relationships/slide" Target="slides/slide16.xml"/><Relationship Id="rId14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5400" y="0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endParaRPr lang="en-GB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0700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endParaRPr lang="en-GB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5400" y="9410700"/>
            <a:ext cx="29337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fld id="{5F24032A-EDDF-4D55-A882-12B01013CBD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2649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000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endParaRPr lang="en-GB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5325" y="762000"/>
            <a:ext cx="539115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0000" y="937260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fld id="{9BBE5E94-BE46-46D8-86D4-47EEA0394A0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4274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70DF06-4775-4E82-8772-90B18856C867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E5E94-BE46-46D8-86D4-47EEA0394A02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0966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77850" y="1371600"/>
            <a:ext cx="8505952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77850" y="3228536"/>
            <a:ext cx="8509254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548" y="1316736"/>
            <a:ext cx="84201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4548" y="2704664"/>
            <a:ext cx="84201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704088"/>
            <a:ext cx="89154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920085"/>
            <a:ext cx="437515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920085"/>
            <a:ext cx="437515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704088"/>
            <a:ext cx="89154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855248"/>
            <a:ext cx="4376870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032111" y="1859758"/>
            <a:ext cx="4378590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95300" y="2514600"/>
            <a:ext cx="4376870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514600"/>
            <a:ext cx="4378590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704088"/>
            <a:ext cx="899795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514352"/>
            <a:ext cx="29718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42950" y="1676400"/>
            <a:ext cx="29718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872971" y="1676400"/>
            <a:ext cx="5537729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429566" y="1108077"/>
            <a:ext cx="569595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671145" y="5359769"/>
            <a:ext cx="168402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1176997"/>
            <a:ext cx="2397252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0400" y="2828785"/>
            <a:ext cx="239395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50300" y="6356351"/>
            <a:ext cx="6604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776276" y="1199517"/>
            <a:ext cx="500253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0319" y="5816600"/>
            <a:ext cx="9926638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746625" y="6219826"/>
            <a:ext cx="5159375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914402"/>
            <a:ext cx="222885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914402"/>
            <a:ext cx="652145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7/22/2009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0319" y="-7144"/>
            <a:ext cx="9926638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746625" y="-7144"/>
            <a:ext cx="5159375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95300" y="571480"/>
            <a:ext cx="8915400" cy="857256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95300" y="1935480"/>
            <a:ext cx="89154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/>
              <a:t>7/22/2009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889250" y="6356351"/>
            <a:ext cx="36322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r>
              <a:rPr kumimoji="0" lang="en-US">
                <a:solidFill>
                  <a:schemeClr val="tx2">
                    <a:shade val="90000"/>
                  </a:schemeClr>
                </a:solidFill>
              </a:rPr>
              <a:t>COMP201 - Software Engineering</a:t>
            </a:r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585200" y="6356351"/>
            <a:ext cx="8255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20602" y="202408"/>
            <a:ext cx="9945594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  <p:sp>
        <p:nvSpPr>
          <p:cNvPr id="26" name="Rectangle 17"/>
          <p:cNvSpPr>
            <a:spLocks noChangeArrowheads="1"/>
          </p:cNvSpPr>
          <p:nvPr userDrawn="1"/>
        </p:nvSpPr>
        <p:spPr bwMode="auto">
          <a:xfrm>
            <a:off x="947738" y="6434138"/>
            <a:ext cx="8120062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sz="1200" b="0" dirty="0">
                <a:solidFill>
                  <a:schemeClr val="tx2"/>
                </a:solidFill>
                <a:latin typeface="Times" pitchFamily="18" charset="0"/>
              </a:rPr>
              <a:t> 					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c.liv.ac.uk/~pbell/comp201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571480"/>
            <a:ext cx="8420100" cy="1643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Engineering</a:t>
            </a:r>
            <a:b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 201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9938" y="2373313"/>
            <a:ext cx="8585200" cy="3265487"/>
          </a:xfrm>
        </p:spPr>
        <p:txBody>
          <a:bodyPr>
            <a:normAutofit fontScale="85000" lnSpcReduction="20000"/>
          </a:bodyPr>
          <a:lstStyle/>
          <a:p>
            <a:r>
              <a:rPr lang="en-GB" sz="2800" dirty="0"/>
              <a:t>Lecturer: </a:t>
            </a:r>
            <a:r>
              <a:rPr lang="en-GB" sz="2800" b="1" dirty="0"/>
              <a:t>Sebastian </a:t>
            </a:r>
            <a:r>
              <a:rPr lang="en-GB" sz="2800" b="1" dirty="0" err="1"/>
              <a:t>Coope</a:t>
            </a:r>
            <a:endParaRPr lang="en-GB" sz="2800" b="1" dirty="0"/>
          </a:p>
          <a:p>
            <a:r>
              <a:rPr lang="en-GB" sz="2800" i="1" dirty="0"/>
              <a:t>Ashton Building, Room G.18</a:t>
            </a:r>
          </a:p>
          <a:p>
            <a:r>
              <a:rPr lang="en-GB" sz="2800" i="1" dirty="0"/>
              <a:t>E-mail: </a:t>
            </a:r>
            <a:r>
              <a:rPr lang="en-GB" sz="2800" b="1" i="1" dirty="0"/>
              <a:t>coopes@liverpool.ac.uk </a:t>
            </a:r>
          </a:p>
          <a:p>
            <a:endParaRPr lang="en-GB" sz="2400" b="1" i="1" dirty="0"/>
          </a:p>
          <a:p>
            <a:r>
              <a:rPr lang="en-GB" sz="2800" b="1" dirty="0"/>
              <a:t>COMP 201 web-page:</a:t>
            </a:r>
          </a:p>
          <a:p>
            <a:r>
              <a:rPr lang="en-GB" sz="2400" b="1" dirty="0"/>
              <a:t>http://www.csc.liv.ac.uk/~coopes/comp201</a:t>
            </a:r>
          </a:p>
          <a:p>
            <a:r>
              <a:rPr lang="en-GB" sz="2000" b="1" dirty="0">
                <a:hlinkClick r:id="rId3"/>
              </a:rPr>
              <a:t>http://www.csc.liv.ac.uk/~pbell/comp201.html</a:t>
            </a:r>
            <a:endParaRPr lang="en-GB" sz="2800" u="sng" dirty="0"/>
          </a:p>
          <a:p>
            <a:pPr eaLnBrk="1" hangingPunct="1"/>
            <a:endParaRPr lang="en-GB" sz="2800" u="sng" dirty="0"/>
          </a:p>
          <a:p>
            <a:pPr eaLnBrk="1" hangingPunct="1"/>
            <a:r>
              <a:rPr lang="en-GB" sz="2800" u="sng" dirty="0"/>
              <a:t>Lecture 13 – Design Methodology</a:t>
            </a:r>
          </a:p>
          <a:p>
            <a:pPr eaLnBrk="1" hangingPunct="1"/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Software Design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742950" y="2743200"/>
            <a:ext cx="8420100" cy="2362200"/>
          </a:xfrm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en-US" sz="4000" dirty="0"/>
              <a:t>Deriving a solution which satisfies software requirements</a:t>
            </a:r>
            <a:endParaRPr lang="en-GB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Design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088" y="1412776"/>
            <a:ext cx="8915400" cy="1061472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You have 4 developers</a:t>
            </a:r>
          </a:p>
          <a:p>
            <a:r>
              <a:rPr lang="en-GB" dirty="0"/>
              <a:t>You have a 500 page requirements specification</a:t>
            </a:r>
          </a:p>
          <a:p>
            <a:r>
              <a:rPr lang="en-GB" dirty="0"/>
              <a:t>How to control break up the work?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</a:t>
            </a:fld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488504" y="2924944"/>
            <a:ext cx="2232248" cy="13681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>
                <a:solidFill>
                  <a:schemeClr val="tx1"/>
                </a:solidFill>
              </a:rPr>
              <a:t>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3120" y="3036007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Class1</a:t>
            </a:r>
          </a:p>
        </p:txBody>
      </p:sp>
      <p:sp>
        <p:nvSpPr>
          <p:cNvPr id="9" name="Rectangle 8"/>
          <p:cNvSpPr/>
          <p:nvPr/>
        </p:nvSpPr>
        <p:spPr>
          <a:xfrm>
            <a:off x="7295753" y="3032956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19889" y="3032956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1617" y="3645024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25444" y="3655225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53747" y="3655225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3120" y="4257092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95753" y="4905164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7953" y="4869160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53747" y="4905164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06766" y="4257092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53747" y="4257092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2480" y="4581128"/>
            <a:ext cx="21602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Developer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480" y="5139190"/>
            <a:ext cx="21602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Developer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2480" y="5697252"/>
            <a:ext cx="21602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Developer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2480" y="6255314"/>
            <a:ext cx="216024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Developer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32720" y="4558562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40832" y="4545124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0952" y="4545124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89101" y="5675151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41229" y="5675151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93357" y="5675151"/>
            <a:ext cx="1152128" cy="540060"/>
          </a:xfrm>
          <a:prstGeom prst="rect">
            <a:avLst/>
          </a:prstGeom>
          <a:solidFill>
            <a:srgbClr val="008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GB" dirty="0"/>
              <a:t>Class9</a:t>
            </a:r>
          </a:p>
        </p:txBody>
      </p:sp>
    </p:spTree>
    <p:extLst>
      <p:ext uri="{BB962C8B-B14F-4D97-AF65-F5344CB8AC3E}">
        <p14:creationId xmlns:p14="http://schemas.microsoft.com/office/powerpoint/2010/main" val="393588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6FE7-EB64-1920-94B6-52EC4C049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aspects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37947-CD9D-7A7C-76B6-8CFBB15F3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Each developer must not overlap/duplicate functionality</a:t>
            </a:r>
          </a:p>
          <a:p>
            <a:r>
              <a:rPr lang="en-GB" dirty="0"/>
              <a:t>If one piece of code writing to store (database) another reading</a:t>
            </a:r>
          </a:p>
          <a:p>
            <a:pPr lvl="1"/>
            <a:r>
              <a:rPr lang="en-GB" dirty="0"/>
              <a:t>They have to agree on database format, agree to table names and table column names and types</a:t>
            </a:r>
          </a:p>
          <a:p>
            <a:pPr lvl="1"/>
            <a:r>
              <a:rPr lang="en-GB" dirty="0"/>
              <a:t>One solution use object database mapping software ORM (like Hibernate)</a:t>
            </a:r>
          </a:p>
          <a:p>
            <a:r>
              <a:rPr lang="en-GB" dirty="0"/>
              <a:t>Interfaces between code should be decided as part of design process</a:t>
            </a:r>
          </a:p>
          <a:p>
            <a:pPr lvl="1"/>
            <a:r>
              <a:rPr lang="en-GB" dirty="0"/>
              <a:t>In java you can use Java interface definition to do this before classes are written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97FC2-153A-8950-3C41-44A01E3E8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DE87C-1B42-A6A9-E758-B6C1D9D98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75940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700808"/>
            <a:ext cx="8915400" cy="438912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Why</a:t>
            </a:r>
          </a:p>
          <a:p>
            <a:pPr lvl="1"/>
            <a:r>
              <a:rPr lang="en-GB" dirty="0"/>
              <a:t>Software is produced by many people</a:t>
            </a:r>
          </a:p>
          <a:p>
            <a:pPr lvl="1"/>
            <a:r>
              <a:rPr lang="en-GB" dirty="0"/>
              <a:t>Software needs to be</a:t>
            </a:r>
          </a:p>
          <a:p>
            <a:pPr lvl="2"/>
            <a:r>
              <a:rPr lang="en-GB" dirty="0"/>
              <a:t>Simple</a:t>
            </a:r>
          </a:p>
          <a:p>
            <a:pPr lvl="2"/>
            <a:r>
              <a:rPr lang="en-GB" dirty="0"/>
              <a:t>Understandable</a:t>
            </a:r>
          </a:p>
          <a:p>
            <a:pPr lvl="2"/>
            <a:r>
              <a:rPr lang="en-GB" dirty="0"/>
              <a:t>Flexible</a:t>
            </a:r>
          </a:p>
          <a:p>
            <a:pPr lvl="2"/>
            <a:r>
              <a:rPr lang="en-GB" dirty="0"/>
              <a:t>Portable</a:t>
            </a:r>
          </a:p>
          <a:p>
            <a:pPr lvl="2"/>
            <a:r>
              <a:rPr lang="en-GB" dirty="0"/>
              <a:t>Re-usable</a:t>
            </a:r>
          </a:p>
          <a:p>
            <a:r>
              <a:rPr lang="en-GB" dirty="0"/>
              <a:t>How</a:t>
            </a:r>
          </a:p>
          <a:p>
            <a:pPr lvl="1"/>
            <a:r>
              <a:rPr lang="en-GB" dirty="0"/>
              <a:t>Complex to simple </a:t>
            </a:r>
          </a:p>
          <a:p>
            <a:pPr lvl="1"/>
            <a:r>
              <a:rPr lang="en-GB" dirty="0"/>
              <a:t>Abstraction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630092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Design in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Design mixed with implementation</a:t>
            </a:r>
          </a:p>
          <a:p>
            <a:r>
              <a:rPr lang="en-GB" dirty="0"/>
              <a:t>Design step 1</a:t>
            </a:r>
          </a:p>
          <a:p>
            <a:pPr lvl="1"/>
            <a:r>
              <a:rPr lang="en-GB" dirty="0"/>
              <a:t>Implement and add more design</a:t>
            </a:r>
          </a:p>
          <a:p>
            <a:r>
              <a:rPr lang="en-GB" dirty="0"/>
              <a:t>Design step 2</a:t>
            </a:r>
          </a:p>
          <a:p>
            <a:pPr lvl="1"/>
            <a:r>
              <a:rPr lang="en-GB" dirty="0"/>
              <a:t>Implement and add more design</a:t>
            </a:r>
          </a:p>
          <a:p>
            <a:endParaRPr lang="en-GB" dirty="0"/>
          </a:p>
          <a:p>
            <a:r>
              <a:rPr lang="en-GB" dirty="0"/>
              <a:t>In effect much of software is designed while coded and the design document doesn’t reflect the final product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51259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428604"/>
            <a:ext cx="8915400" cy="857256"/>
          </a:xfrm>
        </p:spPr>
        <p:txBody>
          <a:bodyPr/>
          <a:lstStyle/>
          <a:p>
            <a:r>
              <a:rPr lang="en-US" dirty="0"/>
              <a:t>Stages of Design</a:t>
            </a:r>
            <a:endParaRPr lang="en-GB" dirty="0"/>
          </a:p>
        </p:txBody>
      </p:sp>
      <p:sp>
        <p:nvSpPr>
          <p:cNvPr id="33796" name="Rectangle 4"/>
          <p:cNvSpPr>
            <a:spLocks noGrp="1" noChangeArrowheads="1"/>
          </p:cNvSpPr>
          <p:nvPr>
            <p:ph idx="1"/>
          </p:nvPr>
        </p:nvSpPr>
        <p:spPr>
          <a:xfrm>
            <a:off x="166654" y="1500174"/>
            <a:ext cx="9296400" cy="5000660"/>
          </a:xfrm>
          <a:noFill/>
          <a:ln/>
        </p:spPr>
        <p:txBody>
          <a:bodyPr lIns="90488" tIns="44450" rIns="90488" bIns="44450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3"/>
                </a:solidFill>
              </a:rPr>
              <a:t>Problem understanding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Look at the problem from different angles to discover the </a:t>
            </a:r>
            <a:br>
              <a:rPr lang="en-US" sz="2600" dirty="0"/>
            </a:br>
            <a:r>
              <a:rPr lang="en-US" sz="2600" dirty="0"/>
              <a:t>design requirements.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3"/>
                </a:solidFill>
              </a:rPr>
              <a:t>Identify one or more solutions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Evaluate possible solutions and choose the most appropriate depending on the designer's experience and available resources.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3"/>
                </a:solidFill>
              </a:rPr>
              <a:t>Describe solution abstractions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Use graphical, formal or other descriptive notations to describe the components of the design.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accent3"/>
                </a:solidFill>
              </a:rPr>
              <a:t>Repeat process for each identified abstraction 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until the design is expressed in primitive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Design Process</a:t>
            </a:r>
            <a:endParaRPr lang="en-GB"/>
          </a:p>
        </p:txBody>
      </p:sp>
      <p:sp>
        <p:nvSpPr>
          <p:cNvPr id="34821" name="Rectangle 5"/>
          <p:cNvSpPr>
            <a:spLocks noGrp="1" noChangeArrowheads="1"/>
          </p:cNvSpPr>
          <p:nvPr>
            <p:ph idx="1"/>
          </p:nvPr>
        </p:nvSpPr>
        <p:spPr>
          <a:xfrm>
            <a:off x="381000" y="1905000"/>
            <a:ext cx="9067800" cy="4114800"/>
          </a:xfrm>
          <a:noFill/>
          <a:ln/>
        </p:spPr>
        <p:txBody>
          <a:bodyPr lIns="90488" tIns="44450" rIns="90488" bIns="4445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</a:rPr>
              <a:t>Any design may be modeled as a directed graph</a:t>
            </a:r>
            <a:r>
              <a:rPr lang="en-US" sz="2800" dirty="0"/>
              <a:t> made up of entities with attributes which participate in relationships.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The system should be described at several different levels of abstraction.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accent2"/>
                </a:solidFill>
              </a:rPr>
              <a:t>Design takes place in overlapping stages.</a:t>
            </a:r>
            <a:r>
              <a:rPr lang="en-US" sz="2800" dirty="0"/>
              <a:t> It is artificial to separate it into distinct phases but some separation is usually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704088"/>
            <a:ext cx="8997950" cy="86752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Phases in the Design Process</a:t>
            </a:r>
            <a:endParaRPr lang="en-GB" sz="4000" dirty="0"/>
          </a:p>
        </p:txBody>
      </p:sp>
      <p:pic>
        <p:nvPicPr>
          <p:cNvPr id="35843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0256" y="2032000"/>
            <a:ext cx="8851900" cy="34623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704088"/>
            <a:ext cx="8997950" cy="796086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Design Phases</a:t>
            </a:r>
            <a:endParaRPr lang="en-GB" sz="4000" dirty="0"/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238092" y="1885968"/>
            <a:ext cx="9539444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100000"/>
              </a:lnSpc>
            </a:pPr>
            <a:r>
              <a:rPr lang="en-US" sz="2800" i="1" dirty="0">
                <a:solidFill>
                  <a:srgbClr val="660033"/>
                </a:solidFill>
                <a:latin typeface="+mn-lt"/>
              </a:rPr>
              <a:t>Architectural design</a:t>
            </a:r>
            <a:r>
              <a:rPr lang="en-US" sz="2800" i="1" dirty="0">
                <a:latin typeface="+mn-lt"/>
              </a:rPr>
              <a:t>:</a:t>
            </a:r>
            <a:r>
              <a:rPr lang="en-US" sz="2800" b="0" dirty="0">
                <a:latin typeface="+mn-lt"/>
              </a:rPr>
              <a:t> Identify sub-systems (what parts)</a:t>
            </a:r>
          </a:p>
          <a:p>
            <a:pPr marL="342900" indent="-342900">
              <a:lnSpc>
                <a:spcPct val="100000"/>
              </a:lnSpc>
            </a:pPr>
            <a:r>
              <a:rPr lang="en-US" sz="2800" i="1" dirty="0">
                <a:solidFill>
                  <a:srgbClr val="660033"/>
                </a:solidFill>
                <a:latin typeface="+mn-lt"/>
              </a:rPr>
              <a:t>Abstract specification</a:t>
            </a:r>
            <a:r>
              <a:rPr lang="en-US" sz="2800" i="1" dirty="0">
                <a:latin typeface="+mn-lt"/>
              </a:rPr>
              <a:t>:</a:t>
            </a:r>
            <a:r>
              <a:rPr lang="en-US" sz="2800" b="0" i="1" dirty="0">
                <a:latin typeface="+mn-lt"/>
              </a:rPr>
              <a:t> </a:t>
            </a:r>
            <a:r>
              <a:rPr lang="en-US" sz="2800" b="0" dirty="0">
                <a:latin typeface="+mn-lt"/>
              </a:rPr>
              <a:t>Specify sub-systems (what do they do)</a:t>
            </a:r>
          </a:p>
          <a:p>
            <a:pPr marL="342900" indent="-342900">
              <a:lnSpc>
                <a:spcPct val="100000"/>
              </a:lnSpc>
            </a:pPr>
            <a:r>
              <a:rPr lang="en-US" sz="2800" i="1" dirty="0">
                <a:solidFill>
                  <a:srgbClr val="660033"/>
                </a:solidFill>
                <a:latin typeface="+mn-lt"/>
              </a:rPr>
              <a:t>Interface design</a:t>
            </a:r>
            <a:r>
              <a:rPr lang="en-US" sz="2800" i="1" dirty="0">
                <a:latin typeface="+mn-lt"/>
              </a:rPr>
              <a:t>:</a:t>
            </a:r>
            <a:r>
              <a:rPr lang="en-US" sz="2800" b="0" i="1" dirty="0">
                <a:latin typeface="+mn-lt"/>
              </a:rPr>
              <a:t> </a:t>
            </a:r>
            <a:r>
              <a:rPr lang="en-US" sz="2800" b="0" dirty="0">
                <a:latin typeface="+mn-lt"/>
              </a:rPr>
              <a:t>Describe sub-system interfaces (web interface typically, using XML or JSON</a:t>
            </a:r>
          </a:p>
          <a:p>
            <a:pPr marL="342900" indent="-342900">
              <a:lnSpc>
                <a:spcPct val="100000"/>
              </a:lnSpc>
            </a:pPr>
            <a:r>
              <a:rPr lang="en-US" sz="2800" i="1" dirty="0">
                <a:solidFill>
                  <a:srgbClr val="660033"/>
                </a:solidFill>
                <a:latin typeface="+mn-lt"/>
              </a:rPr>
              <a:t>Component design</a:t>
            </a:r>
            <a:r>
              <a:rPr lang="en-US" sz="2800" i="1" dirty="0">
                <a:latin typeface="+mn-lt"/>
              </a:rPr>
              <a:t>:</a:t>
            </a:r>
            <a:r>
              <a:rPr lang="en-US" sz="2800" b="0" i="1" dirty="0">
                <a:latin typeface="+mn-lt"/>
              </a:rPr>
              <a:t> </a:t>
            </a:r>
            <a:r>
              <a:rPr lang="en-US" sz="2800" b="0" dirty="0">
                <a:latin typeface="+mn-lt"/>
              </a:rPr>
              <a:t>Decompose sub-systems into components (in OO this can be classes)</a:t>
            </a:r>
          </a:p>
          <a:p>
            <a:pPr marL="342900" indent="-342900">
              <a:lnSpc>
                <a:spcPct val="100000"/>
              </a:lnSpc>
            </a:pPr>
            <a:r>
              <a:rPr lang="en-US" sz="2800" i="1" dirty="0">
                <a:solidFill>
                  <a:srgbClr val="660033"/>
                </a:solidFill>
                <a:latin typeface="+mn-lt"/>
              </a:rPr>
              <a:t>Data structure design</a:t>
            </a:r>
            <a:r>
              <a:rPr lang="en-US" sz="2800" i="1" dirty="0">
                <a:latin typeface="+mn-lt"/>
              </a:rPr>
              <a:t>:</a:t>
            </a:r>
            <a:r>
              <a:rPr lang="en-US" sz="2800" b="0" dirty="0">
                <a:latin typeface="+mn-lt"/>
              </a:rPr>
              <a:t> Design data structures to hold problem data (database tables and classes)</a:t>
            </a:r>
          </a:p>
          <a:p>
            <a:pPr marL="342900" indent="-342900">
              <a:lnSpc>
                <a:spcPct val="100000"/>
              </a:lnSpc>
            </a:pPr>
            <a:r>
              <a:rPr lang="en-US" sz="2800" i="1" dirty="0">
                <a:solidFill>
                  <a:srgbClr val="660033"/>
                </a:solidFill>
                <a:latin typeface="+mn-lt"/>
              </a:rPr>
              <a:t>Algorithm design</a:t>
            </a:r>
            <a:r>
              <a:rPr lang="en-US" sz="2800" i="1" dirty="0">
                <a:latin typeface="+mn-lt"/>
              </a:rPr>
              <a:t>:</a:t>
            </a:r>
            <a:r>
              <a:rPr lang="en-US" sz="2800" b="0" dirty="0">
                <a:latin typeface="+mn-lt"/>
              </a:rPr>
              <a:t> Design algorithms for problem functions.</a:t>
            </a:r>
            <a:endParaRPr lang="en-US" sz="3200" b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452406" y="1714488"/>
            <a:ext cx="8996394" cy="4381512"/>
          </a:xfrm>
        </p:spPr>
        <p:txBody>
          <a:bodyPr/>
          <a:lstStyle/>
          <a:p>
            <a:r>
              <a:rPr lang="en-GB" sz="2800" dirty="0"/>
              <a:t>Computer systems are not monolithic: they are usually composed of multiple, interacting modules.</a:t>
            </a:r>
          </a:p>
          <a:p>
            <a:r>
              <a:rPr lang="en-GB" sz="2800" b="1" dirty="0">
                <a:solidFill>
                  <a:schemeClr val="accent3"/>
                </a:solidFill>
              </a:rPr>
              <a:t>Modularity</a:t>
            </a:r>
            <a:r>
              <a:rPr lang="en-GB" sz="2800" dirty="0"/>
              <a:t> has long been seen as a key to cheap, high quality software.</a:t>
            </a:r>
          </a:p>
          <a:p>
            <a:r>
              <a:rPr lang="en-GB" sz="2800" dirty="0"/>
              <a:t>The goal of system design is to decode:</a:t>
            </a:r>
          </a:p>
          <a:p>
            <a:pPr lvl="1"/>
            <a:r>
              <a:rPr lang="en-GB" sz="2400" dirty="0"/>
              <a:t>What the modules are;</a:t>
            </a:r>
          </a:p>
          <a:p>
            <a:pPr lvl="1"/>
            <a:r>
              <a:rPr lang="en-GB" sz="2400" dirty="0"/>
              <a:t>What the modules should do;</a:t>
            </a:r>
          </a:p>
          <a:p>
            <a:pPr lvl="1"/>
            <a:r>
              <a:rPr lang="en-GB" sz="2400" dirty="0"/>
              <a:t>How the modules interact with one-another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Modular Programming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In the early days, </a:t>
            </a:r>
            <a:r>
              <a:rPr lang="en-GB" sz="2800" b="1" dirty="0">
                <a:solidFill>
                  <a:schemeClr val="accent2"/>
                </a:solidFill>
              </a:rPr>
              <a:t>modular programming</a:t>
            </a:r>
            <a:r>
              <a:rPr lang="en-GB" sz="2800" dirty="0"/>
              <a:t> was taken to mean constructing programs out of small pieces: “subroutines”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But </a:t>
            </a:r>
            <a:r>
              <a:rPr lang="en-GB" sz="2800" b="1" dirty="0">
                <a:solidFill>
                  <a:schemeClr val="accent2"/>
                </a:solidFill>
              </a:rPr>
              <a:t>modularity</a:t>
            </a:r>
            <a:r>
              <a:rPr lang="en-GB" sz="2800" dirty="0"/>
              <a:t> cannot bring benefits unless the modules are </a:t>
            </a:r>
          </a:p>
          <a:p>
            <a:pPr lvl="1">
              <a:lnSpc>
                <a:spcPct val="90000"/>
              </a:lnSpc>
            </a:pPr>
            <a:r>
              <a:rPr lang="en-GB" sz="2800" dirty="0">
                <a:solidFill>
                  <a:schemeClr val="accent3"/>
                </a:solidFill>
              </a:rPr>
              <a:t>autonomous</a:t>
            </a:r>
            <a:r>
              <a:rPr lang="en-GB" sz="2800" dirty="0"/>
              <a:t>, </a:t>
            </a:r>
          </a:p>
          <a:p>
            <a:pPr lvl="1">
              <a:lnSpc>
                <a:spcPct val="90000"/>
              </a:lnSpc>
            </a:pPr>
            <a:r>
              <a:rPr lang="en-GB" sz="2800" dirty="0">
                <a:solidFill>
                  <a:schemeClr val="accent3"/>
                </a:solidFill>
              </a:rPr>
              <a:t>coherent</a:t>
            </a:r>
            <a:r>
              <a:rPr lang="en-GB" sz="2800" dirty="0"/>
              <a:t> and </a:t>
            </a:r>
          </a:p>
          <a:p>
            <a:pPr lvl="1">
              <a:lnSpc>
                <a:spcPct val="90000"/>
              </a:lnSpc>
            </a:pPr>
            <a:r>
              <a:rPr lang="en-GB" sz="2800" dirty="0">
                <a:solidFill>
                  <a:schemeClr val="accent3"/>
                </a:solidFill>
              </a:rPr>
              <a:t>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Procedural Abstraction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858250" cy="4495800"/>
          </a:xfrm>
        </p:spPr>
        <p:txBody>
          <a:bodyPr>
            <a:normAutofit/>
          </a:bodyPr>
          <a:lstStyle/>
          <a:p>
            <a:r>
              <a:rPr lang="en-GB" sz="2800" dirty="0"/>
              <a:t>The most obvious design methods involve </a:t>
            </a:r>
            <a:r>
              <a:rPr lang="en-GB" sz="2800" b="1" dirty="0">
                <a:solidFill>
                  <a:schemeClr val="accent3"/>
                </a:solidFill>
              </a:rPr>
              <a:t>functional decomposition</a:t>
            </a:r>
            <a:r>
              <a:rPr lang="en-GB" sz="2800" dirty="0">
                <a:solidFill>
                  <a:schemeClr val="accent3"/>
                </a:solidFill>
              </a:rPr>
              <a:t>.</a:t>
            </a:r>
          </a:p>
          <a:p>
            <a:r>
              <a:rPr lang="en-GB" sz="2800" dirty="0"/>
              <a:t>This leads to programs in which </a:t>
            </a:r>
            <a:r>
              <a:rPr lang="en-GB" sz="2800" b="1" dirty="0">
                <a:solidFill>
                  <a:schemeClr val="accent2"/>
                </a:solidFill>
              </a:rPr>
              <a:t>procedures represent distinct logical functions</a:t>
            </a:r>
            <a:r>
              <a:rPr lang="en-GB" sz="2800" dirty="0"/>
              <a:t> in a program.</a:t>
            </a:r>
          </a:p>
          <a:p>
            <a:r>
              <a:rPr lang="en-GB" sz="2800" dirty="0"/>
              <a:t>Examples of such functions:</a:t>
            </a:r>
          </a:p>
          <a:p>
            <a:pPr lvl="1"/>
            <a:r>
              <a:rPr lang="en-GB" sz="2800" dirty="0"/>
              <a:t>“Display menu”</a:t>
            </a:r>
          </a:p>
          <a:p>
            <a:pPr lvl="1"/>
            <a:r>
              <a:rPr lang="en-GB" sz="2800" dirty="0"/>
              <a:t>“Get user option”</a:t>
            </a:r>
          </a:p>
          <a:p>
            <a:r>
              <a:rPr lang="en-GB" sz="2800" dirty="0"/>
              <a:t>This is called </a:t>
            </a:r>
            <a:r>
              <a:rPr lang="en-GB" sz="2800" b="1" dirty="0">
                <a:solidFill>
                  <a:schemeClr val="accent3"/>
                </a:solidFill>
              </a:rPr>
              <a:t>procedural abstraction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Programs as Functions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8915400" cy="3200400"/>
          </a:xfrm>
        </p:spPr>
        <p:txBody>
          <a:bodyPr>
            <a:normAutofit lnSpcReduction="10000"/>
          </a:bodyPr>
          <a:lstStyle/>
          <a:p>
            <a:r>
              <a:rPr lang="en-GB" sz="2800" dirty="0"/>
              <a:t>Another view is programs as functions:</a:t>
            </a:r>
          </a:p>
          <a:p>
            <a:pPr>
              <a:buFontTx/>
              <a:buNone/>
            </a:pPr>
            <a:r>
              <a:rPr lang="en-GB" sz="2800" dirty="0"/>
              <a:t>		                 </a:t>
            </a:r>
            <a:r>
              <a:rPr lang="en-GB" sz="2400" dirty="0"/>
              <a:t>input             output						         </a:t>
            </a:r>
            <a:r>
              <a:rPr lang="en-GB" sz="2400" i="1" dirty="0">
                <a:solidFill>
                  <a:srgbClr val="FF0000"/>
                </a:solidFill>
              </a:rPr>
              <a:t>x</a:t>
            </a:r>
            <a:r>
              <a:rPr lang="en-GB" sz="2400" dirty="0"/>
              <a:t> </a:t>
            </a:r>
            <a:r>
              <a:rPr lang="en-GB" sz="2400" dirty="0">
                <a:sym typeface="Symbol" pitchFamily="18" charset="2"/>
              </a:rPr>
              <a:t>    </a:t>
            </a:r>
            <a:r>
              <a:rPr lang="en-GB" sz="2400" i="1" dirty="0">
                <a:sym typeface="Symbol" pitchFamily="18" charset="2"/>
              </a:rPr>
              <a:t>f</a:t>
            </a:r>
            <a:r>
              <a:rPr lang="en-GB" sz="2400" dirty="0">
                <a:sym typeface="Symbol" pitchFamily="18" charset="2"/>
              </a:rPr>
              <a:t>     </a:t>
            </a:r>
            <a:r>
              <a:rPr lang="en-GB" sz="2400" i="1" dirty="0">
                <a:solidFill>
                  <a:srgbClr val="FF0000"/>
                </a:solidFill>
                <a:sym typeface="Symbol" pitchFamily="18" charset="2"/>
              </a:rPr>
              <a:t>f </a:t>
            </a:r>
            <a:r>
              <a:rPr lang="en-GB" sz="2400" dirty="0">
                <a:solidFill>
                  <a:srgbClr val="FF0000"/>
                </a:solidFill>
                <a:sym typeface="Symbol" pitchFamily="18" charset="2"/>
              </a:rPr>
              <a:t>(</a:t>
            </a:r>
            <a:r>
              <a:rPr lang="en-GB" sz="2400" i="1" dirty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GB" sz="2400" dirty="0">
                <a:solidFill>
                  <a:srgbClr val="FF0000"/>
                </a:solidFill>
                <a:sym typeface="Symbol" pitchFamily="18" charset="2"/>
              </a:rPr>
              <a:t>)</a:t>
            </a:r>
            <a:r>
              <a:rPr lang="en-GB" sz="2400" dirty="0">
                <a:solidFill>
                  <a:srgbClr val="00FF00"/>
                </a:solidFill>
                <a:sym typeface="Symbol" pitchFamily="18" charset="2"/>
              </a:rPr>
              <a:t>				   </a:t>
            </a:r>
          </a:p>
          <a:p>
            <a:pPr>
              <a:buFontTx/>
              <a:buNone/>
            </a:pPr>
            <a:r>
              <a:rPr lang="en-GB" sz="2400" dirty="0">
                <a:solidFill>
                  <a:srgbClr val="00FF00"/>
                </a:solidFill>
                <a:sym typeface="Symbol" pitchFamily="18" charset="2"/>
              </a:rPr>
              <a:t>    </a:t>
            </a:r>
            <a:r>
              <a:rPr lang="en-GB" sz="2800" dirty="0">
                <a:sym typeface="Symbol" pitchFamily="18" charset="2"/>
              </a:rPr>
              <a:t>the program is viewed as a function from a set </a:t>
            </a:r>
            <a:r>
              <a:rPr lang="en-GB" sz="2800" i="1" dirty="0">
                <a:solidFill>
                  <a:srgbClr val="FF0000"/>
                </a:solidFill>
                <a:sym typeface="Symbol" pitchFamily="18" charset="2"/>
              </a:rPr>
              <a:t>I</a:t>
            </a:r>
            <a:r>
              <a:rPr lang="en-GB" sz="2800" dirty="0">
                <a:sym typeface="Symbol" pitchFamily="18" charset="2"/>
              </a:rPr>
              <a:t> of legal inputs to a set </a:t>
            </a:r>
            <a:r>
              <a:rPr lang="en-GB" sz="2800" i="1" dirty="0">
                <a:solidFill>
                  <a:srgbClr val="FF0000"/>
                </a:solidFill>
                <a:sym typeface="Symbol" pitchFamily="18" charset="2"/>
              </a:rPr>
              <a:t>O</a:t>
            </a:r>
            <a:r>
              <a:rPr lang="en-GB" sz="2800" dirty="0">
                <a:sym typeface="Symbol" pitchFamily="18" charset="2"/>
              </a:rPr>
              <a:t> of outputs.</a:t>
            </a:r>
            <a:endParaRPr lang="en-GB" sz="2800" dirty="0"/>
          </a:p>
          <a:p>
            <a:r>
              <a:rPr lang="en-GB" sz="2800" dirty="0"/>
              <a:t>There are programming languages (</a:t>
            </a:r>
            <a:r>
              <a:rPr lang="en-GB" sz="2800" dirty="0">
                <a:solidFill>
                  <a:srgbClr val="9933FF"/>
                </a:solidFill>
              </a:rPr>
              <a:t>ML, Miranda, LISP</a:t>
            </a:r>
            <a:r>
              <a:rPr lang="en-GB" sz="2800" dirty="0"/>
              <a:t>) that directly support this view of programming</a:t>
            </a: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304800" y="5094288"/>
            <a:ext cx="3657600" cy="1089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GB" dirty="0">
                <a:solidFill>
                  <a:schemeClr val="accent3"/>
                </a:solidFill>
              </a:rPr>
              <a:t>Well-suited to certain application domains</a:t>
            </a:r>
            <a:r>
              <a:rPr lang="en-GB" dirty="0"/>
              <a:t>	             - </a:t>
            </a:r>
            <a:r>
              <a:rPr lang="en-GB" b="0" i="1" dirty="0"/>
              <a:t>e.g., compilers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4038600" y="5070475"/>
            <a:ext cx="5562600" cy="1421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</a:pPr>
            <a:r>
              <a:rPr lang="en-GB" dirty="0">
                <a:solidFill>
                  <a:schemeClr val="accent3"/>
                </a:solidFill>
              </a:rPr>
              <a:t>Less well-suited to distributed, non-terminating systems</a:t>
            </a:r>
            <a:r>
              <a:rPr lang="en-GB" dirty="0">
                <a:solidFill>
                  <a:srgbClr val="FF0000"/>
                </a:solidFill>
              </a:rPr>
              <a:t>			           </a:t>
            </a:r>
            <a:r>
              <a:rPr lang="en-GB" b="0" i="1" dirty="0"/>
              <a:t>- e.g., process control systems, operating systems like WinNT, ATM machines</a:t>
            </a:r>
          </a:p>
        </p:txBody>
      </p:sp>
      <p:sp>
        <p:nvSpPr>
          <p:cNvPr id="40966" name="Line 6"/>
          <p:cNvSpPr>
            <a:spLocks noChangeShapeType="1"/>
          </p:cNvSpPr>
          <p:nvPr/>
        </p:nvSpPr>
        <p:spPr bwMode="auto">
          <a:xfrm>
            <a:off x="381000" y="4953000"/>
            <a:ext cx="85344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  <p:bldP spid="4096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Object-Oriented </a:t>
            </a:r>
            <a:r>
              <a:rPr lang="en-US" dirty="0"/>
              <a:t>D</a:t>
            </a:r>
            <a:r>
              <a:rPr lang="en-US" sz="4000" dirty="0"/>
              <a:t>esign</a:t>
            </a:r>
            <a:endParaRPr lang="en-GB" sz="4000" dirty="0"/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309530" y="2003425"/>
            <a:ext cx="9144064" cy="375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buClr>
                <a:schemeClr val="tx1"/>
              </a:buClr>
              <a:buSzPct val="100000"/>
              <a:buFont typeface="Arial" pitchFamily="34" charset="0"/>
              <a:buChar char="•"/>
            </a:pPr>
            <a:r>
              <a:rPr lang="en-US" sz="2800" b="0" dirty="0">
                <a:latin typeface="+mn-lt"/>
              </a:rPr>
              <a:t> The system is viewed as a collection of interacting objects. </a:t>
            </a: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Clr>
                <a:schemeClr val="tx1"/>
              </a:buClr>
              <a:buSzPct val="100000"/>
            </a:pPr>
            <a:r>
              <a:rPr lang="en-US" sz="2800" b="0" dirty="0">
                <a:latin typeface="+mn-lt"/>
              </a:rPr>
              <a:t> The </a:t>
            </a:r>
            <a:r>
              <a:rPr lang="en-US" sz="2800" dirty="0">
                <a:solidFill>
                  <a:schemeClr val="accent2"/>
                </a:solidFill>
                <a:latin typeface="+mn-lt"/>
              </a:rPr>
              <a:t>system state is decentralized</a:t>
            </a:r>
            <a:r>
              <a:rPr lang="en-US" sz="2800" b="0" dirty="0">
                <a:latin typeface="+mn-lt"/>
              </a:rPr>
              <a:t> and each object manages its own state. </a:t>
            </a: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Clr>
                <a:schemeClr val="tx1"/>
              </a:buClr>
              <a:buSzPct val="100000"/>
            </a:pPr>
            <a:r>
              <a:rPr lang="en-US" sz="2800" b="0" dirty="0">
                <a:latin typeface="+mn-lt"/>
              </a:rPr>
              <a:t>Note , use of internal state against functional programming</a:t>
            </a:r>
          </a:p>
          <a:p>
            <a:pPr eaLnBrk="0" hangingPunct="0">
              <a:lnSpc>
                <a:spcPct val="100000"/>
              </a:lnSpc>
              <a:spcBef>
                <a:spcPct val="50000"/>
              </a:spcBef>
              <a:buClr>
                <a:schemeClr val="tx1"/>
              </a:buClr>
              <a:buSzPct val="100000"/>
            </a:pPr>
            <a:r>
              <a:rPr lang="en-US" sz="2800" b="0" dirty="0">
                <a:latin typeface="+mn-lt"/>
              </a:rPr>
              <a:t> Objects may be instances of an object class and communicate by exchanging messages.</a:t>
            </a:r>
          </a:p>
          <a:p>
            <a:pPr>
              <a:spcBef>
                <a:spcPct val="50000"/>
              </a:spcBef>
            </a:pPr>
            <a:endParaRPr lang="en-GB" sz="20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Five Criteria for Design Methods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can identify </a:t>
            </a:r>
            <a:r>
              <a:rPr lang="en-GB" b="1" dirty="0">
                <a:solidFill>
                  <a:srgbClr val="660033"/>
                </a:solidFill>
              </a:rPr>
              <a:t>five criteria</a:t>
            </a:r>
            <a:r>
              <a:rPr lang="en-GB" dirty="0">
                <a:solidFill>
                  <a:srgbClr val="660033"/>
                </a:solidFill>
              </a:rPr>
              <a:t> </a:t>
            </a:r>
            <a:r>
              <a:rPr lang="en-GB" dirty="0"/>
              <a:t>to help evaluate modular design methods:</a:t>
            </a:r>
          </a:p>
          <a:p>
            <a:pPr lvl="1"/>
            <a:r>
              <a:rPr lang="en-GB" dirty="0"/>
              <a:t>Modular </a:t>
            </a:r>
            <a:r>
              <a:rPr lang="en-GB" dirty="0">
                <a:solidFill>
                  <a:schemeClr val="accent3"/>
                </a:solidFill>
              </a:rPr>
              <a:t>decomposability</a:t>
            </a:r>
            <a:r>
              <a:rPr lang="en-GB" dirty="0"/>
              <a:t>;</a:t>
            </a:r>
          </a:p>
          <a:p>
            <a:pPr lvl="1"/>
            <a:r>
              <a:rPr lang="en-GB" dirty="0"/>
              <a:t>Modular </a:t>
            </a:r>
            <a:r>
              <a:rPr lang="en-GB" dirty="0" err="1">
                <a:solidFill>
                  <a:schemeClr val="accent3"/>
                </a:solidFill>
              </a:rPr>
              <a:t>composability</a:t>
            </a:r>
            <a:r>
              <a:rPr lang="en-GB" dirty="0"/>
              <a:t>;</a:t>
            </a:r>
          </a:p>
          <a:p>
            <a:pPr lvl="1"/>
            <a:r>
              <a:rPr lang="en-GB" dirty="0"/>
              <a:t>Modular </a:t>
            </a:r>
            <a:r>
              <a:rPr lang="en-GB" dirty="0" err="1">
                <a:solidFill>
                  <a:schemeClr val="accent3"/>
                </a:solidFill>
              </a:rPr>
              <a:t>understandability</a:t>
            </a:r>
            <a:r>
              <a:rPr lang="en-GB" dirty="0"/>
              <a:t>;</a:t>
            </a:r>
          </a:p>
          <a:p>
            <a:pPr lvl="1"/>
            <a:r>
              <a:rPr lang="en-GB" dirty="0"/>
              <a:t>Modular </a:t>
            </a:r>
            <a:r>
              <a:rPr lang="en-GB" dirty="0">
                <a:solidFill>
                  <a:schemeClr val="accent3"/>
                </a:solidFill>
              </a:rPr>
              <a:t>continuity</a:t>
            </a:r>
            <a:r>
              <a:rPr lang="en-GB" dirty="0"/>
              <a:t>;</a:t>
            </a:r>
          </a:p>
          <a:p>
            <a:pPr lvl="1"/>
            <a:r>
              <a:rPr lang="en-GB" dirty="0"/>
              <a:t>Modular </a:t>
            </a:r>
            <a:r>
              <a:rPr lang="en-GB" dirty="0">
                <a:solidFill>
                  <a:schemeClr val="accent3"/>
                </a:solidFill>
              </a:rPr>
              <a:t>protection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642918"/>
            <a:ext cx="8915400" cy="857256"/>
          </a:xfrm>
        </p:spPr>
        <p:txBody>
          <a:bodyPr/>
          <a:lstStyle/>
          <a:p>
            <a:r>
              <a:rPr lang="en-GB" dirty="0"/>
              <a:t>Modular Decomposability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9154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b="1" dirty="0">
                <a:solidFill>
                  <a:schemeClr val="accent3"/>
                </a:solidFill>
              </a:rPr>
              <a:t>Modular decomposability </a:t>
            </a:r>
            <a:r>
              <a:rPr lang="en-GB" sz="2800" dirty="0"/>
              <a:t>- this criterion is met by a design method if the method supports the decomposition of a problem into smaller sub-problems, which can be solved independently.</a:t>
            </a:r>
          </a:p>
          <a:p>
            <a:pPr>
              <a:lnSpc>
                <a:spcPct val="90000"/>
              </a:lnSpc>
            </a:pPr>
            <a:r>
              <a:rPr lang="en-GB" sz="2800" b="1" dirty="0">
                <a:solidFill>
                  <a:schemeClr val="accent2"/>
                </a:solidFill>
              </a:rPr>
              <a:t>In general, this method will be repetitive</a:t>
            </a:r>
            <a:r>
              <a:rPr lang="en-GB" sz="2800" dirty="0"/>
              <a:t>: sub-problems will be divided still further</a:t>
            </a:r>
          </a:p>
          <a:p>
            <a:pPr>
              <a:lnSpc>
                <a:spcPct val="90000"/>
              </a:lnSpc>
            </a:pPr>
            <a:r>
              <a:rPr lang="en-GB" sz="2800" b="1" dirty="0">
                <a:solidFill>
                  <a:schemeClr val="accent2"/>
                </a:solidFill>
              </a:rPr>
              <a:t>Top-down design methods</a:t>
            </a:r>
            <a:r>
              <a:rPr lang="en-GB" sz="2800" dirty="0"/>
              <a:t> fulfil this criterion; stepwise refinement is an example of such a method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17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704088"/>
            <a:ext cx="8997950" cy="72464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Hierarchical Design Structure</a:t>
            </a:r>
            <a:endParaRPr lang="en-GB" sz="4000" dirty="0"/>
          </a:p>
        </p:txBody>
      </p:sp>
      <p:pic>
        <p:nvPicPr>
          <p:cNvPr id="44035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" y="2006600"/>
            <a:ext cx="8572500" cy="3556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18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704088"/>
            <a:ext cx="8997950" cy="796086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Top-Down Design</a:t>
            </a:r>
            <a:endParaRPr lang="en-GB" sz="4000" dirty="0"/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595282" y="1905000"/>
            <a:ext cx="8772556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100000"/>
              </a:lnSpc>
            </a:pPr>
            <a:r>
              <a:rPr lang="en-US" sz="2800" dirty="0">
                <a:solidFill>
                  <a:schemeClr val="accent3"/>
                </a:solidFill>
                <a:latin typeface="+mn-lt"/>
              </a:rPr>
              <a:t>In principle</a:t>
            </a:r>
            <a:r>
              <a:rPr lang="en-US" sz="2800" b="0" dirty="0">
                <a:latin typeface="+mn-lt"/>
              </a:rPr>
              <a:t>, top-down design involves starting at the uppermost components in the hierarchy and working down the hierarchy level by level.</a:t>
            </a:r>
          </a:p>
          <a:p>
            <a:pPr marL="342900" indent="-342900">
              <a:lnSpc>
                <a:spcPct val="100000"/>
              </a:lnSpc>
            </a:pPr>
            <a:r>
              <a:rPr lang="en-US" sz="2800" dirty="0">
                <a:solidFill>
                  <a:schemeClr val="accent3"/>
                </a:solidFill>
                <a:latin typeface="+mn-lt"/>
              </a:rPr>
              <a:t>In practice</a:t>
            </a:r>
            <a:r>
              <a:rPr lang="en-US" sz="2800" b="0" dirty="0">
                <a:latin typeface="+mn-lt"/>
              </a:rPr>
              <a:t>, large systems design is never truly top-down. Some branches are designed before others. Designers reuse experience (and sometimes components) during the design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19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406" y="714356"/>
            <a:ext cx="8997950" cy="796086"/>
          </a:xfrm>
        </p:spPr>
        <p:txBody>
          <a:bodyPr>
            <a:normAutofit/>
          </a:bodyPr>
          <a:lstStyle/>
          <a:p>
            <a:pPr algn="ctr"/>
            <a:r>
              <a:rPr lang="en-GB" sz="4400" dirty="0"/>
              <a:t>An Example of Top-Down Design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20</a:t>
            </a:fld>
            <a:endParaRPr kumimoji="0" lang="en-US"/>
          </a:p>
        </p:txBody>
      </p:sp>
      <p:sp>
        <p:nvSpPr>
          <p:cNvPr id="5" name="TextBox 4"/>
          <p:cNvSpPr txBox="1"/>
          <p:nvPr/>
        </p:nvSpPr>
        <p:spPr>
          <a:xfrm>
            <a:off x="595282" y="2000240"/>
            <a:ext cx="8786874" cy="336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n-lt"/>
                <a:cs typeface="Times New Roman" pitchFamily="18" charset="0"/>
              </a:rPr>
              <a:t> </a:t>
            </a:r>
            <a:r>
              <a:rPr lang="en-GB" sz="2800" b="0" dirty="0">
                <a:latin typeface="+mn-lt"/>
                <a:cs typeface="Times New Roman" pitchFamily="18" charset="0"/>
              </a:rPr>
              <a:t>Imagine designing a word processor program from scratch. What subsystems could be initially found at the top level?</a:t>
            </a:r>
          </a:p>
          <a:p>
            <a:r>
              <a:rPr lang="en-GB" sz="2800" b="0" dirty="0">
                <a:latin typeface="+mn-lt"/>
                <a:cs typeface="Times New Roman" pitchFamily="18" charset="0"/>
              </a:rPr>
              <a:t> File I/O, printing, graphical user interface, text processing etc.</a:t>
            </a:r>
          </a:p>
          <a:p>
            <a:r>
              <a:rPr lang="en-GB" sz="2800" b="0" dirty="0">
                <a:latin typeface="+mn-lt"/>
                <a:cs typeface="Times New Roman" pitchFamily="18" charset="0"/>
              </a:rPr>
              <a:t> For each of these components we can then decompose further, i.e., File I/O comprises of saving documents and opening documents..</a:t>
            </a:r>
            <a:endParaRPr lang="en-GB" sz="2800" dirty="0">
              <a:latin typeface="+mn-lt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Modular </a:t>
            </a:r>
            <a:r>
              <a:rPr lang="en-GB" dirty="0" err="1"/>
              <a:t>Composability</a:t>
            </a:r>
            <a:endParaRPr lang="en-GB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43050"/>
            <a:ext cx="9067800" cy="45005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b="1" dirty="0">
                <a:solidFill>
                  <a:schemeClr val="accent3"/>
                </a:solidFill>
              </a:rPr>
              <a:t>Modular </a:t>
            </a:r>
            <a:r>
              <a:rPr lang="en-GB" sz="2800" b="1" dirty="0" err="1">
                <a:solidFill>
                  <a:schemeClr val="accent3"/>
                </a:solidFill>
              </a:rPr>
              <a:t>composability</a:t>
            </a:r>
            <a:r>
              <a:rPr lang="en-GB" sz="2800" b="1" dirty="0">
                <a:solidFill>
                  <a:schemeClr val="accent3"/>
                </a:solidFill>
              </a:rPr>
              <a:t> </a:t>
            </a:r>
            <a:r>
              <a:rPr lang="en-GB" sz="2800" dirty="0"/>
              <a:t>- a method satisfies this criterion if it leads to the production of modules that may be freely combined to </a:t>
            </a:r>
            <a:r>
              <a:rPr lang="en-GB" sz="2800" i="1" dirty="0"/>
              <a:t>produce new systems</a:t>
            </a:r>
            <a:r>
              <a:rPr lang="en-GB" sz="2800" dirty="0"/>
              <a:t>.</a:t>
            </a:r>
          </a:p>
          <a:p>
            <a:pPr>
              <a:lnSpc>
                <a:spcPct val="90000"/>
              </a:lnSpc>
            </a:pPr>
            <a:r>
              <a:rPr lang="en-GB" sz="2800" dirty="0" err="1"/>
              <a:t>Composability</a:t>
            </a:r>
            <a:r>
              <a:rPr lang="en-GB" sz="2800" dirty="0"/>
              <a:t> is directly related to the issue of </a:t>
            </a:r>
            <a:r>
              <a:rPr lang="en-GB" sz="2800" b="1" dirty="0"/>
              <a:t>reusability 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Note that </a:t>
            </a:r>
            <a:r>
              <a:rPr lang="en-GB" sz="2800" dirty="0" err="1"/>
              <a:t>composability</a:t>
            </a:r>
            <a:r>
              <a:rPr lang="en-GB" sz="2800" dirty="0"/>
              <a:t> is often at odds with decomposability; top-down design, </a:t>
            </a:r>
          </a:p>
          <a:p>
            <a:pPr lvl="1">
              <a:lnSpc>
                <a:spcPct val="90000"/>
              </a:lnSpc>
            </a:pPr>
            <a:r>
              <a:rPr lang="en-GB" sz="2800" dirty="0">
                <a:solidFill>
                  <a:srgbClr val="660033"/>
                </a:solidFill>
              </a:rPr>
              <a:t>for example, it tends to produce modules that may not be composed in the way desired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This is because top-down design leads to modules which fulfil a specific function, rather than a general one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309530" y="1785926"/>
            <a:ext cx="9001188" cy="453867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>
                <a:solidFill>
                  <a:schemeClr val="accent3"/>
                </a:solidFill>
              </a:rPr>
              <a:t>The Numerical Algorithm Group </a:t>
            </a:r>
            <a:r>
              <a:rPr lang="en-GB" sz="2800" dirty="0"/>
              <a:t>(NAG) libraries contain a wide range of routines for solving problems in linear algebra, differential equations, etc.</a:t>
            </a:r>
          </a:p>
          <a:p>
            <a:pPr>
              <a:lnSpc>
                <a:spcPct val="90000"/>
              </a:lnSpc>
            </a:pPr>
            <a:r>
              <a:rPr lang="en-GB" sz="2800" dirty="0">
                <a:solidFill>
                  <a:schemeClr val="accent3"/>
                </a:solidFill>
              </a:rPr>
              <a:t>The Unix shell provides a facility called a </a:t>
            </a:r>
            <a:r>
              <a:rPr lang="en-GB" sz="2800" b="1" dirty="0">
                <a:solidFill>
                  <a:schemeClr val="accent3"/>
                </a:solidFill>
              </a:rPr>
              <a:t>pipe</a:t>
            </a:r>
            <a:r>
              <a:rPr lang="en-GB" sz="2800" dirty="0"/>
              <a:t>, written “</a:t>
            </a:r>
            <a:r>
              <a:rPr lang="en-GB" sz="2800" dirty="0">
                <a:sym typeface="Symbol" pitchFamily="18" charset="2"/>
              </a:rPr>
              <a:t>|</a:t>
            </a:r>
            <a:r>
              <a:rPr lang="en-GB" sz="2800" dirty="0"/>
              <a:t>”, whereby </a:t>
            </a:r>
          </a:p>
          <a:p>
            <a:pPr lvl="1">
              <a:lnSpc>
                <a:spcPct val="90000"/>
              </a:lnSpc>
            </a:pPr>
            <a:r>
              <a:rPr lang="en-GB" sz="2800" dirty="0"/>
              <a:t>the standard output of one program may be redirected to the standard input of another; this convention favours </a:t>
            </a:r>
            <a:r>
              <a:rPr lang="en-GB" sz="2800" dirty="0" err="1"/>
              <a:t>composability</a:t>
            </a:r>
            <a:r>
              <a:rPr lang="en-GB" sz="28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Modular Understandability 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452406" y="1828800"/>
            <a:ext cx="8710644" cy="4267200"/>
          </a:xfrm>
        </p:spPr>
        <p:txBody>
          <a:bodyPr>
            <a:normAutofit fontScale="92500" lnSpcReduction="20000"/>
          </a:bodyPr>
          <a:lstStyle/>
          <a:p>
            <a:r>
              <a:rPr lang="en-GB" sz="2800" dirty="0">
                <a:solidFill>
                  <a:schemeClr val="accent3"/>
                </a:solidFill>
              </a:rPr>
              <a:t>Abstraction</a:t>
            </a:r>
          </a:p>
          <a:p>
            <a:pPr lvl="1"/>
            <a:r>
              <a:rPr lang="en-GB" dirty="0" err="1">
                <a:solidFill>
                  <a:schemeClr val="accent3"/>
                </a:solidFill>
              </a:rPr>
              <a:t>int</a:t>
            </a:r>
            <a:r>
              <a:rPr lang="en-GB" dirty="0">
                <a:solidFill>
                  <a:schemeClr val="accent3"/>
                </a:solidFill>
              </a:rPr>
              <a:t> A=21</a:t>
            </a:r>
          </a:p>
          <a:p>
            <a:pPr lvl="1"/>
            <a:r>
              <a:rPr lang="en-GB" dirty="0" err="1">
                <a:solidFill>
                  <a:schemeClr val="accent3"/>
                </a:solidFill>
              </a:rPr>
              <a:t>int</a:t>
            </a:r>
            <a:r>
              <a:rPr lang="en-GB" dirty="0">
                <a:solidFill>
                  <a:schemeClr val="accent3"/>
                </a:solidFill>
              </a:rPr>
              <a:t> </a:t>
            </a:r>
            <a:r>
              <a:rPr lang="en-GB" dirty="0" err="1">
                <a:solidFill>
                  <a:schemeClr val="accent3"/>
                </a:solidFill>
              </a:rPr>
              <a:t>age_in_years</a:t>
            </a:r>
            <a:r>
              <a:rPr lang="en-GB" dirty="0">
                <a:solidFill>
                  <a:schemeClr val="accent3"/>
                </a:solidFill>
              </a:rPr>
              <a:t> = 21;     </a:t>
            </a:r>
            <a:r>
              <a:rPr lang="en-GB" dirty="0" err="1">
                <a:solidFill>
                  <a:schemeClr val="accent3"/>
                </a:solidFill>
              </a:rPr>
              <a:t>print_out_document</a:t>
            </a:r>
            <a:r>
              <a:rPr lang="en-GB" dirty="0">
                <a:solidFill>
                  <a:schemeClr val="accent3"/>
                </a:solidFill>
              </a:rPr>
              <a:t>(Document d)</a:t>
            </a:r>
          </a:p>
          <a:p>
            <a:r>
              <a:rPr lang="en-GB" sz="2800" dirty="0">
                <a:solidFill>
                  <a:schemeClr val="accent3"/>
                </a:solidFill>
              </a:rPr>
              <a:t>Modular </a:t>
            </a:r>
            <a:r>
              <a:rPr lang="en-GB" sz="2800" dirty="0" err="1">
                <a:solidFill>
                  <a:schemeClr val="accent3"/>
                </a:solidFill>
              </a:rPr>
              <a:t>Understandability</a:t>
            </a:r>
            <a:r>
              <a:rPr lang="en-GB" sz="2800" dirty="0">
                <a:solidFill>
                  <a:schemeClr val="accent3"/>
                </a:solidFill>
              </a:rPr>
              <a:t> - </a:t>
            </a:r>
            <a:r>
              <a:rPr lang="en-GB" sz="2800" dirty="0"/>
              <a:t>a design method satisfies this criterion if it encourages the development of modules which are easily understandable.</a:t>
            </a:r>
          </a:p>
          <a:p>
            <a:endParaRPr lang="en-GB" sz="2400" dirty="0">
              <a:solidFill>
                <a:srgbClr val="FF0000"/>
              </a:solidFill>
            </a:endParaRPr>
          </a:p>
          <a:p>
            <a:r>
              <a:rPr lang="en-GB" sz="2800" dirty="0">
                <a:solidFill>
                  <a:schemeClr val="accent2"/>
                </a:solidFill>
              </a:rPr>
              <a:t>COUNTER EXAMPLE 1.</a:t>
            </a:r>
            <a:r>
              <a:rPr lang="en-GB" sz="2800" dirty="0"/>
              <a:t> Take a thousand lines program, containing no procedures; it’s just a long list of sequential statements. Divide it into twenty blocks, each fifty statements long; make each block a method.</a:t>
            </a:r>
          </a:p>
          <a:p>
            <a:r>
              <a:rPr lang="en-GB" sz="2800" dirty="0">
                <a:solidFill>
                  <a:schemeClr val="accent2"/>
                </a:solidFill>
              </a:rPr>
              <a:t>COUNTER EXAMPLE 2.</a:t>
            </a:r>
            <a:r>
              <a:rPr lang="en-GB" sz="2800" dirty="0"/>
              <a:t> “Go to” statements.</a:t>
            </a: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23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704088"/>
            <a:ext cx="8997950" cy="724648"/>
          </a:xfrm>
        </p:spPr>
        <p:txBody>
          <a:bodyPr/>
          <a:lstStyle/>
          <a:p>
            <a:pPr algn="ctr"/>
            <a:r>
              <a:rPr lang="en-US" sz="4000" dirty="0"/>
              <a:t>Modular Understandability</a:t>
            </a:r>
            <a:endParaRPr lang="en-GB" dirty="0"/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452406" y="1828800"/>
            <a:ext cx="9072594" cy="43862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100000"/>
              </a:lnSpc>
            </a:pPr>
            <a:r>
              <a:rPr lang="en-US" sz="2800" b="0" dirty="0"/>
              <a:t>Related to several component characteristics</a:t>
            </a:r>
          </a:p>
          <a:p>
            <a:pPr marL="742950" lvl="1" indent="-285750">
              <a:lnSpc>
                <a:spcPct val="100000"/>
              </a:lnSpc>
              <a:buFontTx/>
              <a:buChar char="–"/>
            </a:pPr>
            <a:r>
              <a:rPr lang="en-US" sz="2800" b="0" dirty="0">
                <a:solidFill>
                  <a:schemeClr val="accent3"/>
                </a:solidFill>
              </a:rPr>
              <a:t>Can the component be understood on its own?</a:t>
            </a:r>
          </a:p>
          <a:p>
            <a:pPr marL="742950" lvl="1" indent="-285750">
              <a:lnSpc>
                <a:spcPct val="100000"/>
              </a:lnSpc>
              <a:buFontTx/>
              <a:buChar char="–"/>
            </a:pPr>
            <a:r>
              <a:rPr lang="en-US" sz="2800" b="0" dirty="0">
                <a:solidFill>
                  <a:schemeClr val="accent3"/>
                </a:solidFill>
              </a:rPr>
              <a:t>Are meaningful names used?</a:t>
            </a:r>
          </a:p>
          <a:p>
            <a:pPr marL="742950" lvl="1" indent="-285750">
              <a:lnSpc>
                <a:spcPct val="100000"/>
              </a:lnSpc>
              <a:buFontTx/>
              <a:buChar char="–"/>
            </a:pPr>
            <a:r>
              <a:rPr lang="en-US" sz="2800" b="0" dirty="0">
                <a:solidFill>
                  <a:schemeClr val="accent3"/>
                </a:solidFill>
              </a:rPr>
              <a:t>Is the design well-documented?</a:t>
            </a:r>
          </a:p>
          <a:p>
            <a:pPr marL="742950" lvl="1" indent="-285750">
              <a:lnSpc>
                <a:spcPct val="100000"/>
              </a:lnSpc>
              <a:buFontTx/>
              <a:buChar char="–"/>
            </a:pPr>
            <a:r>
              <a:rPr lang="en-US" sz="2800" b="0" dirty="0">
                <a:solidFill>
                  <a:schemeClr val="accent3"/>
                </a:solidFill>
              </a:rPr>
              <a:t>Are complex algorithms used?</a:t>
            </a:r>
          </a:p>
          <a:p>
            <a:pPr marL="342900" indent="-342900">
              <a:lnSpc>
                <a:spcPct val="100000"/>
              </a:lnSpc>
            </a:pPr>
            <a:r>
              <a:rPr lang="en-US" sz="2800" b="0" dirty="0"/>
              <a:t>Informally, high complexity means many relationships between different parts of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24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Modular Continuity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438150" y="1857364"/>
            <a:ext cx="8872568" cy="4114800"/>
          </a:xfrm>
        </p:spPr>
        <p:txBody>
          <a:bodyPr/>
          <a:lstStyle/>
          <a:p>
            <a:r>
              <a:rPr lang="en-GB" sz="2800" b="1" dirty="0">
                <a:solidFill>
                  <a:schemeClr val="accent3"/>
                </a:solidFill>
              </a:rPr>
              <a:t>Modular continuity </a:t>
            </a:r>
            <a:r>
              <a:rPr lang="en-GB" sz="2800" dirty="0"/>
              <a:t>- a method satisfies this criterion if it leads to the production of software such that a small change in the problem specification leads to a change in just one (or a small number of ) modules.</a:t>
            </a:r>
          </a:p>
          <a:p>
            <a:r>
              <a:rPr lang="en-GB" sz="2800" dirty="0">
                <a:solidFill>
                  <a:schemeClr val="accent2"/>
                </a:solidFill>
              </a:rPr>
              <a:t>EXAMPLE. </a:t>
            </a:r>
            <a:r>
              <a:rPr lang="en-GB" sz="2800" dirty="0"/>
              <a:t>Some projects enforce the rule that no numerical or textual literal should be used in programs: only symbolic constants should be used</a:t>
            </a:r>
          </a:p>
          <a:p>
            <a:r>
              <a:rPr lang="en-GB" sz="2800" dirty="0">
                <a:solidFill>
                  <a:schemeClr val="accent2"/>
                </a:solidFill>
              </a:rPr>
              <a:t>COUNTER EXAMPLE. </a:t>
            </a:r>
            <a:r>
              <a:rPr lang="en-GB" sz="2800" dirty="0"/>
              <a:t>Static  arrays (as opposed to dynamic arrays) make this criterion harder to satisfy.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25</a:t>
            </a:fld>
            <a:endParaRPr kumimoji="0"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642918"/>
            <a:ext cx="8915400" cy="857256"/>
          </a:xfrm>
        </p:spPr>
        <p:txBody>
          <a:bodyPr/>
          <a:lstStyle/>
          <a:p>
            <a:r>
              <a:rPr lang="en-GB" dirty="0"/>
              <a:t>Modular Protection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380968" y="1785926"/>
            <a:ext cx="9144064" cy="4538674"/>
          </a:xfrm>
        </p:spPr>
        <p:txBody>
          <a:bodyPr/>
          <a:lstStyle/>
          <a:p>
            <a:r>
              <a:rPr lang="en-GB" sz="2800" dirty="0">
                <a:solidFill>
                  <a:schemeClr val="accent3"/>
                </a:solidFill>
              </a:rPr>
              <a:t>Modular Protection </a:t>
            </a:r>
            <a:r>
              <a:rPr lang="en-GB" sz="2800" dirty="0"/>
              <a:t>- a method satisfied this criterion if it yields architectures in which the effect of an abnormal condition at run-time only effects one (or very few) modules</a:t>
            </a:r>
          </a:p>
          <a:p>
            <a:r>
              <a:rPr lang="en-GB" sz="2800" dirty="0">
                <a:solidFill>
                  <a:schemeClr val="accent2"/>
                </a:solidFill>
              </a:rPr>
              <a:t>EXAMPLE. </a:t>
            </a:r>
            <a:r>
              <a:rPr lang="en-GB" sz="2800" dirty="0"/>
              <a:t>Validating input at source prevents errors from propagating throughout the program (design by contract)</a:t>
            </a:r>
          </a:p>
          <a:p>
            <a:r>
              <a:rPr lang="en-GB" sz="2800" dirty="0">
                <a:solidFill>
                  <a:schemeClr val="accent2"/>
                </a:solidFill>
              </a:rPr>
              <a:t>COUNTER EXAMPLE. </a:t>
            </a:r>
            <a:r>
              <a:rPr lang="en-GB" sz="2800" dirty="0"/>
              <a:t>Using </a:t>
            </a:r>
            <a:r>
              <a:rPr lang="en-GB" sz="2800" b="1" dirty="0" err="1">
                <a:latin typeface="Calibri" pitchFamily="34" charset="0"/>
              </a:rPr>
              <a:t>int</a:t>
            </a:r>
            <a:r>
              <a:rPr lang="en-GB" sz="2800" dirty="0"/>
              <a:t> types where </a:t>
            </a:r>
            <a:r>
              <a:rPr lang="en-GB" sz="2800" dirty="0" err="1"/>
              <a:t>subrange</a:t>
            </a:r>
            <a:r>
              <a:rPr lang="en-GB" sz="2800" dirty="0"/>
              <a:t> or </a:t>
            </a:r>
            <a:r>
              <a:rPr lang="en-GB" sz="2800" b="1" dirty="0"/>
              <a:t>short</a:t>
            </a:r>
            <a:r>
              <a:rPr lang="en-GB" sz="2800" dirty="0"/>
              <a:t> types are appropriate.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Real Life Example – </a:t>
            </a:r>
            <a:r>
              <a:rPr lang="en-GB" dirty="0" err="1"/>
              <a:t>Ariane</a:t>
            </a:r>
            <a:r>
              <a:rPr lang="en-GB" dirty="0"/>
              <a:t> 5 Flight 501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614" y="1825962"/>
            <a:ext cx="8029600" cy="4389120"/>
          </a:xfrm>
        </p:spPr>
        <p:txBody>
          <a:bodyPr>
            <a:normAutofit/>
          </a:bodyPr>
          <a:lstStyle/>
          <a:p>
            <a:r>
              <a:rPr lang="en-GB" dirty="0"/>
              <a:t>The failure of an </a:t>
            </a:r>
            <a:r>
              <a:rPr lang="en-GB" dirty="0" err="1"/>
              <a:t>Ariane</a:t>
            </a:r>
            <a:r>
              <a:rPr lang="en-GB" dirty="0"/>
              <a:t> 5 space launcher is possibly the most expensive software bug in history at around $370 million.</a:t>
            </a:r>
          </a:p>
          <a:p>
            <a:r>
              <a:rPr lang="en-GB" dirty="0"/>
              <a:t>Other bugs have been even worse by causing loss of life, for example Therac-25 radiation machines.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27</a:t>
            </a:fld>
            <a:endParaRPr kumimoji="0"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/>
              <a:t>Ariane</a:t>
            </a:r>
            <a:r>
              <a:rPr lang="en-GB" dirty="0"/>
              <a:t> 5 Space Launcher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785926"/>
            <a:ext cx="8915400" cy="4389120"/>
          </a:xfrm>
        </p:spPr>
        <p:txBody>
          <a:bodyPr/>
          <a:lstStyle/>
          <a:p>
            <a:r>
              <a:rPr lang="en-GB" dirty="0"/>
              <a:t>While developing the </a:t>
            </a:r>
            <a:r>
              <a:rPr lang="en-GB" dirty="0" err="1"/>
              <a:t>Ariane</a:t>
            </a:r>
            <a:r>
              <a:rPr lang="en-GB" dirty="0"/>
              <a:t> 5 space launcher, the designers reused a component (the inertial reference software) which was successfully used in the </a:t>
            </a:r>
            <a:r>
              <a:rPr lang="en-GB" dirty="0" err="1"/>
              <a:t>Ariane</a:t>
            </a:r>
            <a:r>
              <a:rPr lang="en-GB" dirty="0"/>
              <a:t> 4 launcher </a:t>
            </a:r>
          </a:p>
          <a:p>
            <a:r>
              <a:rPr lang="en-GB" dirty="0"/>
              <a:t>This component failed 37 seconds into the flight and the ground crew had to instruct the launcher to self-destruct.</a:t>
            </a:r>
          </a:p>
          <a:p>
            <a:r>
              <a:rPr lang="en-GB" dirty="0"/>
              <a:t>The error was caused by an unhandled numerical conversion exception causing a numeric overflow.</a:t>
            </a:r>
          </a:p>
          <a:p>
            <a:r>
              <a:rPr lang="en-GB" b="1" dirty="0">
                <a:solidFill>
                  <a:schemeClr val="accent3"/>
                </a:solidFill>
              </a:rPr>
              <a:t>Component reuse</a:t>
            </a:r>
            <a:r>
              <a:rPr lang="en-GB" dirty="0"/>
              <a:t> is usually a good thing but care must be taken that assumptions made when the component was developed are still valid!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28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Repository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68" y="1643050"/>
            <a:ext cx="9144064" cy="4681550"/>
          </a:xfrm>
        </p:spPr>
        <p:txBody>
          <a:bodyPr/>
          <a:lstStyle/>
          <a:p>
            <a:r>
              <a:rPr lang="en-GB" dirty="0"/>
              <a:t>Sub systems making up a system must exchange and share data so they can work together effectively.</a:t>
            </a:r>
          </a:p>
          <a:p>
            <a:r>
              <a:rPr lang="en-GB" dirty="0"/>
              <a:t>There are two main approaches to this:</a:t>
            </a:r>
          </a:p>
          <a:p>
            <a:pPr lvl="1"/>
            <a:r>
              <a:rPr lang="en-GB" dirty="0"/>
              <a:t>The repository model – All shared data is held in a central database which may be accessed by all sub-systems</a:t>
            </a:r>
          </a:p>
          <a:p>
            <a:pPr lvl="1"/>
            <a:r>
              <a:rPr lang="en-GB" dirty="0"/>
              <a:t>Each sub-system or component maintains its own database. Data is then exchanged between sub-systems via message passing.</a:t>
            </a:r>
          </a:p>
          <a:p>
            <a:r>
              <a:rPr lang="en-GB" dirty="0"/>
              <a:t>There are advantages and disadvantages to each approach as we shall now see.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29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D1D45-9FCA-0E40-E275-8F5FA2F0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32656"/>
            <a:ext cx="8915400" cy="857256"/>
          </a:xfrm>
        </p:spPr>
        <p:txBody>
          <a:bodyPr/>
          <a:lstStyle/>
          <a:p>
            <a:r>
              <a:rPr lang="en-GB" dirty="0"/>
              <a:t>Repository vs direct communication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24878-AC89-C0A4-BC05-4FCA3E67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89250" y="6355244"/>
            <a:ext cx="3632200" cy="365125"/>
          </a:xfrm>
        </p:spPr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0599E-0972-4320-222B-A350FB45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5200" y="6355244"/>
            <a:ext cx="8255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30</a:t>
            </a:fld>
            <a:endParaRPr kumimoji="0"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119264-06D6-311F-ED13-037124184D6D}"/>
              </a:ext>
            </a:extLst>
          </p:cNvPr>
          <p:cNvSpPr/>
          <p:nvPr/>
        </p:nvSpPr>
        <p:spPr>
          <a:xfrm>
            <a:off x="606616" y="1965677"/>
            <a:ext cx="2042128" cy="2142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B6438-481B-66B7-8EDE-3F87670C8EF2}"/>
              </a:ext>
            </a:extLst>
          </p:cNvPr>
          <p:cNvSpPr/>
          <p:nvPr/>
        </p:nvSpPr>
        <p:spPr>
          <a:xfrm>
            <a:off x="6969224" y="1916832"/>
            <a:ext cx="1872208" cy="2142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FF8DF2-4285-F03B-8075-09D89C6B037A}"/>
              </a:ext>
            </a:extLst>
          </p:cNvPr>
          <p:cNvSpPr/>
          <p:nvPr/>
        </p:nvSpPr>
        <p:spPr>
          <a:xfrm>
            <a:off x="4016896" y="1932992"/>
            <a:ext cx="1872208" cy="2142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F9851C-10F1-D7D9-B84A-2883B9E20C5B}"/>
              </a:ext>
            </a:extLst>
          </p:cNvPr>
          <p:cNvSpPr/>
          <p:nvPr/>
        </p:nvSpPr>
        <p:spPr>
          <a:xfrm>
            <a:off x="2279948" y="4993421"/>
            <a:ext cx="4465370" cy="4320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242470-5DC9-2502-09C4-CAF90D18AC76}"/>
              </a:ext>
            </a:extLst>
          </p:cNvPr>
          <p:cNvSpPr/>
          <p:nvPr/>
        </p:nvSpPr>
        <p:spPr>
          <a:xfrm>
            <a:off x="2288703" y="5228093"/>
            <a:ext cx="4447859" cy="1080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Left-Up 12">
            <a:extLst>
              <a:ext uri="{FF2B5EF4-FFF2-40B4-BE49-F238E27FC236}">
                <a16:creationId xmlns:a16="http://schemas.microsoft.com/office/drawing/2014/main" id="{A8670C2E-4167-9843-401F-D3BAEBE18C12}"/>
              </a:ext>
            </a:extLst>
          </p:cNvPr>
          <p:cNvSpPr/>
          <p:nvPr/>
        </p:nvSpPr>
        <p:spPr>
          <a:xfrm>
            <a:off x="6736563" y="4097311"/>
            <a:ext cx="1185330" cy="198345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Left-Up 13">
            <a:extLst>
              <a:ext uri="{FF2B5EF4-FFF2-40B4-BE49-F238E27FC236}">
                <a16:creationId xmlns:a16="http://schemas.microsoft.com/office/drawing/2014/main" id="{49222A36-4B46-E035-AF1C-B737611BAECD}"/>
              </a:ext>
            </a:extLst>
          </p:cNvPr>
          <p:cNvSpPr/>
          <p:nvPr/>
        </p:nvSpPr>
        <p:spPr>
          <a:xfrm flipH="1">
            <a:off x="1349264" y="4097311"/>
            <a:ext cx="930683" cy="198345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433224-C61A-465D-65C4-5B0948E33822}"/>
              </a:ext>
            </a:extLst>
          </p:cNvPr>
          <p:cNvSpPr txBox="1"/>
          <p:nvPr/>
        </p:nvSpPr>
        <p:spPr>
          <a:xfrm>
            <a:off x="747243" y="3436890"/>
            <a:ext cx="181972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GB" dirty="0"/>
              <a:t>Subsystem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5862AC-2FAC-9944-ECF9-A424158C1B8B}"/>
              </a:ext>
            </a:extLst>
          </p:cNvPr>
          <p:cNvSpPr txBox="1"/>
          <p:nvPr/>
        </p:nvSpPr>
        <p:spPr>
          <a:xfrm>
            <a:off x="4016896" y="3414113"/>
            <a:ext cx="181972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GB" dirty="0"/>
              <a:t>Subsystem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3024C-3DC8-4DFA-C2FA-099F64C0CA43}"/>
              </a:ext>
            </a:extLst>
          </p:cNvPr>
          <p:cNvSpPr txBox="1"/>
          <p:nvPr/>
        </p:nvSpPr>
        <p:spPr>
          <a:xfrm>
            <a:off x="7041232" y="3345278"/>
            <a:ext cx="181972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GB" dirty="0"/>
              <a:t>Subsystem 3</a:t>
            </a:r>
          </a:p>
        </p:txBody>
      </p: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00AB9224-5E82-9593-94CE-5B1F98CB66FF}"/>
              </a:ext>
            </a:extLst>
          </p:cNvPr>
          <p:cNvSpPr/>
          <p:nvPr/>
        </p:nvSpPr>
        <p:spPr>
          <a:xfrm>
            <a:off x="4705350" y="4097311"/>
            <a:ext cx="456530" cy="89611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B54EE6-DAFC-68F0-6479-04DF111861FC}"/>
              </a:ext>
            </a:extLst>
          </p:cNvPr>
          <p:cNvSpPr/>
          <p:nvPr/>
        </p:nvSpPr>
        <p:spPr>
          <a:xfrm>
            <a:off x="689017" y="2118077"/>
            <a:ext cx="1877955" cy="8777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3F72DB-B8A6-DE23-321B-8CC9AF7113E2}"/>
              </a:ext>
            </a:extLst>
          </p:cNvPr>
          <p:cNvSpPr txBox="1"/>
          <p:nvPr/>
        </p:nvSpPr>
        <p:spPr>
          <a:xfrm>
            <a:off x="920552" y="2240111"/>
            <a:ext cx="137249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GB" dirty="0"/>
              <a:t>internal</a:t>
            </a:r>
            <a:br>
              <a:rPr lang="en-GB" dirty="0"/>
            </a:br>
            <a:r>
              <a:rPr lang="en-GB" dirty="0"/>
              <a:t>storage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1AB3EB-E8EC-5D6D-4DC4-3D84AD34B998}"/>
              </a:ext>
            </a:extLst>
          </p:cNvPr>
          <p:cNvSpPr txBox="1"/>
          <p:nvPr/>
        </p:nvSpPr>
        <p:spPr>
          <a:xfrm>
            <a:off x="4241106" y="2293467"/>
            <a:ext cx="137249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GB" dirty="0"/>
              <a:t>internal</a:t>
            </a:r>
            <a:br>
              <a:rPr lang="en-GB" dirty="0"/>
            </a:br>
            <a:r>
              <a:rPr lang="en-GB" dirty="0"/>
              <a:t>storage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73E5A8-F997-02AB-BDA8-4ADA7AF2A3AB}"/>
              </a:ext>
            </a:extLst>
          </p:cNvPr>
          <p:cNvSpPr txBox="1"/>
          <p:nvPr/>
        </p:nvSpPr>
        <p:spPr>
          <a:xfrm>
            <a:off x="7161412" y="2275098"/>
            <a:ext cx="137249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GB" dirty="0"/>
              <a:t>internal</a:t>
            </a:r>
            <a:br>
              <a:rPr lang="en-GB" dirty="0"/>
            </a:br>
            <a:r>
              <a:rPr lang="en-GB" dirty="0"/>
              <a:t>storage 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93A62F-7A91-4CFC-D7F0-7A0BD5F9DB73}"/>
              </a:ext>
            </a:extLst>
          </p:cNvPr>
          <p:cNvSpPr/>
          <p:nvPr/>
        </p:nvSpPr>
        <p:spPr>
          <a:xfrm>
            <a:off x="4139265" y="2161417"/>
            <a:ext cx="1605823" cy="9176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055F7-C8D7-1E7A-F273-3AB43F123C9F}"/>
              </a:ext>
            </a:extLst>
          </p:cNvPr>
          <p:cNvSpPr/>
          <p:nvPr/>
        </p:nvSpPr>
        <p:spPr>
          <a:xfrm>
            <a:off x="7102416" y="2161416"/>
            <a:ext cx="1605823" cy="9176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row: Up-Down 25">
            <a:extLst>
              <a:ext uri="{FF2B5EF4-FFF2-40B4-BE49-F238E27FC236}">
                <a16:creationId xmlns:a16="http://schemas.microsoft.com/office/drawing/2014/main" id="{5F5A202D-9740-D7B0-E2A9-70B90F93F83F}"/>
              </a:ext>
            </a:extLst>
          </p:cNvPr>
          <p:cNvSpPr/>
          <p:nvPr/>
        </p:nvSpPr>
        <p:spPr>
          <a:xfrm rot="5400000">
            <a:off x="3102385" y="2226734"/>
            <a:ext cx="456530" cy="137249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row: Up-Down 26">
            <a:extLst>
              <a:ext uri="{FF2B5EF4-FFF2-40B4-BE49-F238E27FC236}">
                <a16:creationId xmlns:a16="http://schemas.microsoft.com/office/drawing/2014/main" id="{F295755A-4EF0-35C7-AEFB-48433CFF3CBC}"/>
              </a:ext>
            </a:extLst>
          </p:cNvPr>
          <p:cNvSpPr/>
          <p:nvPr/>
        </p:nvSpPr>
        <p:spPr>
          <a:xfrm rot="5400000">
            <a:off x="6223900" y="2393974"/>
            <a:ext cx="456530" cy="103411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B50356-C42C-9094-41B3-800E1C2C4384}"/>
              </a:ext>
            </a:extLst>
          </p:cNvPr>
          <p:cNvSpPr txBox="1"/>
          <p:nvPr/>
        </p:nvSpPr>
        <p:spPr>
          <a:xfrm>
            <a:off x="3872880" y="5677165"/>
            <a:ext cx="139974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GB" dirty="0"/>
              <a:t>Database</a:t>
            </a:r>
          </a:p>
        </p:txBody>
      </p:sp>
      <p:sp>
        <p:nvSpPr>
          <p:cNvPr id="31" name="Arrow: U-Turn 30">
            <a:extLst>
              <a:ext uri="{FF2B5EF4-FFF2-40B4-BE49-F238E27FC236}">
                <a16:creationId xmlns:a16="http://schemas.microsoft.com/office/drawing/2014/main" id="{E77C5ECE-F865-375B-2BDF-16636A2AAB53}"/>
              </a:ext>
            </a:extLst>
          </p:cNvPr>
          <p:cNvSpPr/>
          <p:nvPr/>
        </p:nvSpPr>
        <p:spPr>
          <a:xfrm flipH="1">
            <a:off x="1379690" y="1484784"/>
            <a:ext cx="6558492" cy="408360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8151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Repository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68" y="1714488"/>
            <a:ext cx="9144064" cy="4610112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chemeClr val="accent3"/>
                </a:solidFill>
              </a:rPr>
              <a:t>advantages</a:t>
            </a:r>
            <a:r>
              <a:rPr lang="en-GB" dirty="0"/>
              <a:t> include:</a:t>
            </a:r>
          </a:p>
          <a:p>
            <a:pPr lvl="1"/>
            <a:r>
              <a:rPr lang="en-GB" dirty="0"/>
              <a:t>Databases are an efficient way to share large amounts of data and data does not have to be transformed between different sub-systems (they agree on a single data representation).</a:t>
            </a:r>
          </a:p>
          <a:p>
            <a:pPr lvl="1"/>
            <a:r>
              <a:rPr lang="en-GB" dirty="0"/>
              <a:t>Sub-systems producing data need not be concerned with how that data is used by other sub-systems.</a:t>
            </a:r>
          </a:p>
          <a:p>
            <a:pPr lvl="1"/>
            <a:r>
              <a:rPr lang="en-GB" dirty="0"/>
              <a:t>Many standard operations such as backup, security, access control, recovery and data integrity are centralised and can be controlled by a single repository manager.</a:t>
            </a:r>
          </a:p>
          <a:p>
            <a:pPr lvl="1"/>
            <a:r>
              <a:rPr lang="en-GB" dirty="0"/>
              <a:t>The data model is visible through the repository schema.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31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Repository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68" y="1643050"/>
            <a:ext cx="9144064" cy="4681550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chemeClr val="accent3"/>
                </a:solidFill>
              </a:rPr>
              <a:t>disadvantages</a:t>
            </a:r>
            <a:r>
              <a:rPr lang="en-GB" dirty="0"/>
              <a:t> include:</a:t>
            </a:r>
          </a:p>
          <a:p>
            <a:pPr lvl="1"/>
            <a:r>
              <a:rPr lang="en-GB" dirty="0"/>
              <a:t>Sub-systems must agree on the data model which means compromises must be made, for example with performance.</a:t>
            </a:r>
          </a:p>
          <a:p>
            <a:pPr lvl="1"/>
            <a:r>
              <a:rPr lang="en-GB" dirty="0"/>
              <a:t>Evolution may be difficult since a large amount of data is generated and translation may be difficult and expensive.</a:t>
            </a:r>
          </a:p>
          <a:p>
            <a:pPr lvl="1"/>
            <a:r>
              <a:rPr lang="en-GB" dirty="0"/>
              <a:t>Different systems have different requirements for security, recovery and backup policies which may be difficult to enforce in a single database.</a:t>
            </a:r>
          </a:p>
          <a:p>
            <a:pPr lvl="1"/>
            <a:r>
              <a:rPr lang="en-GB" dirty="0"/>
              <a:t>It may be difficult to distribute the repository over a number of different machines.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32</a:t>
            </a:fld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have studied five criteria to help evaluate modular design methods and their advantages:</a:t>
            </a:r>
          </a:p>
          <a:p>
            <a:pPr lvl="1"/>
            <a:r>
              <a:rPr lang="en-GB" dirty="0"/>
              <a:t>Modular </a:t>
            </a:r>
            <a:r>
              <a:rPr lang="en-GB" dirty="0">
                <a:solidFill>
                  <a:schemeClr val="accent3"/>
                </a:solidFill>
              </a:rPr>
              <a:t>decomposability</a:t>
            </a:r>
            <a:r>
              <a:rPr lang="en-GB" dirty="0"/>
              <a:t>; modular </a:t>
            </a:r>
            <a:r>
              <a:rPr lang="en-GB" dirty="0" err="1">
                <a:solidFill>
                  <a:schemeClr val="accent3"/>
                </a:solidFill>
              </a:rPr>
              <a:t>composability</a:t>
            </a:r>
            <a:r>
              <a:rPr lang="en-GB" dirty="0"/>
              <a:t>; modular </a:t>
            </a:r>
            <a:r>
              <a:rPr lang="en-GB" dirty="0" err="1">
                <a:solidFill>
                  <a:schemeClr val="accent3"/>
                </a:solidFill>
              </a:rPr>
              <a:t>understandability</a:t>
            </a:r>
            <a:r>
              <a:rPr lang="en-GB" dirty="0"/>
              <a:t>; modular </a:t>
            </a:r>
            <a:r>
              <a:rPr lang="en-GB" dirty="0">
                <a:solidFill>
                  <a:schemeClr val="accent3"/>
                </a:solidFill>
              </a:rPr>
              <a:t>continuity</a:t>
            </a:r>
            <a:r>
              <a:rPr lang="en-GB" dirty="0"/>
              <a:t>; modular </a:t>
            </a:r>
            <a:r>
              <a:rPr lang="en-GB" dirty="0">
                <a:solidFill>
                  <a:schemeClr val="accent3"/>
                </a:solidFill>
              </a:rPr>
              <a:t>protection</a:t>
            </a:r>
            <a:r>
              <a:rPr lang="en-GB" dirty="0"/>
              <a:t>.</a:t>
            </a:r>
          </a:p>
          <a:p>
            <a:r>
              <a:rPr lang="en-GB" dirty="0"/>
              <a:t>We have seen the advantages and the disadvantages of repository models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33</a:t>
            </a:fld>
            <a:endParaRPr kumimoji="0"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1F1F33"/>
      </a:accent1>
      <a:accent2>
        <a:srgbClr val="B54703"/>
      </a:accent2>
      <a:accent3>
        <a:srgbClr val="CE0202"/>
      </a:accent3>
      <a:accent4>
        <a:srgbClr val="C4652D"/>
      </a:accent4>
      <a:accent5>
        <a:srgbClr val="8B5D3D"/>
      </a:accent5>
      <a:accent6>
        <a:srgbClr val="3F6E8C"/>
      </a:accent6>
      <a:hlink>
        <a:srgbClr val="E0EFF1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1694</TotalTime>
  <Words>2087</Words>
  <Application>Microsoft Office PowerPoint</Application>
  <PresentationFormat>A4 Paper (210x297 mm)</PresentationFormat>
  <Paragraphs>277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Symbol</vt:lpstr>
      <vt:lpstr>Times</vt:lpstr>
      <vt:lpstr>Times New Roman</vt:lpstr>
      <vt:lpstr>Wingdings 2</vt:lpstr>
      <vt:lpstr>Flow</vt:lpstr>
      <vt:lpstr>Software Engineering COMP 201</vt:lpstr>
      <vt:lpstr>Software Design </vt:lpstr>
      <vt:lpstr>The Design Problem</vt:lpstr>
      <vt:lpstr>Design aspects</vt:lpstr>
      <vt:lpstr>Software Design</vt:lpstr>
      <vt:lpstr>Software Design in Reality</vt:lpstr>
      <vt:lpstr>Stages of Design</vt:lpstr>
      <vt:lpstr>The Design Process</vt:lpstr>
      <vt:lpstr>Phases in the Design Process</vt:lpstr>
      <vt:lpstr>Design Phases</vt:lpstr>
      <vt:lpstr>Design</vt:lpstr>
      <vt:lpstr>Modular Programming</vt:lpstr>
      <vt:lpstr>Procedural Abstraction</vt:lpstr>
      <vt:lpstr>Programs as Functions</vt:lpstr>
      <vt:lpstr>Object-Oriented Design</vt:lpstr>
      <vt:lpstr>Five Criteria for Design Methods</vt:lpstr>
      <vt:lpstr>Modular Decomposability</vt:lpstr>
      <vt:lpstr>Hierarchical Design Structure</vt:lpstr>
      <vt:lpstr>Top-Down Design</vt:lpstr>
      <vt:lpstr>An Example of Top-Down Design</vt:lpstr>
      <vt:lpstr>Modular Composability</vt:lpstr>
      <vt:lpstr>Examples</vt:lpstr>
      <vt:lpstr>Modular Understandability </vt:lpstr>
      <vt:lpstr>Modular Understandability</vt:lpstr>
      <vt:lpstr>Modular Continuity</vt:lpstr>
      <vt:lpstr>Modular Protection</vt:lpstr>
      <vt:lpstr>A Real Life Example – Ariane 5 Flight 501</vt:lpstr>
      <vt:lpstr>The Ariane 5 Space Launcher</vt:lpstr>
      <vt:lpstr>Repository Models</vt:lpstr>
      <vt:lpstr>Repository vs direct communication</vt:lpstr>
      <vt:lpstr>Repository Model</vt:lpstr>
      <vt:lpstr>Repository Model</vt:lpstr>
      <vt:lpstr>Lecture Key Points</vt:lpstr>
    </vt:vector>
  </TitlesOfParts>
  <Company>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COMP 201</dc:title>
  <dc:creator>Potapov</dc:creator>
  <cp:lastModifiedBy>Alex</cp:lastModifiedBy>
  <cp:revision>116</cp:revision>
  <dcterms:created xsi:type="dcterms:W3CDTF">2002-07-01T13:45:33Z</dcterms:created>
  <dcterms:modified xsi:type="dcterms:W3CDTF">2024-09-09T19:49:11Z</dcterms:modified>
</cp:coreProperties>
</file>