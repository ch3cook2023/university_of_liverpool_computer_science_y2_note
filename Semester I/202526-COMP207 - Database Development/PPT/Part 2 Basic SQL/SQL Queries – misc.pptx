
<file path=[Content_Types].xml><?xml version="1.0" encoding="utf-8"?>
<Types xmlns="http://schemas.openxmlformats.org/package/2006/content-types">
  <Default Extension="xml" ContentType="application/xml"/>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54" r:id="rId3"/>
    <p:sldId id="355" r:id="rId4"/>
    <p:sldId id="438" r:id="rId5"/>
    <p:sldId id="432" r:id="rId6"/>
    <p:sldId id="435" r:id="rId7"/>
    <p:sldId id="434" r:id="rId8"/>
    <p:sldId id="437" r:id="rId9"/>
    <p:sldId id="439" r:id="rId10"/>
    <p:sldId id="408" r:id="rId11"/>
    <p:sldId id="409" r:id="rId12"/>
    <p:sldId id="419" r:id="rId13"/>
    <p:sldId id="421" r:id="rId14"/>
    <p:sldId id="418" r:id="rId15"/>
    <p:sldId id="420" r:id="rId16"/>
    <p:sldId id="441" r:id="rId17"/>
    <p:sldId id="442" r:id="rId18"/>
    <p:sldId id="44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11AB3B-D7EF-497E-8A35-C2C79514AEAB}">
          <p14:sldIdLst>
            <p14:sldId id="256"/>
            <p14:sldId id="354"/>
            <p14:sldId id="355"/>
            <p14:sldId id="438"/>
            <p14:sldId id="432"/>
            <p14:sldId id="435"/>
            <p14:sldId id="434"/>
            <p14:sldId id="437"/>
          </p14:sldIdLst>
        </p14:section>
        <p14:section name="Relational algebra" id="{812E9BA9-1AA2-4F63-840A-F00FDB483043}">
          <p14:sldIdLst>
            <p14:sldId id="439"/>
            <p14:sldId id="408"/>
            <p14:sldId id="409"/>
            <p14:sldId id="419"/>
            <p14:sldId id="421"/>
            <p14:sldId id="418"/>
            <p14:sldId id="420"/>
            <p14:sldId id="441"/>
            <p14:sldId id="442"/>
            <p14:sldId id="44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8" autoAdjust="0"/>
    <p:restoredTop sz="94660"/>
  </p:normalViewPr>
  <p:slideViewPr>
    <p:cSldViewPr snapToGrid="0">
      <p:cViewPr varScale="1">
        <p:scale>
          <a:sx n="96" d="100"/>
          <a:sy n="96" d="100"/>
        </p:scale>
        <p:origin x="74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2C2053E-F15C-4D88-9461-94A8FBD43AD9}" type="datetimeFigureOut">
              <a:rPr lang="en-GB" smtClean="0"/>
              <a:t>06/10/2022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BC6924-DA7E-4F54-A3C4-6DED82AA51C4}"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5409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C2053E-F15C-4D88-9461-94A8FBD43AD9}" type="datetimeFigureOut">
              <a:rPr lang="en-GB" smtClean="0"/>
              <a:t>06/10/2022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BC6924-DA7E-4F54-A3C4-6DED82AA51C4}" type="slidenum">
              <a:rPr lang="en-GB" smtClean="0"/>
              <a:t>‹#›</a:t>
            </a:fld>
            <a:endParaRPr lang="en-GB"/>
          </a:p>
        </p:txBody>
      </p:sp>
    </p:spTree>
    <p:extLst>
      <p:ext uri="{BB962C8B-B14F-4D97-AF65-F5344CB8AC3E}">
        <p14:creationId xmlns:p14="http://schemas.microsoft.com/office/powerpoint/2010/main" val="3472290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C2053E-F15C-4D88-9461-94A8FBD43AD9}" type="datetimeFigureOut">
              <a:rPr lang="en-GB" smtClean="0"/>
              <a:t>06/10/2022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BC6924-DA7E-4F54-A3C4-6DED82AA51C4}"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8232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C2053E-F15C-4D88-9461-94A8FBD43AD9}" type="datetimeFigureOut">
              <a:rPr lang="en-GB" smtClean="0"/>
              <a:t>06/10/2022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BC6924-DA7E-4F54-A3C4-6DED82AA51C4}" type="slidenum">
              <a:rPr lang="en-GB" smtClean="0"/>
              <a:t>‹#›</a:t>
            </a:fld>
            <a:endParaRPr lang="en-GB"/>
          </a:p>
        </p:txBody>
      </p:sp>
    </p:spTree>
    <p:extLst>
      <p:ext uri="{BB962C8B-B14F-4D97-AF65-F5344CB8AC3E}">
        <p14:creationId xmlns:p14="http://schemas.microsoft.com/office/powerpoint/2010/main" val="1947482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C2053E-F15C-4D88-9461-94A8FBD43AD9}" type="datetimeFigureOut">
              <a:rPr lang="en-GB" smtClean="0"/>
              <a:t>06/10/2022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ABC6924-DA7E-4F54-A3C4-6DED82AA51C4}" type="slidenum">
              <a:rPr lang="en-GB" smtClean="0"/>
              <a:t>‹#›</a:t>
            </a:fld>
            <a:endParaRPr lang="en-GB"/>
          </a:p>
        </p:txBody>
      </p:sp>
    </p:spTree>
    <p:extLst>
      <p:ext uri="{BB962C8B-B14F-4D97-AF65-F5344CB8AC3E}">
        <p14:creationId xmlns:p14="http://schemas.microsoft.com/office/powerpoint/2010/main" val="3892401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C2053E-F15C-4D88-9461-94A8FBD43AD9}" type="datetimeFigureOut">
              <a:rPr lang="en-GB" smtClean="0"/>
              <a:t>06/10/2022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ABC6924-DA7E-4F54-A3C4-6DED82AA51C4}" type="slidenum">
              <a:rPr lang="en-GB" smtClean="0"/>
              <a:t>‹#›</a:t>
            </a:fld>
            <a:endParaRPr lang="en-GB"/>
          </a:p>
        </p:txBody>
      </p:sp>
    </p:spTree>
    <p:extLst>
      <p:ext uri="{BB962C8B-B14F-4D97-AF65-F5344CB8AC3E}">
        <p14:creationId xmlns:p14="http://schemas.microsoft.com/office/powerpoint/2010/main" val="1128679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2C2053E-F15C-4D88-9461-94A8FBD43AD9}" type="datetimeFigureOut">
              <a:rPr lang="en-GB" smtClean="0"/>
              <a:t>06/10/2022</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1ABC6924-DA7E-4F54-A3C4-6DED82AA51C4}" type="slidenum">
              <a:rPr lang="en-GB" smtClean="0"/>
              <a:t>‹#›</a:t>
            </a:fld>
            <a:endParaRPr lang="en-GB"/>
          </a:p>
        </p:txBody>
      </p:sp>
    </p:spTree>
    <p:extLst>
      <p:ext uri="{BB962C8B-B14F-4D97-AF65-F5344CB8AC3E}">
        <p14:creationId xmlns:p14="http://schemas.microsoft.com/office/powerpoint/2010/main" val="2625296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2C2053E-F15C-4D88-9461-94A8FBD43AD9}" type="datetimeFigureOut">
              <a:rPr lang="en-GB" smtClean="0"/>
              <a:t>06/10/2022</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ABC6924-DA7E-4F54-A3C4-6DED82AA51C4}" type="slidenum">
              <a:rPr lang="en-GB" smtClean="0"/>
              <a:t>‹#›</a:t>
            </a:fld>
            <a:endParaRPr lang="en-GB"/>
          </a:p>
        </p:txBody>
      </p:sp>
    </p:spTree>
    <p:extLst>
      <p:ext uri="{BB962C8B-B14F-4D97-AF65-F5344CB8AC3E}">
        <p14:creationId xmlns:p14="http://schemas.microsoft.com/office/powerpoint/2010/main" val="2029292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C2053E-F15C-4D88-9461-94A8FBD43AD9}" type="datetimeFigureOut">
              <a:rPr lang="en-GB" smtClean="0"/>
              <a:t>06/10/2022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BC6924-DA7E-4F54-A3C4-6DED82AA51C4}" type="slidenum">
              <a:rPr lang="en-GB" smtClean="0"/>
              <a:t>‹#›</a:t>
            </a:fld>
            <a:endParaRPr lang="en-GB"/>
          </a:p>
        </p:txBody>
      </p:sp>
    </p:spTree>
    <p:extLst>
      <p:ext uri="{BB962C8B-B14F-4D97-AF65-F5344CB8AC3E}">
        <p14:creationId xmlns:p14="http://schemas.microsoft.com/office/powerpoint/2010/main" val="1794890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C2053E-F15C-4D88-9461-94A8FBD43AD9}" type="datetimeFigureOut">
              <a:rPr lang="en-GB" smtClean="0"/>
              <a:t>06/10/2022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BC6924-DA7E-4F54-A3C4-6DED82AA51C4}" type="slidenum">
              <a:rPr lang="en-GB" smtClean="0"/>
              <a:t>‹#›</a:t>
            </a:fld>
            <a:endParaRPr lang="en-GB"/>
          </a:p>
        </p:txBody>
      </p:sp>
    </p:spTree>
    <p:extLst>
      <p:ext uri="{BB962C8B-B14F-4D97-AF65-F5344CB8AC3E}">
        <p14:creationId xmlns:p14="http://schemas.microsoft.com/office/powerpoint/2010/main" val="1076304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C2053E-F15C-4D88-9461-94A8FBD43AD9}" type="datetimeFigureOut">
              <a:rPr lang="en-GB" smtClean="0"/>
              <a:t>06/10/2022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BC6924-DA7E-4F54-A3C4-6DED82AA51C4}" type="slidenum">
              <a:rPr lang="en-GB" smtClean="0"/>
              <a:t>‹#›</a:t>
            </a:fld>
            <a:endParaRPr lang="en-GB"/>
          </a:p>
        </p:txBody>
      </p:sp>
    </p:spTree>
    <p:extLst>
      <p:ext uri="{BB962C8B-B14F-4D97-AF65-F5344CB8AC3E}">
        <p14:creationId xmlns:p14="http://schemas.microsoft.com/office/powerpoint/2010/main" val="429245581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2C2053E-F15C-4D88-9461-94A8FBD43AD9}" type="datetimeFigureOut">
              <a:rPr lang="en-GB" smtClean="0"/>
              <a:t>06/10/2022</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ABC6924-DA7E-4F54-A3C4-6DED82AA51C4}"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2715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2.xml"/><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5" Type="http://schemas.openxmlformats.org/officeDocument/2006/relationships/image" Target="NULL"/><Relationship Id="rId6" Type="http://schemas.openxmlformats.org/officeDocument/2006/relationships/image" Target="../media/image6.png"/><Relationship Id="rId7" Type="http://schemas.openxmlformats.org/officeDocument/2006/relationships/image" Target="../media/image7.png"/><Relationship Id="rId1" Type="http://schemas.openxmlformats.org/officeDocument/2006/relationships/tags" Target="../tags/tag7.xml"/><Relationship Id="rId2"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5" Type="http://schemas.openxmlformats.org/officeDocument/2006/relationships/image" Target="NULL"/><Relationship Id="rId6" Type="http://schemas.openxmlformats.org/officeDocument/2006/relationships/image" Target="NULL"/><Relationship Id="rId7" Type="http://schemas.openxmlformats.org/officeDocument/2006/relationships/image" Target="../media/image8.png"/><Relationship Id="rId1" Type="http://schemas.openxmlformats.org/officeDocument/2006/relationships/tags" Target="../tags/tag8.xml"/><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5" Type="http://schemas.openxmlformats.org/officeDocument/2006/relationships/image" Target="NULL"/><Relationship Id="rId6" Type="http://schemas.openxmlformats.org/officeDocument/2006/relationships/image" Target="../media/image40.png"/><Relationship Id="rId7" Type="http://schemas.openxmlformats.org/officeDocument/2006/relationships/image" Target="../media/image5.png"/><Relationship Id="rId1" Type="http://schemas.openxmlformats.org/officeDocument/2006/relationships/tags" Target="../tags/tag9.xml"/><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5" Type="http://schemas.openxmlformats.org/officeDocument/2006/relationships/image" Target="NULL"/><Relationship Id="rId6" Type="http://schemas.openxmlformats.org/officeDocument/2006/relationships/image" Target="../media/image9.png"/><Relationship Id="rId7" Type="http://schemas.openxmlformats.org/officeDocument/2006/relationships/image" Target="../media/image10.png"/><Relationship Id="rId1" Type="http://schemas.openxmlformats.org/officeDocument/2006/relationships/tags" Target="../tags/tag10.xml"/><Relationship Id="rId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2.xml"/><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BAD417-6E8E-4F48-B464-63CF1F574C13}"/>
              </a:ext>
            </a:extLst>
          </p:cNvPr>
          <p:cNvSpPr>
            <a:spLocks noGrp="1"/>
          </p:cNvSpPr>
          <p:nvPr>
            <p:ph type="ctrTitle"/>
          </p:nvPr>
        </p:nvSpPr>
        <p:spPr/>
        <p:txBody>
          <a:bodyPr/>
          <a:lstStyle/>
          <a:p>
            <a:r>
              <a:rPr lang="en-US" dirty="0"/>
              <a:t>SQL Queries – misc. and relational algebra</a:t>
            </a:r>
            <a:endParaRPr lang="en-GB" dirty="0"/>
          </a:p>
        </p:txBody>
      </p:sp>
      <p:sp>
        <p:nvSpPr>
          <p:cNvPr id="3" name="Subtitle 2">
            <a:extLst>
              <a:ext uri="{FF2B5EF4-FFF2-40B4-BE49-F238E27FC236}">
                <a16:creationId xmlns:a16="http://schemas.microsoft.com/office/drawing/2014/main" xmlns="" id="{74C55518-6277-4339-B1CB-EC62A9889CEB}"/>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12959034"/>
      </p:ext>
    </p:extLst>
  </p:cSld>
  <p:clrMapOvr>
    <a:masterClrMapping/>
  </p:clrMapOvr>
  <mc:AlternateContent xmlns:mc="http://schemas.openxmlformats.org/markup-compatibility/2006" xmlns:p14="http://schemas.microsoft.com/office/powerpoint/2010/main">
    <mc:Choice Requires="p14">
      <p:transition spd="slow" p14:dur="2000" advTm="11213"/>
    </mc:Choice>
    <mc:Fallback xmlns="">
      <p:transition spd="slow" advTm="11213"/>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9087AB-00C3-4F0C-ABD5-3827C0525711}"/>
              </a:ext>
            </a:extLst>
          </p:cNvPr>
          <p:cNvSpPr>
            <a:spLocks noGrp="1"/>
          </p:cNvSpPr>
          <p:nvPr>
            <p:ph type="title"/>
          </p:nvPr>
        </p:nvSpPr>
        <p:spPr/>
        <p:txBody>
          <a:bodyPr/>
          <a:lstStyle/>
          <a:p>
            <a:r>
              <a:rPr lang="en-US" dirty="0"/>
              <a:t>Overview of this video</a:t>
            </a:r>
            <a:endParaRPr lang="en-GB" dirty="0"/>
          </a:p>
        </p:txBody>
      </p:sp>
      <p:sp>
        <p:nvSpPr>
          <p:cNvPr id="3" name="Content Placeholder 2">
            <a:extLst>
              <a:ext uri="{FF2B5EF4-FFF2-40B4-BE49-F238E27FC236}">
                <a16:creationId xmlns:a16="http://schemas.microsoft.com/office/drawing/2014/main" xmlns="" id="{B640F842-B16B-4A9E-872B-51714976B919}"/>
              </a:ext>
            </a:extLst>
          </p:cNvPr>
          <p:cNvSpPr>
            <a:spLocks noGrp="1"/>
          </p:cNvSpPr>
          <p:nvPr>
            <p:ph idx="1"/>
          </p:nvPr>
        </p:nvSpPr>
        <p:spPr/>
        <p:txBody>
          <a:bodyPr>
            <a:normAutofit/>
          </a:bodyPr>
          <a:lstStyle/>
          <a:p>
            <a:pPr marL="0" indent="0">
              <a:buNone/>
            </a:pPr>
            <a:r>
              <a:rPr lang="en-US" sz="3000" dirty="0"/>
              <a:t>Provide a better understanding of SQL queries as a whole, instead of as parts</a:t>
            </a:r>
          </a:p>
          <a:p>
            <a:pPr marL="0" indent="0">
              <a:buNone/>
            </a:pPr>
            <a:r>
              <a:rPr lang="en-US" sz="3000" dirty="0"/>
              <a:t>	(Relational algebra does focus on parts, but should let you 	better see how the parts compose, which is the point)</a:t>
            </a:r>
          </a:p>
        </p:txBody>
      </p:sp>
    </p:spTree>
    <p:extLst>
      <p:ext uri="{BB962C8B-B14F-4D97-AF65-F5344CB8AC3E}">
        <p14:creationId xmlns:p14="http://schemas.microsoft.com/office/powerpoint/2010/main" val="1919403635"/>
      </p:ext>
    </p:extLst>
  </p:cSld>
  <p:clrMapOvr>
    <a:masterClrMapping/>
  </p:clrMapOvr>
  <mc:AlternateContent xmlns:mc="http://schemas.openxmlformats.org/markup-compatibility/2006" xmlns:p14="http://schemas.microsoft.com/office/powerpoint/2010/main">
    <mc:Choice Requires="p14">
      <p:transition spd="slow" p14:dur="2000" advTm="67761"/>
    </mc:Choice>
    <mc:Fallback xmlns="">
      <p:transition spd="slow" advTm="6776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9FF09D-F5C5-4A00-BEEA-568114FE17D3}"/>
              </a:ext>
            </a:extLst>
          </p:cNvPr>
          <p:cNvSpPr>
            <a:spLocks noGrp="1"/>
          </p:cNvSpPr>
          <p:nvPr>
            <p:ph type="title"/>
          </p:nvPr>
        </p:nvSpPr>
        <p:spPr/>
        <p:txBody>
          <a:bodyPr/>
          <a:lstStyle/>
          <a:p>
            <a:r>
              <a:rPr lang="en-US" dirty="0"/>
              <a:t>SQL Queries</a:t>
            </a:r>
            <a:endParaRPr lang="en-GB" dirty="0"/>
          </a:p>
        </p:txBody>
      </p:sp>
      <p:sp>
        <p:nvSpPr>
          <p:cNvPr id="3" name="Content Placeholder 2">
            <a:extLst>
              <a:ext uri="{FF2B5EF4-FFF2-40B4-BE49-F238E27FC236}">
                <a16:creationId xmlns:a16="http://schemas.microsoft.com/office/drawing/2014/main" xmlns="" id="{D0169A9D-E695-4ED2-B54D-726C967F0DF7}"/>
              </a:ext>
            </a:extLst>
          </p:cNvPr>
          <p:cNvSpPr>
            <a:spLocks noGrp="1"/>
          </p:cNvSpPr>
          <p:nvPr>
            <p:ph idx="1"/>
          </p:nvPr>
        </p:nvSpPr>
        <p:spPr/>
        <p:txBody>
          <a:bodyPr/>
          <a:lstStyle/>
          <a:p>
            <a:r>
              <a:rPr lang="en-US" dirty="0"/>
              <a:t>Queries in SQL have the following form:</a:t>
            </a:r>
          </a:p>
          <a:p>
            <a:endParaRPr lang="en-GB" dirty="0">
              <a:solidFill>
                <a:srgbClr val="0070C0"/>
              </a:solidFill>
            </a:endParaRPr>
          </a:p>
        </p:txBody>
      </p:sp>
      <p:sp>
        <p:nvSpPr>
          <p:cNvPr id="5" name="Rectangle 4">
            <a:extLst>
              <a:ext uri="{FF2B5EF4-FFF2-40B4-BE49-F238E27FC236}">
                <a16:creationId xmlns:a16="http://schemas.microsoft.com/office/drawing/2014/main" xmlns="" id="{21961F09-0AB5-46DD-98FF-AC9A06F020DD}"/>
              </a:ext>
            </a:extLst>
          </p:cNvPr>
          <p:cNvSpPr/>
          <p:nvPr/>
        </p:nvSpPr>
        <p:spPr>
          <a:xfrm>
            <a:off x="1567935" y="2366346"/>
            <a:ext cx="4440979" cy="3172764"/>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3200" dirty="0">
                <a:solidFill>
                  <a:srgbClr val="FF0000"/>
                </a:solidFill>
              </a:rPr>
              <a:t>SELECT </a:t>
            </a:r>
          </a:p>
          <a:p>
            <a:r>
              <a:rPr lang="en-US" sz="3200" dirty="0">
                <a:solidFill>
                  <a:srgbClr val="FF0000"/>
                </a:solidFill>
              </a:rPr>
              <a:t>FROM</a:t>
            </a:r>
          </a:p>
          <a:p>
            <a:r>
              <a:rPr lang="en-US" sz="3200" dirty="0">
                <a:solidFill>
                  <a:srgbClr val="0070C0"/>
                </a:solidFill>
              </a:rPr>
              <a:t>WHERE</a:t>
            </a:r>
          </a:p>
          <a:p>
            <a:r>
              <a:rPr lang="en-US" sz="3200" dirty="0">
                <a:solidFill>
                  <a:srgbClr val="0070C0"/>
                </a:solidFill>
              </a:rPr>
              <a:t>GROUP BY</a:t>
            </a:r>
          </a:p>
          <a:p>
            <a:r>
              <a:rPr lang="en-US" sz="3200" dirty="0">
                <a:solidFill>
                  <a:srgbClr val="0070C0"/>
                </a:solidFill>
              </a:rPr>
              <a:t>HAVING</a:t>
            </a:r>
          </a:p>
          <a:p>
            <a:r>
              <a:rPr lang="en-US" sz="3200" dirty="0">
                <a:solidFill>
                  <a:srgbClr val="0070C0"/>
                </a:solidFill>
              </a:rPr>
              <a:t>ORDER BY</a:t>
            </a:r>
          </a:p>
        </p:txBody>
      </p:sp>
      <p:sp>
        <p:nvSpPr>
          <p:cNvPr id="10" name="Rounded Rectangular Callout 9">
            <a:extLst>
              <a:ext uri="{FF2B5EF4-FFF2-40B4-BE49-F238E27FC236}">
                <a16:creationId xmlns:a16="http://schemas.microsoft.com/office/drawing/2014/main" xmlns="" id="{BEB47060-2A04-4557-8A2F-8054CD23013E}"/>
              </a:ext>
            </a:extLst>
          </p:cNvPr>
          <p:cNvSpPr/>
          <p:nvPr/>
        </p:nvSpPr>
        <p:spPr>
          <a:xfrm>
            <a:off x="6696968" y="3746253"/>
            <a:ext cx="1195174" cy="412950"/>
          </a:xfrm>
          <a:prstGeom prst="wedgeRoundRectCallout">
            <a:avLst>
              <a:gd name="adj1" fmla="val -63268"/>
              <a:gd name="adj2" fmla="val 2534"/>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This video</a:t>
            </a:r>
          </a:p>
        </p:txBody>
      </p:sp>
      <p:sp>
        <p:nvSpPr>
          <p:cNvPr id="12" name="Right Brace 11">
            <a:extLst>
              <a:ext uri="{FF2B5EF4-FFF2-40B4-BE49-F238E27FC236}">
                <a16:creationId xmlns:a16="http://schemas.microsoft.com/office/drawing/2014/main" xmlns="" id="{96E7B2B7-72CA-4F97-B64B-CA5A5F7F8FC6}"/>
              </a:ext>
            </a:extLst>
          </p:cNvPr>
          <p:cNvSpPr/>
          <p:nvPr/>
        </p:nvSpPr>
        <p:spPr>
          <a:xfrm>
            <a:off x="6008914" y="2366346"/>
            <a:ext cx="435429" cy="317276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Tree>
    <p:custDataLst>
      <p:tags r:id="rId1"/>
    </p:custDataLst>
    <p:extLst>
      <p:ext uri="{BB962C8B-B14F-4D97-AF65-F5344CB8AC3E}">
        <p14:creationId xmlns:p14="http://schemas.microsoft.com/office/powerpoint/2010/main" val="679231288"/>
      </p:ext>
    </p:extLst>
  </p:cSld>
  <p:clrMapOvr>
    <a:masterClrMapping/>
  </p:clrMapOvr>
  <mc:AlternateContent xmlns:mc="http://schemas.openxmlformats.org/markup-compatibility/2006" xmlns:p14="http://schemas.microsoft.com/office/powerpoint/2010/main">
    <mc:Choice Requires="p14">
      <p:transition spd="slow" p14:dur="2000" advTm="21367"/>
    </mc:Choice>
    <mc:Fallback xmlns="">
      <p:transition spd="slow" advTm="213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9FF09D-F5C5-4A00-BEEA-568114FE17D3}"/>
              </a:ext>
            </a:extLst>
          </p:cNvPr>
          <p:cNvSpPr>
            <a:spLocks noGrp="1"/>
          </p:cNvSpPr>
          <p:nvPr>
            <p:ph type="title"/>
          </p:nvPr>
        </p:nvSpPr>
        <p:spPr/>
        <p:txBody>
          <a:bodyPr/>
          <a:lstStyle/>
          <a:p>
            <a:r>
              <a:rPr lang="en-US" dirty="0"/>
              <a:t>SQL Queries</a:t>
            </a:r>
            <a:endParaRPr lang="en-GB" dirty="0"/>
          </a:p>
        </p:txBody>
      </p:sp>
      <p:sp>
        <p:nvSpPr>
          <p:cNvPr id="3" name="Content Placeholder 2">
            <a:extLst>
              <a:ext uri="{FF2B5EF4-FFF2-40B4-BE49-F238E27FC236}">
                <a16:creationId xmlns:a16="http://schemas.microsoft.com/office/drawing/2014/main" xmlns="" id="{D0169A9D-E695-4ED2-B54D-726C967F0DF7}"/>
              </a:ext>
            </a:extLst>
          </p:cNvPr>
          <p:cNvSpPr>
            <a:spLocks noGrp="1"/>
          </p:cNvSpPr>
          <p:nvPr>
            <p:ph idx="1"/>
          </p:nvPr>
        </p:nvSpPr>
        <p:spPr/>
        <p:txBody>
          <a:bodyPr/>
          <a:lstStyle/>
          <a:p>
            <a:r>
              <a:rPr lang="en-US" dirty="0"/>
              <a:t>Queries in SQL have the following form:</a:t>
            </a:r>
          </a:p>
          <a:p>
            <a:endParaRPr lang="en-GB" dirty="0">
              <a:solidFill>
                <a:srgbClr val="0070C0"/>
              </a:solidFill>
            </a:endParaRPr>
          </a:p>
        </p:txBody>
      </p:sp>
      <p:sp>
        <p:nvSpPr>
          <p:cNvPr id="5" name="Rectangle 4">
            <a:extLst>
              <a:ext uri="{FF2B5EF4-FFF2-40B4-BE49-F238E27FC236}">
                <a16:creationId xmlns:a16="http://schemas.microsoft.com/office/drawing/2014/main" xmlns="" id="{21961F09-0AB5-46DD-98FF-AC9A06F020DD}"/>
              </a:ext>
            </a:extLst>
          </p:cNvPr>
          <p:cNvSpPr/>
          <p:nvPr/>
        </p:nvSpPr>
        <p:spPr>
          <a:xfrm>
            <a:off x="1567935" y="2366346"/>
            <a:ext cx="4440979" cy="3172764"/>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3200" dirty="0">
                <a:solidFill>
                  <a:srgbClr val="FF0000"/>
                </a:solidFill>
              </a:rPr>
              <a:t>6. SELECT </a:t>
            </a:r>
          </a:p>
          <a:p>
            <a:r>
              <a:rPr lang="en-US" sz="3200" dirty="0">
                <a:solidFill>
                  <a:srgbClr val="FF0000"/>
                </a:solidFill>
              </a:rPr>
              <a:t>1. FROM</a:t>
            </a:r>
          </a:p>
          <a:p>
            <a:r>
              <a:rPr lang="en-US" sz="3200" dirty="0">
                <a:solidFill>
                  <a:srgbClr val="0070C0"/>
                </a:solidFill>
              </a:rPr>
              <a:t>2. WHERE</a:t>
            </a:r>
          </a:p>
          <a:p>
            <a:r>
              <a:rPr lang="en-US" sz="3200" dirty="0">
                <a:solidFill>
                  <a:srgbClr val="0070C0"/>
                </a:solidFill>
              </a:rPr>
              <a:t>3. GROUP BY</a:t>
            </a:r>
          </a:p>
          <a:p>
            <a:r>
              <a:rPr lang="en-US" sz="3200" dirty="0">
                <a:solidFill>
                  <a:srgbClr val="0070C0"/>
                </a:solidFill>
              </a:rPr>
              <a:t>4. HAVING</a:t>
            </a:r>
          </a:p>
          <a:p>
            <a:r>
              <a:rPr lang="en-US" sz="3200" dirty="0">
                <a:solidFill>
                  <a:srgbClr val="0070C0"/>
                </a:solidFill>
              </a:rPr>
              <a:t>5. ORDER BY</a:t>
            </a:r>
          </a:p>
        </p:txBody>
      </p:sp>
      <p:sp>
        <p:nvSpPr>
          <p:cNvPr id="10" name="Rounded Rectangular Callout 9">
            <a:extLst>
              <a:ext uri="{FF2B5EF4-FFF2-40B4-BE49-F238E27FC236}">
                <a16:creationId xmlns:a16="http://schemas.microsoft.com/office/drawing/2014/main" xmlns="" id="{BEB47060-2A04-4557-8A2F-8054CD23013E}"/>
              </a:ext>
            </a:extLst>
          </p:cNvPr>
          <p:cNvSpPr/>
          <p:nvPr/>
        </p:nvSpPr>
        <p:spPr>
          <a:xfrm>
            <a:off x="6696968" y="3746253"/>
            <a:ext cx="1195174" cy="412950"/>
          </a:xfrm>
          <a:prstGeom prst="wedgeRoundRectCallout">
            <a:avLst>
              <a:gd name="adj1" fmla="val -63268"/>
              <a:gd name="adj2" fmla="val 2534"/>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This video</a:t>
            </a:r>
          </a:p>
        </p:txBody>
      </p:sp>
      <p:sp>
        <p:nvSpPr>
          <p:cNvPr id="12" name="Right Brace 11">
            <a:extLst>
              <a:ext uri="{FF2B5EF4-FFF2-40B4-BE49-F238E27FC236}">
                <a16:creationId xmlns:a16="http://schemas.microsoft.com/office/drawing/2014/main" xmlns="" id="{96E7B2B7-72CA-4F97-B64B-CA5A5F7F8FC6}"/>
              </a:ext>
            </a:extLst>
          </p:cNvPr>
          <p:cNvSpPr/>
          <p:nvPr/>
        </p:nvSpPr>
        <p:spPr>
          <a:xfrm>
            <a:off x="6008914" y="2366346"/>
            <a:ext cx="435429" cy="317276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6" name="Rounded Rectangular Callout 9">
            <a:extLst>
              <a:ext uri="{FF2B5EF4-FFF2-40B4-BE49-F238E27FC236}">
                <a16:creationId xmlns:a16="http://schemas.microsoft.com/office/drawing/2014/main" xmlns="" id="{DF0F91AE-C921-4B4B-A224-A59847A0D5DE}"/>
              </a:ext>
            </a:extLst>
          </p:cNvPr>
          <p:cNvSpPr/>
          <p:nvPr/>
        </p:nvSpPr>
        <p:spPr>
          <a:xfrm>
            <a:off x="61626" y="4072825"/>
            <a:ext cx="1430501" cy="412950"/>
          </a:xfrm>
          <a:prstGeom prst="wedgeRoundRectCallout">
            <a:avLst>
              <a:gd name="adj1" fmla="val 58930"/>
              <a:gd name="adj2" fmla="val -226805"/>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No. = order of execution</a:t>
            </a:r>
          </a:p>
        </p:txBody>
      </p:sp>
    </p:spTree>
    <p:extLst>
      <p:ext uri="{BB962C8B-B14F-4D97-AF65-F5344CB8AC3E}">
        <p14:creationId xmlns:p14="http://schemas.microsoft.com/office/powerpoint/2010/main" val="3948957116"/>
      </p:ext>
    </p:extLst>
  </p:cSld>
  <p:clrMapOvr>
    <a:masterClrMapping/>
  </p:clrMapOvr>
  <mc:AlternateContent xmlns:mc="http://schemas.openxmlformats.org/markup-compatibility/2006" xmlns:p14="http://schemas.microsoft.com/office/powerpoint/2010/main">
    <mc:Choice Requires="p14">
      <p:transition spd="slow" p14:dur="2000" advTm="84214"/>
    </mc:Choice>
    <mc:Fallback xmlns="">
      <p:transition spd="slow" advTm="84214"/>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Views: as saved queries</a:t>
            </a:r>
          </a:p>
        </p:txBody>
      </p:sp>
      <p:sp>
        <p:nvSpPr>
          <p:cNvPr id="3" name="Content Placeholder 2"/>
          <p:cNvSpPr>
            <a:spLocks noGrp="1"/>
          </p:cNvSpPr>
          <p:nvPr>
            <p:ph idx="1"/>
          </p:nvPr>
        </p:nvSpPr>
        <p:spPr/>
        <p:txBody>
          <a:bodyPr/>
          <a:lstStyle/>
          <a:p>
            <a:r>
              <a:rPr lang="en-US" dirty="0"/>
              <a:t>Intuitively, saved queries or virtual tables</a:t>
            </a:r>
          </a:p>
          <a:p>
            <a:endParaRPr lang="en-US" dirty="0"/>
          </a:p>
        </p:txBody>
      </p:sp>
      <p:sp>
        <p:nvSpPr>
          <p:cNvPr id="16" name="TextBox 15">
            <a:extLst>
              <a:ext uri="{FF2B5EF4-FFF2-40B4-BE49-F238E27FC236}">
                <a16:creationId xmlns:a16="http://schemas.microsoft.com/office/drawing/2014/main" xmlns="" id="{ED97C1A6-5976-4C7D-885D-CB7DF97FB988}"/>
              </a:ext>
            </a:extLst>
          </p:cNvPr>
          <p:cNvSpPr txBox="1"/>
          <p:nvPr/>
        </p:nvSpPr>
        <p:spPr>
          <a:xfrm>
            <a:off x="6512132" y="2157121"/>
            <a:ext cx="1214692" cy="369332"/>
          </a:xfrm>
          <a:prstGeom prst="rect">
            <a:avLst/>
          </a:prstGeom>
          <a:noFill/>
        </p:spPr>
        <p:txBody>
          <a:bodyPr wrap="none" rtlCol="0">
            <a:spAutoFit/>
          </a:bodyPr>
          <a:lstStyle/>
          <a:p>
            <a:r>
              <a:rPr lang="en-US" b="1" dirty="0">
                <a:solidFill>
                  <a:srgbClr val="0070C0"/>
                </a:solidFill>
              </a:rPr>
              <a:t>Employees</a:t>
            </a:r>
          </a:p>
        </p:txBody>
      </p:sp>
      <p:sp>
        <p:nvSpPr>
          <p:cNvPr id="17" name="TextBox 16">
            <a:extLst>
              <a:ext uri="{FF2B5EF4-FFF2-40B4-BE49-F238E27FC236}">
                <a16:creationId xmlns:a16="http://schemas.microsoft.com/office/drawing/2014/main" xmlns="" id="{2BCECCDD-B85F-4731-B237-9E4B205230E1}"/>
              </a:ext>
            </a:extLst>
          </p:cNvPr>
          <p:cNvSpPr txBox="1"/>
          <p:nvPr/>
        </p:nvSpPr>
        <p:spPr>
          <a:xfrm>
            <a:off x="930729" y="3167787"/>
            <a:ext cx="5165271" cy="1141439"/>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2000" b="1" dirty="0"/>
              <a:t>SELECT </a:t>
            </a:r>
            <a:r>
              <a:rPr lang="en-US" sz="2000" b="1" dirty="0" err="1"/>
              <a:t>first_name</a:t>
            </a:r>
            <a:r>
              <a:rPr lang="en-US" sz="2000" b="1" dirty="0"/>
              <a:t>, </a:t>
            </a:r>
            <a:r>
              <a:rPr lang="en-US" sz="2000" b="1" dirty="0" err="1"/>
              <a:t>e_id</a:t>
            </a:r>
            <a:r>
              <a:rPr lang="en-US" sz="2000" b="1" dirty="0"/>
              <a:t>, COUNT(</a:t>
            </a:r>
            <a:r>
              <a:rPr lang="en-US" sz="2000" b="1" dirty="0" err="1"/>
              <a:t>t_id</a:t>
            </a:r>
            <a:r>
              <a:rPr lang="en-US" sz="2000" b="1" dirty="0"/>
              <a:t>)</a:t>
            </a:r>
            <a:endParaRPr lang="en-US" sz="2000" b="1" dirty="0">
              <a:solidFill>
                <a:schemeClr val="accent3"/>
              </a:solidFill>
            </a:endParaRPr>
          </a:p>
          <a:p>
            <a:r>
              <a:rPr lang="en-US" sz="2000" b="1" dirty="0"/>
              <a:t>FROM </a:t>
            </a:r>
            <a:r>
              <a:rPr lang="en-US" sz="2000" b="1" dirty="0">
                <a:solidFill>
                  <a:srgbClr val="0070C0"/>
                </a:solidFill>
              </a:rPr>
              <a:t>Employees</a:t>
            </a:r>
            <a:r>
              <a:rPr lang="en-US" sz="2000" b="1" dirty="0"/>
              <a:t> NATURAL JOIN </a:t>
            </a:r>
            <a:r>
              <a:rPr lang="en-US" sz="2000" b="1" dirty="0">
                <a:solidFill>
                  <a:srgbClr val="FF0000"/>
                </a:solidFill>
              </a:rPr>
              <a:t>Transactions</a:t>
            </a:r>
            <a:endParaRPr lang="en-US" sz="2000" b="1" dirty="0">
              <a:solidFill>
                <a:schemeClr val="accent3"/>
              </a:solidFill>
            </a:endParaRPr>
          </a:p>
          <a:p>
            <a:r>
              <a:rPr lang="en-US" sz="2000" b="1" dirty="0"/>
              <a:t>GROUP BY </a:t>
            </a:r>
            <a:r>
              <a:rPr lang="en-US" sz="2000" b="1" dirty="0" err="1"/>
              <a:t>first_name</a:t>
            </a:r>
            <a:r>
              <a:rPr lang="en-US" sz="2000" b="1" dirty="0"/>
              <a:t>, </a:t>
            </a:r>
            <a:r>
              <a:rPr lang="en-US" sz="2000" b="1" dirty="0" err="1"/>
              <a:t>e_id</a:t>
            </a:r>
            <a:r>
              <a:rPr lang="en-US" sz="2000" b="1" dirty="0"/>
              <a:t>;</a:t>
            </a:r>
          </a:p>
        </p:txBody>
      </p:sp>
      <p:graphicFrame>
        <p:nvGraphicFramePr>
          <p:cNvPr id="10" name="Table 9">
            <a:extLst>
              <a:ext uri="{FF2B5EF4-FFF2-40B4-BE49-F238E27FC236}">
                <a16:creationId xmlns:a16="http://schemas.microsoft.com/office/drawing/2014/main" xmlns="" id="{1EE7532C-625C-42C9-82D2-6AC0C34EBE47}"/>
              </a:ext>
            </a:extLst>
          </p:cNvPr>
          <p:cNvGraphicFramePr>
            <a:graphicFrameLocks noGrp="1"/>
          </p:cNvGraphicFramePr>
          <p:nvPr/>
        </p:nvGraphicFramePr>
        <p:xfrm>
          <a:off x="6561609" y="4700451"/>
          <a:ext cx="4595889"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677688">
                  <a:extLst>
                    <a:ext uri="{9D8B030D-6E8A-4147-A177-3AD203B41FA5}">
                      <a16:colId xmlns:a16="http://schemas.microsoft.com/office/drawing/2014/main" xmlns="" val="20000"/>
                    </a:ext>
                  </a:extLst>
                </a:gridCol>
                <a:gridCol w="1449253">
                  <a:extLst>
                    <a:ext uri="{9D8B030D-6E8A-4147-A177-3AD203B41FA5}">
                      <a16:colId xmlns:a16="http://schemas.microsoft.com/office/drawing/2014/main" xmlns="" val="20001"/>
                    </a:ext>
                  </a:extLst>
                </a:gridCol>
                <a:gridCol w="1468948">
                  <a:extLst>
                    <a:ext uri="{9D8B030D-6E8A-4147-A177-3AD203B41FA5}">
                      <a16:colId xmlns:a16="http://schemas.microsoft.com/office/drawing/2014/main" xmlns="" val="1242789684"/>
                    </a:ext>
                  </a:extLst>
                </a:gridCol>
              </a:tblGrid>
              <a:tr h="0">
                <a:tc>
                  <a:txBody>
                    <a:bodyPr/>
                    <a:lstStyle/>
                    <a:p>
                      <a:r>
                        <a:rPr lang="en-US" dirty="0" err="1"/>
                        <a:t>t_id</a:t>
                      </a:r>
                      <a:endParaRPr lang="en-US" dirty="0"/>
                    </a:p>
                  </a:txBody>
                  <a:tcPr/>
                </a:tc>
                <a:tc>
                  <a:txBody>
                    <a:bodyPr/>
                    <a:lstStyle/>
                    <a:p>
                      <a:r>
                        <a:rPr lang="en-US" dirty="0" err="1"/>
                        <a:t>c_id</a:t>
                      </a:r>
                      <a:endParaRPr lang="en-US" dirty="0"/>
                    </a:p>
                  </a:txBody>
                  <a:tcPr/>
                </a:tc>
                <a:tc>
                  <a:txBody>
                    <a:bodyPr/>
                    <a:lstStyle/>
                    <a:p>
                      <a:r>
                        <a:rPr lang="en-US" dirty="0" err="1"/>
                        <a:t>e_id</a:t>
                      </a:r>
                      <a:endParaRPr lang="en-US" dirty="0"/>
                    </a:p>
                  </a:txBody>
                  <a:tcPr/>
                </a:tc>
                <a:extLst>
                  <a:ext uri="{0D108BD9-81ED-4DB2-BD59-A6C34878D82A}">
                    <a16:rowId xmlns:a16="http://schemas.microsoft.com/office/drawing/2014/main" xmlns="" val="10000"/>
                  </a:ext>
                </a:extLst>
              </a:tr>
              <a:tr h="370840">
                <a:tc>
                  <a:txBody>
                    <a:bodyPr/>
                    <a:lstStyle/>
                    <a:p>
                      <a:r>
                        <a:rPr lang="en-US" dirty="0"/>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3</a:t>
                      </a:r>
                      <a:endParaRPr lang="en-US" dirty="0"/>
                    </a:p>
                  </a:txBody>
                  <a:tcPr/>
                </a:tc>
                <a:tc>
                  <a:txBody>
                    <a:bodyPr/>
                    <a:lstStyle/>
                    <a:p>
                      <a:r>
                        <a:rPr lang="en-US" dirty="0"/>
                        <a:t>1</a:t>
                      </a:r>
                    </a:p>
                  </a:txBody>
                  <a:tcPr/>
                </a:tc>
                <a:extLst>
                  <a:ext uri="{0D108BD9-81ED-4DB2-BD59-A6C34878D82A}">
                    <a16:rowId xmlns:a16="http://schemas.microsoft.com/office/drawing/2014/main" xmlns="" val="10001"/>
                  </a:ext>
                </a:extLst>
              </a:tr>
              <a:tr h="370840">
                <a:tc>
                  <a:txBody>
                    <a:bodyPr/>
                    <a:lstStyle/>
                    <a:p>
                      <a:r>
                        <a:rPr lang="en-US"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6</a:t>
                      </a:r>
                      <a:endParaRPr lang="en-US" dirty="0"/>
                    </a:p>
                  </a:txBody>
                  <a:tcPr/>
                </a:tc>
                <a:tc>
                  <a:txBody>
                    <a:bodyPr/>
                    <a:lstStyle/>
                    <a:p>
                      <a:r>
                        <a:rPr lang="en-US" dirty="0"/>
                        <a:t>1</a:t>
                      </a:r>
                    </a:p>
                  </a:txBody>
                  <a:tcPr/>
                </a:tc>
                <a:extLst>
                  <a:ext uri="{0D108BD9-81ED-4DB2-BD59-A6C34878D82A}">
                    <a16:rowId xmlns:a16="http://schemas.microsoft.com/office/drawing/2014/main" xmlns="" val="10002"/>
                  </a:ext>
                </a:extLst>
              </a:tr>
              <a:tr h="370840">
                <a:tc>
                  <a:txBody>
                    <a:bodyPr/>
                    <a:lstStyle/>
                    <a:p>
                      <a:r>
                        <a:rPr lang="en-US" dirty="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19</a:t>
                      </a:r>
                    </a:p>
                  </a:txBody>
                  <a:tcPr/>
                </a:tc>
                <a:tc>
                  <a:txBody>
                    <a:bodyPr/>
                    <a:lstStyle/>
                    <a:p>
                      <a:r>
                        <a:rPr lang="en-US" dirty="0"/>
                        <a:t>3</a:t>
                      </a:r>
                    </a:p>
                  </a:txBody>
                  <a:tcPr/>
                </a:tc>
                <a:extLst>
                  <a:ext uri="{0D108BD9-81ED-4DB2-BD59-A6C34878D82A}">
                    <a16:rowId xmlns:a16="http://schemas.microsoft.com/office/drawing/2014/main" xmlns="" val="10003"/>
                  </a:ext>
                </a:extLst>
              </a:tr>
            </a:tbl>
          </a:graphicData>
        </a:graphic>
      </p:graphicFrame>
      <p:sp>
        <p:nvSpPr>
          <p:cNvPr id="20" name="TextBox 19">
            <a:extLst>
              <a:ext uri="{FF2B5EF4-FFF2-40B4-BE49-F238E27FC236}">
                <a16:creationId xmlns:a16="http://schemas.microsoft.com/office/drawing/2014/main" xmlns="" id="{83AD9610-921B-4EFD-9376-05C35D07CD86}"/>
              </a:ext>
            </a:extLst>
          </p:cNvPr>
          <p:cNvSpPr txBox="1"/>
          <p:nvPr/>
        </p:nvSpPr>
        <p:spPr>
          <a:xfrm>
            <a:off x="6486486" y="4331119"/>
            <a:ext cx="1376402" cy="369332"/>
          </a:xfrm>
          <a:prstGeom prst="rect">
            <a:avLst/>
          </a:prstGeom>
          <a:noFill/>
        </p:spPr>
        <p:txBody>
          <a:bodyPr wrap="none" rtlCol="0">
            <a:spAutoFit/>
          </a:bodyPr>
          <a:lstStyle/>
          <a:p>
            <a:r>
              <a:rPr lang="en-US" b="1" dirty="0">
                <a:solidFill>
                  <a:srgbClr val="FF0000"/>
                </a:solidFill>
              </a:rPr>
              <a:t>Transactions</a:t>
            </a:r>
          </a:p>
        </p:txBody>
      </p:sp>
      <p:graphicFrame>
        <p:nvGraphicFramePr>
          <p:cNvPr id="21" name="Table 20">
            <a:extLst>
              <a:ext uri="{FF2B5EF4-FFF2-40B4-BE49-F238E27FC236}">
                <a16:creationId xmlns:a16="http://schemas.microsoft.com/office/drawing/2014/main" xmlns="" id="{A1E7E64C-F3D1-4475-8675-DD78A9201715}"/>
              </a:ext>
            </a:extLst>
          </p:cNvPr>
          <p:cNvGraphicFramePr>
            <a:graphicFrameLocks noGrp="1"/>
          </p:cNvGraphicFramePr>
          <p:nvPr>
            <p:extLst>
              <p:ext uri="{D42A27DB-BD31-4B8C-83A1-F6EECF244321}">
                <p14:modId xmlns:p14="http://schemas.microsoft.com/office/powerpoint/2010/main" val="2263608666"/>
              </p:ext>
            </p:extLst>
          </p:nvPr>
        </p:nvGraphicFramePr>
        <p:xfrm>
          <a:off x="1034502" y="4916473"/>
          <a:ext cx="3945405" cy="110744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273263">
                  <a:extLst>
                    <a:ext uri="{9D8B030D-6E8A-4147-A177-3AD203B41FA5}">
                      <a16:colId xmlns:a16="http://schemas.microsoft.com/office/drawing/2014/main" xmlns="" val="504845270"/>
                    </a:ext>
                  </a:extLst>
                </a:gridCol>
                <a:gridCol w="1273263">
                  <a:extLst>
                    <a:ext uri="{9D8B030D-6E8A-4147-A177-3AD203B41FA5}">
                      <a16:colId xmlns:a16="http://schemas.microsoft.com/office/drawing/2014/main" xmlns="" val="20001"/>
                    </a:ext>
                  </a:extLst>
                </a:gridCol>
                <a:gridCol w="1398879">
                  <a:extLst>
                    <a:ext uri="{9D8B030D-6E8A-4147-A177-3AD203B41FA5}">
                      <a16:colId xmlns:a16="http://schemas.microsoft.com/office/drawing/2014/main" xmlns="" val="20002"/>
                    </a:ext>
                  </a:extLst>
                </a:gridCol>
              </a:tblGrid>
              <a:tr h="0">
                <a:tc>
                  <a:txBody>
                    <a:bodyPr/>
                    <a:lstStyle/>
                    <a:p>
                      <a:r>
                        <a:rPr lang="en-US" dirty="0" err="1"/>
                        <a:t>first_name</a:t>
                      </a:r>
                      <a:endParaRPr lang="en-US" dirty="0"/>
                    </a:p>
                  </a:txBody>
                  <a:tcPr/>
                </a:tc>
                <a:tc>
                  <a:txBody>
                    <a:bodyPr/>
                    <a:lstStyle/>
                    <a:p>
                      <a:r>
                        <a:rPr lang="en-US" dirty="0" err="1"/>
                        <a:t>e_id</a:t>
                      </a:r>
                      <a:endParaRPr lang="en-US" dirty="0"/>
                    </a:p>
                  </a:txBody>
                  <a:tcPr/>
                </a:tc>
                <a:tc>
                  <a:txBody>
                    <a:bodyPr/>
                    <a:lstStyle/>
                    <a:p>
                      <a:r>
                        <a:rPr lang="en-US" dirty="0"/>
                        <a:t>COUNT(</a:t>
                      </a:r>
                      <a:r>
                        <a:rPr lang="en-US" dirty="0" err="1"/>
                        <a:t>t_id</a:t>
                      </a:r>
                      <a:r>
                        <a:rPr lang="en-US" dirty="0"/>
                        <a:t>)</a:t>
                      </a:r>
                    </a:p>
                  </a:txBody>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Anne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1</a:t>
                      </a:r>
                      <a:endParaRPr lang="en-US" dirty="0"/>
                    </a:p>
                  </a:txBody>
                  <a:tcPr/>
                </a:tc>
                <a:tc>
                  <a:txBody>
                    <a:bodyPr/>
                    <a:lstStyle/>
                    <a:p>
                      <a:r>
                        <a:rPr lang="en-US" dirty="0"/>
                        <a:t>2</a:t>
                      </a:r>
                    </a:p>
                  </a:txBody>
                  <a:tcPr/>
                </a:tc>
                <a:extLst>
                  <a:ext uri="{0D108BD9-81ED-4DB2-BD59-A6C34878D82A}">
                    <a16:rowId xmlns:a16="http://schemas.microsoft.com/office/drawing/2014/main" xmlns=""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3</a:t>
                      </a:r>
                      <a:endParaRPr lang="en-US" dirty="0"/>
                    </a:p>
                  </a:txBody>
                  <a:tcPr/>
                </a:tc>
                <a:tc>
                  <a:txBody>
                    <a:bodyPr/>
                    <a:lstStyle/>
                    <a:p>
                      <a:r>
                        <a:rPr lang="en-US" dirty="0"/>
                        <a:t>1</a:t>
                      </a:r>
                    </a:p>
                  </a:txBody>
                  <a:tcPr/>
                </a:tc>
                <a:extLst>
                  <a:ext uri="{0D108BD9-81ED-4DB2-BD59-A6C34878D82A}">
                    <a16:rowId xmlns:a16="http://schemas.microsoft.com/office/drawing/2014/main" xmlns="" val="10002"/>
                  </a:ext>
                </a:extLst>
              </a:tr>
            </a:tbl>
          </a:graphicData>
        </a:graphic>
      </p:graphicFrame>
      <p:cxnSp>
        <p:nvCxnSpPr>
          <p:cNvPr id="22" name="Straight Arrow Connector 21">
            <a:extLst>
              <a:ext uri="{FF2B5EF4-FFF2-40B4-BE49-F238E27FC236}">
                <a16:creationId xmlns:a16="http://schemas.microsoft.com/office/drawing/2014/main" xmlns="" id="{0878F64B-97B2-4B82-A1E6-2D1F8C3CD561}"/>
              </a:ext>
            </a:extLst>
          </p:cNvPr>
          <p:cNvCxnSpPr>
            <a:cxnSpLocks/>
          </p:cNvCxnSpPr>
          <p:nvPr/>
        </p:nvCxnSpPr>
        <p:spPr>
          <a:xfrm flipH="1" flipV="1">
            <a:off x="6126480" y="4331119"/>
            <a:ext cx="435131" cy="49717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xmlns="" id="{074EEF35-8F52-4A78-B566-843F0D30E6C1}"/>
              </a:ext>
            </a:extLst>
          </p:cNvPr>
          <p:cNvCxnSpPr>
            <a:cxnSpLocks/>
          </p:cNvCxnSpPr>
          <p:nvPr/>
        </p:nvCxnSpPr>
        <p:spPr>
          <a:xfrm flipH="1">
            <a:off x="6096000" y="3214569"/>
            <a:ext cx="463792" cy="151494"/>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xmlns="" id="{BDF15EE3-6330-4F87-8BA6-ABD11ACF8DEF}"/>
              </a:ext>
            </a:extLst>
          </p:cNvPr>
          <p:cNvCxnSpPr>
            <a:cxnSpLocks/>
          </p:cNvCxnSpPr>
          <p:nvPr/>
        </p:nvCxnSpPr>
        <p:spPr>
          <a:xfrm flipH="1">
            <a:off x="4875622" y="4367283"/>
            <a:ext cx="269600" cy="482456"/>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xmlns="" id="{E5E28B7C-770A-4BC2-80C3-724D155CFBC2}"/>
              </a:ext>
            </a:extLst>
          </p:cNvPr>
          <p:cNvGraphicFramePr>
            <a:graphicFrameLocks noGrp="1"/>
          </p:cNvGraphicFramePr>
          <p:nvPr>
            <p:extLst>
              <p:ext uri="{D42A27DB-BD31-4B8C-83A1-F6EECF244321}">
                <p14:modId xmlns:p14="http://schemas.microsoft.com/office/powerpoint/2010/main" val="1122512125"/>
              </p:ext>
            </p:extLst>
          </p:nvPr>
        </p:nvGraphicFramePr>
        <p:xfrm>
          <a:off x="6559792" y="2560441"/>
          <a:ext cx="5510648"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478483">
                  <a:extLst>
                    <a:ext uri="{9D8B030D-6E8A-4147-A177-3AD203B41FA5}">
                      <a16:colId xmlns:a16="http://schemas.microsoft.com/office/drawing/2014/main" xmlns="" val="20000"/>
                    </a:ext>
                  </a:extLst>
                </a:gridCol>
                <a:gridCol w="1318662">
                  <a:extLst>
                    <a:ext uri="{9D8B030D-6E8A-4147-A177-3AD203B41FA5}">
                      <a16:colId xmlns:a16="http://schemas.microsoft.com/office/drawing/2014/main" xmlns="" val="20001"/>
                    </a:ext>
                  </a:extLst>
                </a:gridCol>
                <a:gridCol w="1448758">
                  <a:extLst>
                    <a:ext uri="{9D8B030D-6E8A-4147-A177-3AD203B41FA5}">
                      <a16:colId xmlns:a16="http://schemas.microsoft.com/office/drawing/2014/main" xmlns="" val="20002"/>
                    </a:ext>
                  </a:extLst>
                </a:gridCol>
                <a:gridCol w="1264745">
                  <a:extLst>
                    <a:ext uri="{9D8B030D-6E8A-4147-A177-3AD203B41FA5}">
                      <a16:colId xmlns:a16="http://schemas.microsoft.com/office/drawing/2014/main" xmlns="" val="1242789684"/>
                    </a:ext>
                  </a:extLst>
                </a:gridCol>
              </a:tblGrid>
              <a:tr h="0">
                <a:tc>
                  <a:txBody>
                    <a:bodyPr/>
                    <a:lstStyle/>
                    <a:p>
                      <a:r>
                        <a:rPr lang="en-US" dirty="0"/>
                        <a:t>birthday</a:t>
                      </a:r>
                    </a:p>
                  </a:txBody>
                  <a:tcPr/>
                </a:tc>
                <a:tc>
                  <a:txBody>
                    <a:bodyPr/>
                    <a:lstStyle/>
                    <a:p>
                      <a:r>
                        <a:rPr lang="en-US" dirty="0" err="1"/>
                        <a:t>first_name</a:t>
                      </a:r>
                      <a:endParaRPr lang="en-US" dirty="0"/>
                    </a:p>
                  </a:txBody>
                  <a:tcPr/>
                </a:tc>
                <a:tc>
                  <a:txBody>
                    <a:bodyPr/>
                    <a:lstStyle/>
                    <a:p>
                      <a:r>
                        <a:rPr lang="en-US" dirty="0" err="1"/>
                        <a:t>family_name</a:t>
                      </a:r>
                      <a:endParaRPr lang="en-US" dirty="0"/>
                    </a:p>
                  </a:txBody>
                  <a:tcPr/>
                </a:tc>
                <a:tc>
                  <a:txBody>
                    <a:bodyPr/>
                    <a:lstStyle/>
                    <a:p>
                      <a:r>
                        <a:rPr lang="en-US" dirty="0" err="1"/>
                        <a:t>e_id</a:t>
                      </a:r>
                      <a:endParaRPr lang="en-US" dirty="0"/>
                    </a:p>
                  </a:txBody>
                  <a:tcPr/>
                </a:tc>
                <a:extLst>
                  <a:ext uri="{0D108BD9-81ED-4DB2-BD59-A6C34878D82A}">
                    <a16:rowId xmlns:a16="http://schemas.microsoft.com/office/drawing/2014/main" xmlns="" val="10000"/>
                  </a:ext>
                </a:extLst>
              </a:tr>
              <a:tr h="370840">
                <a:tc>
                  <a:txBody>
                    <a:bodyPr/>
                    <a:lstStyle/>
                    <a:p>
                      <a:r>
                        <a:rPr lang="en-US" dirty="0"/>
                        <a:t>1990-11-10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Anne</a:t>
                      </a:r>
                      <a:endParaRPr lang="en-US" dirty="0"/>
                    </a:p>
                  </a:txBody>
                  <a:tcPr/>
                </a:tc>
                <a:tc>
                  <a:txBody>
                    <a:bodyPr/>
                    <a:lstStyle/>
                    <a:p>
                      <a:r>
                        <a:rPr lang="en-US" dirty="0"/>
                        <a:t>Smith</a:t>
                      </a:r>
                    </a:p>
                  </a:txBody>
                  <a:tcPr/>
                </a:tc>
                <a:tc>
                  <a:txBody>
                    <a:bodyPr/>
                    <a:lstStyle/>
                    <a:p>
                      <a:r>
                        <a:rPr lang="en-US" dirty="0"/>
                        <a:t>1</a:t>
                      </a:r>
                    </a:p>
                  </a:txBody>
                  <a:tcPr/>
                </a:tc>
                <a:extLst>
                  <a:ext uri="{0D108BD9-81ED-4DB2-BD59-A6C34878D82A}">
                    <a16:rowId xmlns:a16="http://schemas.microsoft.com/office/drawing/2014/main" xmlns="" val="10001"/>
                  </a:ext>
                </a:extLst>
              </a:tr>
              <a:tr h="370840">
                <a:tc>
                  <a:txBody>
                    <a:bodyPr/>
                    <a:lstStyle/>
                    <a:p>
                      <a:r>
                        <a:rPr lang="en-US" dirty="0"/>
                        <a:t>2000-02-05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David</a:t>
                      </a:r>
                      <a:endParaRPr lang="en-US" dirty="0"/>
                    </a:p>
                  </a:txBody>
                  <a:tcPr/>
                </a:tc>
                <a:tc>
                  <a:txBody>
                    <a:bodyPr/>
                    <a:lstStyle/>
                    <a:p>
                      <a:r>
                        <a:rPr lang="en-US" dirty="0"/>
                        <a:t>Jones</a:t>
                      </a:r>
                    </a:p>
                  </a:txBody>
                  <a:tcPr/>
                </a:tc>
                <a:tc>
                  <a:txBody>
                    <a:bodyPr/>
                    <a:lstStyle/>
                    <a:p>
                      <a:r>
                        <a:rPr lang="en-US" dirty="0"/>
                        <a:t>2</a:t>
                      </a:r>
                    </a:p>
                  </a:txBody>
                  <a:tcPr/>
                </a:tc>
                <a:extLst>
                  <a:ext uri="{0D108BD9-81ED-4DB2-BD59-A6C34878D82A}">
                    <a16:rowId xmlns:a16="http://schemas.microsoft.com/office/drawing/2014/main" xmlns="" val="10002"/>
                  </a:ext>
                </a:extLst>
              </a:tr>
              <a:tr h="370840">
                <a:tc>
                  <a:txBody>
                    <a:bodyPr/>
                    <a:lstStyle/>
                    <a:p>
                      <a:r>
                        <a:rPr lang="en-US" dirty="0"/>
                        <a:t>1995-05-09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r>
                        <a:rPr lang="en-GB" dirty="0"/>
                        <a:t>Taylor</a:t>
                      </a:r>
                      <a:endParaRPr lang="en-US" dirty="0"/>
                    </a:p>
                  </a:txBody>
                  <a:tcPr/>
                </a:tc>
                <a:tc>
                  <a:txBody>
                    <a:bodyPr/>
                    <a:lstStyle/>
                    <a:p>
                      <a:r>
                        <a:rPr lang="en-US" dirty="0"/>
                        <a:t>3</a:t>
                      </a:r>
                    </a:p>
                  </a:txBody>
                  <a:tcPr/>
                </a:tc>
                <a:extLst>
                  <a:ext uri="{0D108BD9-81ED-4DB2-BD59-A6C34878D82A}">
                    <a16:rowId xmlns:a16="http://schemas.microsoft.com/office/drawing/2014/main" xmlns="" val="10003"/>
                  </a:ext>
                </a:extLst>
              </a:tr>
            </a:tbl>
          </a:graphicData>
        </a:graphic>
      </p:graphicFrame>
    </p:spTree>
    <p:custDataLst>
      <p:tags r:id="rId1"/>
    </p:custDataLst>
    <p:extLst>
      <p:ext uri="{BB962C8B-B14F-4D97-AF65-F5344CB8AC3E}">
        <p14:creationId xmlns:p14="http://schemas.microsoft.com/office/powerpoint/2010/main" val="598778277"/>
      </p:ext>
    </p:extLst>
  </p:cSld>
  <p:clrMapOvr>
    <a:masterClrMapping/>
  </p:clrMapOvr>
  <mc:AlternateContent xmlns:mc="http://schemas.openxmlformats.org/markup-compatibility/2006" xmlns:p14="http://schemas.microsoft.com/office/powerpoint/2010/main">
    <mc:Choice Requires="p14">
      <p:transition spd="slow" p14:dur="2000" advTm="95723"/>
    </mc:Choice>
    <mc:Fallback xmlns="">
      <p:transition spd="slow" advTm="9572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Views: as saved queries</a:t>
            </a:r>
          </a:p>
        </p:txBody>
      </p:sp>
      <p:sp>
        <p:nvSpPr>
          <p:cNvPr id="3" name="Content Placeholder 2"/>
          <p:cNvSpPr>
            <a:spLocks noGrp="1"/>
          </p:cNvSpPr>
          <p:nvPr>
            <p:ph idx="1"/>
          </p:nvPr>
        </p:nvSpPr>
        <p:spPr/>
        <p:txBody>
          <a:bodyPr/>
          <a:lstStyle/>
          <a:p>
            <a:r>
              <a:rPr lang="en-US" dirty="0"/>
              <a:t>Intuitively, saved queries or virtual tables</a:t>
            </a:r>
          </a:p>
          <a:p>
            <a:endParaRPr lang="en-US" dirty="0"/>
          </a:p>
        </p:txBody>
      </p:sp>
      <p:graphicFrame>
        <p:nvGraphicFramePr>
          <p:cNvPr id="15" name="Table 14">
            <a:extLst>
              <a:ext uri="{FF2B5EF4-FFF2-40B4-BE49-F238E27FC236}">
                <a16:creationId xmlns:a16="http://schemas.microsoft.com/office/drawing/2014/main" xmlns="" id="{B45AE15C-F17E-42D4-B50B-EE7B6E04432D}"/>
              </a:ext>
            </a:extLst>
          </p:cNvPr>
          <p:cNvGraphicFramePr>
            <a:graphicFrameLocks noGrp="1"/>
          </p:cNvGraphicFramePr>
          <p:nvPr/>
        </p:nvGraphicFramePr>
        <p:xfrm>
          <a:off x="6607628" y="2526453"/>
          <a:ext cx="5400599"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270729">
                  <a:extLst>
                    <a:ext uri="{9D8B030D-6E8A-4147-A177-3AD203B41FA5}">
                      <a16:colId xmlns:a16="http://schemas.microsoft.com/office/drawing/2014/main" xmlns="" val="20000"/>
                    </a:ext>
                  </a:extLst>
                </a:gridCol>
                <a:gridCol w="2401678">
                  <a:extLst>
                    <a:ext uri="{9D8B030D-6E8A-4147-A177-3AD203B41FA5}">
                      <a16:colId xmlns:a16="http://schemas.microsoft.com/office/drawing/2014/main" xmlns="" val="20001"/>
                    </a:ext>
                  </a:extLst>
                </a:gridCol>
                <a:gridCol w="1728192">
                  <a:extLst>
                    <a:ext uri="{9D8B030D-6E8A-4147-A177-3AD203B41FA5}">
                      <a16:colId xmlns:a16="http://schemas.microsoft.com/office/drawing/2014/main" xmlns="" val="20002"/>
                    </a:ext>
                  </a:extLst>
                </a:gridCol>
              </a:tblGrid>
              <a:tr h="0">
                <a:tc>
                  <a:txBody>
                    <a:bodyPr/>
                    <a:lstStyle/>
                    <a:p>
                      <a:r>
                        <a:rPr lang="en-US" dirty="0"/>
                        <a:t>birthday</a:t>
                      </a:r>
                    </a:p>
                  </a:txBody>
                  <a:tcPr/>
                </a:tc>
                <a:tc>
                  <a:txBody>
                    <a:bodyPr/>
                    <a:lstStyle/>
                    <a:p>
                      <a:r>
                        <a:rPr lang="en-US" dirty="0" err="1"/>
                        <a:t>first_name</a:t>
                      </a:r>
                      <a:endParaRPr lang="en-US" dirty="0"/>
                    </a:p>
                  </a:txBody>
                  <a:tcPr/>
                </a:tc>
                <a:tc>
                  <a:txBody>
                    <a:bodyPr/>
                    <a:lstStyle/>
                    <a:p>
                      <a:r>
                        <a:rPr lang="en-US" dirty="0" err="1"/>
                        <a:t>family_name</a:t>
                      </a:r>
                      <a:endParaRPr lang="en-US" dirty="0"/>
                    </a:p>
                  </a:txBody>
                  <a:tcPr/>
                </a:tc>
                <a:extLst>
                  <a:ext uri="{0D108BD9-81ED-4DB2-BD59-A6C34878D82A}">
                    <a16:rowId xmlns:a16="http://schemas.microsoft.com/office/drawing/2014/main" xmlns="" val="10000"/>
                  </a:ext>
                </a:extLst>
              </a:tr>
              <a:tr h="370840">
                <a:tc>
                  <a:txBody>
                    <a:bodyPr/>
                    <a:lstStyle/>
                    <a:p>
                      <a:r>
                        <a:rPr lang="en-US" dirty="0"/>
                        <a:t>1990-11-10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Anne</a:t>
                      </a:r>
                      <a:endParaRPr lang="en-US" dirty="0"/>
                    </a:p>
                  </a:txBody>
                  <a:tcPr/>
                </a:tc>
                <a:tc>
                  <a:txBody>
                    <a:bodyPr/>
                    <a:lstStyle/>
                    <a:p>
                      <a:r>
                        <a:rPr lang="en-US" dirty="0"/>
                        <a:t>Smith</a:t>
                      </a:r>
                    </a:p>
                  </a:txBody>
                  <a:tcPr/>
                </a:tc>
                <a:extLst>
                  <a:ext uri="{0D108BD9-81ED-4DB2-BD59-A6C34878D82A}">
                    <a16:rowId xmlns:a16="http://schemas.microsoft.com/office/drawing/2014/main" xmlns="" val="10001"/>
                  </a:ext>
                </a:extLst>
              </a:tr>
              <a:tr h="370840">
                <a:tc>
                  <a:txBody>
                    <a:bodyPr/>
                    <a:lstStyle/>
                    <a:p>
                      <a:r>
                        <a:rPr lang="en-US" dirty="0"/>
                        <a:t>2000-02-05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David</a:t>
                      </a:r>
                      <a:endParaRPr lang="en-US" dirty="0"/>
                    </a:p>
                  </a:txBody>
                  <a:tcPr/>
                </a:tc>
                <a:tc>
                  <a:txBody>
                    <a:bodyPr/>
                    <a:lstStyle/>
                    <a:p>
                      <a:r>
                        <a:rPr lang="en-US" dirty="0"/>
                        <a:t>Jones</a:t>
                      </a:r>
                    </a:p>
                  </a:txBody>
                  <a:tcPr/>
                </a:tc>
                <a:extLst>
                  <a:ext uri="{0D108BD9-81ED-4DB2-BD59-A6C34878D82A}">
                    <a16:rowId xmlns:a16="http://schemas.microsoft.com/office/drawing/2014/main" xmlns="" val="10002"/>
                  </a:ext>
                </a:extLst>
              </a:tr>
              <a:tr h="370840">
                <a:tc>
                  <a:txBody>
                    <a:bodyPr/>
                    <a:lstStyle/>
                    <a:p>
                      <a:r>
                        <a:rPr lang="en-US" dirty="0"/>
                        <a:t>1995-05-09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r>
                        <a:rPr lang="en-GB" dirty="0"/>
                        <a:t>Taylor</a:t>
                      </a:r>
                      <a:endParaRPr lang="en-US" dirty="0"/>
                    </a:p>
                  </a:txBody>
                  <a:tcPr/>
                </a:tc>
                <a:extLst>
                  <a:ext uri="{0D108BD9-81ED-4DB2-BD59-A6C34878D82A}">
                    <a16:rowId xmlns:a16="http://schemas.microsoft.com/office/drawing/2014/main" xmlns="" val="10003"/>
                  </a:ext>
                </a:extLst>
              </a:tr>
            </a:tbl>
          </a:graphicData>
        </a:graphic>
      </p:graphicFrame>
      <p:sp>
        <p:nvSpPr>
          <p:cNvPr id="16" name="TextBox 15">
            <a:extLst>
              <a:ext uri="{FF2B5EF4-FFF2-40B4-BE49-F238E27FC236}">
                <a16:creationId xmlns:a16="http://schemas.microsoft.com/office/drawing/2014/main" xmlns="" id="{ED97C1A6-5976-4C7D-885D-CB7DF97FB988}"/>
              </a:ext>
            </a:extLst>
          </p:cNvPr>
          <p:cNvSpPr txBox="1"/>
          <p:nvPr/>
        </p:nvSpPr>
        <p:spPr>
          <a:xfrm>
            <a:off x="6512132" y="2157121"/>
            <a:ext cx="1214692" cy="369332"/>
          </a:xfrm>
          <a:prstGeom prst="rect">
            <a:avLst/>
          </a:prstGeom>
          <a:noFill/>
        </p:spPr>
        <p:txBody>
          <a:bodyPr wrap="none" rtlCol="0">
            <a:spAutoFit/>
          </a:bodyPr>
          <a:lstStyle/>
          <a:p>
            <a:r>
              <a:rPr lang="en-US" b="1" dirty="0">
                <a:solidFill>
                  <a:srgbClr val="0070C0"/>
                </a:solidFill>
              </a:rPr>
              <a:t>Employees</a:t>
            </a:r>
          </a:p>
        </p:txBody>
      </p:sp>
      <p:sp>
        <p:nvSpPr>
          <p:cNvPr id="17" name="TextBox 16">
            <a:extLst>
              <a:ext uri="{FF2B5EF4-FFF2-40B4-BE49-F238E27FC236}">
                <a16:creationId xmlns:a16="http://schemas.microsoft.com/office/drawing/2014/main" xmlns="" id="{2BCECCDD-B85F-4731-B237-9E4B205230E1}"/>
              </a:ext>
            </a:extLst>
          </p:cNvPr>
          <p:cNvSpPr txBox="1"/>
          <p:nvPr/>
        </p:nvSpPr>
        <p:spPr>
          <a:xfrm>
            <a:off x="930729" y="3167787"/>
            <a:ext cx="5165271" cy="1141439"/>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2000" b="1" dirty="0"/>
              <a:t>SELECT </a:t>
            </a:r>
            <a:r>
              <a:rPr lang="en-US" sz="2000" b="1" dirty="0" err="1"/>
              <a:t>first_name</a:t>
            </a:r>
            <a:r>
              <a:rPr lang="en-US" sz="2000" b="1" dirty="0"/>
              <a:t>, </a:t>
            </a:r>
            <a:r>
              <a:rPr lang="en-US" sz="2000" b="1" dirty="0" err="1"/>
              <a:t>e_id</a:t>
            </a:r>
            <a:r>
              <a:rPr lang="en-US" sz="2000" b="1" dirty="0"/>
              <a:t>, COUNT(</a:t>
            </a:r>
            <a:r>
              <a:rPr lang="en-US" sz="2000" b="1" dirty="0" err="1"/>
              <a:t>t_id</a:t>
            </a:r>
            <a:r>
              <a:rPr lang="en-US" sz="2000" b="1" dirty="0"/>
              <a:t>)</a:t>
            </a:r>
            <a:endParaRPr lang="en-US" sz="2000" b="1" dirty="0">
              <a:solidFill>
                <a:schemeClr val="accent3"/>
              </a:solidFill>
            </a:endParaRPr>
          </a:p>
          <a:p>
            <a:r>
              <a:rPr lang="en-US" sz="2000" b="1" dirty="0"/>
              <a:t>FROM </a:t>
            </a:r>
            <a:r>
              <a:rPr lang="en-US" sz="2000" b="1" dirty="0">
                <a:solidFill>
                  <a:srgbClr val="0070C0"/>
                </a:solidFill>
              </a:rPr>
              <a:t>Employees</a:t>
            </a:r>
            <a:r>
              <a:rPr lang="en-US" sz="2000" b="1" dirty="0"/>
              <a:t> NATURAL JOIN </a:t>
            </a:r>
            <a:r>
              <a:rPr lang="en-US" sz="2000" b="1" dirty="0">
                <a:solidFill>
                  <a:srgbClr val="FF0000"/>
                </a:solidFill>
              </a:rPr>
              <a:t>Transactions</a:t>
            </a:r>
            <a:endParaRPr lang="en-US" sz="2000" b="1" dirty="0">
              <a:solidFill>
                <a:schemeClr val="accent3"/>
              </a:solidFill>
            </a:endParaRPr>
          </a:p>
          <a:p>
            <a:r>
              <a:rPr lang="en-US" sz="2000" b="1" dirty="0"/>
              <a:t>GROUP BY </a:t>
            </a:r>
            <a:r>
              <a:rPr lang="en-US" sz="2000" b="1" dirty="0" err="1"/>
              <a:t>first_name</a:t>
            </a:r>
            <a:r>
              <a:rPr lang="en-US" sz="2000" b="1" dirty="0"/>
              <a:t>, </a:t>
            </a:r>
            <a:r>
              <a:rPr lang="en-US" sz="2000" b="1" dirty="0" err="1"/>
              <a:t>e_id</a:t>
            </a:r>
            <a:r>
              <a:rPr lang="en-US" sz="2000" b="1" dirty="0"/>
              <a:t>;</a:t>
            </a:r>
          </a:p>
        </p:txBody>
      </p:sp>
      <p:graphicFrame>
        <p:nvGraphicFramePr>
          <p:cNvPr id="10" name="Table 9">
            <a:extLst>
              <a:ext uri="{FF2B5EF4-FFF2-40B4-BE49-F238E27FC236}">
                <a16:creationId xmlns:a16="http://schemas.microsoft.com/office/drawing/2014/main" xmlns="" id="{1EE7532C-625C-42C9-82D2-6AC0C34EBE47}"/>
              </a:ext>
            </a:extLst>
          </p:cNvPr>
          <p:cNvGraphicFramePr>
            <a:graphicFrameLocks noGrp="1"/>
          </p:cNvGraphicFramePr>
          <p:nvPr/>
        </p:nvGraphicFramePr>
        <p:xfrm>
          <a:off x="6561609" y="4700451"/>
          <a:ext cx="4595889"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677688">
                  <a:extLst>
                    <a:ext uri="{9D8B030D-6E8A-4147-A177-3AD203B41FA5}">
                      <a16:colId xmlns:a16="http://schemas.microsoft.com/office/drawing/2014/main" xmlns="" val="20000"/>
                    </a:ext>
                  </a:extLst>
                </a:gridCol>
                <a:gridCol w="1449253">
                  <a:extLst>
                    <a:ext uri="{9D8B030D-6E8A-4147-A177-3AD203B41FA5}">
                      <a16:colId xmlns:a16="http://schemas.microsoft.com/office/drawing/2014/main" xmlns="" val="20001"/>
                    </a:ext>
                  </a:extLst>
                </a:gridCol>
                <a:gridCol w="1468948">
                  <a:extLst>
                    <a:ext uri="{9D8B030D-6E8A-4147-A177-3AD203B41FA5}">
                      <a16:colId xmlns:a16="http://schemas.microsoft.com/office/drawing/2014/main" xmlns="" val="1242789684"/>
                    </a:ext>
                  </a:extLst>
                </a:gridCol>
              </a:tblGrid>
              <a:tr h="0">
                <a:tc>
                  <a:txBody>
                    <a:bodyPr/>
                    <a:lstStyle/>
                    <a:p>
                      <a:r>
                        <a:rPr lang="en-US" dirty="0" err="1"/>
                        <a:t>t_id</a:t>
                      </a:r>
                      <a:endParaRPr lang="en-US" dirty="0"/>
                    </a:p>
                  </a:txBody>
                  <a:tcPr/>
                </a:tc>
                <a:tc>
                  <a:txBody>
                    <a:bodyPr/>
                    <a:lstStyle/>
                    <a:p>
                      <a:r>
                        <a:rPr lang="en-US" dirty="0" err="1"/>
                        <a:t>c_id</a:t>
                      </a:r>
                      <a:endParaRPr lang="en-US" dirty="0"/>
                    </a:p>
                  </a:txBody>
                  <a:tcPr/>
                </a:tc>
                <a:tc>
                  <a:txBody>
                    <a:bodyPr/>
                    <a:lstStyle/>
                    <a:p>
                      <a:r>
                        <a:rPr lang="en-US" dirty="0" err="1"/>
                        <a:t>e_id</a:t>
                      </a:r>
                      <a:endParaRPr lang="en-US" dirty="0"/>
                    </a:p>
                  </a:txBody>
                  <a:tcPr/>
                </a:tc>
                <a:extLst>
                  <a:ext uri="{0D108BD9-81ED-4DB2-BD59-A6C34878D82A}">
                    <a16:rowId xmlns:a16="http://schemas.microsoft.com/office/drawing/2014/main" xmlns="" val="10000"/>
                  </a:ext>
                </a:extLst>
              </a:tr>
              <a:tr h="370840">
                <a:tc>
                  <a:txBody>
                    <a:bodyPr/>
                    <a:lstStyle/>
                    <a:p>
                      <a:r>
                        <a:rPr lang="en-US" dirty="0"/>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3</a:t>
                      </a:r>
                      <a:endParaRPr lang="en-US" dirty="0"/>
                    </a:p>
                  </a:txBody>
                  <a:tcPr/>
                </a:tc>
                <a:tc>
                  <a:txBody>
                    <a:bodyPr/>
                    <a:lstStyle/>
                    <a:p>
                      <a:r>
                        <a:rPr lang="en-US" dirty="0"/>
                        <a:t>1</a:t>
                      </a:r>
                    </a:p>
                  </a:txBody>
                  <a:tcPr/>
                </a:tc>
                <a:extLst>
                  <a:ext uri="{0D108BD9-81ED-4DB2-BD59-A6C34878D82A}">
                    <a16:rowId xmlns:a16="http://schemas.microsoft.com/office/drawing/2014/main" xmlns="" val="10001"/>
                  </a:ext>
                </a:extLst>
              </a:tr>
              <a:tr h="370840">
                <a:tc>
                  <a:txBody>
                    <a:bodyPr/>
                    <a:lstStyle/>
                    <a:p>
                      <a:r>
                        <a:rPr lang="en-US"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6</a:t>
                      </a:r>
                      <a:endParaRPr lang="en-US" dirty="0"/>
                    </a:p>
                  </a:txBody>
                  <a:tcPr/>
                </a:tc>
                <a:tc>
                  <a:txBody>
                    <a:bodyPr/>
                    <a:lstStyle/>
                    <a:p>
                      <a:r>
                        <a:rPr lang="en-US" dirty="0"/>
                        <a:t>1</a:t>
                      </a:r>
                    </a:p>
                  </a:txBody>
                  <a:tcPr/>
                </a:tc>
                <a:extLst>
                  <a:ext uri="{0D108BD9-81ED-4DB2-BD59-A6C34878D82A}">
                    <a16:rowId xmlns:a16="http://schemas.microsoft.com/office/drawing/2014/main" xmlns="" val="10002"/>
                  </a:ext>
                </a:extLst>
              </a:tr>
              <a:tr h="370840">
                <a:tc>
                  <a:txBody>
                    <a:bodyPr/>
                    <a:lstStyle/>
                    <a:p>
                      <a:r>
                        <a:rPr lang="en-US" dirty="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19</a:t>
                      </a:r>
                    </a:p>
                  </a:txBody>
                  <a:tcPr/>
                </a:tc>
                <a:tc>
                  <a:txBody>
                    <a:bodyPr/>
                    <a:lstStyle/>
                    <a:p>
                      <a:r>
                        <a:rPr lang="en-US" dirty="0"/>
                        <a:t>3</a:t>
                      </a:r>
                    </a:p>
                  </a:txBody>
                  <a:tcPr/>
                </a:tc>
                <a:extLst>
                  <a:ext uri="{0D108BD9-81ED-4DB2-BD59-A6C34878D82A}">
                    <a16:rowId xmlns:a16="http://schemas.microsoft.com/office/drawing/2014/main" xmlns="" val="10003"/>
                  </a:ext>
                </a:extLst>
              </a:tr>
            </a:tbl>
          </a:graphicData>
        </a:graphic>
      </p:graphicFrame>
      <p:sp>
        <p:nvSpPr>
          <p:cNvPr id="20" name="TextBox 19">
            <a:extLst>
              <a:ext uri="{FF2B5EF4-FFF2-40B4-BE49-F238E27FC236}">
                <a16:creationId xmlns:a16="http://schemas.microsoft.com/office/drawing/2014/main" xmlns="" id="{83AD9610-921B-4EFD-9376-05C35D07CD86}"/>
              </a:ext>
            </a:extLst>
          </p:cNvPr>
          <p:cNvSpPr txBox="1"/>
          <p:nvPr/>
        </p:nvSpPr>
        <p:spPr>
          <a:xfrm>
            <a:off x="6486486" y="4331119"/>
            <a:ext cx="1376402" cy="369332"/>
          </a:xfrm>
          <a:prstGeom prst="rect">
            <a:avLst/>
          </a:prstGeom>
          <a:noFill/>
        </p:spPr>
        <p:txBody>
          <a:bodyPr wrap="none" rtlCol="0">
            <a:spAutoFit/>
          </a:bodyPr>
          <a:lstStyle/>
          <a:p>
            <a:r>
              <a:rPr lang="en-US" b="1" dirty="0">
                <a:solidFill>
                  <a:srgbClr val="FF0000"/>
                </a:solidFill>
              </a:rPr>
              <a:t>Transactions</a:t>
            </a:r>
          </a:p>
        </p:txBody>
      </p:sp>
      <p:graphicFrame>
        <p:nvGraphicFramePr>
          <p:cNvPr id="21" name="Table 20">
            <a:extLst>
              <a:ext uri="{FF2B5EF4-FFF2-40B4-BE49-F238E27FC236}">
                <a16:creationId xmlns:a16="http://schemas.microsoft.com/office/drawing/2014/main" xmlns="" id="{A1E7E64C-F3D1-4475-8675-DD78A9201715}"/>
              </a:ext>
            </a:extLst>
          </p:cNvPr>
          <p:cNvGraphicFramePr>
            <a:graphicFrameLocks noGrp="1"/>
          </p:cNvGraphicFramePr>
          <p:nvPr/>
        </p:nvGraphicFramePr>
        <p:xfrm>
          <a:off x="1034502" y="4916473"/>
          <a:ext cx="3945405" cy="110744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273263">
                  <a:extLst>
                    <a:ext uri="{9D8B030D-6E8A-4147-A177-3AD203B41FA5}">
                      <a16:colId xmlns:a16="http://schemas.microsoft.com/office/drawing/2014/main" xmlns="" val="504845270"/>
                    </a:ext>
                  </a:extLst>
                </a:gridCol>
                <a:gridCol w="1273263">
                  <a:extLst>
                    <a:ext uri="{9D8B030D-6E8A-4147-A177-3AD203B41FA5}">
                      <a16:colId xmlns:a16="http://schemas.microsoft.com/office/drawing/2014/main" xmlns="" val="20001"/>
                    </a:ext>
                  </a:extLst>
                </a:gridCol>
                <a:gridCol w="1398879">
                  <a:extLst>
                    <a:ext uri="{9D8B030D-6E8A-4147-A177-3AD203B41FA5}">
                      <a16:colId xmlns:a16="http://schemas.microsoft.com/office/drawing/2014/main" xmlns="" val="20002"/>
                    </a:ext>
                  </a:extLst>
                </a:gridCol>
              </a:tblGrid>
              <a:tr h="0">
                <a:tc>
                  <a:txBody>
                    <a:bodyPr/>
                    <a:lstStyle/>
                    <a:p>
                      <a:r>
                        <a:rPr lang="en-US" dirty="0" err="1"/>
                        <a:t>first_name</a:t>
                      </a:r>
                      <a:endParaRPr lang="en-US" dirty="0"/>
                    </a:p>
                  </a:txBody>
                  <a:tcPr/>
                </a:tc>
                <a:tc>
                  <a:txBody>
                    <a:bodyPr/>
                    <a:lstStyle/>
                    <a:p>
                      <a:r>
                        <a:rPr lang="en-US" dirty="0" err="1"/>
                        <a:t>e_id</a:t>
                      </a:r>
                      <a:endParaRPr lang="en-US" dirty="0"/>
                    </a:p>
                  </a:txBody>
                  <a:tcPr/>
                </a:tc>
                <a:tc>
                  <a:txBody>
                    <a:bodyPr/>
                    <a:lstStyle/>
                    <a:p>
                      <a:r>
                        <a:rPr lang="en-US" dirty="0"/>
                        <a:t>COUNT(</a:t>
                      </a:r>
                      <a:r>
                        <a:rPr lang="en-US" dirty="0" err="1"/>
                        <a:t>t_id</a:t>
                      </a:r>
                      <a:r>
                        <a:rPr lang="en-US" dirty="0"/>
                        <a:t>)</a:t>
                      </a:r>
                    </a:p>
                  </a:txBody>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Anne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1</a:t>
                      </a:r>
                      <a:endParaRPr lang="en-US" dirty="0"/>
                    </a:p>
                  </a:txBody>
                  <a:tcPr/>
                </a:tc>
                <a:tc>
                  <a:txBody>
                    <a:bodyPr/>
                    <a:lstStyle/>
                    <a:p>
                      <a:r>
                        <a:rPr lang="en-US" dirty="0"/>
                        <a:t>2</a:t>
                      </a:r>
                    </a:p>
                  </a:txBody>
                  <a:tcPr/>
                </a:tc>
                <a:extLst>
                  <a:ext uri="{0D108BD9-81ED-4DB2-BD59-A6C34878D82A}">
                    <a16:rowId xmlns:a16="http://schemas.microsoft.com/office/drawing/2014/main" xmlns=""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3</a:t>
                      </a:r>
                      <a:endParaRPr lang="en-US" dirty="0"/>
                    </a:p>
                  </a:txBody>
                  <a:tcPr/>
                </a:tc>
                <a:tc>
                  <a:txBody>
                    <a:bodyPr/>
                    <a:lstStyle/>
                    <a:p>
                      <a:r>
                        <a:rPr lang="en-US" dirty="0"/>
                        <a:t>1</a:t>
                      </a:r>
                    </a:p>
                  </a:txBody>
                  <a:tcPr/>
                </a:tc>
                <a:extLst>
                  <a:ext uri="{0D108BD9-81ED-4DB2-BD59-A6C34878D82A}">
                    <a16:rowId xmlns:a16="http://schemas.microsoft.com/office/drawing/2014/main" xmlns="" val="10002"/>
                  </a:ext>
                </a:extLst>
              </a:tr>
            </a:tbl>
          </a:graphicData>
        </a:graphic>
      </p:graphicFrame>
      <p:cxnSp>
        <p:nvCxnSpPr>
          <p:cNvPr id="22" name="Straight Arrow Connector 21">
            <a:extLst>
              <a:ext uri="{FF2B5EF4-FFF2-40B4-BE49-F238E27FC236}">
                <a16:creationId xmlns:a16="http://schemas.microsoft.com/office/drawing/2014/main" xmlns="" id="{0878F64B-97B2-4B82-A1E6-2D1F8C3CD561}"/>
              </a:ext>
            </a:extLst>
          </p:cNvPr>
          <p:cNvCxnSpPr>
            <a:cxnSpLocks/>
          </p:cNvCxnSpPr>
          <p:nvPr/>
        </p:nvCxnSpPr>
        <p:spPr>
          <a:xfrm flipH="1" flipV="1">
            <a:off x="6126480" y="4331119"/>
            <a:ext cx="435131" cy="49717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xmlns="" id="{074EEF35-8F52-4A78-B566-843F0D30E6C1}"/>
              </a:ext>
            </a:extLst>
          </p:cNvPr>
          <p:cNvCxnSpPr>
            <a:cxnSpLocks/>
          </p:cNvCxnSpPr>
          <p:nvPr/>
        </p:nvCxnSpPr>
        <p:spPr>
          <a:xfrm flipH="1">
            <a:off x="6096000" y="3214569"/>
            <a:ext cx="463792" cy="151494"/>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xmlns="" id="{BDF15EE3-6330-4F87-8BA6-ABD11ACF8DEF}"/>
              </a:ext>
            </a:extLst>
          </p:cNvPr>
          <p:cNvCxnSpPr>
            <a:cxnSpLocks/>
          </p:cNvCxnSpPr>
          <p:nvPr/>
        </p:nvCxnSpPr>
        <p:spPr>
          <a:xfrm flipH="1">
            <a:off x="4875622" y="4367283"/>
            <a:ext cx="269600" cy="482456"/>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xmlns="" id="{8A7B6DDB-4B39-42DD-8E6D-DB0234C60CDC}"/>
              </a:ext>
            </a:extLst>
          </p:cNvPr>
          <p:cNvSpPr txBox="1"/>
          <p:nvPr/>
        </p:nvSpPr>
        <p:spPr>
          <a:xfrm>
            <a:off x="930728" y="2863880"/>
            <a:ext cx="5165271" cy="1449216"/>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2000" b="1" dirty="0"/>
              <a:t>CREATE VIEW </a:t>
            </a:r>
            <a:r>
              <a:rPr lang="en-US" sz="2000" b="1" dirty="0" err="1">
                <a:solidFill>
                  <a:srgbClr val="92D050"/>
                </a:solidFill>
              </a:rPr>
              <a:t>Employee_transaction_count</a:t>
            </a:r>
            <a:r>
              <a:rPr lang="en-US" sz="2000" b="1" dirty="0">
                <a:solidFill>
                  <a:srgbClr val="92D050"/>
                </a:solidFill>
              </a:rPr>
              <a:t> </a:t>
            </a:r>
            <a:r>
              <a:rPr lang="en-US" sz="2000" b="1" dirty="0"/>
              <a:t>AS</a:t>
            </a:r>
          </a:p>
          <a:p>
            <a:r>
              <a:rPr lang="en-US" sz="2000" b="1" dirty="0"/>
              <a:t>SELECT </a:t>
            </a:r>
            <a:r>
              <a:rPr lang="en-US" sz="2000" b="1" dirty="0" err="1"/>
              <a:t>first_name</a:t>
            </a:r>
            <a:r>
              <a:rPr lang="en-US" sz="2000" b="1" dirty="0"/>
              <a:t>, </a:t>
            </a:r>
            <a:r>
              <a:rPr lang="en-US" sz="2000" b="1" dirty="0" err="1"/>
              <a:t>e_id</a:t>
            </a:r>
            <a:r>
              <a:rPr lang="en-US" sz="2000" b="1" dirty="0"/>
              <a:t>, COUNT(</a:t>
            </a:r>
            <a:r>
              <a:rPr lang="en-US" sz="2000" b="1" dirty="0" err="1"/>
              <a:t>t_id</a:t>
            </a:r>
            <a:r>
              <a:rPr lang="en-US" sz="2000" b="1" dirty="0"/>
              <a:t>)</a:t>
            </a:r>
            <a:endParaRPr lang="en-US" sz="2000" b="1" dirty="0">
              <a:solidFill>
                <a:schemeClr val="accent3"/>
              </a:solidFill>
            </a:endParaRPr>
          </a:p>
          <a:p>
            <a:r>
              <a:rPr lang="en-US" sz="2000" b="1" dirty="0"/>
              <a:t>FROM </a:t>
            </a:r>
            <a:r>
              <a:rPr lang="en-US" sz="2000" b="1" dirty="0">
                <a:solidFill>
                  <a:srgbClr val="0070C0"/>
                </a:solidFill>
              </a:rPr>
              <a:t>Employees</a:t>
            </a:r>
            <a:r>
              <a:rPr lang="en-US" sz="2000" b="1" dirty="0"/>
              <a:t> NATURAL JOIN </a:t>
            </a:r>
            <a:r>
              <a:rPr lang="en-US" sz="2000" b="1" dirty="0">
                <a:solidFill>
                  <a:srgbClr val="FF0000"/>
                </a:solidFill>
              </a:rPr>
              <a:t>Transactions</a:t>
            </a:r>
            <a:endParaRPr lang="en-US" sz="2000" b="1" dirty="0">
              <a:solidFill>
                <a:schemeClr val="accent3"/>
              </a:solidFill>
            </a:endParaRPr>
          </a:p>
          <a:p>
            <a:r>
              <a:rPr lang="en-US" sz="2000" b="1" dirty="0"/>
              <a:t>GROUP BY </a:t>
            </a:r>
            <a:r>
              <a:rPr lang="en-US" sz="2000" b="1" dirty="0" err="1"/>
              <a:t>first_name</a:t>
            </a:r>
            <a:r>
              <a:rPr lang="en-US" sz="2000" b="1" dirty="0"/>
              <a:t>, </a:t>
            </a:r>
            <a:r>
              <a:rPr lang="en-US" sz="2000" b="1" dirty="0" err="1"/>
              <a:t>e_id</a:t>
            </a:r>
            <a:r>
              <a:rPr lang="en-US" sz="2000" b="1" dirty="0"/>
              <a:t>;</a:t>
            </a:r>
          </a:p>
        </p:txBody>
      </p:sp>
      <p:sp>
        <p:nvSpPr>
          <p:cNvPr id="29" name="TextBox 28">
            <a:extLst>
              <a:ext uri="{FF2B5EF4-FFF2-40B4-BE49-F238E27FC236}">
                <a16:creationId xmlns:a16="http://schemas.microsoft.com/office/drawing/2014/main" xmlns="" id="{1CF75BC5-DD88-4609-9261-8F189794A838}"/>
              </a:ext>
            </a:extLst>
          </p:cNvPr>
          <p:cNvSpPr txBox="1"/>
          <p:nvPr/>
        </p:nvSpPr>
        <p:spPr>
          <a:xfrm>
            <a:off x="975952" y="4535162"/>
            <a:ext cx="2976071" cy="369332"/>
          </a:xfrm>
          <a:prstGeom prst="rect">
            <a:avLst/>
          </a:prstGeom>
          <a:noFill/>
        </p:spPr>
        <p:txBody>
          <a:bodyPr wrap="none" rtlCol="0">
            <a:spAutoFit/>
          </a:bodyPr>
          <a:lstStyle/>
          <a:p>
            <a:r>
              <a:rPr lang="en-US" sz="1800" b="1">
                <a:solidFill>
                  <a:srgbClr val="92D050"/>
                </a:solidFill>
              </a:rPr>
              <a:t>Employee_transaction_count</a:t>
            </a:r>
            <a:endParaRPr lang="en-GB" dirty="0"/>
          </a:p>
        </p:txBody>
      </p:sp>
    </p:spTree>
    <p:extLst>
      <p:ext uri="{BB962C8B-B14F-4D97-AF65-F5344CB8AC3E}">
        <p14:creationId xmlns:p14="http://schemas.microsoft.com/office/powerpoint/2010/main" val="1245635459"/>
      </p:ext>
    </p:extLst>
  </p:cSld>
  <p:clrMapOvr>
    <a:masterClrMapping/>
  </p:clrMapOvr>
  <mc:AlternateContent xmlns:mc="http://schemas.openxmlformats.org/markup-compatibility/2006" xmlns:p14="http://schemas.microsoft.com/office/powerpoint/2010/main">
    <mc:Choice Requires="p14">
      <p:transition spd="slow" p14:dur="2000" advTm="33618"/>
    </mc:Choice>
    <mc:Fallback xmlns="">
      <p:transition spd="slow" advTm="33618"/>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Views: as virtual tables</a:t>
            </a:r>
          </a:p>
        </p:txBody>
      </p:sp>
      <p:sp>
        <p:nvSpPr>
          <p:cNvPr id="3" name="Content Placeholder 2"/>
          <p:cNvSpPr>
            <a:spLocks noGrp="1"/>
          </p:cNvSpPr>
          <p:nvPr>
            <p:ph idx="1"/>
          </p:nvPr>
        </p:nvSpPr>
        <p:spPr/>
        <p:txBody>
          <a:bodyPr/>
          <a:lstStyle/>
          <a:p>
            <a:r>
              <a:rPr lang="en-US" dirty="0"/>
              <a:t>Intuitively, saved queries or virtual tables</a:t>
            </a:r>
          </a:p>
          <a:p>
            <a:endParaRPr lang="en-US" dirty="0"/>
          </a:p>
        </p:txBody>
      </p:sp>
      <p:sp>
        <p:nvSpPr>
          <p:cNvPr id="28" name="TextBox 27">
            <a:extLst>
              <a:ext uri="{FF2B5EF4-FFF2-40B4-BE49-F238E27FC236}">
                <a16:creationId xmlns:a16="http://schemas.microsoft.com/office/drawing/2014/main" xmlns="" id="{8A7B6DDB-4B39-42DD-8E6D-DB0234C60CDC}"/>
              </a:ext>
            </a:extLst>
          </p:cNvPr>
          <p:cNvSpPr txBox="1"/>
          <p:nvPr/>
        </p:nvSpPr>
        <p:spPr>
          <a:xfrm>
            <a:off x="6864533" y="1979784"/>
            <a:ext cx="5165271" cy="1449216"/>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2000" b="1" dirty="0"/>
              <a:t>CREATE VIEW </a:t>
            </a:r>
            <a:r>
              <a:rPr lang="en-US" sz="2000" b="1" dirty="0" err="1">
                <a:solidFill>
                  <a:srgbClr val="92D050"/>
                </a:solidFill>
              </a:rPr>
              <a:t>Employee_transaction_count</a:t>
            </a:r>
            <a:r>
              <a:rPr lang="en-US" sz="2000" b="1" dirty="0">
                <a:solidFill>
                  <a:srgbClr val="92D050"/>
                </a:solidFill>
              </a:rPr>
              <a:t> </a:t>
            </a:r>
            <a:r>
              <a:rPr lang="en-US" sz="2000" b="1" dirty="0"/>
              <a:t>AS</a:t>
            </a:r>
          </a:p>
          <a:p>
            <a:r>
              <a:rPr lang="en-US" sz="2000" b="1" dirty="0"/>
              <a:t>SELECT </a:t>
            </a:r>
            <a:r>
              <a:rPr lang="en-US" sz="2000" b="1" dirty="0" err="1"/>
              <a:t>first_name</a:t>
            </a:r>
            <a:r>
              <a:rPr lang="en-US" sz="2000" b="1" dirty="0"/>
              <a:t>, </a:t>
            </a:r>
            <a:r>
              <a:rPr lang="en-US" sz="2000" b="1" dirty="0" err="1"/>
              <a:t>e_id</a:t>
            </a:r>
            <a:r>
              <a:rPr lang="en-US" sz="2000" b="1" dirty="0"/>
              <a:t>, COUNT(</a:t>
            </a:r>
            <a:r>
              <a:rPr lang="en-US" sz="2000" b="1" dirty="0" err="1"/>
              <a:t>t_id</a:t>
            </a:r>
            <a:r>
              <a:rPr lang="en-US" sz="2000" b="1" dirty="0"/>
              <a:t>)</a:t>
            </a:r>
            <a:endParaRPr lang="en-US" sz="2000" b="1" dirty="0">
              <a:solidFill>
                <a:schemeClr val="accent3"/>
              </a:solidFill>
            </a:endParaRPr>
          </a:p>
          <a:p>
            <a:r>
              <a:rPr lang="en-US" sz="2000" b="1" dirty="0"/>
              <a:t>FROM </a:t>
            </a:r>
            <a:r>
              <a:rPr lang="en-US" sz="2000" b="1" dirty="0">
                <a:solidFill>
                  <a:srgbClr val="0070C0"/>
                </a:solidFill>
              </a:rPr>
              <a:t>Employees</a:t>
            </a:r>
            <a:r>
              <a:rPr lang="en-US" sz="2000" b="1" dirty="0"/>
              <a:t> NATURAL JOIN </a:t>
            </a:r>
            <a:r>
              <a:rPr lang="en-US" sz="2000" b="1" dirty="0">
                <a:solidFill>
                  <a:srgbClr val="FF0000"/>
                </a:solidFill>
              </a:rPr>
              <a:t>Transactions</a:t>
            </a:r>
            <a:endParaRPr lang="en-US" sz="2000" b="1" dirty="0">
              <a:solidFill>
                <a:schemeClr val="accent3"/>
              </a:solidFill>
            </a:endParaRPr>
          </a:p>
          <a:p>
            <a:r>
              <a:rPr lang="en-US" sz="2000" b="1" dirty="0"/>
              <a:t>GROUP BY </a:t>
            </a:r>
            <a:r>
              <a:rPr lang="en-US" sz="2000" b="1" dirty="0" err="1"/>
              <a:t>first_name</a:t>
            </a:r>
            <a:r>
              <a:rPr lang="en-US" sz="2000" b="1" dirty="0"/>
              <a:t>, </a:t>
            </a:r>
            <a:r>
              <a:rPr lang="en-US" sz="2000" b="1" dirty="0" err="1"/>
              <a:t>e_id</a:t>
            </a:r>
            <a:r>
              <a:rPr lang="en-US" sz="2000" b="1" dirty="0"/>
              <a:t>;</a:t>
            </a:r>
          </a:p>
        </p:txBody>
      </p:sp>
      <p:sp>
        <p:nvSpPr>
          <p:cNvPr id="5" name="TextBox 4">
            <a:extLst>
              <a:ext uri="{FF2B5EF4-FFF2-40B4-BE49-F238E27FC236}">
                <a16:creationId xmlns:a16="http://schemas.microsoft.com/office/drawing/2014/main" xmlns="" id="{A6826875-E295-46F3-B203-3D195CB725B8}"/>
              </a:ext>
            </a:extLst>
          </p:cNvPr>
          <p:cNvSpPr txBox="1"/>
          <p:nvPr/>
        </p:nvSpPr>
        <p:spPr>
          <a:xfrm>
            <a:off x="1205048" y="3716209"/>
            <a:ext cx="4122420" cy="83366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2000" b="1" dirty="0"/>
              <a:t>SELECT </a:t>
            </a:r>
            <a:r>
              <a:rPr lang="en-US" sz="2000" b="1" dirty="0" err="1"/>
              <a:t>first_name</a:t>
            </a:r>
            <a:r>
              <a:rPr lang="en-US" sz="2000" b="1" dirty="0"/>
              <a:t>, COUNT(</a:t>
            </a:r>
            <a:r>
              <a:rPr lang="en-US" sz="2000" b="1" dirty="0" err="1"/>
              <a:t>t_id</a:t>
            </a:r>
            <a:r>
              <a:rPr lang="en-US" sz="2000" b="1" dirty="0"/>
              <a:t>)</a:t>
            </a:r>
          </a:p>
          <a:p>
            <a:r>
              <a:rPr lang="en-US" sz="2000" b="1" dirty="0"/>
              <a:t>FROM </a:t>
            </a:r>
            <a:r>
              <a:rPr lang="en-US" sz="2000" b="1" dirty="0" err="1">
                <a:solidFill>
                  <a:srgbClr val="92D050"/>
                </a:solidFill>
              </a:rPr>
              <a:t>Employee_transaction_count</a:t>
            </a:r>
            <a:r>
              <a:rPr lang="en-US" sz="2000" b="1" dirty="0"/>
              <a:t>;</a:t>
            </a:r>
            <a:endParaRPr lang="en-GB" sz="2000" b="1" dirty="0"/>
          </a:p>
        </p:txBody>
      </p:sp>
      <p:graphicFrame>
        <p:nvGraphicFramePr>
          <p:cNvPr id="6" name="Table 5">
            <a:extLst>
              <a:ext uri="{FF2B5EF4-FFF2-40B4-BE49-F238E27FC236}">
                <a16:creationId xmlns:a16="http://schemas.microsoft.com/office/drawing/2014/main" xmlns="" id="{2519F589-4C34-4207-8ED3-8310804B4DA9}"/>
              </a:ext>
            </a:extLst>
          </p:cNvPr>
          <p:cNvGraphicFramePr>
            <a:graphicFrameLocks noGrp="1"/>
          </p:cNvGraphicFramePr>
          <p:nvPr>
            <p:extLst>
              <p:ext uri="{D42A27DB-BD31-4B8C-83A1-F6EECF244321}">
                <p14:modId xmlns:p14="http://schemas.microsoft.com/office/powerpoint/2010/main" val="3828911246"/>
              </p:ext>
            </p:extLst>
          </p:nvPr>
        </p:nvGraphicFramePr>
        <p:xfrm>
          <a:off x="6864533" y="3904671"/>
          <a:ext cx="3945405" cy="110744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273263">
                  <a:extLst>
                    <a:ext uri="{9D8B030D-6E8A-4147-A177-3AD203B41FA5}">
                      <a16:colId xmlns:a16="http://schemas.microsoft.com/office/drawing/2014/main" xmlns="" val="504845270"/>
                    </a:ext>
                  </a:extLst>
                </a:gridCol>
                <a:gridCol w="1273263">
                  <a:extLst>
                    <a:ext uri="{9D8B030D-6E8A-4147-A177-3AD203B41FA5}">
                      <a16:colId xmlns:a16="http://schemas.microsoft.com/office/drawing/2014/main" xmlns="" val="20001"/>
                    </a:ext>
                  </a:extLst>
                </a:gridCol>
                <a:gridCol w="1398879">
                  <a:extLst>
                    <a:ext uri="{9D8B030D-6E8A-4147-A177-3AD203B41FA5}">
                      <a16:colId xmlns:a16="http://schemas.microsoft.com/office/drawing/2014/main" xmlns="" val="20002"/>
                    </a:ext>
                  </a:extLst>
                </a:gridCol>
              </a:tblGrid>
              <a:tr h="0">
                <a:tc>
                  <a:txBody>
                    <a:bodyPr/>
                    <a:lstStyle/>
                    <a:p>
                      <a:r>
                        <a:rPr lang="en-US" dirty="0" err="1"/>
                        <a:t>first_name</a:t>
                      </a:r>
                      <a:endParaRPr lang="en-US" dirty="0"/>
                    </a:p>
                  </a:txBody>
                  <a:tcPr/>
                </a:tc>
                <a:tc>
                  <a:txBody>
                    <a:bodyPr/>
                    <a:lstStyle/>
                    <a:p>
                      <a:r>
                        <a:rPr lang="en-US" dirty="0" err="1"/>
                        <a:t>e_id</a:t>
                      </a:r>
                      <a:endParaRPr lang="en-US" dirty="0"/>
                    </a:p>
                  </a:txBody>
                  <a:tcPr/>
                </a:tc>
                <a:tc>
                  <a:txBody>
                    <a:bodyPr/>
                    <a:lstStyle/>
                    <a:p>
                      <a:r>
                        <a:rPr lang="en-US" dirty="0"/>
                        <a:t>COUNT(</a:t>
                      </a:r>
                      <a:r>
                        <a:rPr lang="en-US" dirty="0" err="1"/>
                        <a:t>t_id</a:t>
                      </a:r>
                      <a:r>
                        <a:rPr lang="en-US" dirty="0"/>
                        <a:t>)</a:t>
                      </a:r>
                    </a:p>
                  </a:txBody>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Anne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1</a:t>
                      </a:r>
                      <a:endParaRPr lang="en-US" dirty="0"/>
                    </a:p>
                  </a:txBody>
                  <a:tcPr/>
                </a:tc>
                <a:tc>
                  <a:txBody>
                    <a:bodyPr/>
                    <a:lstStyle/>
                    <a:p>
                      <a:r>
                        <a:rPr lang="en-US" dirty="0"/>
                        <a:t>2</a:t>
                      </a:r>
                    </a:p>
                  </a:txBody>
                  <a:tcPr/>
                </a:tc>
                <a:extLst>
                  <a:ext uri="{0D108BD9-81ED-4DB2-BD59-A6C34878D82A}">
                    <a16:rowId xmlns:a16="http://schemas.microsoft.com/office/drawing/2014/main" xmlns=""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3</a:t>
                      </a:r>
                      <a:endParaRPr lang="en-US" dirty="0"/>
                    </a:p>
                  </a:txBody>
                  <a:tcPr/>
                </a:tc>
                <a:tc>
                  <a:txBody>
                    <a:bodyPr/>
                    <a:lstStyle/>
                    <a:p>
                      <a:r>
                        <a:rPr lang="en-US" dirty="0"/>
                        <a:t>1</a:t>
                      </a:r>
                    </a:p>
                  </a:txBody>
                  <a:tcPr/>
                </a:tc>
                <a:extLst>
                  <a:ext uri="{0D108BD9-81ED-4DB2-BD59-A6C34878D82A}">
                    <a16:rowId xmlns:a16="http://schemas.microsoft.com/office/drawing/2014/main" xmlns="" val="10002"/>
                  </a:ext>
                </a:extLst>
              </a:tr>
            </a:tbl>
          </a:graphicData>
        </a:graphic>
      </p:graphicFrame>
      <p:sp>
        <p:nvSpPr>
          <p:cNvPr id="7" name="TextBox 6">
            <a:extLst>
              <a:ext uri="{FF2B5EF4-FFF2-40B4-BE49-F238E27FC236}">
                <a16:creationId xmlns:a16="http://schemas.microsoft.com/office/drawing/2014/main" xmlns="" id="{81F17DDE-8822-4BAC-8C38-A28289FF7B42}"/>
              </a:ext>
            </a:extLst>
          </p:cNvPr>
          <p:cNvSpPr txBox="1"/>
          <p:nvPr/>
        </p:nvSpPr>
        <p:spPr>
          <a:xfrm>
            <a:off x="6805983" y="3523360"/>
            <a:ext cx="2976071" cy="369332"/>
          </a:xfrm>
          <a:prstGeom prst="rect">
            <a:avLst/>
          </a:prstGeom>
          <a:noFill/>
        </p:spPr>
        <p:txBody>
          <a:bodyPr wrap="none" rtlCol="0">
            <a:spAutoFit/>
          </a:bodyPr>
          <a:lstStyle/>
          <a:p>
            <a:r>
              <a:rPr lang="en-US" sz="1800" b="1" dirty="0" err="1">
                <a:solidFill>
                  <a:srgbClr val="92D050"/>
                </a:solidFill>
              </a:rPr>
              <a:t>Employee_transaction_count</a:t>
            </a:r>
            <a:endParaRPr lang="en-GB" dirty="0"/>
          </a:p>
        </p:txBody>
      </p:sp>
      <p:cxnSp>
        <p:nvCxnSpPr>
          <p:cNvPr id="27" name="Straight Arrow Connector 26">
            <a:extLst>
              <a:ext uri="{FF2B5EF4-FFF2-40B4-BE49-F238E27FC236}">
                <a16:creationId xmlns:a16="http://schemas.microsoft.com/office/drawing/2014/main" xmlns="" id="{2D3D0211-A37F-42F8-BFB2-A09AF57EE1E2}"/>
              </a:ext>
            </a:extLst>
          </p:cNvPr>
          <p:cNvCxnSpPr>
            <a:cxnSpLocks/>
          </p:cNvCxnSpPr>
          <p:nvPr/>
        </p:nvCxnSpPr>
        <p:spPr>
          <a:xfrm flipH="1" flipV="1">
            <a:off x="5327469" y="3995057"/>
            <a:ext cx="1478514" cy="25037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Table 8">
            <a:extLst>
              <a:ext uri="{FF2B5EF4-FFF2-40B4-BE49-F238E27FC236}">
                <a16:creationId xmlns:a16="http://schemas.microsoft.com/office/drawing/2014/main" xmlns="" id="{95024AC3-9429-4983-921D-D97407605300}"/>
              </a:ext>
            </a:extLst>
          </p:cNvPr>
          <p:cNvGraphicFramePr>
            <a:graphicFrameLocks noGrp="1"/>
          </p:cNvGraphicFramePr>
          <p:nvPr>
            <p:extLst>
              <p:ext uri="{D42A27DB-BD31-4B8C-83A1-F6EECF244321}">
                <p14:modId xmlns:p14="http://schemas.microsoft.com/office/powerpoint/2010/main" val="1670085822"/>
              </p:ext>
            </p:extLst>
          </p:nvPr>
        </p:nvGraphicFramePr>
        <p:xfrm>
          <a:off x="1394341" y="5140702"/>
          <a:ext cx="2672142" cy="110744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273263">
                  <a:extLst>
                    <a:ext uri="{9D8B030D-6E8A-4147-A177-3AD203B41FA5}">
                      <a16:colId xmlns:a16="http://schemas.microsoft.com/office/drawing/2014/main" xmlns="" val="504845270"/>
                    </a:ext>
                  </a:extLst>
                </a:gridCol>
                <a:gridCol w="1398879">
                  <a:extLst>
                    <a:ext uri="{9D8B030D-6E8A-4147-A177-3AD203B41FA5}">
                      <a16:colId xmlns:a16="http://schemas.microsoft.com/office/drawing/2014/main" xmlns="" val="20002"/>
                    </a:ext>
                  </a:extLst>
                </a:gridCol>
              </a:tblGrid>
              <a:tr h="0">
                <a:tc>
                  <a:txBody>
                    <a:bodyPr/>
                    <a:lstStyle/>
                    <a:p>
                      <a:r>
                        <a:rPr lang="en-US" dirty="0" err="1"/>
                        <a:t>first_name</a:t>
                      </a:r>
                      <a:endParaRPr lang="en-US" dirty="0"/>
                    </a:p>
                  </a:txBody>
                  <a:tcPr/>
                </a:tc>
                <a:tc>
                  <a:txBody>
                    <a:bodyPr/>
                    <a:lstStyle/>
                    <a:p>
                      <a:r>
                        <a:rPr lang="en-US" dirty="0"/>
                        <a:t>COUNT(</a:t>
                      </a:r>
                      <a:r>
                        <a:rPr lang="en-US" dirty="0" err="1"/>
                        <a:t>t_id</a:t>
                      </a:r>
                      <a:r>
                        <a:rPr lang="en-US" dirty="0"/>
                        <a:t>)</a:t>
                      </a:r>
                    </a:p>
                  </a:txBody>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Anne</a:t>
                      </a:r>
                    </a:p>
                  </a:txBody>
                  <a:tcPr/>
                </a:tc>
                <a:tc>
                  <a:txBody>
                    <a:bodyPr/>
                    <a:lstStyle/>
                    <a:p>
                      <a:r>
                        <a:rPr lang="en-US" dirty="0"/>
                        <a:t>2</a:t>
                      </a:r>
                    </a:p>
                  </a:txBody>
                  <a:tcPr/>
                </a:tc>
                <a:extLst>
                  <a:ext uri="{0D108BD9-81ED-4DB2-BD59-A6C34878D82A}">
                    <a16:rowId xmlns:a16="http://schemas.microsoft.com/office/drawing/2014/main" xmlns=""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r>
                        <a:rPr lang="en-US" dirty="0"/>
                        <a:t>1</a:t>
                      </a:r>
                    </a:p>
                  </a:txBody>
                  <a:tcPr/>
                </a:tc>
                <a:extLst>
                  <a:ext uri="{0D108BD9-81ED-4DB2-BD59-A6C34878D82A}">
                    <a16:rowId xmlns:a16="http://schemas.microsoft.com/office/drawing/2014/main" xmlns="" val="10002"/>
                  </a:ext>
                </a:extLst>
              </a:tr>
            </a:tbl>
          </a:graphicData>
        </a:graphic>
      </p:graphicFrame>
      <p:cxnSp>
        <p:nvCxnSpPr>
          <p:cNvPr id="31" name="Straight Arrow Connector 30">
            <a:extLst>
              <a:ext uri="{FF2B5EF4-FFF2-40B4-BE49-F238E27FC236}">
                <a16:creationId xmlns:a16="http://schemas.microsoft.com/office/drawing/2014/main" xmlns="" id="{7EAA0C61-BFAC-45E6-AB5B-F7D23225D2BB}"/>
              </a:ext>
            </a:extLst>
          </p:cNvPr>
          <p:cNvCxnSpPr>
            <a:cxnSpLocks/>
          </p:cNvCxnSpPr>
          <p:nvPr/>
        </p:nvCxnSpPr>
        <p:spPr>
          <a:xfrm flipH="1">
            <a:off x="3377477" y="4604059"/>
            <a:ext cx="269600" cy="482456"/>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968162703"/>
      </p:ext>
    </p:extLst>
  </p:cSld>
  <p:clrMapOvr>
    <a:masterClrMapping/>
  </p:clrMapOvr>
  <mc:AlternateContent xmlns:mc="http://schemas.openxmlformats.org/markup-compatibility/2006" xmlns:p14="http://schemas.microsoft.com/office/powerpoint/2010/main">
    <mc:Choice Requires="p14">
      <p:transition spd="slow" p14:dur="2000" advTm="50006"/>
    </mc:Choice>
    <mc:Fallback xmlns="">
      <p:transition spd="slow" advTm="5000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86969E-847B-43C4-822C-1A7B2C3C14EC}"/>
              </a:ext>
            </a:extLst>
          </p:cNvPr>
          <p:cNvSpPr>
            <a:spLocks noGrp="1"/>
          </p:cNvSpPr>
          <p:nvPr>
            <p:ph type="title"/>
          </p:nvPr>
        </p:nvSpPr>
        <p:spPr/>
        <p:txBody>
          <a:bodyPr/>
          <a:lstStyle/>
          <a:p>
            <a:r>
              <a:rPr lang="en-US" dirty="0"/>
              <a:t>More on views</a:t>
            </a:r>
            <a:endParaRPr lang="en-GB" dirty="0"/>
          </a:p>
        </p:txBody>
      </p:sp>
      <p:sp>
        <p:nvSpPr>
          <p:cNvPr id="3" name="Content Placeholder 2">
            <a:extLst>
              <a:ext uri="{FF2B5EF4-FFF2-40B4-BE49-F238E27FC236}">
                <a16:creationId xmlns:a16="http://schemas.microsoft.com/office/drawing/2014/main" xmlns="" id="{BDF51469-F759-4362-A43B-7F5E1FE90C36}"/>
              </a:ext>
            </a:extLst>
          </p:cNvPr>
          <p:cNvSpPr>
            <a:spLocks noGrp="1"/>
          </p:cNvSpPr>
          <p:nvPr>
            <p:ph idx="1"/>
          </p:nvPr>
        </p:nvSpPr>
        <p:spPr/>
        <p:txBody>
          <a:bodyPr/>
          <a:lstStyle/>
          <a:p>
            <a:r>
              <a:rPr lang="en-US" dirty="0"/>
              <a:t>By default </a:t>
            </a:r>
            <a:r>
              <a:rPr lang="en-US" b="1" dirty="0"/>
              <a:t>data</a:t>
            </a:r>
            <a:r>
              <a:rPr lang="en-US" dirty="0"/>
              <a:t> in views can’t be modified (i.e. updated, delete from or inserted into)</a:t>
            </a:r>
          </a:p>
          <a:p>
            <a:pPr lvl="1"/>
            <a:r>
              <a:rPr lang="en-US" dirty="0"/>
              <a:t>Can be done with triggers, but that is not covered in this module</a:t>
            </a:r>
          </a:p>
          <a:p>
            <a:r>
              <a:rPr lang="en-US" dirty="0"/>
              <a:t>Views can be modified though:</a:t>
            </a:r>
          </a:p>
          <a:p>
            <a:endParaRPr lang="en-US" dirty="0"/>
          </a:p>
          <a:p>
            <a:endParaRPr lang="en-US" dirty="0"/>
          </a:p>
          <a:p>
            <a:endParaRPr lang="en-US" dirty="0"/>
          </a:p>
          <a:p>
            <a:r>
              <a:rPr lang="en-US" dirty="0"/>
              <a:t>Or removed:</a:t>
            </a:r>
            <a:endParaRPr lang="en-GB" dirty="0"/>
          </a:p>
        </p:txBody>
      </p:sp>
      <p:sp>
        <p:nvSpPr>
          <p:cNvPr id="5" name="TextBox 4">
            <a:extLst>
              <a:ext uri="{FF2B5EF4-FFF2-40B4-BE49-F238E27FC236}">
                <a16:creationId xmlns:a16="http://schemas.microsoft.com/office/drawing/2014/main" xmlns="" id="{616BEEC5-6C94-4145-80E7-601B72200500}"/>
              </a:ext>
            </a:extLst>
          </p:cNvPr>
          <p:cNvSpPr txBox="1"/>
          <p:nvPr/>
        </p:nvSpPr>
        <p:spPr>
          <a:xfrm>
            <a:off x="7026729" y="2937726"/>
            <a:ext cx="5165271" cy="1449216"/>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2000" b="1" dirty="0"/>
              <a:t>CREATE VIEW </a:t>
            </a:r>
            <a:r>
              <a:rPr lang="en-US" sz="2000" b="1" dirty="0" err="1">
                <a:solidFill>
                  <a:srgbClr val="92D050"/>
                </a:solidFill>
              </a:rPr>
              <a:t>Employee_transaction_count</a:t>
            </a:r>
            <a:r>
              <a:rPr lang="en-US" sz="2000" b="1" dirty="0">
                <a:solidFill>
                  <a:srgbClr val="92D050"/>
                </a:solidFill>
              </a:rPr>
              <a:t> </a:t>
            </a:r>
            <a:r>
              <a:rPr lang="en-US" sz="2000" b="1" dirty="0"/>
              <a:t>AS</a:t>
            </a:r>
          </a:p>
          <a:p>
            <a:r>
              <a:rPr lang="en-US" sz="2000" b="1" dirty="0"/>
              <a:t>SELECT </a:t>
            </a:r>
            <a:r>
              <a:rPr lang="en-US" sz="2000" b="1" dirty="0" err="1"/>
              <a:t>first_name</a:t>
            </a:r>
            <a:r>
              <a:rPr lang="en-US" sz="2000" b="1" dirty="0"/>
              <a:t>, </a:t>
            </a:r>
            <a:r>
              <a:rPr lang="en-US" sz="2000" b="1" dirty="0" err="1"/>
              <a:t>e_id</a:t>
            </a:r>
            <a:r>
              <a:rPr lang="en-US" sz="2000" b="1" dirty="0"/>
              <a:t>, COUNT(</a:t>
            </a:r>
            <a:r>
              <a:rPr lang="en-US" sz="2000" b="1" dirty="0" err="1"/>
              <a:t>t_id</a:t>
            </a:r>
            <a:r>
              <a:rPr lang="en-US" sz="2000" b="1" dirty="0"/>
              <a:t>)</a:t>
            </a:r>
            <a:endParaRPr lang="en-US" sz="2000" b="1" dirty="0">
              <a:solidFill>
                <a:schemeClr val="accent3"/>
              </a:solidFill>
            </a:endParaRPr>
          </a:p>
          <a:p>
            <a:r>
              <a:rPr lang="en-US" sz="2000" b="1" dirty="0"/>
              <a:t>FROM </a:t>
            </a:r>
            <a:r>
              <a:rPr lang="en-US" sz="2000" b="1" dirty="0">
                <a:solidFill>
                  <a:srgbClr val="0070C0"/>
                </a:solidFill>
              </a:rPr>
              <a:t>Employees</a:t>
            </a:r>
            <a:r>
              <a:rPr lang="en-US" sz="2000" b="1" dirty="0"/>
              <a:t> NATURAL JOIN </a:t>
            </a:r>
            <a:r>
              <a:rPr lang="en-US" sz="2000" b="1" dirty="0">
                <a:solidFill>
                  <a:srgbClr val="FF0000"/>
                </a:solidFill>
              </a:rPr>
              <a:t>Transactions</a:t>
            </a:r>
            <a:endParaRPr lang="en-US" sz="2000" b="1" dirty="0">
              <a:solidFill>
                <a:schemeClr val="accent3"/>
              </a:solidFill>
            </a:endParaRPr>
          </a:p>
          <a:p>
            <a:r>
              <a:rPr lang="en-US" sz="2000" b="1" dirty="0"/>
              <a:t>GROUP BY </a:t>
            </a:r>
            <a:r>
              <a:rPr lang="en-US" sz="2000" b="1" dirty="0" err="1"/>
              <a:t>first_name</a:t>
            </a:r>
            <a:r>
              <a:rPr lang="en-US" sz="2000" b="1" dirty="0"/>
              <a:t>, </a:t>
            </a:r>
            <a:r>
              <a:rPr lang="en-US" sz="2000" b="1" dirty="0" err="1"/>
              <a:t>e_id</a:t>
            </a:r>
            <a:r>
              <a:rPr lang="en-US" sz="2000" b="1" dirty="0"/>
              <a:t>;</a:t>
            </a:r>
          </a:p>
        </p:txBody>
      </p:sp>
      <p:sp>
        <p:nvSpPr>
          <p:cNvPr id="7" name="TextBox 6">
            <a:extLst>
              <a:ext uri="{FF2B5EF4-FFF2-40B4-BE49-F238E27FC236}">
                <a16:creationId xmlns:a16="http://schemas.microsoft.com/office/drawing/2014/main" xmlns="" id="{2E2E288E-CEA2-4F14-AC55-1BD7BF0B7B96}"/>
              </a:ext>
            </a:extLst>
          </p:cNvPr>
          <p:cNvSpPr txBox="1"/>
          <p:nvPr/>
        </p:nvSpPr>
        <p:spPr>
          <a:xfrm>
            <a:off x="253637" y="2937726"/>
            <a:ext cx="6629400" cy="1449216"/>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2000" b="1" dirty="0">
                <a:solidFill>
                  <a:schemeClr val="tx1"/>
                </a:solidFill>
              </a:rPr>
              <a:t>CREATE OR REPLACE VIEW </a:t>
            </a:r>
            <a:r>
              <a:rPr lang="en-US" sz="2000" b="1" dirty="0" err="1">
                <a:solidFill>
                  <a:srgbClr val="92D050"/>
                </a:solidFill>
              </a:rPr>
              <a:t>Employee_transaction_count</a:t>
            </a:r>
            <a:r>
              <a:rPr lang="en-US" sz="2000" b="1" dirty="0">
                <a:solidFill>
                  <a:srgbClr val="92D050"/>
                </a:solidFill>
              </a:rPr>
              <a:t> </a:t>
            </a:r>
            <a:r>
              <a:rPr lang="en-US" sz="2000" b="1" dirty="0"/>
              <a:t>AS</a:t>
            </a:r>
          </a:p>
          <a:p>
            <a:r>
              <a:rPr lang="en-US" sz="2000" b="1" dirty="0"/>
              <a:t>SELECT </a:t>
            </a:r>
            <a:r>
              <a:rPr lang="en-US" sz="2000" b="1" dirty="0" err="1"/>
              <a:t>first_name</a:t>
            </a:r>
            <a:r>
              <a:rPr lang="en-US" sz="2000" b="1" dirty="0"/>
              <a:t>, COUNT(</a:t>
            </a:r>
            <a:r>
              <a:rPr lang="en-US" sz="2000" b="1" dirty="0" err="1"/>
              <a:t>t_id</a:t>
            </a:r>
            <a:r>
              <a:rPr lang="en-US" sz="2000" b="1" dirty="0"/>
              <a:t>)</a:t>
            </a:r>
            <a:endParaRPr lang="en-US" sz="2000" b="1" dirty="0">
              <a:solidFill>
                <a:schemeClr val="accent3"/>
              </a:solidFill>
            </a:endParaRPr>
          </a:p>
          <a:p>
            <a:r>
              <a:rPr lang="en-US" sz="2000" b="1" dirty="0"/>
              <a:t>FROM </a:t>
            </a:r>
            <a:r>
              <a:rPr lang="en-US" sz="2000" b="1" dirty="0">
                <a:solidFill>
                  <a:srgbClr val="0070C0"/>
                </a:solidFill>
              </a:rPr>
              <a:t>Employees</a:t>
            </a:r>
            <a:r>
              <a:rPr lang="en-US" sz="2000" b="1" dirty="0"/>
              <a:t> NATURAL JOIN </a:t>
            </a:r>
            <a:r>
              <a:rPr lang="en-US" sz="2000" b="1" dirty="0">
                <a:solidFill>
                  <a:srgbClr val="FF0000"/>
                </a:solidFill>
              </a:rPr>
              <a:t>Transactions</a:t>
            </a:r>
            <a:endParaRPr lang="en-US" sz="2000" b="1" dirty="0">
              <a:solidFill>
                <a:schemeClr val="accent3"/>
              </a:solidFill>
            </a:endParaRPr>
          </a:p>
          <a:p>
            <a:r>
              <a:rPr lang="en-US" sz="2000" b="1" dirty="0"/>
              <a:t>GROUP BY </a:t>
            </a:r>
            <a:r>
              <a:rPr lang="en-US" sz="2000" b="1" dirty="0" err="1"/>
              <a:t>first_name</a:t>
            </a:r>
            <a:r>
              <a:rPr lang="en-US" sz="2000" b="1" dirty="0"/>
              <a:t>, </a:t>
            </a:r>
            <a:r>
              <a:rPr lang="en-US" sz="2000" b="1" dirty="0" err="1"/>
              <a:t>e_id</a:t>
            </a:r>
            <a:r>
              <a:rPr lang="en-US" sz="2000" b="1" dirty="0"/>
              <a:t>;</a:t>
            </a:r>
          </a:p>
        </p:txBody>
      </p:sp>
      <p:sp>
        <p:nvSpPr>
          <p:cNvPr id="8" name="TextBox 7">
            <a:extLst>
              <a:ext uri="{FF2B5EF4-FFF2-40B4-BE49-F238E27FC236}">
                <a16:creationId xmlns:a16="http://schemas.microsoft.com/office/drawing/2014/main" xmlns="" id="{6E3D79FE-325E-430E-8743-FE4474BC554A}"/>
              </a:ext>
            </a:extLst>
          </p:cNvPr>
          <p:cNvSpPr txBox="1"/>
          <p:nvPr/>
        </p:nvSpPr>
        <p:spPr>
          <a:xfrm>
            <a:off x="1330299" y="4865075"/>
            <a:ext cx="4765701" cy="525886"/>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lIns="108000" tIns="108000" rIns="108000" bIns="108000" rtlCol="0">
            <a:spAutoFit/>
          </a:bodyPr>
          <a:lstStyle/>
          <a:p>
            <a:r>
              <a:rPr lang="en-US" sz="2000" b="1" dirty="0">
                <a:solidFill>
                  <a:schemeClr val="tx1"/>
                </a:solidFill>
              </a:rPr>
              <a:t>DROP VIEW </a:t>
            </a:r>
            <a:r>
              <a:rPr lang="en-US" sz="2000" b="1" dirty="0" err="1">
                <a:solidFill>
                  <a:srgbClr val="92D050"/>
                </a:solidFill>
              </a:rPr>
              <a:t>Employee_transaction_count</a:t>
            </a:r>
            <a:r>
              <a:rPr lang="en-US" sz="2000" b="1" dirty="0">
                <a:solidFill>
                  <a:schemeClr val="tx1"/>
                </a:solidFill>
              </a:rPr>
              <a:t>;</a:t>
            </a:r>
          </a:p>
        </p:txBody>
      </p:sp>
    </p:spTree>
    <p:custDataLst>
      <p:tags r:id="rId1"/>
    </p:custDataLst>
    <p:extLst>
      <p:ext uri="{BB962C8B-B14F-4D97-AF65-F5344CB8AC3E}">
        <p14:creationId xmlns:p14="http://schemas.microsoft.com/office/powerpoint/2010/main" val="3013961186"/>
      </p:ext>
    </p:extLst>
  </p:cSld>
  <p:clrMapOvr>
    <a:masterClrMapping/>
  </p:clrMapOvr>
  <mc:AlternateContent xmlns:mc="http://schemas.openxmlformats.org/markup-compatibility/2006" xmlns:p14="http://schemas.microsoft.com/office/powerpoint/2010/main">
    <mc:Choice Requires="p14">
      <p:transition spd="slow" p14:dur="2000" advTm="235808"/>
    </mc:Choice>
    <mc:Fallback xmlns="">
      <p:transition spd="slow" advTm="23580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D46D6E-4D89-474B-B0A9-ABEDBA61A4CC}"/>
              </a:ext>
            </a:extLst>
          </p:cNvPr>
          <p:cNvSpPr>
            <a:spLocks noGrp="1"/>
          </p:cNvSpPr>
          <p:nvPr>
            <p:ph type="title"/>
          </p:nvPr>
        </p:nvSpPr>
        <p:spPr/>
        <p:txBody>
          <a:bodyPr/>
          <a:lstStyle/>
          <a:p>
            <a:r>
              <a:rPr lang="en-US" dirty="0"/>
              <a:t>Relational Algebra</a:t>
            </a:r>
            <a:endParaRPr lang="en-GB" dirty="0"/>
          </a:p>
        </p:txBody>
      </p:sp>
      <p:sp>
        <p:nvSpPr>
          <p:cNvPr id="3" name="Text Placeholder 2">
            <a:extLst>
              <a:ext uri="{FF2B5EF4-FFF2-40B4-BE49-F238E27FC236}">
                <a16:creationId xmlns:a16="http://schemas.microsoft.com/office/drawing/2014/main" xmlns="" id="{317E0853-6C0B-4B23-9F26-9E6B7EEB5D5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032769896"/>
      </p:ext>
    </p:extLst>
  </p:cSld>
  <p:clrMapOvr>
    <a:masterClrMapping/>
  </p:clrMapOvr>
  <mc:AlternateContent xmlns:mc="http://schemas.openxmlformats.org/markup-compatibility/2006" xmlns:p14="http://schemas.microsoft.com/office/powerpoint/2010/main">
    <mc:Choice Requires="p14">
      <p:transition spd="slow" p14:dur="2000" advTm="9739"/>
    </mc:Choice>
    <mc:Fallback xmlns="">
      <p:transition spd="slow" advTm="9739"/>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Algebra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Algebra = branch of math</a:t>
                </a:r>
              </a:p>
              <a:p>
                <a:endParaRPr lang="en-US" dirty="0"/>
              </a:p>
              <a:p>
                <a:r>
                  <a:rPr lang="en-US" dirty="0"/>
                  <a:t>Example: Algebra with numbers</a:t>
                </a:r>
              </a:p>
              <a:p>
                <a:pPr lvl="1"/>
                <a:r>
                  <a:rPr lang="en-US" dirty="0"/>
                  <a:t>Addition (written: +) = function that takes two numbers and returns a number</a:t>
                </a:r>
              </a:p>
              <a:p>
                <a:pPr lvl="1"/>
                <a:r>
                  <a:rPr lang="en-US" dirty="0"/>
                  <a:t>Logarithm (written: log) = function that takes one number and returns another</a:t>
                </a:r>
              </a:p>
              <a:p>
                <a:pPr lvl="2"/>
                <a:r>
                  <a:rPr lang="en-US" dirty="0"/>
                  <a:t>Has a subscript </a:t>
                </a:r>
                <a:r>
                  <a:rPr lang="mr-IN" dirty="0"/>
                  <a:t>–</a:t>
                </a:r>
                <a:r>
                  <a:rPr lang="en-US" dirty="0"/>
                  <a:t> the base</a:t>
                </a:r>
              </a:p>
              <a:p>
                <a:pPr lvl="1"/>
                <a:r>
                  <a:rPr lang="mr-IN" dirty="0"/>
                  <a:t>…</a:t>
                </a:r>
                <a:endParaRPr lang="en-US" dirty="0"/>
              </a:p>
              <a:p>
                <a:r>
                  <a:rPr lang="en-US" dirty="0"/>
                  <a:t>Can be composed, e.g.: </a:t>
                </a:r>
                <a14:m>
                  <m:oMath xmlns:m="http://schemas.openxmlformats.org/officeDocument/2006/math">
                    <m:sSub>
                      <m:sSubPr>
                        <m:ctrlPr>
                          <a:rPr lang="en-GB" b="0" i="1" dirty="0" smtClean="0">
                            <a:latin typeface="Cambria Math" charset="0"/>
                          </a:rPr>
                        </m:ctrlPr>
                      </m:sSubPr>
                      <m:e>
                        <m:r>
                          <m:rPr>
                            <m:sty m:val="p"/>
                          </m:rPr>
                          <a:rPr lang="en-US" i="0" dirty="0" smtClean="0">
                            <a:latin typeface="Cambria Math" charset="0"/>
                          </a:rPr>
                          <m:t>log</m:t>
                        </m:r>
                      </m:e>
                      <m:sub>
                        <m:r>
                          <a:rPr lang="en-GB" b="0" i="1" dirty="0" smtClean="0">
                            <a:latin typeface="Cambria Math" charset="0"/>
                          </a:rPr>
                          <m:t>2</m:t>
                        </m:r>
                      </m:sub>
                    </m:sSub>
                    <m:r>
                      <a:rPr lang="en-US" i="1" dirty="0" smtClean="0">
                        <a:latin typeface="Cambria Math" charset="0"/>
                      </a:rPr>
                      <m:t> (3+8)+4</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5"/>
                <a:stretch>
                  <a:fillRect l="-1333" t="-1193"/>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669626220"/>
      </p:ext>
    </p:extLst>
  </p:cSld>
  <p:clrMapOvr>
    <a:masterClrMapping/>
  </p:clrMapOvr>
  <mc:AlternateContent xmlns:mc="http://schemas.openxmlformats.org/markup-compatibility/2006" xmlns:p14="http://schemas.microsoft.com/office/powerpoint/2010/main">
    <mc:Choice Requires="p14">
      <p:transition spd="slow" p14:dur="2000" advTm="85808"/>
    </mc:Choice>
    <mc:Fallback xmlns="">
      <p:transition spd="slow" advTm="8580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algebra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Algebra with tables </a:t>
                </a:r>
                <a14:m>
                  <m:oMath xmlns:m="http://schemas.openxmlformats.org/officeDocument/2006/math">
                    <m:r>
                      <a:rPr lang="en-GB" b="0" i="1" smtClean="0">
                        <a:latin typeface="Cambria Math" charset="0"/>
                      </a:rPr>
                      <m:t>≈</m:t>
                    </m:r>
                  </m:oMath>
                </a14:m>
                <a:r>
                  <a:rPr lang="en-US" dirty="0"/>
                  <a:t> SQL SELECT queries</a:t>
                </a:r>
              </a:p>
              <a:p>
                <a:pPr lvl="1"/>
                <a:r>
                  <a:rPr lang="en-US" dirty="0"/>
                  <a:t>Exception: uses set semantics (i.e. removes duplicates and has no order)</a:t>
                </a:r>
              </a:p>
              <a:p>
                <a:endParaRPr lang="en-GB" dirty="0"/>
              </a:p>
              <a:p>
                <a:r>
                  <a:rPr lang="en-GB" dirty="0"/>
                  <a:t>Relational algebra is crucial for optimization</a:t>
                </a:r>
                <a:endParaRPr lang="en-US" dirty="0"/>
              </a:p>
              <a:p>
                <a:pPr lvl="1"/>
                <a:r>
                  <a:rPr lang="en-US" dirty="0"/>
                  <a:t>Later in the course</a:t>
                </a:r>
              </a:p>
              <a:p>
                <a:pPr lvl="1"/>
                <a:endParaRPr lang="en-US" dirty="0"/>
              </a:p>
              <a:p>
                <a:r>
                  <a:rPr lang="en-US" dirty="0"/>
                  <a:t>We have seen what tables are (i.e., the thing that in relational algebra corresponds to numbers in algebra with numbers) and we will next see 5 relational algebra functions (i.e. the thing that corresponds to + or log from algebra with numbers)</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5"/>
                <a:stretch>
                  <a:fillRect l="-606" t="-1667"/>
                </a:stretch>
              </a:blipFill>
            </p:spPr>
            <p:txBody>
              <a:bodyPr/>
              <a:lstStyle/>
              <a:p>
                <a:r>
                  <a:rPr lang="en-GB">
                    <a:noFill/>
                  </a:rPr>
                  <a:t> </a:t>
                </a:r>
              </a:p>
            </p:txBody>
          </p:sp>
        </mc:Fallback>
      </mc:AlternateContent>
    </p:spTree>
    <p:custDataLst>
      <p:tags r:id="rId1"/>
    </p:custDataLst>
    <p:extLst>
      <p:ext uri="{BB962C8B-B14F-4D97-AF65-F5344CB8AC3E}">
        <p14:creationId xmlns:p14="http://schemas.microsoft.com/office/powerpoint/2010/main" val="865780877"/>
      </p:ext>
    </p:extLst>
  </p:cSld>
  <p:clrMapOvr>
    <a:masterClrMapping/>
  </p:clrMapOvr>
  <mc:AlternateContent xmlns:mc="http://schemas.openxmlformats.org/markup-compatibility/2006" xmlns:p14="http://schemas.microsoft.com/office/powerpoint/2010/main">
    <mc:Choice Requires="p14">
      <p:transition spd="slow" p14:dur="2000" advTm="105198"/>
    </mc:Choice>
    <mc:Fallback xmlns="">
      <p:transition spd="slow" advTm="1051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Projection (</a:t>
                </a:r>
                <a14:m>
                  <m:oMath xmlns:m="http://schemas.openxmlformats.org/officeDocument/2006/math">
                    <m:r>
                      <a:rPr lang="en-GB" b="0" i="1" smtClean="0">
                        <a:latin typeface="Cambria Math" charset="0"/>
                      </a:rPr>
                      <m:t>𝜋</m:t>
                    </m:r>
                  </m:oMath>
                </a14:m>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5"/>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52123" y="1750517"/>
                <a:ext cx="8229600" cy="5107483"/>
              </a:xfrm>
            </p:spPr>
            <p:txBody>
              <a:bodyPr>
                <a:normAutofit/>
              </a:bodyPr>
              <a:lstStyle/>
              <a:p>
                <a14:m>
                  <m:oMath xmlns:m="http://schemas.openxmlformats.org/officeDocument/2006/math">
                    <m:r>
                      <a:rPr lang="en-GB" sz="3200" i="1">
                        <a:latin typeface="Cambria Math" charset="0"/>
                      </a:rPr>
                      <m:t>𝜋</m:t>
                    </m:r>
                  </m:oMath>
                </a14:m>
                <a:r>
                  <a:rPr lang="en-US" sz="3200" b="1" baseline="-25000" dirty="0">
                    <a:solidFill>
                      <a:schemeClr val="accent1"/>
                    </a:solidFill>
                  </a:rPr>
                  <a:t>attribute list</a:t>
                </a:r>
                <a:r>
                  <a:rPr lang="en-US" sz="3200" dirty="0"/>
                  <a:t>(</a:t>
                </a:r>
                <a:r>
                  <a:rPr lang="en-US" sz="3200" b="1" dirty="0">
                    <a:solidFill>
                      <a:schemeClr val="accent3"/>
                    </a:solidFill>
                  </a:rPr>
                  <a:t>R</a:t>
                </a:r>
                <a:r>
                  <a:rPr lang="en-US" sz="3200" dirty="0"/>
                  <a:t>) </a:t>
                </a:r>
                <a:r>
                  <a:rPr lang="en-US" sz="2400" dirty="0"/>
                  <a:t>= restricts </a:t>
                </a:r>
                <a:r>
                  <a:rPr lang="en-US" sz="2400" b="1" dirty="0">
                    <a:solidFill>
                      <a:schemeClr val="accent3"/>
                    </a:solidFill>
                  </a:rPr>
                  <a:t>R</a:t>
                </a:r>
                <a:r>
                  <a:rPr lang="en-US" sz="2400" dirty="0"/>
                  <a:t> to the attributes in </a:t>
                </a:r>
                <a:r>
                  <a:rPr lang="en-US" sz="2400" b="1" dirty="0">
                    <a:solidFill>
                      <a:schemeClr val="accent1"/>
                    </a:solidFill>
                  </a:rPr>
                  <a:t>attribute list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52123" y="1750517"/>
                <a:ext cx="8229600" cy="5107483"/>
              </a:xfrm>
              <a:blipFill>
                <a:blip r:embed="rId6"/>
                <a:stretch>
                  <a:fillRect t="-238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675240" y="4998055"/>
                <a:ext cx="3859234" cy="587441"/>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lIns="108000" tIns="108000" rIns="108000" bIns="108000" rtlCol="0">
                <a:spAutoFit/>
              </a:bodyPr>
              <a:lstStyle/>
              <a:p>
                <a14:m>
                  <m:oMath xmlns:m="http://schemas.openxmlformats.org/officeDocument/2006/math">
                    <m:r>
                      <a:rPr lang="en-GB" sz="2400" i="1">
                        <a:latin typeface="Cambria Math" charset="0"/>
                      </a:rPr>
                      <m:t>𝜋</m:t>
                    </m:r>
                  </m:oMath>
                </a14:m>
                <a:r>
                  <a:rPr lang="en-US" sz="2400" b="1" baseline="-25000" dirty="0" err="1">
                    <a:solidFill>
                      <a:schemeClr val="accent1"/>
                    </a:solidFill>
                  </a:rPr>
                  <a:t>family_name,birthday</a:t>
                </a:r>
                <a:r>
                  <a:rPr lang="en-US" sz="2400" dirty="0"/>
                  <a:t>(</a:t>
                </a:r>
                <a:r>
                  <a:rPr lang="en-US" sz="2400" b="1" dirty="0">
                    <a:solidFill>
                      <a:srgbClr val="0070C0"/>
                    </a:solidFill>
                  </a:rPr>
                  <a:t>Employees</a:t>
                </a:r>
                <a:r>
                  <a:rPr lang="en-US" sz="2400" dirty="0"/>
                  <a:t>)</a:t>
                </a:r>
              </a:p>
            </p:txBody>
          </p:sp>
        </mc:Choice>
        <mc:Fallback xmlns="">
          <p:sp>
            <p:nvSpPr>
              <p:cNvPr id="8" name="TextBox 7"/>
              <p:cNvSpPr txBox="1">
                <a:spLocks noRot="1" noChangeAspect="1" noMove="1" noResize="1" noEditPoints="1" noAdjustHandles="1" noChangeArrowheads="1" noChangeShapeType="1" noTextEdit="1"/>
              </p:cNvSpPr>
              <p:nvPr/>
            </p:nvSpPr>
            <p:spPr>
              <a:xfrm>
                <a:off x="1675240" y="4998055"/>
                <a:ext cx="3859234" cy="587441"/>
              </a:xfrm>
              <a:prstGeom prst="rect">
                <a:avLst/>
              </a:prstGeom>
              <a:blipFill>
                <a:blip r:embed="rId7"/>
                <a:stretch>
                  <a:fillRect r="-315" b="-11224"/>
                </a:stretch>
              </a:blipFill>
            </p:spPr>
            <p:txBody>
              <a:bodyPr/>
              <a:lstStyle/>
              <a:p>
                <a:r>
                  <a:rPr lang="en-GB">
                    <a:noFill/>
                  </a:rPr>
                  <a:t> </a:t>
                </a:r>
              </a:p>
            </p:txBody>
          </p:sp>
        </mc:Fallback>
      </mc:AlternateContent>
      <p:cxnSp>
        <p:nvCxnSpPr>
          <p:cNvPr id="12" name="Straight Arrow Connector 11"/>
          <p:cNvCxnSpPr>
            <a:cxnSpLocks/>
          </p:cNvCxnSpPr>
          <p:nvPr/>
        </p:nvCxnSpPr>
        <p:spPr>
          <a:xfrm flipV="1">
            <a:off x="3767099" y="4263455"/>
            <a:ext cx="0" cy="7346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3890783" y="4406671"/>
            <a:ext cx="1522917" cy="369332"/>
          </a:xfrm>
          <a:prstGeom prst="rect">
            <a:avLst/>
          </a:prstGeom>
          <a:noFill/>
        </p:spPr>
        <p:txBody>
          <a:bodyPr wrap="none" rtlCol="0">
            <a:spAutoFit/>
          </a:bodyPr>
          <a:lstStyle/>
          <a:p>
            <a:r>
              <a:rPr lang="en-US" dirty="0"/>
              <a:t>translates into</a:t>
            </a:r>
          </a:p>
        </p:txBody>
      </p:sp>
      <p:sp>
        <p:nvSpPr>
          <p:cNvPr id="14" name="TextBox 13"/>
          <p:cNvSpPr txBox="1"/>
          <p:nvPr/>
        </p:nvSpPr>
        <p:spPr>
          <a:xfrm>
            <a:off x="208760" y="2104406"/>
            <a:ext cx="1140953" cy="369332"/>
          </a:xfrm>
          <a:prstGeom prst="rect">
            <a:avLst/>
          </a:prstGeom>
          <a:noFill/>
        </p:spPr>
        <p:txBody>
          <a:bodyPr wrap="none" rtlCol="0">
            <a:spAutoFit/>
          </a:bodyPr>
          <a:lstStyle/>
          <a:p>
            <a:r>
              <a:rPr lang="en-US" dirty="0"/>
              <a:t>SQL query</a:t>
            </a:r>
          </a:p>
        </p:txBody>
      </p:sp>
      <p:sp>
        <p:nvSpPr>
          <p:cNvPr id="16" name="TextBox 15"/>
          <p:cNvSpPr txBox="1"/>
          <p:nvPr/>
        </p:nvSpPr>
        <p:spPr>
          <a:xfrm>
            <a:off x="2153485" y="5629722"/>
            <a:ext cx="2952328" cy="369332"/>
          </a:xfrm>
          <a:prstGeom prst="rect">
            <a:avLst/>
          </a:prstGeom>
          <a:noFill/>
        </p:spPr>
        <p:txBody>
          <a:bodyPr wrap="square" rtlCol="0">
            <a:spAutoFit/>
          </a:bodyPr>
          <a:lstStyle/>
          <a:p>
            <a:r>
              <a:rPr lang="en-US" dirty="0"/>
              <a:t>Relational algebra expression</a:t>
            </a:r>
          </a:p>
        </p:txBody>
      </p:sp>
      <p:graphicFrame>
        <p:nvGraphicFramePr>
          <p:cNvPr id="9" name="Table 8">
            <a:extLst>
              <a:ext uri="{FF2B5EF4-FFF2-40B4-BE49-F238E27FC236}">
                <a16:creationId xmlns:a16="http://schemas.microsoft.com/office/drawing/2014/main" xmlns="" id="{8625312B-1366-45EC-9EDE-64222931F559}"/>
              </a:ext>
            </a:extLst>
          </p:cNvPr>
          <p:cNvGraphicFramePr>
            <a:graphicFrameLocks noGrp="1"/>
          </p:cNvGraphicFramePr>
          <p:nvPr/>
        </p:nvGraphicFramePr>
        <p:xfrm>
          <a:off x="6607628" y="2526453"/>
          <a:ext cx="5400599"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270729">
                  <a:extLst>
                    <a:ext uri="{9D8B030D-6E8A-4147-A177-3AD203B41FA5}">
                      <a16:colId xmlns:a16="http://schemas.microsoft.com/office/drawing/2014/main" xmlns="" val="20000"/>
                    </a:ext>
                  </a:extLst>
                </a:gridCol>
                <a:gridCol w="2401678">
                  <a:extLst>
                    <a:ext uri="{9D8B030D-6E8A-4147-A177-3AD203B41FA5}">
                      <a16:colId xmlns:a16="http://schemas.microsoft.com/office/drawing/2014/main" xmlns="" val="20001"/>
                    </a:ext>
                  </a:extLst>
                </a:gridCol>
                <a:gridCol w="1728192">
                  <a:extLst>
                    <a:ext uri="{9D8B030D-6E8A-4147-A177-3AD203B41FA5}">
                      <a16:colId xmlns:a16="http://schemas.microsoft.com/office/drawing/2014/main" xmlns="" val="20002"/>
                    </a:ext>
                  </a:extLst>
                </a:gridCol>
              </a:tblGrid>
              <a:tr h="0">
                <a:tc>
                  <a:txBody>
                    <a:bodyPr/>
                    <a:lstStyle/>
                    <a:p>
                      <a:r>
                        <a:rPr lang="en-US" dirty="0"/>
                        <a:t>birthday</a:t>
                      </a:r>
                    </a:p>
                  </a:txBody>
                  <a:tcPr/>
                </a:tc>
                <a:tc>
                  <a:txBody>
                    <a:bodyPr/>
                    <a:lstStyle/>
                    <a:p>
                      <a:r>
                        <a:rPr lang="en-US" dirty="0" err="1"/>
                        <a:t>first_name</a:t>
                      </a:r>
                      <a:endParaRPr lang="en-US" dirty="0"/>
                    </a:p>
                  </a:txBody>
                  <a:tcPr/>
                </a:tc>
                <a:tc>
                  <a:txBody>
                    <a:bodyPr/>
                    <a:lstStyle/>
                    <a:p>
                      <a:r>
                        <a:rPr lang="en-US" dirty="0" err="1"/>
                        <a:t>family_name</a:t>
                      </a:r>
                      <a:endParaRPr lang="en-US" dirty="0"/>
                    </a:p>
                  </a:txBody>
                  <a:tcPr/>
                </a:tc>
                <a:extLst>
                  <a:ext uri="{0D108BD9-81ED-4DB2-BD59-A6C34878D82A}">
                    <a16:rowId xmlns:a16="http://schemas.microsoft.com/office/drawing/2014/main" xmlns="" val="10000"/>
                  </a:ext>
                </a:extLst>
              </a:tr>
              <a:tr h="370840">
                <a:tc>
                  <a:txBody>
                    <a:bodyPr/>
                    <a:lstStyle/>
                    <a:p>
                      <a:r>
                        <a:rPr lang="en-US" dirty="0"/>
                        <a:t>1990-11-10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Anne</a:t>
                      </a:r>
                      <a:endParaRPr lang="en-US" dirty="0"/>
                    </a:p>
                  </a:txBody>
                  <a:tcPr/>
                </a:tc>
                <a:tc>
                  <a:txBody>
                    <a:bodyPr/>
                    <a:lstStyle/>
                    <a:p>
                      <a:r>
                        <a:rPr lang="en-US" dirty="0"/>
                        <a:t>Smith</a:t>
                      </a:r>
                    </a:p>
                  </a:txBody>
                  <a:tcPr/>
                </a:tc>
                <a:extLst>
                  <a:ext uri="{0D108BD9-81ED-4DB2-BD59-A6C34878D82A}">
                    <a16:rowId xmlns:a16="http://schemas.microsoft.com/office/drawing/2014/main" xmlns="" val="10001"/>
                  </a:ext>
                </a:extLst>
              </a:tr>
              <a:tr h="370840">
                <a:tc>
                  <a:txBody>
                    <a:bodyPr/>
                    <a:lstStyle/>
                    <a:p>
                      <a:r>
                        <a:rPr lang="en-US" dirty="0"/>
                        <a:t>2000-02-05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David</a:t>
                      </a:r>
                      <a:endParaRPr lang="en-US" dirty="0"/>
                    </a:p>
                  </a:txBody>
                  <a:tcPr/>
                </a:tc>
                <a:tc>
                  <a:txBody>
                    <a:bodyPr/>
                    <a:lstStyle/>
                    <a:p>
                      <a:r>
                        <a:rPr lang="en-US" dirty="0"/>
                        <a:t>Jones</a:t>
                      </a:r>
                    </a:p>
                  </a:txBody>
                  <a:tcPr/>
                </a:tc>
                <a:extLst>
                  <a:ext uri="{0D108BD9-81ED-4DB2-BD59-A6C34878D82A}">
                    <a16:rowId xmlns:a16="http://schemas.microsoft.com/office/drawing/2014/main" xmlns="" val="10002"/>
                  </a:ext>
                </a:extLst>
              </a:tr>
              <a:tr h="370840">
                <a:tc>
                  <a:txBody>
                    <a:bodyPr/>
                    <a:lstStyle/>
                    <a:p>
                      <a:r>
                        <a:rPr lang="en-US" dirty="0"/>
                        <a:t>1995-05-09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r>
                        <a:rPr lang="en-GB" dirty="0"/>
                        <a:t>Taylor</a:t>
                      </a:r>
                      <a:endParaRPr lang="en-US" dirty="0"/>
                    </a:p>
                  </a:txBody>
                  <a:tcPr/>
                </a:tc>
                <a:extLst>
                  <a:ext uri="{0D108BD9-81ED-4DB2-BD59-A6C34878D82A}">
                    <a16:rowId xmlns:a16="http://schemas.microsoft.com/office/drawing/2014/main" xmlns="" val="10003"/>
                  </a:ext>
                </a:extLst>
              </a:tr>
            </a:tbl>
          </a:graphicData>
        </a:graphic>
      </p:graphicFrame>
      <p:sp>
        <p:nvSpPr>
          <p:cNvPr id="10" name="TextBox 9">
            <a:extLst>
              <a:ext uri="{FF2B5EF4-FFF2-40B4-BE49-F238E27FC236}">
                <a16:creationId xmlns:a16="http://schemas.microsoft.com/office/drawing/2014/main" xmlns="" id="{B05CF8C7-99C0-4E40-8A50-05DF808771C9}"/>
              </a:ext>
            </a:extLst>
          </p:cNvPr>
          <p:cNvSpPr txBox="1"/>
          <p:nvPr/>
        </p:nvSpPr>
        <p:spPr>
          <a:xfrm>
            <a:off x="6512132" y="2157121"/>
            <a:ext cx="1214692" cy="369332"/>
          </a:xfrm>
          <a:prstGeom prst="rect">
            <a:avLst/>
          </a:prstGeom>
          <a:noFill/>
        </p:spPr>
        <p:txBody>
          <a:bodyPr wrap="none" rtlCol="0">
            <a:spAutoFit/>
          </a:bodyPr>
          <a:lstStyle/>
          <a:p>
            <a:r>
              <a:rPr lang="en-US" b="1" dirty="0">
                <a:solidFill>
                  <a:srgbClr val="0070C0"/>
                </a:solidFill>
              </a:rPr>
              <a:t>Employees</a:t>
            </a:r>
          </a:p>
        </p:txBody>
      </p:sp>
      <p:sp>
        <p:nvSpPr>
          <p:cNvPr id="25" name="Rectangle 24">
            <a:extLst>
              <a:ext uri="{FF2B5EF4-FFF2-40B4-BE49-F238E27FC236}">
                <a16:creationId xmlns:a16="http://schemas.microsoft.com/office/drawing/2014/main" xmlns="" id="{44C662A3-2490-4B4D-A2A8-65DC54E23EE9}"/>
              </a:ext>
            </a:extLst>
          </p:cNvPr>
          <p:cNvSpPr/>
          <p:nvPr/>
        </p:nvSpPr>
        <p:spPr>
          <a:xfrm>
            <a:off x="321814" y="2396981"/>
            <a:ext cx="5697979" cy="1695437"/>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3200" dirty="0">
                <a:solidFill>
                  <a:schemeClr val="tx1"/>
                </a:solidFill>
              </a:rPr>
              <a:t>SELECT DISTINCT 	</a:t>
            </a:r>
            <a:r>
              <a:rPr lang="en-US" sz="3200" dirty="0" err="1">
                <a:solidFill>
                  <a:schemeClr val="tx1"/>
                </a:solidFill>
              </a:rPr>
              <a:t>family_name</a:t>
            </a:r>
            <a:r>
              <a:rPr lang="en-US" sz="3200" dirty="0">
                <a:solidFill>
                  <a:schemeClr val="tx1"/>
                </a:solidFill>
              </a:rPr>
              <a:t>, </a:t>
            </a:r>
            <a:br>
              <a:rPr lang="en-US" sz="3200" dirty="0">
                <a:solidFill>
                  <a:schemeClr val="tx1"/>
                </a:solidFill>
              </a:rPr>
            </a:br>
            <a:r>
              <a:rPr lang="en-US" sz="3200" dirty="0">
                <a:solidFill>
                  <a:schemeClr val="tx1"/>
                </a:solidFill>
              </a:rPr>
              <a:t>							birthday </a:t>
            </a:r>
          </a:p>
          <a:p>
            <a:r>
              <a:rPr lang="en-US" sz="3200" dirty="0">
                <a:solidFill>
                  <a:schemeClr val="tx1"/>
                </a:solidFill>
              </a:rPr>
              <a:t>FROM </a:t>
            </a:r>
            <a:r>
              <a:rPr lang="en-US" sz="3200" dirty="0">
                <a:solidFill>
                  <a:srgbClr val="0070C0"/>
                </a:solidFill>
              </a:rPr>
              <a:t>Employees</a:t>
            </a:r>
            <a:r>
              <a:rPr lang="en-US" sz="3200" dirty="0">
                <a:solidFill>
                  <a:schemeClr val="tx1"/>
                </a:solidFill>
              </a:rPr>
              <a:t>;</a:t>
            </a:r>
          </a:p>
        </p:txBody>
      </p:sp>
      <p:cxnSp>
        <p:nvCxnSpPr>
          <p:cNvPr id="26" name="Straight Arrow Connector 25">
            <a:extLst>
              <a:ext uri="{FF2B5EF4-FFF2-40B4-BE49-F238E27FC236}">
                <a16:creationId xmlns:a16="http://schemas.microsoft.com/office/drawing/2014/main" xmlns="" id="{115EF89D-4447-4FAB-9946-F7A5F86D5740}"/>
              </a:ext>
            </a:extLst>
          </p:cNvPr>
          <p:cNvCxnSpPr>
            <a:cxnSpLocks/>
          </p:cNvCxnSpPr>
          <p:nvPr/>
        </p:nvCxnSpPr>
        <p:spPr>
          <a:xfrm>
            <a:off x="5735961" y="5245961"/>
            <a:ext cx="543855"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xmlns="" id="{E944988E-B593-41C7-9569-0CE2CA0AD0E9}"/>
              </a:ext>
            </a:extLst>
          </p:cNvPr>
          <p:cNvCxnSpPr>
            <a:cxnSpLocks/>
          </p:cNvCxnSpPr>
          <p:nvPr/>
        </p:nvCxnSpPr>
        <p:spPr>
          <a:xfrm>
            <a:off x="6028855" y="4134094"/>
            <a:ext cx="569519" cy="628054"/>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9" name="Table 28">
            <a:extLst>
              <a:ext uri="{FF2B5EF4-FFF2-40B4-BE49-F238E27FC236}">
                <a16:creationId xmlns:a16="http://schemas.microsoft.com/office/drawing/2014/main" xmlns="" id="{59B20330-35A7-43B2-A193-5E8F0411DD1B}"/>
              </a:ext>
            </a:extLst>
          </p:cNvPr>
          <p:cNvGraphicFramePr>
            <a:graphicFrameLocks noGrp="1"/>
          </p:cNvGraphicFramePr>
          <p:nvPr>
            <p:extLst>
              <p:ext uri="{D42A27DB-BD31-4B8C-83A1-F6EECF244321}">
                <p14:modId xmlns:p14="http://schemas.microsoft.com/office/powerpoint/2010/main" val="3010010708"/>
              </p:ext>
            </p:extLst>
          </p:nvPr>
        </p:nvGraphicFramePr>
        <p:xfrm>
          <a:off x="6657528" y="4374065"/>
          <a:ext cx="2923394"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461697">
                  <a:extLst>
                    <a:ext uri="{9D8B030D-6E8A-4147-A177-3AD203B41FA5}">
                      <a16:colId xmlns:a16="http://schemas.microsoft.com/office/drawing/2014/main" xmlns="" val="963979512"/>
                    </a:ext>
                  </a:extLst>
                </a:gridCol>
                <a:gridCol w="1461697">
                  <a:extLst>
                    <a:ext uri="{9D8B030D-6E8A-4147-A177-3AD203B41FA5}">
                      <a16:colId xmlns:a16="http://schemas.microsoft.com/office/drawing/2014/main" xmlns="" val="20000"/>
                    </a:ext>
                  </a:extLst>
                </a:gridCol>
              </a:tblGrid>
              <a:tr h="0">
                <a:tc>
                  <a:txBody>
                    <a:bodyPr/>
                    <a:lstStyle/>
                    <a:p>
                      <a:r>
                        <a:rPr lang="en-US" dirty="0" err="1"/>
                        <a:t>family_name</a:t>
                      </a:r>
                      <a:endParaRPr lang="en-US" dirty="0"/>
                    </a:p>
                  </a:txBody>
                  <a:tcPr/>
                </a:tc>
                <a:tc>
                  <a:txBody>
                    <a:bodyPr/>
                    <a:lstStyle/>
                    <a:p>
                      <a:r>
                        <a:rPr lang="en-US" dirty="0"/>
                        <a:t>birthday</a:t>
                      </a:r>
                    </a:p>
                  </a:txBody>
                  <a:tcPr/>
                </a:tc>
                <a:extLst>
                  <a:ext uri="{0D108BD9-81ED-4DB2-BD59-A6C34878D82A}">
                    <a16:rowId xmlns:a16="http://schemas.microsoft.com/office/drawing/2014/main" xmlns="" val="10000"/>
                  </a:ext>
                </a:extLst>
              </a:tr>
              <a:tr h="370840">
                <a:tc>
                  <a:txBody>
                    <a:bodyPr/>
                    <a:lstStyle/>
                    <a:p>
                      <a:r>
                        <a:rPr lang="en-US" dirty="0"/>
                        <a:t>Smith</a:t>
                      </a:r>
                    </a:p>
                  </a:txBody>
                  <a:tcPr/>
                </a:tc>
                <a:tc>
                  <a:txBody>
                    <a:bodyPr/>
                    <a:lstStyle/>
                    <a:p>
                      <a:r>
                        <a:rPr lang="en-US" dirty="0"/>
                        <a:t>1990-11-10</a:t>
                      </a:r>
                    </a:p>
                  </a:txBody>
                  <a:tcPr/>
                </a:tc>
                <a:extLst>
                  <a:ext uri="{0D108BD9-81ED-4DB2-BD59-A6C34878D82A}">
                    <a16:rowId xmlns:a16="http://schemas.microsoft.com/office/drawing/2014/main" xmlns="" val="10001"/>
                  </a:ext>
                </a:extLst>
              </a:tr>
              <a:tr h="370840">
                <a:tc>
                  <a:txBody>
                    <a:bodyPr/>
                    <a:lstStyle/>
                    <a:p>
                      <a:r>
                        <a:rPr lang="en-US" dirty="0"/>
                        <a:t>Jones</a:t>
                      </a:r>
                    </a:p>
                  </a:txBody>
                  <a:tcPr/>
                </a:tc>
                <a:tc>
                  <a:txBody>
                    <a:bodyPr/>
                    <a:lstStyle/>
                    <a:p>
                      <a:r>
                        <a:rPr lang="en-US" dirty="0"/>
                        <a:t>2000-02-05</a:t>
                      </a:r>
                    </a:p>
                  </a:txBody>
                  <a:tcPr/>
                </a:tc>
                <a:extLst>
                  <a:ext uri="{0D108BD9-81ED-4DB2-BD59-A6C34878D82A}">
                    <a16:rowId xmlns:a16="http://schemas.microsoft.com/office/drawing/2014/main" xmlns="" val="10002"/>
                  </a:ext>
                </a:extLst>
              </a:tr>
              <a:tr h="370840">
                <a:tc>
                  <a:txBody>
                    <a:bodyPr/>
                    <a:lstStyle/>
                    <a:p>
                      <a:r>
                        <a:rPr lang="en-GB" dirty="0"/>
                        <a:t>Taylor</a:t>
                      </a:r>
                      <a:endParaRPr lang="en-US" dirty="0"/>
                    </a:p>
                  </a:txBody>
                  <a:tcPr/>
                </a:tc>
                <a:tc>
                  <a:txBody>
                    <a:bodyPr/>
                    <a:lstStyle/>
                    <a:p>
                      <a:r>
                        <a:rPr lang="en-US" dirty="0"/>
                        <a:t>1995-05-09</a:t>
                      </a:r>
                    </a:p>
                  </a:txBody>
                  <a:tcPr/>
                </a:tc>
                <a:extLst>
                  <a:ext uri="{0D108BD9-81ED-4DB2-BD59-A6C34878D82A}">
                    <a16:rowId xmlns:a16="http://schemas.microsoft.com/office/drawing/2014/main" xmlns="" val="10003"/>
                  </a:ext>
                </a:extLst>
              </a:tr>
            </a:tbl>
          </a:graphicData>
        </a:graphic>
      </p:graphicFrame>
      <p:sp>
        <p:nvSpPr>
          <p:cNvPr id="19" name="Rounded Rectangular Callout 22">
            <a:extLst>
              <a:ext uri="{FF2B5EF4-FFF2-40B4-BE49-F238E27FC236}">
                <a16:creationId xmlns:a16="http://schemas.microsoft.com/office/drawing/2014/main" xmlns="" id="{0D5AAC42-381E-4F3B-AE4D-8C615B537A5A}"/>
              </a:ext>
            </a:extLst>
          </p:cNvPr>
          <p:cNvSpPr/>
          <p:nvPr/>
        </p:nvSpPr>
        <p:spPr>
          <a:xfrm>
            <a:off x="1097280" y="3055296"/>
            <a:ext cx="2251965" cy="420594"/>
          </a:xfrm>
          <a:prstGeom prst="wedgeRoundRectCallout">
            <a:avLst>
              <a:gd name="adj1" fmla="val -372"/>
              <a:gd name="adj2" fmla="val -83085"/>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DISTINCT, due to sets</a:t>
            </a:r>
          </a:p>
        </p:txBody>
      </p:sp>
    </p:spTree>
    <p:custDataLst>
      <p:tags r:id="rId1"/>
    </p:custDataLst>
    <p:extLst>
      <p:ext uri="{BB962C8B-B14F-4D97-AF65-F5344CB8AC3E}">
        <p14:creationId xmlns:p14="http://schemas.microsoft.com/office/powerpoint/2010/main" val="1987793151"/>
      </p:ext>
    </p:extLst>
  </p:cSld>
  <p:clrMapOvr>
    <a:masterClrMapping/>
  </p:clrMapOvr>
  <mc:AlternateContent xmlns:mc="http://schemas.openxmlformats.org/markup-compatibility/2006" xmlns:p14="http://schemas.microsoft.com/office/powerpoint/2010/main">
    <mc:Choice Requires="p14">
      <p:transition spd="slow" p14:dur="2000" advTm="123897"/>
    </mc:Choice>
    <mc:Fallback xmlns="">
      <p:transition spd="slow" advTm="1238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p:bldP spid="14" grpId="0"/>
      <p:bldP spid="16" grpId="0"/>
      <p:bldP spid="25" grpId="0" animBg="1"/>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Renaming (</a:t>
                </a:r>
                <a14:m>
                  <m:oMath xmlns:m="http://schemas.openxmlformats.org/officeDocument/2006/math">
                    <m:r>
                      <a:rPr lang="en-GB" b="0" i="1" smtClean="0">
                        <a:latin typeface="Cambria Math" charset="0"/>
                      </a:rPr>
                      <m:t>𝜌</m:t>
                    </m:r>
                  </m:oMath>
                </a14:m>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5"/>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GB" sz="3600" i="1">
                        <a:solidFill>
                          <a:schemeClr val="tx1"/>
                        </a:solidFill>
                        <a:latin typeface="Cambria Math" charset="0"/>
                      </a:rPr>
                      <m:t>𝜌</m:t>
                    </m:r>
                  </m:oMath>
                </a14:m>
                <a:r>
                  <a:rPr lang="en-US" sz="3600" b="1" baseline="-25000" dirty="0">
                    <a:solidFill>
                      <a:schemeClr val="accent1"/>
                    </a:solidFill>
                  </a:rPr>
                  <a:t>A1</a:t>
                </a:r>
                <a:r>
                  <a:rPr lang="en-US" sz="3600" b="1" baseline="-25000" dirty="0">
                    <a:sym typeface="Wingdings"/>
                  </a:rPr>
                  <a:t></a:t>
                </a:r>
                <a:r>
                  <a:rPr lang="en-US" sz="3600" b="1" baseline="-25000" dirty="0">
                    <a:solidFill>
                      <a:schemeClr val="accent2"/>
                    </a:solidFill>
                    <a:sym typeface="Wingdings"/>
                  </a:rPr>
                  <a:t>B1</a:t>
                </a:r>
                <a:r>
                  <a:rPr lang="en-US" sz="3600" b="1" baseline="-25000" dirty="0">
                    <a:sym typeface="Wingdings"/>
                  </a:rPr>
                  <a:t>,</a:t>
                </a:r>
                <a:r>
                  <a:rPr lang="en-GB" sz="3600" b="1" baseline="-25000" dirty="0">
                    <a:solidFill>
                      <a:schemeClr val="accent1"/>
                    </a:solidFill>
                    <a:sym typeface="Wingdings"/>
                  </a:rPr>
                  <a:t>A2</a:t>
                </a:r>
                <a:r>
                  <a:rPr lang="en-US" sz="3600" b="1" baseline="-25000" dirty="0">
                    <a:sym typeface="Wingdings"/>
                  </a:rPr>
                  <a:t></a:t>
                </a:r>
                <a:r>
                  <a:rPr lang="en-GB" sz="3600" b="1" baseline="-25000" dirty="0">
                    <a:solidFill>
                      <a:schemeClr val="accent2"/>
                    </a:solidFill>
                    <a:sym typeface="Wingdings"/>
                  </a:rPr>
                  <a:t>B2</a:t>
                </a:r>
                <a:r>
                  <a:rPr lang="en-GB" sz="3600" b="1" baseline="-25000" dirty="0">
                    <a:sym typeface="Wingdings"/>
                  </a:rPr>
                  <a:t>,</a:t>
                </a:r>
                <a:r>
                  <a:rPr lang="mr-IN" sz="3600" b="1" baseline="-25000" dirty="0">
                    <a:sym typeface="Wingdings"/>
                  </a:rPr>
                  <a:t>…</a:t>
                </a:r>
                <a:r>
                  <a:rPr lang="en-US" sz="3600" dirty="0">
                    <a:solidFill>
                      <a:schemeClr val="tx1"/>
                    </a:solidFill>
                  </a:rPr>
                  <a:t>(</a:t>
                </a:r>
                <a:r>
                  <a:rPr lang="en-US" sz="3600" b="1" dirty="0">
                    <a:solidFill>
                      <a:schemeClr val="accent3"/>
                    </a:solidFill>
                  </a:rPr>
                  <a:t>R</a:t>
                </a:r>
                <a:r>
                  <a:rPr lang="en-US" sz="3600" dirty="0"/>
                  <a:t>) </a:t>
                </a:r>
                <a:r>
                  <a:rPr lang="en-US" dirty="0"/>
                  <a:t>= renames attribute </a:t>
                </a:r>
                <a:r>
                  <a:rPr lang="en-US" b="1" dirty="0">
                    <a:solidFill>
                      <a:schemeClr val="accent1"/>
                    </a:solidFill>
                  </a:rPr>
                  <a:t>A1</a:t>
                </a:r>
                <a:r>
                  <a:rPr lang="en-US" dirty="0"/>
                  <a:t> to </a:t>
                </a:r>
                <a:r>
                  <a:rPr lang="en-US" b="1" dirty="0">
                    <a:solidFill>
                      <a:schemeClr val="accent2"/>
                    </a:solidFill>
                  </a:rPr>
                  <a:t>B1</a:t>
                </a:r>
                <a:r>
                  <a:rPr lang="en-US" dirty="0"/>
                  <a:t>, attribute </a:t>
                </a:r>
                <a:r>
                  <a:rPr lang="en-US" b="1" dirty="0">
                    <a:solidFill>
                      <a:schemeClr val="accent1"/>
                    </a:solidFill>
                  </a:rPr>
                  <a:t>A2</a:t>
                </a:r>
                <a:r>
                  <a:rPr lang="en-US" dirty="0"/>
                  <a:t> to </a:t>
                </a:r>
                <a:r>
                  <a:rPr lang="en-US" b="1" dirty="0">
                    <a:solidFill>
                      <a:schemeClr val="accent2"/>
                    </a:solidFill>
                  </a:rPr>
                  <a:t>B2</a:t>
                </a:r>
                <a:r>
                  <a:rPr lang="en-US" dirty="0"/>
                  <a:t>, </a:t>
                </a:r>
                <a:r>
                  <a:rPr lang="mr-IN" dirty="0"/>
                  <a:t>…</a:t>
                </a:r>
                <a:endParaRPr lang="en-US" b="1" dirty="0">
                  <a:solidFill>
                    <a:schemeClr val="accent1"/>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6"/>
                <a:stretch>
                  <a:fillRect t="-1909"/>
                </a:stretch>
              </a:blipFill>
            </p:spPr>
            <p:txBody>
              <a:bodyPr/>
              <a:lstStyle/>
              <a:p>
                <a:r>
                  <a:rPr lang="en-US">
                    <a:noFill/>
                  </a:rPr>
                  <a:t> </a:t>
                </a:r>
              </a:p>
            </p:txBody>
          </p:sp>
        </mc:Fallback>
      </mc:AlternateContent>
      <p:sp>
        <p:nvSpPr>
          <p:cNvPr id="7" name="TextBox 6"/>
          <p:cNvSpPr txBox="1"/>
          <p:nvPr/>
        </p:nvSpPr>
        <p:spPr>
          <a:xfrm>
            <a:off x="0" y="2996220"/>
            <a:ext cx="6607625" cy="83366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2000" b="1" dirty="0"/>
              <a:t>SELECT</a:t>
            </a:r>
            <a:r>
              <a:rPr lang="en-US" sz="2000" dirty="0"/>
              <a:t> </a:t>
            </a:r>
            <a:r>
              <a:rPr lang="en-US" sz="2000" b="1" dirty="0"/>
              <a:t>DISTINCT</a:t>
            </a:r>
            <a:r>
              <a:rPr lang="en-US" sz="2000" dirty="0"/>
              <a:t> </a:t>
            </a:r>
            <a:r>
              <a:rPr lang="en-US" sz="2000" b="1" dirty="0">
                <a:solidFill>
                  <a:schemeClr val="accent1"/>
                </a:solidFill>
              </a:rPr>
              <a:t>birthday </a:t>
            </a:r>
            <a:r>
              <a:rPr lang="en-US" sz="2000" b="1" dirty="0">
                <a:solidFill>
                  <a:schemeClr val="tx1"/>
                </a:solidFill>
              </a:rPr>
              <a:t>AS</a:t>
            </a:r>
            <a:r>
              <a:rPr lang="en-US" sz="2000" b="1" dirty="0">
                <a:solidFill>
                  <a:schemeClr val="accent1"/>
                </a:solidFill>
              </a:rPr>
              <a:t> </a:t>
            </a:r>
            <a:r>
              <a:rPr lang="en-US" sz="2000" b="1" dirty="0" err="1">
                <a:solidFill>
                  <a:schemeClr val="accent2"/>
                </a:solidFill>
              </a:rPr>
              <a:t>bday</a:t>
            </a:r>
            <a:r>
              <a:rPr lang="en-US" sz="2000" b="1" dirty="0">
                <a:solidFill>
                  <a:schemeClr val="tx1"/>
                </a:solidFill>
              </a:rPr>
              <a:t>, </a:t>
            </a:r>
            <a:r>
              <a:rPr lang="en-US" sz="2000" b="1" dirty="0" err="1">
                <a:solidFill>
                  <a:schemeClr val="tx1"/>
                </a:solidFill>
              </a:rPr>
              <a:t>first_name</a:t>
            </a:r>
            <a:r>
              <a:rPr lang="en-US" sz="2000" b="1" dirty="0">
                <a:solidFill>
                  <a:schemeClr val="tx1"/>
                </a:solidFill>
              </a:rPr>
              <a:t>, </a:t>
            </a:r>
            <a:r>
              <a:rPr lang="en-US" sz="2000" b="1" dirty="0" err="1">
                <a:solidFill>
                  <a:schemeClr val="tx1"/>
                </a:solidFill>
              </a:rPr>
              <a:t>family_name</a:t>
            </a:r>
            <a:endParaRPr lang="en-US" sz="2000" dirty="0">
              <a:solidFill>
                <a:schemeClr val="tx1"/>
              </a:solidFill>
            </a:endParaRPr>
          </a:p>
          <a:p>
            <a:r>
              <a:rPr lang="en-US" sz="2000" b="1" dirty="0"/>
              <a:t>FROM</a:t>
            </a:r>
            <a:r>
              <a:rPr lang="en-US" sz="2000" dirty="0"/>
              <a:t> </a:t>
            </a:r>
            <a:r>
              <a:rPr lang="en-US" sz="2000" b="1" dirty="0">
                <a:solidFill>
                  <a:srgbClr val="0070C0"/>
                </a:solidFill>
              </a:rPr>
              <a:t>Employees</a:t>
            </a:r>
            <a:r>
              <a:rPr lang="en-US" sz="2000" dirty="0"/>
              <a:t>;</a:t>
            </a:r>
          </a:p>
        </p:txBody>
      </p:sp>
      <mc:AlternateContent xmlns:mc="http://schemas.openxmlformats.org/markup-compatibility/2006" xmlns:a14="http://schemas.microsoft.com/office/drawing/2010/main">
        <mc:Choice Requires="a14">
          <p:sp>
            <p:nvSpPr>
              <p:cNvPr id="8" name="TextBox 7"/>
              <p:cNvSpPr txBox="1"/>
              <p:nvPr/>
            </p:nvSpPr>
            <p:spPr>
              <a:xfrm>
                <a:off x="2237318" y="5036454"/>
                <a:ext cx="3299787" cy="587441"/>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lIns="108000" tIns="108000" rIns="108000" bIns="108000" rtlCol="0">
                <a:spAutoFit/>
              </a:bodyPr>
              <a:lstStyle/>
              <a:p>
                <a14:m>
                  <m:oMath xmlns:m="http://schemas.openxmlformats.org/officeDocument/2006/math">
                    <m:r>
                      <a:rPr lang="en-GB" sz="2400" i="1">
                        <a:latin typeface="Cambria Math" charset="0"/>
                      </a:rPr>
                      <m:t>𝜌</m:t>
                    </m:r>
                  </m:oMath>
                </a14:m>
                <a:r>
                  <a:rPr lang="en-US" sz="2400" b="1" baseline="-25000" dirty="0" err="1">
                    <a:solidFill>
                      <a:schemeClr val="accent1"/>
                    </a:solidFill>
                  </a:rPr>
                  <a:t>birthday</a:t>
                </a:r>
                <a:r>
                  <a:rPr lang="en-US" sz="2400" b="1" baseline="-25000" dirty="0" err="1">
                    <a:solidFill>
                      <a:schemeClr val="tx1"/>
                    </a:solidFill>
                    <a:sym typeface="Wingdings"/>
                  </a:rPr>
                  <a:t></a:t>
                </a:r>
                <a:r>
                  <a:rPr lang="en-US" sz="2400" b="1" baseline="-25000" dirty="0" err="1">
                    <a:solidFill>
                      <a:schemeClr val="accent2"/>
                    </a:solidFill>
                    <a:sym typeface="Wingdings"/>
                  </a:rPr>
                  <a:t>bday</a:t>
                </a:r>
                <a:r>
                  <a:rPr lang="en-US" sz="2400" dirty="0"/>
                  <a:t>(</a:t>
                </a:r>
                <a:r>
                  <a:rPr lang="en-US" sz="2400" b="1" dirty="0">
                    <a:solidFill>
                      <a:srgbClr val="0070C0"/>
                    </a:solidFill>
                  </a:rPr>
                  <a:t>Employees</a:t>
                </a:r>
                <a:r>
                  <a:rPr lang="en-US" sz="2400" dirty="0"/>
                  <a:t>)</a:t>
                </a:r>
              </a:p>
            </p:txBody>
          </p:sp>
        </mc:Choice>
        <mc:Fallback xmlns="">
          <p:sp>
            <p:nvSpPr>
              <p:cNvPr id="8" name="TextBox 7"/>
              <p:cNvSpPr txBox="1">
                <a:spLocks noRot="1" noChangeAspect="1" noMove="1" noResize="1" noEditPoints="1" noAdjustHandles="1" noChangeArrowheads="1" noChangeShapeType="1" noTextEdit="1"/>
              </p:cNvSpPr>
              <p:nvPr/>
            </p:nvSpPr>
            <p:spPr>
              <a:xfrm>
                <a:off x="2237318" y="5036454"/>
                <a:ext cx="3299787" cy="587441"/>
              </a:xfrm>
              <a:prstGeom prst="rect">
                <a:avLst/>
              </a:prstGeom>
              <a:blipFill>
                <a:blip r:embed="rId7"/>
                <a:stretch>
                  <a:fillRect r="-921" b="-10101"/>
                </a:stretch>
              </a:blipFill>
            </p:spPr>
            <p:txBody>
              <a:bodyPr/>
              <a:lstStyle/>
              <a:p>
                <a:r>
                  <a:rPr lang="en-GB">
                    <a:noFill/>
                  </a:rPr>
                  <a:t> </a:t>
                </a:r>
              </a:p>
            </p:txBody>
          </p:sp>
        </mc:Fallback>
      </mc:AlternateContent>
      <p:cxnSp>
        <p:nvCxnSpPr>
          <p:cNvPr id="9" name="Straight Arrow Connector 8"/>
          <p:cNvCxnSpPr>
            <a:cxnSpLocks/>
          </p:cNvCxnSpPr>
          <p:nvPr/>
        </p:nvCxnSpPr>
        <p:spPr>
          <a:xfrm flipV="1">
            <a:off x="3645725" y="4025735"/>
            <a:ext cx="0" cy="101072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3808907" y="4168019"/>
            <a:ext cx="1522917" cy="369332"/>
          </a:xfrm>
          <a:prstGeom prst="rect">
            <a:avLst/>
          </a:prstGeom>
          <a:noFill/>
        </p:spPr>
        <p:txBody>
          <a:bodyPr wrap="none" rtlCol="0">
            <a:spAutoFit/>
          </a:bodyPr>
          <a:lstStyle/>
          <a:p>
            <a:r>
              <a:rPr lang="en-US" dirty="0"/>
              <a:t>translates into</a:t>
            </a:r>
          </a:p>
        </p:txBody>
      </p:sp>
      <p:sp>
        <p:nvSpPr>
          <p:cNvPr id="11" name="TextBox 10"/>
          <p:cNvSpPr txBox="1"/>
          <p:nvPr/>
        </p:nvSpPr>
        <p:spPr>
          <a:xfrm>
            <a:off x="668893" y="2577848"/>
            <a:ext cx="1140953" cy="369332"/>
          </a:xfrm>
          <a:prstGeom prst="rect">
            <a:avLst/>
          </a:prstGeom>
          <a:noFill/>
        </p:spPr>
        <p:txBody>
          <a:bodyPr wrap="none" rtlCol="0">
            <a:spAutoFit/>
          </a:bodyPr>
          <a:lstStyle/>
          <a:p>
            <a:r>
              <a:rPr lang="en-US"/>
              <a:t>SQL </a:t>
            </a:r>
            <a:r>
              <a:rPr lang="en-US" dirty="0"/>
              <a:t>query</a:t>
            </a:r>
          </a:p>
        </p:txBody>
      </p:sp>
      <p:sp>
        <p:nvSpPr>
          <p:cNvPr id="12" name="TextBox 11"/>
          <p:cNvSpPr txBox="1"/>
          <p:nvPr/>
        </p:nvSpPr>
        <p:spPr>
          <a:xfrm>
            <a:off x="2379496" y="5628078"/>
            <a:ext cx="2952328" cy="369332"/>
          </a:xfrm>
          <a:prstGeom prst="rect">
            <a:avLst/>
          </a:prstGeom>
          <a:noFill/>
        </p:spPr>
        <p:txBody>
          <a:bodyPr wrap="square" rtlCol="0">
            <a:spAutoFit/>
          </a:bodyPr>
          <a:lstStyle/>
          <a:p>
            <a:r>
              <a:rPr lang="en-US" dirty="0"/>
              <a:t>Relational algebra expression</a:t>
            </a:r>
          </a:p>
        </p:txBody>
      </p:sp>
      <p:graphicFrame>
        <p:nvGraphicFramePr>
          <p:cNvPr id="13" name="Table 12">
            <a:extLst>
              <a:ext uri="{FF2B5EF4-FFF2-40B4-BE49-F238E27FC236}">
                <a16:creationId xmlns:a16="http://schemas.microsoft.com/office/drawing/2014/main" xmlns="" id="{442F95DD-E5E0-4DD4-870F-5B5F91DDFF52}"/>
              </a:ext>
            </a:extLst>
          </p:cNvPr>
          <p:cNvGraphicFramePr>
            <a:graphicFrameLocks noGrp="1"/>
          </p:cNvGraphicFramePr>
          <p:nvPr>
            <p:extLst>
              <p:ext uri="{D42A27DB-BD31-4B8C-83A1-F6EECF244321}">
                <p14:modId xmlns:p14="http://schemas.microsoft.com/office/powerpoint/2010/main" val="1107087246"/>
              </p:ext>
            </p:extLst>
          </p:nvPr>
        </p:nvGraphicFramePr>
        <p:xfrm>
          <a:off x="6607628" y="2689739"/>
          <a:ext cx="5400599"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270729">
                  <a:extLst>
                    <a:ext uri="{9D8B030D-6E8A-4147-A177-3AD203B41FA5}">
                      <a16:colId xmlns:a16="http://schemas.microsoft.com/office/drawing/2014/main" xmlns="" val="20000"/>
                    </a:ext>
                  </a:extLst>
                </a:gridCol>
                <a:gridCol w="2401678">
                  <a:extLst>
                    <a:ext uri="{9D8B030D-6E8A-4147-A177-3AD203B41FA5}">
                      <a16:colId xmlns:a16="http://schemas.microsoft.com/office/drawing/2014/main" xmlns="" val="20001"/>
                    </a:ext>
                  </a:extLst>
                </a:gridCol>
                <a:gridCol w="1728192">
                  <a:extLst>
                    <a:ext uri="{9D8B030D-6E8A-4147-A177-3AD203B41FA5}">
                      <a16:colId xmlns:a16="http://schemas.microsoft.com/office/drawing/2014/main" xmlns="" val="20002"/>
                    </a:ext>
                  </a:extLst>
                </a:gridCol>
              </a:tblGrid>
              <a:tr h="0">
                <a:tc>
                  <a:txBody>
                    <a:bodyPr/>
                    <a:lstStyle/>
                    <a:p>
                      <a:r>
                        <a:rPr lang="en-US" dirty="0"/>
                        <a:t>birthday</a:t>
                      </a:r>
                    </a:p>
                  </a:txBody>
                  <a:tcPr/>
                </a:tc>
                <a:tc>
                  <a:txBody>
                    <a:bodyPr/>
                    <a:lstStyle/>
                    <a:p>
                      <a:r>
                        <a:rPr lang="en-US" dirty="0" err="1"/>
                        <a:t>first_name</a:t>
                      </a:r>
                      <a:endParaRPr lang="en-US" dirty="0"/>
                    </a:p>
                  </a:txBody>
                  <a:tcPr/>
                </a:tc>
                <a:tc>
                  <a:txBody>
                    <a:bodyPr/>
                    <a:lstStyle/>
                    <a:p>
                      <a:r>
                        <a:rPr lang="en-US" dirty="0" err="1"/>
                        <a:t>family_name</a:t>
                      </a:r>
                      <a:endParaRPr lang="en-US" dirty="0"/>
                    </a:p>
                  </a:txBody>
                  <a:tcPr/>
                </a:tc>
                <a:extLst>
                  <a:ext uri="{0D108BD9-81ED-4DB2-BD59-A6C34878D82A}">
                    <a16:rowId xmlns:a16="http://schemas.microsoft.com/office/drawing/2014/main" xmlns="" val="10000"/>
                  </a:ext>
                </a:extLst>
              </a:tr>
              <a:tr h="370840">
                <a:tc>
                  <a:txBody>
                    <a:bodyPr/>
                    <a:lstStyle/>
                    <a:p>
                      <a:r>
                        <a:rPr lang="en-US" dirty="0"/>
                        <a:t>1990-11-10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Anne</a:t>
                      </a:r>
                      <a:endParaRPr lang="en-US" dirty="0"/>
                    </a:p>
                  </a:txBody>
                  <a:tcPr/>
                </a:tc>
                <a:tc>
                  <a:txBody>
                    <a:bodyPr/>
                    <a:lstStyle/>
                    <a:p>
                      <a:r>
                        <a:rPr lang="en-US" dirty="0"/>
                        <a:t>Smith</a:t>
                      </a:r>
                    </a:p>
                  </a:txBody>
                  <a:tcPr/>
                </a:tc>
                <a:extLst>
                  <a:ext uri="{0D108BD9-81ED-4DB2-BD59-A6C34878D82A}">
                    <a16:rowId xmlns:a16="http://schemas.microsoft.com/office/drawing/2014/main" xmlns="" val="10001"/>
                  </a:ext>
                </a:extLst>
              </a:tr>
              <a:tr h="370840">
                <a:tc>
                  <a:txBody>
                    <a:bodyPr/>
                    <a:lstStyle/>
                    <a:p>
                      <a:r>
                        <a:rPr lang="en-US" dirty="0"/>
                        <a:t>2000-02-05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David</a:t>
                      </a:r>
                      <a:endParaRPr lang="en-US" dirty="0"/>
                    </a:p>
                  </a:txBody>
                  <a:tcPr/>
                </a:tc>
                <a:tc>
                  <a:txBody>
                    <a:bodyPr/>
                    <a:lstStyle/>
                    <a:p>
                      <a:r>
                        <a:rPr lang="en-US" dirty="0"/>
                        <a:t>Jones</a:t>
                      </a:r>
                    </a:p>
                  </a:txBody>
                  <a:tcPr/>
                </a:tc>
                <a:extLst>
                  <a:ext uri="{0D108BD9-81ED-4DB2-BD59-A6C34878D82A}">
                    <a16:rowId xmlns:a16="http://schemas.microsoft.com/office/drawing/2014/main" xmlns="" val="10002"/>
                  </a:ext>
                </a:extLst>
              </a:tr>
              <a:tr h="370840">
                <a:tc>
                  <a:txBody>
                    <a:bodyPr/>
                    <a:lstStyle/>
                    <a:p>
                      <a:r>
                        <a:rPr lang="en-US" dirty="0"/>
                        <a:t>1995-05-09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r>
                        <a:rPr lang="en-GB" dirty="0"/>
                        <a:t>Taylor</a:t>
                      </a:r>
                      <a:endParaRPr lang="en-US" dirty="0"/>
                    </a:p>
                  </a:txBody>
                  <a:tcPr/>
                </a:tc>
                <a:extLst>
                  <a:ext uri="{0D108BD9-81ED-4DB2-BD59-A6C34878D82A}">
                    <a16:rowId xmlns:a16="http://schemas.microsoft.com/office/drawing/2014/main" xmlns="" val="10003"/>
                  </a:ext>
                </a:extLst>
              </a:tr>
            </a:tbl>
          </a:graphicData>
        </a:graphic>
      </p:graphicFrame>
      <p:sp>
        <p:nvSpPr>
          <p:cNvPr id="14" name="TextBox 13">
            <a:extLst>
              <a:ext uri="{FF2B5EF4-FFF2-40B4-BE49-F238E27FC236}">
                <a16:creationId xmlns:a16="http://schemas.microsoft.com/office/drawing/2014/main" xmlns="" id="{180134C8-CB34-43F6-BAD5-3AE7250738FC}"/>
              </a:ext>
            </a:extLst>
          </p:cNvPr>
          <p:cNvSpPr txBox="1"/>
          <p:nvPr/>
        </p:nvSpPr>
        <p:spPr>
          <a:xfrm>
            <a:off x="6512132" y="2320407"/>
            <a:ext cx="1214692" cy="369332"/>
          </a:xfrm>
          <a:prstGeom prst="rect">
            <a:avLst/>
          </a:prstGeom>
          <a:noFill/>
        </p:spPr>
        <p:txBody>
          <a:bodyPr wrap="none" rtlCol="0">
            <a:spAutoFit/>
          </a:bodyPr>
          <a:lstStyle/>
          <a:p>
            <a:r>
              <a:rPr lang="en-US" b="1" dirty="0">
                <a:solidFill>
                  <a:srgbClr val="0070C0"/>
                </a:solidFill>
              </a:rPr>
              <a:t>Employees</a:t>
            </a:r>
          </a:p>
        </p:txBody>
      </p:sp>
      <p:graphicFrame>
        <p:nvGraphicFramePr>
          <p:cNvPr id="20" name="Table 19">
            <a:extLst>
              <a:ext uri="{FF2B5EF4-FFF2-40B4-BE49-F238E27FC236}">
                <a16:creationId xmlns:a16="http://schemas.microsoft.com/office/drawing/2014/main" xmlns="" id="{4C4D8AFA-C0B0-483A-A37E-D6563076E085}"/>
              </a:ext>
            </a:extLst>
          </p:cNvPr>
          <p:cNvGraphicFramePr>
            <a:graphicFrameLocks noGrp="1"/>
          </p:cNvGraphicFramePr>
          <p:nvPr>
            <p:extLst>
              <p:ext uri="{D42A27DB-BD31-4B8C-83A1-F6EECF244321}">
                <p14:modId xmlns:p14="http://schemas.microsoft.com/office/powerpoint/2010/main" val="3390201904"/>
              </p:ext>
            </p:extLst>
          </p:nvPr>
        </p:nvGraphicFramePr>
        <p:xfrm>
          <a:off x="6667051" y="4686160"/>
          <a:ext cx="5400599"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270729">
                  <a:extLst>
                    <a:ext uri="{9D8B030D-6E8A-4147-A177-3AD203B41FA5}">
                      <a16:colId xmlns:a16="http://schemas.microsoft.com/office/drawing/2014/main" xmlns="" val="20000"/>
                    </a:ext>
                  </a:extLst>
                </a:gridCol>
                <a:gridCol w="2401678">
                  <a:extLst>
                    <a:ext uri="{9D8B030D-6E8A-4147-A177-3AD203B41FA5}">
                      <a16:colId xmlns:a16="http://schemas.microsoft.com/office/drawing/2014/main" xmlns="" val="20001"/>
                    </a:ext>
                  </a:extLst>
                </a:gridCol>
                <a:gridCol w="1728192">
                  <a:extLst>
                    <a:ext uri="{9D8B030D-6E8A-4147-A177-3AD203B41FA5}">
                      <a16:colId xmlns:a16="http://schemas.microsoft.com/office/drawing/2014/main" xmlns="" val="20002"/>
                    </a:ext>
                  </a:extLst>
                </a:gridCol>
              </a:tblGrid>
              <a:tr h="0">
                <a:tc>
                  <a:txBody>
                    <a:bodyPr/>
                    <a:lstStyle/>
                    <a:p>
                      <a:r>
                        <a:rPr lang="en-US" dirty="0" err="1"/>
                        <a:t>bday</a:t>
                      </a:r>
                      <a:endParaRPr lang="en-US" dirty="0"/>
                    </a:p>
                  </a:txBody>
                  <a:tcPr/>
                </a:tc>
                <a:tc>
                  <a:txBody>
                    <a:bodyPr/>
                    <a:lstStyle/>
                    <a:p>
                      <a:r>
                        <a:rPr lang="en-US" dirty="0" err="1"/>
                        <a:t>first_name</a:t>
                      </a:r>
                      <a:endParaRPr lang="en-US" dirty="0"/>
                    </a:p>
                  </a:txBody>
                  <a:tcPr/>
                </a:tc>
                <a:tc>
                  <a:txBody>
                    <a:bodyPr/>
                    <a:lstStyle/>
                    <a:p>
                      <a:r>
                        <a:rPr lang="en-US" dirty="0" err="1"/>
                        <a:t>family_name</a:t>
                      </a:r>
                      <a:endParaRPr lang="en-US" dirty="0"/>
                    </a:p>
                  </a:txBody>
                  <a:tcPr/>
                </a:tc>
                <a:extLst>
                  <a:ext uri="{0D108BD9-81ED-4DB2-BD59-A6C34878D82A}">
                    <a16:rowId xmlns:a16="http://schemas.microsoft.com/office/drawing/2014/main" xmlns="" val="10000"/>
                  </a:ext>
                </a:extLst>
              </a:tr>
              <a:tr h="370840">
                <a:tc>
                  <a:txBody>
                    <a:bodyPr/>
                    <a:lstStyle/>
                    <a:p>
                      <a:r>
                        <a:rPr lang="en-US" dirty="0"/>
                        <a:t>1990-11-10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Anne</a:t>
                      </a:r>
                      <a:endParaRPr lang="en-US" dirty="0"/>
                    </a:p>
                  </a:txBody>
                  <a:tcPr/>
                </a:tc>
                <a:tc>
                  <a:txBody>
                    <a:bodyPr/>
                    <a:lstStyle/>
                    <a:p>
                      <a:r>
                        <a:rPr lang="en-US" dirty="0"/>
                        <a:t>Smith</a:t>
                      </a:r>
                    </a:p>
                  </a:txBody>
                  <a:tcPr/>
                </a:tc>
                <a:extLst>
                  <a:ext uri="{0D108BD9-81ED-4DB2-BD59-A6C34878D82A}">
                    <a16:rowId xmlns:a16="http://schemas.microsoft.com/office/drawing/2014/main" xmlns="" val="10001"/>
                  </a:ext>
                </a:extLst>
              </a:tr>
              <a:tr h="370840">
                <a:tc>
                  <a:txBody>
                    <a:bodyPr/>
                    <a:lstStyle/>
                    <a:p>
                      <a:r>
                        <a:rPr lang="en-US" dirty="0"/>
                        <a:t>2000-02-05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David</a:t>
                      </a:r>
                      <a:endParaRPr lang="en-US" dirty="0"/>
                    </a:p>
                  </a:txBody>
                  <a:tcPr/>
                </a:tc>
                <a:tc>
                  <a:txBody>
                    <a:bodyPr/>
                    <a:lstStyle/>
                    <a:p>
                      <a:r>
                        <a:rPr lang="en-US" dirty="0"/>
                        <a:t>Jones</a:t>
                      </a:r>
                    </a:p>
                  </a:txBody>
                  <a:tcPr/>
                </a:tc>
                <a:extLst>
                  <a:ext uri="{0D108BD9-81ED-4DB2-BD59-A6C34878D82A}">
                    <a16:rowId xmlns:a16="http://schemas.microsoft.com/office/drawing/2014/main" xmlns="" val="10002"/>
                  </a:ext>
                </a:extLst>
              </a:tr>
              <a:tr h="370840">
                <a:tc>
                  <a:txBody>
                    <a:bodyPr/>
                    <a:lstStyle/>
                    <a:p>
                      <a:r>
                        <a:rPr lang="en-US" dirty="0"/>
                        <a:t>1995-05-09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r>
                        <a:rPr lang="en-GB" dirty="0"/>
                        <a:t>Taylor</a:t>
                      </a:r>
                      <a:endParaRPr lang="en-US" dirty="0"/>
                    </a:p>
                  </a:txBody>
                  <a:tcPr/>
                </a:tc>
                <a:extLst>
                  <a:ext uri="{0D108BD9-81ED-4DB2-BD59-A6C34878D82A}">
                    <a16:rowId xmlns:a16="http://schemas.microsoft.com/office/drawing/2014/main" xmlns="" val="10003"/>
                  </a:ext>
                </a:extLst>
              </a:tr>
            </a:tbl>
          </a:graphicData>
        </a:graphic>
      </p:graphicFrame>
      <p:cxnSp>
        <p:nvCxnSpPr>
          <p:cNvPr id="21" name="Straight Arrow Connector 20">
            <a:extLst>
              <a:ext uri="{FF2B5EF4-FFF2-40B4-BE49-F238E27FC236}">
                <a16:creationId xmlns:a16="http://schemas.microsoft.com/office/drawing/2014/main" xmlns="" id="{D4CB4B5E-CA39-45D2-A16C-A7B7294EEA58}"/>
              </a:ext>
            </a:extLst>
          </p:cNvPr>
          <p:cNvCxnSpPr>
            <a:cxnSpLocks/>
          </p:cNvCxnSpPr>
          <p:nvPr/>
        </p:nvCxnSpPr>
        <p:spPr>
          <a:xfrm>
            <a:off x="5735961" y="5245961"/>
            <a:ext cx="543855"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C3C9820B-3390-4DFB-B48E-95447A5B8311}"/>
              </a:ext>
            </a:extLst>
          </p:cNvPr>
          <p:cNvCxnSpPr>
            <a:cxnSpLocks/>
          </p:cNvCxnSpPr>
          <p:nvPr/>
        </p:nvCxnSpPr>
        <p:spPr>
          <a:xfrm>
            <a:off x="5814504" y="3829883"/>
            <a:ext cx="783870" cy="932265"/>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962687933"/>
      </p:ext>
    </p:extLst>
  </p:cSld>
  <p:clrMapOvr>
    <a:masterClrMapping/>
  </p:clrMapOvr>
  <mc:AlternateContent xmlns:mc="http://schemas.openxmlformats.org/markup-compatibility/2006" xmlns:p14="http://schemas.microsoft.com/office/powerpoint/2010/main">
    <mc:Choice Requires="p14">
      <p:transition spd="slow" p14:dur="2000" advTm="110875"/>
    </mc:Choice>
    <mc:Fallback xmlns="">
      <p:transition spd="slow" advTm="11087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p:bldP spid="11"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Selection (</a:t>
                </a:r>
                <a14:m>
                  <m:oMath xmlns:m="http://schemas.openxmlformats.org/officeDocument/2006/math">
                    <m:r>
                      <a:rPr lang="en-GB" b="0" i="1" smtClean="0">
                        <a:latin typeface="Cambria Math" charset="0"/>
                      </a:rPr>
                      <m:t>𝜎</m:t>
                    </m:r>
                  </m:oMath>
                </a14:m>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5"/>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671063"/>
                <a:ext cx="8229600" cy="5107483"/>
              </a:xfrm>
            </p:spPr>
            <p:txBody>
              <a:bodyPr>
                <a:normAutofit/>
              </a:bodyPr>
              <a:lstStyle/>
              <a:p>
                <a14:m>
                  <m:oMath xmlns:m="http://schemas.openxmlformats.org/officeDocument/2006/math">
                    <m:r>
                      <a:rPr lang="en-GB" sz="3200" i="1">
                        <a:latin typeface="Cambria Math" charset="0"/>
                      </a:rPr>
                      <m:t>𝜎</m:t>
                    </m:r>
                  </m:oMath>
                </a14:m>
                <a:r>
                  <a:rPr lang="en-US" sz="3200" b="1" baseline="-25000" dirty="0">
                    <a:solidFill>
                      <a:schemeClr val="accent1"/>
                    </a:solidFill>
                  </a:rPr>
                  <a:t>condition</a:t>
                </a:r>
                <a:r>
                  <a:rPr lang="en-US" sz="3200" dirty="0"/>
                  <a:t>(</a:t>
                </a:r>
                <a:r>
                  <a:rPr lang="en-US" sz="3200" b="1" dirty="0">
                    <a:solidFill>
                      <a:schemeClr val="accent3"/>
                    </a:solidFill>
                  </a:rPr>
                  <a:t>R</a:t>
                </a:r>
                <a:r>
                  <a:rPr lang="en-US" sz="3200" dirty="0"/>
                  <a:t>) </a:t>
                </a:r>
                <a:r>
                  <a:rPr lang="en-US" sz="2400" dirty="0"/>
                  <a:t>= set of all tuples in </a:t>
                </a:r>
                <a:r>
                  <a:rPr lang="en-US" sz="2400" b="1" dirty="0">
                    <a:solidFill>
                      <a:schemeClr val="accent3"/>
                    </a:solidFill>
                  </a:rPr>
                  <a:t>R</a:t>
                </a:r>
                <a:r>
                  <a:rPr lang="en-US" sz="2400" dirty="0"/>
                  <a:t> that satisfy the </a:t>
                </a:r>
                <a:r>
                  <a:rPr lang="en-US" sz="2400" b="1" dirty="0">
                    <a:solidFill>
                      <a:schemeClr val="accent1"/>
                    </a:solidFill>
                  </a:rPr>
                  <a:t>condition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671063"/>
                <a:ext cx="8229600" cy="5107483"/>
              </a:xfrm>
              <a:blipFill>
                <a:blip r:embed="rId6"/>
                <a:stretch>
                  <a:fillRect t="-2387"/>
                </a:stretch>
              </a:blipFill>
            </p:spPr>
            <p:txBody>
              <a:bodyPr/>
              <a:lstStyle/>
              <a:p>
                <a:r>
                  <a:rPr lang="en-GB">
                    <a:noFill/>
                  </a:rPr>
                  <a:t> </a:t>
                </a:r>
              </a:p>
            </p:txBody>
          </p:sp>
        </mc:Fallback>
      </mc:AlternateContent>
      <p:sp>
        <p:nvSpPr>
          <p:cNvPr id="7" name="TextBox 6"/>
          <p:cNvSpPr txBox="1"/>
          <p:nvPr/>
        </p:nvSpPr>
        <p:spPr>
          <a:xfrm>
            <a:off x="1777293" y="2816236"/>
            <a:ext cx="3409454" cy="1141439"/>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2000" b="1" dirty="0"/>
              <a:t>SELECT</a:t>
            </a:r>
            <a:r>
              <a:rPr lang="en-US" sz="2000" dirty="0"/>
              <a:t> </a:t>
            </a:r>
            <a:r>
              <a:rPr lang="en-US" sz="2000" b="1" dirty="0"/>
              <a:t>DISTINCT</a:t>
            </a:r>
            <a:r>
              <a:rPr lang="en-US" sz="2000" dirty="0"/>
              <a:t> * </a:t>
            </a:r>
            <a:br>
              <a:rPr lang="en-US" sz="2000" dirty="0"/>
            </a:br>
            <a:r>
              <a:rPr lang="en-US" sz="2000" b="1" dirty="0"/>
              <a:t>FROM</a:t>
            </a:r>
            <a:r>
              <a:rPr lang="en-US" sz="2000" dirty="0"/>
              <a:t> </a:t>
            </a:r>
            <a:r>
              <a:rPr lang="en-US" sz="2000" b="1" dirty="0">
                <a:solidFill>
                  <a:srgbClr val="0070C0"/>
                </a:solidFill>
              </a:rPr>
              <a:t>Employees</a:t>
            </a:r>
            <a:r>
              <a:rPr lang="en-US" sz="2000" dirty="0"/>
              <a:t> </a:t>
            </a:r>
            <a:br>
              <a:rPr lang="en-US" sz="2000" dirty="0"/>
            </a:br>
            <a:r>
              <a:rPr lang="en-US" sz="2000" b="1" dirty="0"/>
              <a:t>WHERE</a:t>
            </a:r>
            <a:r>
              <a:rPr lang="en-US" sz="2000" dirty="0"/>
              <a:t> </a:t>
            </a:r>
            <a:r>
              <a:rPr lang="en-US" sz="2000" b="1" dirty="0" err="1">
                <a:solidFill>
                  <a:schemeClr val="accent1"/>
                </a:solidFill>
              </a:rPr>
              <a:t>first_name</a:t>
            </a:r>
            <a:r>
              <a:rPr lang="en-US" sz="2000" b="1" dirty="0">
                <a:solidFill>
                  <a:schemeClr val="accent1"/>
                </a:solidFill>
              </a:rPr>
              <a:t>=‘Anne’</a:t>
            </a:r>
            <a:r>
              <a:rPr lang="en-US" sz="2000" dirty="0"/>
              <a:t>;</a:t>
            </a:r>
          </a:p>
        </p:txBody>
      </p:sp>
      <mc:AlternateContent xmlns:mc="http://schemas.openxmlformats.org/markup-compatibility/2006" xmlns:a14="http://schemas.microsoft.com/office/drawing/2010/main">
        <mc:Choice Requires="a14">
          <p:sp>
            <p:nvSpPr>
              <p:cNvPr id="8" name="TextBox 7"/>
              <p:cNvSpPr txBox="1"/>
              <p:nvPr/>
            </p:nvSpPr>
            <p:spPr>
              <a:xfrm>
                <a:off x="2362824" y="5117093"/>
                <a:ext cx="3579864" cy="587441"/>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lIns="108000" tIns="108000" rIns="108000" bIns="108000" rtlCol="0">
                <a:spAutoFit/>
              </a:bodyPr>
              <a:lstStyle/>
              <a:p>
                <a14:m>
                  <m:oMath xmlns:m="http://schemas.openxmlformats.org/officeDocument/2006/math">
                    <m:r>
                      <a:rPr lang="en-GB" sz="2400" i="1">
                        <a:latin typeface="Cambria Math" charset="0"/>
                      </a:rPr>
                      <m:t>𝜎</m:t>
                    </m:r>
                  </m:oMath>
                </a14:m>
                <a:r>
                  <a:rPr lang="en-US" sz="2400" b="1" baseline="-25000" dirty="0">
                    <a:solidFill>
                      <a:schemeClr val="accent1"/>
                    </a:solidFill>
                  </a:rPr>
                  <a:t>first_name=‘Anne’ </a:t>
                </a:r>
                <a:r>
                  <a:rPr lang="en-US" sz="2400" dirty="0"/>
                  <a:t>(</a:t>
                </a:r>
                <a:r>
                  <a:rPr lang="en-US" sz="2400" b="1" dirty="0">
                    <a:solidFill>
                      <a:srgbClr val="0070C0"/>
                    </a:solidFill>
                  </a:rPr>
                  <a:t>Employees</a:t>
                </a:r>
                <a:r>
                  <a:rPr lang="en-US" sz="2400" dirty="0"/>
                  <a:t>)</a:t>
                </a:r>
              </a:p>
            </p:txBody>
          </p:sp>
        </mc:Choice>
        <mc:Fallback xmlns="">
          <p:sp>
            <p:nvSpPr>
              <p:cNvPr id="8" name="TextBox 7"/>
              <p:cNvSpPr txBox="1">
                <a:spLocks noRot="1" noChangeAspect="1" noMove="1" noResize="1" noEditPoints="1" noAdjustHandles="1" noChangeArrowheads="1" noChangeShapeType="1" noTextEdit="1"/>
              </p:cNvSpPr>
              <p:nvPr/>
            </p:nvSpPr>
            <p:spPr>
              <a:xfrm>
                <a:off x="2362824" y="5117093"/>
                <a:ext cx="3579864" cy="587441"/>
              </a:xfrm>
              <a:prstGeom prst="rect">
                <a:avLst/>
              </a:prstGeom>
              <a:blipFill>
                <a:blip r:embed="rId7"/>
                <a:stretch>
                  <a:fillRect r="-849" b="-11111"/>
                </a:stretch>
              </a:blipFill>
            </p:spPr>
            <p:txBody>
              <a:bodyPr/>
              <a:lstStyle/>
              <a:p>
                <a:r>
                  <a:rPr lang="en-GB">
                    <a:noFill/>
                  </a:rPr>
                  <a:t> </a:t>
                </a:r>
              </a:p>
            </p:txBody>
          </p:sp>
        </mc:Fallback>
      </mc:AlternateContent>
      <p:cxnSp>
        <p:nvCxnSpPr>
          <p:cNvPr id="12" name="Straight Arrow Connector 11"/>
          <p:cNvCxnSpPr>
            <a:cxnSpLocks/>
          </p:cNvCxnSpPr>
          <p:nvPr/>
        </p:nvCxnSpPr>
        <p:spPr>
          <a:xfrm flipV="1">
            <a:off x="3895106" y="4108862"/>
            <a:ext cx="0" cy="7782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4061037" y="4352718"/>
            <a:ext cx="1522917" cy="369332"/>
          </a:xfrm>
          <a:prstGeom prst="rect">
            <a:avLst/>
          </a:prstGeom>
          <a:noFill/>
        </p:spPr>
        <p:txBody>
          <a:bodyPr wrap="none" rtlCol="0">
            <a:spAutoFit/>
          </a:bodyPr>
          <a:lstStyle/>
          <a:p>
            <a:r>
              <a:rPr lang="en-US" dirty="0"/>
              <a:t>translates into</a:t>
            </a:r>
          </a:p>
        </p:txBody>
      </p:sp>
      <p:sp>
        <p:nvSpPr>
          <p:cNvPr id="14" name="TextBox 13"/>
          <p:cNvSpPr txBox="1"/>
          <p:nvPr/>
        </p:nvSpPr>
        <p:spPr>
          <a:xfrm>
            <a:off x="2584778" y="2397864"/>
            <a:ext cx="1140953" cy="369332"/>
          </a:xfrm>
          <a:prstGeom prst="rect">
            <a:avLst/>
          </a:prstGeom>
          <a:noFill/>
        </p:spPr>
        <p:txBody>
          <a:bodyPr wrap="none" rtlCol="0">
            <a:spAutoFit/>
          </a:bodyPr>
          <a:lstStyle/>
          <a:p>
            <a:r>
              <a:rPr lang="en-US"/>
              <a:t>SQL </a:t>
            </a:r>
            <a:r>
              <a:rPr lang="en-US" dirty="0"/>
              <a:t>query</a:t>
            </a:r>
          </a:p>
        </p:txBody>
      </p:sp>
      <p:sp>
        <p:nvSpPr>
          <p:cNvPr id="16" name="TextBox 15"/>
          <p:cNvSpPr txBox="1"/>
          <p:nvPr/>
        </p:nvSpPr>
        <p:spPr>
          <a:xfrm>
            <a:off x="2882966" y="5809036"/>
            <a:ext cx="2952328" cy="369332"/>
          </a:xfrm>
          <a:prstGeom prst="rect">
            <a:avLst/>
          </a:prstGeom>
          <a:noFill/>
        </p:spPr>
        <p:txBody>
          <a:bodyPr wrap="square" rtlCol="0">
            <a:spAutoFit/>
          </a:bodyPr>
          <a:lstStyle/>
          <a:p>
            <a:r>
              <a:rPr lang="en-US" dirty="0"/>
              <a:t>Relational algebra expression</a:t>
            </a:r>
          </a:p>
        </p:txBody>
      </p:sp>
      <p:sp>
        <p:nvSpPr>
          <p:cNvPr id="23" name="Rounded Rectangular Callout 22"/>
          <p:cNvSpPr/>
          <p:nvPr/>
        </p:nvSpPr>
        <p:spPr>
          <a:xfrm>
            <a:off x="21088" y="1497318"/>
            <a:ext cx="2427323" cy="1319605"/>
          </a:xfrm>
          <a:prstGeom prst="wedgeRoundRectCallout">
            <a:avLst>
              <a:gd name="adj1" fmla="val 43603"/>
              <a:gd name="adj2" fmla="val 63409"/>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The SELECT keyword in SQL has nothing to do with the selection operator!</a:t>
            </a:r>
          </a:p>
        </p:txBody>
      </p:sp>
      <p:graphicFrame>
        <p:nvGraphicFramePr>
          <p:cNvPr id="10" name="Table 9">
            <a:extLst>
              <a:ext uri="{FF2B5EF4-FFF2-40B4-BE49-F238E27FC236}">
                <a16:creationId xmlns:a16="http://schemas.microsoft.com/office/drawing/2014/main" xmlns="" id="{FE5ED113-4FBD-44AF-9F8B-7AFAA5175C96}"/>
              </a:ext>
            </a:extLst>
          </p:cNvPr>
          <p:cNvGraphicFramePr>
            <a:graphicFrameLocks noGrp="1"/>
          </p:cNvGraphicFramePr>
          <p:nvPr/>
        </p:nvGraphicFramePr>
        <p:xfrm>
          <a:off x="6607628" y="2526453"/>
          <a:ext cx="5400599"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270729">
                  <a:extLst>
                    <a:ext uri="{9D8B030D-6E8A-4147-A177-3AD203B41FA5}">
                      <a16:colId xmlns:a16="http://schemas.microsoft.com/office/drawing/2014/main" xmlns="" val="20000"/>
                    </a:ext>
                  </a:extLst>
                </a:gridCol>
                <a:gridCol w="2401678">
                  <a:extLst>
                    <a:ext uri="{9D8B030D-6E8A-4147-A177-3AD203B41FA5}">
                      <a16:colId xmlns:a16="http://schemas.microsoft.com/office/drawing/2014/main" xmlns="" val="20001"/>
                    </a:ext>
                  </a:extLst>
                </a:gridCol>
                <a:gridCol w="1728192">
                  <a:extLst>
                    <a:ext uri="{9D8B030D-6E8A-4147-A177-3AD203B41FA5}">
                      <a16:colId xmlns:a16="http://schemas.microsoft.com/office/drawing/2014/main" xmlns="" val="20002"/>
                    </a:ext>
                  </a:extLst>
                </a:gridCol>
              </a:tblGrid>
              <a:tr h="0">
                <a:tc>
                  <a:txBody>
                    <a:bodyPr/>
                    <a:lstStyle/>
                    <a:p>
                      <a:r>
                        <a:rPr lang="en-US" dirty="0"/>
                        <a:t>birthday</a:t>
                      </a:r>
                    </a:p>
                  </a:txBody>
                  <a:tcPr/>
                </a:tc>
                <a:tc>
                  <a:txBody>
                    <a:bodyPr/>
                    <a:lstStyle/>
                    <a:p>
                      <a:r>
                        <a:rPr lang="en-US" dirty="0" err="1"/>
                        <a:t>first_name</a:t>
                      </a:r>
                      <a:endParaRPr lang="en-US" dirty="0"/>
                    </a:p>
                  </a:txBody>
                  <a:tcPr/>
                </a:tc>
                <a:tc>
                  <a:txBody>
                    <a:bodyPr/>
                    <a:lstStyle/>
                    <a:p>
                      <a:r>
                        <a:rPr lang="en-US" dirty="0" err="1"/>
                        <a:t>family_name</a:t>
                      </a:r>
                      <a:endParaRPr lang="en-US" dirty="0"/>
                    </a:p>
                  </a:txBody>
                  <a:tcPr/>
                </a:tc>
                <a:extLst>
                  <a:ext uri="{0D108BD9-81ED-4DB2-BD59-A6C34878D82A}">
                    <a16:rowId xmlns:a16="http://schemas.microsoft.com/office/drawing/2014/main" xmlns="" val="10000"/>
                  </a:ext>
                </a:extLst>
              </a:tr>
              <a:tr h="370840">
                <a:tc>
                  <a:txBody>
                    <a:bodyPr/>
                    <a:lstStyle/>
                    <a:p>
                      <a:r>
                        <a:rPr lang="en-US" dirty="0"/>
                        <a:t>1990-11-10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Anne</a:t>
                      </a:r>
                      <a:endParaRPr lang="en-US" dirty="0"/>
                    </a:p>
                  </a:txBody>
                  <a:tcPr/>
                </a:tc>
                <a:tc>
                  <a:txBody>
                    <a:bodyPr/>
                    <a:lstStyle/>
                    <a:p>
                      <a:r>
                        <a:rPr lang="en-US" dirty="0"/>
                        <a:t>Smith</a:t>
                      </a:r>
                    </a:p>
                  </a:txBody>
                  <a:tcPr/>
                </a:tc>
                <a:extLst>
                  <a:ext uri="{0D108BD9-81ED-4DB2-BD59-A6C34878D82A}">
                    <a16:rowId xmlns:a16="http://schemas.microsoft.com/office/drawing/2014/main" xmlns="" val="10001"/>
                  </a:ext>
                </a:extLst>
              </a:tr>
              <a:tr h="370840">
                <a:tc>
                  <a:txBody>
                    <a:bodyPr/>
                    <a:lstStyle/>
                    <a:p>
                      <a:r>
                        <a:rPr lang="en-US" dirty="0"/>
                        <a:t>2000-02-05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David</a:t>
                      </a:r>
                      <a:endParaRPr lang="en-US" dirty="0"/>
                    </a:p>
                  </a:txBody>
                  <a:tcPr/>
                </a:tc>
                <a:tc>
                  <a:txBody>
                    <a:bodyPr/>
                    <a:lstStyle/>
                    <a:p>
                      <a:r>
                        <a:rPr lang="en-US" dirty="0"/>
                        <a:t>Jones</a:t>
                      </a:r>
                    </a:p>
                  </a:txBody>
                  <a:tcPr/>
                </a:tc>
                <a:extLst>
                  <a:ext uri="{0D108BD9-81ED-4DB2-BD59-A6C34878D82A}">
                    <a16:rowId xmlns:a16="http://schemas.microsoft.com/office/drawing/2014/main" xmlns="" val="10002"/>
                  </a:ext>
                </a:extLst>
              </a:tr>
              <a:tr h="370840">
                <a:tc>
                  <a:txBody>
                    <a:bodyPr/>
                    <a:lstStyle/>
                    <a:p>
                      <a:r>
                        <a:rPr lang="en-US" dirty="0"/>
                        <a:t>1995-05-09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r>
                        <a:rPr lang="en-GB" dirty="0"/>
                        <a:t>Taylor</a:t>
                      </a:r>
                      <a:endParaRPr lang="en-US" dirty="0"/>
                    </a:p>
                  </a:txBody>
                  <a:tcPr/>
                </a:tc>
                <a:extLst>
                  <a:ext uri="{0D108BD9-81ED-4DB2-BD59-A6C34878D82A}">
                    <a16:rowId xmlns:a16="http://schemas.microsoft.com/office/drawing/2014/main" xmlns="" val="10003"/>
                  </a:ext>
                </a:extLst>
              </a:tr>
            </a:tbl>
          </a:graphicData>
        </a:graphic>
      </p:graphicFrame>
      <p:sp>
        <p:nvSpPr>
          <p:cNvPr id="11" name="TextBox 10">
            <a:extLst>
              <a:ext uri="{FF2B5EF4-FFF2-40B4-BE49-F238E27FC236}">
                <a16:creationId xmlns:a16="http://schemas.microsoft.com/office/drawing/2014/main" xmlns="" id="{119691BE-5369-4579-9DFE-1BDC2D872A9B}"/>
              </a:ext>
            </a:extLst>
          </p:cNvPr>
          <p:cNvSpPr txBox="1"/>
          <p:nvPr/>
        </p:nvSpPr>
        <p:spPr>
          <a:xfrm>
            <a:off x="6512132" y="2157121"/>
            <a:ext cx="1214692" cy="369332"/>
          </a:xfrm>
          <a:prstGeom prst="rect">
            <a:avLst/>
          </a:prstGeom>
          <a:noFill/>
        </p:spPr>
        <p:txBody>
          <a:bodyPr wrap="none" rtlCol="0">
            <a:spAutoFit/>
          </a:bodyPr>
          <a:lstStyle/>
          <a:p>
            <a:r>
              <a:rPr lang="en-US" b="1" dirty="0">
                <a:solidFill>
                  <a:srgbClr val="0070C0"/>
                </a:solidFill>
              </a:rPr>
              <a:t>Employees</a:t>
            </a:r>
          </a:p>
        </p:txBody>
      </p:sp>
      <p:graphicFrame>
        <p:nvGraphicFramePr>
          <p:cNvPr id="15" name="Table 14">
            <a:extLst>
              <a:ext uri="{FF2B5EF4-FFF2-40B4-BE49-F238E27FC236}">
                <a16:creationId xmlns:a16="http://schemas.microsoft.com/office/drawing/2014/main" xmlns="" id="{A1613D88-8A19-456B-9E04-6A68D45932A6}"/>
              </a:ext>
            </a:extLst>
          </p:cNvPr>
          <p:cNvGraphicFramePr>
            <a:graphicFrameLocks noGrp="1"/>
          </p:cNvGraphicFramePr>
          <p:nvPr>
            <p:extLst>
              <p:ext uri="{D42A27DB-BD31-4B8C-83A1-F6EECF244321}">
                <p14:modId xmlns:p14="http://schemas.microsoft.com/office/powerpoint/2010/main" val="3127946403"/>
              </p:ext>
            </p:extLst>
          </p:nvPr>
        </p:nvGraphicFramePr>
        <p:xfrm>
          <a:off x="6664978" y="4887148"/>
          <a:ext cx="5400599" cy="73660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270729">
                  <a:extLst>
                    <a:ext uri="{9D8B030D-6E8A-4147-A177-3AD203B41FA5}">
                      <a16:colId xmlns:a16="http://schemas.microsoft.com/office/drawing/2014/main" xmlns="" val="20000"/>
                    </a:ext>
                  </a:extLst>
                </a:gridCol>
                <a:gridCol w="2401678">
                  <a:extLst>
                    <a:ext uri="{9D8B030D-6E8A-4147-A177-3AD203B41FA5}">
                      <a16:colId xmlns:a16="http://schemas.microsoft.com/office/drawing/2014/main" xmlns="" val="20001"/>
                    </a:ext>
                  </a:extLst>
                </a:gridCol>
                <a:gridCol w="1728192">
                  <a:extLst>
                    <a:ext uri="{9D8B030D-6E8A-4147-A177-3AD203B41FA5}">
                      <a16:colId xmlns:a16="http://schemas.microsoft.com/office/drawing/2014/main" xmlns="" val="20002"/>
                    </a:ext>
                  </a:extLst>
                </a:gridCol>
              </a:tblGrid>
              <a:tr h="0">
                <a:tc>
                  <a:txBody>
                    <a:bodyPr/>
                    <a:lstStyle/>
                    <a:p>
                      <a:r>
                        <a:rPr lang="en-US" dirty="0"/>
                        <a:t>birthday</a:t>
                      </a:r>
                    </a:p>
                  </a:txBody>
                  <a:tcPr/>
                </a:tc>
                <a:tc>
                  <a:txBody>
                    <a:bodyPr/>
                    <a:lstStyle/>
                    <a:p>
                      <a:r>
                        <a:rPr lang="en-US" dirty="0" err="1"/>
                        <a:t>first_name</a:t>
                      </a:r>
                      <a:endParaRPr lang="en-US" dirty="0"/>
                    </a:p>
                  </a:txBody>
                  <a:tcPr/>
                </a:tc>
                <a:tc>
                  <a:txBody>
                    <a:bodyPr/>
                    <a:lstStyle/>
                    <a:p>
                      <a:r>
                        <a:rPr lang="en-US" dirty="0" err="1"/>
                        <a:t>family_name</a:t>
                      </a:r>
                      <a:endParaRPr lang="en-US" dirty="0"/>
                    </a:p>
                  </a:txBody>
                  <a:tcPr/>
                </a:tc>
                <a:extLst>
                  <a:ext uri="{0D108BD9-81ED-4DB2-BD59-A6C34878D82A}">
                    <a16:rowId xmlns:a16="http://schemas.microsoft.com/office/drawing/2014/main" xmlns="" val="10000"/>
                  </a:ext>
                </a:extLst>
              </a:tr>
              <a:tr h="370840">
                <a:tc>
                  <a:txBody>
                    <a:bodyPr/>
                    <a:lstStyle/>
                    <a:p>
                      <a:r>
                        <a:rPr lang="en-US" dirty="0"/>
                        <a:t>1990-11-10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Anne</a:t>
                      </a:r>
                      <a:endParaRPr lang="en-US" dirty="0"/>
                    </a:p>
                  </a:txBody>
                  <a:tcPr/>
                </a:tc>
                <a:tc>
                  <a:txBody>
                    <a:bodyPr/>
                    <a:lstStyle/>
                    <a:p>
                      <a:r>
                        <a:rPr lang="en-US" dirty="0"/>
                        <a:t>Smith</a:t>
                      </a:r>
                    </a:p>
                  </a:txBody>
                  <a:tcPr/>
                </a:tc>
                <a:extLst>
                  <a:ext uri="{0D108BD9-81ED-4DB2-BD59-A6C34878D82A}">
                    <a16:rowId xmlns:a16="http://schemas.microsoft.com/office/drawing/2014/main" xmlns="" val="10001"/>
                  </a:ext>
                </a:extLst>
              </a:tr>
            </a:tbl>
          </a:graphicData>
        </a:graphic>
      </p:graphicFrame>
      <p:cxnSp>
        <p:nvCxnSpPr>
          <p:cNvPr id="28" name="Straight Arrow Connector 27">
            <a:extLst>
              <a:ext uri="{FF2B5EF4-FFF2-40B4-BE49-F238E27FC236}">
                <a16:creationId xmlns:a16="http://schemas.microsoft.com/office/drawing/2014/main" xmlns="" id="{FF12E053-F966-4A16-A424-B4DD47FA4B18}"/>
              </a:ext>
            </a:extLst>
          </p:cNvPr>
          <p:cNvCxnSpPr>
            <a:cxnSpLocks/>
          </p:cNvCxnSpPr>
          <p:nvPr/>
        </p:nvCxnSpPr>
        <p:spPr>
          <a:xfrm>
            <a:off x="5957391" y="5387475"/>
            <a:ext cx="543855"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xmlns="" id="{7C9B3BDA-233D-4E88-9541-1E3FF45F4B7A}"/>
              </a:ext>
            </a:extLst>
          </p:cNvPr>
          <p:cNvCxnSpPr>
            <a:cxnSpLocks/>
          </p:cNvCxnSpPr>
          <p:nvPr/>
        </p:nvCxnSpPr>
        <p:spPr>
          <a:xfrm>
            <a:off x="5323114" y="3744686"/>
            <a:ext cx="1341864" cy="1045028"/>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10066484"/>
      </p:ext>
    </p:extLst>
  </p:cSld>
  <p:clrMapOvr>
    <a:masterClrMapping/>
  </p:clrMapOvr>
  <mc:AlternateContent xmlns:mc="http://schemas.openxmlformats.org/markup-compatibility/2006" xmlns:p14="http://schemas.microsoft.com/office/powerpoint/2010/main">
    <mc:Choice Requires="p14">
      <p:transition spd="slow" p14:dur="2000" advTm="70712"/>
    </mc:Choice>
    <mc:Fallback xmlns="">
      <p:transition spd="slow" advTm="7071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3" grpId="0"/>
      <p:bldP spid="14" grpId="0"/>
      <p:bldP spid="16" grpId="0"/>
      <p:bldP spid="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dirty="0"/>
                  <a:t>Cartesian Product (</a:t>
                </a:r>
                <a14:m>
                  <m:oMath xmlns:m="http://schemas.openxmlformats.org/officeDocument/2006/math">
                    <m:r>
                      <a:rPr lang="en-GB" b="0" i="1" smtClean="0">
                        <a:latin typeface="Cambria Math" charset="0"/>
                      </a:rPr>
                      <m:t>×</m:t>
                    </m:r>
                  </m:oMath>
                </a14:m>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5"/>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754426"/>
                <a:ext cx="8435280" cy="5107483"/>
              </a:xfrm>
            </p:spPr>
            <p:txBody>
              <a:bodyPr/>
              <a:lstStyle/>
              <a:p>
                <a:r>
                  <a:rPr lang="en-US" sz="3600" b="1" dirty="0">
                    <a:solidFill>
                      <a:schemeClr val="accent3"/>
                    </a:solidFill>
                  </a:rPr>
                  <a:t>R</a:t>
                </a:r>
                <a:r>
                  <a:rPr lang="en-US" sz="3600" b="1" baseline="-25000" dirty="0">
                    <a:solidFill>
                      <a:schemeClr val="accent3"/>
                    </a:solidFill>
                  </a:rPr>
                  <a:t>1</a:t>
                </a:r>
                <a:r>
                  <a:rPr lang="en-US" sz="3600" dirty="0"/>
                  <a:t> </a:t>
                </a:r>
                <a14:m>
                  <m:oMath xmlns:m="http://schemas.openxmlformats.org/officeDocument/2006/math">
                    <m:r>
                      <a:rPr lang="en-GB" sz="3600" i="1">
                        <a:latin typeface="Cambria Math" charset="0"/>
                      </a:rPr>
                      <m:t>×</m:t>
                    </m:r>
                  </m:oMath>
                </a14:m>
                <a:r>
                  <a:rPr lang="en-US" sz="3600" dirty="0"/>
                  <a:t> </a:t>
                </a:r>
                <a:r>
                  <a:rPr lang="en-US" sz="3600" b="1" dirty="0">
                    <a:solidFill>
                      <a:schemeClr val="accent1"/>
                    </a:solidFill>
                  </a:rPr>
                  <a:t>R</a:t>
                </a:r>
                <a:r>
                  <a:rPr lang="en-US" sz="3600" b="1" baseline="-25000" dirty="0">
                    <a:solidFill>
                      <a:schemeClr val="accent1"/>
                    </a:solidFill>
                  </a:rPr>
                  <a:t>2</a:t>
                </a:r>
                <a:r>
                  <a:rPr lang="en-US" sz="3600" dirty="0"/>
                  <a:t> </a:t>
                </a:r>
                <a:r>
                  <a:rPr lang="en-US" dirty="0"/>
                  <a:t>= pairs each tuple in </a:t>
                </a:r>
                <a:r>
                  <a:rPr lang="en-US" b="1" dirty="0">
                    <a:solidFill>
                      <a:schemeClr val="accent3"/>
                    </a:solidFill>
                  </a:rPr>
                  <a:t>R</a:t>
                </a:r>
                <a:r>
                  <a:rPr lang="en-US" b="1" baseline="-25000" dirty="0">
                    <a:solidFill>
                      <a:schemeClr val="accent3"/>
                    </a:solidFill>
                  </a:rPr>
                  <a:t>1</a:t>
                </a:r>
                <a:r>
                  <a:rPr lang="en-US" dirty="0"/>
                  <a:t> with each tuple in </a:t>
                </a:r>
                <a:r>
                  <a:rPr lang="en-US" b="1" dirty="0">
                    <a:solidFill>
                      <a:schemeClr val="accent1"/>
                    </a:solidFill>
                  </a:rPr>
                  <a:t>R</a:t>
                </a:r>
                <a:r>
                  <a:rPr lang="en-US" b="1" baseline="-25000" dirty="0">
                    <a:solidFill>
                      <a:schemeClr val="accent1"/>
                    </a:solidFill>
                  </a:rPr>
                  <a:t>2</a:t>
                </a:r>
                <a:endParaRPr lang="en-US" b="1" dirty="0">
                  <a:solidFill>
                    <a:schemeClr val="accent1"/>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754426"/>
                <a:ext cx="8435280" cy="5107483"/>
              </a:xfrm>
              <a:blipFill>
                <a:blip r:embed="rId6"/>
                <a:stretch>
                  <a:fillRect l="-2023" t="-2983"/>
                </a:stretch>
              </a:blipFill>
            </p:spPr>
            <p:txBody>
              <a:bodyPr/>
              <a:lstStyle/>
              <a:p>
                <a:r>
                  <a:rPr lang="en-GB">
                    <a:noFill/>
                  </a:rPr>
                  <a:t> </a:t>
                </a:r>
              </a:p>
            </p:txBody>
          </p:sp>
        </mc:Fallback>
      </mc:AlternateContent>
      <p:graphicFrame>
        <p:nvGraphicFramePr>
          <p:cNvPr id="5" name="Table 4"/>
          <p:cNvGraphicFramePr>
            <a:graphicFrameLocks noGrp="1"/>
          </p:cNvGraphicFramePr>
          <p:nvPr>
            <p:extLst>
              <p:ext uri="{D42A27DB-BD31-4B8C-83A1-F6EECF244321}">
                <p14:modId xmlns:p14="http://schemas.microsoft.com/office/powerpoint/2010/main" val="3759604858"/>
              </p:ext>
            </p:extLst>
          </p:nvPr>
        </p:nvGraphicFramePr>
        <p:xfrm>
          <a:off x="5303912" y="2748528"/>
          <a:ext cx="2339102" cy="1112520"/>
        </p:xfrm>
        <a:graphic>
          <a:graphicData uri="http://schemas.openxmlformats.org/drawingml/2006/table">
            <a:tbl>
              <a:tblPr firstRow="1" bandRow="1">
                <a:tableStyleId>{B301B821-A1FF-4177-AEE7-76D212191A09}</a:tableStyleId>
              </a:tblPr>
              <a:tblGrid>
                <a:gridCol w="1131822">
                  <a:extLst>
                    <a:ext uri="{9D8B030D-6E8A-4147-A177-3AD203B41FA5}">
                      <a16:colId xmlns:a16="http://schemas.microsoft.com/office/drawing/2014/main" xmlns="" val="20000"/>
                    </a:ext>
                  </a:extLst>
                </a:gridCol>
                <a:gridCol w="603640">
                  <a:extLst>
                    <a:ext uri="{9D8B030D-6E8A-4147-A177-3AD203B41FA5}">
                      <a16:colId xmlns:a16="http://schemas.microsoft.com/office/drawing/2014/main" xmlns="" val="20001"/>
                    </a:ext>
                  </a:extLst>
                </a:gridCol>
                <a:gridCol w="603640">
                  <a:extLst>
                    <a:ext uri="{9D8B030D-6E8A-4147-A177-3AD203B41FA5}">
                      <a16:colId xmlns:a16="http://schemas.microsoft.com/office/drawing/2014/main" xmlns="" val="20002"/>
                    </a:ext>
                  </a:extLst>
                </a:gridCol>
              </a:tblGrid>
              <a:tr h="370840">
                <a:tc>
                  <a:txBody>
                    <a:bodyPr/>
                    <a:lstStyle/>
                    <a:p>
                      <a:r>
                        <a:rPr lang="en-US" sz="1600" dirty="0"/>
                        <a:t>code</a:t>
                      </a:r>
                    </a:p>
                  </a:txBody>
                  <a:tcPr/>
                </a:tc>
                <a:tc>
                  <a:txBody>
                    <a:bodyPr/>
                    <a:lstStyle/>
                    <a:p>
                      <a:r>
                        <a:rPr lang="en-US" sz="1600" dirty="0"/>
                        <a:t>year</a:t>
                      </a:r>
                    </a:p>
                  </a:txBody>
                  <a:tcPr/>
                </a:tc>
                <a:tc>
                  <a:txBody>
                    <a:bodyPr/>
                    <a:lstStyle/>
                    <a:p>
                      <a:r>
                        <a:rPr lang="en-US" sz="1600" dirty="0" err="1"/>
                        <a:t>sem</a:t>
                      </a:r>
                      <a:endParaRPr lang="en-US" sz="1600" dirty="0"/>
                    </a:p>
                  </a:txBody>
                  <a:tcPr/>
                </a:tc>
                <a:extLst>
                  <a:ext uri="{0D108BD9-81ED-4DB2-BD59-A6C34878D82A}">
                    <a16:rowId xmlns:a16="http://schemas.microsoft.com/office/drawing/2014/main" xmlns="" val="10000"/>
                  </a:ext>
                </a:extLst>
              </a:tr>
              <a:tr h="370840">
                <a:tc>
                  <a:txBody>
                    <a:bodyPr/>
                    <a:lstStyle/>
                    <a:p>
                      <a:r>
                        <a:rPr lang="en-US" sz="1600" dirty="0"/>
                        <a:t>COMP105</a:t>
                      </a:r>
                    </a:p>
                  </a:txBody>
                  <a:tcPr/>
                </a:tc>
                <a:tc>
                  <a:txBody>
                    <a:bodyPr/>
                    <a:lstStyle/>
                    <a:p>
                      <a:r>
                        <a:rPr lang="en-US" sz="1600" dirty="0"/>
                        <a:t>1</a:t>
                      </a:r>
                    </a:p>
                  </a:txBody>
                  <a:tcPr/>
                </a:tc>
                <a:tc>
                  <a:txBody>
                    <a:bodyPr/>
                    <a:lstStyle/>
                    <a:p>
                      <a:r>
                        <a:rPr lang="en-US" sz="1600" dirty="0"/>
                        <a:t>1</a:t>
                      </a:r>
                    </a:p>
                  </a:txBody>
                  <a:tcPr/>
                </a:tc>
                <a:extLst>
                  <a:ext uri="{0D108BD9-81ED-4DB2-BD59-A6C34878D82A}">
                    <a16:rowId xmlns:a16="http://schemas.microsoft.com/office/drawing/2014/main" xmlns="" val="10001"/>
                  </a:ext>
                </a:extLst>
              </a:tr>
              <a:tr h="370840">
                <a:tc>
                  <a:txBody>
                    <a:bodyPr/>
                    <a:lstStyle/>
                    <a:p>
                      <a:r>
                        <a:rPr lang="en-US" sz="1600" dirty="0"/>
                        <a:t>COMP201</a:t>
                      </a:r>
                    </a:p>
                  </a:txBody>
                  <a:tcPr/>
                </a:tc>
                <a:tc>
                  <a:txBody>
                    <a:bodyPr/>
                    <a:lstStyle/>
                    <a:p>
                      <a:r>
                        <a:rPr lang="en-US" sz="1600" dirty="0"/>
                        <a:t>2</a:t>
                      </a:r>
                    </a:p>
                  </a:txBody>
                  <a:tcPr/>
                </a:tc>
                <a:tc>
                  <a:txBody>
                    <a:bodyPr/>
                    <a:lstStyle/>
                    <a:p>
                      <a:r>
                        <a:rPr lang="en-US" sz="1600" dirty="0"/>
                        <a:t>1</a:t>
                      </a:r>
                    </a:p>
                  </a:txBody>
                  <a:tcPr/>
                </a:tc>
                <a:extLst>
                  <a:ext uri="{0D108BD9-81ED-4DB2-BD59-A6C34878D82A}">
                    <a16:rowId xmlns:a16="http://schemas.microsoft.com/office/drawing/2014/main" xmlns="" val="10002"/>
                  </a:ext>
                </a:extLst>
              </a:tr>
            </a:tbl>
          </a:graphicData>
        </a:graphic>
      </p:graphicFrame>
      <p:sp>
        <p:nvSpPr>
          <p:cNvPr id="6" name="TextBox 5"/>
          <p:cNvSpPr txBox="1"/>
          <p:nvPr/>
        </p:nvSpPr>
        <p:spPr>
          <a:xfrm>
            <a:off x="5189663" y="2348418"/>
            <a:ext cx="1117614" cy="400110"/>
          </a:xfrm>
          <a:prstGeom prst="rect">
            <a:avLst/>
          </a:prstGeom>
          <a:noFill/>
        </p:spPr>
        <p:txBody>
          <a:bodyPr wrap="none" rtlCol="0">
            <a:spAutoFit/>
          </a:bodyPr>
          <a:lstStyle/>
          <a:p>
            <a:r>
              <a:rPr lang="en-US" sz="2000" b="1" dirty="0">
                <a:solidFill>
                  <a:schemeClr val="accent3"/>
                </a:solidFill>
              </a:rPr>
              <a:t>Modules</a:t>
            </a:r>
            <a:endParaRPr lang="en-US" b="1" dirty="0">
              <a:solidFill>
                <a:schemeClr val="accent3"/>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2162221255"/>
              </p:ext>
            </p:extLst>
          </p:nvPr>
        </p:nvGraphicFramePr>
        <p:xfrm>
          <a:off x="8112224" y="2748528"/>
          <a:ext cx="2160240" cy="1112520"/>
        </p:xfrm>
        <a:graphic>
          <a:graphicData uri="http://schemas.openxmlformats.org/drawingml/2006/table">
            <a:tbl>
              <a:tblPr firstRow="1" bandRow="1">
                <a:tableStyleId>{B301B821-A1FF-4177-AEE7-76D212191A09}</a:tableStyleId>
              </a:tblPr>
              <a:tblGrid>
                <a:gridCol w="1080120">
                  <a:extLst>
                    <a:ext uri="{9D8B030D-6E8A-4147-A177-3AD203B41FA5}">
                      <a16:colId xmlns:a16="http://schemas.microsoft.com/office/drawing/2014/main" xmlns="" val="20000"/>
                    </a:ext>
                  </a:extLst>
                </a:gridCol>
                <a:gridCol w="1080120">
                  <a:extLst>
                    <a:ext uri="{9D8B030D-6E8A-4147-A177-3AD203B41FA5}">
                      <a16:colId xmlns:a16="http://schemas.microsoft.com/office/drawing/2014/main" xmlns="" val="20001"/>
                    </a:ext>
                  </a:extLst>
                </a:gridCol>
              </a:tblGrid>
              <a:tr h="370840">
                <a:tc>
                  <a:txBody>
                    <a:bodyPr/>
                    <a:lstStyle/>
                    <a:p>
                      <a:r>
                        <a:rPr lang="en-US" sz="1600" dirty="0"/>
                        <a:t>name</a:t>
                      </a:r>
                    </a:p>
                  </a:txBody>
                  <a:tcPr/>
                </a:tc>
                <a:tc>
                  <a:txBody>
                    <a:bodyPr/>
                    <a:lstStyle/>
                    <a:p>
                      <a:r>
                        <a:rPr lang="en-US" sz="1600" dirty="0"/>
                        <a:t>module</a:t>
                      </a:r>
                    </a:p>
                  </a:txBody>
                  <a:tcPr/>
                </a:tc>
                <a:extLst>
                  <a:ext uri="{0D108BD9-81ED-4DB2-BD59-A6C34878D82A}">
                    <a16:rowId xmlns:a16="http://schemas.microsoft.com/office/drawing/2014/main" xmlns="" val="10000"/>
                  </a:ext>
                </a:extLst>
              </a:tr>
              <a:tr h="370840">
                <a:tc>
                  <a:txBody>
                    <a:bodyPr/>
                    <a:lstStyle/>
                    <a:p>
                      <a:r>
                        <a:rPr lang="en-US" sz="1600" dirty="0"/>
                        <a:t>John</a:t>
                      </a:r>
                    </a:p>
                  </a:txBody>
                  <a:tcPr/>
                </a:tc>
                <a:tc>
                  <a:txBody>
                    <a:bodyPr/>
                    <a:lstStyle/>
                    <a:p>
                      <a:r>
                        <a:rPr lang="en-US" sz="1600" dirty="0"/>
                        <a:t>COMP105</a:t>
                      </a:r>
                    </a:p>
                  </a:txBody>
                  <a:tcPr/>
                </a:tc>
                <a:extLst>
                  <a:ext uri="{0D108BD9-81ED-4DB2-BD59-A6C34878D82A}">
                    <a16:rowId xmlns:a16="http://schemas.microsoft.com/office/drawing/2014/main" xmlns="" val="10001"/>
                  </a:ext>
                </a:extLst>
              </a:tr>
              <a:tr h="370840">
                <a:tc>
                  <a:txBody>
                    <a:bodyPr/>
                    <a:lstStyle/>
                    <a:p>
                      <a:r>
                        <a:rPr lang="en-US" sz="1600" dirty="0"/>
                        <a:t>Sebastian</a:t>
                      </a:r>
                    </a:p>
                  </a:txBody>
                  <a:tcPr/>
                </a:tc>
                <a:tc>
                  <a:txBody>
                    <a:bodyPr/>
                    <a:lstStyle/>
                    <a:p>
                      <a:r>
                        <a:rPr lang="en-US" sz="1600" dirty="0"/>
                        <a:t>COMP201</a:t>
                      </a:r>
                    </a:p>
                  </a:txBody>
                  <a:tcPr/>
                </a:tc>
                <a:extLst>
                  <a:ext uri="{0D108BD9-81ED-4DB2-BD59-A6C34878D82A}">
                    <a16:rowId xmlns:a16="http://schemas.microsoft.com/office/drawing/2014/main" xmlns="" val="10002"/>
                  </a:ext>
                </a:extLst>
              </a:tr>
            </a:tbl>
          </a:graphicData>
        </a:graphic>
      </p:graphicFrame>
      <p:sp>
        <p:nvSpPr>
          <p:cNvPr id="8" name="TextBox 7"/>
          <p:cNvSpPr txBox="1"/>
          <p:nvPr/>
        </p:nvSpPr>
        <p:spPr>
          <a:xfrm>
            <a:off x="8040218" y="2294340"/>
            <a:ext cx="1166217" cy="400110"/>
          </a:xfrm>
          <a:prstGeom prst="rect">
            <a:avLst/>
          </a:prstGeom>
          <a:noFill/>
        </p:spPr>
        <p:txBody>
          <a:bodyPr wrap="none" rtlCol="0">
            <a:spAutoFit/>
          </a:bodyPr>
          <a:lstStyle/>
          <a:p>
            <a:r>
              <a:rPr lang="en-US" sz="2000" b="1" dirty="0">
                <a:solidFill>
                  <a:schemeClr val="accent1"/>
                </a:solidFill>
              </a:rPr>
              <a:t>Lecturers</a:t>
            </a:r>
            <a:endParaRPr lang="en-US" b="1" dirty="0">
              <a:solidFill>
                <a:schemeClr val="accent1"/>
              </a:solidFill>
            </a:endParaRPr>
          </a:p>
        </p:txBody>
      </p:sp>
      <mc:AlternateContent xmlns:mc="http://schemas.openxmlformats.org/markup-compatibility/2006" xmlns:a14="http://schemas.microsoft.com/office/drawing/2010/main">
        <mc:Choice Requires="a14">
          <p:sp>
            <p:nvSpPr>
              <p:cNvPr id="9" name="TextBox 8"/>
              <p:cNvSpPr txBox="1"/>
              <p:nvPr/>
            </p:nvSpPr>
            <p:spPr>
              <a:xfrm>
                <a:off x="2147213" y="5157193"/>
                <a:ext cx="2868771" cy="587441"/>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lIns="108000" tIns="108000" rIns="108000" bIns="108000" rtlCol="0">
                <a:spAutoFit/>
              </a:bodyPr>
              <a:lstStyle/>
              <a:p>
                <a:r>
                  <a:rPr lang="en-US" sz="2400" b="1" dirty="0">
                    <a:solidFill>
                      <a:schemeClr val="accent3"/>
                    </a:solidFill>
                  </a:rPr>
                  <a:t>Modules</a:t>
                </a:r>
                <a14:m>
                  <m:oMath xmlns:m="http://schemas.openxmlformats.org/officeDocument/2006/math">
                    <m:r>
                      <a:rPr lang="en-GB" sz="2400" b="1">
                        <a:solidFill>
                          <a:schemeClr val="tx1"/>
                        </a:solidFill>
                        <a:latin typeface="Cambria Math" charset="0"/>
                      </a:rPr>
                      <m:t> </m:t>
                    </m:r>
                    <m:r>
                      <a:rPr lang="en-GB" sz="2400" b="1" i="1">
                        <a:solidFill>
                          <a:schemeClr val="tx1"/>
                        </a:solidFill>
                        <a:latin typeface="Cambria Math" charset="0"/>
                      </a:rPr>
                      <m:t>×</m:t>
                    </m:r>
                  </m:oMath>
                </a14:m>
                <a:r>
                  <a:rPr lang="en-US" sz="2400" b="1" dirty="0">
                    <a:solidFill>
                      <a:schemeClr val="accent1"/>
                    </a:solidFill>
                  </a:rPr>
                  <a:t> Lecturers</a:t>
                </a:r>
                <a:endParaRPr lang="en-US" sz="2400" dirty="0">
                  <a:solidFill>
                    <a:schemeClr val="tx1"/>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147213" y="5157193"/>
                <a:ext cx="2868771" cy="587441"/>
              </a:xfrm>
              <a:prstGeom prst="rect">
                <a:avLst/>
              </a:prstGeom>
              <a:blipFill>
                <a:blip r:embed="rId7"/>
                <a:stretch>
                  <a:fillRect l="-2537" r="-1268" b="-11224"/>
                </a:stretch>
              </a:blipFill>
            </p:spPr>
            <p:txBody>
              <a:bodyPr/>
              <a:lstStyle/>
              <a:p>
                <a:r>
                  <a:rPr lang="en-GB">
                    <a:noFill/>
                  </a:rPr>
                  <a:t> </a:t>
                </a:r>
              </a:p>
            </p:txBody>
          </p:sp>
        </mc:Fallback>
      </mc:AlternateContent>
      <p:sp>
        <p:nvSpPr>
          <p:cNvPr id="10" name="TextBox 9"/>
          <p:cNvSpPr txBox="1"/>
          <p:nvPr/>
        </p:nvSpPr>
        <p:spPr>
          <a:xfrm>
            <a:off x="2063552" y="5801493"/>
            <a:ext cx="2952328" cy="369332"/>
          </a:xfrm>
          <a:prstGeom prst="rect">
            <a:avLst/>
          </a:prstGeom>
          <a:noFill/>
        </p:spPr>
        <p:txBody>
          <a:bodyPr wrap="square" rtlCol="0">
            <a:spAutoFit/>
          </a:bodyPr>
          <a:lstStyle/>
          <a:p>
            <a:r>
              <a:rPr lang="en-US" dirty="0"/>
              <a:t>Relational algebra expression</a:t>
            </a:r>
          </a:p>
        </p:txBody>
      </p:sp>
      <p:graphicFrame>
        <p:nvGraphicFramePr>
          <p:cNvPr id="12" name="Table 11"/>
          <p:cNvGraphicFramePr>
            <a:graphicFrameLocks noGrp="1"/>
          </p:cNvGraphicFramePr>
          <p:nvPr>
            <p:extLst>
              <p:ext uri="{D42A27DB-BD31-4B8C-83A1-F6EECF244321}">
                <p14:modId xmlns:p14="http://schemas.microsoft.com/office/powerpoint/2010/main" val="2869262821"/>
              </p:ext>
            </p:extLst>
          </p:nvPr>
        </p:nvGraphicFramePr>
        <p:xfrm>
          <a:off x="5748470" y="4509120"/>
          <a:ext cx="4307970" cy="1854200"/>
        </p:xfrm>
        <a:graphic>
          <a:graphicData uri="http://schemas.openxmlformats.org/drawingml/2006/table">
            <a:tbl>
              <a:tblPr firstRow="1" bandRow="1">
                <a:tableStyleId>{B301B821-A1FF-4177-AEE7-76D212191A09}</a:tableStyleId>
              </a:tblPr>
              <a:tblGrid>
                <a:gridCol w="1067610">
                  <a:extLst>
                    <a:ext uri="{9D8B030D-6E8A-4147-A177-3AD203B41FA5}">
                      <a16:colId xmlns:a16="http://schemas.microsoft.com/office/drawing/2014/main" xmlns="" val="20000"/>
                    </a:ext>
                  </a:extLst>
                </a:gridCol>
                <a:gridCol w="576064">
                  <a:extLst>
                    <a:ext uri="{9D8B030D-6E8A-4147-A177-3AD203B41FA5}">
                      <a16:colId xmlns:a16="http://schemas.microsoft.com/office/drawing/2014/main" xmlns="" val="20001"/>
                    </a:ext>
                  </a:extLst>
                </a:gridCol>
                <a:gridCol w="576064">
                  <a:extLst>
                    <a:ext uri="{9D8B030D-6E8A-4147-A177-3AD203B41FA5}">
                      <a16:colId xmlns:a16="http://schemas.microsoft.com/office/drawing/2014/main" xmlns="" val="20002"/>
                    </a:ext>
                  </a:extLst>
                </a:gridCol>
                <a:gridCol w="1008112">
                  <a:extLst>
                    <a:ext uri="{9D8B030D-6E8A-4147-A177-3AD203B41FA5}">
                      <a16:colId xmlns:a16="http://schemas.microsoft.com/office/drawing/2014/main" xmlns="" val="20003"/>
                    </a:ext>
                  </a:extLst>
                </a:gridCol>
                <a:gridCol w="1080120">
                  <a:extLst>
                    <a:ext uri="{9D8B030D-6E8A-4147-A177-3AD203B41FA5}">
                      <a16:colId xmlns:a16="http://schemas.microsoft.com/office/drawing/2014/main" xmlns="" val="20004"/>
                    </a:ext>
                  </a:extLst>
                </a:gridCol>
              </a:tblGrid>
              <a:tr h="370840">
                <a:tc>
                  <a:txBody>
                    <a:bodyPr/>
                    <a:lstStyle/>
                    <a:p>
                      <a:r>
                        <a:rPr lang="en-US" sz="1600" dirty="0"/>
                        <a:t>code</a:t>
                      </a:r>
                    </a:p>
                  </a:txBody>
                  <a:tcPr/>
                </a:tc>
                <a:tc>
                  <a:txBody>
                    <a:bodyPr/>
                    <a:lstStyle/>
                    <a:p>
                      <a:r>
                        <a:rPr lang="en-US" sz="1600" dirty="0"/>
                        <a:t>year</a:t>
                      </a:r>
                    </a:p>
                  </a:txBody>
                  <a:tcPr/>
                </a:tc>
                <a:tc>
                  <a:txBody>
                    <a:bodyPr/>
                    <a:lstStyle/>
                    <a:p>
                      <a:r>
                        <a:rPr lang="en-US" sz="1600" dirty="0" err="1"/>
                        <a:t>sem</a:t>
                      </a:r>
                      <a:endParaRPr lang="en-US" sz="1600" dirty="0"/>
                    </a:p>
                  </a:txBody>
                  <a:tcPr/>
                </a:tc>
                <a:tc>
                  <a:txBody>
                    <a:bodyPr/>
                    <a:lstStyle/>
                    <a:p>
                      <a:r>
                        <a:rPr lang="en-US" sz="1600" dirty="0"/>
                        <a:t>name</a:t>
                      </a:r>
                    </a:p>
                  </a:txBody>
                  <a:tcPr/>
                </a:tc>
                <a:tc>
                  <a:txBody>
                    <a:bodyPr/>
                    <a:lstStyle/>
                    <a:p>
                      <a:r>
                        <a:rPr lang="en-US" sz="1600" dirty="0"/>
                        <a:t>module</a:t>
                      </a:r>
                    </a:p>
                  </a:txBody>
                  <a:tcPr/>
                </a:tc>
                <a:extLst>
                  <a:ext uri="{0D108BD9-81ED-4DB2-BD59-A6C34878D82A}">
                    <a16:rowId xmlns:a16="http://schemas.microsoft.com/office/drawing/2014/main" xmlns="" val="10000"/>
                  </a:ext>
                </a:extLst>
              </a:tr>
              <a:tr h="370840">
                <a:tc>
                  <a:txBody>
                    <a:bodyPr/>
                    <a:lstStyle/>
                    <a:p>
                      <a:r>
                        <a:rPr lang="en-US" sz="1600" dirty="0"/>
                        <a:t>COMP105</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John</a:t>
                      </a:r>
                    </a:p>
                  </a:txBody>
                  <a:tcPr/>
                </a:tc>
                <a:tc>
                  <a:txBody>
                    <a:bodyPr/>
                    <a:lstStyle/>
                    <a:p>
                      <a:r>
                        <a:rPr lang="en-US" sz="1600" dirty="0"/>
                        <a:t>COMP105</a:t>
                      </a:r>
                    </a:p>
                  </a:txBody>
                  <a:tcPr/>
                </a:tc>
                <a:extLst>
                  <a:ext uri="{0D108BD9-81ED-4DB2-BD59-A6C34878D82A}">
                    <a16:rowId xmlns:a16="http://schemas.microsoft.com/office/drawing/2014/main" xmlns="" val="10001"/>
                  </a:ext>
                </a:extLst>
              </a:tr>
              <a:tr h="370840">
                <a:tc>
                  <a:txBody>
                    <a:bodyPr/>
                    <a:lstStyle/>
                    <a:p>
                      <a:r>
                        <a:rPr lang="en-US" sz="1600" dirty="0"/>
                        <a:t>COMP105</a:t>
                      </a:r>
                    </a:p>
                  </a:txBody>
                  <a:tcPr/>
                </a:tc>
                <a:tc>
                  <a:txBody>
                    <a:bodyPr/>
                    <a:lstStyle/>
                    <a:p>
                      <a:r>
                        <a:rPr lang="en-US" sz="1600" dirty="0"/>
                        <a:t>1</a:t>
                      </a:r>
                    </a:p>
                  </a:txBody>
                  <a:tcPr/>
                </a:tc>
                <a:tc>
                  <a:txBody>
                    <a:bodyPr/>
                    <a:lstStyle/>
                    <a:p>
                      <a:r>
                        <a:rPr lang="en-US" sz="1600" dirty="0"/>
                        <a:t>1</a:t>
                      </a:r>
                    </a:p>
                  </a:txBody>
                  <a:tcPr/>
                </a:tc>
                <a:tc>
                  <a:txBody>
                    <a:bodyPr/>
                    <a:lstStyle/>
                    <a:p>
                      <a:r>
                        <a:rPr lang="en-US" sz="1600" dirty="0"/>
                        <a:t>Sebastian</a:t>
                      </a:r>
                    </a:p>
                  </a:txBody>
                  <a:tcPr/>
                </a:tc>
                <a:tc>
                  <a:txBody>
                    <a:bodyPr/>
                    <a:lstStyle/>
                    <a:p>
                      <a:r>
                        <a:rPr lang="en-US" sz="1600" dirty="0"/>
                        <a:t>COMP201</a:t>
                      </a:r>
                    </a:p>
                  </a:txBody>
                  <a:tcPr/>
                </a:tc>
                <a:extLst>
                  <a:ext uri="{0D108BD9-81ED-4DB2-BD59-A6C34878D82A}">
                    <a16:rowId xmlns:a16="http://schemas.microsoft.com/office/drawing/2014/main" xmlns="" val="10002"/>
                  </a:ext>
                </a:extLst>
              </a:tr>
              <a:tr h="370840">
                <a:tc>
                  <a:txBody>
                    <a:bodyPr/>
                    <a:lstStyle/>
                    <a:p>
                      <a:r>
                        <a:rPr lang="en-US" sz="1600" dirty="0"/>
                        <a:t>COMP201</a:t>
                      </a:r>
                    </a:p>
                  </a:txBody>
                  <a:tcPr/>
                </a:tc>
                <a:tc>
                  <a:txBody>
                    <a:bodyPr/>
                    <a:lstStyle/>
                    <a:p>
                      <a:r>
                        <a:rPr lang="en-US" sz="1600" dirty="0"/>
                        <a:t>2</a:t>
                      </a:r>
                    </a:p>
                  </a:txBody>
                  <a:tcPr/>
                </a:tc>
                <a:tc>
                  <a:txBody>
                    <a:bodyPr/>
                    <a:lstStyle/>
                    <a:p>
                      <a:r>
                        <a:rPr lang="en-US" sz="1600" dirty="0"/>
                        <a:t>1</a:t>
                      </a:r>
                    </a:p>
                  </a:txBody>
                  <a:tcPr/>
                </a:tc>
                <a:tc>
                  <a:txBody>
                    <a:bodyPr/>
                    <a:lstStyle/>
                    <a:p>
                      <a:r>
                        <a:rPr lang="en-US" sz="1600" dirty="0"/>
                        <a:t>John</a:t>
                      </a:r>
                    </a:p>
                  </a:txBody>
                  <a:tcPr/>
                </a:tc>
                <a:tc>
                  <a:txBody>
                    <a:bodyPr/>
                    <a:lstStyle/>
                    <a:p>
                      <a:r>
                        <a:rPr lang="en-US" sz="1600" dirty="0"/>
                        <a:t>COMP105</a:t>
                      </a:r>
                    </a:p>
                  </a:txBody>
                  <a:tcPr/>
                </a:tc>
                <a:extLst>
                  <a:ext uri="{0D108BD9-81ED-4DB2-BD59-A6C34878D82A}">
                    <a16:rowId xmlns:a16="http://schemas.microsoft.com/office/drawing/2014/main" xmlns="" val="10003"/>
                  </a:ext>
                </a:extLst>
              </a:tr>
              <a:tr h="370840">
                <a:tc>
                  <a:txBody>
                    <a:bodyPr/>
                    <a:lstStyle/>
                    <a:p>
                      <a:r>
                        <a:rPr lang="en-US" sz="1600" dirty="0"/>
                        <a:t>COMP201</a:t>
                      </a:r>
                    </a:p>
                  </a:txBody>
                  <a:tcPr/>
                </a:tc>
                <a:tc>
                  <a:txBody>
                    <a:bodyPr/>
                    <a:lstStyle/>
                    <a:p>
                      <a:r>
                        <a:rPr lang="en-US" sz="1600" dirty="0"/>
                        <a:t>2</a:t>
                      </a:r>
                    </a:p>
                  </a:txBody>
                  <a:tcPr/>
                </a:tc>
                <a:tc>
                  <a:txBody>
                    <a:bodyPr/>
                    <a:lstStyle/>
                    <a:p>
                      <a:r>
                        <a:rPr lang="en-US" sz="1600" dirty="0"/>
                        <a:t>1</a:t>
                      </a:r>
                    </a:p>
                  </a:txBody>
                  <a:tcPr/>
                </a:tc>
                <a:tc>
                  <a:txBody>
                    <a:bodyPr/>
                    <a:lstStyle/>
                    <a:p>
                      <a:r>
                        <a:rPr lang="en-US" sz="1600" dirty="0"/>
                        <a:t>Sebastian</a:t>
                      </a:r>
                    </a:p>
                  </a:txBody>
                  <a:tcPr/>
                </a:tc>
                <a:tc>
                  <a:txBody>
                    <a:bodyPr/>
                    <a:lstStyle/>
                    <a:p>
                      <a:r>
                        <a:rPr lang="en-US" sz="1600" dirty="0"/>
                        <a:t>COMP201</a:t>
                      </a:r>
                    </a:p>
                  </a:txBody>
                  <a:tcPr/>
                </a:tc>
                <a:extLst>
                  <a:ext uri="{0D108BD9-81ED-4DB2-BD59-A6C34878D82A}">
                    <a16:rowId xmlns:a16="http://schemas.microsoft.com/office/drawing/2014/main" xmlns="" val="10004"/>
                  </a:ext>
                </a:extLst>
              </a:tr>
            </a:tbl>
          </a:graphicData>
        </a:graphic>
      </p:graphicFrame>
      <p:sp>
        <p:nvSpPr>
          <p:cNvPr id="13" name="TextBox 12"/>
          <p:cNvSpPr txBox="1"/>
          <p:nvPr/>
        </p:nvSpPr>
        <p:spPr>
          <a:xfrm>
            <a:off x="2072768" y="2897919"/>
            <a:ext cx="3039203" cy="83366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none" lIns="108000" tIns="108000" rIns="108000" bIns="108000" rtlCol="0">
            <a:spAutoFit/>
          </a:bodyPr>
          <a:lstStyle/>
          <a:p>
            <a:r>
              <a:rPr lang="en-US" sz="2000" b="1" dirty="0"/>
              <a:t>SELECT</a:t>
            </a:r>
            <a:r>
              <a:rPr lang="en-US" sz="2000" dirty="0"/>
              <a:t> </a:t>
            </a:r>
            <a:r>
              <a:rPr lang="en-US" sz="2000" b="1" dirty="0"/>
              <a:t>DISTINCT</a:t>
            </a:r>
            <a:r>
              <a:rPr lang="en-US" sz="2000" dirty="0"/>
              <a:t> *</a:t>
            </a:r>
          </a:p>
          <a:p>
            <a:r>
              <a:rPr lang="en-US" sz="2000" b="1" dirty="0"/>
              <a:t>FROM</a:t>
            </a:r>
            <a:r>
              <a:rPr lang="en-US" sz="2000" dirty="0"/>
              <a:t> </a:t>
            </a:r>
            <a:r>
              <a:rPr lang="en-US" sz="2000" b="1" dirty="0">
                <a:solidFill>
                  <a:schemeClr val="accent3"/>
                </a:solidFill>
              </a:rPr>
              <a:t>Modules, </a:t>
            </a:r>
            <a:r>
              <a:rPr lang="en-US" sz="2000" b="1" dirty="0">
                <a:solidFill>
                  <a:schemeClr val="accent1"/>
                </a:solidFill>
              </a:rPr>
              <a:t>Lecturers</a:t>
            </a:r>
            <a:r>
              <a:rPr lang="en-US" sz="2000" dirty="0"/>
              <a:t>;</a:t>
            </a:r>
          </a:p>
        </p:txBody>
      </p:sp>
      <p:cxnSp>
        <p:nvCxnSpPr>
          <p:cNvPr id="14" name="Straight Arrow Connector 13"/>
          <p:cNvCxnSpPr>
            <a:cxnSpLocks/>
          </p:cNvCxnSpPr>
          <p:nvPr/>
        </p:nvCxnSpPr>
        <p:spPr>
          <a:xfrm flipV="1">
            <a:off x="3581598" y="4001984"/>
            <a:ext cx="0" cy="10569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3581598" y="4288450"/>
            <a:ext cx="1522917" cy="369332"/>
          </a:xfrm>
          <a:prstGeom prst="rect">
            <a:avLst/>
          </a:prstGeom>
          <a:noFill/>
        </p:spPr>
        <p:txBody>
          <a:bodyPr wrap="none" rtlCol="0">
            <a:spAutoFit/>
          </a:bodyPr>
          <a:lstStyle/>
          <a:p>
            <a:r>
              <a:rPr lang="en-US"/>
              <a:t>translates into</a:t>
            </a:r>
          </a:p>
        </p:txBody>
      </p:sp>
      <p:sp>
        <p:nvSpPr>
          <p:cNvPr id="16" name="TextBox 15"/>
          <p:cNvSpPr txBox="1"/>
          <p:nvPr/>
        </p:nvSpPr>
        <p:spPr>
          <a:xfrm>
            <a:off x="1951673" y="2445339"/>
            <a:ext cx="1140953" cy="369332"/>
          </a:xfrm>
          <a:prstGeom prst="rect">
            <a:avLst/>
          </a:prstGeom>
          <a:noFill/>
        </p:spPr>
        <p:txBody>
          <a:bodyPr wrap="none" rtlCol="0">
            <a:spAutoFit/>
          </a:bodyPr>
          <a:lstStyle/>
          <a:p>
            <a:r>
              <a:rPr lang="en-US" dirty="0"/>
              <a:t>SQL query</a:t>
            </a:r>
          </a:p>
        </p:txBody>
      </p:sp>
      <p:cxnSp>
        <p:nvCxnSpPr>
          <p:cNvPr id="18" name="Straight Arrow Connector 17">
            <a:extLst>
              <a:ext uri="{FF2B5EF4-FFF2-40B4-BE49-F238E27FC236}">
                <a16:creationId xmlns:a16="http://schemas.microsoft.com/office/drawing/2014/main" xmlns="" id="{F96D9048-63DD-4EEB-BD2C-608EA74AA010}"/>
              </a:ext>
            </a:extLst>
          </p:cNvPr>
          <p:cNvCxnSpPr>
            <a:cxnSpLocks/>
          </p:cNvCxnSpPr>
          <p:nvPr/>
        </p:nvCxnSpPr>
        <p:spPr>
          <a:xfrm>
            <a:off x="5189663" y="5349325"/>
            <a:ext cx="543855"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xmlns="" id="{F3FB354E-9668-4766-A6AF-B7314A24FA52}"/>
              </a:ext>
            </a:extLst>
          </p:cNvPr>
          <p:cNvCxnSpPr>
            <a:cxnSpLocks/>
          </p:cNvCxnSpPr>
          <p:nvPr/>
        </p:nvCxnSpPr>
        <p:spPr>
          <a:xfrm>
            <a:off x="5104768" y="3885746"/>
            <a:ext cx="566689" cy="67745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938273789"/>
      </p:ext>
    </p:extLst>
  </p:cSld>
  <p:clrMapOvr>
    <a:masterClrMapping/>
  </p:clrMapOvr>
  <mc:AlternateContent xmlns:mc="http://schemas.openxmlformats.org/markup-compatibility/2006" xmlns:p14="http://schemas.microsoft.com/office/powerpoint/2010/main">
    <mc:Choice Requires="p14">
      <p:transition spd="slow" p14:dur="2000" advTm="227832"/>
    </mc:Choice>
    <mc:Fallback xmlns="">
      <p:transition spd="slow" advTm="22783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 presetClass="entr" presetSubtype="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3" grpId="0" animBg="1"/>
      <p:bldP spid="15"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7B8DA1-B76D-48E2-A5F0-0F7B8A8C1806}"/>
              </a:ext>
            </a:extLst>
          </p:cNvPr>
          <p:cNvSpPr>
            <a:spLocks noGrp="1"/>
          </p:cNvSpPr>
          <p:nvPr>
            <p:ph type="title"/>
          </p:nvPr>
        </p:nvSpPr>
        <p:spPr/>
        <p:txBody>
          <a:bodyPr/>
          <a:lstStyle/>
          <a:p>
            <a:r>
              <a:rPr lang="en-US" dirty="0"/>
              <a:t>Natural Join (</a:t>
            </a:r>
            <a:r>
              <a:rPr lang="en-GB" dirty="0"/>
              <a:t>⋈) </a:t>
            </a:r>
          </a:p>
        </p:txBody>
      </p:sp>
      <p:sp>
        <p:nvSpPr>
          <p:cNvPr id="3" name="Content Placeholder 2">
            <a:extLst>
              <a:ext uri="{FF2B5EF4-FFF2-40B4-BE49-F238E27FC236}">
                <a16:creationId xmlns:a16="http://schemas.microsoft.com/office/drawing/2014/main" xmlns="" id="{FD5E417A-5B73-4382-BBCE-B8E0385A6019}"/>
              </a:ext>
            </a:extLst>
          </p:cNvPr>
          <p:cNvSpPr>
            <a:spLocks noGrp="1"/>
          </p:cNvSpPr>
          <p:nvPr>
            <p:ph idx="1"/>
          </p:nvPr>
        </p:nvSpPr>
        <p:spPr>
          <a:xfrm>
            <a:off x="46695" y="1759142"/>
            <a:ext cx="10058400" cy="4023360"/>
          </a:xfrm>
        </p:spPr>
        <p:txBody>
          <a:bodyPr/>
          <a:lstStyle/>
          <a:p>
            <a:r>
              <a:rPr lang="en-US" sz="3600" b="1" dirty="0">
                <a:solidFill>
                  <a:schemeClr val="accent3"/>
                </a:solidFill>
              </a:rPr>
              <a:t>R</a:t>
            </a:r>
            <a:r>
              <a:rPr lang="en-US" sz="3600" b="1" baseline="-25000" dirty="0">
                <a:solidFill>
                  <a:schemeClr val="accent3"/>
                </a:solidFill>
              </a:rPr>
              <a:t>1</a:t>
            </a:r>
            <a:r>
              <a:rPr lang="en-GB" sz="3600" dirty="0"/>
              <a:t>⋈</a:t>
            </a:r>
            <a:r>
              <a:rPr lang="en-US" sz="3600" b="1" dirty="0">
                <a:solidFill>
                  <a:schemeClr val="accent1"/>
                </a:solidFill>
              </a:rPr>
              <a:t>R</a:t>
            </a:r>
            <a:r>
              <a:rPr lang="en-US" sz="3600" b="1" baseline="-25000" dirty="0">
                <a:solidFill>
                  <a:schemeClr val="accent1"/>
                </a:solidFill>
              </a:rPr>
              <a:t>2</a:t>
            </a:r>
            <a:r>
              <a:rPr lang="en-US" sz="3600" dirty="0"/>
              <a:t> </a:t>
            </a:r>
            <a:r>
              <a:rPr lang="en-US" dirty="0"/>
              <a:t>= pairs each tuple in </a:t>
            </a:r>
            <a:r>
              <a:rPr lang="en-US" b="1" dirty="0">
                <a:solidFill>
                  <a:schemeClr val="accent3"/>
                </a:solidFill>
              </a:rPr>
              <a:t>R</a:t>
            </a:r>
            <a:r>
              <a:rPr lang="en-US" b="1" baseline="-25000" dirty="0">
                <a:solidFill>
                  <a:schemeClr val="accent3"/>
                </a:solidFill>
              </a:rPr>
              <a:t>1</a:t>
            </a:r>
            <a:r>
              <a:rPr lang="en-US" dirty="0"/>
              <a:t> with each tuple in </a:t>
            </a:r>
            <a:r>
              <a:rPr lang="en-US" b="1" dirty="0">
                <a:solidFill>
                  <a:schemeClr val="accent1"/>
                </a:solidFill>
              </a:rPr>
              <a:t>R</a:t>
            </a:r>
            <a:r>
              <a:rPr lang="en-US" b="1" baseline="-25000" dirty="0">
                <a:solidFill>
                  <a:schemeClr val="accent1"/>
                </a:solidFill>
              </a:rPr>
              <a:t>2</a:t>
            </a:r>
          </a:p>
          <a:p>
            <a:pPr marL="1271400" lvl="7" indent="0">
              <a:buNone/>
            </a:pPr>
            <a:r>
              <a:rPr lang="en-US" sz="2000" b="1" dirty="0">
                <a:solidFill>
                  <a:schemeClr val="accent1"/>
                </a:solidFill>
              </a:rPr>
              <a:t>         </a:t>
            </a:r>
            <a:r>
              <a:rPr lang="en-US" sz="2000" dirty="0"/>
              <a:t>with matching common attributes</a:t>
            </a:r>
          </a:p>
          <a:p>
            <a:endParaRPr lang="en-GB" dirty="0"/>
          </a:p>
        </p:txBody>
      </p:sp>
      <p:sp>
        <p:nvSpPr>
          <p:cNvPr id="5" name="Rectangle 4">
            <a:extLst>
              <a:ext uri="{FF2B5EF4-FFF2-40B4-BE49-F238E27FC236}">
                <a16:creationId xmlns:a16="http://schemas.microsoft.com/office/drawing/2014/main" xmlns="" id="{196C46DB-A0E4-4051-A6C2-86B4D2BE5EDE}"/>
              </a:ext>
            </a:extLst>
          </p:cNvPr>
          <p:cNvSpPr/>
          <p:nvPr/>
        </p:nvSpPr>
        <p:spPr>
          <a:xfrm>
            <a:off x="102449" y="2719939"/>
            <a:ext cx="5910473" cy="1695437"/>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3200" dirty="0">
                <a:solidFill>
                  <a:schemeClr val="tx1"/>
                </a:solidFill>
              </a:rPr>
              <a:t>SELECT DISTINCT *</a:t>
            </a:r>
          </a:p>
          <a:p>
            <a:r>
              <a:rPr lang="en-US" sz="3200" dirty="0">
                <a:solidFill>
                  <a:schemeClr val="tx1"/>
                </a:solidFill>
              </a:rPr>
              <a:t>FROM </a:t>
            </a:r>
            <a:r>
              <a:rPr lang="en-US" sz="3200" dirty="0">
                <a:solidFill>
                  <a:srgbClr val="0070C0"/>
                </a:solidFill>
              </a:rPr>
              <a:t>Employees</a:t>
            </a:r>
            <a:r>
              <a:rPr lang="en-US" sz="3200" dirty="0">
                <a:solidFill>
                  <a:schemeClr val="tx1"/>
                </a:solidFill>
              </a:rPr>
              <a:t> NATURAL JOIN </a:t>
            </a:r>
            <a:r>
              <a:rPr lang="en-US" sz="3200" dirty="0">
                <a:solidFill>
                  <a:srgbClr val="FF0000"/>
                </a:solidFill>
              </a:rPr>
              <a:t>Transactions</a:t>
            </a:r>
            <a:r>
              <a:rPr lang="en-US" sz="3200" dirty="0">
                <a:solidFill>
                  <a:schemeClr val="tx1"/>
                </a:solidFill>
              </a:rPr>
              <a:t>;</a:t>
            </a:r>
          </a:p>
        </p:txBody>
      </p:sp>
      <p:graphicFrame>
        <p:nvGraphicFramePr>
          <p:cNvPr id="6" name="Table 5">
            <a:extLst>
              <a:ext uri="{FF2B5EF4-FFF2-40B4-BE49-F238E27FC236}">
                <a16:creationId xmlns:a16="http://schemas.microsoft.com/office/drawing/2014/main" xmlns="" id="{F173BF00-D15C-4A68-A452-19F8FCB79DA7}"/>
              </a:ext>
            </a:extLst>
          </p:cNvPr>
          <p:cNvGraphicFramePr>
            <a:graphicFrameLocks noGrp="1"/>
          </p:cNvGraphicFramePr>
          <p:nvPr>
            <p:extLst>
              <p:ext uri="{D42A27DB-BD31-4B8C-83A1-F6EECF244321}">
                <p14:modId xmlns:p14="http://schemas.microsoft.com/office/powerpoint/2010/main" val="3756112712"/>
              </p:ext>
            </p:extLst>
          </p:nvPr>
        </p:nvGraphicFramePr>
        <p:xfrm>
          <a:off x="6475106" y="642512"/>
          <a:ext cx="5716894"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478483">
                  <a:extLst>
                    <a:ext uri="{9D8B030D-6E8A-4147-A177-3AD203B41FA5}">
                      <a16:colId xmlns:a16="http://schemas.microsoft.com/office/drawing/2014/main" xmlns="" val="20000"/>
                    </a:ext>
                  </a:extLst>
                </a:gridCol>
                <a:gridCol w="1318662">
                  <a:extLst>
                    <a:ext uri="{9D8B030D-6E8A-4147-A177-3AD203B41FA5}">
                      <a16:colId xmlns:a16="http://schemas.microsoft.com/office/drawing/2014/main" xmlns="" val="20001"/>
                    </a:ext>
                  </a:extLst>
                </a:gridCol>
                <a:gridCol w="1448758">
                  <a:extLst>
                    <a:ext uri="{9D8B030D-6E8A-4147-A177-3AD203B41FA5}">
                      <a16:colId xmlns:a16="http://schemas.microsoft.com/office/drawing/2014/main" xmlns="" val="20002"/>
                    </a:ext>
                  </a:extLst>
                </a:gridCol>
                <a:gridCol w="1470991">
                  <a:extLst>
                    <a:ext uri="{9D8B030D-6E8A-4147-A177-3AD203B41FA5}">
                      <a16:colId xmlns:a16="http://schemas.microsoft.com/office/drawing/2014/main" xmlns="" val="1242789684"/>
                    </a:ext>
                  </a:extLst>
                </a:gridCol>
              </a:tblGrid>
              <a:tr h="0">
                <a:tc>
                  <a:txBody>
                    <a:bodyPr/>
                    <a:lstStyle/>
                    <a:p>
                      <a:r>
                        <a:rPr lang="en-US" dirty="0"/>
                        <a:t>birthday</a:t>
                      </a:r>
                    </a:p>
                  </a:txBody>
                  <a:tcPr/>
                </a:tc>
                <a:tc>
                  <a:txBody>
                    <a:bodyPr/>
                    <a:lstStyle/>
                    <a:p>
                      <a:r>
                        <a:rPr lang="en-US" dirty="0" err="1"/>
                        <a:t>first_name</a:t>
                      </a:r>
                      <a:endParaRPr lang="en-US" dirty="0"/>
                    </a:p>
                  </a:txBody>
                  <a:tcPr/>
                </a:tc>
                <a:tc>
                  <a:txBody>
                    <a:bodyPr/>
                    <a:lstStyle/>
                    <a:p>
                      <a:r>
                        <a:rPr lang="en-US" dirty="0" err="1"/>
                        <a:t>family_name</a:t>
                      </a:r>
                      <a:endParaRPr lang="en-US" dirty="0"/>
                    </a:p>
                  </a:txBody>
                  <a:tcPr/>
                </a:tc>
                <a:tc>
                  <a:txBody>
                    <a:bodyPr/>
                    <a:lstStyle/>
                    <a:p>
                      <a:r>
                        <a:rPr lang="en-US" dirty="0" err="1"/>
                        <a:t>e_id</a:t>
                      </a:r>
                      <a:endParaRPr lang="en-US" dirty="0"/>
                    </a:p>
                  </a:txBody>
                  <a:tcPr/>
                </a:tc>
                <a:extLst>
                  <a:ext uri="{0D108BD9-81ED-4DB2-BD59-A6C34878D82A}">
                    <a16:rowId xmlns:a16="http://schemas.microsoft.com/office/drawing/2014/main" xmlns="" val="10000"/>
                  </a:ext>
                </a:extLst>
              </a:tr>
              <a:tr h="370840">
                <a:tc>
                  <a:txBody>
                    <a:bodyPr/>
                    <a:lstStyle/>
                    <a:p>
                      <a:r>
                        <a:rPr lang="en-US" dirty="0"/>
                        <a:t>1990-11-10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Anne</a:t>
                      </a:r>
                      <a:endParaRPr lang="en-US" dirty="0"/>
                    </a:p>
                  </a:txBody>
                  <a:tcPr/>
                </a:tc>
                <a:tc>
                  <a:txBody>
                    <a:bodyPr/>
                    <a:lstStyle/>
                    <a:p>
                      <a:r>
                        <a:rPr lang="en-US" dirty="0"/>
                        <a:t>Smith</a:t>
                      </a:r>
                    </a:p>
                  </a:txBody>
                  <a:tcPr/>
                </a:tc>
                <a:tc>
                  <a:txBody>
                    <a:bodyPr/>
                    <a:lstStyle/>
                    <a:p>
                      <a:r>
                        <a:rPr lang="en-US" dirty="0"/>
                        <a:t>1</a:t>
                      </a:r>
                    </a:p>
                  </a:txBody>
                  <a:tcPr/>
                </a:tc>
                <a:extLst>
                  <a:ext uri="{0D108BD9-81ED-4DB2-BD59-A6C34878D82A}">
                    <a16:rowId xmlns:a16="http://schemas.microsoft.com/office/drawing/2014/main" xmlns="" val="10001"/>
                  </a:ext>
                </a:extLst>
              </a:tr>
              <a:tr h="370840">
                <a:tc>
                  <a:txBody>
                    <a:bodyPr/>
                    <a:lstStyle/>
                    <a:p>
                      <a:r>
                        <a:rPr lang="en-US" dirty="0"/>
                        <a:t>2000-02-05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David</a:t>
                      </a:r>
                      <a:endParaRPr lang="en-US" dirty="0"/>
                    </a:p>
                  </a:txBody>
                  <a:tcPr/>
                </a:tc>
                <a:tc>
                  <a:txBody>
                    <a:bodyPr/>
                    <a:lstStyle/>
                    <a:p>
                      <a:r>
                        <a:rPr lang="en-US" dirty="0"/>
                        <a:t>Jones</a:t>
                      </a:r>
                    </a:p>
                  </a:txBody>
                  <a:tcPr/>
                </a:tc>
                <a:tc>
                  <a:txBody>
                    <a:bodyPr/>
                    <a:lstStyle/>
                    <a:p>
                      <a:r>
                        <a:rPr lang="en-US" dirty="0"/>
                        <a:t>2</a:t>
                      </a:r>
                    </a:p>
                  </a:txBody>
                  <a:tcPr/>
                </a:tc>
                <a:extLst>
                  <a:ext uri="{0D108BD9-81ED-4DB2-BD59-A6C34878D82A}">
                    <a16:rowId xmlns:a16="http://schemas.microsoft.com/office/drawing/2014/main" xmlns="" val="10002"/>
                  </a:ext>
                </a:extLst>
              </a:tr>
              <a:tr h="370840">
                <a:tc>
                  <a:txBody>
                    <a:bodyPr/>
                    <a:lstStyle/>
                    <a:p>
                      <a:r>
                        <a:rPr lang="en-US" dirty="0"/>
                        <a:t>1995-05-09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r>
                        <a:rPr lang="en-GB" dirty="0"/>
                        <a:t>Taylor</a:t>
                      </a:r>
                      <a:endParaRPr lang="en-US" dirty="0"/>
                    </a:p>
                  </a:txBody>
                  <a:tcPr/>
                </a:tc>
                <a:tc>
                  <a:txBody>
                    <a:bodyPr/>
                    <a:lstStyle/>
                    <a:p>
                      <a:r>
                        <a:rPr lang="en-US" dirty="0"/>
                        <a:t>3</a:t>
                      </a:r>
                    </a:p>
                  </a:txBody>
                  <a:tcPr/>
                </a:tc>
                <a:extLst>
                  <a:ext uri="{0D108BD9-81ED-4DB2-BD59-A6C34878D82A}">
                    <a16:rowId xmlns:a16="http://schemas.microsoft.com/office/drawing/2014/main" xmlns="" val="10003"/>
                  </a:ext>
                </a:extLst>
              </a:tr>
            </a:tbl>
          </a:graphicData>
        </a:graphic>
      </p:graphicFrame>
      <p:sp>
        <p:nvSpPr>
          <p:cNvPr id="7" name="TextBox 6">
            <a:extLst>
              <a:ext uri="{FF2B5EF4-FFF2-40B4-BE49-F238E27FC236}">
                <a16:creationId xmlns:a16="http://schemas.microsoft.com/office/drawing/2014/main" xmlns="" id="{C1EF966B-5461-45CA-850E-4B26122D5DAC}"/>
              </a:ext>
            </a:extLst>
          </p:cNvPr>
          <p:cNvSpPr txBox="1"/>
          <p:nvPr/>
        </p:nvSpPr>
        <p:spPr>
          <a:xfrm>
            <a:off x="6379611" y="273180"/>
            <a:ext cx="1214692" cy="369332"/>
          </a:xfrm>
          <a:prstGeom prst="rect">
            <a:avLst/>
          </a:prstGeom>
          <a:noFill/>
        </p:spPr>
        <p:txBody>
          <a:bodyPr wrap="none" rtlCol="0">
            <a:spAutoFit/>
          </a:bodyPr>
          <a:lstStyle/>
          <a:p>
            <a:r>
              <a:rPr lang="en-US" b="1" dirty="0">
                <a:solidFill>
                  <a:srgbClr val="0070C0"/>
                </a:solidFill>
              </a:rPr>
              <a:t>Employees</a:t>
            </a:r>
          </a:p>
        </p:txBody>
      </p:sp>
      <p:graphicFrame>
        <p:nvGraphicFramePr>
          <p:cNvPr id="8" name="Table 7">
            <a:extLst>
              <a:ext uri="{FF2B5EF4-FFF2-40B4-BE49-F238E27FC236}">
                <a16:creationId xmlns:a16="http://schemas.microsoft.com/office/drawing/2014/main" xmlns="" id="{E541FE67-AC03-46FB-95E4-D224C430CFE5}"/>
              </a:ext>
            </a:extLst>
          </p:cNvPr>
          <p:cNvGraphicFramePr>
            <a:graphicFrameLocks noGrp="1"/>
          </p:cNvGraphicFramePr>
          <p:nvPr>
            <p:extLst>
              <p:ext uri="{D42A27DB-BD31-4B8C-83A1-F6EECF244321}">
                <p14:modId xmlns:p14="http://schemas.microsoft.com/office/powerpoint/2010/main" val="1619365918"/>
              </p:ext>
            </p:extLst>
          </p:nvPr>
        </p:nvGraphicFramePr>
        <p:xfrm>
          <a:off x="6300303" y="2567764"/>
          <a:ext cx="4595889"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677688">
                  <a:extLst>
                    <a:ext uri="{9D8B030D-6E8A-4147-A177-3AD203B41FA5}">
                      <a16:colId xmlns:a16="http://schemas.microsoft.com/office/drawing/2014/main" xmlns="" val="20000"/>
                    </a:ext>
                  </a:extLst>
                </a:gridCol>
                <a:gridCol w="1449253">
                  <a:extLst>
                    <a:ext uri="{9D8B030D-6E8A-4147-A177-3AD203B41FA5}">
                      <a16:colId xmlns:a16="http://schemas.microsoft.com/office/drawing/2014/main" xmlns="" val="20001"/>
                    </a:ext>
                  </a:extLst>
                </a:gridCol>
                <a:gridCol w="1468948">
                  <a:extLst>
                    <a:ext uri="{9D8B030D-6E8A-4147-A177-3AD203B41FA5}">
                      <a16:colId xmlns:a16="http://schemas.microsoft.com/office/drawing/2014/main" xmlns="" val="1242789684"/>
                    </a:ext>
                  </a:extLst>
                </a:gridCol>
              </a:tblGrid>
              <a:tr h="0">
                <a:tc>
                  <a:txBody>
                    <a:bodyPr/>
                    <a:lstStyle/>
                    <a:p>
                      <a:r>
                        <a:rPr lang="en-US" dirty="0" err="1"/>
                        <a:t>t_id</a:t>
                      </a:r>
                      <a:endParaRPr lang="en-US" dirty="0"/>
                    </a:p>
                  </a:txBody>
                  <a:tcPr/>
                </a:tc>
                <a:tc>
                  <a:txBody>
                    <a:bodyPr/>
                    <a:lstStyle/>
                    <a:p>
                      <a:r>
                        <a:rPr lang="en-US" dirty="0" err="1"/>
                        <a:t>c_id</a:t>
                      </a:r>
                      <a:endParaRPr lang="en-US" dirty="0"/>
                    </a:p>
                  </a:txBody>
                  <a:tcPr/>
                </a:tc>
                <a:tc>
                  <a:txBody>
                    <a:bodyPr/>
                    <a:lstStyle/>
                    <a:p>
                      <a:r>
                        <a:rPr lang="en-US" dirty="0" err="1"/>
                        <a:t>e_id</a:t>
                      </a:r>
                      <a:endParaRPr lang="en-US" dirty="0"/>
                    </a:p>
                  </a:txBody>
                  <a:tcPr/>
                </a:tc>
                <a:extLst>
                  <a:ext uri="{0D108BD9-81ED-4DB2-BD59-A6C34878D82A}">
                    <a16:rowId xmlns:a16="http://schemas.microsoft.com/office/drawing/2014/main" xmlns="" val="10000"/>
                  </a:ext>
                </a:extLst>
              </a:tr>
              <a:tr h="370840">
                <a:tc>
                  <a:txBody>
                    <a:bodyPr/>
                    <a:lstStyle/>
                    <a:p>
                      <a:r>
                        <a:rPr lang="en-US" dirty="0"/>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3</a:t>
                      </a:r>
                      <a:endParaRPr lang="en-US" dirty="0"/>
                    </a:p>
                  </a:txBody>
                  <a:tcPr/>
                </a:tc>
                <a:tc>
                  <a:txBody>
                    <a:bodyPr/>
                    <a:lstStyle/>
                    <a:p>
                      <a:r>
                        <a:rPr lang="en-US" dirty="0"/>
                        <a:t>1</a:t>
                      </a:r>
                    </a:p>
                  </a:txBody>
                  <a:tcPr/>
                </a:tc>
                <a:extLst>
                  <a:ext uri="{0D108BD9-81ED-4DB2-BD59-A6C34878D82A}">
                    <a16:rowId xmlns:a16="http://schemas.microsoft.com/office/drawing/2014/main" xmlns="" val="10001"/>
                  </a:ext>
                </a:extLst>
              </a:tr>
              <a:tr h="370840">
                <a:tc>
                  <a:txBody>
                    <a:bodyPr/>
                    <a:lstStyle/>
                    <a:p>
                      <a:r>
                        <a:rPr lang="en-US"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6</a:t>
                      </a:r>
                      <a:endParaRPr lang="en-US" dirty="0"/>
                    </a:p>
                  </a:txBody>
                  <a:tcPr/>
                </a:tc>
                <a:tc>
                  <a:txBody>
                    <a:bodyPr/>
                    <a:lstStyle/>
                    <a:p>
                      <a:r>
                        <a:rPr lang="en-US" dirty="0"/>
                        <a:t>1</a:t>
                      </a:r>
                    </a:p>
                  </a:txBody>
                  <a:tcPr/>
                </a:tc>
                <a:extLst>
                  <a:ext uri="{0D108BD9-81ED-4DB2-BD59-A6C34878D82A}">
                    <a16:rowId xmlns:a16="http://schemas.microsoft.com/office/drawing/2014/main" xmlns="" val="10002"/>
                  </a:ext>
                </a:extLst>
              </a:tr>
              <a:tr h="370840">
                <a:tc>
                  <a:txBody>
                    <a:bodyPr/>
                    <a:lstStyle/>
                    <a:p>
                      <a:r>
                        <a:rPr lang="en-US" dirty="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19</a:t>
                      </a:r>
                    </a:p>
                  </a:txBody>
                  <a:tcPr/>
                </a:tc>
                <a:tc>
                  <a:txBody>
                    <a:bodyPr/>
                    <a:lstStyle/>
                    <a:p>
                      <a:r>
                        <a:rPr lang="en-US" dirty="0"/>
                        <a:t>3</a:t>
                      </a:r>
                    </a:p>
                  </a:txBody>
                  <a:tcPr/>
                </a:tc>
                <a:extLst>
                  <a:ext uri="{0D108BD9-81ED-4DB2-BD59-A6C34878D82A}">
                    <a16:rowId xmlns:a16="http://schemas.microsoft.com/office/drawing/2014/main" xmlns="" val="10003"/>
                  </a:ext>
                </a:extLst>
              </a:tr>
            </a:tbl>
          </a:graphicData>
        </a:graphic>
      </p:graphicFrame>
      <p:sp>
        <p:nvSpPr>
          <p:cNvPr id="9" name="TextBox 8">
            <a:extLst>
              <a:ext uri="{FF2B5EF4-FFF2-40B4-BE49-F238E27FC236}">
                <a16:creationId xmlns:a16="http://schemas.microsoft.com/office/drawing/2014/main" xmlns="" id="{D92C0CEA-B824-4280-8084-81C1EE2605FD}"/>
              </a:ext>
            </a:extLst>
          </p:cNvPr>
          <p:cNvSpPr txBox="1"/>
          <p:nvPr/>
        </p:nvSpPr>
        <p:spPr>
          <a:xfrm>
            <a:off x="6225180" y="2198432"/>
            <a:ext cx="1376402" cy="369332"/>
          </a:xfrm>
          <a:prstGeom prst="rect">
            <a:avLst/>
          </a:prstGeom>
          <a:noFill/>
        </p:spPr>
        <p:txBody>
          <a:bodyPr wrap="none" rtlCol="0">
            <a:spAutoFit/>
          </a:bodyPr>
          <a:lstStyle/>
          <a:p>
            <a:r>
              <a:rPr lang="en-US" b="1" dirty="0">
                <a:solidFill>
                  <a:srgbClr val="FF0000"/>
                </a:solidFill>
              </a:rPr>
              <a:t>Transactions</a:t>
            </a:r>
          </a:p>
        </p:txBody>
      </p:sp>
      <p:graphicFrame>
        <p:nvGraphicFramePr>
          <p:cNvPr id="10" name="Table 9">
            <a:extLst>
              <a:ext uri="{FF2B5EF4-FFF2-40B4-BE49-F238E27FC236}">
                <a16:creationId xmlns:a16="http://schemas.microsoft.com/office/drawing/2014/main" xmlns="" id="{F5A6EFE0-11BC-482C-9CD0-8E9C692ABFA9}"/>
              </a:ext>
            </a:extLst>
          </p:cNvPr>
          <p:cNvGraphicFramePr>
            <a:graphicFrameLocks noGrp="1"/>
          </p:cNvGraphicFramePr>
          <p:nvPr>
            <p:extLst>
              <p:ext uri="{D42A27DB-BD31-4B8C-83A1-F6EECF244321}">
                <p14:modId xmlns:p14="http://schemas.microsoft.com/office/powerpoint/2010/main" val="501152067"/>
              </p:ext>
            </p:extLst>
          </p:nvPr>
        </p:nvGraphicFramePr>
        <p:xfrm>
          <a:off x="5783967" y="4415376"/>
          <a:ext cx="6214456" cy="175260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311966">
                  <a:extLst>
                    <a:ext uri="{9D8B030D-6E8A-4147-A177-3AD203B41FA5}">
                      <a16:colId xmlns:a16="http://schemas.microsoft.com/office/drawing/2014/main" xmlns="" val="20000"/>
                    </a:ext>
                  </a:extLst>
                </a:gridCol>
                <a:gridCol w="1527029">
                  <a:extLst>
                    <a:ext uri="{9D8B030D-6E8A-4147-A177-3AD203B41FA5}">
                      <a16:colId xmlns:a16="http://schemas.microsoft.com/office/drawing/2014/main" xmlns="" val="20001"/>
                    </a:ext>
                  </a:extLst>
                </a:gridCol>
                <a:gridCol w="911371">
                  <a:extLst>
                    <a:ext uri="{9D8B030D-6E8A-4147-A177-3AD203B41FA5}">
                      <a16:colId xmlns:a16="http://schemas.microsoft.com/office/drawing/2014/main" xmlns="" val="20002"/>
                    </a:ext>
                  </a:extLst>
                </a:gridCol>
                <a:gridCol w="768626">
                  <a:extLst>
                    <a:ext uri="{9D8B030D-6E8A-4147-A177-3AD203B41FA5}">
                      <a16:colId xmlns:a16="http://schemas.microsoft.com/office/drawing/2014/main" xmlns="" val="1242789684"/>
                    </a:ext>
                  </a:extLst>
                </a:gridCol>
                <a:gridCol w="639737">
                  <a:extLst>
                    <a:ext uri="{9D8B030D-6E8A-4147-A177-3AD203B41FA5}">
                      <a16:colId xmlns:a16="http://schemas.microsoft.com/office/drawing/2014/main" xmlns="" val="1046322633"/>
                    </a:ext>
                  </a:extLst>
                </a:gridCol>
                <a:gridCol w="1055727">
                  <a:extLst>
                    <a:ext uri="{9D8B030D-6E8A-4147-A177-3AD203B41FA5}">
                      <a16:colId xmlns:a16="http://schemas.microsoft.com/office/drawing/2014/main" xmlns="" val="1184923468"/>
                    </a:ext>
                  </a:extLst>
                </a:gridCol>
              </a:tblGrid>
              <a:tr h="0">
                <a:tc>
                  <a:txBody>
                    <a:bodyPr/>
                    <a:lstStyle/>
                    <a:p>
                      <a:r>
                        <a:rPr lang="en-US" dirty="0"/>
                        <a:t>birthday</a:t>
                      </a:r>
                    </a:p>
                  </a:txBody>
                  <a:tcPr/>
                </a:tc>
                <a:tc>
                  <a:txBody>
                    <a:bodyPr/>
                    <a:lstStyle/>
                    <a:p>
                      <a:r>
                        <a:rPr lang="en-US" dirty="0" err="1"/>
                        <a:t>first_name</a:t>
                      </a:r>
                      <a:endParaRPr lang="en-US" dirty="0"/>
                    </a:p>
                  </a:txBody>
                  <a:tcPr/>
                </a:tc>
                <a:tc>
                  <a:txBody>
                    <a:bodyPr/>
                    <a:lstStyle/>
                    <a:p>
                      <a:r>
                        <a:rPr lang="en-US" dirty="0" err="1"/>
                        <a:t>family_name</a:t>
                      </a:r>
                      <a:endParaRPr lang="en-US" dirty="0"/>
                    </a:p>
                  </a:txBody>
                  <a:tcPr/>
                </a:tc>
                <a:tc>
                  <a:txBody>
                    <a:bodyPr/>
                    <a:lstStyle/>
                    <a:p>
                      <a:r>
                        <a:rPr lang="en-US" dirty="0" err="1"/>
                        <a:t>e_id</a:t>
                      </a:r>
                      <a:endParaRPr lang="en-US" dirty="0"/>
                    </a:p>
                  </a:txBody>
                  <a:tcPr/>
                </a:tc>
                <a:tc>
                  <a:txBody>
                    <a:bodyPr/>
                    <a:lstStyle/>
                    <a:p>
                      <a:r>
                        <a:rPr lang="en-US" dirty="0" err="1"/>
                        <a:t>t_id</a:t>
                      </a:r>
                      <a:endParaRPr lang="en-US" dirty="0"/>
                    </a:p>
                  </a:txBody>
                  <a:tcPr/>
                </a:tc>
                <a:tc>
                  <a:txBody>
                    <a:bodyPr/>
                    <a:lstStyle/>
                    <a:p>
                      <a:r>
                        <a:rPr lang="en-US" dirty="0" err="1"/>
                        <a:t>c_id</a:t>
                      </a:r>
                      <a:endParaRPr lang="en-US" dirty="0"/>
                    </a:p>
                  </a:txBody>
                  <a:tcPr/>
                </a:tc>
                <a:extLst>
                  <a:ext uri="{0D108BD9-81ED-4DB2-BD59-A6C34878D82A}">
                    <a16:rowId xmlns:a16="http://schemas.microsoft.com/office/drawing/2014/main" xmlns="" val="10000"/>
                  </a:ext>
                </a:extLst>
              </a:tr>
              <a:tr h="370840">
                <a:tc>
                  <a:txBody>
                    <a:bodyPr/>
                    <a:lstStyle/>
                    <a:p>
                      <a:r>
                        <a:rPr lang="en-US" dirty="0"/>
                        <a:t>1990-11-10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Anne</a:t>
                      </a:r>
                      <a:endParaRPr lang="en-US" dirty="0"/>
                    </a:p>
                  </a:txBody>
                  <a:tcPr/>
                </a:tc>
                <a:tc>
                  <a:txBody>
                    <a:bodyPr/>
                    <a:lstStyle/>
                    <a:p>
                      <a:r>
                        <a:rPr lang="en-US" dirty="0"/>
                        <a:t>Smith</a:t>
                      </a:r>
                    </a:p>
                  </a:txBody>
                  <a:tcPr/>
                </a:tc>
                <a:tc>
                  <a:txBody>
                    <a:bodyPr/>
                    <a:lstStyle/>
                    <a:p>
                      <a:r>
                        <a:rPr lang="en-US" dirty="0"/>
                        <a:t>1</a:t>
                      </a:r>
                    </a:p>
                  </a:txBody>
                  <a:tcPr/>
                </a:tc>
                <a:tc>
                  <a:txBody>
                    <a:bodyPr/>
                    <a:lstStyle/>
                    <a:p>
                      <a:r>
                        <a:rPr lang="en-US" dirty="0"/>
                        <a:t>1</a:t>
                      </a:r>
                    </a:p>
                  </a:txBody>
                  <a:tcPr/>
                </a:tc>
                <a:tc>
                  <a:txBody>
                    <a:bodyPr/>
                    <a:lstStyle/>
                    <a:p>
                      <a:r>
                        <a:rPr lang="en-US" dirty="0"/>
                        <a:t>3</a:t>
                      </a:r>
                    </a:p>
                  </a:txBody>
                  <a:tcPr/>
                </a:tc>
                <a:extLst>
                  <a:ext uri="{0D108BD9-81ED-4DB2-BD59-A6C34878D82A}">
                    <a16:rowId xmlns:a16="http://schemas.microsoft.com/office/drawing/2014/main" xmlns="" val="10001"/>
                  </a:ext>
                </a:extLst>
              </a:tr>
              <a:tr h="370840">
                <a:tc>
                  <a:txBody>
                    <a:bodyPr/>
                    <a:lstStyle/>
                    <a:p>
                      <a:r>
                        <a:rPr lang="en-US" dirty="0"/>
                        <a:t>1990-11-10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Anne</a:t>
                      </a:r>
                      <a:endParaRPr lang="en-US" dirty="0"/>
                    </a:p>
                  </a:txBody>
                  <a:tcPr/>
                </a:tc>
                <a:tc>
                  <a:txBody>
                    <a:bodyPr/>
                    <a:lstStyle/>
                    <a:p>
                      <a:r>
                        <a:rPr lang="en-US" dirty="0"/>
                        <a:t>Smith</a:t>
                      </a:r>
                    </a:p>
                  </a:txBody>
                  <a:tcPr/>
                </a:tc>
                <a:tc>
                  <a:txBody>
                    <a:bodyPr/>
                    <a:lstStyle/>
                    <a:p>
                      <a:r>
                        <a:rPr lang="en-US" dirty="0"/>
                        <a:t>1</a:t>
                      </a:r>
                    </a:p>
                  </a:txBody>
                  <a:tcPr/>
                </a:tc>
                <a:tc>
                  <a:txBody>
                    <a:bodyPr/>
                    <a:lstStyle/>
                    <a:p>
                      <a:r>
                        <a:rPr lang="en-US" dirty="0"/>
                        <a:t>2</a:t>
                      </a:r>
                    </a:p>
                  </a:txBody>
                  <a:tcPr/>
                </a:tc>
                <a:tc>
                  <a:txBody>
                    <a:bodyPr/>
                    <a:lstStyle/>
                    <a:p>
                      <a:r>
                        <a:rPr lang="en-US" dirty="0"/>
                        <a:t>6</a:t>
                      </a:r>
                    </a:p>
                  </a:txBody>
                  <a:tcPr/>
                </a:tc>
                <a:extLst>
                  <a:ext uri="{0D108BD9-81ED-4DB2-BD59-A6C34878D82A}">
                    <a16:rowId xmlns:a16="http://schemas.microsoft.com/office/drawing/2014/main" xmlns="" val="10002"/>
                  </a:ext>
                </a:extLst>
              </a:tr>
              <a:tr h="370840">
                <a:tc>
                  <a:txBody>
                    <a:bodyPr/>
                    <a:lstStyle/>
                    <a:p>
                      <a:r>
                        <a:rPr lang="en-US" dirty="0"/>
                        <a:t>1995-05-09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William</a:t>
                      </a:r>
                    </a:p>
                  </a:txBody>
                  <a:tcPr/>
                </a:tc>
                <a:tc>
                  <a:txBody>
                    <a:bodyPr/>
                    <a:lstStyle/>
                    <a:p>
                      <a:r>
                        <a:rPr lang="en-GB" dirty="0"/>
                        <a:t>Taylor</a:t>
                      </a:r>
                      <a:endParaRPr lang="en-US" dirty="0"/>
                    </a:p>
                  </a:txBody>
                  <a:tcPr/>
                </a:tc>
                <a:tc>
                  <a:txBody>
                    <a:bodyPr/>
                    <a:lstStyle/>
                    <a:p>
                      <a:r>
                        <a:rPr lang="en-US" dirty="0"/>
                        <a:t>3</a:t>
                      </a:r>
                    </a:p>
                  </a:txBody>
                  <a:tcPr/>
                </a:tc>
                <a:tc>
                  <a:txBody>
                    <a:bodyPr/>
                    <a:lstStyle/>
                    <a:p>
                      <a:r>
                        <a:rPr lang="en-US" dirty="0"/>
                        <a:t>3</a:t>
                      </a:r>
                    </a:p>
                  </a:txBody>
                  <a:tcPr/>
                </a:tc>
                <a:tc>
                  <a:txBody>
                    <a:bodyPr/>
                    <a:lstStyle/>
                    <a:p>
                      <a:r>
                        <a:rPr lang="en-US" dirty="0"/>
                        <a:t>19</a:t>
                      </a:r>
                    </a:p>
                  </a:txBody>
                  <a:tcPr/>
                </a:tc>
                <a:extLst>
                  <a:ext uri="{0D108BD9-81ED-4DB2-BD59-A6C34878D82A}">
                    <a16:rowId xmlns:a16="http://schemas.microsoft.com/office/drawing/2014/main" xmlns="" val="10003"/>
                  </a:ext>
                </a:extLst>
              </a:tr>
            </a:tbl>
          </a:graphicData>
        </a:graphic>
      </p:graphicFrame>
      <p:sp>
        <p:nvSpPr>
          <p:cNvPr id="13" name="TextBox 12">
            <a:extLst>
              <a:ext uri="{FF2B5EF4-FFF2-40B4-BE49-F238E27FC236}">
                <a16:creationId xmlns:a16="http://schemas.microsoft.com/office/drawing/2014/main" xmlns="" id="{592C695B-68D8-48B2-AB79-DDC4971401A1}"/>
              </a:ext>
            </a:extLst>
          </p:cNvPr>
          <p:cNvSpPr txBox="1"/>
          <p:nvPr/>
        </p:nvSpPr>
        <p:spPr>
          <a:xfrm>
            <a:off x="2063552" y="5801493"/>
            <a:ext cx="2952328" cy="369332"/>
          </a:xfrm>
          <a:prstGeom prst="rect">
            <a:avLst/>
          </a:prstGeom>
          <a:noFill/>
        </p:spPr>
        <p:txBody>
          <a:bodyPr wrap="square" rtlCol="0">
            <a:spAutoFit/>
          </a:bodyPr>
          <a:lstStyle/>
          <a:p>
            <a:r>
              <a:rPr lang="en-US" dirty="0"/>
              <a:t>Relational algebra expression</a:t>
            </a:r>
          </a:p>
        </p:txBody>
      </p:sp>
      <p:cxnSp>
        <p:nvCxnSpPr>
          <p:cNvPr id="14" name="Straight Arrow Connector 13">
            <a:extLst>
              <a:ext uri="{FF2B5EF4-FFF2-40B4-BE49-F238E27FC236}">
                <a16:creationId xmlns:a16="http://schemas.microsoft.com/office/drawing/2014/main" xmlns="" id="{ABA03754-B2FD-4F92-B631-BF525359A893}"/>
              </a:ext>
            </a:extLst>
          </p:cNvPr>
          <p:cNvCxnSpPr>
            <a:cxnSpLocks/>
          </p:cNvCxnSpPr>
          <p:nvPr/>
        </p:nvCxnSpPr>
        <p:spPr>
          <a:xfrm flipV="1">
            <a:off x="3396344" y="4415377"/>
            <a:ext cx="0" cy="5266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xmlns="" id="{9F902830-EEBB-4070-AC43-55F45AF74907}"/>
              </a:ext>
            </a:extLst>
          </p:cNvPr>
          <p:cNvSpPr txBox="1"/>
          <p:nvPr/>
        </p:nvSpPr>
        <p:spPr>
          <a:xfrm>
            <a:off x="3492963" y="4528716"/>
            <a:ext cx="1522917" cy="369332"/>
          </a:xfrm>
          <a:prstGeom prst="rect">
            <a:avLst/>
          </a:prstGeom>
          <a:noFill/>
        </p:spPr>
        <p:txBody>
          <a:bodyPr wrap="none" rtlCol="0">
            <a:spAutoFit/>
          </a:bodyPr>
          <a:lstStyle/>
          <a:p>
            <a:r>
              <a:rPr lang="en-US" dirty="0"/>
              <a:t>translates into</a:t>
            </a:r>
          </a:p>
        </p:txBody>
      </p:sp>
      <p:cxnSp>
        <p:nvCxnSpPr>
          <p:cNvPr id="18" name="Straight Arrow Connector 17">
            <a:extLst>
              <a:ext uri="{FF2B5EF4-FFF2-40B4-BE49-F238E27FC236}">
                <a16:creationId xmlns:a16="http://schemas.microsoft.com/office/drawing/2014/main" xmlns="" id="{722CBE18-3ED9-41A3-A834-39E629448FBB}"/>
              </a:ext>
            </a:extLst>
          </p:cNvPr>
          <p:cNvCxnSpPr>
            <a:cxnSpLocks/>
          </p:cNvCxnSpPr>
          <p:nvPr/>
        </p:nvCxnSpPr>
        <p:spPr>
          <a:xfrm>
            <a:off x="5308521" y="4479041"/>
            <a:ext cx="408013" cy="347119"/>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BCE3C79D-833D-4A9C-81F6-CF83B1BC3D2E}"/>
              </a:ext>
            </a:extLst>
          </p:cNvPr>
          <p:cNvCxnSpPr>
            <a:cxnSpLocks/>
          </p:cNvCxnSpPr>
          <p:nvPr/>
        </p:nvCxnSpPr>
        <p:spPr>
          <a:xfrm>
            <a:off x="5258793" y="5519057"/>
            <a:ext cx="543293"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AEF52748-2718-4313-9952-21BDFD054994}"/>
              </a:ext>
            </a:extLst>
          </p:cNvPr>
          <p:cNvSpPr txBox="1"/>
          <p:nvPr/>
        </p:nvSpPr>
        <p:spPr>
          <a:xfrm>
            <a:off x="1787242" y="5068566"/>
            <a:ext cx="3588712" cy="587441"/>
          </a:xfrm>
          <a:prstGeom prst="rect">
            <a:avLst/>
          </a:prstGeom>
          <a:solidFill>
            <a:schemeClr val="bg1">
              <a:lumMod val="95000"/>
            </a:schemeClr>
          </a:solidFill>
        </p:spPr>
        <p:style>
          <a:lnRef idx="1">
            <a:schemeClr val="dk1"/>
          </a:lnRef>
          <a:fillRef idx="2">
            <a:schemeClr val="dk1"/>
          </a:fillRef>
          <a:effectRef idx="1">
            <a:schemeClr val="dk1"/>
          </a:effectRef>
          <a:fontRef idx="minor">
            <a:schemeClr val="dk1"/>
          </a:fontRef>
        </p:style>
        <p:txBody>
          <a:bodyPr wrap="none" lIns="108000" tIns="108000" rIns="108000" bIns="108000" rtlCol="0">
            <a:spAutoFit/>
          </a:bodyPr>
          <a:lstStyle/>
          <a:p>
            <a:r>
              <a:rPr lang="en-US" sz="2400" b="1" dirty="0">
                <a:solidFill>
                  <a:srgbClr val="0070C0"/>
                </a:solidFill>
              </a:rPr>
              <a:t>Employees </a:t>
            </a:r>
            <a:r>
              <a:rPr lang="en-GB" sz="2400" dirty="0"/>
              <a:t>⋈ </a:t>
            </a:r>
            <a:r>
              <a:rPr lang="en-US" sz="2400" b="1" dirty="0">
                <a:solidFill>
                  <a:srgbClr val="FF0000"/>
                </a:solidFill>
              </a:rPr>
              <a:t>Transactions</a:t>
            </a:r>
            <a:endParaRPr lang="en-US" sz="2400" dirty="0">
              <a:solidFill>
                <a:schemeClr val="tx1"/>
              </a:solidFill>
            </a:endParaRPr>
          </a:p>
        </p:txBody>
      </p:sp>
    </p:spTree>
    <p:custDataLst>
      <p:tags r:id="rId1"/>
    </p:custDataLst>
    <p:extLst>
      <p:ext uri="{BB962C8B-B14F-4D97-AF65-F5344CB8AC3E}">
        <p14:creationId xmlns:p14="http://schemas.microsoft.com/office/powerpoint/2010/main" val="389811076"/>
      </p:ext>
    </p:extLst>
  </p:cSld>
  <p:clrMapOvr>
    <a:masterClrMapping/>
  </p:clrMapOvr>
  <mc:AlternateContent xmlns:mc="http://schemas.openxmlformats.org/markup-compatibility/2006" xmlns:p14="http://schemas.microsoft.com/office/powerpoint/2010/main">
    <mc:Choice Requires="p14">
      <p:transition spd="slow" p14:dur="2000" advTm="69763"/>
    </mc:Choice>
    <mc:Fallback xmlns="">
      <p:transition spd="slow" advTm="6976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p:bldP spid="15" grpId="0"/>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85403C-7A24-49D3-BDCA-A22409BF421D}"/>
              </a:ext>
            </a:extLst>
          </p:cNvPr>
          <p:cNvSpPr>
            <a:spLocks noGrp="1"/>
          </p:cNvSpPr>
          <p:nvPr>
            <p:ph type="title"/>
          </p:nvPr>
        </p:nvSpPr>
        <p:spPr/>
        <p:txBody>
          <a:bodyPr/>
          <a:lstStyle/>
          <a:p>
            <a:r>
              <a:rPr lang="en-US" dirty="0"/>
              <a:t>Many others…</a:t>
            </a:r>
            <a:endParaRPr lang="en-GB" dirty="0"/>
          </a:p>
        </p:txBody>
      </p:sp>
      <p:sp>
        <p:nvSpPr>
          <p:cNvPr id="3" name="Content Placeholder 2">
            <a:extLst>
              <a:ext uri="{FF2B5EF4-FFF2-40B4-BE49-F238E27FC236}">
                <a16:creationId xmlns:a16="http://schemas.microsoft.com/office/drawing/2014/main" xmlns="" id="{ADF0ED79-D935-4FB7-8D36-99813A70A673}"/>
              </a:ext>
            </a:extLst>
          </p:cNvPr>
          <p:cNvSpPr>
            <a:spLocks noGrp="1"/>
          </p:cNvSpPr>
          <p:nvPr>
            <p:ph idx="1"/>
          </p:nvPr>
        </p:nvSpPr>
        <p:spPr/>
        <p:txBody>
          <a:bodyPr/>
          <a:lstStyle/>
          <a:p>
            <a:r>
              <a:rPr lang="en-US" dirty="0"/>
              <a:t>Besides the mentioned, there are many others, e.g. for: </a:t>
            </a:r>
          </a:p>
          <a:p>
            <a:pPr marL="457200" indent="-457200">
              <a:buFont typeface="+mj-lt"/>
              <a:buAutoNum type="arabicPeriod"/>
            </a:pPr>
            <a:r>
              <a:rPr lang="en-US" dirty="0"/>
              <a:t>Left/right semi-join (</a:t>
            </a:r>
            <a:r>
              <a:rPr lang="en-GB" dirty="0"/>
              <a:t>⋉/⋊)</a:t>
            </a:r>
          </a:p>
          <a:p>
            <a:pPr marL="749808" lvl="1" indent="-457200"/>
            <a:r>
              <a:rPr lang="en-GB" dirty="0"/>
              <a:t>I.e. returns the rows from the left/right table that would be matched to a row on the other side in a Natural Join – it was covered in SQL queries - optional part</a:t>
            </a:r>
          </a:p>
          <a:p>
            <a:pPr marL="457200" indent="-457200">
              <a:buFont typeface="+mj-lt"/>
              <a:buAutoNum type="arabicPeriod"/>
            </a:pPr>
            <a:r>
              <a:rPr lang="en-GB" dirty="0"/>
              <a:t>GROUP BY</a:t>
            </a:r>
          </a:p>
          <a:p>
            <a:pPr marL="749808" lvl="1" indent="-457200"/>
            <a:r>
              <a:rPr lang="en-GB" dirty="0"/>
              <a:t>Relational Algebra for GROUP BY is complex and the two books differ in how they define it (different syntax, symbols and so on) and overall, I feel it is sufficient to know that you CAN define it (both definitions writes down what the GROUP BY statements says and the various aggregates used) and leave it at that</a:t>
            </a:r>
          </a:p>
        </p:txBody>
      </p:sp>
    </p:spTree>
    <p:custDataLst>
      <p:tags r:id="rId1"/>
    </p:custDataLst>
    <p:extLst>
      <p:ext uri="{BB962C8B-B14F-4D97-AF65-F5344CB8AC3E}">
        <p14:creationId xmlns:p14="http://schemas.microsoft.com/office/powerpoint/2010/main" val="63840161"/>
      </p:ext>
    </p:extLst>
  </p:cSld>
  <p:clrMapOvr>
    <a:masterClrMapping/>
  </p:clrMapOvr>
  <mc:AlternateContent xmlns:mc="http://schemas.openxmlformats.org/markup-compatibility/2006" xmlns:p14="http://schemas.microsoft.com/office/powerpoint/2010/main">
    <mc:Choice Requires="p14">
      <p:transition spd="slow" p14:dur="2000" advTm="101602"/>
    </mc:Choice>
    <mc:Fallback xmlns="">
      <p:transition spd="slow" advTm="1016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85403C-7A24-49D3-BDCA-A22409BF421D}"/>
              </a:ext>
            </a:extLst>
          </p:cNvPr>
          <p:cNvSpPr>
            <a:spLocks noGrp="1"/>
          </p:cNvSpPr>
          <p:nvPr>
            <p:ph type="title"/>
          </p:nvPr>
        </p:nvSpPr>
        <p:spPr/>
        <p:txBody>
          <a:bodyPr/>
          <a:lstStyle/>
          <a:p>
            <a:r>
              <a:rPr lang="en-US" dirty="0"/>
              <a:t>Key understanding</a:t>
            </a:r>
            <a:endParaRPr lang="en-GB"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ADF0ED79-D935-4FB7-8D36-99813A70A673}"/>
                  </a:ext>
                </a:extLst>
              </p:cNvPr>
              <p:cNvSpPr>
                <a:spLocks noGrp="1"/>
              </p:cNvSpPr>
              <p:nvPr>
                <p:ph idx="1"/>
              </p:nvPr>
            </p:nvSpPr>
            <p:spPr/>
            <p:txBody>
              <a:bodyPr/>
              <a:lstStyle/>
              <a:p>
                <a:r>
                  <a:rPr lang="en-US" dirty="0"/>
                  <a:t>The goal of showing you relational algebra now (instead of next to optimization) is that understanding how you can combine the different parts is easier:</a:t>
                </a:r>
              </a:p>
              <a:p>
                <a:pPr lvl="1"/>
                <a:r>
                  <a:rPr lang="en-US" dirty="0"/>
                  <a:t>You can do it however you want!</a:t>
                </a:r>
              </a:p>
              <a:p>
                <a:r>
                  <a:rPr lang="en-US" dirty="0"/>
                  <a:t>Math example from earlier:</a:t>
                </a:r>
              </a:p>
              <a:p>
                <a:pPr lvl="1"/>
                <a14:m>
                  <m:oMath xmlns:m="http://schemas.openxmlformats.org/officeDocument/2006/math">
                    <m:sSub>
                      <m:sSubPr>
                        <m:ctrlPr>
                          <a:rPr lang="en-GB" i="1" dirty="0">
                            <a:latin typeface="Cambria Math" charset="0"/>
                          </a:rPr>
                        </m:ctrlPr>
                      </m:sSubPr>
                      <m:e>
                        <m:r>
                          <m:rPr>
                            <m:sty m:val="p"/>
                          </m:rPr>
                          <a:rPr lang="en-US" dirty="0">
                            <a:latin typeface="Cambria Math" charset="0"/>
                          </a:rPr>
                          <m:t>log</m:t>
                        </m:r>
                      </m:e>
                      <m:sub>
                        <m:r>
                          <a:rPr lang="en-GB" i="1" dirty="0">
                            <a:latin typeface="Cambria Math" charset="0"/>
                          </a:rPr>
                          <m:t>2</m:t>
                        </m:r>
                      </m:sub>
                    </m:sSub>
                    <m:r>
                      <a:rPr lang="en-US" i="1" dirty="0">
                        <a:latin typeface="Cambria Math" charset="0"/>
                      </a:rPr>
                      <m:t> (3+8)+4</m:t>
                    </m:r>
                  </m:oMath>
                </a14:m>
                <a:endParaRPr lang="en-GB" dirty="0"/>
              </a:p>
              <a:p>
                <a:r>
                  <a:rPr lang="en-US" dirty="0"/>
                  <a:t>Relational algebra example:</a:t>
                </a:r>
              </a:p>
              <a:p>
                <a:pPr lvl="1"/>
                <a14:m>
                  <m:oMath xmlns:m="http://schemas.openxmlformats.org/officeDocument/2006/math">
                    <m:sSub>
                      <m:sSubPr>
                        <m:ctrlPr>
                          <a:rPr lang="en-US" b="0" i="1" smtClean="0">
                            <a:latin typeface="Cambria Math" charset="0"/>
                          </a:rPr>
                        </m:ctrlPr>
                      </m:sSubPr>
                      <m:e>
                        <m:r>
                          <a:rPr lang="en-GB" i="1">
                            <a:latin typeface="Cambria Math" charset="0"/>
                          </a:rPr>
                          <m:t>𝜌</m:t>
                        </m:r>
                      </m:e>
                      <m:sub>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𝑧</m:t>
                        </m:r>
                      </m:sub>
                    </m:sSub>
                    <m:r>
                      <a:rPr lang="en-US" i="1" dirty="0">
                        <a:latin typeface="Cambria Math" charset="0"/>
                      </a:rPr>
                      <m:t>(</m:t>
                    </m:r>
                    <m:r>
                      <a:rPr lang="en-US" b="0" i="1" dirty="0" smtClean="0">
                        <a:solidFill>
                          <a:srgbClr val="FF0000"/>
                        </a:solidFill>
                        <a:latin typeface="Cambria Math" panose="02040503050406030204" pitchFamily="18" charset="0"/>
                      </a:rPr>
                      <m:t>𝑅</m:t>
                    </m:r>
                    <m:r>
                      <a:rPr lang="en-US" b="0" i="1" dirty="0" smtClean="0">
                        <a:latin typeface="Cambria Math" panose="02040503050406030204" pitchFamily="18" charset="0"/>
                      </a:rPr>
                      <m:t>×</m:t>
                    </m:r>
                    <m:r>
                      <a:rPr lang="en-US" b="0" i="1" dirty="0" smtClean="0">
                        <a:solidFill>
                          <a:srgbClr val="0070C0"/>
                        </a:solidFill>
                        <a:latin typeface="Cambria Math" panose="02040503050406030204" pitchFamily="18" charset="0"/>
                      </a:rPr>
                      <m:t>𝑆</m:t>
                    </m:r>
                    <m:r>
                      <a:rPr lang="en-US" i="1" dirty="0">
                        <a:latin typeface="Cambria Math" charset="0"/>
                      </a:rPr>
                      <m:t>)</m:t>
                    </m:r>
                    <m:r>
                      <m:rPr>
                        <m:nor/>
                      </m:rPr>
                      <a:rPr lang="en-GB" dirty="0"/>
                      <m:t>⋈</m:t>
                    </m:r>
                    <m:r>
                      <a:rPr lang="en-US" b="0" i="1" dirty="0" smtClean="0">
                        <a:solidFill>
                          <a:srgbClr val="00B050"/>
                        </a:solidFill>
                        <a:latin typeface="Cambria Math" panose="02040503050406030204" pitchFamily="18" charset="0"/>
                      </a:rPr>
                      <m:t>𝑇</m:t>
                    </m:r>
                  </m:oMath>
                </a14:m>
                <a:endParaRPr lang="en-GB" dirty="0"/>
              </a:p>
              <a:p>
                <a:pPr marL="201168" lvl="1" indent="0">
                  <a:buNone/>
                </a:pPr>
                <a:endParaRPr lang="en-GB" dirty="0"/>
              </a:p>
              <a:p>
                <a:pPr marL="201168" lvl="1" indent="0">
                  <a:buNone/>
                </a:pPr>
                <a:r>
                  <a:rPr lang="en-GB" dirty="0"/>
                  <a:t>Say the schema for </a:t>
                </a:r>
                <a:r>
                  <a:rPr lang="en-GB" dirty="0">
                    <a:solidFill>
                      <a:srgbClr val="FF0000"/>
                    </a:solidFill>
                  </a:rPr>
                  <a:t>R</a:t>
                </a:r>
                <a:r>
                  <a:rPr lang="en-GB" dirty="0"/>
                  <a:t> was </a:t>
                </a:r>
                <a:r>
                  <a:rPr lang="en-GB" dirty="0">
                    <a:solidFill>
                      <a:srgbClr val="FF0000"/>
                    </a:solidFill>
                  </a:rPr>
                  <a:t>R</a:t>
                </a:r>
                <a:r>
                  <a:rPr lang="en-GB" dirty="0"/>
                  <a:t>(</a:t>
                </a:r>
                <a:r>
                  <a:rPr lang="en-GB" dirty="0" err="1"/>
                  <a:t>a,b</a:t>
                </a:r>
                <a:r>
                  <a:rPr lang="en-GB" dirty="0"/>
                  <a:t>), for </a:t>
                </a:r>
                <a:r>
                  <a:rPr lang="en-GB" dirty="0">
                    <a:solidFill>
                      <a:srgbClr val="0070C0"/>
                    </a:solidFill>
                  </a:rPr>
                  <a:t>S</a:t>
                </a:r>
                <a:r>
                  <a:rPr lang="en-GB" dirty="0"/>
                  <a:t> was </a:t>
                </a:r>
                <a:r>
                  <a:rPr lang="en-GB" dirty="0">
                    <a:solidFill>
                      <a:srgbClr val="0070C0"/>
                    </a:solidFill>
                  </a:rPr>
                  <a:t>S</a:t>
                </a:r>
                <a:r>
                  <a:rPr lang="en-GB" dirty="0"/>
                  <a:t>(</a:t>
                </a:r>
                <a:r>
                  <a:rPr lang="en-GB" dirty="0" err="1"/>
                  <a:t>c,d</a:t>
                </a:r>
                <a:r>
                  <a:rPr lang="en-GB" dirty="0"/>
                  <a:t>) and for </a:t>
                </a:r>
                <a:r>
                  <a:rPr lang="en-GB" dirty="0">
                    <a:solidFill>
                      <a:srgbClr val="00B050"/>
                    </a:solidFill>
                  </a:rPr>
                  <a:t>T</a:t>
                </a:r>
                <a:r>
                  <a:rPr lang="en-GB" dirty="0"/>
                  <a:t> was </a:t>
                </a:r>
                <a:r>
                  <a:rPr lang="en-GB" dirty="0">
                    <a:solidFill>
                      <a:srgbClr val="00B050"/>
                    </a:solidFill>
                  </a:rPr>
                  <a:t>T</a:t>
                </a:r>
                <a:r>
                  <a:rPr lang="en-GB" dirty="0"/>
                  <a:t>(</a:t>
                </a:r>
                <a:r>
                  <a:rPr lang="en-GB" dirty="0" err="1"/>
                  <a:t>e,z</a:t>
                </a:r>
                <a:r>
                  <a:rPr lang="en-GB" dirty="0"/>
                  <a:t>)</a:t>
                </a:r>
              </a:p>
            </p:txBody>
          </p:sp>
        </mc:Choice>
        <mc:Fallback xmlns="">
          <p:sp>
            <p:nvSpPr>
              <p:cNvPr id="3" name="Content Placeholder 2">
                <a:extLst>
                  <a:ext uri="{FF2B5EF4-FFF2-40B4-BE49-F238E27FC236}">
                    <a16:creationId xmlns:a16="http://schemas.microsoft.com/office/drawing/2014/main" id="{ADF0ED79-D935-4FB7-8D36-99813A70A673}"/>
                  </a:ext>
                </a:extLst>
              </p:cNvPr>
              <p:cNvSpPr>
                <a:spLocks noGrp="1" noRot="1" noChangeAspect="1" noMove="1" noResize="1" noEditPoints="1" noAdjustHandles="1" noChangeArrowheads="1" noChangeShapeType="1" noTextEdit="1"/>
              </p:cNvSpPr>
              <p:nvPr>
                <p:ph idx="1"/>
              </p:nvPr>
            </p:nvSpPr>
            <p:spPr>
              <a:blipFill>
                <a:blip r:embed="rId5"/>
                <a:stretch>
                  <a:fillRect l="-606" t="-1667"/>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xmlns="" id="{B1F588D1-4D9C-471F-868D-1EBA80FF1B82}"/>
              </a:ext>
            </a:extLst>
          </p:cNvPr>
          <p:cNvSpPr txBox="1"/>
          <p:nvPr/>
        </p:nvSpPr>
        <p:spPr>
          <a:xfrm>
            <a:off x="5066096" y="2917169"/>
            <a:ext cx="5799826" cy="1449216"/>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wrap="square" lIns="108000" tIns="108000" rIns="108000" bIns="108000" rtlCol="0">
            <a:spAutoFit/>
          </a:bodyPr>
          <a:lstStyle/>
          <a:p>
            <a:r>
              <a:rPr lang="en-US" sz="2000" b="1" dirty="0"/>
              <a:t>SELECT</a:t>
            </a:r>
            <a:r>
              <a:rPr lang="en-US" sz="2000" dirty="0"/>
              <a:t> *</a:t>
            </a:r>
          </a:p>
          <a:p>
            <a:r>
              <a:rPr lang="en-US" sz="2000" b="1" dirty="0"/>
              <a:t>FROM</a:t>
            </a:r>
            <a:r>
              <a:rPr lang="en-US" sz="2000" dirty="0"/>
              <a:t> 	</a:t>
            </a:r>
            <a:r>
              <a:rPr lang="en-US" sz="2000" b="1" dirty="0"/>
              <a:t>(SELECT a AS z, b, c, d</a:t>
            </a:r>
          </a:p>
          <a:p>
            <a:r>
              <a:rPr lang="en-US" sz="2000" b="1" dirty="0"/>
              <a:t>		FROM (SELECT *</a:t>
            </a:r>
          </a:p>
          <a:p>
            <a:r>
              <a:rPr lang="en-US" sz="2000" b="1" dirty="0"/>
              <a:t>			     FROM </a:t>
            </a:r>
            <a:r>
              <a:rPr lang="en-US" sz="2000" b="1" dirty="0">
                <a:solidFill>
                  <a:srgbClr val="FF0000"/>
                </a:solidFill>
              </a:rPr>
              <a:t>R</a:t>
            </a:r>
            <a:r>
              <a:rPr lang="en-US" sz="2000" b="1" dirty="0"/>
              <a:t>, </a:t>
            </a:r>
            <a:r>
              <a:rPr lang="en-US" sz="2000" b="1" dirty="0">
                <a:solidFill>
                  <a:srgbClr val="0070C0"/>
                </a:solidFill>
              </a:rPr>
              <a:t>S</a:t>
            </a:r>
            <a:r>
              <a:rPr lang="en-US" sz="2000" b="1" dirty="0"/>
              <a:t>)) 	NATURAL JOIN </a:t>
            </a:r>
            <a:r>
              <a:rPr lang="en-US" sz="2000" b="1" dirty="0">
                <a:solidFill>
                  <a:srgbClr val="00B050"/>
                </a:solidFill>
              </a:rPr>
              <a:t>T</a:t>
            </a:r>
            <a:r>
              <a:rPr lang="en-US" sz="2000" b="1" dirty="0"/>
              <a:t>;</a:t>
            </a:r>
          </a:p>
        </p:txBody>
      </p:sp>
      <p:sp>
        <p:nvSpPr>
          <p:cNvPr id="5" name="Right Brace 4">
            <a:extLst>
              <a:ext uri="{FF2B5EF4-FFF2-40B4-BE49-F238E27FC236}">
                <a16:creationId xmlns:a16="http://schemas.microsoft.com/office/drawing/2014/main" xmlns="" id="{E7A98479-88C9-4CB0-B7F4-AD69B67F7F09}"/>
              </a:ext>
            </a:extLst>
          </p:cNvPr>
          <p:cNvSpPr/>
          <p:nvPr/>
        </p:nvSpPr>
        <p:spPr>
          <a:xfrm rot="5400000">
            <a:off x="2197018" y="4074559"/>
            <a:ext cx="250257" cy="692393"/>
          </a:xfrm>
          <a:prstGeom prst="rightBrace">
            <a:avLst/>
          </a:prstGeom>
          <a:ln w="635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7" name="Right Brace 6">
            <a:extLst>
              <a:ext uri="{FF2B5EF4-FFF2-40B4-BE49-F238E27FC236}">
                <a16:creationId xmlns:a16="http://schemas.microsoft.com/office/drawing/2014/main" xmlns="" id="{10CD24AA-51CB-46C1-B68F-5DED57FC2895}"/>
              </a:ext>
            </a:extLst>
          </p:cNvPr>
          <p:cNvSpPr/>
          <p:nvPr/>
        </p:nvSpPr>
        <p:spPr>
          <a:xfrm rot="5400000">
            <a:off x="7315782" y="3779206"/>
            <a:ext cx="250257" cy="1211617"/>
          </a:xfrm>
          <a:prstGeom prst="rightBrace">
            <a:avLst/>
          </a:prstGeom>
          <a:ln w="635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Right Brace 8">
            <a:extLst>
              <a:ext uri="{FF2B5EF4-FFF2-40B4-BE49-F238E27FC236}">
                <a16:creationId xmlns:a16="http://schemas.microsoft.com/office/drawing/2014/main" xmlns="" id="{3E8751DE-4D7A-4EFA-83DA-FD49DD2FF387}"/>
              </a:ext>
            </a:extLst>
          </p:cNvPr>
          <p:cNvSpPr/>
          <p:nvPr/>
        </p:nvSpPr>
        <p:spPr>
          <a:xfrm rot="5400000">
            <a:off x="1934770" y="3937440"/>
            <a:ext cx="250257" cy="1216887"/>
          </a:xfrm>
          <a:prstGeom prst="rightBrace">
            <a:avLst/>
          </a:prstGeom>
          <a:ln w="635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1" name="Right Brace 10">
            <a:extLst>
              <a:ext uri="{FF2B5EF4-FFF2-40B4-BE49-F238E27FC236}">
                <a16:creationId xmlns:a16="http://schemas.microsoft.com/office/drawing/2014/main" xmlns="" id="{85AFC1DE-1F1C-44A8-B9E0-5B2BA17F0F13}"/>
              </a:ext>
            </a:extLst>
          </p:cNvPr>
          <p:cNvSpPr/>
          <p:nvPr/>
        </p:nvSpPr>
        <p:spPr>
          <a:xfrm rot="16200000">
            <a:off x="7053653" y="2122423"/>
            <a:ext cx="348923" cy="2264229"/>
          </a:xfrm>
          <a:prstGeom prst="rightBrace">
            <a:avLst/>
          </a:prstGeom>
          <a:ln w="635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1269025249"/>
      </p:ext>
    </p:extLst>
  </p:cSld>
  <p:clrMapOvr>
    <a:masterClrMapping/>
  </p:clrMapOvr>
  <mc:AlternateContent xmlns:mc="http://schemas.openxmlformats.org/markup-compatibility/2006" xmlns:p14="http://schemas.microsoft.com/office/powerpoint/2010/main">
    <mc:Choice Requires="p14">
      <p:transition spd="slow" p14:dur="2000" advTm="185821"/>
    </mc:Choice>
    <mc:Fallback xmlns="">
      <p:transition spd="slow" advTm="18582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11"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7.3"/>
</p:tagLst>
</file>

<file path=ppt/tags/tag2.xml><?xml version="1.0" encoding="utf-8"?>
<p:tagLst xmlns:a="http://schemas.openxmlformats.org/drawingml/2006/main" xmlns:r="http://schemas.openxmlformats.org/officeDocument/2006/relationships" xmlns:p="http://schemas.openxmlformats.org/presentationml/2006/main">
  <p:tag name="TIMING" val="|44|28.9"/>
</p:tagLst>
</file>

<file path=ppt/tags/tag3.xml><?xml version="1.0" encoding="utf-8"?>
<p:tagLst xmlns:a="http://schemas.openxmlformats.org/drawingml/2006/main" xmlns:r="http://schemas.openxmlformats.org/officeDocument/2006/relationships" xmlns:p="http://schemas.openxmlformats.org/presentationml/2006/main">
  <p:tag name="TIMING" val="|26.7|14.5"/>
</p:tagLst>
</file>

<file path=ppt/tags/tag4.xml><?xml version="1.0" encoding="utf-8"?>
<p:tagLst xmlns:a="http://schemas.openxmlformats.org/drawingml/2006/main" xmlns:r="http://schemas.openxmlformats.org/officeDocument/2006/relationships" xmlns:p="http://schemas.openxmlformats.org/presentationml/2006/main">
  <p:tag name="TIMING" val="|110.6|44.2|10.5|33.1"/>
</p:tagLst>
</file>

<file path=ppt/tags/tag5.xml><?xml version="1.0" encoding="utf-8"?>
<p:tagLst xmlns:a="http://schemas.openxmlformats.org/drawingml/2006/main" xmlns:r="http://schemas.openxmlformats.org/officeDocument/2006/relationships" xmlns:p="http://schemas.openxmlformats.org/presentationml/2006/main">
  <p:tag name="TIMING" val="|15.2|55"/>
</p:tagLst>
</file>

<file path=ppt/tags/tag6.xml><?xml version="1.0" encoding="utf-8"?>
<p:tagLst xmlns:a="http://schemas.openxmlformats.org/drawingml/2006/main" xmlns:r="http://schemas.openxmlformats.org/officeDocument/2006/relationships" xmlns:p="http://schemas.openxmlformats.org/presentationml/2006/main">
  <p:tag name="TIMING" val="|48.7|29.1"/>
</p:tagLst>
</file>

<file path=ppt/tags/tag7.xml><?xml version="1.0" encoding="utf-8"?>
<p:tagLst xmlns:a="http://schemas.openxmlformats.org/drawingml/2006/main" xmlns:r="http://schemas.openxmlformats.org/officeDocument/2006/relationships" xmlns:p="http://schemas.openxmlformats.org/presentationml/2006/main">
  <p:tag name="TIMING" val="|59.8|8.1|21.9|9.5|3"/>
</p:tagLst>
</file>

<file path=ppt/tags/tag8.xml><?xml version="1.0" encoding="utf-8"?>
<p:tagLst xmlns:a="http://schemas.openxmlformats.org/drawingml/2006/main" xmlns:r="http://schemas.openxmlformats.org/officeDocument/2006/relationships" xmlns:p="http://schemas.openxmlformats.org/presentationml/2006/main">
  <p:tag name="TIMING" val="|44.3|7.8|11.2|43.7"/>
</p:tagLst>
</file>

<file path=ppt/tags/tag9.xml><?xml version="1.0" encoding="utf-8"?>
<p:tagLst xmlns:a="http://schemas.openxmlformats.org/drawingml/2006/main" xmlns:r="http://schemas.openxmlformats.org/officeDocument/2006/relationships" xmlns:p="http://schemas.openxmlformats.org/presentationml/2006/main">
  <p:tag name="TIMING" val="|14.6|6.4|6.6|20.1|2.2"/>
</p:tagLst>
</file>

<file path=ppt/tags/tag10.xml><?xml version="1.0" encoding="utf-8"?>
<p:tagLst xmlns:a="http://schemas.openxmlformats.org/drawingml/2006/main" xmlns:r="http://schemas.openxmlformats.org/officeDocument/2006/relationships" xmlns:p="http://schemas.openxmlformats.org/presentationml/2006/main">
  <p:tag name="TIMING" val="|59.2|4.8|133.9|10.1"/>
</p:tagLst>
</file>

<file path=ppt/tags/tag11.xml><?xml version="1.0" encoding="utf-8"?>
<p:tagLst xmlns:a="http://schemas.openxmlformats.org/drawingml/2006/main" xmlns:r="http://schemas.openxmlformats.org/officeDocument/2006/relationships" xmlns:p="http://schemas.openxmlformats.org/presentationml/2006/main">
  <p:tag name="TIMING" val="|27.6|10.6|19.7|8.3"/>
</p:tagLst>
</file>

<file path=ppt/tags/tag12.xml><?xml version="1.0" encoding="utf-8"?>
<p:tagLst xmlns:a="http://schemas.openxmlformats.org/drawingml/2006/main" xmlns:r="http://schemas.openxmlformats.org/officeDocument/2006/relationships" xmlns:p="http://schemas.openxmlformats.org/presentationml/2006/main">
  <p:tag name="TIMING" val="|11.2|41.3"/>
</p:tagLst>
</file>

<file path=ppt/tags/tag13.xml><?xml version="1.0" encoding="utf-8"?>
<p:tagLst xmlns:a="http://schemas.openxmlformats.org/drawingml/2006/main" xmlns:r="http://schemas.openxmlformats.org/officeDocument/2006/relationships" xmlns:p="http://schemas.openxmlformats.org/presentationml/2006/main">
  <p:tag name="TIMING" val="|24.4|12.5|6.5|34.5|12.6|32.3|7.9"/>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1696</TotalTime>
  <Words>1079</Words>
  <Application>Microsoft Macintosh PowerPoint</Application>
  <PresentationFormat>Widescreen</PresentationFormat>
  <Paragraphs>392</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Calibri</vt:lpstr>
      <vt:lpstr>Calibri Light</vt:lpstr>
      <vt:lpstr>Cambria Math</vt:lpstr>
      <vt:lpstr>Mangal</vt:lpstr>
      <vt:lpstr>Wingdings</vt:lpstr>
      <vt:lpstr>Retrospect</vt:lpstr>
      <vt:lpstr>SQL Queries – misc. and relational algebra</vt:lpstr>
      <vt:lpstr>Overview of this video</vt:lpstr>
      <vt:lpstr>SQL Queries</vt:lpstr>
      <vt:lpstr>SQL Queries</vt:lpstr>
      <vt:lpstr>Views: as saved queries</vt:lpstr>
      <vt:lpstr>Views: as saved queries</vt:lpstr>
      <vt:lpstr>Views: as virtual tables</vt:lpstr>
      <vt:lpstr>More on views</vt:lpstr>
      <vt:lpstr>Relational Algebra</vt:lpstr>
      <vt:lpstr>Algebra</vt:lpstr>
      <vt:lpstr>Relational algebra</vt:lpstr>
      <vt:lpstr>Projection (π)</vt:lpstr>
      <vt:lpstr>Renaming (ρ)</vt:lpstr>
      <vt:lpstr>Selection (σ)</vt:lpstr>
      <vt:lpstr>Cartesian Product (×)</vt:lpstr>
      <vt:lpstr>Natural Join (⋈) </vt:lpstr>
      <vt:lpstr>Many others…</vt:lpstr>
      <vt:lpstr>Key understanding</vt:lpstr>
    </vt:vector>
  </TitlesOfParts>
  <LinksUpToDate>false</LinksUpToDate>
  <SharedDoc>false</SharedDoc>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Queries – misc. and relational algebra</dc:title>
  <dc:creator>Rasmus Ibsen-Jensen</dc:creator>
  <cp:lastModifiedBy>Ibsen-Jensen, Rasmus</cp:lastModifiedBy>
  <cp:revision>39</cp:revision>
  <dcterms:created xsi:type="dcterms:W3CDTF">2020-09-10T15:17:11Z</dcterms:created>
  <dcterms:modified xsi:type="dcterms:W3CDTF">2022-10-06T17:58:46Z</dcterms:modified>
</cp:coreProperties>
</file>