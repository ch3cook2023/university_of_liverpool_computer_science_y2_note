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54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9" r:id="rId14"/>
    <p:sldId id="365" r:id="rId15"/>
    <p:sldId id="366" r:id="rId16"/>
    <p:sldId id="367" r:id="rId17"/>
    <p:sldId id="3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C4998-FE9E-4F4F-A304-C47A523A3D0C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7F17-8540-46BC-8FE1-C96DC0FA2A65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790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C4998-FE9E-4F4F-A304-C47A523A3D0C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7F17-8540-46BC-8FE1-C96DC0FA2A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488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C4998-FE9E-4F4F-A304-C47A523A3D0C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7F17-8540-46BC-8FE1-C96DC0FA2A65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710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C4998-FE9E-4F4F-A304-C47A523A3D0C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7F17-8540-46BC-8FE1-C96DC0FA2A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26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C4998-FE9E-4F4F-A304-C47A523A3D0C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7F17-8540-46BC-8FE1-C96DC0FA2A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896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C4998-FE9E-4F4F-A304-C47A523A3D0C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7F17-8540-46BC-8FE1-C96DC0FA2A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932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C4998-FE9E-4F4F-A304-C47A523A3D0C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7F17-8540-46BC-8FE1-C96DC0FA2A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150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9C4998-FE9E-4F4F-A304-C47A523A3D0C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1F7F17-8540-46BC-8FE1-C96DC0FA2A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268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C4998-FE9E-4F4F-A304-C47A523A3D0C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7F17-8540-46BC-8FE1-C96DC0FA2A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255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C4998-FE9E-4F4F-A304-C47A523A3D0C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7F17-8540-46BC-8FE1-C96DC0FA2A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2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C4998-FE9E-4F4F-A304-C47A523A3D0C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7F17-8540-46BC-8FE1-C96DC0FA2A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447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9C4998-FE9E-4F4F-A304-C47A523A3D0C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51F7F17-8540-46BC-8FE1-C96DC0FA2A65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06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4052C-93ED-4D83-808A-C60500809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861" y="758952"/>
            <a:ext cx="11343861" cy="3566160"/>
          </a:xfrm>
        </p:spPr>
        <p:txBody>
          <a:bodyPr/>
          <a:lstStyle/>
          <a:p>
            <a:r>
              <a:rPr lang="en-US" dirty="0"/>
              <a:t>SQL Queries – optional part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A02E5-FCFD-460B-9924-DB55BF8155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NOTE: This video is required for the course. The name comes from that It is about the part of queries you do not need to have a valid query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0595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87AB-00C3-4F0C-ABD5-3827C052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F842-B16B-4A9E-872B-51714976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A run through of the optional part of SQL queries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1919403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FF09D-F5C5-4A00-BEEA-568114FE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69A9D-E695-4ED2-B54D-726C967F0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Queries in SQL have the following form:</a:t>
            </a:r>
          </a:p>
          <a:p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961F09-0AB5-46DD-98FF-AC9A06F020DD}"/>
              </a:ext>
            </a:extLst>
          </p:cNvPr>
          <p:cNvSpPr/>
          <p:nvPr/>
        </p:nvSpPr>
        <p:spPr>
          <a:xfrm>
            <a:off x="1567935" y="2366346"/>
            <a:ext cx="4440979" cy="317276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SELECT </a:t>
            </a:r>
          </a:p>
          <a:p>
            <a:r>
              <a:rPr lang="en-US" sz="3200" dirty="0">
                <a:solidFill>
                  <a:srgbClr val="FF0000"/>
                </a:solidFill>
              </a:rPr>
              <a:t>FROM</a:t>
            </a:r>
          </a:p>
          <a:p>
            <a:r>
              <a:rPr lang="en-US" sz="3200" dirty="0">
                <a:solidFill>
                  <a:srgbClr val="0070C0"/>
                </a:solidFill>
              </a:rPr>
              <a:t>WHERE</a:t>
            </a:r>
          </a:p>
          <a:p>
            <a:r>
              <a:rPr lang="en-US" sz="3200" dirty="0">
                <a:solidFill>
                  <a:srgbClr val="0070C0"/>
                </a:solidFill>
              </a:rPr>
              <a:t>GROUP BY</a:t>
            </a:r>
          </a:p>
          <a:p>
            <a:r>
              <a:rPr lang="en-US" sz="3200" dirty="0">
                <a:solidFill>
                  <a:srgbClr val="0070C0"/>
                </a:solidFill>
              </a:rPr>
              <a:t>HAVING</a:t>
            </a:r>
          </a:p>
          <a:p>
            <a:r>
              <a:rPr lang="en-US" sz="3200" dirty="0">
                <a:solidFill>
                  <a:srgbClr val="0070C0"/>
                </a:solidFill>
              </a:rPr>
              <a:t>ORDER BY</a:t>
            </a:r>
          </a:p>
        </p:txBody>
      </p:sp>
      <p:sp>
        <p:nvSpPr>
          <p:cNvPr id="7" name="Rounded Rectangular Callout 9">
            <a:extLst>
              <a:ext uri="{FF2B5EF4-FFF2-40B4-BE49-F238E27FC236}">
                <a16:creationId xmlns:a16="http://schemas.microsoft.com/office/drawing/2014/main" id="{AE8890D6-40CF-45B0-A9F2-78AD639CBB38}"/>
              </a:ext>
            </a:extLst>
          </p:cNvPr>
          <p:cNvSpPr/>
          <p:nvPr/>
        </p:nvSpPr>
        <p:spPr>
          <a:xfrm>
            <a:off x="4501280" y="2830286"/>
            <a:ext cx="4098434" cy="408813"/>
          </a:xfrm>
          <a:prstGeom prst="wedgeRoundRectCallout">
            <a:avLst>
              <a:gd name="adj1" fmla="val -88886"/>
              <a:gd name="adj2" fmla="val -545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Required and discussed in another video</a:t>
            </a:r>
          </a:p>
        </p:txBody>
      </p:sp>
      <p:sp>
        <p:nvSpPr>
          <p:cNvPr id="8" name="Rounded Rectangular Callout 9">
            <a:extLst>
              <a:ext uri="{FF2B5EF4-FFF2-40B4-BE49-F238E27FC236}">
                <a16:creationId xmlns:a16="http://schemas.microsoft.com/office/drawing/2014/main" id="{F8BE2615-20AC-4824-A889-7B9B773DF1B4}"/>
              </a:ext>
            </a:extLst>
          </p:cNvPr>
          <p:cNvSpPr/>
          <p:nvPr/>
        </p:nvSpPr>
        <p:spPr>
          <a:xfrm>
            <a:off x="4628683" y="4223651"/>
            <a:ext cx="5160660" cy="545297"/>
          </a:xfrm>
          <a:prstGeom prst="wedgeRoundRectCallout">
            <a:avLst>
              <a:gd name="adj1" fmla="val -63268"/>
              <a:gd name="adj2" fmla="val 253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Optional (except that HAVING requires a GROUP BY) and discussed in this video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49B51D88-B8B7-4793-B6CD-F352707B968C}"/>
              </a:ext>
            </a:extLst>
          </p:cNvPr>
          <p:cNvSpPr/>
          <p:nvPr/>
        </p:nvSpPr>
        <p:spPr>
          <a:xfrm>
            <a:off x="3418114" y="3618902"/>
            <a:ext cx="435429" cy="166066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FA7C5ADE-13AF-4922-975B-B19AB05276CD}"/>
              </a:ext>
            </a:extLst>
          </p:cNvPr>
          <p:cNvSpPr/>
          <p:nvPr/>
        </p:nvSpPr>
        <p:spPr>
          <a:xfrm>
            <a:off x="2895600" y="2590800"/>
            <a:ext cx="174172" cy="8382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923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C14EE-9514-4175-8F9B-F702D250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64128-B5E4-4591-952E-989569C80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Already mostly covered in video on SQL DML except queries </a:t>
            </a:r>
          </a:p>
          <a:p>
            <a:pPr lvl="1"/>
            <a:r>
              <a:rPr lang="en-US" dirty="0"/>
              <a:t>Because, it was also used in DELETE and UPDATE</a:t>
            </a:r>
          </a:p>
          <a:p>
            <a:r>
              <a:rPr lang="en-US" dirty="0"/>
              <a:t>The exception to that was that some of the things one can write in WHERE clauses (incl. WHERE clauses in DELETE and UPDATE) involves sub-queries</a:t>
            </a:r>
          </a:p>
          <a:p>
            <a:r>
              <a:rPr lang="en-US" dirty="0"/>
              <a:t>Since we will later be using such, it is covered next</a:t>
            </a:r>
          </a:p>
          <a:p>
            <a:endParaRPr lang="en-GB" dirty="0"/>
          </a:p>
          <a:p>
            <a:pPr lvl="1"/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168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612D4-AC0C-45B8-BCF0-8F6FB300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WHERE: IN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20BFC-82E9-4ABD-9F56-08E32B95C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was previously mentioned that IN could be used in WHERE</a:t>
            </a:r>
          </a:p>
          <a:p>
            <a:r>
              <a:rPr lang="en-US" dirty="0"/>
              <a:t>The example used was: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However, instead of providing a list, one can also do a sub-query (here using a similar University database as in the example above):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29056-FC38-4052-815D-383C0CFBF29A}"/>
              </a:ext>
            </a:extLst>
          </p:cNvPr>
          <p:cNvSpPr txBox="1"/>
          <p:nvPr/>
        </p:nvSpPr>
        <p:spPr>
          <a:xfrm>
            <a:off x="1351554" y="2782750"/>
            <a:ext cx="4104456" cy="833663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2000" b="1" dirty="0"/>
              <a:t>DELETE FROM </a:t>
            </a:r>
            <a:r>
              <a:rPr lang="en-US" sz="2000" b="1" dirty="0">
                <a:solidFill>
                  <a:schemeClr val="accent3"/>
                </a:solidFill>
              </a:rPr>
              <a:t>Students</a:t>
            </a:r>
          </a:p>
          <a:p>
            <a:r>
              <a:rPr lang="en-US" sz="2000" b="1" dirty="0"/>
              <a:t>WHERE</a:t>
            </a:r>
            <a:r>
              <a:rPr lang="en-US" sz="2000" b="1" dirty="0">
                <a:solidFill>
                  <a:schemeClr val="accent3"/>
                </a:solidFill>
              </a:rPr>
              <a:t> </a:t>
            </a:r>
            <a:r>
              <a:rPr lang="en-US" sz="2000" b="1" dirty="0">
                <a:solidFill>
                  <a:srgbClr val="00B0F0"/>
                </a:solidFill>
              </a:rPr>
              <a:t>name </a:t>
            </a:r>
            <a:r>
              <a:rPr lang="en-US" sz="2000" b="1" dirty="0"/>
              <a:t>IN </a:t>
            </a:r>
            <a:r>
              <a:rPr lang="en-US" sz="2000" b="1" dirty="0">
                <a:solidFill>
                  <a:schemeClr val="tx1"/>
                </a:solidFill>
              </a:rPr>
              <a:t>(</a:t>
            </a:r>
            <a:r>
              <a:rPr lang="en-US" sz="2000" b="1" dirty="0"/>
              <a:t>‘</a:t>
            </a:r>
            <a:r>
              <a:rPr lang="en-US" sz="2000" b="1" dirty="0" err="1"/>
              <a:t>John’,’Sebastian</a:t>
            </a:r>
            <a:r>
              <a:rPr lang="en-US" sz="2000" b="1" dirty="0"/>
              <a:t>’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  <a:r>
              <a:rPr lang="en-US" sz="2000" dirty="0"/>
              <a:t>;</a:t>
            </a:r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12106C-0E78-457D-B709-EE0FF9ABA4A3}"/>
              </a:ext>
            </a:extLst>
          </p:cNvPr>
          <p:cNvSpPr txBox="1"/>
          <p:nvPr/>
        </p:nvSpPr>
        <p:spPr>
          <a:xfrm>
            <a:off x="6126480" y="2767871"/>
            <a:ext cx="4104456" cy="114143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2000" b="1" dirty="0"/>
              <a:t>SELECT *</a:t>
            </a:r>
          </a:p>
          <a:p>
            <a:r>
              <a:rPr lang="en-US" sz="2000" b="1" dirty="0"/>
              <a:t>FROM </a:t>
            </a:r>
            <a:r>
              <a:rPr lang="en-US" sz="2000" b="1" dirty="0">
                <a:solidFill>
                  <a:schemeClr val="accent3"/>
                </a:solidFill>
              </a:rPr>
              <a:t>Students</a:t>
            </a:r>
          </a:p>
          <a:p>
            <a:r>
              <a:rPr lang="en-US" sz="2000" b="1" dirty="0"/>
              <a:t>WHERE</a:t>
            </a:r>
            <a:r>
              <a:rPr lang="en-US" sz="2000" b="1" dirty="0">
                <a:solidFill>
                  <a:schemeClr val="accent3"/>
                </a:solidFill>
              </a:rPr>
              <a:t> </a:t>
            </a:r>
            <a:r>
              <a:rPr lang="en-US" sz="2000" b="1" dirty="0">
                <a:solidFill>
                  <a:srgbClr val="00B0F0"/>
                </a:solidFill>
              </a:rPr>
              <a:t>name </a:t>
            </a:r>
            <a:r>
              <a:rPr lang="en-US" sz="2000" b="1" dirty="0"/>
              <a:t>IN </a:t>
            </a:r>
            <a:r>
              <a:rPr lang="en-US" sz="2000" b="1" dirty="0">
                <a:solidFill>
                  <a:schemeClr val="tx1"/>
                </a:solidFill>
              </a:rPr>
              <a:t>(</a:t>
            </a:r>
            <a:r>
              <a:rPr lang="en-US" sz="2000" b="1" dirty="0"/>
              <a:t>‘</a:t>
            </a:r>
            <a:r>
              <a:rPr lang="en-US" sz="2000" b="1" dirty="0" err="1"/>
              <a:t>John’,’Sebastian</a:t>
            </a:r>
            <a:r>
              <a:rPr lang="en-US" sz="2000" b="1" dirty="0"/>
              <a:t>’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  <a:r>
              <a:rPr lang="en-US" sz="2000" dirty="0"/>
              <a:t>;</a:t>
            </a:r>
            <a:endParaRPr lang="en-US" sz="2000" b="1" dirty="0"/>
          </a:p>
        </p:txBody>
      </p:sp>
      <p:sp>
        <p:nvSpPr>
          <p:cNvPr id="6" name="Rounded Rectangular Callout 9">
            <a:extLst>
              <a:ext uri="{FF2B5EF4-FFF2-40B4-BE49-F238E27FC236}">
                <a16:creationId xmlns:a16="http://schemas.microsoft.com/office/drawing/2014/main" id="{4F140F87-21B0-4096-A0BC-4152DEF3F4D0}"/>
              </a:ext>
            </a:extLst>
          </p:cNvPr>
          <p:cNvSpPr/>
          <p:nvPr/>
        </p:nvSpPr>
        <p:spPr>
          <a:xfrm>
            <a:off x="7679908" y="1328547"/>
            <a:ext cx="4098434" cy="408813"/>
          </a:xfrm>
          <a:prstGeom prst="wedgeRoundRectCallout">
            <a:avLst>
              <a:gd name="adj1" fmla="val -48514"/>
              <a:gd name="adj2" fmla="val 27946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Similar query with 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3BDE87-1694-4D33-B9DB-FBE546D87B08}"/>
              </a:ext>
            </a:extLst>
          </p:cNvPr>
          <p:cNvSpPr txBox="1"/>
          <p:nvPr/>
        </p:nvSpPr>
        <p:spPr>
          <a:xfrm>
            <a:off x="1351554" y="4836029"/>
            <a:ext cx="4104456" cy="114143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2000" b="1" dirty="0"/>
              <a:t>DELETE FROM </a:t>
            </a:r>
            <a:r>
              <a:rPr lang="en-US" sz="2000" b="1" dirty="0">
                <a:solidFill>
                  <a:schemeClr val="accent3"/>
                </a:solidFill>
              </a:rPr>
              <a:t>Students</a:t>
            </a:r>
          </a:p>
          <a:p>
            <a:r>
              <a:rPr lang="en-US" sz="2000" b="1" dirty="0"/>
              <a:t>WHERE</a:t>
            </a:r>
            <a:r>
              <a:rPr lang="en-US" sz="2000" b="1" dirty="0">
                <a:solidFill>
                  <a:schemeClr val="accent3"/>
                </a:solidFill>
              </a:rPr>
              <a:t> </a:t>
            </a:r>
            <a:r>
              <a:rPr lang="en-US" sz="2000" b="1" dirty="0">
                <a:solidFill>
                  <a:srgbClr val="00B0F0"/>
                </a:solidFill>
              </a:rPr>
              <a:t>name </a:t>
            </a:r>
            <a:r>
              <a:rPr lang="en-US" sz="2000" b="1" dirty="0"/>
              <a:t>IN </a:t>
            </a:r>
            <a:r>
              <a:rPr lang="en-US" sz="2000" b="1" dirty="0">
                <a:solidFill>
                  <a:schemeClr val="tx1"/>
                </a:solidFill>
              </a:rPr>
              <a:t>(</a:t>
            </a:r>
            <a:r>
              <a:rPr lang="en-US" sz="2000" b="1" dirty="0"/>
              <a:t>SELECT name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				FROM </a:t>
            </a:r>
            <a:r>
              <a:rPr lang="en-US" sz="2000" b="1" dirty="0">
                <a:solidFill>
                  <a:srgbClr val="FF0000"/>
                </a:solidFill>
              </a:rPr>
              <a:t>Lecturers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  <a:r>
              <a:rPr lang="en-US" sz="2000" dirty="0"/>
              <a:t>;</a:t>
            </a:r>
            <a:endParaRPr 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0116D3-63FE-4931-AEF4-317660A5A1C0}"/>
              </a:ext>
            </a:extLst>
          </p:cNvPr>
          <p:cNvSpPr txBox="1"/>
          <p:nvPr/>
        </p:nvSpPr>
        <p:spPr>
          <a:xfrm>
            <a:off x="6096000" y="4781842"/>
            <a:ext cx="4104456" cy="144921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2000" b="1" dirty="0"/>
              <a:t>SELECT *</a:t>
            </a:r>
          </a:p>
          <a:p>
            <a:r>
              <a:rPr lang="en-US" sz="2000" b="1" dirty="0"/>
              <a:t>FROM </a:t>
            </a:r>
            <a:r>
              <a:rPr lang="en-US" sz="2000" b="1" dirty="0">
                <a:solidFill>
                  <a:schemeClr val="accent3"/>
                </a:solidFill>
              </a:rPr>
              <a:t>Students</a:t>
            </a:r>
          </a:p>
          <a:p>
            <a:r>
              <a:rPr lang="en-US" sz="2000" b="1" dirty="0"/>
              <a:t>WHERE</a:t>
            </a:r>
            <a:r>
              <a:rPr lang="en-US" sz="2000" b="1" dirty="0">
                <a:solidFill>
                  <a:schemeClr val="accent3"/>
                </a:solidFill>
              </a:rPr>
              <a:t> </a:t>
            </a:r>
            <a:r>
              <a:rPr lang="en-US" sz="2000" b="1" dirty="0">
                <a:solidFill>
                  <a:srgbClr val="00B0F0"/>
                </a:solidFill>
              </a:rPr>
              <a:t>name </a:t>
            </a:r>
            <a:r>
              <a:rPr lang="en-US" sz="2000" b="1" dirty="0"/>
              <a:t>IN </a:t>
            </a:r>
            <a:r>
              <a:rPr lang="en-US" sz="2000" b="1" dirty="0">
                <a:solidFill>
                  <a:schemeClr val="tx1"/>
                </a:solidFill>
              </a:rPr>
              <a:t>(</a:t>
            </a:r>
            <a:r>
              <a:rPr lang="en-US" sz="2000" b="1" dirty="0"/>
              <a:t>SELECT name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				FROM </a:t>
            </a:r>
            <a:r>
              <a:rPr lang="en-US" sz="2000" b="1" dirty="0">
                <a:solidFill>
                  <a:srgbClr val="FF0000"/>
                </a:solidFill>
              </a:rPr>
              <a:t>Lecturers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  <a:r>
              <a:rPr lang="en-US" sz="2000" dirty="0"/>
              <a:t>;</a:t>
            </a:r>
            <a:endParaRPr 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E21F42-5DFC-459B-8E2D-2034D5BB1830}"/>
              </a:ext>
            </a:extLst>
          </p:cNvPr>
          <p:cNvSpPr txBox="1"/>
          <p:nvPr/>
        </p:nvSpPr>
        <p:spPr>
          <a:xfrm>
            <a:off x="5584860" y="2969258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01F834-636E-45AB-8603-1729ED9C6BDD}"/>
              </a:ext>
            </a:extLst>
          </p:cNvPr>
          <p:cNvSpPr txBox="1"/>
          <p:nvPr/>
        </p:nvSpPr>
        <p:spPr>
          <a:xfrm>
            <a:off x="5584860" y="5053224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934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612D4-AC0C-45B8-BCF0-8F6FB300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WHERE: EXISTS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20BFC-82E9-4ABD-9F56-08E32B95C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EXISTS is a generalization of IN</a:t>
            </a:r>
          </a:p>
          <a:p>
            <a:r>
              <a:rPr lang="en-US" dirty="0"/>
              <a:t>E.g. continuing with the example University database mentioned on the last slide, as we saw IN can be used to find the students with the same first name as a lecturer, but not (nicely) find the students with the same first AND last name as lecturer</a:t>
            </a:r>
          </a:p>
          <a:p>
            <a:r>
              <a:rPr lang="en-US" dirty="0"/>
              <a:t>In essence, with EXISTS you write a sub-query and if it returns something, the current row will be kept otherwise thrown out. You can use attributes from the current row in the sub-query </a:t>
            </a:r>
          </a:p>
          <a:p>
            <a:r>
              <a:rPr lang="en-US" dirty="0"/>
              <a:t>EXISTS can handle such issues, e.g.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B328FE-ACF5-4BC5-8D4D-B3BB2DEB7F0D}"/>
              </a:ext>
            </a:extLst>
          </p:cNvPr>
          <p:cNvSpPr txBox="1"/>
          <p:nvPr/>
        </p:nvSpPr>
        <p:spPr>
          <a:xfrm>
            <a:off x="386443" y="4389715"/>
            <a:ext cx="11419114" cy="175699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2000" b="1" dirty="0"/>
              <a:t>SELECT *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FROM </a:t>
            </a:r>
            <a:r>
              <a:rPr lang="en-US" sz="2000" b="1" dirty="0">
                <a:solidFill>
                  <a:schemeClr val="accent3"/>
                </a:solidFill>
              </a:rPr>
              <a:t>Students</a:t>
            </a:r>
          </a:p>
          <a:p>
            <a:r>
              <a:rPr lang="en-US" sz="2000" b="1" dirty="0"/>
              <a:t>WHERE</a:t>
            </a:r>
            <a:r>
              <a:rPr lang="en-US" sz="2000" b="1" dirty="0">
                <a:solidFill>
                  <a:schemeClr val="accent3"/>
                </a:solidFill>
              </a:rPr>
              <a:t> </a:t>
            </a:r>
            <a:r>
              <a:rPr lang="en-US" sz="2000" b="1" dirty="0"/>
              <a:t>EXISTS	</a:t>
            </a:r>
            <a:r>
              <a:rPr lang="en-US" sz="2000" b="1" dirty="0">
                <a:solidFill>
                  <a:schemeClr val="tx1"/>
                </a:solidFill>
              </a:rPr>
              <a:t>(</a:t>
            </a:r>
            <a:r>
              <a:rPr lang="en-US" sz="2000" b="1" dirty="0"/>
              <a:t>SELECT 1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				FROM </a:t>
            </a:r>
            <a:r>
              <a:rPr lang="en-US" sz="2000" b="1" dirty="0">
                <a:solidFill>
                  <a:srgbClr val="FF0000"/>
                </a:solidFill>
              </a:rPr>
              <a:t>Lecturers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				</a:t>
            </a:r>
            <a:r>
              <a:rPr lang="en-US" sz="2000" b="1" dirty="0">
                <a:solidFill>
                  <a:schemeClr val="tx1"/>
                </a:solidFill>
              </a:rPr>
              <a:t>WHERE </a:t>
            </a:r>
            <a:r>
              <a:rPr lang="en-US" sz="2000" b="1" dirty="0">
                <a:solidFill>
                  <a:schemeClr val="accent3"/>
                </a:solidFill>
              </a:rPr>
              <a:t>Students</a:t>
            </a:r>
            <a:r>
              <a:rPr lang="en-US" sz="2000" b="1" dirty="0">
                <a:solidFill>
                  <a:schemeClr val="tx1"/>
                </a:solidFill>
              </a:rPr>
              <a:t>.name=</a:t>
            </a:r>
            <a:r>
              <a:rPr lang="en-US" sz="2000" b="1" dirty="0">
                <a:solidFill>
                  <a:srgbClr val="FF0000"/>
                </a:solidFill>
              </a:rPr>
              <a:t>Lecturers</a:t>
            </a:r>
            <a:r>
              <a:rPr lang="en-US" sz="2000" b="1" dirty="0">
                <a:solidFill>
                  <a:schemeClr val="tx1"/>
                </a:solidFill>
              </a:rPr>
              <a:t>.name AND </a:t>
            </a:r>
            <a:r>
              <a:rPr lang="en-US" sz="2000" b="1" dirty="0" err="1">
                <a:solidFill>
                  <a:schemeClr val="accent3"/>
                </a:solidFill>
              </a:rPr>
              <a:t>Students</a:t>
            </a:r>
            <a:r>
              <a:rPr lang="en-US" sz="2000" b="1" dirty="0" err="1">
                <a:solidFill>
                  <a:schemeClr val="tx1"/>
                </a:solidFill>
              </a:rPr>
              <a:t>.last_name</a:t>
            </a:r>
            <a:r>
              <a:rPr lang="en-US" sz="2000" b="1" dirty="0">
                <a:solidFill>
                  <a:schemeClr val="tx1"/>
                </a:solidFill>
              </a:rPr>
              <a:t>=</a:t>
            </a:r>
            <a:r>
              <a:rPr lang="en-US" sz="2000" b="1" dirty="0" err="1">
                <a:solidFill>
                  <a:srgbClr val="FF0000"/>
                </a:solidFill>
              </a:rPr>
              <a:t>Lecturers</a:t>
            </a:r>
            <a:r>
              <a:rPr lang="en-US" sz="2000" b="1" dirty="0" err="1">
                <a:solidFill>
                  <a:schemeClr val="tx1"/>
                </a:solidFill>
              </a:rPr>
              <a:t>.last_name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  <a:r>
              <a:rPr lang="en-US" sz="2000" dirty="0"/>
              <a:t>;</a:t>
            </a:r>
            <a:endParaRPr lang="en-US" sz="2000" b="1" dirty="0"/>
          </a:p>
        </p:txBody>
      </p:sp>
      <p:sp>
        <p:nvSpPr>
          <p:cNvPr id="14" name="Rounded Rectangular Callout 9">
            <a:extLst>
              <a:ext uri="{FF2B5EF4-FFF2-40B4-BE49-F238E27FC236}">
                <a16:creationId xmlns:a16="http://schemas.microsoft.com/office/drawing/2014/main" id="{2AD64824-C216-4BC8-8A3A-847565A720FE}"/>
              </a:ext>
            </a:extLst>
          </p:cNvPr>
          <p:cNvSpPr/>
          <p:nvPr/>
        </p:nvSpPr>
        <p:spPr>
          <a:xfrm>
            <a:off x="5089108" y="3962400"/>
            <a:ext cx="4098434" cy="631721"/>
          </a:xfrm>
          <a:prstGeom prst="wedgeRoundRectCallout">
            <a:avLst>
              <a:gd name="adj1" fmla="val -91808"/>
              <a:gd name="adj2" fmla="val 14647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It is common to use the constant 1 when we just want to have an output or not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7522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9EA7D-43B1-425B-8074-A1A255AC1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WHERE: Semi-join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3CFB-8CF2-443A-A901-AB195F611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types of joins are done in the FROM clause</a:t>
            </a:r>
          </a:p>
          <a:p>
            <a:pPr lvl="1"/>
            <a:r>
              <a:rPr lang="en-US" dirty="0"/>
              <a:t>See the video on the required part of SQL queries</a:t>
            </a:r>
          </a:p>
          <a:p>
            <a:r>
              <a:rPr lang="en-US" dirty="0"/>
              <a:t>There is 1 exception though, which is semi-joins, which are done in WHERE clauses</a:t>
            </a:r>
          </a:p>
          <a:p>
            <a:r>
              <a:rPr lang="en-US" dirty="0"/>
              <a:t>A (left) semi-join between two tables A and B, finds the subset of rows in A that would be used to form some row of the natural join of A and B</a:t>
            </a:r>
          </a:p>
          <a:p>
            <a:pPr lvl="1"/>
            <a:r>
              <a:rPr lang="en-US" dirty="0"/>
              <a:t>A right semi-join would find the subset of B instead</a:t>
            </a:r>
          </a:p>
          <a:p>
            <a:r>
              <a:rPr lang="en-US" dirty="0"/>
              <a:t>These are done using EXISTS (or IN, if there is only one shared attribute)</a:t>
            </a:r>
          </a:p>
          <a:p>
            <a:r>
              <a:rPr lang="en-GB" dirty="0"/>
              <a:t>The example we saw of EXISTS was really a left semi-join of </a:t>
            </a:r>
            <a:r>
              <a:rPr lang="en-GB" dirty="0">
                <a:solidFill>
                  <a:schemeClr val="accent3"/>
                </a:solidFill>
              </a:rPr>
              <a:t>Students</a:t>
            </a:r>
            <a:r>
              <a:rPr lang="en-GB" dirty="0"/>
              <a:t> with </a:t>
            </a:r>
            <a:r>
              <a:rPr lang="en-GB" dirty="0">
                <a:solidFill>
                  <a:srgbClr val="FF0000"/>
                </a:solidFill>
              </a:rPr>
              <a:t>Lecturers</a:t>
            </a:r>
          </a:p>
          <a:p>
            <a:pPr lvl="1"/>
            <a:r>
              <a:rPr lang="en-GB" dirty="0"/>
              <a:t>We only kept the rows from students that had a matching first and last name as a lecturer, which were their common attributes</a:t>
            </a:r>
          </a:p>
          <a:p>
            <a:pPr lvl="1"/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2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25586-A232-40B2-9ECC-38EFFF16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WHERE: Semi-join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78420-9768-41EA-A2C2-214FA2A52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(This was the example for NATURAL JOIN)</a:t>
            </a:r>
          </a:p>
          <a:p>
            <a:r>
              <a:rPr lang="en-US" dirty="0"/>
              <a:t>Say that we want to left semi-join </a:t>
            </a:r>
            <a:r>
              <a:rPr lang="en-US" sz="1800" b="1" dirty="0">
                <a:solidFill>
                  <a:srgbClr val="0070C0"/>
                </a:solidFill>
              </a:rPr>
              <a:t>Employees</a:t>
            </a:r>
            <a:r>
              <a:rPr lang="en-US" dirty="0"/>
              <a:t> to </a:t>
            </a:r>
            <a:r>
              <a:rPr lang="en-US" sz="1800" b="1" dirty="0">
                <a:solidFill>
                  <a:srgbClr val="FF0000"/>
                </a:solidFill>
              </a:rPr>
              <a:t>Transactions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DA6AF9-8020-41AA-A168-AF1993C02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54806"/>
              </p:ext>
            </p:extLst>
          </p:nvPr>
        </p:nvGraphicFramePr>
        <p:xfrm>
          <a:off x="6387549" y="577724"/>
          <a:ext cx="5716894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78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birthday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family_name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2000-02-05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David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Taylor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921F9C2-2C3B-4F89-B99C-A45F670DE3B1}"/>
              </a:ext>
            </a:extLst>
          </p:cNvPr>
          <p:cNvSpPr txBox="1"/>
          <p:nvPr/>
        </p:nvSpPr>
        <p:spPr>
          <a:xfrm>
            <a:off x="6292054" y="208392"/>
            <a:ext cx="121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Employees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6CA70D-AA7F-48BE-9446-0998C4679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106347"/>
              </p:ext>
            </p:extLst>
          </p:nvPr>
        </p:nvGraphicFramePr>
        <p:xfrm>
          <a:off x="7506746" y="2425336"/>
          <a:ext cx="4595889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7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8948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9BC8FD6-4F65-4B39-A1E3-191FF0F8089C}"/>
              </a:ext>
            </a:extLst>
          </p:cNvPr>
          <p:cNvSpPr txBox="1"/>
          <p:nvPr/>
        </p:nvSpPr>
        <p:spPr>
          <a:xfrm>
            <a:off x="7431623" y="2056004"/>
            <a:ext cx="1376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Transactions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7A75E5-AE0E-4DFA-8A80-29E0410E9498}"/>
              </a:ext>
            </a:extLst>
          </p:cNvPr>
          <p:cNvSpPr/>
          <p:nvPr/>
        </p:nvSpPr>
        <p:spPr>
          <a:xfrm>
            <a:off x="-1" y="2622388"/>
            <a:ext cx="7306715" cy="268032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SELECT *</a:t>
            </a:r>
          </a:p>
          <a:p>
            <a:r>
              <a:rPr lang="en-US" sz="3200" dirty="0">
                <a:solidFill>
                  <a:schemeClr val="tx1"/>
                </a:solidFill>
              </a:rPr>
              <a:t>FROM </a:t>
            </a:r>
            <a:r>
              <a:rPr lang="en-US" sz="3200" dirty="0">
                <a:solidFill>
                  <a:srgbClr val="0070C0"/>
                </a:solidFill>
              </a:rPr>
              <a:t>Employees E</a:t>
            </a:r>
          </a:p>
          <a:p>
            <a:r>
              <a:rPr lang="en-US" sz="3200" dirty="0">
                <a:solidFill>
                  <a:schemeClr val="tx1"/>
                </a:solidFill>
              </a:rPr>
              <a:t>WHERE EXISTS	(SELECT 1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				FROM </a:t>
            </a:r>
            <a:r>
              <a:rPr lang="en-US" sz="3200" b="1" dirty="0">
                <a:solidFill>
                  <a:srgbClr val="FF0000"/>
                </a:solidFill>
              </a:rPr>
              <a:t>Transactions T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				WHERE </a:t>
            </a:r>
            <a:r>
              <a:rPr lang="en-US" sz="3200" dirty="0" err="1">
                <a:solidFill>
                  <a:srgbClr val="0070C0"/>
                </a:solidFill>
              </a:rPr>
              <a:t>E</a:t>
            </a:r>
            <a:r>
              <a:rPr lang="en-US" sz="3200" dirty="0" err="1">
                <a:solidFill>
                  <a:schemeClr val="tx1"/>
                </a:solidFill>
              </a:rPr>
              <a:t>.e_id</a:t>
            </a:r>
            <a:r>
              <a:rPr lang="en-US" sz="3200" dirty="0">
                <a:solidFill>
                  <a:schemeClr val="tx1"/>
                </a:solidFill>
              </a:rPr>
              <a:t>=</a:t>
            </a:r>
            <a:r>
              <a:rPr lang="en-US" sz="3200" b="1" dirty="0" err="1">
                <a:solidFill>
                  <a:srgbClr val="FF0000"/>
                </a:solidFill>
              </a:rPr>
              <a:t>T</a:t>
            </a:r>
            <a:r>
              <a:rPr lang="en-US" sz="3200" dirty="0" err="1">
                <a:solidFill>
                  <a:schemeClr val="tx1"/>
                </a:solidFill>
              </a:rPr>
              <a:t>.e_id</a:t>
            </a:r>
            <a:r>
              <a:rPr lang="en-US" sz="3200" dirty="0">
                <a:solidFill>
                  <a:schemeClr val="tx1"/>
                </a:solidFill>
              </a:rPr>
              <a:t>);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AA3A46C-361B-44BA-BDF0-2BB1683D0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119360"/>
              </p:ext>
            </p:extLst>
          </p:nvPr>
        </p:nvGraphicFramePr>
        <p:xfrm>
          <a:off x="575160" y="5264091"/>
          <a:ext cx="5716894" cy="11074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78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birthday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family_name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Taylor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1EB0120-F27B-4684-9215-75B5AEC7580C}"/>
              </a:ext>
            </a:extLst>
          </p:cNvPr>
          <p:cNvSpPr txBox="1"/>
          <p:nvPr/>
        </p:nvSpPr>
        <p:spPr>
          <a:xfrm>
            <a:off x="7431623" y="4272948"/>
            <a:ext cx="46838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Observe: Only 1 Anne row in output</a:t>
            </a:r>
          </a:p>
          <a:p>
            <a:r>
              <a:rPr lang="en-US" dirty="0"/>
              <a:t>even though two transactions were done by her</a:t>
            </a:r>
          </a:p>
          <a:p>
            <a:r>
              <a:rPr lang="en-US" dirty="0"/>
              <a:t>(the query makes it clear why it happens, but it </a:t>
            </a:r>
            <a:br>
              <a:rPr lang="en-US" dirty="0"/>
            </a:br>
            <a:r>
              <a:rPr lang="en-US" dirty="0"/>
              <a:t>is part of the semi-join definition)</a:t>
            </a:r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D64D8A-E673-4B48-B7C7-8615B1A67D79}"/>
              </a:ext>
            </a:extLst>
          </p:cNvPr>
          <p:cNvCxnSpPr>
            <a:cxnSpLocks/>
          </p:cNvCxnSpPr>
          <p:nvPr/>
        </p:nvCxnSpPr>
        <p:spPr>
          <a:xfrm flipH="1">
            <a:off x="7306714" y="2184681"/>
            <a:ext cx="135796" cy="43770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EBA193-5188-44D0-8A31-609564A5EC9D}"/>
              </a:ext>
            </a:extLst>
          </p:cNvPr>
          <p:cNvCxnSpPr>
            <a:cxnSpLocks/>
          </p:cNvCxnSpPr>
          <p:nvPr/>
        </p:nvCxnSpPr>
        <p:spPr>
          <a:xfrm flipH="1">
            <a:off x="7306714" y="3706564"/>
            <a:ext cx="171463" cy="25568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867188F-0A8F-4DC7-BA6F-D1FB5030E471}"/>
              </a:ext>
            </a:extLst>
          </p:cNvPr>
          <p:cNvCxnSpPr>
            <a:cxnSpLocks/>
          </p:cNvCxnSpPr>
          <p:nvPr/>
        </p:nvCxnSpPr>
        <p:spPr>
          <a:xfrm flipH="1">
            <a:off x="6397128" y="5345437"/>
            <a:ext cx="171463" cy="25568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22584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A3E0-2C1F-49B9-8D2F-6156E2FB4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C82F2-3BBB-4DC2-A124-4BF60C792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321834" cy="4023360"/>
          </a:xfrm>
        </p:spPr>
        <p:txBody>
          <a:bodyPr/>
          <a:lstStyle/>
          <a:p>
            <a:r>
              <a:rPr lang="en-US" dirty="0"/>
              <a:t>Instead of first discussing how it is used/what it does, I will start by what GROUP BY is used for</a:t>
            </a:r>
          </a:p>
          <a:p>
            <a:r>
              <a:rPr lang="en-US" dirty="0"/>
              <a:t>Say I want to know how many transactions Anne (i.e. </a:t>
            </a:r>
            <a:r>
              <a:rPr lang="en-US" dirty="0" err="1"/>
              <a:t>e_id</a:t>
            </a:r>
            <a:r>
              <a:rPr lang="en-US" dirty="0"/>
              <a:t>=1) was part of: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8F40F-0102-4EBA-B986-D9DCB7A65F8A}"/>
              </a:ext>
            </a:extLst>
          </p:cNvPr>
          <p:cNvSpPr txBox="1"/>
          <p:nvPr/>
        </p:nvSpPr>
        <p:spPr>
          <a:xfrm>
            <a:off x="961209" y="2843972"/>
            <a:ext cx="5165271" cy="114143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2000" b="1" dirty="0"/>
              <a:t>SELECT </a:t>
            </a:r>
            <a:r>
              <a:rPr lang="en-US" sz="2000" b="1" dirty="0" err="1"/>
              <a:t>e_id</a:t>
            </a:r>
            <a:r>
              <a:rPr lang="en-US" sz="2000" b="1" dirty="0"/>
              <a:t>, COUNT(</a:t>
            </a:r>
            <a:r>
              <a:rPr lang="en-US" sz="2000" b="1" dirty="0" err="1"/>
              <a:t>t_id</a:t>
            </a:r>
            <a:r>
              <a:rPr lang="en-US" sz="2000" b="1" dirty="0"/>
              <a:t>)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FROM </a:t>
            </a:r>
            <a:r>
              <a:rPr lang="en-US" sz="2000" b="1" dirty="0">
                <a:solidFill>
                  <a:srgbClr val="FF0000"/>
                </a:solidFill>
              </a:rPr>
              <a:t>Transactions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WHERE </a:t>
            </a:r>
            <a:r>
              <a:rPr lang="en-US" sz="2000" b="1" dirty="0" err="1"/>
              <a:t>e_id</a:t>
            </a:r>
            <a:r>
              <a:rPr lang="en-US" sz="2000" b="1" dirty="0"/>
              <a:t>=1;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503BEA-6C2E-4853-920B-4D989A084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372356"/>
              </p:ext>
            </p:extLst>
          </p:nvPr>
        </p:nvGraphicFramePr>
        <p:xfrm>
          <a:off x="6561609" y="2852839"/>
          <a:ext cx="5510648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78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4745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birthday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family_name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2000-02-05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David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Taylor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6953378-F09E-4628-BB1E-7C6E0E7DAAFE}"/>
              </a:ext>
            </a:extLst>
          </p:cNvPr>
          <p:cNvSpPr txBox="1"/>
          <p:nvPr/>
        </p:nvSpPr>
        <p:spPr>
          <a:xfrm>
            <a:off x="6466114" y="2483507"/>
            <a:ext cx="121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Employees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192254D-5252-4F97-9280-505804F19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499666"/>
              </p:ext>
            </p:extLst>
          </p:nvPr>
        </p:nvGraphicFramePr>
        <p:xfrm>
          <a:off x="6561609" y="4700451"/>
          <a:ext cx="4595889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7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8948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D077FAC-98BE-4D71-883E-8A19963AFE25}"/>
              </a:ext>
            </a:extLst>
          </p:cNvPr>
          <p:cNvSpPr txBox="1"/>
          <p:nvPr/>
        </p:nvSpPr>
        <p:spPr>
          <a:xfrm>
            <a:off x="6486486" y="4331119"/>
            <a:ext cx="1376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Transactions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8C379A-D2A3-49C6-971C-7E6DD073F15A}"/>
              </a:ext>
            </a:extLst>
          </p:cNvPr>
          <p:cNvCxnSpPr>
            <a:cxnSpLocks/>
          </p:cNvCxnSpPr>
          <p:nvPr/>
        </p:nvCxnSpPr>
        <p:spPr>
          <a:xfrm flipH="1" flipV="1">
            <a:off x="6201603" y="3985411"/>
            <a:ext cx="360007" cy="84288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353617D-B72B-41AD-A9DB-9024377FA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002883"/>
              </p:ext>
            </p:extLst>
          </p:nvPr>
        </p:nvGraphicFramePr>
        <p:xfrm>
          <a:off x="1062025" y="4545633"/>
          <a:ext cx="2767420" cy="11074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1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COUNT(</a:t>
                      </a:r>
                      <a:r>
                        <a:rPr lang="en-US" dirty="0" err="1"/>
                        <a:t>t_id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633E6B-1BC0-4EEF-9F31-DDC1EDF3C5BF}"/>
              </a:ext>
            </a:extLst>
          </p:cNvPr>
          <p:cNvCxnSpPr>
            <a:cxnSpLocks/>
          </p:cNvCxnSpPr>
          <p:nvPr/>
        </p:nvCxnSpPr>
        <p:spPr>
          <a:xfrm flipH="1">
            <a:off x="2990239" y="4060267"/>
            <a:ext cx="201637" cy="38660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ular Callout 9">
            <a:extLst>
              <a:ext uri="{FF2B5EF4-FFF2-40B4-BE49-F238E27FC236}">
                <a16:creationId xmlns:a16="http://schemas.microsoft.com/office/drawing/2014/main" id="{F421DA9D-6EEB-419E-B83E-7D2B7C41EBA1}"/>
              </a:ext>
            </a:extLst>
          </p:cNvPr>
          <p:cNvSpPr/>
          <p:nvPr/>
        </p:nvSpPr>
        <p:spPr>
          <a:xfrm>
            <a:off x="273538" y="5869094"/>
            <a:ext cx="6192575" cy="344201"/>
          </a:xfrm>
          <a:prstGeom prst="wedgeRoundRectCallout">
            <a:avLst>
              <a:gd name="adj1" fmla="val -29495"/>
              <a:gd name="adj2" fmla="val -8997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you want only one row, you could add DISTINCT after SELECT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167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A3E0-2C1F-49B9-8D2F-6156E2FB4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 cont.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C82F2-3BBB-4DC2-A124-4BF60C792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321834" cy="4023360"/>
          </a:xfrm>
        </p:spPr>
        <p:txBody>
          <a:bodyPr/>
          <a:lstStyle/>
          <a:p>
            <a:r>
              <a:rPr lang="en-US" dirty="0"/>
              <a:t>Say I want to do that for each employee instead of just Anne</a:t>
            </a:r>
          </a:p>
          <a:p>
            <a:r>
              <a:rPr lang="en-US" dirty="0"/>
              <a:t>To do that, you just replace WHERE with GROUP BY (and remove =1)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503BEA-6C2E-4853-920B-4D989A084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145816"/>
              </p:ext>
            </p:extLst>
          </p:nvPr>
        </p:nvGraphicFramePr>
        <p:xfrm>
          <a:off x="6561609" y="2852839"/>
          <a:ext cx="5499762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56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8104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birthday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family_name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2000-02-05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David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Taylor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6953378-F09E-4628-BB1E-7C6E0E7DAAFE}"/>
              </a:ext>
            </a:extLst>
          </p:cNvPr>
          <p:cNvSpPr txBox="1"/>
          <p:nvPr/>
        </p:nvSpPr>
        <p:spPr>
          <a:xfrm>
            <a:off x="6466114" y="2483507"/>
            <a:ext cx="121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Employees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192254D-5252-4F97-9280-505804F19395}"/>
              </a:ext>
            </a:extLst>
          </p:cNvPr>
          <p:cNvGraphicFramePr>
            <a:graphicFrameLocks noGrp="1"/>
          </p:cNvGraphicFramePr>
          <p:nvPr/>
        </p:nvGraphicFramePr>
        <p:xfrm>
          <a:off x="6561609" y="4700451"/>
          <a:ext cx="4595889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7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8948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D077FAC-98BE-4D71-883E-8A19963AFE25}"/>
              </a:ext>
            </a:extLst>
          </p:cNvPr>
          <p:cNvSpPr txBox="1"/>
          <p:nvPr/>
        </p:nvSpPr>
        <p:spPr>
          <a:xfrm>
            <a:off x="6486486" y="4331119"/>
            <a:ext cx="1376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Transactions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8C379A-D2A3-49C6-971C-7E6DD073F15A}"/>
              </a:ext>
            </a:extLst>
          </p:cNvPr>
          <p:cNvCxnSpPr>
            <a:cxnSpLocks/>
          </p:cNvCxnSpPr>
          <p:nvPr/>
        </p:nvCxnSpPr>
        <p:spPr>
          <a:xfrm flipH="1" flipV="1">
            <a:off x="6201603" y="3985411"/>
            <a:ext cx="360007" cy="84288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633E6B-1BC0-4EEF-9F31-DDC1EDF3C5BF}"/>
              </a:ext>
            </a:extLst>
          </p:cNvPr>
          <p:cNvCxnSpPr>
            <a:cxnSpLocks/>
          </p:cNvCxnSpPr>
          <p:nvPr/>
        </p:nvCxnSpPr>
        <p:spPr>
          <a:xfrm flipH="1">
            <a:off x="2990239" y="4060267"/>
            <a:ext cx="201637" cy="38660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1181F5C-112F-478C-A2A2-CBE7FCE24016}"/>
              </a:ext>
            </a:extLst>
          </p:cNvPr>
          <p:cNvSpPr txBox="1"/>
          <p:nvPr/>
        </p:nvSpPr>
        <p:spPr>
          <a:xfrm>
            <a:off x="961209" y="2843972"/>
            <a:ext cx="5165271" cy="114143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2000" b="1" dirty="0"/>
              <a:t>SELECT </a:t>
            </a:r>
            <a:r>
              <a:rPr lang="en-US" sz="2000" b="1" dirty="0" err="1"/>
              <a:t>e_id</a:t>
            </a:r>
            <a:r>
              <a:rPr lang="en-US" sz="2000" b="1" dirty="0"/>
              <a:t>, COUNT(</a:t>
            </a:r>
            <a:r>
              <a:rPr lang="en-US" sz="2000" b="1" dirty="0" err="1"/>
              <a:t>t_id</a:t>
            </a:r>
            <a:r>
              <a:rPr lang="en-US" sz="2000" b="1" dirty="0"/>
              <a:t>)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FROM </a:t>
            </a:r>
            <a:r>
              <a:rPr lang="en-US" sz="2000" b="1" dirty="0">
                <a:solidFill>
                  <a:srgbClr val="FF0000"/>
                </a:solidFill>
              </a:rPr>
              <a:t>Transactions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GROUP BY </a:t>
            </a:r>
            <a:r>
              <a:rPr lang="en-US" sz="2000" b="1" dirty="0" err="1"/>
              <a:t>e_id</a:t>
            </a:r>
            <a:r>
              <a:rPr lang="en-US" sz="2000" b="1" dirty="0"/>
              <a:t>;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F933F3-F6F1-421E-B672-A84D4D0C0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60557"/>
              </p:ext>
            </p:extLst>
          </p:nvPr>
        </p:nvGraphicFramePr>
        <p:xfrm>
          <a:off x="1062025" y="4545633"/>
          <a:ext cx="2767420" cy="11074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1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COUNT(</a:t>
                      </a:r>
                      <a:r>
                        <a:rPr lang="en-US" dirty="0" err="1"/>
                        <a:t>t_id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Rounded Rectangular Callout 9">
            <a:extLst>
              <a:ext uri="{FF2B5EF4-FFF2-40B4-BE49-F238E27FC236}">
                <a16:creationId xmlns:a16="http://schemas.microsoft.com/office/drawing/2014/main" id="{EF470C3D-7018-4822-80CC-5F602C100234}"/>
              </a:ext>
            </a:extLst>
          </p:cNvPr>
          <p:cNvSpPr/>
          <p:nvPr/>
        </p:nvSpPr>
        <p:spPr>
          <a:xfrm>
            <a:off x="3379330" y="3985411"/>
            <a:ext cx="2464899" cy="969069"/>
          </a:xfrm>
          <a:prstGeom prst="wedgeRoundRectCallout">
            <a:avLst>
              <a:gd name="adj1" fmla="val -38203"/>
              <a:gd name="adj2" fmla="val -11494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The meaning of COUNT is now depending on GROUP BY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005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97AC6-3E18-4504-9E5A-B111BC61E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BY: A complication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9775D-4E7B-4EEA-B90E-A2FFCC94E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If we include GROUP BY, then we can only include in SELECT attributes we GROUP BY or aggregates</a:t>
            </a:r>
          </a:p>
          <a:p>
            <a:r>
              <a:rPr lang="en-US" dirty="0"/>
              <a:t>E.g. say we wanted the first name of the employees as well as their employee id and the number of their transactions</a:t>
            </a:r>
          </a:p>
          <a:p>
            <a:pPr lvl="1"/>
            <a:r>
              <a:rPr lang="en-US" dirty="0"/>
              <a:t>(Note that </a:t>
            </a:r>
            <a:r>
              <a:rPr lang="en-US" dirty="0" err="1"/>
              <a:t>first_name</a:t>
            </a:r>
            <a:r>
              <a:rPr lang="en-US" dirty="0"/>
              <a:t> is unique for the employees in</a:t>
            </a:r>
            <a:br>
              <a:rPr lang="en-US" dirty="0"/>
            </a:br>
            <a:r>
              <a:rPr lang="en-US" dirty="0"/>
              <a:t>the database)</a:t>
            </a:r>
          </a:p>
          <a:p>
            <a:r>
              <a:rPr lang="en-US" dirty="0"/>
              <a:t>We would THINK we would do it like this: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does NOT work though, since </a:t>
            </a:r>
            <a:r>
              <a:rPr lang="en-US" dirty="0" err="1"/>
              <a:t>first_name</a:t>
            </a:r>
            <a:r>
              <a:rPr lang="en-US" dirty="0"/>
              <a:t> is not </a:t>
            </a:r>
            <a:br>
              <a:rPr lang="en-US" dirty="0"/>
            </a:br>
            <a:r>
              <a:rPr lang="en-US" dirty="0"/>
              <a:t>in GROUP BY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74F14C-7C5E-412A-AED2-B8EDFF7690AB}"/>
              </a:ext>
            </a:extLst>
          </p:cNvPr>
          <p:cNvGraphicFramePr>
            <a:graphicFrameLocks noGrp="1"/>
          </p:cNvGraphicFramePr>
          <p:nvPr/>
        </p:nvGraphicFramePr>
        <p:xfrm>
          <a:off x="6561609" y="2852839"/>
          <a:ext cx="5510648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78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4745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birthday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family_name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2000-02-05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David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Taylor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AC64B7B-E0AB-419D-AA60-C7AF74033A27}"/>
              </a:ext>
            </a:extLst>
          </p:cNvPr>
          <p:cNvSpPr txBox="1"/>
          <p:nvPr/>
        </p:nvSpPr>
        <p:spPr>
          <a:xfrm>
            <a:off x="6466114" y="2483507"/>
            <a:ext cx="121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Employees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5A8741F-61E6-4AC1-BCCB-857D5CD96F16}"/>
              </a:ext>
            </a:extLst>
          </p:cNvPr>
          <p:cNvGraphicFramePr>
            <a:graphicFrameLocks noGrp="1"/>
          </p:cNvGraphicFramePr>
          <p:nvPr/>
        </p:nvGraphicFramePr>
        <p:xfrm>
          <a:off x="6561609" y="4700451"/>
          <a:ext cx="4595889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7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8948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75B5EC8-8FBE-4DF8-8767-3ACB20495534}"/>
              </a:ext>
            </a:extLst>
          </p:cNvPr>
          <p:cNvSpPr txBox="1"/>
          <p:nvPr/>
        </p:nvSpPr>
        <p:spPr>
          <a:xfrm>
            <a:off x="6486486" y="4331119"/>
            <a:ext cx="1376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Transactions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DFA2FB-6C8D-4B0F-A38C-6F8C896FF516}"/>
              </a:ext>
            </a:extLst>
          </p:cNvPr>
          <p:cNvSpPr txBox="1"/>
          <p:nvPr/>
        </p:nvSpPr>
        <p:spPr>
          <a:xfrm>
            <a:off x="1200223" y="3760399"/>
            <a:ext cx="5165271" cy="114143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2000" b="1" dirty="0"/>
              <a:t>SELECT </a:t>
            </a:r>
            <a:r>
              <a:rPr lang="en-US" sz="2000" b="1" dirty="0" err="1"/>
              <a:t>first_name</a:t>
            </a:r>
            <a:r>
              <a:rPr lang="en-US" sz="2000" b="1" dirty="0"/>
              <a:t>, </a:t>
            </a:r>
            <a:r>
              <a:rPr lang="en-US" sz="2000" b="1" dirty="0" err="1"/>
              <a:t>e_id</a:t>
            </a:r>
            <a:r>
              <a:rPr lang="en-US" sz="2000" b="1" dirty="0"/>
              <a:t>, COUNT(</a:t>
            </a:r>
            <a:r>
              <a:rPr lang="en-US" sz="2000" b="1" dirty="0" err="1"/>
              <a:t>t_id</a:t>
            </a:r>
            <a:r>
              <a:rPr lang="en-US" sz="2000" b="1" dirty="0"/>
              <a:t>)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FROM </a:t>
            </a:r>
            <a:r>
              <a:rPr lang="en-US" sz="2000" b="1" dirty="0">
                <a:solidFill>
                  <a:srgbClr val="0070C0"/>
                </a:solidFill>
              </a:rPr>
              <a:t>Employees</a:t>
            </a:r>
            <a:r>
              <a:rPr lang="en-US" sz="2000" b="1" dirty="0"/>
              <a:t> NATURAL JOIN </a:t>
            </a:r>
            <a:r>
              <a:rPr lang="en-US" sz="2000" b="1" dirty="0">
                <a:solidFill>
                  <a:srgbClr val="FF0000"/>
                </a:solidFill>
              </a:rPr>
              <a:t>Transactions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GROUP BY </a:t>
            </a:r>
            <a:r>
              <a:rPr lang="en-US" sz="2000" b="1" dirty="0" err="1"/>
              <a:t>e_id</a:t>
            </a:r>
            <a:r>
              <a:rPr lang="en-US" sz="2000" b="1" dirty="0"/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193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97AC6-3E18-4504-9E5A-B111BC61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604863" cy="1450757"/>
          </a:xfrm>
        </p:spPr>
        <p:txBody>
          <a:bodyPr/>
          <a:lstStyle/>
          <a:p>
            <a:r>
              <a:rPr lang="en-US" dirty="0"/>
              <a:t>GROUP BY: A solution to the complication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9775D-4E7B-4EEA-B90E-A2FFCC94E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was wrong: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is a right way to do it: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74F14C-7C5E-412A-AED2-B8EDFF7690AB}"/>
              </a:ext>
            </a:extLst>
          </p:cNvPr>
          <p:cNvGraphicFramePr>
            <a:graphicFrameLocks noGrp="1"/>
          </p:cNvGraphicFramePr>
          <p:nvPr/>
        </p:nvGraphicFramePr>
        <p:xfrm>
          <a:off x="6561609" y="2852839"/>
          <a:ext cx="5510648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78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4745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birthday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family_name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2000-02-05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David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Taylor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AC64B7B-E0AB-419D-AA60-C7AF74033A27}"/>
              </a:ext>
            </a:extLst>
          </p:cNvPr>
          <p:cNvSpPr txBox="1"/>
          <p:nvPr/>
        </p:nvSpPr>
        <p:spPr>
          <a:xfrm>
            <a:off x="6466114" y="2483507"/>
            <a:ext cx="121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Employees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5A8741F-61E6-4AC1-BCCB-857D5CD96F16}"/>
              </a:ext>
            </a:extLst>
          </p:cNvPr>
          <p:cNvGraphicFramePr>
            <a:graphicFrameLocks noGrp="1"/>
          </p:cNvGraphicFramePr>
          <p:nvPr/>
        </p:nvGraphicFramePr>
        <p:xfrm>
          <a:off x="6561609" y="4700451"/>
          <a:ext cx="4595889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7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8948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75B5EC8-8FBE-4DF8-8767-3ACB20495534}"/>
              </a:ext>
            </a:extLst>
          </p:cNvPr>
          <p:cNvSpPr txBox="1"/>
          <p:nvPr/>
        </p:nvSpPr>
        <p:spPr>
          <a:xfrm>
            <a:off x="6486486" y="4331119"/>
            <a:ext cx="1376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Transactions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DFA2FB-6C8D-4B0F-A38C-6F8C896FF516}"/>
              </a:ext>
            </a:extLst>
          </p:cNvPr>
          <p:cNvSpPr txBox="1"/>
          <p:nvPr/>
        </p:nvSpPr>
        <p:spPr>
          <a:xfrm>
            <a:off x="1199062" y="2192856"/>
            <a:ext cx="5165271" cy="114143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2000" b="1" dirty="0"/>
              <a:t>SELECT </a:t>
            </a:r>
            <a:r>
              <a:rPr lang="en-US" sz="2000" b="1" dirty="0" err="1"/>
              <a:t>first_name</a:t>
            </a:r>
            <a:r>
              <a:rPr lang="en-US" sz="2000" b="1" dirty="0"/>
              <a:t>, </a:t>
            </a:r>
            <a:r>
              <a:rPr lang="en-US" sz="2000" b="1" dirty="0" err="1"/>
              <a:t>e_id</a:t>
            </a:r>
            <a:r>
              <a:rPr lang="en-US" sz="2000" b="1" dirty="0"/>
              <a:t>, COUNT(</a:t>
            </a:r>
            <a:r>
              <a:rPr lang="en-US" sz="2000" b="1" dirty="0" err="1"/>
              <a:t>t_id</a:t>
            </a:r>
            <a:r>
              <a:rPr lang="en-US" sz="2000" b="1" dirty="0"/>
              <a:t>)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FROM </a:t>
            </a:r>
            <a:r>
              <a:rPr lang="en-US" sz="2000" b="1" dirty="0">
                <a:solidFill>
                  <a:srgbClr val="0070C0"/>
                </a:solidFill>
              </a:rPr>
              <a:t>Employees</a:t>
            </a:r>
            <a:r>
              <a:rPr lang="en-US" sz="2000" b="1" dirty="0"/>
              <a:t> NATURAL JOIN </a:t>
            </a:r>
            <a:r>
              <a:rPr lang="en-US" sz="2000" b="1" dirty="0">
                <a:solidFill>
                  <a:srgbClr val="FF0000"/>
                </a:solidFill>
              </a:rPr>
              <a:t>Transactions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GROUP BY </a:t>
            </a:r>
            <a:r>
              <a:rPr lang="en-US" sz="2000" b="1" dirty="0" err="1"/>
              <a:t>e_id</a:t>
            </a:r>
            <a:r>
              <a:rPr lang="en-US" sz="2000" b="1" dirty="0"/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5042BB-DCB8-41BA-B41D-1BFFDD12FB6A}"/>
              </a:ext>
            </a:extLst>
          </p:cNvPr>
          <p:cNvSpPr txBox="1"/>
          <p:nvPr/>
        </p:nvSpPr>
        <p:spPr>
          <a:xfrm>
            <a:off x="1199062" y="4030975"/>
            <a:ext cx="5165271" cy="114143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2000" b="1" dirty="0"/>
              <a:t>SELECT </a:t>
            </a:r>
            <a:r>
              <a:rPr lang="en-US" sz="2000" b="1" dirty="0" err="1"/>
              <a:t>first_name</a:t>
            </a:r>
            <a:r>
              <a:rPr lang="en-US" sz="2000" b="1" dirty="0"/>
              <a:t>, </a:t>
            </a:r>
            <a:r>
              <a:rPr lang="en-US" sz="2000" b="1" dirty="0" err="1"/>
              <a:t>e_id</a:t>
            </a:r>
            <a:r>
              <a:rPr lang="en-US" sz="2000" b="1" dirty="0"/>
              <a:t>, COUNT(</a:t>
            </a:r>
            <a:r>
              <a:rPr lang="en-US" sz="2000" b="1" dirty="0" err="1"/>
              <a:t>t_id</a:t>
            </a:r>
            <a:r>
              <a:rPr lang="en-US" sz="2000" b="1" dirty="0"/>
              <a:t>)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FROM </a:t>
            </a:r>
            <a:r>
              <a:rPr lang="en-US" sz="2000" b="1" dirty="0">
                <a:solidFill>
                  <a:srgbClr val="0070C0"/>
                </a:solidFill>
              </a:rPr>
              <a:t>Employees</a:t>
            </a:r>
            <a:r>
              <a:rPr lang="en-US" sz="2000" b="1" dirty="0"/>
              <a:t> NATURAL JOIN </a:t>
            </a:r>
            <a:r>
              <a:rPr lang="en-US" sz="2000" b="1" dirty="0">
                <a:solidFill>
                  <a:srgbClr val="FF0000"/>
                </a:solidFill>
              </a:rPr>
              <a:t>Transactions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GROUP BY </a:t>
            </a:r>
            <a:r>
              <a:rPr lang="en-US" sz="2000" b="1" dirty="0" err="1"/>
              <a:t>first_name</a:t>
            </a:r>
            <a:r>
              <a:rPr lang="en-US" sz="2000" b="1" dirty="0"/>
              <a:t>, </a:t>
            </a:r>
            <a:r>
              <a:rPr lang="en-US" sz="2000" b="1" dirty="0" err="1"/>
              <a:t>e_id</a:t>
            </a:r>
            <a:r>
              <a:rPr lang="en-US" sz="2000" b="1" dirty="0"/>
              <a:t>;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0C2B8E0-8B4F-4A56-8CB4-B141E396F24E}"/>
              </a:ext>
            </a:extLst>
          </p:cNvPr>
          <p:cNvGraphicFramePr>
            <a:graphicFrameLocks noGrp="1"/>
          </p:cNvGraphicFramePr>
          <p:nvPr/>
        </p:nvGraphicFramePr>
        <p:xfrm>
          <a:off x="1355939" y="5172414"/>
          <a:ext cx="3945405" cy="11074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73263">
                  <a:extLst>
                    <a:ext uri="{9D8B030D-6E8A-4147-A177-3AD203B41FA5}">
                      <a16:colId xmlns:a16="http://schemas.microsoft.com/office/drawing/2014/main" val="504845270"/>
                    </a:ext>
                  </a:extLst>
                </a:gridCol>
                <a:gridCol w="1273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COUNT(</a:t>
                      </a:r>
                      <a:r>
                        <a:rPr lang="en-US" dirty="0" err="1"/>
                        <a:t>t_id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55986C-0628-4BD7-A806-A0DBCF758276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6364333" y="4601695"/>
            <a:ext cx="197278" cy="22659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CD8AFF-C29B-40B4-9970-D1D89004285D}"/>
              </a:ext>
            </a:extLst>
          </p:cNvPr>
          <p:cNvCxnSpPr>
            <a:cxnSpLocks/>
          </p:cNvCxnSpPr>
          <p:nvPr/>
        </p:nvCxnSpPr>
        <p:spPr>
          <a:xfrm flipH="1">
            <a:off x="6364332" y="3587013"/>
            <a:ext cx="195459" cy="43446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35790A-46AE-4E39-A5B7-8E9C30B8DA45}"/>
              </a:ext>
            </a:extLst>
          </p:cNvPr>
          <p:cNvCxnSpPr>
            <a:cxnSpLocks/>
          </p:cNvCxnSpPr>
          <p:nvPr/>
        </p:nvCxnSpPr>
        <p:spPr>
          <a:xfrm flipH="1">
            <a:off x="5376467" y="5213934"/>
            <a:ext cx="380814" cy="19352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16020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97AC6-3E18-4504-9E5A-B111BC61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604863" cy="1450757"/>
          </a:xfrm>
        </p:spPr>
        <p:txBody>
          <a:bodyPr/>
          <a:lstStyle/>
          <a:p>
            <a:r>
              <a:rPr lang="en-US" dirty="0"/>
              <a:t>GROUP BY: A solution to the complication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9775D-4E7B-4EEA-B90E-A2FFCC94E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was wrong: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is another way to do it: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74F14C-7C5E-412A-AED2-B8EDFF7690AB}"/>
              </a:ext>
            </a:extLst>
          </p:cNvPr>
          <p:cNvGraphicFramePr>
            <a:graphicFrameLocks noGrp="1"/>
          </p:cNvGraphicFramePr>
          <p:nvPr/>
        </p:nvGraphicFramePr>
        <p:xfrm>
          <a:off x="6561609" y="2852839"/>
          <a:ext cx="5510648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78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4745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birthday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family_name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2000-02-05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David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Taylor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AC64B7B-E0AB-419D-AA60-C7AF74033A27}"/>
              </a:ext>
            </a:extLst>
          </p:cNvPr>
          <p:cNvSpPr txBox="1"/>
          <p:nvPr/>
        </p:nvSpPr>
        <p:spPr>
          <a:xfrm>
            <a:off x="6466114" y="2483507"/>
            <a:ext cx="121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Employees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5A8741F-61E6-4AC1-BCCB-857D5CD96F16}"/>
              </a:ext>
            </a:extLst>
          </p:cNvPr>
          <p:cNvGraphicFramePr>
            <a:graphicFrameLocks noGrp="1"/>
          </p:cNvGraphicFramePr>
          <p:nvPr/>
        </p:nvGraphicFramePr>
        <p:xfrm>
          <a:off x="6561609" y="4700451"/>
          <a:ext cx="4595889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7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8948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75B5EC8-8FBE-4DF8-8767-3ACB20495534}"/>
              </a:ext>
            </a:extLst>
          </p:cNvPr>
          <p:cNvSpPr txBox="1"/>
          <p:nvPr/>
        </p:nvSpPr>
        <p:spPr>
          <a:xfrm>
            <a:off x="6486486" y="4331119"/>
            <a:ext cx="1376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Transactions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DFA2FB-6C8D-4B0F-A38C-6F8C896FF516}"/>
              </a:ext>
            </a:extLst>
          </p:cNvPr>
          <p:cNvSpPr txBox="1"/>
          <p:nvPr/>
        </p:nvSpPr>
        <p:spPr>
          <a:xfrm>
            <a:off x="1199062" y="2192856"/>
            <a:ext cx="5165271" cy="114143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2000" b="1" dirty="0"/>
              <a:t>SELECT </a:t>
            </a:r>
            <a:r>
              <a:rPr lang="en-US" sz="2000" b="1" dirty="0" err="1"/>
              <a:t>first_name</a:t>
            </a:r>
            <a:r>
              <a:rPr lang="en-US" sz="2000" b="1" dirty="0"/>
              <a:t>, </a:t>
            </a:r>
            <a:r>
              <a:rPr lang="en-US" sz="2000" b="1" dirty="0" err="1"/>
              <a:t>e_id</a:t>
            </a:r>
            <a:r>
              <a:rPr lang="en-US" sz="2000" b="1" dirty="0"/>
              <a:t>, COUNT(</a:t>
            </a:r>
            <a:r>
              <a:rPr lang="en-US" sz="2000" b="1" dirty="0" err="1"/>
              <a:t>t_id</a:t>
            </a:r>
            <a:r>
              <a:rPr lang="en-US" sz="2000" b="1" dirty="0"/>
              <a:t>)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FROM </a:t>
            </a:r>
            <a:r>
              <a:rPr lang="en-US" sz="2000" b="1" dirty="0">
                <a:solidFill>
                  <a:srgbClr val="0070C0"/>
                </a:solidFill>
              </a:rPr>
              <a:t>Employees</a:t>
            </a:r>
            <a:r>
              <a:rPr lang="en-US" sz="2000" b="1" dirty="0"/>
              <a:t> NATURAL JOIN </a:t>
            </a:r>
            <a:r>
              <a:rPr lang="en-US" sz="2000" b="1" dirty="0">
                <a:solidFill>
                  <a:srgbClr val="FF0000"/>
                </a:solidFill>
              </a:rPr>
              <a:t>Transactions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GROUP BY </a:t>
            </a:r>
            <a:r>
              <a:rPr lang="en-US" sz="2000" b="1" dirty="0" err="1"/>
              <a:t>e_id</a:t>
            </a:r>
            <a:r>
              <a:rPr lang="en-US" sz="2000" b="1" dirty="0"/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5042BB-DCB8-41BA-B41D-1BFFDD12FB6A}"/>
              </a:ext>
            </a:extLst>
          </p:cNvPr>
          <p:cNvSpPr txBox="1"/>
          <p:nvPr/>
        </p:nvSpPr>
        <p:spPr>
          <a:xfrm>
            <a:off x="1199062" y="4030975"/>
            <a:ext cx="5165271" cy="114143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2000" b="1" dirty="0"/>
              <a:t>SELECT MIN(</a:t>
            </a:r>
            <a:r>
              <a:rPr lang="en-US" sz="2000" b="1" dirty="0" err="1"/>
              <a:t>first_name</a:t>
            </a:r>
            <a:r>
              <a:rPr lang="en-US" sz="2000" b="1" dirty="0"/>
              <a:t>), </a:t>
            </a:r>
            <a:r>
              <a:rPr lang="en-US" sz="2000" b="1" dirty="0" err="1"/>
              <a:t>e_id</a:t>
            </a:r>
            <a:r>
              <a:rPr lang="en-US" sz="2000" b="1" dirty="0"/>
              <a:t>, COUNT(</a:t>
            </a:r>
            <a:r>
              <a:rPr lang="en-US" sz="2000" b="1" dirty="0" err="1"/>
              <a:t>t_id</a:t>
            </a:r>
            <a:r>
              <a:rPr lang="en-US" sz="2000" b="1" dirty="0"/>
              <a:t>)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FROM </a:t>
            </a:r>
            <a:r>
              <a:rPr lang="en-US" sz="2000" b="1" dirty="0">
                <a:solidFill>
                  <a:srgbClr val="0070C0"/>
                </a:solidFill>
              </a:rPr>
              <a:t>Employees</a:t>
            </a:r>
            <a:r>
              <a:rPr lang="en-US" sz="2000" b="1" dirty="0"/>
              <a:t> NATURAL JOIN </a:t>
            </a:r>
            <a:r>
              <a:rPr lang="en-US" sz="2000" b="1" dirty="0">
                <a:solidFill>
                  <a:srgbClr val="FF0000"/>
                </a:solidFill>
              </a:rPr>
              <a:t>Transactions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GROUP BY </a:t>
            </a:r>
            <a:r>
              <a:rPr lang="en-US" sz="2000" b="1" dirty="0" err="1"/>
              <a:t>e_id</a:t>
            </a:r>
            <a:r>
              <a:rPr lang="en-US" sz="2000" b="1" dirty="0"/>
              <a:t>;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0C2B8E0-8B4F-4A56-8CB4-B141E396F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305680"/>
              </p:ext>
            </p:extLst>
          </p:nvPr>
        </p:nvGraphicFramePr>
        <p:xfrm>
          <a:off x="705456" y="5172414"/>
          <a:ext cx="4595890" cy="11074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18001">
                  <a:extLst>
                    <a:ext uri="{9D8B030D-6E8A-4147-A177-3AD203B41FA5}">
                      <a16:colId xmlns:a16="http://schemas.microsoft.com/office/drawing/2014/main" val="504845270"/>
                    </a:ext>
                  </a:extLst>
                </a:gridCol>
                <a:gridCol w="104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MIN(</a:t>
                      </a:r>
                      <a:r>
                        <a:rPr lang="en-US" dirty="0" err="1"/>
                        <a:t>first_name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COUNT(</a:t>
                      </a:r>
                      <a:r>
                        <a:rPr lang="en-US" dirty="0" err="1"/>
                        <a:t>t_id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55986C-0628-4BD7-A806-A0DBCF758276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6364333" y="4601695"/>
            <a:ext cx="197278" cy="22659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CD8AFF-C29B-40B4-9970-D1D89004285D}"/>
              </a:ext>
            </a:extLst>
          </p:cNvPr>
          <p:cNvCxnSpPr>
            <a:cxnSpLocks/>
          </p:cNvCxnSpPr>
          <p:nvPr/>
        </p:nvCxnSpPr>
        <p:spPr>
          <a:xfrm flipH="1">
            <a:off x="6364332" y="3587013"/>
            <a:ext cx="195459" cy="43446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35790A-46AE-4E39-A5B7-8E9C30B8DA45}"/>
              </a:ext>
            </a:extLst>
          </p:cNvPr>
          <p:cNvCxnSpPr>
            <a:cxnSpLocks/>
          </p:cNvCxnSpPr>
          <p:nvPr/>
        </p:nvCxnSpPr>
        <p:spPr>
          <a:xfrm flipH="1">
            <a:off x="5376467" y="5213934"/>
            <a:ext cx="380814" cy="19352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32428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61EA-CEF1-4124-8F88-3891D3BEC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BY: </a:t>
            </a:r>
            <a:r>
              <a:rPr lang="en-US" dirty="0" err="1"/>
              <a:t>Intution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DD535-8BBD-4148-B5AE-8FA1391EE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Intuitively speaking, GROUP BY works like this:</a:t>
            </a:r>
          </a:p>
          <a:p>
            <a:r>
              <a:rPr lang="en-US" dirty="0"/>
              <a:t>Do the previous part of the query until GROUP BY (except ignoring the part in SELECT)</a:t>
            </a:r>
          </a:p>
          <a:p>
            <a:r>
              <a:rPr lang="en-US" dirty="0"/>
              <a:t>Split the resulting table into sub-tables</a:t>
            </a:r>
          </a:p>
          <a:p>
            <a:pPr lvl="1"/>
            <a:r>
              <a:rPr lang="en-GB" dirty="0"/>
              <a:t>1 sub-table for each value of the variables in GROUP BY </a:t>
            </a:r>
          </a:p>
          <a:p>
            <a:pPr lvl="1"/>
            <a:r>
              <a:rPr lang="en-GB" dirty="0"/>
              <a:t>I.e. if you had say </a:t>
            </a:r>
            <a:r>
              <a:rPr lang="en-GB" dirty="0" err="1"/>
              <a:t>first_name</a:t>
            </a:r>
            <a:r>
              <a:rPr lang="en-GB" dirty="0"/>
              <a:t> and </a:t>
            </a:r>
            <a:r>
              <a:rPr lang="en-GB" dirty="0" err="1"/>
              <a:t>e_id</a:t>
            </a:r>
            <a:r>
              <a:rPr lang="en-GB" dirty="0"/>
              <a:t> like in the example, you would have a sub-table for each pair of </a:t>
            </a:r>
            <a:r>
              <a:rPr lang="en-GB" dirty="0" err="1"/>
              <a:t>first_name</a:t>
            </a:r>
            <a:r>
              <a:rPr lang="en-GB" dirty="0"/>
              <a:t> and </a:t>
            </a:r>
            <a:r>
              <a:rPr lang="en-GB" dirty="0" err="1"/>
              <a:t>e_id</a:t>
            </a:r>
            <a:r>
              <a:rPr lang="en-GB" dirty="0"/>
              <a:t>. This means, e.g. that if two employees were named Anne, you would have two sub-tables, one for each Anne, defined by their </a:t>
            </a:r>
            <a:r>
              <a:rPr lang="en-GB" dirty="0" err="1"/>
              <a:t>e_id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510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9ECAF-D3A7-4D5C-99B2-84D592247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BY: </a:t>
            </a:r>
            <a:r>
              <a:rPr lang="en-US" dirty="0" err="1"/>
              <a:t>Intution</a:t>
            </a:r>
            <a:r>
              <a:rPr lang="en-US" dirty="0"/>
              <a:t> cont.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FD6D0-7AF2-4426-9836-0A7E76121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CCBFCFB-0F47-495D-9C02-C8514797DCB8}"/>
              </a:ext>
            </a:extLst>
          </p:cNvPr>
          <p:cNvGraphicFramePr>
            <a:graphicFrameLocks noGrp="1"/>
          </p:cNvGraphicFramePr>
          <p:nvPr/>
        </p:nvGraphicFramePr>
        <p:xfrm>
          <a:off x="6561609" y="2852839"/>
          <a:ext cx="5510648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78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4745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birthday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family_name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2000-02-05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David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Taylor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2BBEBC4-B0AC-483B-98A6-62AC2B8B782F}"/>
              </a:ext>
            </a:extLst>
          </p:cNvPr>
          <p:cNvSpPr txBox="1"/>
          <p:nvPr/>
        </p:nvSpPr>
        <p:spPr>
          <a:xfrm>
            <a:off x="6466114" y="2483507"/>
            <a:ext cx="121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Employees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EB1BCD1-7EC7-4C60-8D80-FF550DD4CF9A}"/>
              </a:ext>
            </a:extLst>
          </p:cNvPr>
          <p:cNvGraphicFramePr>
            <a:graphicFrameLocks noGrp="1"/>
          </p:cNvGraphicFramePr>
          <p:nvPr/>
        </p:nvGraphicFramePr>
        <p:xfrm>
          <a:off x="6561609" y="4700451"/>
          <a:ext cx="4595889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7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8948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8111F15-7F54-4380-B155-FD80F0C94917}"/>
              </a:ext>
            </a:extLst>
          </p:cNvPr>
          <p:cNvSpPr txBox="1"/>
          <p:nvPr/>
        </p:nvSpPr>
        <p:spPr>
          <a:xfrm>
            <a:off x="6486486" y="4331119"/>
            <a:ext cx="1376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Transactions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010372-22D3-437F-BEB8-31A7407E07E5}"/>
              </a:ext>
            </a:extLst>
          </p:cNvPr>
          <p:cNvSpPr txBox="1"/>
          <p:nvPr/>
        </p:nvSpPr>
        <p:spPr>
          <a:xfrm>
            <a:off x="732759" y="2235048"/>
            <a:ext cx="5165271" cy="114143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2000" b="1" dirty="0"/>
              <a:t>…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FROM </a:t>
            </a:r>
            <a:r>
              <a:rPr lang="en-US" sz="2000" b="1" dirty="0">
                <a:solidFill>
                  <a:srgbClr val="0070C0"/>
                </a:solidFill>
              </a:rPr>
              <a:t>Employees</a:t>
            </a:r>
            <a:r>
              <a:rPr lang="en-US" sz="2000" b="1" dirty="0"/>
              <a:t> NATURAL JOIN </a:t>
            </a:r>
            <a:r>
              <a:rPr lang="en-US" sz="2000" b="1" dirty="0">
                <a:solidFill>
                  <a:srgbClr val="FF0000"/>
                </a:solidFill>
              </a:rPr>
              <a:t>Transactions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GROUP BY </a:t>
            </a:r>
            <a:r>
              <a:rPr lang="en-US" sz="2000" b="1" dirty="0" err="1"/>
              <a:t>first_name</a:t>
            </a:r>
            <a:r>
              <a:rPr lang="en-US" sz="2000" b="1" dirty="0"/>
              <a:t>, </a:t>
            </a:r>
            <a:r>
              <a:rPr lang="en-US" sz="2000" b="1" dirty="0" err="1"/>
              <a:t>e_id</a:t>
            </a:r>
            <a:r>
              <a:rPr lang="en-US" sz="2000" b="1" dirty="0"/>
              <a:t>;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66C5EE8-CE77-40C9-8E1B-8EA1D0C9FCCF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5898030" y="2805768"/>
            <a:ext cx="661761" cy="189468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2259B4-B368-4A2D-93E9-66BC126C73A2}"/>
              </a:ext>
            </a:extLst>
          </p:cNvPr>
          <p:cNvCxnSpPr>
            <a:cxnSpLocks/>
          </p:cNvCxnSpPr>
          <p:nvPr/>
        </p:nvCxnSpPr>
        <p:spPr>
          <a:xfrm flipH="1" flipV="1">
            <a:off x="5998029" y="2697394"/>
            <a:ext cx="561763" cy="88961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5756DA1-5929-4114-989F-68CD53AA1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220298"/>
              </p:ext>
            </p:extLst>
          </p:nvPr>
        </p:nvGraphicFramePr>
        <p:xfrm>
          <a:off x="0" y="3755935"/>
          <a:ext cx="6379348" cy="24688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11316">
                  <a:extLst>
                    <a:ext uri="{9D8B030D-6E8A-4147-A177-3AD203B41FA5}">
                      <a16:colId xmlns:a16="http://schemas.microsoft.com/office/drawing/2014/main" val="504845270"/>
                    </a:ext>
                  </a:extLst>
                </a:gridCol>
                <a:gridCol w="673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5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Sub-table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1E32B49-1EBB-4E8F-B624-D77BACC2D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023498"/>
              </p:ext>
            </p:extLst>
          </p:nvPr>
        </p:nvGraphicFramePr>
        <p:xfrm>
          <a:off x="2116612" y="4144922"/>
          <a:ext cx="4231157" cy="110744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1322821">
                  <a:extLst>
                    <a:ext uri="{9D8B030D-6E8A-4147-A177-3AD203B41FA5}">
                      <a16:colId xmlns:a16="http://schemas.microsoft.com/office/drawing/2014/main" val="504845270"/>
                    </a:ext>
                  </a:extLst>
                </a:gridCol>
                <a:gridCol w="1471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483">
                  <a:extLst>
                    <a:ext uri="{9D8B030D-6E8A-4147-A177-3AD203B41FA5}">
                      <a16:colId xmlns:a16="http://schemas.microsoft.com/office/drawing/2014/main" val="23815248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birthday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family_name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Smith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Smith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BDF12CB-BDE8-4F2F-8045-D14FFA83A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100959"/>
              </p:ext>
            </p:extLst>
          </p:nvPr>
        </p:nvGraphicFramePr>
        <p:xfrm>
          <a:off x="2127497" y="5349244"/>
          <a:ext cx="4231157" cy="73660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1322821">
                  <a:extLst>
                    <a:ext uri="{9D8B030D-6E8A-4147-A177-3AD203B41FA5}">
                      <a16:colId xmlns:a16="http://schemas.microsoft.com/office/drawing/2014/main" val="504845270"/>
                    </a:ext>
                  </a:extLst>
                </a:gridCol>
                <a:gridCol w="1471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483">
                  <a:extLst>
                    <a:ext uri="{9D8B030D-6E8A-4147-A177-3AD203B41FA5}">
                      <a16:colId xmlns:a16="http://schemas.microsoft.com/office/drawing/2014/main" val="23815248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birthday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family_name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Taylor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9A6CBBF-1C31-47BC-9F96-35F8096FBE12}"/>
              </a:ext>
            </a:extLst>
          </p:cNvPr>
          <p:cNvCxnSpPr>
            <a:cxnSpLocks/>
          </p:cNvCxnSpPr>
          <p:nvPr/>
        </p:nvCxnSpPr>
        <p:spPr>
          <a:xfrm flipH="1">
            <a:off x="3732268" y="3429000"/>
            <a:ext cx="230132" cy="32230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511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D4739-93FE-4F4A-B067-16A50E95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35801-4403-4901-A6E0-269F07AAE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HAVING is easy! It is just WHERE, but done after GROUP BY</a:t>
            </a:r>
          </a:p>
          <a:p>
            <a:pPr lvl="1"/>
            <a:r>
              <a:rPr lang="en-US" dirty="0"/>
              <a:t>Meaning that it does not affect GROUP BY and can use aggregates on the sub-tables in its expressions</a:t>
            </a:r>
          </a:p>
          <a:p>
            <a:r>
              <a:rPr lang="en-US" dirty="0"/>
              <a:t>A simple example:</a:t>
            </a:r>
          </a:p>
          <a:p>
            <a:pPr lvl="1"/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C689AD-3317-4E17-848D-204A35B66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187961"/>
              </p:ext>
            </p:extLst>
          </p:nvPr>
        </p:nvGraphicFramePr>
        <p:xfrm>
          <a:off x="6459827" y="2801066"/>
          <a:ext cx="5510648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78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4745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birthday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family_name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2000-02-05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David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Taylor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9B8E2A-37BB-4BE0-AF72-A63BC97032A4}"/>
              </a:ext>
            </a:extLst>
          </p:cNvPr>
          <p:cNvSpPr txBox="1"/>
          <p:nvPr/>
        </p:nvSpPr>
        <p:spPr>
          <a:xfrm>
            <a:off x="6364332" y="2431734"/>
            <a:ext cx="121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Employees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13F30A-F813-48B2-8DE0-5DA08EEB51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238361"/>
              </p:ext>
            </p:extLst>
          </p:nvPr>
        </p:nvGraphicFramePr>
        <p:xfrm>
          <a:off x="6459827" y="4648678"/>
          <a:ext cx="4595889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7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8948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2E80A6-A4B6-417F-B497-07F4EE52BC8D}"/>
              </a:ext>
            </a:extLst>
          </p:cNvPr>
          <p:cNvSpPr txBox="1"/>
          <p:nvPr/>
        </p:nvSpPr>
        <p:spPr>
          <a:xfrm>
            <a:off x="6384704" y="4279346"/>
            <a:ext cx="1376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Transactions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0353E-6779-48ED-9166-4847674030B3}"/>
              </a:ext>
            </a:extLst>
          </p:cNvPr>
          <p:cNvSpPr txBox="1"/>
          <p:nvPr/>
        </p:nvSpPr>
        <p:spPr>
          <a:xfrm>
            <a:off x="1036320" y="2960830"/>
            <a:ext cx="5165271" cy="144921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2000" b="1" dirty="0"/>
              <a:t>SELECT </a:t>
            </a:r>
            <a:r>
              <a:rPr lang="en-US" sz="2000" b="1" dirty="0" err="1"/>
              <a:t>first_name</a:t>
            </a:r>
            <a:r>
              <a:rPr lang="en-US" sz="2000" b="1" dirty="0"/>
              <a:t>, </a:t>
            </a:r>
            <a:r>
              <a:rPr lang="en-US" sz="2000" b="1" dirty="0" err="1"/>
              <a:t>e_id</a:t>
            </a:r>
            <a:r>
              <a:rPr lang="en-US" sz="2000" b="1" dirty="0"/>
              <a:t>, COUNT(</a:t>
            </a:r>
            <a:r>
              <a:rPr lang="en-US" sz="2000" b="1" dirty="0" err="1"/>
              <a:t>t_id</a:t>
            </a:r>
            <a:r>
              <a:rPr lang="en-US" sz="2000" b="1" dirty="0"/>
              <a:t>)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FROM </a:t>
            </a:r>
            <a:r>
              <a:rPr lang="en-US" sz="2000" b="1" dirty="0">
                <a:solidFill>
                  <a:srgbClr val="0070C0"/>
                </a:solidFill>
              </a:rPr>
              <a:t>Employees</a:t>
            </a:r>
            <a:r>
              <a:rPr lang="en-US" sz="2000" b="1" dirty="0"/>
              <a:t> NATURAL JOIN </a:t>
            </a:r>
            <a:r>
              <a:rPr lang="en-US" sz="2000" b="1" dirty="0">
                <a:solidFill>
                  <a:srgbClr val="FF0000"/>
                </a:solidFill>
              </a:rPr>
              <a:t>Transactions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GROUP BY </a:t>
            </a:r>
            <a:r>
              <a:rPr lang="en-US" sz="2000" b="1" dirty="0" err="1"/>
              <a:t>first_name</a:t>
            </a:r>
            <a:r>
              <a:rPr lang="en-US" sz="2000" b="1" dirty="0"/>
              <a:t>, </a:t>
            </a:r>
            <a:r>
              <a:rPr lang="en-US" sz="2000" b="1" dirty="0" err="1"/>
              <a:t>e_id</a:t>
            </a:r>
            <a:endParaRPr lang="en-US" sz="2000" b="1" dirty="0"/>
          </a:p>
          <a:p>
            <a:r>
              <a:rPr lang="en-US" sz="2000" b="1" dirty="0"/>
              <a:t>HAVING MIN(</a:t>
            </a:r>
            <a:r>
              <a:rPr lang="en-US" sz="2000" b="1" dirty="0" err="1"/>
              <a:t>c_id</a:t>
            </a:r>
            <a:r>
              <a:rPr lang="en-US" sz="2000" b="1" dirty="0"/>
              <a:t>)&lt;5;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4A85DF-A8BF-4AAA-AE12-F2A02347D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223723"/>
              </p:ext>
            </p:extLst>
          </p:nvPr>
        </p:nvGraphicFramePr>
        <p:xfrm>
          <a:off x="1254157" y="5120641"/>
          <a:ext cx="3945405" cy="736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73263">
                  <a:extLst>
                    <a:ext uri="{9D8B030D-6E8A-4147-A177-3AD203B41FA5}">
                      <a16:colId xmlns:a16="http://schemas.microsoft.com/office/drawing/2014/main" val="504845270"/>
                    </a:ext>
                  </a:extLst>
                </a:gridCol>
                <a:gridCol w="1273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COUNT(</a:t>
                      </a:r>
                      <a:r>
                        <a:rPr lang="en-US" dirty="0" err="1"/>
                        <a:t>t_id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96CD51-4E74-4CB9-9F20-48A554A2ECCE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6201591" y="3685438"/>
            <a:ext cx="210120" cy="1036778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C80508-7B08-45B5-A776-5E246520BB1D}"/>
              </a:ext>
            </a:extLst>
          </p:cNvPr>
          <p:cNvCxnSpPr>
            <a:cxnSpLocks/>
          </p:cNvCxnSpPr>
          <p:nvPr/>
        </p:nvCxnSpPr>
        <p:spPr>
          <a:xfrm flipH="1">
            <a:off x="6201591" y="3164091"/>
            <a:ext cx="258236" cy="15123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69AB7E-3B2D-45A9-930A-CCA1CBB3A75B}"/>
              </a:ext>
            </a:extLst>
          </p:cNvPr>
          <p:cNvCxnSpPr>
            <a:cxnSpLocks/>
          </p:cNvCxnSpPr>
          <p:nvPr/>
        </p:nvCxnSpPr>
        <p:spPr>
          <a:xfrm flipH="1">
            <a:off x="4916897" y="4464012"/>
            <a:ext cx="289028" cy="62490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63907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5FE9A-2CFB-4823-A1F9-6E0009FFE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BY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A03D9-0DD8-4275-98EE-3FEA628D3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 BY defines how the output is sorted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216197C-4753-4B4E-B5B2-EB438B700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270356"/>
              </p:ext>
            </p:extLst>
          </p:nvPr>
        </p:nvGraphicFramePr>
        <p:xfrm>
          <a:off x="6561609" y="2210581"/>
          <a:ext cx="5499762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56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8104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birthday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family_name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2000-02-05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David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Taylor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74DCA2B-44E5-473D-9D9B-DADD3444DD64}"/>
              </a:ext>
            </a:extLst>
          </p:cNvPr>
          <p:cNvSpPr txBox="1"/>
          <p:nvPr/>
        </p:nvSpPr>
        <p:spPr>
          <a:xfrm>
            <a:off x="6466114" y="1841249"/>
            <a:ext cx="121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Employees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3A9CB0-1D7B-4692-9995-B2D7952F3917}"/>
              </a:ext>
            </a:extLst>
          </p:cNvPr>
          <p:cNvSpPr txBox="1"/>
          <p:nvPr/>
        </p:nvSpPr>
        <p:spPr>
          <a:xfrm>
            <a:off x="930728" y="2429860"/>
            <a:ext cx="5165271" cy="114143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2000" b="1" dirty="0"/>
              <a:t>SELECT </a:t>
            </a:r>
            <a:r>
              <a:rPr lang="en-US" sz="2000" b="1" dirty="0" err="1"/>
              <a:t>first_name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FROM </a:t>
            </a:r>
            <a:r>
              <a:rPr lang="en-US" sz="2000" b="1" dirty="0">
                <a:solidFill>
                  <a:srgbClr val="0070C0"/>
                </a:solidFill>
              </a:rPr>
              <a:t>Employees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/>
              <a:t>ORDER BY </a:t>
            </a:r>
            <a:r>
              <a:rPr lang="en-US" sz="2000" b="1" dirty="0" err="1"/>
              <a:t>family_name</a:t>
            </a:r>
            <a:r>
              <a:rPr lang="en-US" sz="2000" b="1" dirty="0"/>
              <a:t>;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3D2D6B-974F-4E4F-9949-368351F8F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22819"/>
              </p:ext>
            </p:extLst>
          </p:nvPr>
        </p:nvGraphicFramePr>
        <p:xfrm>
          <a:off x="652293" y="3981056"/>
          <a:ext cx="1298709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98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David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William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ular Callout 9">
            <a:extLst>
              <a:ext uri="{FF2B5EF4-FFF2-40B4-BE49-F238E27FC236}">
                <a16:creationId xmlns:a16="http://schemas.microsoft.com/office/drawing/2014/main" id="{8A274E38-649F-46FE-88BA-B43BACCEF426}"/>
              </a:ext>
            </a:extLst>
          </p:cNvPr>
          <p:cNvSpPr/>
          <p:nvPr/>
        </p:nvSpPr>
        <p:spPr>
          <a:xfrm>
            <a:off x="3344910" y="2273321"/>
            <a:ext cx="3001461" cy="313077"/>
          </a:xfrm>
          <a:prstGeom prst="wedgeRoundRectCallout">
            <a:avLst>
              <a:gd name="adj1" fmla="val -43766"/>
              <a:gd name="adj2" fmla="val 23053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Is not actually in the output…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1659A5-C464-4601-B522-552851116F07}"/>
              </a:ext>
            </a:extLst>
          </p:cNvPr>
          <p:cNvSpPr txBox="1"/>
          <p:nvPr/>
        </p:nvSpPr>
        <p:spPr>
          <a:xfrm>
            <a:off x="2155314" y="3867897"/>
            <a:ext cx="99060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also have more than one attribute in ORDER BY, e.g. ORDER BY </a:t>
            </a:r>
            <a:r>
              <a:rPr lang="en-US" dirty="0" err="1"/>
              <a:t>family_name</a:t>
            </a:r>
            <a:r>
              <a:rPr lang="en-US" dirty="0"/>
              <a:t>, </a:t>
            </a:r>
            <a:r>
              <a:rPr lang="en-US" dirty="0" err="1"/>
              <a:t>first_name</a:t>
            </a:r>
            <a:endParaRPr lang="en-US" dirty="0"/>
          </a:p>
          <a:p>
            <a:r>
              <a:rPr lang="en-US" dirty="0"/>
              <a:t>Then, among those with the same </a:t>
            </a:r>
            <a:r>
              <a:rPr lang="en-US" dirty="0" err="1"/>
              <a:t>family_name</a:t>
            </a:r>
            <a:r>
              <a:rPr lang="en-US" dirty="0"/>
              <a:t>, the ones with the first </a:t>
            </a:r>
            <a:r>
              <a:rPr lang="en-US" dirty="0" err="1"/>
              <a:t>first_name</a:t>
            </a:r>
            <a:r>
              <a:rPr lang="en-US" dirty="0"/>
              <a:t> would come first</a:t>
            </a:r>
          </a:p>
          <a:p>
            <a:r>
              <a:rPr lang="en-US" dirty="0"/>
              <a:t>(i.e. multiple attributes makes it sorted lexicographically)</a:t>
            </a:r>
          </a:p>
          <a:p>
            <a:endParaRPr lang="en-US" dirty="0"/>
          </a:p>
          <a:p>
            <a:r>
              <a:rPr lang="en-GB" dirty="0"/>
              <a:t>Finally, it defaults to ascending order. You can do descending by writing DESC. Like, if you want to sort by </a:t>
            </a:r>
            <a:r>
              <a:rPr lang="en-GB" dirty="0" err="1"/>
              <a:t>family_name</a:t>
            </a:r>
            <a:r>
              <a:rPr lang="en-GB" dirty="0"/>
              <a:t> ascending but </a:t>
            </a:r>
            <a:r>
              <a:rPr lang="en-GB" dirty="0" err="1"/>
              <a:t>first_name</a:t>
            </a:r>
            <a:r>
              <a:rPr lang="en-GB" dirty="0"/>
              <a:t> descending, you write ORDER BY </a:t>
            </a:r>
            <a:r>
              <a:rPr lang="en-GB" dirty="0" err="1"/>
              <a:t>family_name</a:t>
            </a:r>
            <a:r>
              <a:rPr lang="en-GB" dirty="0"/>
              <a:t>, </a:t>
            </a:r>
            <a:r>
              <a:rPr lang="en-GB" dirty="0" err="1"/>
              <a:t>first_name</a:t>
            </a:r>
            <a:r>
              <a:rPr lang="en-GB" dirty="0"/>
              <a:t> DESC</a:t>
            </a:r>
          </a:p>
          <a:p>
            <a:endParaRPr lang="en-GB" dirty="0"/>
          </a:p>
          <a:p>
            <a:r>
              <a:rPr lang="en-GB" dirty="0" err="1"/>
              <a:t>family_name</a:t>
            </a:r>
            <a:r>
              <a:rPr lang="en-GB" dirty="0"/>
              <a:t> descending but </a:t>
            </a:r>
            <a:r>
              <a:rPr lang="en-GB" dirty="0" err="1"/>
              <a:t>first_name</a:t>
            </a:r>
            <a:r>
              <a:rPr lang="en-GB" dirty="0"/>
              <a:t> ascending would be: ORDER BY </a:t>
            </a:r>
            <a:r>
              <a:rPr lang="en-GB" dirty="0" err="1"/>
              <a:t>family_name</a:t>
            </a:r>
            <a:r>
              <a:rPr lang="en-GB" dirty="0"/>
              <a:t> DESC, </a:t>
            </a:r>
            <a:r>
              <a:rPr lang="en-GB" dirty="0" err="1"/>
              <a:t>first_name</a:t>
            </a:r>
            <a:endParaRPr lang="en-GB" dirty="0"/>
          </a:p>
          <a:p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233D6BC-0DC3-450D-A156-A98FBD18904E}"/>
              </a:ext>
            </a:extLst>
          </p:cNvPr>
          <p:cNvCxnSpPr>
            <a:cxnSpLocks/>
          </p:cNvCxnSpPr>
          <p:nvPr/>
        </p:nvCxnSpPr>
        <p:spPr>
          <a:xfrm flipH="1" flipV="1">
            <a:off x="6133433" y="2852839"/>
            <a:ext cx="376151" cy="10366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2BF054D-D9D8-4D2C-BF2C-4FB2E4823B54}"/>
              </a:ext>
            </a:extLst>
          </p:cNvPr>
          <p:cNvCxnSpPr>
            <a:cxnSpLocks/>
          </p:cNvCxnSpPr>
          <p:nvPr/>
        </p:nvCxnSpPr>
        <p:spPr>
          <a:xfrm flipH="1">
            <a:off x="2008567" y="3625217"/>
            <a:ext cx="289028" cy="62490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63561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|8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7|32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|11.3|29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1|30.1|20.3|42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4|25.3|22.4|12.3|8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8|42.6|25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5|8.5|14.8|16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9|16.4|10.5|13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7.7|25.3|20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9|14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9|13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3|17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2|9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.7|55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8.5|15.1|15.1|42.7|42.3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3362</TotalTime>
  <Words>1950</Words>
  <Application>Microsoft Office PowerPoint</Application>
  <PresentationFormat>Widescreen</PresentationFormat>
  <Paragraphs>492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Calibri</vt:lpstr>
      <vt:lpstr>Calibri Light</vt:lpstr>
      <vt:lpstr>Retrospect</vt:lpstr>
      <vt:lpstr>SQL Queries – optional part</vt:lpstr>
      <vt:lpstr>Overview of this video</vt:lpstr>
      <vt:lpstr>SQL Queries</vt:lpstr>
      <vt:lpstr>WHERE</vt:lpstr>
      <vt:lpstr>WHERE: IN</vt:lpstr>
      <vt:lpstr>WHERE: EXISTS</vt:lpstr>
      <vt:lpstr>WHERE: Semi-join</vt:lpstr>
      <vt:lpstr>WHERE: Semi-join</vt:lpstr>
      <vt:lpstr>GROUP BY</vt:lpstr>
      <vt:lpstr>GROUP BY cont.</vt:lpstr>
      <vt:lpstr>GROUP BY: A complication</vt:lpstr>
      <vt:lpstr>GROUP BY: A solution to the complication</vt:lpstr>
      <vt:lpstr>GROUP BY: A solution to the complication</vt:lpstr>
      <vt:lpstr>GROUP BY: Intution</vt:lpstr>
      <vt:lpstr>GROUP BY: Intution cont.</vt:lpstr>
      <vt:lpstr>HAVING</vt:lpstr>
      <vt:lpstr>ORDER BY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Queries – optional part</dc:title>
  <dc:creator>Rasmus Ibsen-Jensen</dc:creator>
  <cp:lastModifiedBy>Rasmus Ibsen-Jensen</cp:lastModifiedBy>
  <cp:revision>45</cp:revision>
  <dcterms:created xsi:type="dcterms:W3CDTF">2020-09-09T19:33:19Z</dcterms:created>
  <dcterms:modified xsi:type="dcterms:W3CDTF">2021-10-14T17:52:21Z</dcterms:modified>
</cp:coreProperties>
</file>