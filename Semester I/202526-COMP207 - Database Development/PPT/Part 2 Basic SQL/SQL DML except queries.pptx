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54" r:id="rId3"/>
    <p:sldId id="401" r:id="rId4"/>
    <p:sldId id="400" r:id="rId5"/>
    <p:sldId id="406" r:id="rId6"/>
    <p:sldId id="403" r:id="rId7"/>
    <p:sldId id="404" r:id="rId8"/>
    <p:sldId id="435" r:id="rId9"/>
    <p:sldId id="436" r:id="rId10"/>
    <p:sldId id="437" r:id="rId11"/>
    <p:sldId id="43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22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288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56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2359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564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728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640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7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97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29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96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3D211B-543A-41B1-8B84-5225C9DBA71E}" type="datetimeFigureOut">
              <a:rPr lang="en-GB" smtClean="0"/>
              <a:t>14/10/2021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B1A955D-5647-433C-9CF5-8691F445E0B7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78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F7A3-DBAC-4AE0-B77C-E028163351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en-US" altLang="en-US" dirty="0"/>
              <a:t>DML except queries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30C75-6CF1-496D-8C11-A50D1F9054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371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87AB-00C3-4F0C-ABD5-3827C0525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F842-B16B-4A9E-872B-51714976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/>
              <a:t>A run through of SQL DML (DML = Data Manipulation Language)</a:t>
            </a:r>
          </a:p>
          <a:p>
            <a:pPr marL="0" indent="0">
              <a:buNone/>
            </a:pPr>
            <a:r>
              <a:rPr lang="en-US" sz="3000" dirty="0"/>
              <a:t>	Except for queries, which is more complex and thus has its 	own videos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9403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Data Manipulation Language (DML)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 rows into a table</a:t>
            </a:r>
          </a:p>
          <a:p>
            <a:r>
              <a:rPr lang="en-US" dirty="0"/>
              <a:t>Delete rows from a table</a:t>
            </a:r>
          </a:p>
          <a:p>
            <a:r>
              <a:rPr lang="en-US" dirty="0"/>
              <a:t>Update rows in a table</a:t>
            </a:r>
          </a:p>
          <a:p>
            <a:r>
              <a:rPr lang="en-US" dirty="0"/>
              <a:t>Query a table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Rounded Rectangular Callout 22">
            <a:extLst>
              <a:ext uri="{FF2B5EF4-FFF2-40B4-BE49-F238E27FC236}">
                <a16:creationId xmlns:a16="http://schemas.microsoft.com/office/drawing/2014/main" id="{AA7D9FD0-AC2E-40AA-A32E-0756499E9274}"/>
              </a:ext>
            </a:extLst>
          </p:cNvPr>
          <p:cNvSpPr/>
          <p:nvPr/>
        </p:nvSpPr>
        <p:spPr>
          <a:xfrm>
            <a:off x="2845918" y="3411066"/>
            <a:ext cx="4147456" cy="446348"/>
          </a:xfrm>
          <a:prstGeom prst="wedgeRoundRectCallout">
            <a:avLst>
              <a:gd name="adj1" fmla="val -55477"/>
              <a:gd name="adj2" fmla="val -4369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Not this video (but they are part of DML)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04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340769"/>
            <a:ext cx="9144000" cy="510748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592135"/>
              </p:ext>
            </p:extLst>
          </p:nvPr>
        </p:nvGraphicFramePr>
        <p:xfrm>
          <a:off x="1246853" y="2201272"/>
          <a:ext cx="3744414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874507"/>
              </p:ext>
            </p:extLst>
          </p:nvPr>
        </p:nvGraphicFramePr>
        <p:xfrm>
          <a:off x="1246853" y="4257724"/>
          <a:ext cx="3744414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41525" y="1697216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4679" y="3777704"/>
            <a:ext cx="1502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6709" y="2217590"/>
            <a:ext cx="5495131" cy="107988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800" dirty="0"/>
              <a:t>INSERT INTO </a:t>
            </a:r>
            <a:r>
              <a:rPr lang="en-US" sz="2800" dirty="0">
                <a:solidFill>
                  <a:srgbClr val="92D050"/>
                </a:solidFill>
              </a:rPr>
              <a:t>Students</a:t>
            </a:r>
            <a:r>
              <a:rPr lang="en-US" sz="2800" dirty="0"/>
              <a:t> </a:t>
            </a:r>
          </a:p>
          <a:p>
            <a:r>
              <a:rPr lang="en-US" sz="2800" dirty="0"/>
              <a:t>VALUES ('Oliver',20171112,'G402');</a:t>
            </a:r>
          </a:p>
        </p:txBody>
      </p:sp>
      <p:sp>
        <p:nvSpPr>
          <p:cNvPr id="15" name="Rounded Rectangular Callout 9">
            <a:extLst>
              <a:ext uri="{FF2B5EF4-FFF2-40B4-BE49-F238E27FC236}">
                <a16:creationId xmlns:a16="http://schemas.microsoft.com/office/drawing/2014/main" id="{D619C2C0-3847-4A07-B607-4D5827E69E01}"/>
              </a:ext>
            </a:extLst>
          </p:cNvPr>
          <p:cNvSpPr/>
          <p:nvPr/>
        </p:nvSpPr>
        <p:spPr>
          <a:xfrm>
            <a:off x="5275194" y="3560527"/>
            <a:ext cx="4483749" cy="408813"/>
          </a:xfrm>
          <a:prstGeom prst="wedgeRoundRectCallout">
            <a:avLst>
              <a:gd name="adj1" fmla="val -14465"/>
              <a:gd name="adj2" fmla="val -10930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' is used to denote the start or end of a string</a:t>
            </a:r>
            <a:endParaRPr lang="en-US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7EBB6-991F-483C-8D7A-EA93FC9E16A5}"/>
              </a:ext>
            </a:extLst>
          </p:cNvPr>
          <p:cNvSpPr txBox="1"/>
          <p:nvPr/>
        </p:nvSpPr>
        <p:spPr>
          <a:xfrm>
            <a:off x="381231" y="1737360"/>
            <a:ext cx="86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Before: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BA96E-762C-4EA3-9B46-544A7C3D8158}"/>
              </a:ext>
            </a:extLst>
          </p:cNvPr>
          <p:cNvSpPr txBox="1"/>
          <p:nvPr/>
        </p:nvSpPr>
        <p:spPr>
          <a:xfrm>
            <a:off x="381231" y="3827747"/>
            <a:ext cx="72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5677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5" grpId="0" animBg="1"/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340769"/>
            <a:ext cx="9144000" cy="510748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200074" y="1644261"/>
            <a:ext cx="1473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92D050"/>
                </a:solidFill>
              </a:rPr>
              <a:t>Students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30042"/>
              </p:ext>
            </p:extLst>
          </p:nvPr>
        </p:nvGraphicFramePr>
        <p:xfrm>
          <a:off x="1249946" y="4136906"/>
          <a:ext cx="37444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87772" y="3656886"/>
            <a:ext cx="1502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9895" y="2104048"/>
            <a:ext cx="6264060" cy="107988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800" dirty="0"/>
              <a:t>INSERT INTO </a:t>
            </a:r>
            <a:r>
              <a:rPr lang="en-US" sz="2800" dirty="0">
                <a:solidFill>
                  <a:srgbClr val="92D050"/>
                </a:solidFill>
              </a:rPr>
              <a:t>Students</a:t>
            </a:r>
            <a:r>
              <a:rPr lang="en-US" sz="2800" dirty="0"/>
              <a:t>(</a:t>
            </a:r>
            <a:r>
              <a:rPr lang="en-US" sz="2800" dirty="0" err="1">
                <a:solidFill>
                  <a:srgbClr val="00B0F0"/>
                </a:solidFill>
              </a:rPr>
              <a:t>programme,name</a:t>
            </a:r>
            <a:r>
              <a:rPr lang="en-US" sz="2800" dirty="0"/>
              <a:t>)</a:t>
            </a:r>
          </a:p>
          <a:p>
            <a:r>
              <a:rPr lang="en-US" sz="2800" dirty="0"/>
              <a:t>VALUES</a:t>
            </a:r>
            <a:r>
              <a:rPr lang="mr-IN" sz="2800" dirty="0"/>
              <a:t>('</a:t>
            </a:r>
            <a:r>
              <a:rPr lang="en-US" sz="2800" dirty="0"/>
              <a:t>G702</a:t>
            </a:r>
            <a:r>
              <a:rPr lang="mr-IN" sz="2800" dirty="0"/>
              <a:t>','</a:t>
            </a:r>
            <a:r>
              <a:rPr lang="en-GB" sz="2800" dirty="0"/>
              <a:t>Danny</a:t>
            </a:r>
            <a:r>
              <a:rPr lang="mr-IN" sz="2800" dirty="0"/>
              <a:t>')</a:t>
            </a:r>
            <a:r>
              <a:rPr lang="en-US" sz="2800" dirty="0"/>
              <a:t>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441634"/>
              </p:ext>
            </p:extLst>
          </p:nvPr>
        </p:nvGraphicFramePr>
        <p:xfrm>
          <a:off x="1249946" y="2104048"/>
          <a:ext cx="3744414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3246BD3-BF02-46B9-A542-3B25422593A1}"/>
              </a:ext>
            </a:extLst>
          </p:cNvPr>
          <p:cNvSpPr txBox="1"/>
          <p:nvPr/>
        </p:nvSpPr>
        <p:spPr>
          <a:xfrm>
            <a:off x="381231" y="1737360"/>
            <a:ext cx="86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Before: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78B63-8EA7-42FC-AF70-15633FE1F73E}"/>
              </a:ext>
            </a:extLst>
          </p:cNvPr>
          <p:cNvSpPr txBox="1"/>
          <p:nvPr/>
        </p:nvSpPr>
        <p:spPr>
          <a:xfrm>
            <a:off x="381231" y="3827747"/>
            <a:ext cx="720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After: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22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is the most common exploit online (~50% of all exploits are SQL Injections)</a:t>
            </a:r>
          </a:p>
          <a:p>
            <a:r>
              <a:rPr lang="en-US" dirty="0"/>
              <a:t>What happens is: You make a website with a form, you take what people inputs into the form and insert the fields into your SQL database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5" name="Picture 2" descr="Exploits of a Mom - XKCD comic 3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1610" y="1845734"/>
            <a:ext cx="8668848" cy="266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F9A99C-D079-4FAA-8560-C9C2A6EBD82A}"/>
              </a:ext>
            </a:extLst>
          </p:cNvPr>
          <p:cNvSpPr txBox="1"/>
          <p:nvPr/>
        </p:nvSpPr>
        <p:spPr>
          <a:xfrm>
            <a:off x="3733801" y="4437781"/>
            <a:ext cx="3088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Credits: https://xkcd.com/327/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206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439933"/>
              </p:ext>
            </p:extLst>
          </p:nvPr>
        </p:nvGraphicFramePr>
        <p:xfrm>
          <a:off x="1415481" y="2399823"/>
          <a:ext cx="3744414" cy="184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721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353306" y="1867475"/>
            <a:ext cx="15023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92D050"/>
                </a:solidFill>
              </a:defRPr>
            </a:lvl1pPr>
          </a:lstStyle>
          <a:p>
            <a:r>
              <a:rPr lang="en-US" dirty="0"/>
              <a:t>Students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340769"/>
            <a:ext cx="9684568" cy="510748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27448" y="1858347"/>
            <a:ext cx="4320480" cy="2390596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983432" y="1952503"/>
            <a:ext cx="4464496" cy="229644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52003" y="4753952"/>
            <a:ext cx="7709776" cy="107988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800" dirty="0"/>
              <a:t>INSERT INTO </a:t>
            </a:r>
            <a:r>
              <a:rPr lang="en-US" sz="2800" dirty="0">
                <a:solidFill>
                  <a:srgbClr val="92D050"/>
                </a:solidFill>
              </a:rPr>
              <a:t>Students</a:t>
            </a:r>
            <a:r>
              <a:rPr lang="en-US" sz="2800" dirty="0"/>
              <a:t>(</a:t>
            </a:r>
            <a:r>
              <a:rPr lang="en-US" sz="2800" dirty="0" err="1">
                <a:solidFill>
                  <a:srgbClr val="00B0F0"/>
                </a:solidFill>
              </a:rPr>
              <a:t>programme,name</a:t>
            </a:r>
            <a:r>
              <a:rPr lang="en-US" sz="2800" dirty="0"/>
              <a:t>)</a:t>
            </a:r>
          </a:p>
          <a:p>
            <a:r>
              <a:rPr lang="en-US" sz="2800" dirty="0"/>
              <a:t>VALUES</a:t>
            </a:r>
            <a:r>
              <a:rPr lang="mr-IN" sz="2800" dirty="0"/>
              <a:t>('</a:t>
            </a:r>
            <a:r>
              <a:rPr lang="en-US" sz="2800" dirty="0"/>
              <a:t>G702</a:t>
            </a:r>
            <a:r>
              <a:rPr lang="mr-IN" sz="2800" dirty="0"/>
              <a:t>','</a:t>
            </a:r>
            <a:r>
              <a:rPr lang="en-US" sz="2800" dirty="0">
                <a:solidFill>
                  <a:srgbClr val="FF0000"/>
                </a:solidFill>
              </a:rPr>
              <a:t>Robert</a:t>
            </a:r>
            <a:r>
              <a:rPr lang="mr-IN" sz="2800" dirty="0">
                <a:solidFill>
                  <a:srgbClr val="FF0000"/>
                </a:solidFill>
              </a:rPr>
              <a:t>'</a:t>
            </a:r>
            <a:r>
              <a:rPr lang="en-US" sz="2800" dirty="0">
                <a:solidFill>
                  <a:srgbClr val="FF0000"/>
                </a:solidFill>
              </a:rPr>
              <a:t>); DROP TABLE students; --</a:t>
            </a:r>
            <a:r>
              <a:rPr lang="mr-IN" sz="2800" dirty="0"/>
              <a:t>')</a:t>
            </a:r>
            <a:r>
              <a:rPr lang="en-US" sz="2800" dirty="0"/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D8B5B9-FBB0-4C15-8FA0-0462A1673C0E}"/>
              </a:ext>
            </a:extLst>
          </p:cNvPr>
          <p:cNvSpPr txBox="1"/>
          <p:nvPr/>
        </p:nvSpPr>
        <p:spPr>
          <a:xfrm>
            <a:off x="1952003" y="4753952"/>
            <a:ext cx="7709776" cy="107988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800" dirty="0"/>
              <a:t>INSERT INTO </a:t>
            </a:r>
            <a:r>
              <a:rPr lang="en-US" sz="2800" dirty="0">
                <a:solidFill>
                  <a:srgbClr val="92D050"/>
                </a:solidFill>
              </a:rPr>
              <a:t>Students</a:t>
            </a:r>
            <a:r>
              <a:rPr lang="en-US" sz="2800" dirty="0"/>
              <a:t>(</a:t>
            </a:r>
            <a:r>
              <a:rPr lang="en-US" sz="2800" dirty="0" err="1">
                <a:solidFill>
                  <a:srgbClr val="00B0F0"/>
                </a:solidFill>
              </a:rPr>
              <a:t>programme,name</a:t>
            </a:r>
            <a:r>
              <a:rPr lang="en-US" sz="2800" dirty="0"/>
              <a:t>)</a:t>
            </a:r>
          </a:p>
          <a:p>
            <a:r>
              <a:rPr lang="en-US" sz="2800" dirty="0"/>
              <a:t>VALUES</a:t>
            </a:r>
            <a:r>
              <a:rPr lang="mr-IN" sz="2800" dirty="0"/>
              <a:t>('</a:t>
            </a:r>
            <a:r>
              <a:rPr lang="en-US" sz="2800" dirty="0"/>
              <a:t>G702</a:t>
            </a:r>
            <a:r>
              <a:rPr lang="mr-IN" sz="2800" dirty="0"/>
              <a:t>','</a:t>
            </a:r>
            <a:r>
              <a:rPr lang="en-US" sz="2800" dirty="0">
                <a:solidFill>
                  <a:srgbClr val="FF0000"/>
                </a:solidFill>
              </a:rPr>
              <a:t>Robert</a:t>
            </a:r>
            <a:r>
              <a:rPr lang="mr-IN" sz="2800" dirty="0">
                <a:solidFill>
                  <a:srgbClr val="FF0000"/>
                </a:solidFill>
              </a:rPr>
              <a:t>'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); DROP TABLE </a:t>
            </a:r>
            <a:r>
              <a:rPr lang="en-US" sz="2800" dirty="0">
                <a:solidFill>
                  <a:srgbClr val="92D050"/>
                </a:solidFill>
              </a:rPr>
              <a:t>students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; --</a:t>
            </a:r>
            <a:r>
              <a:rPr lang="mr-IN" sz="2800" dirty="0"/>
              <a:t>')</a:t>
            </a:r>
            <a:r>
              <a:rPr lang="en-US" sz="2800" dirty="0"/>
              <a:t>;</a:t>
            </a:r>
          </a:p>
        </p:txBody>
      </p:sp>
      <p:sp>
        <p:nvSpPr>
          <p:cNvPr id="16" name="Rounded Rectangular Callout 22">
            <a:extLst>
              <a:ext uri="{FF2B5EF4-FFF2-40B4-BE49-F238E27FC236}">
                <a16:creationId xmlns:a16="http://schemas.microsoft.com/office/drawing/2014/main" id="{BC42A6EF-EE11-4DE2-8FCE-52888F9BEF61}"/>
              </a:ext>
            </a:extLst>
          </p:cNvPr>
          <p:cNvSpPr/>
          <p:nvPr/>
        </p:nvSpPr>
        <p:spPr>
          <a:xfrm>
            <a:off x="8454501" y="4519245"/>
            <a:ext cx="3334718" cy="446348"/>
          </a:xfrm>
          <a:prstGeom prst="wedgeRoundRectCallout">
            <a:avLst>
              <a:gd name="adj1" fmla="val -34479"/>
              <a:gd name="adj2" fmla="val 14897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-- is used to denote comments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61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remove John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Warning: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6277339" y="2020778"/>
            <a:ext cx="1126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Students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0841" y="2239870"/>
            <a:ext cx="2704303" cy="833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DELETE 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WHERE </a:t>
            </a:r>
            <a:r>
              <a:rPr lang="en-US" sz="2000" b="1" dirty="0">
                <a:solidFill>
                  <a:srgbClr val="00B0F0"/>
                </a:solidFill>
              </a:rPr>
              <a:t>name</a:t>
            </a:r>
            <a:r>
              <a:rPr lang="en-US" sz="2000" b="1" dirty="0">
                <a:solidFill>
                  <a:schemeClr val="tx1"/>
                </a:solidFill>
              </a:rPr>
              <a:t>=‘John’;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0841" y="4660067"/>
            <a:ext cx="2810101" cy="987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DELETE 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  <a:r>
              <a:rPr lang="en-US" sz="3000" b="1" dirty="0">
                <a:solidFill>
                  <a:srgbClr val="FF0000"/>
                </a:solidFill>
              </a:rPr>
              <a:t>;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>
                <a:solidFill>
                  <a:schemeClr val="tx1"/>
                </a:solidFill>
              </a:rPr>
              <a:t>WHERE </a:t>
            </a:r>
            <a:r>
              <a:rPr lang="en-US" sz="2000" b="1" dirty="0">
                <a:solidFill>
                  <a:srgbClr val="00B0F0"/>
                </a:solidFill>
              </a:rPr>
              <a:t>name</a:t>
            </a:r>
            <a:r>
              <a:rPr lang="en-US" sz="2000" b="1" dirty="0">
                <a:solidFill>
                  <a:schemeClr val="tx1"/>
                </a:solidFill>
              </a:rPr>
              <a:t>=‘John’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8893" y="2475812"/>
          <a:ext cx="3744414" cy="22250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8893" y="2455301"/>
          <a:ext cx="37444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8893" y="2471282"/>
          <a:ext cx="3744414" cy="3708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Rounded Rectangular Callout 9">
            <a:extLst>
              <a:ext uri="{FF2B5EF4-FFF2-40B4-BE49-F238E27FC236}">
                <a16:creationId xmlns:a16="http://schemas.microsoft.com/office/drawing/2014/main" id="{CE32E59A-F374-4528-A7C6-AF236B9E5753}"/>
              </a:ext>
            </a:extLst>
          </p:cNvPr>
          <p:cNvSpPr/>
          <p:nvPr/>
        </p:nvSpPr>
        <p:spPr>
          <a:xfrm>
            <a:off x="1344236" y="883793"/>
            <a:ext cx="4446964" cy="789238"/>
          </a:xfrm>
          <a:prstGeom prst="wedgeRoundRectCallout">
            <a:avLst>
              <a:gd name="adj1" fmla="val -12592"/>
              <a:gd name="adj2" fmla="val 142128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FROM in SQL basically sets the input table (so FROM Students mean set Students as the input table)</a:t>
            </a:r>
          </a:p>
        </p:txBody>
      </p:sp>
      <p:sp>
        <p:nvSpPr>
          <p:cNvPr id="15" name="Rounded Rectangular Callout 9">
            <a:extLst>
              <a:ext uri="{FF2B5EF4-FFF2-40B4-BE49-F238E27FC236}">
                <a16:creationId xmlns:a16="http://schemas.microsoft.com/office/drawing/2014/main" id="{F3E03A49-51F4-4183-BCD0-392214FEF7B4}"/>
              </a:ext>
            </a:extLst>
          </p:cNvPr>
          <p:cNvSpPr/>
          <p:nvPr/>
        </p:nvSpPr>
        <p:spPr>
          <a:xfrm>
            <a:off x="555168" y="3429000"/>
            <a:ext cx="4974775" cy="408813"/>
          </a:xfrm>
          <a:prstGeom prst="wedgeRoundRectCallout">
            <a:avLst>
              <a:gd name="adj1" fmla="val -8442"/>
              <a:gd name="adj2" fmla="val -12261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Second line means: … where name is equal to John</a:t>
            </a:r>
            <a:endParaRPr lang="en-US" dirty="0">
              <a:solidFill>
                <a:srgbClr val="92D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604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Conditions in WHERE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8" y="1845734"/>
            <a:ext cx="10408921" cy="40233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Comparisons: =,&lt;,&lt;=,&gt;=,&gt;,&lt;&gt; (or != for the last)</a:t>
            </a:r>
          </a:p>
          <a:p>
            <a:pPr lvl="1"/>
            <a:r>
              <a:rPr lang="en-US" dirty="0"/>
              <a:t>Used for equals, strictly less than, less than or equal, greater than or equal, strictly greater and not equal of e.g. numbers</a:t>
            </a:r>
          </a:p>
          <a:p>
            <a:r>
              <a:rPr lang="en-US" dirty="0"/>
              <a:t>Conditions can contain:</a:t>
            </a:r>
          </a:p>
          <a:p>
            <a:pPr lvl="1"/>
            <a:r>
              <a:rPr lang="en-US" dirty="0"/>
              <a:t>AND</a:t>
            </a:r>
          </a:p>
          <a:p>
            <a:pPr lvl="2"/>
            <a:r>
              <a:rPr lang="en-US" dirty="0"/>
              <a:t>E.g. if you want both that the name is Oliver and the </a:t>
            </a:r>
            <a:r>
              <a:rPr lang="en-US" dirty="0" err="1"/>
              <a:t>programme</a:t>
            </a:r>
            <a:r>
              <a:rPr lang="en-US" dirty="0"/>
              <a:t> is G402, you write WHERE name = ‘Oliver’ AND </a:t>
            </a:r>
            <a:r>
              <a:rPr lang="en-US" dirty="0" err="1"/>
              <a:t>programme</a:t>
            </a:r>
            <a:r>
              <a:rPr lang="en-US" dirty="0"/>
              <a:t> = ‘G402’ </a:t>
            </a:r>
          </a:p>
          <a:p>
            <a:pPr lvl="1"/>
            <a:r>
              <a:rPr lang="en-US" dirty="0"/>
              <a:t>OR</a:t>
            </a:r>
          </a:p>
          <a:p>
            <a:pPr lvl="2"/>
            <a:r>
              <a:rPr lang="en-US" dirty="0"/>
              <a:t>Similar to AND, but used if you want or…</a:t>
            </a:r>
          </a:p>
          <a:p>
            <a:pPr lvl="1"/>
            <a:r>
              <a:rPr lang="en-US" dirty="0"/>
              <a:t>NOT</a:t>
            </a:r>
          </a:p>
          <a:p>
            <a:pPr lvl="2"/>
            <a:r>
              <a:rPr lang="en-US" dirty="0"/>
              <a:t>If you want everything but something in particular</a:t>
            </a:r>
          </a:p>
          <a:p>
            <a:pPr lvl="1"/>
            <a:r>
              <a:rPr lang="en-US" dirty="0"/>
              <a:t>BETWEEN</a:t>
            </a:r>
          </a:p>
          <a:p>
            <a:pPr lvl="2"/>
            <a:r>
              <a:rPr lang="en-US" dirty="0"/>
              <a:t>E.g. “Price BETWEEN 10 AND 20” if you want the price to be between 10 and 20</a:t>
            </a:r>
          </a:p>
          <a:p>
            <a:pPr lvl="1"/>
            <a:r>
              <a:rPr lang="en-US" dirty="0"/>
              <a:t>LIKE</a:t>
            </a:r>
          </a:p>
          <a:p>
            <a:pPr lvl="2"/>
            <a:r>
              <a:rPr lang="en-US" dirty="0"/>
              <a:t>For string matching</a:t>
            </a:r>
          </a:p>
          <a:p>
            <a:pPr lvl="2"/>
            <a:r>
              <a:rPr lang="en-US" dirty="0"/>
              <a:t>_ matches any 1 letter and % any number of letters</a:t>
            </a:r>
          </a:p>
          <a:p>
            <a:pPr lvl="2"/>
            <a:r>
              <a:rPr lang="en-US" dirty="0"/>
              <a:t>E.g. “Name LIKE ‘</a:t>
            </a:r>
            <a:r>
              <a:rPr lang="en-US" dirty="0" err="1"/>
              <a:t>O%r</a:t>
            </a:r>
            <a:r>
              <a:rPr lang="en-US" dirty="0"/>
              <a:t>’” and “Name LIKE ‘</a:t>
            </a:r>
            <a:r>
              <a:rPr lang="en-US" dirty="0" err="1"/>
              <a:t>O____r</a:t>
            </a:r>
            <a:r>
              <a:rPr lang="en-US" dirty="0"/>
              <a:t>’” matches Oliver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260D5AD-280D-4F23-8F09-5CDE2943111F}" type="slidenum">
              <a:rPr lang="en-GB" smtClean="0"/>
              <a:pPr>
                <a:spcAft>
                  <a:spcPts val="600"/>
                </a:spcAft>
              </a:pPr>
              <a:t>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006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Conditions in WHERE clauses cont.: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135326" y="2445293"/>
            <a:ext cx="4104456" cy="83366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108000" tIns="108000" rIns="108000" bIns="108000" rtlCol="0">
            <a:spAutoFit/>
          </a:bodyPr>
          <a:lstStyle/>
          <a:p>
            <a:r>
              <a:rPr lang="en-US" sz="2000" b="1" dirty="0"/>
              <a:t>DELETE FROM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/>
              <a:t>WHERE</a:t>
            </a:r>
            <a:r>
              <a:rPr lang="en-US" sz="2000" b="1" dirty="0">
                <a:solidFill>
                  <a:schemeClr val="accent3"/>
                </a:solidFill>
              </a:rPr>
              <a:t> </a:t>
            </a:r>
            <a:r>
              <a:rPr lang="en-US" sz="2000" b="1" dirty="0">
                <a:solidFill>
                  <a:srgbClr val="00B0F0"/>
                </a:solidFill>
              </a:rPr>
              <a:t>name </a:t>
            </a:r>
            <a:r>
              <a:rPr lang="en-US" sz="2000" b="1" dirty="0"/>
              <a:t>IN </a:t>
            </a:r>
            <a:r>
              <a:rPr lang="en-US" sz="2000" b="1" dirty="0">
                <a:solidFill>
                  <a:schemeClr val="tx1"/>
                </a:solidFill>
              </a:rPr>
              <a:t>(</a:t>
            </a:r>
            <a:r>
              <a:rPr lang="en-US" sz="2000" b="1" dirty="0"/>
              <a:t>‘</a:t>
            </a:r>
            <a:r>
              <a:rPr lang="en-US" sz="2000" b="1" dirty="0" err="1"/>
              <a:t>John’,’Sebastian</a:t>
            </a:r>
            <a:r>
              <a:rPr lang="en-US" sz="2000" b="1" dirty="0"/>
              <a:t>’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r>
              <a:rPr lang="en-US" sz="2000" dirty="0"/>
              <a:t>;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277339" y="2020778"/>
            <a:ext cx="1126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Students</a:t>
            </a:r>
            <a:endParaRPr lang="en-US" b="1" dirty="0">
              <a:solidFill>
                <a:schemeClr val="accent3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1770120"/>
              </p:ext>
            </p:extLst>
          </p:nvPr>
        </p:nvGraphicFramePr>
        <p:xfrm>
          <a:off x="6408893" y="2475812"/>
          <a:ext cx="37444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20174378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692AEB-5F29-4ECB-B79C-4F3F1B50F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177023"/>
              </p:ext>
            </p:extLst>
          </p:nvPr>
        </p:nvGraphicFramePr>
        <p:xfrm>
          <a:off x="6413582" y="2483336"/>
          <a:ext cx="3744414" cy="14833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ounded Rectangular Callout 22">
            <a:extLst>
              <a:ext uri="{FF2B5EF4-FFF2-40B4-BE49-F238E27FC236}">
                <a16:creationId xmlns:a16="http://schemas.microsoft.com/office/drawing/2014/main" id="{965D3847-2099-4B55-AFAC-F3C50627F3E7}"/>
              </a:ext>
            </a:extLst>
          </p:cNvPr>
          <p:cNvSpPr/>
          <p:nvPr/>
        </p:nvSpPr>
        <p:spPr>
          <a:xfrm>
            <a:off x="2263333" y="3669943"/>
            <a:ext cx="3334718" cy="833662"/>
          </a:xfrm>
          <a:prstGeom prst="wedgeRoundRectCallout">
            <a:avLst>
              <a:gd name="adj1" fmla="val 11172"/>
              <a:gd name="adj2" fmla="val -9718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Special version using queries – see the video on queries – the optional part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90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to change Oliver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Relative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6277339" y="2020778"/>
            <a:ext cx="11265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Students</a:t>
            </a:r>
            <a:endParaRPr lang="en-US" b="1" dirty="0">
              <a:solidFill>
                <a:schemeClr val="accent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2195" y="2287561"/>
            <a:ext cx="2703020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UPDATE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SET </a:t>
            </a:r>
            <a:r>
              <a:rPr lang="en-US" sz="2000" b="1" dirty="0" err="1">
                <a:solidFill>
                  <a:srgbClr val="FF0000"/>
                </a:solidFill>
              </a:rPr>
              <a:t>programme</a:t>
            </a:r>
            <a:r>
              <a:rPr lang="en-US" sz="2000" b="1" dirty="0">
                <a:solidFill>
                  <a:schemeClr val="tx1"/>
                </a:solidFill>
              </a:rPr>
              <a:t>=‘G402’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WHERE </a:t>
            </a:r>
            <a:r>
              <a:rPr lang="en-US" sz="2000" b="1" dirty="0">
                <a:solidFill>
                  <a:srgbClr val="00B0F0"/>
                </a:solidFill>
              </a:rPr>
              <a:t>name</a:t>
            </a:r>
            <a:r>
              <a:rPr lang="en-US" sz="2000" b="1" dirty="0">
                <a:solidFill>
                  <a:schemeClr val="tx1"/>
                </a:solidFill>
              </a:rPr>
              <a:t>=‘Oliver’;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2194" y="4579347"/>
            <a:ext cx="2722000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UPDATE </a:t>
            </a:r>
            <a:r>
              <a:rPr lang="en-US" sz="2000" b="1" dirty="0">
                <a:solidFill>
                  <a:schemeClr val="accent3"/>
                </a:solidFill>
              </a:rPr>
              <a:t>Students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SET </a:t>
            </a:r>
            <a:r>
              <a:rPr lang="en-US" sz="2000" b="1" dirty="0">
                <a:solidFill>
                  <a:srgbClr val="FF0000"/>
                </a:solidFill>
              </a:rPr>
              <a:t>number</a:t>
            </a:r>
            <a:r>
              <a:rPr lang="en-US" sz="2000" b="1" dirty="0">
                <a:solidFill>
                  <a:schemeClr val="tx1"/>
                </a:solidFill>
              </a:rPr>
              <a:t>=</a:t>
            </a:r>
            <a:r>
              <a:rPr lang="en-US" sz="2000" b="1" dirty="0">
                <a:solidFill>
                  <a:srgbClr val="00B0F0"/>
                </a:solidFill>
              </a:rPr>
              <a:t>number</a:t>
            </a:r>
            <a:r>
              <a:rPr lang="en-US" sz="2000" b="1" dirty="0">
                <a:solidFill>
                  <a:schemeClr val="tx1"/>
                </a:solidFill>
              </a:rPr>
              <a:t>+1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WHERE </a:t>
            </a:r>
            <a:r>
              <a:rPr lang="en-US" sz="2000" b="1" dirty="0">
                <a:solidFill>
                  <a:srgbClr val="00B0F0"/>
                </a:solidFill>
              </a:rPr>
              <a:t>name</a:t>
            </a:r>
            <a:r>
              <a:rPr lang="en-US" sz="2000" b="1" dirty="0">
                <a:solidFill>
                  <a:schemeClr val="tx1"/>
                </a:solidFill>
              </a:rPr>
              <a:t>=‘Oliver’;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8893" y="2455301"/>
          <a:ext cx="37444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8893" y="2455301"/>
          <a:ext cx="37444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408893" y="2455301"/>
          <a:ext cx="3744414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936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programme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s-IS" dirty="0"/>
                        <a:t>20171989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G402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Oliver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2017111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en-US" dirty="0"/>
                        <a:t>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Danny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null</a:t>
                      </a:r>
                      <a:endParaRPr lang="en-US" i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20171234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G702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ounded Rectangular Callout 9">
            <a:extLst>
              <a:ext uri="{FF2B5EF4-FFF2-40B4-BE49-F238E27FC236}">
                <a16:creationId xmlns:a16="http://schemas.microsoft.com/office/drawing/2014/main" id="{41EB851C-6518-4B20-8452-A14809EB3813}"/>
              </a:ext>
            </a:extLst>
          </p:cNvPr>
          <p:cNvSpPr/>
          <p:nvPr/>
        </p:nvSpPr>
        <p:spPr>
          <a:xfrm>
            <a:off x="4297191" y="5059495"/>
            <a:ext cx="7366753" cy="826806"/>
          </a:xfrm>
          <a:prstGeom prst="wedgeRoundRectCallout">
            <a:avLst>
              <a:gd name="adj1" fmla="val -56783"/>
              <a:gd name="adj2" fmla="val -2517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Therefore, = in WHERE is not the same type as = in SET </a:t>
            </a:r>
          </a:p>
          <a:p>
            <a:r>
              <a:rPr lang="en-US" dirty="0"/>
              <a:t>I.e. = in WHERE is for comparison (like == in Python or Java)</a:t>
            </a:r>
            <a:br>
              <a:rPr lang="en-US" dirty="0"/>
            </a:br>
            <a:r>
              <a:rPr lang="en-US" dirty="0"/>
              <a:t>and = in SET is for change value (like = in Python or Java)</a:t>
            </a:r>
            <a:endParaRPr lang="en-US" dirty="0">
              <a:solidFill>
                <a:srgbClr val="92D05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76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3|20.4|8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18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67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32.6|6|1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10.6|15.3|10.6|22.7|8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1.3|68.4|2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6|40.9|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39.2|12.8|2.7|10.5|1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754</Words>
  <Application>Microsoft Office PowerPoint</Application>
  <PresentationFormat>Widescreen</PresentationFormat>
  <Paragraphs>282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SQL DML except queries</vt:lpstr>
      <vt:lpstr>Overview of this video</vt:lpstr>
      <vt:lpstr>Data Manipulation Language (DML)</vt:lpstr>
      <vt:lpstr>Insert</vt:lpstr>
      <vt:lpstr>Insert</vt:lpstr>
      <vt:lpstr>SQL Injections</vt:lpstr>
      <vt:lpstr>Insert</vt:lpstr>
      <vt:lpstr>DELETE</vt:lpstr>
      <vt:lpstr>Conditions in WHERE clauses</vt:lpstr>
      <vt:lpstr>Conditions in WHERE clauses cont.: IN</vt:lpstr>
      <vt:lpstr>UPDATE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DML except queries</dc:title>
  <dc:creator>Rasmus Ibsen-Jensen</dc:creator>
  <cp:lastModifiedBy>Rasmus Ibsen-Jensen</cp:lastModifiedBy>
  <cp:revision>20</cp:revision>
  <dcterms:created xsi:type="dcterms:W3CDTF">2020-09-06T22:08:20Z</dcterms:created>
  <dcterms:modified xsi:type="dcterms:W3CDTF">2021-10-14T17:50:59Z</dcterms:modified>
</cp:coreProperties>
</file>