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354" r:id="rId3"/>
    <p:sldId id="388" r:id="rId4"/>
    <p:sldId id="389" r:id="rId5"/>
    <p:sldId id="400" r:id="rId6"/>
    <p:sldId id="399" r:id="rId7"/>
    <p:sldId id="390"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6" autoAdjust="0"/>
    <p:restoredTop sz="94660"/>
  </p:normalViewPr>
  <p:slideViewPr>
    <p:cSldViewPr snapToGrid="0">
      <p:cViewPr varScale="1">
        <p:scale>
          <a:sx n="116" d="100"/>
          <a:sy n="116" d="100"/>
        </p:scale>
        <p:origin x="108" y="4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D28406D-7242-4DAD-9DB0-700CF4487816}" type="datetimeFigureOut">
              <a:rPr lang="en-GB" smtClean="0"/>
              <a:t>14/10/2021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2180E02-3ACA-43C2-BDA7-374F854ADA76}"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02599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28406D-7242-4DAD-9DB0-700CF4487816}" type="datetimeFigureOut">
              <a:rPr lang="en-GB" smtClean="0"/>
              <a:t>14/10/2021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2180E02-3ACA-43C2-BDA7-374F854ADA76}" type="slidenum">
              <a:rPr lang="en-GB" smtClean="0"/>
              <a:t>‹#›</a:t>
            </a:fld>
            <a:endParaRPr lang="en-GB"/>
          </a:p>
        </p:txBody>
      </p:sp>
    </p:spTree>
    <p:extLst>
      <p:ext uri="{BB962C8B-B14F-4D97-AF65-F5344CB8AC3E}">
        <p14:creationId xmlns:p14="http://schemas.microsoft.com/office/powerpoint/2010/main" val="3281489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28406D-7242-4DAD-9DB0-700CF4487816}" type="datetimeFigureOut">
              <a:rPr lang="en-GB" smtClean="0"/>
              <a:t>14/10/2021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2180E02-3ACA-43C2-BDA7-374F854ADA76}" type="slidenum">
              <a:rPr lang="en-GB" smtClean="0"/>
              <a:t>‹#›</a:t>
            </a:fld>
            <a:endParaRPr lang="en-GB"/>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74224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D28406D-7242-4DAD-9DB0-700CF4487816}" type="datetimeFigureOut">
              <a:rPr lang="en-GB" smtClean="0"/>
              <a:t>14/10/2021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2180E02-3ACA-43C2-BDA7-374F854ADA76}" type="slidenum">
              <a:rPr lang="en-GB" smtClean="0"/>
              <a:t>‹#›</a:t>
            </a:fld>
            <a:endParaRPr lang="en-GB"/>
          </a:p>
        </p:txBody>
      </p:sp>
    </p:spTree>
    <p:extLst>
      <p:ext uri="{BB962C8B-B14F-4D97-AF65-F5344CB8AC3E}">
        <p14:creationId xmlns:p14="http://schemas.microsoft.com/office/powerpoint/2010/main" val="1014589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D28406D-7242-4DAD-9DB0-700CF4487816}" type="datetimeFigureOut">
              <a:rPr lang="en-GB" smtClean="0"/>
              <a:t>14/10/2021</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C2180E02-3ACA-43C2-BDA7-374F854ADA76}" type="slidenum">
              <a:rPr lang="en-GB" smtClean="0"/>
              <a:t>‹#›</a:t>
            </a:fld>
            <a:endParaRPr lang="en-GB"/>
          </a:p>
        </p:txBody>
      </p:sp>
    </p:spTree>
    <p:extLst>
      <p:ext uri="{BB962C8B-B14F-4D97-AF65-F5344CB8AC3E}">
        <p14:creationId xmlns:p14="http://schemas.microsoft.com/office/powerpoint/2010/main" val="1729242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D28406D-7242-4DAD-9DB0-700CF4487816}" type="datetimeFigureOut">
              <a:rPr lang="en-GB" smtClean="0"/>
              <a:t>14/10/2021</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C2180E02-3ACA-43C2-BDA7-374F854ADA76}" type="slidenum">
              <a:rPr lang="en-GB" smtClean="0"/>
              <a:t>‹#›</a:t>
            </a:fld>
            <a:endParaRPr lang="en-GB"/>
          </a:p>
        </p:txBody>
      </p:sp>
    </p:spTree>
    <p:extLst>
      <p:ext uri="{BB962C8B-B14F-4D97-AF65-F5344CB8AC3E}">
        <p14:creationId xmlns:p14="http://schemas.microsoft.com/office/powerpoint/2010/main" val="497411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D28406D-7242-4DAD-9DB0-700CF4487816}" type="datetimeFigureOut">
              <a:rPr lang="en-GB" smtClean="0"/>
              <a:t>14/10/2021</a:t>
            </a:fld>
            <a:endParaRPr lang="en-GB"/>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GB"/>
          </a:p>
        </p:txBody>
      </p:sp>
      <p:sp>
        <p:nvSpPr>
          <p:cNvPr id="9" name="Slide Number Placeholder 8"/>
          <p:cNvSpPr>
            <a:spLocks noGrp="1"/>
          </p:cNvSpPr>
          <p:nvPr>
            <p:ph type="sldNum" sz="quarter" idx="12"/>
          </p:nvPr>
        </p:nvSpPr>
        <p:spPr/>
        <p:txBody>
          <a:bodyPr/>
          <a:lstStyle/>
          <a:p>
            <a:fld id="{C2180E02-3ACA-43C2-BDA7-374F854ADA76}" type="slidenum">
              <a:rPr lang="en-GB" smtClean="0"/>
              <a:t>‹#›</a:t>
            </a:fld>
            <a:endParaRPr lang="en-GB"/>
          </a:p>
        </p:txBody>
      </p:sp>
    </p:spTree>
    <p:extLst>
      <p:ext uri="{BB962C8B-B14F-4D97-AF65-F5344CB8AC3E}">
        <p14:creationId xmlns:p14="http://schemas.microsoft.com/office/powerpoint/2010/main" val="1191834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D28406D-7242-4DAD-9DB0-700CF4487816}" type="datetimeFigureOut">
              <a:rPr lang="en-GB" smtClean="0"/>
              <a:t>14/10/2021</a:t>
            </a:fld>
            <a:endParaRPr lang="en-GB"/>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2180E02-3ACA-43C2-BDA7-374F854ADA76}" type="slidenum">
              <a:rPr lang="en-GB" smtClean="0"/>
              <a:t>‹#›</a:t>
            </a:fld>
            <a:endParaRPr lang="en-GB"/>
          </a:p>
        </p:txBody>
      </p:sp>
    </p:spTree>
    <p:extLst>
      <p:ext uri="{BB962C8B-B14F-4D97-AF65-F5344CB8AC3E}">
        <p14:creationId xmlns:p14="http://schemas.microsoft.com/office/powerpoint/2010/main" val="35035295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D28406D-7242-4DAD-9DB0-700CF4487816}" type="datetimeFigureOut">
              <a:rPr lang="en-GB" smtClean="0"/>
              <a:t>14/10/2021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C2180E02-3ACA-43C2-BDA7-374F854ADA76}" type="slidenum">
              <a:rPr lang="en-GB" smtClean="0"/>
              <a:t>‹#›</a:t>
            </a:fld>
            <a:endParaRPr lang="en-GB"/>
          </a:p>
        </p:txBody>
      </p:sp>
    </p:spTree>
    <p:extLst>
      <p:ext uri="{BB962C8B-B14F-4D97-AF65-F5344CB8AC3E}">
        <p14:creationId xmlns:p14="http://schemas.microsoft.com/office/powerpoint/2010/main" val="1557411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28406D-7242-4DAD-9DB0-700CF4487816}" type="datetimeFigureOut">
              <a:rPr lang="en-GB" smtClean="0"/>
              <a:t>14/10/2021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2180E02-3ACA-43C2-BDA7-374F854ADA76}" type="slidenum">
              <a:rPr lang="en-GB" smtClean="0"/>
              <a:t>‹#›</a:t>
            </a:fld>
            <a:endParaRPr lang="en-GB"/>
          </a:p>
        </p:txBody>
      </p:sp>
    </p:spTree>
    <p:extLst>
      <p:ext uri="{BB962C8B-B14F-4D97-AF65-F5344CB8AC3E}">
        <p14:creationId xmlns:p14="http://schemas.microsoft.com/office/powerpoint/2010/main" val="1734375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28406D-7242-4DAD-9DB0-700CF4487816}" type="datetimeFigureOut">
              <a:rPr lang="en-GB" smtClean="0"/>
              <a:t>14/10/2021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C2180E02-3ACA-43C2-BDA7-374F854ADA76}" type="slidenum">
              <a:rPr lang="en-GB" smtClean="0"/>
              <a:t>‹#›</a:t>
            </a:fld>
            <a:endParaRPr lang="en-GB"/>
          </a:p>
        </p:txBody>
      </p:sp>
    </p:spTree>
    <p:extLst>
      <p:ext uri="{BB962C8B-B14F-4D97-AF65-F5344CB8AC3E}">
        <p14:creationId xmlns:p14="http://schemas.microsoft.com/office/powerpoint/2010/main" val="2795847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D28406D-7242-4DAD-9DB0-700CF4487816}" type="datetimeFigureOut">
              <a:rPr lang="en-GB" smtClean="0"/>
              <a:t>14/10/2021</a:t>
            </a:fld>
            <a:endParaRPr lang="en-GB"/>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GB"/>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C2180E02-3ACA-43C2-BDA7-374F854ADA76}" type="slidenum">
              <a:rPr lang="en-GB" smtClean="0"/>
              <a:t>‹#›</a:t>
            </a:fld>
            <a:endParaRPr lang="en-GB"/>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96313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C339A-3A1B-425A-BE23-7309DE918B52}"/>
              </a:ext>
            </a:extLst>
          </p:cNvPr>
          <p:cNvSpPr>
            <a:spLocks noGrp="1"/>
          </p:cNvSpPr>
          <p:nvPr>
            <p:ph type="ctrTitle"/>
          </p:nvPr>
        </p:nvSpPr>
        <p:spPr/>
        <p:txBody>
          <a:bodyPr/>
          <a:lstStyle/>
          <a:p>
            <a:r>
              <a:rPr lang="en-US" dirty="0"/>
              <a:t>Introduction to relational databases and SQL</a:t>
            </a:r>
            <a:endParaRPr lang="en-GB" dirty="0"/>
          </a:p>
        </p:txBody>
      </p:sp>
      <p:sp>
        <p:nvSpPr>
          <p:cNvPr id="3" name="Subtitle 2">
            <a:extLst>
              <a:ext uri="{FF2B5EF4-FFF2-40B4-BE49-F238E27FC236}">
                <a16:creationId xmlns:a16="http://schemas.microsoft.com/office/drawing/2014/main" id="{8CE9215B-5444-4BC2-8532-5AAB348C617C}"/>
              </a:ext>
            </a:extLst>
          </p:cNvPr>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23960727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087AB-00C3-4F0C-ABD5-3827C0525711}"/>
              </a:ext>
            </a:extLst>
          </p:cNvPr>
          <p:cNvSpPr>
            <a:spLocks noGrp="1"/>
          </p:cNvSpPr>
          <p:nvPr>
            <p:ph type="title"/>
          </p:nvPr>
        </p:nvSpPr>
        <p:spPr/>
        <p:txBody>
          <a:bodyPr/>
          <a:lstStyle/>
          <a:p>
            <a:r>
              <a:rPr lang="en-US" dirty="0"/>
              <a:t>Overview of this video</a:t>
            </a:r>
            <a:endParaRPr lang="en-GB" dirty="0"/>
          </a:p>
        </p:txBody>
      </p:sp>
      <p:sp>
        <p:nvSpPr>
          <p:cNvPr id="3" name="Content Placeholder 2">
            <a:extLst>
              <a:ext uri="{FF2B5EF4-FFF2-40B4-BE49-F238E27FC236}">
                <a16:creationId xmlns:a16="http://schemas.microsoft.com/office/drawing/2014/main" id="{B640F842-B16B-4A9E-872B-51714976B919}"/>
              </a:ext>
            </a:extLst>
          </p:cNvPr>
          <p:cNvSpPr>
            <a:spLocks noGrp="1"/>
          </p:cNvSpPr>
          <p:nvPr>
            <p:ph idx="1"/>
          </p:nvPr>
        </p:nvSpPr>
        <p:spPr>
          <a:xfrm>
            <a:off x="1097280" y="1845734"/>
            <a:ext cx="10572206" cy="4023360"/>
          </a:xfrm>
        </p:spPr>
        <p:txBody>
          <a:bodyPr>
            <a:normAutofit/>
          </a:bodyPr>
          <a:lstStyle/>
          <a:p>
            <a:r>
              <a:rPr lang="en-US" sz="3000" dirty="0"/>
              <a:t>Definitions and overview over relational databases and SQL (standard query language)</a:t>
            </a:r>
            <a:endParaRPr lang="en-GB" sz="3000" dirty="0"/>
          </a:p>
        </p:txBody>
      </p:sp>
      <p:sp>
        <p:nvSpPr>
          <p:cNvPr id="6" name="Slide Number Placeholder 3">
            <a:extLst>
              <a:ext uri="{FF2B5EF4-FFF2-40B4-BE49-F238E27FC236}">
                <a16:creationId xmlns:a16="http://schemas.microsoft.com/office/drawing/2014/main" id="{43F3E103-D5D4-4B09-9AA6-665AEF7FBC9F}"/>
              </a:ext>
            </a:extLst>
          </p:cNvPr>
          <p:cNvSpPr>
            <a:spLocks noGrp="1"/>
          </p:cNvSpPr>
          <p:nvPr>
            <p:ph type="sldNum" sz="quarter" idx="12"/>
          </p:nvPr>
        </p:nvSpPr>
        <p:spPr>
          <a:xfrm>
            <a:off x="9900458" y="6459785"/>
            <a:ext cx="1312025" cy="365125"/>
          </a:xfrm>
        </p:spPr>
        <p:txBody>
          <a:bodyPr/>
          <a:lstStyle/>
          <a:p>
            <a:fld id="{C260D5AD-280D-4F23-8F09-5CDE2943111F}" type="slidenum">
              <a:rPr lang="en-GB" smtClean="0"/>
              <a:pPr/>
              <a:t>2</a:t>
            </a:fld>
            <a:endParaRPr lang="en-GB" dirty="0"/>
          </a:p>
        </p:txBody>
      </p:sp>
    </p:spTree>
    <p:extLst>
      <p:ext uri="{BB962C8B-B14F-4D97-AF65-F5344CB8AC3E}">
        <p14:creationId xmlns:p14="http://schemas.microsoft.com/office/powerpoint/2010/main" val="1919403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1013294" cy="1450757"/>
          </a:xfrm>
        </p:spPr>
        <p:txBody>
          <a:bodyPr>
            <a:normAutofit/>
          </a:bodyPr>
          <a:lstStyle/>
          <a:p>
            <a:r>
              <a:rPr lang="en-US" dirty="0"/>
              <a:t>Relational database</a:t>
            </a:r>
          </a:p>
        </p:txBody>
      </p:sp>
      <p:sp>
        <p:nvSpPr>
          <p:cNvPr id="3" name="Content Placeholder 2"/>
          <p:cNvSpPr>
            <a:spLocks noGrp="1"/>
          </p:cNvSpPr>
          <p:nvPr>
            <p:ph idx="1"/>
          </p:nvPr>
        </p:nvSpPr>
        <p:spPr>
          <a:xfrm>
            <a:off x="1097280" y="4710243"/>
            <a:ext cx="8229600" cy="1665388"/>
          </a:xfrm>
        </p:spPr>
        <p:txBody>
          <a:bodyPr>
            <a:normAutofit/>
          </a:bodyPr>
          <a:lstStyle/>
          <a:p>
            <a:r>
              <a:rPr lang="en-US" dirty="0"/>
              <a:t>Data is </a:t>
            </a:r>
            <a:r>
              <a:rPr lang="en-US" dirty="0" err="1"/>
              <a:t>organised</a:t>
            </a:r>
            <a:r>
              <a:rPr lang="en-US" dirty="0"/>
              <a:t> in </a:t>
            </a:r>
            <a:r>
              <a:rPr lang="en-US" b="1" dirty="0"/>
              <a:t>tables</a:t>
            </a:r>
            <a:r>
              <a:rPr lang="en-US" dirty="0"/>
              <a:t> (also called </a:t>
            </a:r>
            <a:r>
              <a:rPr lang="en-US" b="1" dirty="0"/>
              <a:t>relations</a:t>
            </a:r>
            <a:r>
              <a:rPr lang="en-US" dirty="0"/>
              <a:t>)</a:t>
            </a:r>
          </a:p>
          <a:p>
            <a:r>
              <a:rPr lang="en-US" dirty="0"/>
              <a:t>Each table has a </a:t>
            </a:r>
            <a:r>
              <a:rPr lang="en-US" b="1" dirty="0"/>
              <a:t>schema</a:t>
            </a:r>
            <a:r>
              <a:rPr lang="en-US" dirty="0"/>
              <a:t>. The schema of Items is Items(</a:t>
            </a:r>
            <a:r>
              <a:rPr lang="en-US" dirty="0" err="1"/>
              <a:t>name,price,number</a:t>
            </a:r>
            <a:r>
              <a:rPr lang="en-US" dirty="0"/>
              <a:t>) and the schema of Employees is Employees(</a:t>
            </a:r>
            <a:r>
              <a:rPr lang="en-US" dirty="0" err="1"/>
              <a:t>birthday,first_name,family_name</a:t>
            </a:r>
            <a:r>
              <a:rPr lang="en-US" dirty="0"/>
              <a:t>)</a:t>
            </a:r>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C260D5AD-280D-4F23-8F09-5CDE2943111F}" type="slidenum">
              <a:rPr lang="en-GB" smtClean="0"/>
              <a:pPr/>
              <a:t>3</a:t>
            </a:fld>
            <a:endParaRPr lang="en-GB"/>
          </a:p>
        </p:txBody>
      </p:sp>
      <p:grpSp>
        <p:nvGrpSpPr>
          <p:cNvPr id="57" name="Group 56"/>
          <p:cNvGrpSpPr/>
          <p:nvPr/>
        </p:nvGrpSpPr>
        <p:grpSpPr>
          <a:xfrm>
            <a:off x="3875004" y="1991371"/>
            <a:ext cx="2421511" cy="786135"/>
            <a:chOff x="3007044" y="2209944"/>
            <a:chExt cx="2421511" cy="786135"/>
          </a:xfrm>
        </p:grpSpPr>
        <p:cxnSp>
          <p:nvCxnSpPr>
            <p:cNvPr id="15" name="Straight Arrow Connector 14"/>
            <p:cNvCxnSpPr/>
            <p:nvPr/>
          </p:nvCxnSpPr>
          <p:spPr>
            <a:xfrm flipH="1">
              <a:off x="3444394" y="2631827"/>
              <a:ext cx="466014" cy="364252"/>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6" name="Straight Arrow Connector 15"/>
            <p:cNvCxnSpPr>
              <a:stCxn id="13" idx="2"/>
            </p:cNvCxnSpPr>
            <p:nvPr/>
          </p:nvCxnSpPr>
          <p:spPr>
            <a:xfrm>
              <a:off x="4217800" y="2631827"/>
              <a:ext cx="139699" cy="364252"/>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9" name="Straight Arrow Connector 18"/>
            <p:cNvCxnSpPr/>
            <p:nvPr/>
          </p:nvCxnSpPr>
          <p:spPr>
            <a:xfrm>
              <a:off x="4971605" y="2631827"/>
              <a:ext cx="284206" cy="350272"/>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3" name="Rounded Rectangle 12"/>
            <p:cNvSpPr/>
            <p:nvPr/>
          </p:nvSpPr>
          <p:spPr>
            <a:xfrm>
              <a:off x="3007044" y="2209944"/>
              <a:ext cx="2421511" cy="421883"/>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Attributes (or columns)</a:t>
              </a:r>
            </a:p>
          </p:txBody>
        </p:sp>
      </p:grpSp>
      <p:grpSp>
        <p:nvGrpSpPr>
          <p:cNvPr id="54" name="Group 53"/>
          <p:cNvGrpSpPr/>
          <p:nvPr/>
        </p:nvGrpSpPr>
        <p:grpSpPr>
          <a:xfrm>
            <a:off x="1936444" y="2384998"/>
            <a:ext cx="1648214" cy="420763"/>
            <a:chOff x="835552" y="2561336"/>
            <a:chExt cx="1648214" cy="420763"/>
          </a:xfrm>
        </p:grpSpPr>
        <p:sp>
          <p:nvSpPr>
            <p:cNvPr id="25" name="Rounded Rectangle 24"/>
            <p:cNvSpPr/>
            <p:nvPr/>
          </p:nvSpPr>
          <p:spPr>
            <a:xfrm>
              <a:off x="835552" y="2561336"/>
              <a:ext cx="1303218" cy="420763"/>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Table name</a:t>
              </a:r>
            </a:p>
          </p:txBody>
        </p:sp>
        <p:cxnSp>
          <p:nvCxnSpPr>
            <p:cNvPr id="50" name="Straight Arrow Connector 49"/>
            <p:cNvCxnSpPr>
              <a:cxnSpLocks/>
              <a:stCxn id="25" idx="3"/>
            </p:cNvCxnSpPr>
            <p:nvPr/>
          </p:nvCxnSpPr>
          <p:spPr>
            <a:xfrm>
              <a:off x="2138770" y="2771718"/>
              <a:ext cx="344996"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grpSp>
      <p:grpSp>
        <p:nvGrpSpPr>
          <p:cNvPr id="104" name="Group 103"/>
          <p:cNvGrpSpPr/>
          <p:nvPr/>
        </p:nvGrpSpPr>
        <p:grpSpPr>
          <a:xfrm>
            <a:off x="1775521" y="3126906"/>
            <a:ext cx="1725395" cy="420763"/>
            <a:chOff x="758371" y="2561336"/>
            <a:chExt cx="1725395" cy="420763"/>
          </a:xfrm>
        </p:grpSpPr>
        <p:sp>
          <p:nvSpPr>
            <p:cNvPr id="105" name="Rounded Rectangle 104"/>
            <p:cNvSpPr/>
            <p:nvPr/>
          </p:nvSpPr>
          <p:spPr>
            <a:xfrm>
              <a:off x="758371" y="2561336"/>
              <a:ext cx="1584175" cy="420763"/>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Tuple (or row)</a:t>
              </a:r>
            </a:p>
          </p:txBody>
        </p:sp>
        <p:cxnSp>
          <p:nvCxnSpPr>
            <p:cNvPr id="106" name="Straight Arrow Connector 105"/>
            <p:cNvCxnSpPr>
              <a:stCxn id="105" idx="3"/>
            </p:cNvCxnSpPr>
            <p:nvPr/>
          </p:nvCxnSpPr>
          <p:spPr>
            <a:xfrm>
              <a:off x="2342546" y="2771718"/>
              <a:ext cx="141220"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grpSp>
      <p:graphicFrame>
        <p:nvGraphicFramePr>
          <p:cNvPr id="11" name="Table 10">
            <a:extLst>
              <a:ext uri="{FF2B5EF4-FFF2-40B4-BE49-F238E27FC236}">
                <a16:creationId xmlns:a16="http://schemas.microsoft.com/office/drawing/2014/main" id="{F386DC5E-97C2-4DBC-8C79-1FC32D14C622}"/>
              </a:ext>
            </a:extLst>
          </p:cNvPr>
          <p:cNvGraphicFramePr>
            <a:graphicFrameLocks noGrp="1"/>
          </p:cNvGraphicFramePr>
          <p:nvPr>
            <p:extLst>
              <p:ext uri="{D42A27DB-BD31-4B8C-83A1-F6EECF244321}">
                <p14:modId xmlns:p14="http://schemas.microsoft.com/office/powerpoint/2010/main" val="2669876845"/>
              </p:ext>
            </p:extLst>
          </p:nvPr>
        </p:nvGraphicFramePr>
        <p:xfrm>
          <a:off x="3627982" y="2804624"/>
          <a:ext cx="3744414" cy="1483360"/>
        </p:xfrm>
        <a:graphic>
          <a:graphicData uri="http://schemas.openxmlformats.org/drawingml/2006/table">
            <a:tbl>
              <a:tblPr firstRow="1" bandRow="1">
                <a:effectLst>
                  <a:outerShdw blurRad="50800" dist="76200" dir="2700000" algn="tl" rotWithShape="0">
                    <a:prstClr val="black">
                      <a:alpha val="40000"/>
                    </a:prstClr>
                  </a:outerShdw>
                </a:effectLst>
                <a:tableStyleId>{5C22544A-7EE6-4342-B048-85BDC9FD1C3A}</a:tableStyleId>
              </a:tblPr>
              <a:tblGrid>
                <a:gridCol w="936103">
                  <a:extLst>
                    <a:ext uri="{9D8B030D-6E8A-4147-A177-3AD203B41FA5}">
                      <a16:colId xmlns:a16="http://schemas.microsoft.com/office/drawing/2014/main" val="20000"/>
                    </a:ext>
                  </a:extLst>
                </a:gridCol>
                <a:gridCol w="1368152">
                  <a:extLst>
                    <a:ext uri="{9D8B030D-6E8A-4147-A177-3AD203B41FA5}">
                      <a16:colId xmlns:a16="http://schemas.microsoft.com/office/drawing/2014/main" val="20001"/>
                    </a:ext>
                  </a:extLst>
                </a:gridCol>
                <a:gridCol w="1440159">
                  <a:extLst>
                    <a:ext uri="{9D8B030D-6E8A-4147-A177-3AD203B41FA5}">
                      <a16:colId xmlns:a16="http://schemas.microsoft.com/office/drawing/2014/main" val="20002"/>
                    </a:ext>
                  </a:extLst>
                </a:gridCol>
              </a:tblGrid>
              <a:tr h="370840">
                <a:tc>
                  <a:txBody>
                    <a:bodyPr/>
                    <a:lstStyle/>
                    <a:p>
                      <a:r>
                        <a:rPr lang="en-US" dirty="0"/>
                        <a:t>name</a:t>
                      </a:r>
                    </a:p>
                  </a:txBody>
                  <a:tcPr/>
                </a:tc>
                <a:tc>
                  <a:txBody>
                    <a:bodyPr/>
                    <a:lstStyle/>
                    <a:p>
                      <a:r>
                        <a:rPr lang="en-US" dirty="0"/>
                        <a:t>price</a:t>
                      </a:r>
                    </a:p>
                  </a:txBody>
                  <a:tcPr/>
                </a:tc>
                <a:tc>
                  <a:txBody>
                    <a:bodyPr/>
                    <a:lstStyle/>
                    <a:p>
                      <a:r>
                        <a:rPr lang="en-US" dirty="0"/>
                        <a:t>number</a:t>
                      </a:r>
                    </a:p>
                  </a:txBody>
                  <a:tcPr/>
                </a:tc>
                <a:extLst>
                  <a:ext uri="{0D108BD9-81ED-4DB2-BD59-A6C34878D82A}">
                    <a16:rowId xmlns:a16="http://schemas.microsoft.com/office/drawing/2014/main" val="10000"/>
                  </a:ext>
                </a:extLst>
              </a:tr>
              <a:tr h="370840">
                <a:tc>
                  <a:txBody>
                    <a:bodyPr/>
                    <a:lstStyle/>
                    <a:p>
                      <a:r>
                        <a:rPr lang="en-US" dirty="0"/>
                        <a:t>2L Cola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dirty="0"/>
                        <a:t>3.00</a:t>
                      </a:r>
                      <a:endParaRPr lang="en-US" dirty="0"/>
                    </a:p>
                  </a:txBody>
                  <a:tcPr/>
                </a:tc>
                <a:tc>
                  <a:txBody>
                    <a:bodyPr/>
                    <a:lstStyle/>
                    <a:p>
                      <a:r>
                        <a:rPr lang="en-US" dirty="0"/>
                        <a:t>30</a:t>
                      </a:r>
                    </a:p>
                  </a:txBody>
                  <a:tcPr/>
                </a:tc>
                <a:extLst>
                  <a:ext uri="{0D108BD9-81ED-4DB2-BD59-A6C34878D82A}">
                    <a16:rowId xmlns:a16="http://schemas.microsoft.com/office/drawing/2014/main" val="10001"/>
                  </a:ext>
                </a:extLst>
              </a:tr>
              <a:tr h="370840">
                <a:tc>
                  <a:txBody>
                    <a:bodyPr/>
                    <a:lstStyle/>
                    <a:p>
                      <a:r>
                        <a:rPr lang="en-US" dirty="0"/>
                        <a:t>Banana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dirty="0"/>
                        <a:t>0.10</a:t>
                      </a:r>
                      <a:endParaRPr lang="en-US" dirty="0"/>
                    </a:p>
                  </a:txBody>
                  <a:tcPr/>
                </a:tc>
                <a:tc>
                  <a:txBody>
                    <a:bodyPr/>
                    <a:lstStyle/>
                    <a:p>
                      <a:r>
                        <a:rPr lang="en-US" dirty="0"/>
                        <a:t>120</a:t>
                      </a:r>
                    </a:p>
                  </a:txBody>
                  <a:tcPr/>
                </a:tc>
                <a:extLst>
                  <a:ext uri="{0D108BD9-81ED-4DB2-BD59-A6C34878D82A}">
                    <a16:rowId xmlns:a16="http://schemas.microsoft.com/office/drawing/2014/main" val="10002"/>
                  </a:ext>
                </a:extLst>
              </a:tr>
              <a:tr h="370840">
                <a:tc>
                  <a:txBody>
                    <a:bodyPr/>
                    <a:lstStyle/>
                    <a:p>
                      <a:r>
                        <a:rPr lang="mr-IN" dirty="0"/>
                        <a:t>…</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mr-IN" dirty="0"/>
                        <a:t>…</a:t>
                      </a:r>
                      <a:endParaRPr lang="en-US" dirty="0"/>
                    </a:p>
                  </a:txBody>
                  <a:tcPr/>
                </a:tc>
                <a:tc>
                  <a:txBody>
                    <a:bodyPr/>
                    <a:lstStyle/>
                    <a:p>
                      <a:r>
                        <a:rPr lang="mr-IN" dirty="0"/>
                        <a:t>…</a:t>
                      </a:r>
                      <a:endParaRPr lang="en-US" dirty="0"/>
                    </a:p>
                  </a:txBody>
                  <a:tcPr/>
                </a:tc>
                <a:extLst>
                  <a:ext uri="{0D108BD9-81ED-4DB2-BD59-A6C34878D82A}">
                    <a16:rowId xmlns:a16="http://schemas.microsoft.com/office/drawing/2014/main" val="10003"/>
                  </a:ext>
                </a:extLst>
              </a:tr>
            </a:tbl>
          </a:graphicData>
        </a:graphic>
      </p:graphicFrame>
      <p:sp>
        <p:nvSpPr>
          <p:cNvPr id="12" name="TextBox 11">
            <a:extLst>
              <a:ext uri="{FF2B5EF4-FFF2-40B4-BE49-F238E27FC236}">
                <a16:creationId xmlns:a16="http://schemas.microsoft.com/office/drawing/2014/main" id="{14717EC9-9638-48EB-A376-228F3A05BE41}"/>
              </a:ext>
            </a:extLst>
          </p:cNvPr>
          <p:cNvSpPr txBox="1"/>
          <p:nvPr/>
        </p:nvSpPr>
        <p:spPr>
          <a:xfrm>
            <a:off x="3551782" y="2406458"/>
            <a:ext cx="717248" cy="369332"/>
          </a:xfrm>
          <a:prstGeom prst="rect">
            <a:avLst/>
          </a:prstGeom>
          <a:noFill/>
        </p:spPr>
        <p:txBody>
          <a:bodyPr wrap="none" rtlCol="0">
            <a:spAutoFit/>
          </a:bodyPr>
          <a:lstStyle/>
          <a:p>
            <a:r>
              <a:rPr lang="en-US" b="1" dirty="0"/>
              <a:t>Items</a:t>
            </a:r>
          </a:p>
        </p:txBody>
      </p:sp>
      <p:graphicFrame>
        <p:nvGraphicFramePr>
          <p:cNvPr id="14" name="Table 13">
            <a:extLst>
              <a:ext uri="{FF2B5EF4-FFF2-40B4-BE49-F238E27FC236}">
                <a16:creationId xmlns:a16="http://schemas.microsoft.com/office/drawing/2014/main" id="{10A8FF5D-D8F9-4CA6-BFD8-FE1943F539C7}"/>
              </a:ext>
            </a:extLst>
          </p:cNvPr>
          <p:cNvGraphicFramePr>
            <a:graphicFrameLocks noGrp="1"/>
          </p:cNvGraphicFramePr>
          <p:nvPr>
            <p:extLst>
              <p:ext uri="{D42A27DB-BD31-4B8C-83A1-F6EECF244321}">
                <p14:modId xmlns:p14="http://schemas.microsoft.com/office/powerpoint/2010/main" val="847786920"/>
              </p:ext>
            </p:extLst>
          </p:nvPr>
        </p:nvGraphicFramePr>
        <p:xfrm>
          <a:off x="6709975" y="2101328"/>
          <a:ext cx="5400599" cy="1478280"/>
        </p:xfrm>
        <a:graphic>
          <a:graphicData uri="http://schemas.openxmlformats.org/drawingml/2006/table">
            <a:tbl>
              <a:tblPr firstRow="1" bandRow="1">
                <a:effectLst>
                  <a:outerShdw blurRad="50800" dist="76200" dir="2700000" algn="tl" rotWithShape="0">
                    <a:prstClr val="black">
                      <a:alpha val="40000"/>
                    </a:prstClr>
                  </a:outerShdw>
                </a:effectLst>
                <a:tableStyleId>{5C22544A-7EE6-4342-B048-85BDC9FD1C3A}</a:tableStyleId>
              </a:tblPr>
              <a:tblGrid>
                <a:gridCol w="1270729">
                  <a:extLst>
                    <a:ext uri="{9D8B030D-6E8A-4147-A177-3AD203B41FA5}">
                      <a16:colId xmlns:a16="http://schemas.microsoft.com/office/drawing/2014/main" val="20000"/>
                    </a:ext>
                  </a:extLst>
                </a:gridCol>
                <a:gridCol w="2401678">
                  <a:extLst>
                    <a:ext uri="{9D8B030D-6E8A-4147-A177-3AD203B41FA5}">
                      <a16:colId xmlns:a16="http://schemas.microsoft.com/office/drawing/2014/main" val="20001"/>
                    </a:ext>
                  </a:extLst>
                </a:gridCol>
                <a:gridCol w="1728192">
                  <a:extLst>
                    <a:ext uri="{9D8B030D-6E8A-4147-A177-3AD203B41FA5}">
                      <a16:colId xmlns:a16="http://schemas.microsoft.com/office/drawing/2014/main" val="20002"/>
                    </a:ext>
                  </a:extLst>
                </a:gridCol>
              </a:tblGrid>
              <a:tr h="0">
                <a:tc>
                  <a:txBody>
                    <a:bodyPr/>
                    <a:lstStyle/>
                    <a:p>
                      <a:r>
                        <a:rPr lang="en-US" dirty="0"/>
                        <a:t>birthday</a:t>
                      </a:r>
                    </a:p>
                  </a:txBody>
                  <a:tcPr/>
                </a:tc>
                <a:tc>
                  <a:txBody>
                    <a:bodyPr/>
                    <a:lstStyle/>
                    <a:p>
                      <a:r>
                        <a:rPr lang="en-US" dirty="0" err="1"/>
                        <a:t>first_name</a:t>
                      </a:r>
                      <a:endParaRPr lang="en-US" dirty="0"/>
                    </a:p>
                  </a:txBody>
                  <a:tcPr/>
                </a:tc>
                <a:tc>
                  <a:txBody>
                    <a:bodyPr/>
                    <a:lstStyle/>
                    <a:p>
                      <a:r>
                        <a:rPr lang="en-US" dirty="0" err="1"/>
                        <a:t>family_name</a:t>
                      </a:r>
                      <a:endParaRPr lang="en-US" dirty="0"/>
                    </a:p>
                  </a:txBody>
                  <a:tcPr/>
                </a:tc>
                <a:extLst>
                  <a:ext uri="{0D108BD9-81ED-4DB2-BD59-A6C34878D82A}">
                    <a16:rowId xmlns:a16="http://schemas.microsoft.com/office/drawing/2014/main" val="10000"/>
                  </a:ext>
                </a:extLst>
              </a:tr>
              <a:tr h="370840">
                <a:tc>
                  <a:txBody>
                    <a:bodyPr/>
                    <a:lstStyle/>
                    <a:p>
                      <a:r>
                        <a:rPr lang="en-US" dirty="0"/>
                        <a:t>1990-11-10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dirty="0"/>
                        <a:t>Anne</a:t>
                      </a:r>
                      <a:endParaRPr lang="en-US" dirty="0"/>
                    </a:p>
                  </a:txBody>
                  <a:tcPr/>
                </a:tc>
                <a:tc>
                  <a:txBody>
                    <a:bodyPr/>
                    <a:lstStyle/>
                    <a:p>
                      <a:r>
                        <a:rPr lang="en-US" dirty="0"/>
                        <a:t>Smith</a:t>
                      </a:r>
                    </a:p>
                  </a:txBody>
                  <a:tcPr/>
                </a:tc>
                <a:extLst>
                  <a:ext uri="{0D108BD9-81ED-4DB2-BD59-A6C34878D82A}">
                    <a16:rowId xmlns:a16="http://schemas.microsoft.com/office/drawing/2014/main" val="10001"/>
                  </a:ext>
                </a:extLst>
              </a:tr>
              <a:tr h="370840">
                <a:tc>
                  <a:txBody>
                    <a:bodyPr/>
                    <a:lstStyle/>
                    <a:p>
                      <a:r>
                        <a:rPr lang="en-US" dirty="0"/>
                        <a:t>2000-02-05</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is-IS" dirty="0"/>
                        <a:t>David</a:t>
                      </a:r>
                      <a:endParaRPr lang="en-US" dirty="0"/>
                    </a:p>
                  </a:txBody>
                  <a:tcPr/>
                </a:tc>
                <a:tc>
                  <a:txBody>
                    <a:bodyPr/>
                    <a:lstStyle/>
                    <a:p>
                      <a:r>
                        <a:rPr lang="en-US" dirty="0"/>
                        <a:t>Jones</a:t>
                      </a:r>
                    </a:p>
                  </a:txBody>
                  <a:tcPr/>
                </a:tc>
                <a:extLst>
                  <a:ext uri="{0D108BD9-81ED-4DB2-BD59-A6C34878D82A}">
                    <a16:rowId xmlns:a16="http://schemas.microsoft.com/office/drawing/2014/main" val="10002"/>
                  </a:ext>
                </a:extLst>
              </a:tr>
              <a:tr h="370840">
                <a:tc>
                  <a:txBody>
                    <a:bodyPr/>
                    <a:lstStyle/>
                    <a:p>
                      <a:r>
                        <a:rPr lang="mr-IN" dirty="0"/>
                        <a:t>…</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mr-IN" dirty="0"/>
                        <a:t>…</a:t>
                      </a:r>
                      <a:endParaRPr lang="en-US" dirty="0"/>
                    </a:p>
                  </a:txBody>
                  <a:tcPr/>
                </a:tc>
                <a:tc>
                  <a:txBody>
                    <a:bodyPr/>
                    <a:lstStyle/>
                    <a:p>
                      <a:r>
                        <a:rPr lang="mr-IN" dirty="0"/>
                        <a:t>…</a:t>
                      </a:r>
                      <a:endParaRPr lang="en-US" dirty="0"/>
                    </a:p>
                  </a:txBody>
                  <a:tcPr/>
                </a:tc>
                <a:extLst>
                  <a:ext uri="{0D108BD9-81ED-4DB2-BD59-A6C34878D82A}">
                    <a16:rowId xmlns:a16="http://schemas.microsoft.com/office/drawing/2014/main" val="10003"/>
                  </a:ext>
                </a:extLst>
              </a:tr>
            </a:tbl>
          </a:graphicData>
        </a:graphic>
      </p:graphicFrame>
      <p:sp>
        <p:nvSpPr>
          <p:cNvPr id="17" name="TextBox 16">
            <a:extLst>
              <a:ext uri="{FF2B5EF4-FFF2-40B4-BE49-F238E27FC236}">
                <a16:creationId xmlns:a16="http://schemas.microsoft.com/office/drawing/2014/main" id="{5E24007C-68EE-4470-B165-3D6B9340AA54}"/>
              </a:ext>
            </a:extLst>
          </p:cNvPr>
          <p:cNvSpPr txBox="1"/>
          <p:nvPr/>
        </p:nvSpPr>
        <p:spPr>
          <a:xfrm>
            <a:off x="6614479" y="1731996"/>
            <a:ext cx="1214692" cy="369332"/>
          </a:xfrm>
          <a:prstGeom prst="rect">
            <a:avLst/>
          </a:prstGeom>
          <a:noFill/>
        </p:spPr>
        <p:txBody>
          <a:bodyPr wrap="none" rtlCol="0">
            <a:spAutoFit/>
          </a:bodyPr>
          <a:lstStyle/>
          <a:p>
            <a:r>
              <a:rPr lang="en-US" b="1" dirty="0"/>
              <a:t>Employees</a:t>
            </a:r>
          </a:p>
        </p:txBody>
      </p:sp>
      <p:grpSp>
        <p:nvGrpSpPr>
          <p:cNvPr id="23" name="Group 22">
            <a:extLst>
              <a:ext uri="{FF2B5EF4-FFF2-40B4-BE49-F238E27FC236}">
                <a16:creationId xmlns:a16="http://schemas.microsoft.com/office/drawing/2014/main" id="{C6691794-EF68-4EF8-8EFD-3548B6D3DCE7}"/>
              </a:ext>
            </a:extLst>
          </p:cNvPr>
          <p:cNvGrpSpPr/>
          <p:nvPr/>
        </p:nvGrpSpPr>
        <p:grpSpPr>
          <a:xfrm>
            <a:off x="4217369" y="3658666"/>
            <a:ext cx="6360325" cy="1424189"/>
            <a:chOff x="4217369" y="3658666"/>
            <a:chExt cx="6360325" cy="1424189"/>
          </a:xfrm>
        </p:grpSpPr>
        <p:cxnSp>
          <p:nvCxnSpPr>
            <p:cNvPr id="85" name="Straight Arrow Connector 84"/>
            <p:cNvCxnSpPr>
              <a:cxnSpLocks/>
            </p:cNvCxnSpPr>
            <p:nvPr/>
          </p:nvCxnSpPr>
          <p:spPr>
            <a:xfrm flipV="1">
              <a:off x="8816881" y="3690257"/>
              <a:ext cx="0" cy="62931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79" name="Rounded Rectangle 78"/>
            <p:cNvSpPr/>
            <p:nvPr/>
          </p:nvSpPr>
          <p:spPr>
            <a:xfrm>
              <a:off x="7678669" y="4319576"/>
              <a:ext cx="2682611" cy="763279"/>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a:t>All elements in a column are of the same datatype</a:t>
              </a:r>
            </a:p>
          </p:txBody>
        </p:sp>
        <p:cxnSp>
          <p:nvCxnSpPr>
            <p:cNvPr id="86" name="Straight Arrow Connector 85"/>
            <p:cNvCxnSpPr/>
            <p:nvPr/>
          </p:nvCxnSpPr>
          <p:spPr>
            <a:xfrm flipH="1" flipV="1">
              <a:off x="7126107" y="4389686"/>
              <a:ext cx="552562" cy="19832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89" name="Straight Arrow Connector 88"/>
            <p:cNvCxnSpPr>
              <a:cxnSpLocks/>
            </p:cNvCxnSpPr>
            <p:nvPr/>
          </p:nvCxnSpPr>
          <p:spPr>
            <a:xfrm flipH="1" flipV="1">
              <a:off x="7499462" y="3665611"/>
              <a:ext cx="387029" cy="648885"/>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91" name="Straight Arrow Connector 90"/>
            <p:cNvCxnSpPr>
              <a:stCxn id="79" idx="1"/>
            </p:cNvCxnSpPr>
            <p:nvPr/>
          </p:nvCxnSpPr>
          <p:spPr>
            <a:xfrm flipH="1" flipV="1">
              <a:off x="5576521" y="4395633"/>
              <a:ext cx="2102148" cy="30558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94" name="Straight Arrow Connector 93"/>
            <p:cNvCxnSpPr/>
            <p:nvPr/>
          </p:nvCxnSpPr>
          <p:spPr>
            <a:xfrm flipH="1" flipV="1">
              <a:off x="4217369" y="4418657"/>
              <a:ext cx="3446874" cy="379721"/>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45" name="Straight Arrow Connector 44">
              <a:extLst>
                <a:ext uri="{FF2B5EF4-FFF2-40B4-BE49-F238E27FC236}">
                  <a16:creationId xmlns:a16="http://schemas.microsoft.com/office/drawing/2014/main" id="{C6DD3A0E-96D0-4246-B1D6-5E208DA28B6F}"/>
                </a:ext>
              </a:extLst>
            </p:cNvPr>
            <p:cNvCxnSpPr>
              <a:cxnSpLocks/>
            </p:cNvCxnSpPr>
            <p:nvPr/>
          </p:nvCxnSpPr>
          <p:spPr>
            <a:xfrm flipV="1">
              <a:off x="9747272" y="3658666"/>
              <a:ext cx="830422" cy="65583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grpSp>
    </p:spTree>
    <p:custDataLst>
      <p:tags r:id="rId1"/>
    </p:custDataLst>
    <p:extLst>
      <p:ext uri="{BB962C8B-B14F-4D97-AF65-F5344CB8AC3E}">
        <p14:creationId xmlns:p14="http://schemas.microsoft.com/office/powerpoint/2010/main" val="617024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4"/>
                                        </p:tgtEl>
                                        <p:attrNameLst>
                                          <p:attrName>style.visibility</p:attrName>
                                        </p:attrNameLst>
                                      </p:cBhvr>
                                      <p:to>
                                        <p:strVal val="visible"/>
                                      </p:to>
                                    </p:set>
                                    <p:animEffect transition="in" filter="fade">
                                      <p:cBhvr>
                                        <p:cTn id="11" dur="500"/>
                                        <p:tgtEl>
                                          <p:spTgt spid="5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7"/>
                                        </p:tgtEl>
                                        <p:attrNameLst>
                                          <p:attrName>style.visibility</p:attrName>
                                        </p:attrNameLst>
                                      </p:cBhvr>
                                      <p:to>
                                        <p:strVal val="visible"/>
                                      </p:to>
                                    </p:set>
                                    <p:animEffect transition="in" filter="fade">
                                      <p:cBhvr>
                                        <p:cTn id="16" dur="500"/>
                                        <p:tgtEl>
                                          <p:spTgt spid="5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4"/>
                                        </p:tgtEl>
                                        <p:attrNameLst>
                                          <p:attrName>style.visibility</p:attrName>
                                        </p:attrNameLst>
                                      </p:cBhvr>
                                      <p:to>
                                        <p:strVal val="visible"/>
                                      </p:to>
                                    </p:set>
                                    <p:animEffect transition="in" filter="fade">
                                      <p:cBhvr>
                                        <p:cTn id="21" dur="500"/>
                                        <p:tgtEl>
                                          <p:spTgt spid="104"/>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3"/>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B08D2-FEA0-4FE0-A217-7FC1F08A0916}"/>
              </a:ext>
            </a:extLst>
          </p:cNvPr>
          <p:cNvSpPr>
            <a:spLocks noGrp="1"/>
          </p:cNvSpPr>
          <p:nvPr>
            <p:ph type="title"/>
          </p:nvPr>
        </p:nvSpPr>
        <p:spPr/>
        <p:txBody>
          <a:bodyPr/>
          <a:lstStyle/>
          <a:p>
            <a:r>
              <a:rPr lang="en-US" dirty="0"/>
              <a:t>In typical use (Tables)</a:t>
            </a:r>
            <a:endParaRPr lang="en-GB" dirty="0"/>
          </a:p>
        </p:txBody>
      </p:sp>
      <p:sp>
        <p:nvSpPr>
          <p:cNvPr id="3" name="Content Placeholder 2">
            <a:extLst>
              <a:ext uri="{FF2B5EF4-FFF2-40B4-BE49-F238E27FC236}">
                <a16:creationId xmlns:a16="http://schemas.microsoft.com/office/drawing/2014/main" id="{8DDE282B-AC2D-48D9-930C-6CF3859FDCE6}"/>
              </a:ext>
            </a:extLst>
          </p:cNvPr>
          <p:cNvSpPr>
            <a:spLocks noGrp="1"/>
          </p:cNvSpPr>
          <p:nvPr>
            <p:ph idx="1"/>
          </p:nvPr>
        </p:nvSpPr>
        <p:spPr/>
        <p:txBody>
          <a:bodyPr>
            <a:normAutofit/>
          </a:bodyPr>
          <a:lstStyle/>
          <a:p>
            <a:r>
              <a:rPr lang="en-US" dirty="0"/>
              <a:t>Each table typically has:</a:t>
            </a:r>
          </a:p>
          <a:p>
            <a:pPr lvl="1"/>
            <a:r>
              <a:rPr lang="en-US" dirty="0"/>
              <a:t>Few columns/attributes that are fixed (i.e. in name and type of content)</a:t>
            </a:r>
          </a:p>
          <a:p>
            <a:pPr lvl="2"/>
            <a:r>
              <a:rPr lang="en-US" dirty="0"/>
              <a:t>Think 5, but we will see cases where say 10 would be reasonable</a:t>
            </a:r>
          </a:p>
          <a:p>
            <a:pPr lvl="1"/>
            <a:r>
              <a:rPr lang="en-US" dirty="0"/>
              <a:t>The number of rows depends on the table and can change</a:t>
            </a:r>
          </a:p>
          <a:p>
            <a:pPr lvl="2"/>
            <a:r>
              <a:rPr lang="en-US" dirty="0"/>
              <a:t>For some tables (like our employee table in a single small supermarket) 10-20 rows might be reasonable, for others, like say a transaction table, 100.000s might be more reasonable. For examples larger than our so far small supermarket, billions or trillions might be the right number</a:t>
            </a:r>
            <a:endParaRPr lang="en-GB" dirty="0"/>
          </a:p>
          <a:p>
            <a:pPr lvl="2"/>
            <a:endParaRPr lang="en-GB" dirty="0"/>
          </a:p>
        </p:txBody>
      </p:sp>
      <p:sp>
        <p:nvSpPr>
          <p:cNvPr id="9" name="Slide Number Placeholder 3">
            <a:extLst>
              <a:ext uri="{FF2B5EF4-FFF2-40B4-BE49-F238E27FC236}">
                <a16:creationId xmlns:a16="http://schemas.microsoft.com/office/drawing/2014/main" id="{FDAC64DC-5F43-4B44-9345-2843D594ED33}"/>
              </a:ext>
            </a:extLst>
          </p:cNvPr>
          <p:cNvSpPr>
            <a:spLocks noGrp="1"/>
          </p:cNvSpPr>
          <p:nvPr>
            <p:ph type="sldNum" sz="quarter" idx="12"/>
          </p:nvPr>
        </p:nvSpPr>
        <p:spPr>
          <a:xfrm>
            <a:off x="9900458" y="6459785"/>
            <a:ext cx="1312025" cy="365125"/>
          </a:xfrm>
        </p:spPr>
        <p:txBody>
          <a:bodyPr/>
          <a:lstStyle/>
          <a:p>
            <a:fld id="{C260D5AD-280D-4F23-8F09-5CDE2943111F}" type="slidenum">
              <a:rPr lang="en-GB" smtClean="0"/>
              <a:pPr/>
              <a:t>4</a:t>
            </a:fld>
            <a:endParaRPr lang="en-GB" dirty="0"/>
          </a:p>
        </p:txBody>
      </p:sp>
    </p:spTree>
    <p:custDataLst>
      <p:tags r:id="rId1"/>
    </p:custDataLst>
    <p:extLst>
      <p:ext uri="{BB962C8B-B14F-4D97-AF65-F5344CB8AC3E}">
        <p14:creationId xmlns:p14="http://schemas.microsoft.com/office/powerpoint/2010/main" val="1813468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B08D2-FEA0-4FE0-A217-7FC1F08A0916}"/>
              </a:ext>
            </a:extLst>
          </p:cNvPr>
          <p:cNvSpPr>
            <a:spLocks noGrp="1"/>
          </p:cNvSpPr>
          <p:nvPr>
            <p:ph type="title"/>
          </p:nvPr>
        </p:nvSpPr>
        <p:spPr/>
        <p:txBody>
          <a:bodyPr/>
          <a:lstStyle/>
          <a:p>
            <a:r>
              <a:rPr lang="en-US" dirty="0"/>
              <a:t>In typical use (Rows)</a:t>
            </a:r>
            <a:endParaRPr lang="en-GB" dirty="0"/>
          </a:p>
        </p:txBody>
      </p:sp>
      <p:sp>
        <p:nvSpPr>
          <p:cNvPr id="3" name="Content Placeholder 2">
            <a:extLst>
              <a:ext uri="{FF2B5EF4-FFF2-40B4-BE49-F238E27FC236}">
                <a16:creationId xmlns:a16="http://schemas.microsoft.com/office/drawing/2014/main" id="{8DDE282B-AC2D-48D9-930C-6CF3859FDCE6}"/>
              </a:ext>
            </a:extLst>
          </p:cNvPr>
          <p:cNvSpPr>
            <a:spLocks noGrp="1"/>
          </p:cNvSpPr>
          <p:nvPr>
            <p:ph idx="1"/>
          </p:nvPr>
        </p:nvSpPr>
        <p:spPr/>
        <p:txBody>
          <a:bodyPr>
            <a:normAutofit/>
          </a:bodyPr>
          <a:lstStyle/>
          <a:p>
            <a:r>
              <a:rPr lang="en-US" dirty="0"/>
              <a:t>Each row corresponds to an entity or similar, or to a relationship between such</a:t>
            </a:r>
          </a:p>
          <a:p>
            <a:pPr lvl="1"/>
            <a:r>
              <a:rPr lang="en-US" dirty="0"/>
              <a:t>Rows in the same table corresponds to the same kind of entity or relation (like a table of employees would have rows, each corresponding to an employee)</a:t>
            </a:r>
          </a:p>
          <a:p>
            <a:pPr lvl="1"/>
            <a:r>
              <a:rPr lang="en-US" dirty="0"/>
              <a:t>E.g. a row in a table could correspond to a transaction. Such a transaction would have an associated employee and customer (and say time and other attributes), each of which can be handled with an attribute, but likely many items. That can not be handled with an attribute. To do that, we would have a table where each row would say that a transaction includes some item (with say amount and price). I.e. the rows describe a relationship between transactions and items</a:t>
            </a:r>
          </a:p>
          <a:p>
            <a:pPr lvl="1"/>
            <a:r>
              <a:rPr lang="en-US" dirty="0"/>
              <a:t>A </a:t>
            </a:r>
            <a:r>
              <a:rPr lang="en-US" dirty="0" err="1"/>
              <a:t>sidenote</a:t>
            </a:r>
            <a:r>
              <a:rPr lang="en-US" dirty="0"/>
              <a:t> (which is important if you want to mix in object-oriented programming, but otherwise not so important): If two rows are the same, we view them as being the same item (as opposite to in programming: There two objects with the properties would be identical, but not the same item)</a:t>
            </a:r>
          </a:p>
          <a:p>
            <a:pPr lvl="2"/>
            <a:endParaRPr lang="en-GB" dirty="0"/>
          </a:p>
        </p:txBody>
      </p:sp>
      <p:sp>
        <p:nvSpPr>
          <p:cNvPr id="9" name="Slide Number Placeholder 3">
            <a:extLst>
              <a:ext uri="{FF2B5EF4-FFF2-40B4-BE49-F238E27FC236}">
                <a16:creationId xmlns:a16="http://schemas.microsoft.com/office/drawing/2014/main" id="{2CCE2DFD-2C3B-4DE9-BC09-246471F77F30}"/>
              </a:ext>
            </a:extLst>
          </p:cNvPr>
          <p:cNvSpPr>
            <a:spLocks noGrp="1"/>
          </p:cNvSpPr>
          <p:nvPr>
            <p:ph type="sldNum" sz="quarter" idx="12"/>
          </p:nvPr>
        </p:nvSpPr>
        <p:spPr>
          <a:xfrm>
            <a:off x="9900458" y="6459785"/>
            <a:ext cx="1312025" cy="365125"/>
          </a:xfrm>
        </p:spPr>
        <p:txBody>
          <a:bodyPr/>
          <a:lstStyle/>
          <a:p>
            <a:fld id="{C260D5AD-280D-4F23-8F09-5CDE2943111F}" type="slidenum">
              <a:rPr lang="en-GB" smtClean="0"/>
              <a:pPr/>
              <a:t>5</a:t>
            </a:fld>
            <a:endParaRPr lang="en-GB" dirty="0"/>
          </a:p>
        </p:txBody>
      </p:sp>
    </p:spTree>
    <p:custDataLst>
      <p:tags r:id="rId1"/>
    </p:custDataLst>
    <p:extLst>
      <p:ext uri="{BB962C8B-B14F-4D97-AF65-F5344CB8AC3E}">
        <p14:creationId xmlns:p14="http://schemas.microsoft.com/office/powerpoint/2010/main" val="977957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a:t>
            </a:r>
          </a:p>
        </p:txBody>
      </p:sp>
      <p:sp>
        <p:nvSpPr>
          <p:cNvPr id="3" name="Content Placeholder 2"/>
          <p:cNvSpPr>
            <a:spLocks noGrp="1"/>
          </p:cNvSpPr>
          <p:nvPr>
            <p:ph idx="1"/>
          </p:nvPr>
        </p:nvSpPr>
        <p:spPr/>
        <p:txBody>
          <a:bodyPr/>
          <a:lstStyle/>
          <a:p>
            <a:r>
              <a:rPr lang="en-US" dirty="0"/>
              <a:t>Relational databases are accessed using SQL (Standard Query Language)</a:t>
            </a:r>
          </a:p>
          <a:p>
            <a:endParaRPr lang="en-US" dirty="0"/>
          </a:p>
          <a:p>
            <a:r>
              <a:rPr lang="en-US" dirty="0"/>
              <a:t>The standard for SQL is updated every few years (86, 89, 92, 99, 03, 06, 08, 11, 16 and 19)</a:t>
            </a:r>
          </a:p>
          <a:p>
            <a:endParaRPr lang="en-US" dirty="0"/>
          </a:p>
          <a:p>
            <a:r>
              <a:rPr lang="en-US" dirty="0"/>
              <a:t>The implementations does not follow the standard that well though</a:t>
            </a:r>
          </a:p>
        </p:txBody>
      </p:sp>
      <p:sp>
        <p:nvSpPr>
          <p:cNvPr id="4" name="Slide Number Placeholder 3"/>
          <p:cNvSpPr>
            <a:spLocks noGrp="1"/>
          </p:cNvSpPr>
          <p:nvPr>
            <p:ph type="sldNum" sz="quarter" idx="12"/>
          </p:nvPr>
        </p:nvSpPr>
        <p:spPr/>
        <p:txBody>
          <a:bodyPr/>
          <a:lstStyle/>
          <a:p>
            <a:fld id="{C260D5AD-280D-4F23-8F09-5CDE2943111F}" type="slidenum">
              <a:rPr lang="en-GB" smtClean="0"/>
              <a:pPr/>
              <a:t>6</a:t>
            </a:fld>
            <a:endParaRPr lang="en-GB" dirty="0"/>
          </a:p>
        </p:txBody>
      </p:sp>
    </p:spTree>
    <p:custDataLst>
      <p:tags r:id="rId1"/>
    </p:custDataLst>
    <p:extLst>
      <p:ext uri="{BB962C8B-B14F-4D97-AF65-F5344CB8AC3E}">
        <p14:creationId xmlns:p14="http://schemas.microsoft.com/office/powerpoint/2010/main" val="717287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SQL Parts</a:t>
            </a:r>
          </a:p>
        </p:txBody>
      </p:sp>
      <p:sp>
        <p:nvSpPr>
          <p:cNvPr id="3" name="Content Placeholder 2"/>
          <p:cNvSpPr>
            <a:spLocks noGrp="1"/>
          </p:cNvSpPr>
          <p:nvPr>
            <p:ph idx="1"/>
          </p:nvPr>
        </p:nvSpPr>
        <p:spPr/>
        <p:txBody>
          <a:bodyPr/>
          <a:lstStyle/>
          <a:p>
            <a:pPr>
              <a:lnSpc>
                <a:spcPct val="90000"/>
              </a:lnSpc>
            </a:pPr>
            <a:r>
              <a:rPr lang="en-US" altLang="en-US" dirty="0"/>
              <a:t>Data Definition Language (DDL)</a:t>
            </a:r>
          </a:p>
          <a:p>
            <a:pPr lvl="1">
              <a:lnSpc>
                <a:spcPct val="90000"/>
              </a:lnSpc>
            </a:pPr>
            <a:r>
              <a:rPr lang="en-US" altLang="en-US" dirty="0"/>
              <a:t>Create/alter/delete databases, </a:t>
            </a:r>
            <a:r>
              <a:rPr lang="en-US" altLang="en-US" b="1" dirty="0"/>
              <a:t>tables</a:t>
            </a:r>
            <a:r>
              <a:rPr lang="en-US" altLang="en-US" dirty="0"/>
              <a:t> and their attributes</a:t>
            </a:r>
          </a:p>
          <a:p>
            <a:pPr lvl="1">
              <a:lnSpc>
                <a:spcPct val="90000"/>
              </a:lnSpc>
            </a:pPr>
            <a:endParaRPr lang="en-US" altLang="en-US" dirty="0"/>
          </a:p>
          <a:p>
            <a:pPr>
              <a:lnSpc>
                <a:spcPct val="90000"/>
              </a:lnSpc>
            </a:pPr>
            <a:r>
              <a:rPr lang="en-US" altLang="en-US" dirty="0"/>
              <a:t>Data Manipulation Language (DML)</a:t>
            </a:r>
          </a:p>
          <a:p>
            <a:pPr lvl="1">
              <a:lnSpc>
                <a:spcPct val="90000"/>
              </a:lnSpc>
            </a:pPr>
            <a:r>
              <a:rPr lang="en-US" altLang="en-US" dirty="0"/>
              <a:t>Add/remove/update and query </a:t>
            </a:r>
            <a:r>
              <a:rPr lang="en-US" altLang="en-US" b="1" dirty="0"/>
              <a:t>rows</a:t>
            </a:r>
            <a:r>
              <a:rPr lang="en-US" altLang="en-US" dirty="0"/>
              <a:t> in tables</a:t>
            </a:r>
          </a:p>
          <a:p>
            <a:pPr lvl="1">
              <a:lnSpc>
                <a:spcPct val="90000"/>
              </a:lnSpc>
            </a:pPr>
            <a:endParaRPr lang="en-US" altLang="en-US" dirty="0"/>
          </a:p>
          <a:p>
            <a:pPr>
              <a:lnSpc>
                <a:spcPct val="90000"/>
              </a:lnSpc>
            </a:pPr>
            <a:r>
              <a:rPr lang="en-US" altLang="en-US" dirty="0"/>
              <a:t>Transact-SQL</a:t>
            </a:r>
          </a:p>
          <a:p>
            <a:pPr lvl="1"/>
            <a:r>
              <a:rPr lang="en-US" dirty="0"/>
              <a:t>Intuitively, do a </a:t>
            </a:r>
            <a:r>
              <a:rPr lang="en-US" b="1" dirty="0"/>
              <a:t>sequence</a:t>
            </a:r>
            <a:r>
              <a:rPr lang="en-US" dirty="0"/>
              <a:t> of SQL statements</a:t>
            </a:r>
          </a:p>
        </p:txBody>
      </p:sp>
      <p:sp>
        <p:nvSpPr>
          <p:cNvPr id="4" name="Slide Number Placeholder 3"/>
          <p:cNvSpPr>
            <a:spLocks noGrp="1"/>
          </p:cNvSpPr>
          <p:nvPr>
            <p:ph type="sldNum" sz="quarter" idx="12"/>
          </p:nvPr>
        </p:nvSpPr>
        <p:spPr/>
        <p:txBody>
          <a:bodyPr/>
          <a:lstStyle/>
          <a:p>
            <a:fld id="{C260D5AD-280D-4F23-8F09-5CDE2943111F}" type="slidenum">
              <a:rPr lang="en-GB" smtClean="0"/>
              <a:pPr/>
              <a:t>7</a:t>
            </a:fld>
            <a:endParaRPr lang="en-GB"/>
          </a:p>
        </p:txBody>
      </p:sp>
    </p:spTree>
    <p:custDataLst>
      <p:tags r:id="rId1"/>
    </p:custDataLst>
    <p:extLst>
      <p:ext uri="{BB962C8B-B14F-4D97-AF65-F5344CB8AC3E}">
        <p14:creationId xmlns:p14="http://schemas.microsoft.com/office/powerpoint/2010/main" val="1603354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13.5|10.4|7.3|14.8|29.2|30"/>
</p:tagLst>
</file>

<file path=ppt/tags/tag2.xml><?xml version="1.0" encoding="utf-8"?>
<p:tagLst xmlns:a="http://schemas.openxmlformats.org/drawingml/2006/main" xmlns:r="http://schemas.openxmlformats.org/officeDocument/2006/relationships" xmlns:p="http://schemas.openxmlformats.org/presentationml/2006/main">
  <p:tag name="TIMING" val="|6.5|26.9"/>
</p:tagLst>
</file>

<file path=ppt/tags/tag3.xml><?xml version="1.0" encoding="utf-8"?>
<p:tagLst xmlns:a="http://schemas.openxmlformats.org/drawingml/2006/main" xmlns:r="http://schemas.openxmlformats.org/officeDocument/2006/relationships" xmlns:p="http://schemas.openxmlformats.org/presentationml/2006/main">
  <p:tag name="TIMING" val="|5.7|29.8|100.9"/>
</p:tagLst>
</file>

<file path=ppt/tags/tag4.xml><?xml version="1.0" encoding="utf-8"?>
<p:tagLst xmlns:a="http://schemas.openxmlformats.org/drawingml/2006/main" xmlns:r="http://schemas.openxmlformats.org/officeDocument/2006/relationships" xmlns:p="http://schemas.openxmlformats.org/presentationml/2006/main">
  <p:tag name="TIMING" val="|24.1|14.1"/>
</p:tagLst>
</file>

<file path=ppt/tags/tag5.xml><?xml version="1.0" encoding="utf-8"?>
<p:tagLst xmlns:a="http://schemas.openxmlformats.org/drawingml/2006/main" xmlns:r="http://schemas.openxmlformats.org/officeDocument/2006/relationships" xmlns:p="http://schemas.openxmlformats.org/presentationml/2006/main">
  <p:tag name="TIMING" val="|23.5|22.3|50.7"/>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otalTime>430</TotalTime>
  <Words>542</Words>
  <Application>Microsoft Office PowerPoint</Application>
  <PresentationFormat>Widescreen</PresentationFormat>
  <Paragraphs>71</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Calibri</vt:lpstr>
      <vt:lpstr>Calibri Light</vt:lpstr>
      <vt:lpstr>Retrospect</vt:lpstr>
      <vt:lpstr>Introduction to relational databases and SQL</vt:lpstr>
      <vt:lpstr>Overview of this video</vt:lpstr>
      <vt:lpstr>Relational database</vt:lpstr>
      <vt:lpstr>In typical use (Tables)</vt:lpstr>
      <vt:lpstr>In typical use (Rows)</vt:lpstr>
      <vt:lpstr>SQL</vt:lpstr>
      <vt:lpstr>SQL Parts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SQL</dc:title>
  <dc:creator>Rasmus Ibsen-Jensen</dc:creator>
  <cp:lastModifiedBy>Rasmus Ibsen-Jensen</cp:lastModifiedBy>
  <cp:revision>18</cp:revision>
  <dcterms:created xsi:type="dcterms:W3CDTF">2020-09-03T14:15:11Z</dcterms:created>
  <dcterms:modified xsi:type="dcterms:W3CDTF">2021-10-14T17:57:19Z</dcterms:modified>
</cp:coreProperties>
</file>