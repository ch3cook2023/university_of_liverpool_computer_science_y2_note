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39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30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63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98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32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22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96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704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29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7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215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590DBE-8E1D-4E62-91E6-725B84C0268A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EEFA681-CDE5-4FAA-8F78-DC61157B868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63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8B848-F97B-4584-B6C8-F4B831923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Injections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4C32E-3029-4284-9D7C-C4CB6E899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53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0782-3BB8-4321-8749-434F81EB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A962-5DA1-4E52-96F6-8FE9D3D23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student mentioned not being able to follow the SQL Injection attack in the first survey</a:t>
            </a:r>
          </a:p>
          <a:p>
            <a:r>
              <a:rPr lang="en-US"/>
              <a:t>This video is to make it easier to follow for him/her and other students</a:t>
            </a:r>
            <a:endParaRPr lang="en-GB" dirty="0"/>
          </a:p>
        </p:txBody>
      </p:sp>
      <p:pic>
        <p:nvPicPr>
          <p:cNvPr id="4" name="Picture 2" descr="Exploits of a Mom - XKCD comic 327">
            <a:extLst>
              <a:ext uri="{FF2B5EF4-FFF2-40B4-BE49-F238E27FC236}">
                <a16:creationId xmlns:a16="http://schemas.microsoft.com/office/drawing/2014/main" id="{9EB6A42A-1D64-4CC1-9B31-0D267C0B1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235" y="2760134"/>
            <a:ext cx="8668848" cy="266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F77A1F-FCDF-4A9B-84EE-297D1768D7AE}"/>
              </a:ext>
            </a:extLst>
          </p:cNvPr>
          <p:cNvSpPr txBox="1"/>
          <p:nvPr/>
        </p:nvSpPr>
        <p:spPr>
          <a:xfrm>
            <a:off x="3781426" y="5352181"/>
            <a:ext cx="30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Credits: https://xkcd.com/327/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314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D3AD-4076-44E0-8A01-018E2BCD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SQL Injection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76BF-7EEA-4693-B6F1-EB714A2B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make a website with a form (e.g. for creating a user):</a:t>
            </a:r>
          </a:p>
          <a:p>
            <a:r>
              <a:rPr lang="en-US" dirty="0"/>
              <a:t>First name </a:t>
            </a:r>
          </a:p>
          <a:p>
            <a:r>
              <a:rPr lang="en-US" dirty="0"/>
              <a:t>Last name</a:t>
            </a:r>
          </a:p>
          <a:p>
            <a:r>
              <a:rPr lang="en-US" dirty="0"/>
              <a:t>Date of birth</a:t>
            </a:r>
            <a:endParaRPr lang="en-GB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BF7136-5EA6-4238-9146-C2D06413876F}"/>
              </a:ext>
            </a:extLst>
          </p:cNvPr>
          <p:cNvSpPr/>
          <p:nvPr/>
        </p:nvSpPr>
        <p:spPr>
          <a:xfrm>
            <a:off x="6267450" y="3001262"/>
            <a:ext cx="1476375" cy="7070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submit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A245A-643E-4A65-8C4E-8B1007C32BDE}"/>
              </a:ext>
            </a:extLst>
          </p:cNvPr>
          <p:cNvSpPr txBox="1"/>
          <p:nvPr/>
        </p:nvSpPr>
        <p:spPr>
          <a:xfrm>
            <a:off x="7896225" y="3001262"/>
            <a:ext cx="3775810" cy="646331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INSERT INTO Users VALUES ('Rasmus', 'Ibsen-Jensen','1985-5-5');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28428A-D775-400B-85EC-CDF79699BF0A}"/>
              </a:ext>
            </a:extLst>
          </p:cNvPr>
          <p:cNvSpPr/>
          <p:nvPr/>
        </p:nvSpPr>
        <p:spPr>
          <a:xfrm>
            <a:off x="2733675" y="2364206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233D01-FE20-4178-BD14-25A3D9874743}"/>
              </a:ext>
            </a:extLst>
          </p:cNvPr>
          <p:cNvSpPr/>
          <p:nvPr/>
        </p:nvSpPr>
        <p:spPr>
          <a:xfrm>
            <a:off x="2733675" y="2789590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99C060-5899-4665-9245-91DF03B83D21}"/>
              </a:ext>
            </a:extLst>
          </p:cNvPr>
          <p:cNvSpPr/>
          <p:nvPr/>
        </p:nvSpPr>
        <p:spPr>
          <a:xfrm>
            <a:off x="2733675" y="3227171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0A3C9E-4A7C-44C1-BCDE-7C701FB7DA26}"/>
              </a:ext>
            </a:extLst>
          </p:cNvPr>
          <p:cNvSpPr/>
          <p:nvPr/>
        </p:nvSpPr>
        <p:spPr>
          <a:xfrm>
            <a:off x="2733675" y="3968679"/>
            <a:ext cx="139065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Submit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8074D8-E58F-4DF0-AD7E-2B2C7810B646}"/>
              </a:ext>
            </a:extLst>
          </p:cNvPr>
          <p:cNvSpPr/>
          <p:nvPr/>
        </p:nvSpPr>
        <p:spPr>
          <a:xfrm>
            <a:off x="2733675" y="2364206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Rasmus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1278E8-D13C-405F-B643-2F06DD491515}"/>
              </a:ext>
            </a:extLst>
          </p:cNvPr>
          <p:cNvSpPr/>
          <p:nvPr/>
        </p:nvSpPr>
        <p:spPr>
          <a:xfrm>
            <a:off x="2733675" y="2789590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Ibsen-Jensen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4C5DB2-857C-4A9F-8A4D-94ACF414580E}"/>
              </a:ext>
            </a:extLst>
          </p:cNvPr>
          <p:cNvSpPr/>
          <p:nvPr/>
        </p:nvSpPr>
        <p:spPr>
          <a:xfrm>
            <a:off x="2733675" y="3227171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1985-5-5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F5A0855-1946-46E7-87C5-8943F4AAA1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975886"/>
              </p:ext>
            </p:extLst>
          </p:nvPr>
        </p:nvGraphicFramePr>
        <p:xfrm>
          <a:off x="6587326" y="4803121"/>
          <a:ext cx="5090262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Victoria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1990-8-3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Oliver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1970-8-10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Rasmus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Ibsen-Jensen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1985-5-5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805A2FB-E515-4EEF-8205-E8892C8067A3}"/>
              </a:ext>
            </a:extLst>
          </p:cNvPr>
          <p:cNvSpPr txBox="1"/>
          <p:nvPr/>
        </p:nvSpPr>
        <p:spPr>
          <a:xfrm>
            <a:off x="6513967" y="4340658"/>
            <a:ext cx="99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Users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14657C9-9EC9-44B7-B75D-993FB700A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668582"/>
              </p:ext>
            </p:extLst>
          </p:nvPr>
        </p:nvGraphicFramePr>
        <p:xfrm>
          <a:off x="1333852" y="4803121"/>
          <a:ext cx="509026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Victoria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1990-8-3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Oliver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1970-8-10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BCA6ACA-298C-40DE-91BE-9B4381818A84}"/>
              </a:ext>
            </a:extLst>
          </p:cNvPr>
          <p:cNvSpPr txBox="1"/>
          <p:nvPr/>
        </p:nvSpPr>
        <p:spPr>
          <a:xfrm>
            <a:off x="1260493" y="4340658"/>
            <a:ext cx="99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Users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10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5" grpId="0" animBg="1"/>
      <p:bldP spid="26" grpId="0" animBg="1"/>
      <p:bldP spid="27" grpId="0" animBg="1"/>
      <p:bldP spid="30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D3AD-4076-44E0-8A01-018E2BCD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SQL Injection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76BF-7EEA-4693-B6F1-EB714A2B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make a website with a form (e.g. for creating a user):</a:t>
            </a:r>
          </a:p>
          <a:p>
            <a:r>
              <a:rPr lang="en-US" dirty="0"/>
              <a:t>First name </a:t>
            </a:r>
          </a:p>
          <a:p>
            <a:r>
              <a:rPr lang="en-US" dirty="0"/>
              <a:t>Last name</a:t>
            </a:r>
          </a:p>
          <a:p>
            <a:r>
              <a:rPr lang="en-US" dirty="0"/>
              <a:t>Date of birth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BADA9-0356-443B-BFF7-5852A9E71C27}"/>
              </a:ext>
            </a:extLst>
          </p:cNvPr>
          <p:cNvSpPr/>
          <p:nvPr/>
        </p:nvSpPr>
        <p:spPr>
          <a:xfrm>
            <a:off x="2733675" y="2364206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839200-527C-4232-ABB2-21CDB4545133}"/>
              </a:ext>
            </a:extLst>
          </p:cNvPr>
          <p:cNvSpPr/>
          <p:nvPr/>
        </p:nvSpPr>
        <p:spPr>
          <a:xfrm>
            <a:off x="2733675" y="2789590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A6135-783F-4FA8-88C9-1975ADC67A2B}"/>
              </a:ext>
            </a:extLst>
          </p:cNvPr>
          <p:cNvSpPr/>
          <p:nvPr/>
        </p:nvSpPr>
        <p:spPr>
          <a:xfrm>
            <a:off x="2733675" y="3227171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E9CD5F-7335-412D-8B5D-360D2B3980F7}"/>
              </a:ext>
            </a:extLst>
          </p:cNvPr>
          <p:cNvSpPr/>
          <p:nvPr/>
        </p:nvSpPr>
        <p:spPr>
          <a:xfrm>
            <a:off x="2733675" y="3968679"/>
            <a:ext cx="139065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Submit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BF7136-5EA6-4238-9146-C2D06413876F}"/>
              </a:ext>
            </a:extLst>
          </p:cNvPr>
          <p:cNvSpPr/>
          <p:nvPr/>
        </p:nvSpPr>
        <p:spPr>
          <a:xfrm>
            <a:off x="6267450" y="3001262"/>
            <a:ext cx="1476375" cy="7070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submit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5A245A-643E-4A65-8C4E-8B1007C32BDE}"/>
              </a:ext>
            </a:extLst>
          </p:cNvPr>
          <p:cNvSpPr txBox="1"/>
          <p:nvPr/>
        </p:nvSpPr>
        <p:spPr>
          <a:xfrm>
            <a:off x="7896225" y="3001262"/>
            <a:ext cx="3775810" cy="923330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INSERT INTO Users VALUES ('Rasmus', 'Ibsen-Jensen','</a:t>
            </a:r>
            <a:r>
              <a:rPr lang="en-US" dirty="0">
                <a:solidFill>
                  <a:srgbClr val="FF0000"/>
                </a:solidFill>
              </a:rPr>
              <a:t>1985-5-5'); DROP TABLE Users; -- </a:t>
            </a:r>
            <a:r>
              <a:rPr lang="en-US" dirty="0"/>
              <a:t>'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E3335-5A8E-485F-AB23-7A4FE41CEF49}"/>
              </a:ext>
            </a:extLst>
          </p:cNvPr>
          <p:cNvSpPr/>
          <p:nvPr/>
        </p:nvSpPr>
        <p:spPr>
          <a:xfrm>
            <a:off x="2733675" y="2364206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Rasmus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ACB55A-4F3E-4651-8C7A-D7CFD98D6EA9}"/>
              </a:ext>
            </a:extLst>
          </p:cNvPr>
          <p:cNvSpPr/>
          <p:nvPr/>
        </p:nvSpPr>
        <p:spPr>
          <a:xfrm>
            <a:off x="2733675" y="2789590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Ibsen-Jensen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A8800F-7368-446F-BEE5-01390FC91263}"/>
              </a:ext>
            </a:extLst>
          </p:cNvPr>
          <p:cNvSpPr/>
          <p:nvPr/>
        </p:nvSpPr>
        <p:spPr>
          <a:xfrm>
            <a:off x="2733675" y="3227171"/>
            <a:ext cx="3276600" cy="28374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1985-5-5'); DROP TABLE Users; -- 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D55415F-FB20-4F09-8DDC-59FED070C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47643"/>
              </p:ext>
            </p:extLst>
          </p:nvPr>
        </p:nvGraphicFramePr>
        <p:xfrm>
          <a:off x="1333852" y="4803121"/>
          <a:ext cx="5090262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Victoria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1990-8-3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Oliver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1970-8-10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4DEACC4-76A3-434D-A797-6264CBB9CC90}"/>
              </a:ext>
            </a:extLst>
          </p:cNvPr>
          <p:cNvSpPr txBox="1"/>
          <p:nvPr/>
        </p:nvSpPr>
        <p:spPr>
          <a:xfrm>
            <a:off x="1260493" y="4340658"/>
            <a:ext cx="99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Users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A593007-DC98-4EE7-A121-145E8716B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3237"/>
              </p:ext>
            </p:extLst>
          </p:nvPr>
        </p:nvGraphicFramePr>
        <p:xfrm>
          <a:off x="6587326" y="4803121"/>
          <a:ext cx="5090262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72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Victoria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1990-8-3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Oliver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1970-8-10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Rasmus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Ibsen-Jensen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1985-5-5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916D9D2-17EC-4014-A8CB-72C9C9064B5E}"/>
              </a:ext>
            </a:extLst>
          </p:cNvPr>
          <p:cNvSpPr txBox="1"/>
          <p:nvPr/>
        </p:nvSpPr>
        <p:spPr>
          <a:xfrm>
            <a:off x="6513967" y="4340658"/>
            <a:ext cx="99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Users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1250BE-F398-4BAF-BC8B-7DEF644B5213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6513967" y="4602268"/>
            <a:ext cx="5306558" cy="1779482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0E202A-BEBD-4579-8B8C-8CA67E1174BC}"/>
              </a:ext>
            </a:extLst>
          </p:cNvPr>
          <p:cNvCxnSpPr>
            <a:cxnSpLocks/>
          </p:cNvCxnSpPr>
          <p:nvPr/>
        </p:nvCxnSpPr>
        <p:spPr>
          <a:xfrm flipV="1">
            <a:off x="6513967" y="4602268"/>
            <a:ext cx="5230358" cy="1684214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849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5619-3D26-4D21-BFD2-A9CFEE03A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avoid SQL Injection attacks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B15D-B0D7-458A-9ED8-691AD2DA8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number of ways to avoid SQL Injections (since they are so common):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Input validation</a:t>
            </a:r>
          </a:p>
          <a:p>
            <a:pPr lvl="2"/>
            <a:r>
              <a:rPr lang="en-US" dirty="0"/>
              <a:t>Check that the input is valid for the field entered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dirty="0"/>
              <a:t>Use prepared statements</a:t>
            </a:r>
          </a:p>
          <a:p>
            <a:pPr lvl="2"/>
            <a:r>
              <a:rPr lang="en-US" dirty="0"/>
              <a:t>Most programming languages lets you use these: In essence, you write the query, except have some ? or similar in the query, which you can then later replace with say a first name or similar</a:t>
            </a:r>
          </a:p>
          <a:p>
            <a:pPr lvl="2"/>
            <a:r>
              <a:rPr lang="en-US" dirty="0"/>
              <a:t>If we had used a prepared statement earlier, we would in essence have made a user with a birthday of “</a:t>
            </a:r>
            <a:r>
              <a:rPr lang="en-US" dirty="0">
                <a:solidFill>
                  <a:srgbClr val="FF0000"/>
                </a:solidFill>
              </a:rPr>
              <a:t>1985-5-5'); DROP TABLE Users; -- </a:t>
            </a:r>
            <a:r>
              <a:rPr lang="en-US" dirty="0"/>
              <a:t>“, i.e. escaping each character (hopefully, the command then would not work, since it would not be a DATE)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Stored procedures</a:t>
            </a:r>
          </a:p>
          <a:p>
            <a:pPr lvl="2"/>
            <a:r>
              <a:rPr lang="en-GB" dirty="0"/>
              <a:t>Like prepared statements, but stored in the database instead of in your programming language</a:t>
            </a:r>
          </a:p>
          <a:p>
            <a:pPr lvl="2"/>
            <a:r>
              <a:rPr lang="en-GB" dirty="0"/>
              <a:t>They will not be covered in this course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GB" dirty="0"/>
              <a:t>Escaping</a:t>
            </a:r>
          </a:p>
          <a:p>
            <a:pPr lvl="2"/>
            <a:r>
              <a:rPr lang="en-GB" dirty="0"/>
              <a:t>Make sure that you escape all characters users input – there should be functions for this in most programming languages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434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5.6|1.2|13.9|6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2.2|12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9|80.4|20.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1039</TotalTime>
  <Words>387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SQL Injections</vt:lpstr>
      <vt:lpstr>Overview</vt:lpstr>
      <vt:lpstr>Example SQL Injection problem</vt:lpstr>
      <vt:lpstr>Example SQL Injection problem</vt:lpstr>
      <vt:lpstr>How to avoid SQL Injection attacks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Injections</dc:title>
  <dc:creator>Rasmus Ibsen-Jensen</dc:creator>
  <cp:lastModifiedBy>Rasmus Ibsen-Jensen</cp:lastModifiedBy>
  <cp:revision>3</cp:revision>
  <dcterms:created xsi:type="dcterms:W3CDTF">2021-10-14T19:23:23Z</dcterms:created>
  <dcterms:modified xsi:type="dcterms:W3CDTF">2021-10-15T12:49:48Z</dcterms:modified>
</cp:coreProperties>
</file>