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7"/>
  </p:notesMasterIdLst>
  <p:sldIdLst>
    <p:sldId id="256" r:id="rId2"/>
    <p:sldId id="499" r:id="rId3"/>
    <p:sldId id="355" r:id="rId4"/>
    <p:sldId id="351" r:id="rId5"/>
    <p:sldId id="493" r:id="rId6"/>
    <p:sldId id="500" r:id="rId7"/>
    <p:sldId id="501" r:id="rId8"/>
    <p:sldId id="375" r:id="rId9"/>
    <p:sldId id="495" r:id="rId10"/>
    <p:sldId id="377" r:id="rId11"/>
    <p:sldId id="496" r:id="rId12"/>
    <p:sldId id="380" r:id="rId13"/>
    <p:sldId id="497" r:id="rId14"/>
    <p:sldId id="498" r:id="rId15"/>
    <p:sldId id="50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E483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88" d="100"/>
          <a:sy n="88" d="100"/>
        </p:scale>
        <p:origin x="1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7F432D-9505-4C1A-8BD3-1991B83C0890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C7A49-1F0C-4A1A-ADFB-15BB4FCC55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095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E6BCE-8179-4218-A772-03A855E03F0D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3970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C3959-E4BF-459F-8AF9-F49556D5A7C6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349F3-6C91-4C64-9517-F227A174B3C9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782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C3959-E4BF-459F-8AF9-F49556D5A7C6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349F3-6C91-4C64-9517-F227A174B3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8043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C3959-E4BF-459F-8AF9-F49556D5A7C6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349F3-6C91-4C64-9517-F227A174B3C9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9344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C3959-E4BF-459F-8AF9-F49556D5A7C6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349F3-6C91-4C64-9517-F227A174B3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9240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C3959-E4BF-459F-8AF9-F49556D5A7C6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349F3-6C91-4C64-9517-F227A174B3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6016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C3959-E4BF-459F-8AF9-F49556D5A7C6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349F3-6C91-4C64-9517-F227A174B3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7793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C3959-E4BF-459F-8AF9-F49556D5A7C6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349F3-6C91-4C64-9517-F227A174B3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0736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65C3959-E4BF-459F-8AF9-F49556D5A7C6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2B349F3-6C91-4C64-9517-F227A174B3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6909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C3959-E4BF-459F-8AF9-F49556D5A7C6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349F3-6C91-4C64-9517-F227A174B3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9238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C3959-E4BF-459F-8AF9-F49556D5A7C6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349F3-6C91-4C64-9517-F227A174B3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4994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C3959-E4BF-459F-8AF9-F49556D5A7C6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349F3-6C91-4C64-9517-F227A174B3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9779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65C3959-E4BF-459F-8AF9-F49556D5A7C6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2B349F3-6C91-4C64-9517-F227A174B3C9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3812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5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ADF65-CE04-45D5-AC35-7421453E08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External memory merge-sort 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5CD3BE-0E4C-4C32-B4D0-F68C228E83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This one is not required for the exam!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744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1D856-BDDD-48C4-A912-028635CA5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over this video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80285-7D23-4525-B558-B4D6E7DC2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video (which is not required for the exam), we will cover external memory merge sort</a:t>
            </a:r>
            <a:endParaRPr lang="en-GB" dirty="0"/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029E3CBA-9B9F-4102-9F79-953BB85F7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9790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Reminder: Computing </a:t>
                </a:r>
                <a14:m>
                  <m:oMath xmlns:m="http://schemas.openxmlformats.org/officeDocument/2006/math">
                    <m:r>
                      <a:rPr lang="en-GB" b="1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𝝈</m:t>
                    </m:r>
                  </m:oMath>
                </a14:m>
                <a:r>
                  <a:rPr lang="en-US" b="1" baseline="-25000" dirty="0">
                    <a:solidFill>
                      <a:schemeClr val="accent3"/>
                    </a:solidFill>
                  </a:rPr>
                  <a:t>condition</a:t>
                </a:r>
                <a:r>
                  <a:rPr lang="en-US" b="1" dirty="0"/>
                  <a:t>(</a:t>
                </a:r>
                <a:r>
                  <a:rPr lang="en-US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b="1" dirty="0"/>
                  <a:t>)</a:t>
                </a:r>
                <a:endParaRPr lang="en-US" dirty="0"/>
              </a:p>
            </p:txBody>
          </p:sp>
        </mc:Choice>
        <mc:Fallback xmlns="">
          <p:sp>
            <p:nvSpPr>
              <p:cNvPr id="5" name="Tit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6"/>
                <a:stretch>
                  <a:fillRect l="-296" r="-370"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procedure: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spcBef>
                <a:spcPts val="2472"/>
              </a:spcBef>
            </a:pPr>
            <a:r>
              <a:rPr lang="en-US" dirty="0"/>
              <a:t>Needs to read the entire relation</a:t>
            </a:r>
          </a:p>
          <a:p>
            <a:r>
              <a:rPr lang="en-US" dirty="0"/>
              <a:t>Yes, sometimes!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2873704" y="2319642"/>
            <a:ext cx="1814208" cy="2363369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434160" y="2201390"/>
            <a:ext cx="4395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R</a:t>
            </a:r>
            <a:r>
              <a:rPr lang="en-US" sz="2400" dirty="0"/>
              <a:t>: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4873848" y="2315591"/>
            <a:ext cx="0" cy="23633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/>
          <p:cNvGrpSpPr/>
          <p:nvPr/>
        </p:nvGrpSpPr>
        <p:grpSpPr>
          <a:xfrm>
            <a:off x="5770730" y="1959542"/>
            <a:ext cx="3722966" cy="1634013"/>
            <a:chOff x="4428926" y="1959541"/>
            <a:chExt cx="3722966" cy="1634013"/>
          </a:xfrm>
        </p:grpSpPr>
        <p:sp>
          <p:nvSpPr>
            <p:cNvPr id="11" name="Rectangle 10"/>
            <p:cNvSpPr/>
            <p:nvPr/>
          </p:nvSpPr>
          <p:spPr>
            <a:xfrm>
              <a:off x="4428926" y="1959541"/>
              <a:ext cx="3722966" cy="163401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500935" y="2073743"/>
              <a:ext cx="27432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for each </a:t>
              </a:r>
              <a:r>
                <a:rPr lang="en-US" sz="2400" dirty="0"/>
                <a:t>tuple </a:t>
              </a:r>
              <a:r>
                <a:rPr lang="en-US" sz="2400" b="1" dirty="0">
                  <a:solidFill>
                    <a:schemeClr val="accent1"/>
                  </a:solidFill>
                </a:rPr>
                <a:t>t</a:t>
              </a:r>
              <a:r>
                <a:rPr lang="en-US" sz="2400" dirty="0"/>
                <a:t> in </a:t>
              </a:r>
              <a:r>
                <a:rPr lang="en-US" sz="2400" b="1" dirty="0">
                  <a:solidFill>
                    <a:schemeClr val="accent1"/>
                  </a:solidFill>
                </a:rPr>
                <a:t>R</a:t>
              </a:r>
              <a:r>
                <a:rPr lang="en-US" sz="2400" dirty="0"/>
                <a:t>: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841468" y="2563811"/>
              <a:ext cx="29591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if</a:t>
              </a:r>
              <a:r>
                <a:rPr lang="en-US" sz="2400" dirty="0"/>
                <a:t> </a:t>
              </a:r>
              <a:r>
                <a:rPr lang="en-US" sz="2400" b="1" dirty="0">
                  <a:solidFill>
                    <a:schemeClr val="accent1"/>
                  </a:solidFill>
                </a:rPr>
                <a:t>t</a:t>
              </a:r>
              <a:r>
                <a:rPr lang="en-US" sz="2400" dirty="0"/>
                <a:t> satisfies </a:t>
              </a:r>
              <a:r>
                <a:rPr lang="en-US" sz="2400" b="1" dirty="0">
                  <a:solidFill>
                    <a:schemeClr val="accent3"/>
                  </a:solidFill>
                </a:rPr>
                <a:t>condition</a:t>
              </a:r>
              <a:r>
                <a:rPr lang="en-US" sz="2400" dirty="0"/>
                <a:t>: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165894" y="3039661"/>
              <a:ext cx="12362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output</a:t>
              </a:r>
              <a:r>
                <a:rPr lang="en-US" sz="2400" dirty="0"/>
                <a:t> </a:t>
              </a:r>
              <a:r>
                <a:rPr lang="en-US" sz="2400" b="1" dirty="0">
                  <a:solidFill>
                    <a:schemeClr val="accent1"/>
                  </a:solidFill>
                </a:rPr>
                <a:t>t</a:t>
              </a:r>
            </a:p>
          </p:txBody>
        </p:sp>
      </p:grpSp>
      <p:sp>
        <p:nvSpPr>
          <p:cNvPr id="24" name="Rectangle 23"/>
          <p:cNvSpPr/>
          <p:nvPr/>
        </p:nvSpPr>
        <p:spPr>
          <a:xfrm>
            <a:off x="2957145" y="2354432"/>
            <a:ext cx="8435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tuple 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57145" y="2620234"/>
            <a:ext cx="8435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tuple 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57145" y="2886036"/>
            <a:ext cx="8435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tuple 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57145" y="3151838"/>
            <a:ext cx="8435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tuple 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57144" y="3417640"/>
            <a:ext cx="343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r-IN" dirty="0">
                <a:solidFill>
                  <a:schemeClr val="bg1"/>
                </a:solidFill>
              </a:rPr>
              <a:t>…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1" name="Rounded Rectangular Callout 19">
            <a:extLst>
              <a:ext uri="{FF2B5EF4-FFF2-40B4-BE49-F238E27FC236}">
                <a16:creationId xmlns:a16="http://schemas.microsoft.com/office/drawing/2014/main" id="{C826C214-345B-4D6E-A8C5-15877C7C60BC}"/>
              </a:ext>
            </a:extLst>
          </p:cNvPr>
          <p:cNvSpPr/>
          <p:nvPr/>
        </p:nvSpPr>
        <p:spPr>
          <a:xfrm>
            <a:off x="3300507" y="5167127"/>
            <a:ext cx="2542231" cy="400110"/>
          </a:xfrm>
          <a:prstGeom prst="wedgeRoundRectCallout">
            <a:avLst>
              <a:gd name="adj1" fmla="val -26099"/>
              <a:gd name="adj2" fmla="val -97962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Can this be done faster?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54892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4941168"/>
            <a:ext cx="8229600" cy="1507083"/>
          </a:xfrm>
        </p:spPr>
        <p:txBody>
          <a:bodyPr>
            <a:normAutofit/>
          </a:bodyPr>
          <a:lstStyle/>
          <a:p>
            <a:r>
              <a:rPr lang="en-US" dirty="0"/>
              <a:t>Selection can be performed faster if we know </a:t>
            </a:r>
            <a:br>
              <a:rPr lang="en-US" dirty="0"/>
            </a:br>
            <a:r>
              <a:rPr lang="en-US" b="1" dirty="0"/>
              <a:t>where to find the rows for ‘G401’</a:t>
            </a:r>
          </a:p>
          <a:p>
            <a:r>
              <a:rPr lang="en-US" dirty="0"/>
              <a:t>Two solutions: </a:t>
            </a:r>
            <a:r>
              <a:rPr lang="en-US" b="1" dirty="0"/>
              <a:t>sorting</a:t>
            </a:r>
            <a:r>
              <a:rPr lang="en-US" dirty="0"/>
              <a:t> &amp; </a:t>
            </a:r>
            <a:r>
              <a:rPr lang="en-US" b="1" dirty="0"/>
              <a:t>index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4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063553" y="2223238"/>
                <a:ext cx="439998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3200" b="1" i="1">
                        <a:latin typeface="Cambria Math" charset="0"/>
                      </a:rPr>
                      <m:t>𝝈</m:t>
                    </m:r>
                  </m:oMath>
                </a14:m>
                <a:r>
                  <a:rPr lang="en-US" sz="3200" b="1" baseline="-25000" dirty="0">
                    <a:solidFill>
                      <a:schemeClr val="accent3"/>
                    </a:solidFill>
                  </a:rPr>
                  <a:t>programme=‘G401’</a:t>
                </a:r>
                <a:r>
                  <a:rPr lang="en-US" sz="3200" b="1" dirty="0"/>
                  <a:t>(</a:t>
                </a:r>
                <a:r>
                  <a:rPr lang="en-US" sz="3200" b="1" dirty="0">
                    <a:solidFill>
                      <a:schemeClr val="accent1"/>
                    </a:solidFill>
                  </a:rPr>
                  <a:t>Students</a:t>
                </a:r>
                <a:r>
                  <a:rPr lang="en-US" sz="3200" b="1" dirty="0"/>
                  <a:t>)</a:t>
                </a:r>
                <a:endParaRPr lang="en-US" sz="32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53" y="2223238"/>
                <a:ext cx="4399987" cy="584775"/>
              </a:xfrm>
              <a:prstGeom prst="rect">
                <a:avLst/>
              </a:prstGeom>
              <a:blipFill>
                <a:blip r:embed="rId5"/>
                <a:stretch>
                  <a:fillRect t="-12500" r="-2219" b="-34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0091822"/>
              </p:ext>
            </p:extLst>
          </p:nvPr>
        </p:nvGraphicFramePr>
        <p:xfrm>
          <a:off x="6960096" y="2219138"/>
          <a:ext cx="2962670" cy="259588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720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2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9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programme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r>
                        <a:rPr lang="en-US" sz="16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1234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G401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G701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3456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Chloe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G401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G401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960097" y="1757860"/>
            <a:ext cx="11265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Students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9" name="Rounded Rectangular Callout 19">
            <a:extLst>
              <a:ext uri="{FF2B5EF4-FFF2-40B4-BE49-F238E27FC236}">
                <a16:creationId xmlns:a16="http://schemas.microsoft.com/office/drawing/2014/main" id="{3FBFECA5-7B28-4F22-876E-DB696D088428}"/>
              </a:ext>
            </a:extLst>
          </p:cNvPr>
          <p:cNvSpPr/>
          <p:nvPr/>
        </p:nvSpPr>
        <p:spPr>
          <a:xfrm>
            <a:off x="3320716" y="6059675"/>
            <a:ext cx="1217772" cy="400110"/>
          </a:xfrm>
          <a:prstGeom prst="wedgeRoundRectCallout">
            <a:avLst>
              <a:gd name="adj1" fmla="val 14965"/>
              <a:gd name="adj2" fmla="val -77915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This video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45230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Faster Joins With Sorting</a:t>
            </a:r>
            <a:br>
              <a:rPr lang="en-GB" dirty="0"/>
            </a:br>
            <a:r>
              <a:rPr lang="en-GB" sz="2400" dirty="0"/>
              <a:t>(from video “Faster Joins With Sorting”)</a:t>
            </a:r>
            <a:endParaRPr lang="en-US" sz="2400" b="1" dirty="0">
              <a:solidFill>
                <a:schemeClr val="accent3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5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2">
                <a:extLst>
                  <a:ext uri="{FF2B5EF4-FFF2-40B4-BE49-F238E27FC236}">
                    <a16:creationId xmlns:a16="http://schemas.microsoft.com/office/drawing/2014/main" id="{4DC7379E-252B-48EF-BAD9-FAF135B96FF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88570" y="1852401"/>
                <a:ext cx="8229600" cy="5184576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dirty="0"/>
                  <a:t>Sort Join Algorithm</a:t>
                </a:r>
                <a:r>
                  <a:rPr lang="en-US" dirty="0"/>
                  <a:t>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GB" dirty="0"/>
                  <a:t>Typical running time: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𝑂</m:t>
                    </m:r>
                  </m:oMath>
                </a14:m>
                <a:r>
                  <a:rPr lang="en-GB" dirty="0"/>
                  <a:t>(|</a:t>
                </a:r>
                <a:r>
                  <a:rPr lang="en-GB" b="1" dirty="0">
                    <a:solidFill>
                      <a:schemeClr val="accent1"/>
                    </a:solidFill>
                  </a:rPr>
                  <a:t>R</a:t>
                </a:r>
                <a:r>
                  <a:rPr lang="en-GB" dirty="0"/>
                  <a:t>|log</a:t>
                </a:r>
                <a:r>
                  <a:rPr lang="en-GB" baseline="-25000" dirty="0"/>
                  <a:t>2</a:t>
                </a:r>
                <a:r>
                  <a:rPr lang="en-GB" dirty="0"/>
                  <a:t>|</a:t>
                </a:r>
                <a:r>
                  <a:rPr lang="en-GB" b="1" dirty="0">
                    <a:solidFill>
                      <a:schemeClr val="accent1"/>
                    </a:solidFill>
                  </a:rPr>
                  <a:t>R</a:t>
                </a:r>
                <a:r>
                  <a:rPr lang="en-GB" dirty="0"/>
                  <a:t>|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charset="0"/>
                      </a:rPr>
                      <m:t>+</m:t>
                    </m:r>
                  </m:oMath>
                </a14:m>
                <a:r>
                  <a:rPr lang="en-GB" dirty="0"/>
                  <a:t> |</a:t>
                </a:r>
                <a:r>
                  <a:rPr lang="en-GB" b="1" dirty="0">
                    <a:solidFill>
                      <a:schemeClr val="accent3"/>
                    </a:solidFill>
                  </a:rPr>
                  <a:t>S</a:t>
                </a:r>
                <a:r>
                  <a:rPr lang="en-GB" dirty="0"/>
                  <a:t>|log</a:t>
                </a:r>
                <a:r>
                  <a:rPr lang="en-GB" baseline="-25000" dirty="0"/>
                  <a:t>2</a:t>
                </a:r>
                <a:r>
                  <a:rPr lang="en-GB" dirty="0"/>
                  <a:t>|</a:t>
                </a:r>
                <a:r>
                  <a:rPr lang="en-GB" b="1" dirty="0">
                    <a:solidFill>
                      <a:schemeClr val="accent3"/>
                    </a:solidFill>
                  </a:rPr>
                  <a:t>S</a:t>
                </a:r>
                <a:r>
                  <a:rPr lang="en-GB" dirty="0"/>
                  <a:t>|)</a:t>
                </a:r>
              </a:p>
              <a:p>
                <a:pPr lvl="1">
                  <a:spcBef>
                    <a:spcPts val="672"/>
                  </a:spcBef>
                </a:pPr>
                <a:r>
                  <a:rPr lang="en-GB" dirty="0"/>
                  <a:t>If not “too many” values in </a:t>
                </a:r>
                <a:r>
                  <a:rPr lang="en-GB" b="1" dirty="0">
                    <a:solidFill>
                      <a:schemeClr val="accent1"/>
                    </a:solidFill>
                  </a:rPr>
                  <a:t>A</a:t>
                </a:r>
                <a:r>
                  <a:rPr lang="en-GB" dirty="0"/>
                  <a:t> occur multiple times</a:t>
                </a:r>
              </a:p>
              <a:p>
                <a:pPr lvl="1">
                  <a:spcBef>
                    <a:spcPts val="672"/>
                  </a:spcBef>
                </a:pPr>
                <a:r>
                  <a:rPr lang="en-GB" dirty="0"/>
                  <a:t>E.g., this is the case if </a:t>
                </a:r>
                <a:r>
                  <a:rPr lang="en-GB" b="1" dirty="0">
                    <a:solidFill>
                      <a:schemeClr val="accent1"/>
                    </a:solidFill>
                  </a:rPr>
                  <a:t>A</a:t>
                </a:r>
                <a:r>
                  <a:rPr lang="en-GB" dirty="0"/>
                  <a:t> is a key</a:t>
                </a:r>
              </a:p>
              <a:p>
                <a:pPr>
                  <a:spcBef>
                    <a:spcPts val="1872"/>
                  </a:spcBef>
                </a:pPr>
                <a:r>
                  <a:rPr lang="en-GB" dirty="0"/>
                  <a:t>Typically much faster than Nested Loop </a:t>
                </a:r>
                <a:r>
                  <a:rPr lang="en-GB" dirty="0" err="1"/>
                  <a:t>Join</a:t>
                </a:r>
                <a:endParaRPr lang="en-GB" dirty="0"/>
              </a:p>
              <a:p>
                <a:pPr lvl="1">
                  <a:spcBef>
                    <a:spcPts val="1872"/>
                  </a:spcBef>
                </a:pPr>
                <a:r>
                  <a:rPr lang="en-GB" dirty="0"/>
                  <a:t>Same time in the worst case, because output can have size up to |</a:t>
                </a:r>
                <a:r>
                  <a:rPr lang="en-GB" b="1" dirty="0">
                    <a:solidFill>
                      <a:schemeClr val="accent1"/>
                    </a:solidFill>
                  </a:rPr>
                  <a:t>R</a:t>
                </a:r>
                <a:r>
                  <a:rPr lang="en-GB" dirty="0"/>
                  <a:t>|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×</m:t>
                    </m:r>
                  </m:oMath>
                </a14:m>
                <a:r>
                  <a:rPr lang="en-GB" dirty="0"/>
                  <a:t> |</a:t>
                </a:r>
                <a:r>
                  <a:rPr lang="en-GB" b="1" dirty="0">
                    <a:solidFill>
                      <a:schemeClr val="accent3"/>
                    </a:solidFill>
                  </a:rPr>
                  <a:t>S</a:t>
                </a:r>
                <a:r>
                  <a:rPr lang="en-GB" dirty="0"/>
                  <a:t>|</a:t>
                </a:r>
              </a:p>
            </p:txBody>
          </p:sp>
        </mc:Choice>
        <mc:Fallback xmlns="">
          <p:sp>
            <p:nvSpPr>
              <p:cNvPr id="32" name="Content Placeholder 2">
                <a:extLst>
                  <a:ext uri="{FF2B5EF4-FFF2-40B4-BE49-F238E27FC236}">
                    <a16:creationId xmlns:a16="http://schemas.microsoft.com/office/drawing/2014/main" id="{4DC7379E-252B-48EF-BAD9-FAF135B96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570" y="1852401"/>
                <a:ext cx="8229600" cy="5184576"/>
              </a:xfrm>
              <a:prstGeom prst="rect">
                <a:avLst/>
              </a:prstGeom>
              <a:blipFill>
                <a:blip r:embed="rId5"/>
                <a:stretch>
                  <a:fillRect l="-815" t="-12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F93C61D3-FF1A-4F28-A3FE-F43A99DF36CB}"/>
              </a:ext>
            </a:extLst>
          </p:cNvPr>
          <p:cNvSpPr/>
          <p:nvPr/>
        </p:nvSpPr>
        <p:spPr>
          <a:xfrm>
            <a:off x="1976330" y="2241717"/>
            <a:ext cx="6743126" cy="187220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8DB48F8-71D3-464E-A65B-F5EB6BCB6501}"/>
              </a:ext>
            </a:extLst>
          </p:cNvPr>
          <p:cNvSpPr txBox="1"/>
          <p:nvPr/>
        </p:nvSpPr>
        <p:spPr>
          <a:xfrm>
            <a:off x="2048339" y="2795113"/>
            <a:ext cx="1628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1. </a:t>
            </a:r>
            <a:r>
              <a:rPr lang="en-US" sz="2000" dirty="0"/>
              <a:t>Sort </a:t>
            </a:r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dirty="0"/>
              <a:t> on </a:t>
            </a:r>
            <a:r>
              <a:rPr lang="en-US" sz="2000" b="1" dirty="0">
                <a:solidFill>
                  <a:schemeClr val="accent1"/>
                </a:solidFill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B8609865-6C1D-46E1-9928-45E8218C62F4}"/>
                  </a:ext>
                </a:extLst>
              </p:cNvPr>
              <p:cNvSpPr/>
              <p:nvPr/>
            </p:nvSpPr>
            <p:spPr>
              <a:xfrm>
                <a:off x="2048339" y="2357241"/>
                <a:ext cx="216610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000" b="1" dirty="0"/>
                  <a:t>Compute </a:t>
                </a:r>
                <a:r>
                  <a:rPr lang="en-US" sz="2000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GB" sz="2000" b="1" i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sz="2000" b="1" baseline="-25000" dirty="0"/>
                  <a:t>=</a:t>
                </a:r>
                <a:r>
                  <a:rPr lang="en-US" sz="2000" b="1" baseline="-25000" dirty="0">
                    <a:solidFill>
                      <a:schemeClr val="accent3"/>
                    </a:solidFill>
                  </a:rPr>
                  <a:t>B</a:t>
                </a:r>
                <a:r>
                  <a:rPr lang="en-US" sz="2000" b="1" dirty="0"/>
                  <a:t> </a:t>
                </a:r>
                <a:r>
                  <a:rPr lang="en-US" sz="2000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sz="2000" b="1" dirty="0"/>
                  <a:t>:</a:t>
                </a:r>
                <a:endParaRPr lang="en-GB" sz="2000" b="1" dirty="0"/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B8609865-6C1D-46E1-9928-45E8218C62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8339" y="2357241"/>
                <a:ext cx="2166106" cy="400110"/>
              </a:xfrm>
              <a:prstGeom prst="rect">
                <a:avLst/>
              </a:prstGeom>
              <a:blipFill>
                <a:blip r:embed="rId6"/>
                <a:stretch>
                  <a:fillRect l="-2817" t="-9231" r="-2535" b="-2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67ECBC3-E422-4BE8-8F37-BADBA834700A}"/>
              </a:ext>
            </a:extLst>
          </p:cNvPr>
          <p:cNvCxnSpPr/>
          <p:nvPr/>
        </p:nvCxnSpPr>
        <p:spPr>
          <a:xfrm>
            <a:off x="2120347" y="2745772"/>
            <a:ext cx="20940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1488BD7E-9E21-4FAC-972F-3B132A1C6093}"/>
              </a:ext>
            </a:extLst>
          </p:cNvPr>
          <p:cNvSpPr txBox="1"/>
          <p:nvPr/>
        </p:nvSpPr>
        <p:spPr>
          <a:xfrm>
            <a:off x="2057017" y="3156260"/>
            <a:ext cx="1566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2. Sort </a:t>
            </a:r>
            <a:r>
              <a:rPr lang="en-US" sz="2000" b="1" dirty="0">
                <a:solidFill>
                  <a:schemeClr val="accent3"/>
                </a:solidFill>
              </a:rPr>
              <a:t>S</a:t>
            </a:r>
            <a:r>
              <a:rPr lang="en-US" sz="2000" dirty="0"/>
              <a:t> on </a:t>
            </a:r>
            <a:r>
              <a:rPr lang="en-US" sz="2000" b="1" dirty="0">
                <a:solidFill>
                  <a:schemeClr val="accent3"/>
                </a:solidFill>
              </a:rPr>
              <a:t>B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1E32D8E-ACA8-45F0-A424-4F97E8E54657}"/>
              </a:ext>
            </a:extLst>
          </p:cNvPr>
          <p:cNvSpPr txBox="1"/>
          <p:nvPr/>
        </p:nvSpPr>
        <p:spPr>
          <a:xfrm>
            <a:off x="2057017" y="3525376"/>
            <a:ext cx="30781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3. Merge the sorted </a:t>
            </a:r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dirty="0"/>
              <a:t> and </a:t>
            </a:r>
            <a:r>
              <a:rPr lang="en-US" sz="2000" b="1" dirty="0">
                <a:solidFill>
                  <a:schemeClr val="accent3"/>
                </a:solidFill>
              </a:rPr>
              <a:t>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ounded Rectangular Callout 17">
                <a:extLst>
                  <a:ext uri="{FF2B5EF4-FFF2-40B4-BE49-F238E27FC236}">
                    <a16:creationId xmlns:a16="http://schemas.microsoft.com/office/drawing/2014/main" id="{82C54131-F6C9-46BB-BA0F-96A84364A9C3}"/>
                  </a:ext>
                </a:extLst>
              </p:cNvPr>
              <p:cNvSpPr/>
              <p:nvPr/>
            </p:nvSpPr>
            <p:spPr>
              <a:xfrm>
                <a:off x="4286452" y="2545314"/>
                <a:ext cx="3247814" cy="389854"/>
              </a:xfrm>
              <a:prstGeom prst="wedgeRoundRectCallout">
                <a:avLst>
                  <a:gd name="adj1" fmla="val -62681"/>
                  <a:gd name="adj2" fmla="val 51515"/>
                  <a:gd name="adj3" fmla="val 16667"/>
                </a:avLst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GB" dirty="0"/>
                  <a:t>Running time: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𝑂</m:t>
                    </m:r>
                  </m:oMath>
                </a14:m>
                <a:r>
                  <a:rPr lang="en-GB" dirty="0"/>
                  <a:t>(|R|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×</m:t>
                    </m:r>
                  </m:oMath>
                </a14:m>
                <a:r>
                  <a:rPr lang="en-GB" dirty="0"/>
                  <a:t> log</a:t>
                </a:r>
                <a:r>
                  <a:rPr lang="en-GB" baseline="-25000" dirty="0"/>
                  <a:t>2</a:t>
                </a:r>
                <a:r>
                  <a:rPr lang="en-GB" dirty="0"/>
                  <a:t> |R|)</a:t>
                </a:r>
              </a:p>
            </p:txBody>
          </p:sp>
        </mc:Choice>
        <mc:Fallback xmlns="">
          <p:sp>
            <p:nvSpPr>
              <p:cNvPr id="39" name="Rounded Rectangular Callout 17">
                <a:extLst>
                  <a:ext uri="{FF2B5EF4-FFF2-40B4-BE49-F238E27FC236}">
                    <a16:creationId xmlns:a16="http://schemas.microsoft.com/office/drawing/2014/main" id="{82C54131-F6C9-46BB-BA0F-96A84364A9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452" y="2545314"/>
                <a:ext cx="3247814" cy="389854"/>
              </a:xfrm>
              <a:prstGeom prst="wedgeRoundRectCallout">
                <a:avLst>
                  <a:gd name="adj1" fmla="val -62681"/>
                  <a:gd name="adj2" fmla="val 51515"/>
                  <a:gd name="adj3" fmla="val 16667"/>
                </a:avLst>
              </a:prstGeom>
              <a:blipFill>
                <a:blip r:embed="rId7"/>
                <a:stretch>
                  <a:fillRect t="-4545" r="-663" b="-196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ounded Rectangular Callout 18">
                <a:extLst>
                  <a:ext uri="{FF2B5EF4-FFF2-40B4-BE49-F238E27FC236}">
                    <a16:creationId xmlns:a16="http://schemas.microsoft.com/office/drawing/2014/main" id="{F0B97F99-D11B-494A-8830-13DCB83B5086}"/>
                  </a:ext>
                </a:extLst>
              </p:cNvPr>
              <p:cNvSpPr/>
              <p:nvPr/>
            </p:nvSpPr>
            <p:spPr>
              <a:xfrm>
                <a:off x="4160518" y="3086966"/>
                <a:ext cx="3199400" cy="389854"/>
              </a:xfrm>
              <a:prstGeom prst="wedgeRoundRectCallout">
                <a:avLst>
                  <a:gd name="adj1" fmla="val -64829"/>
                  <a:gd name="adj2" fmla="val 21025"/>
                  <a:gd name="adj3" fmla="val 16667"/>
                </a:avLst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GB" dirty="0"/>
                  <a:t>Running time: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𝑂</m:t>
                    </m:r>
                  </m:oMath>
                </a14:m>
                <a:r>
                  <a:rPr lang="en-GB" dirty="0"/>
                  <a:t>(|S|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×</m:t>
                    </m:r>
                  </m:oMath>
                </a14:m>
                <a:r>
                  <a:rPr lang="en-GB" dirty="0"/>
                  <a:t> log</a:t>
                </a:r>
                <a:r>
                  <a:rPr lang="en-GB" baseline="-25000" dirty="0"/>
                  <a:t>2</a:t>
                </a:r>
                <a:r>
                  <a:rPr lang="en-GB" dirty="0"/>
                  <a:t> |S|)</a:t>
                </a:r>
              </a:p>
            </p:txBody>
          </p:sp>
        </mc:Choice>
        <mc:Fallback xmlns="">
          <p:sp>
            <p:nvSpPr>
              <p:cNvPr id="40" name="Rounded Rectangular Callout 18">
                <a:extLst>
                  <a:ext uri="{FF2B5EF4-FFF2-40B4-BE49-F238E27FC236}">
                    <a16:creationId xmlns:a16="http://schemas.microsoft.com/office/drawing/2014/main" id="{F0B97F99-D11B-494A-8830-13DCB83B50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0518" y="3086966"/>
                <a:ext cx="3199400" cy="389854"/>
              </a:xfrm>
              <a:prstGeom prst="wedgeRoundRectCallout">
                <a:avLst>
                  <a:gd name="adj1" fmla="val -64829"/>
                  <a:gd name="adj2" fmla="val 21025"/>
                  <a:gd name="adj3" fmla="val 16667"/>
                </a:avLst>
              </a:prstGeom>
              <a:blipFill>
                <a:blip r:embed="rId8"/>
                <a:stretch>
                  <a:fillRect t="-3030" r="-826" b="-196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ounded Rectangular Callout 19">
                <a:extLst>
                  <a:ext uri="{FF2B5EF4-FFF2-40B4-BE49-F238E27FC236}">
                    <a16:creationId xmlns:a16="http://schemas.microsoft.com/office/drawing/2014/main" id="{5CFA824F-76B8-49CF-9D68-BC51723226CC}"/>
                  </a:ext>
                </a:extLst>
              </p:cNvPr>
              <p:cNvSpPr/>
              <p:nvPr/>
            </p:nvSpPr>
            <p:spPr>
              <a:xfrm>
                <a:off x="5442014" y="3628619"/>
                <a:ext cx="3159052" cy="389854"/>
              </a:xfrm>
              <a:prstGeom prst="wedgeRoundRectCallout">
                <a:avLst>
                  <a:gd name="adj1" fmla="val -59913"/>
                  <a:gd name="adj2" fmla="val -18848"/>
                  <a:gd name="adj3" fmla="val 16667"/>
                </a:avLst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GB" dirty="0"/>
                  <a:t>Running time: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𝑂</m:t>
                    </m:r>
                  </m:oMath>
                </a14:m>
                <a:r>
                  <a:rPr lang="en-GB" dirty="0"/>
                  <a:t>(size of output)</a:t>
                </a:r>
              </a:p>
            </p:txBody>
          </p:sp>
        </mc:Choice>
        <mc:Fallback xmlns="">
          <p:sp>
            <p:nvSpPr>
              <p:cNvPr id="41" name="Rounded Rectangular Callout 19">
                <a:extLst>
                  <a:ext uri="{FF2B5EF4-FFF2-40B4-BE49-F238E27FC236}">
                    <a16:creationId xmlns:a16="http://schemas.microsoft.com/office/drawing/2014/main" id="{5CFA824F-76B8-49CF-9D68-BC51723226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2014" y="3628619"/>
                <a:ext cx="3159052" cy="389854"/>
              </a:xfrm>
              <a:prstGeom prst="wedgeRoundRectCallout">
                <a:avLst>
                  <a:gd name="adj1" fmla="val -59913"/>
                  <a:gd name="adj2" fmla="val -18848"/>
                  <a:gd name="adj3" fmla="val 16667"/>
                </a:avLst>
              </a:prstGeom>
              <a:blipFill>
                <a:blip r:embed="rId9"/>
                <a:stretch>
                  <a:fillRect t="-3030" r="-699" b="-196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ular Callout 19">
            <a:extLst>
              <a:ext uri="{FF2B5EF4-FFF2-40B4-BE49-F238E27FC236}">
                <a16:creationId xmlns:a16="http://schemas.microsoft.com/office/drawing/2014/main" id="{07DD5515-C312-460C-BAA4-81580E1AC788}"/>
              </a:ext>
            </a:extLst>
          </p:cNvPr>
          <p:cNvSpPr/>
          <p:nvPr/>
        </p:nvSpPr>
        <p:spPr>
          <a:xfrm>
            <a:off x="7359918" y="4569319"/>
            <a:ext cx="3159052" cy="836055"/>
          </a:xfrm>
          <a:prstGeom prst="wedgeRoundRectCallout">
            <a:avLst>
              <a:gd name="adj1" fmla="val -48197"/>
              <a:gd name="adj2" fmla="val -114599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Having a run time depending on the size of output is called output sensitive</a:t>
            </a:r>
          </a:p>
        </p:txBody>
      </p:sp>
      <p:sp>
        <p:nvSpPr>
          <p:cNvPr id="3" name="Rounded Rectangular Callout 19">
            <a:extLst>
              <a:ext uri="{FF2B5EF4-FFF2-40B4-BE49-F238E27FC236}">
                <a16:creationId xmlns:a16="http://schemas.microsoft.com/office/drawing/2014/main" id="{F8886D87-4A7A-4C0D-A591-1C238DDCC8CC}"/>
              </a:ext>
            </a:extLst>
          </p:cNvPr>
          <p:cNvSpPr/>
          <p:nvPr/>
        </p:nvSpPr>
        <p:spPr>
          <a:xfrm>
            <a:off x="8221851" y="2724152"/>
            <a:ext cx="2422086" cy="400110"/>
          </a:xfrm>
          <a:prstGeom prst="wedgeRoundRectCallout">
            <a:avLst>
              <a:gd name="adj1" fmla="val -67494"/>
              <a:gd name="adj2" fmla="val 14302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Want to do that faster!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1810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9DDA7-8F8D-417E-82EF-D9B21A185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Outside databases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86753-4E09-4B13-83FA-6E2277EA6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problems are much easier then the data is sorted and in general, a significant fraction of all computing time is spend on sorting</a:t>
            </a:r>
          </a:p>
          <a:p>
            <a:pPr lvl="1"/>
            <a:r>
              <a:rPr lang="en-US" dirty="0"/>
              <a:t>Was estimated to be around 25% back in the 60s</a:t>
            </a:r>
          </a:p>
          <a:p>
            <a:pPr lvl="2"/>
            <a:r>
              <a:rPr lang="en-US" dirty="0"/>
              <a:t>Found some claims that it is still in the range 25%-50%, but it is hard to verify</a:t>
            </a:r>
          </a:p>
          <a:p>
            <a:r>
              <a:rPr lang="en-US" dirty="0"/>
              <a:t>Some problems were you need sorting are “small” in that they fit in main memory</a:t>
            </a:r>
          </a:p>
          <a:p>
            <a:r>
              <a:rPr lang="en-US" dirty="0"/>
              <a:t>Some </a:t>
            </a:r>
            <a:r>
              <a:rPr lang="en-US" dirty="0" err="1"/>
              <a:t>ain’t</a:t>
            </a:r>
            <a:endParaRPr lang="en-US" dirty="0"/>
          </a:p>
          <a:p>
            <a:pPr lvl="2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8AAB9F-C819-48F7-AC76-2E2B84AA1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6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10935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25643-D0C8-4D43-9FE1-78852CEEF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the issue solved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FA91E-C050-47AF-9A35-BBD125888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10581373" cy="4023360"/>
          </a:xfrm>
        </p:spPr>
        <p:txBody>
          <a:bodyPr/>
          <a:lstStyle/>
          <a:p>
            <a:r>
              <a:rPr lang="en-US" dirty="0"/>
              <a:t>To find one record on hard disk (with very fast “normal” drive of 15,000 rpm): </a:t>
            </a:r>
          </a:p>
          <a:p>
            <a:pPr lvl="1"/>
            <a:r>
              <a:rPr lang="en-GB" dirty="0"/>
              <a:t>2.00 </a:t>
            </a:r>
            <a:r>
              <a:rPr lang="en-GB" b="1" dirty="0"/>
              <a:t>milli-seconds</a:t>
            </a:r>
            <a:r>
              <a:rPr lang="en-GB" dirty="0"/>
              <a:t> or 2</a:t>
            </a:r>
            <a:r>
              <a:rPr lang="en-GB" sz="1600" baseline="30000" dirty="0"/>
              <a:t>.</a:t>
            </a:r>
            <a:r>
              <a:rPr lang="en-GB" dirty="0"/>
              <a:t>10</a:t>
            </a:r>
            <a:r>
              <a:rPr lang="en-GB" baseline="30000" dirty="0"/>
              <a:t>6</a:t>
            </a:r>
            <a:r>
              <a:rPr lang="en-GB" b="1" dirty="0"/>
              <a:t> nano-seconds</a:t>
            </a:r>
            <a:endParaRPr lang="en-GB" dirty="0"/>
          </a:p>
          <a:p>
            <a:endParaRPr lang="en-US" dirty="0"/>
          </a:p>
          <a:p>
            <a:r>
              <a:rPr lang="en-US" dirty="0"/>
              <a:t>To find one record on SSD: </a:t>
            </a:r>
          </a:p>
          <a:p>
            <a:pPr lvl="1"/>
            <a:r>
              <a:rPr lang="en-GB" dirty="0"/>
              <a:t>0.031 </a:t>
            </a:r>
            <a:r>
              <a:rPr lang="en-GB" b="1" dirty="0"/>
              <a:t>milli-seconds</a:t>
            </a:r>
            <a:r>
              <a:rPr lang="en-GB" dirty="0"/>
              <a:t> or 3.1</a:t>
            </a:r>
            <a:r>
              <a:rPr lang="en-GB" baseline="30000" dirty="0"/>
              <a:t>.</a:t>
            </a:r>
            <a:r>
              <a:rPr lang="en-GB" dirty="0"/>
              <a:t>10</a:t>
            </a:r>
            <a:r>
              <a:rPr lang="en-GB" baseline="30000" dirty="0"/>
              <a:t>4</a:t>
            </a:r>
            <a:r>
              <a:rPr lang="en-GB" dirty="0"/>
              <a:t> </a:t>
            </a:r>
            <a:r>
              <a:rPr lang="en-GB" b="1" dirty="0"/>
              <a:t>nano-seconds</a:t>
            </a:r>
            <a:endParaRPr lang="en-GB" dirty="0"/>
          </a:p>
          <a:p>
            <a:pPr lvl="1"/>
            <a:endParaRPr lang="en-GB" dirty="0"/>
          </a:p>
          <a:p>
            <a:r>
              <a:rPr lang="en-GB" dirty="0"/>
              <a:t>To find one record in RAM (with relative normal DDR4-2666 RAM): </a:t>
            </a:r>
          </a:p>
          <a:p>
            <a:pPr lvl="1"/>
            <a:r>
              <a:rPr lang="en-GB" dirty="0"/>
              <a:t>13 </a:t>
            </a:r>
            <a:r>
              <a:rPr lang="en-GB" b="1" dirty="0"/>
              <a:t>nano-seconds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FEF2C-F646-45DF-B772-2ADD640E4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5" name="Rounded Rectangular Callout 9">
            <a:extLst>
              <a:ext uri="{FF2B5EF4-FFF2-40B4-BE49-F238E27FC236}">
                <a16:creationId xmlns:a16="http://schemas.microsoft.com/office/drawing/2014/main" id="{07298B0E-8FFB-42F0-A070-13E09DC96A78}"/>
              </a:ext>
            </a:extLst>
          </p:cNvPr>
          <p:cNvSpPr/>
          <p:nvPr/>
        </p:nvSpPr>
        <p:spPr>
          <a:xfrm>
            <a:off x="5176382" y="2404802"/>
            <a:ext cx="1344734" cy="573037"/>
          </a:xfrm>
          <a:prstGeom prst="wedgeRoundRectCallout">
            <a:avLst>
              <a:gd name="adj1" fmla="val -85206"/>
              <a:gd name="adj2" fmla="val -3472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/>
              <a:t>SLOW!!!</a:t>
            </a:r>
            <a:endParaRPr lang="en-US" sz="2400" dirty="0"/>
          </a:p>
        </p:txBody>
      </p:sp>
      <p:sp>
        <p:nvSpPr>
          <p:cNvPr id="6" name="Rounded Rectangular Callout 9">
            <a:extLst>
              <a:ext uri="{FF2B5EF4-FFF2-40B4-BE49-F238E27FC236}">
                <a16:creationId xmlns:a16="http://schemas.microsoft.com/office/drawing/2014/main" id="{BCA2BA67-A07F-447D-9C11-8A1B8AB7DA3E}"/>
              </a:ext>
            </a:extLst>
          </p:cNvPr>
          <p:cNvSpPr/>
          <p:nvPr/>
        </p:nvSpPr>
        <p:spPr>
          <a:xfrm>
            <a:off x="5290482" y="3670857"/>
            <a:ext cx="1097483" cy="418609"/>
          </a:xfrm>
          <a:prstGeom prst="wedgeRoundRectCallout">
            <a:avLst>
              <a:gd name="adj1" fmla="val -85206"/>
              <a:gd name="adj2" fmla="val -3472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/>
              <a:t>slow</a:t>
            </a:r>
            <a:endParaRPr lang="en-US" sz="2400" dirty="0"/>
          </a:p>
        </p:txBody>
      </p:sp>
      <p:sp>
        <p:nvSpPr>
          <p:cNvPr id="7" name="Rounded Rectangular Callout 9">
            <a:extLst>
              <a:ext uri="{FF2B5EF4-FFF2-40B4-BE49-F238E27FC236}">
                <a16:creationId xmlns:a16="http://schemas.microsoft.com/office/drawing/2014/main" id="{9BF8D030-CFDE-4C4C-8CD6-FDA415DC741C}"/>
              </a:ext>
            </a:extLst>
          </p:cNvPr>
          <p:cNvSpPr/>
          <p:nvPr/>
        </p:nvSpPr>
        <p:spPr>
          <a:xfrm>
            <a:off x="5300007" y="4560670"/>
            <a:ext cx="1097483" cy="418609"/>
          </a:xfrm>
          <a:prstGeom prst="wedgeRoundRectCallout">
            <a:avLst>
              <a:gd name="adj1" fmla="val -85206"/>
              <a:gd name="adj2" fmla="val -3472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/>
              <a:t>fast</a:t>
            </a:r>
            <a:endParaRPr lang="en-US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31316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(Internal memory) merge sort: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5770730" y="1959542"/>
            <a:ext cx="4141694" cy="24055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400" b="1" dirty="0"/>
              <a:t>Divide</a:t>
            </a:r>
            <a:r>
              <a:rPr lang="en-US" sz="2400" dirty="0"/>
              <a:t> input in two parts P</a:t>
            </a:r>
            <a:r>
              <a:rPr lang="en-US" sz="2400" baseline="-25000" dirty="0"/>
              <a:t>1</a:t>
            </a:r>
            <a:r>
              <a:rPr lang="en-US" sz="2400" dirty="0"/>
              <a:t>, P</a:t>
            </a:r>
            <a:r>
              <a:rPr lang="en-US" sz="2400" baseline="-25000" dirty="0"/>
              <a:t>2</a:t>
            </a:r>
          </a:p>
          <a:p>
            <a:r>
              <a:rPr lang="en-US" sz="2400" b="1" dirty="0"/>
              <a:t>Sort</a:t>
            </a:r>
            <a:r>
              <a:rPr lang="en-US" sz="2400" dirty="0"/>
              <a:t> P</a:t>
            </a:r>
            <a:r>
              <a:rPr lang="en-US" sz="2400" baseline="-25000" dirty="0"/>
              <a:t>1</a:t>
            </a:r>
            <a:r>
              <a:rPr lang="en-US" sz="2400" dirty="0"/>
              <a:t> &amp; P</a:t>
            </a:r>
            <a:r>
              <a:rPr lang="en-US" sz="2400" baseline="-25000" dirty="0"/>
              <a:t>2</a:t>
            </a:r>
            <a:r>
              <a:rPr lang="en-US" sz="2400" dirty="0"/>
              <a:t> </a:t>
            </a:r>
            <a:r>
              <a:rPr lang="en-US" sz="2400" b="1" dirty="0"/>
              <a:t>recursively</a:t>
            </a:r>
          </a:p>
          <a:p>
            <a:r>
              <a:rPr lang="en-US" sz="2400" b="1" dirty="0"/>
              <a:t>While</a:t>
            </a:r>
            <a:r>
              <a:rPr lang="en-US" sz="2400" dirty="0"/>
              <a:t> P</a:t>
            </a:r>
            <a:r>
              <a:rPr lang="en-US" sz="2400" baseline="-25000" dirty="0"/>
              <a:t>1</a:t>
            </a:r>
            <a:r>
              <a:rPr lang="en-US" sz="2400" dirty="0"/>
              <a:t> or P</a:t>
            </a:r>
            <a:r>
              <a:rPr lang="en-US" sz="2400" baseline="-25000" dirty="0"/>
              <a:t>2</a:t>
            </a:r>
            <a:r>
              <a:rPr lang="en-US" sz="2400" dirty="0"/>
              <a:t> is not empty:</a:t>
            </a:r>
          </a:p>
          <a:p>
            <a:r>
              <a:rPr lang="en-US" sz="2400" dirty="0"/>
              <a:t>	Add smallest remaining 	element from P</a:t>
            </a:r>
            <a:r>
              <a:rPr lang="en-US" sz="2400" baseline="-25000" dirty="0"/>
              <a:t>1</a:t>
            </a:r>
            <a:r>
              <a:rPr lang="en-US" sz="2400" dirty="0"/>
              <a:t> or P</a:t>
            </a:r>
            <a:r>
              <a:rPr lang="en-US" sz="2400" baseline="-25000" dirty="0"/>
              <a:t>2</a:t>
            </a:r>
            <a:r>
              <a:rPr lang="en-US" sz="2400" dirty="0"/>
              <a:t> 	</a:t>
            </a:r>
          </a:p>
          <a:p>
            <a:r>
              <a:rPr lang="en-US" sz="2400" dirty="0"/>
              <a:t>	to output</a:t>
            </a:r>
          </a:p>
        </p:txBody>
      </p:sp>
      <p:sp>
        <p:nvSpPr>
          <p:cNvPr id="10" name="Rounded Rectangular Callout 9"/>
          <p:cNvSpPr/>
          <p:nvPr/>
        </p:nvSpPr>
        <p:spPr>
          <a:xfrm>
            <a:off x="3863753" y="2589286"/>
            <a:ext cx="1211583" cy="573037"/>
          </a:xfrm>
          <a:prstGeom prst="wedgeRoundRectCallout">
            <a:avLst>
              <a:gd name="adj1" fmla="val 71695"/>
              <a:gd name="adj2" fmla="val 10664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/>
              <a:t>Merge</a:t>
            </a:r>
            <a:endParaRPr lang="en-US" sz="2400" dirty="0"/>
          </a:p>
        </p:txBody>
      </p:sp>
      <p:sp>
        <p:nvSpPr>
          <p:cNvPr id="11" name="Left Brace 10"/>
          <p:cNvSpPr/>
          <p:nvPr/>
        </p:nvSpPr>
        <p:spPr>
          <a:xfrm>
            <a:off x="5375920" y="2708920"/>
            <a:ext cx="394810" cy="1656184"/>
          </a:xfrm>
          <a:prstGeom prst="leftBrac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4934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Merge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External merge sort: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5818856" y="2528683"/>
            <a:ext cx="4740655" cy="24055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400" b="1" dirty="0"/>
              <a:t>Divide</a:t>
            </a:r>
            <a:r>
              <a:rPr lang="en-US" sz="2400" dirty="0"/>
              <a:t> input in </a:t>
            </a:r>
            <a:r>
              <a:rPr lang="en-US" sz="2400" b="1" dirty="0"/>
              <a:t>M</a:t>
            </a:r>
            <a:r>
              <a:rPr lang="en-US" sz="2400" dirty="0"/>
              <a:t> parts P</a:t>
            </a:r>
            <a:r>
              <a:rPr lang="en-US" sz="2400" baseline="-25000" dirty="0"/>
              <a:t>1</a:t>
            </a:r>
            <a:r>
              <a:rPr lang="en-US" sz="2400" dirty="0"/>
              <a:t>, P</a:t>
            </a:r>
            <a:r>
              <a:rPr lang="en-US" sz="2400" baseline="-25000" dirty="0"/>
              <a:t>2</a:t>
            </a:r>
            <a:r>
              <a:rPr lang="en-US" sz="2400" dirty="0"/>
              <a:t>, …, P</a:t>
            </a:r>
            <a:r>
              <a:rPr lang="en-US" sz="2400" baseline="-25000" dirty="0"/>
              <a:t>M</a:t>
            </a:r>
          </a:p>
          <a:p>
            <a:r>
              <a:rPr lang="en-US" sz="2400" b="1" dirty="0"/>
              <a:t>Sort</a:t>
            </a:r>
            <a:r>
              <a:rPr lang="en-US" sz="2400" dirty="0"/>
              <a:t> P</a:t>
            </a:r>
            <a:r>
              <a:rPr lang="en-US" sz="2400" baseline="-25000" dirty="0"/>
              <a:t>1</a:t>
            </a:r>
            <a:r>
              <a:rPr lang="en-US" sz="2400" dirty="0"/>
              <a:t>, P</a:t>
            </a:r>
            <a:r>
              <a:rPr lang="en-US" sz="2400" baseline="-25000" dirty="0"/>
              <a:t>2</a:t>
            </a:r>
            <a:r>
              <a:rPr lang="en-US" sz="2400" dirty="0"/>
              <a:t>, …, P</a:t>
            </a:r>
            <a:r>
              <a:rPr lang="en-US" sz="2400" baseline="-25000" dirty="0"/>
              <a:t>M</a:t>
            </a:r>
            <a:r>
              <a:rPr lang="en-US" sz="2400" dirty="0"/>
              <a:t> </a:t>
            </a:r>
            <a:r>
              <a:rPr lang="en-US" sz="2400" b="1" dirty="0"/>
              <a:t>recursively</a:t>
            </a:r>
          </a:p>
          <a:p>
            <a:r>
              <a:rPr lang="en-US" sz="2400" b="1" dirty="0"/>
              <a:t>While</a:t>
            </a:r>
            <a:r>
              <a:rPr lang="en-US" sz="2400" dirty="0"/>
              <a:t> not all P</a:t>
            </a:r>
            <a:r>
              <a:rPr lang="en-US" sz="2400" baseline="-25000" dirty="0"/>
              <a:t>i</a:t>
            </a:r>
            <a:r>
              <a:rPr lang="en-US" sz="2400" dirty="0"/>
              <a:t> are empty:</a:t>
            </a:r>
          </a:p>
          <a:p>
            <a:r>
              <a:rPr lang="en-US" sz="2400" dirty="0"/>
              <a:t>	Add smallest remaining 	element from any part P</a:t>
            </a:r>
            <a:r>
              <a:rPr lang="en-US" sz="2400" baseline="-25000" dirty="0"/>
              <a:t>i</a:t>
            </a:r>
            <a:r>
              <a:rPr lang="en-US" sz="2400" dirty="0"/>
              <a:t> to 	output</a:t>
            </a:r>
          </a:p>
        </p:txBody>
      </p:sp>
      <p:sp>
        <p:nvSpPr>
          <p:cNvPr id="10" name="Rounded Rectangular Callout 9"/>
          <p:cNvSpPr/>
          <p:nvPr/>
        </p:nvSpPr>
        <p:spPr>
          <a:xfrm>
            <a:off x="3911879" y="3158427"/>
            <a:ext cx="1211583" cy="573037"/>
          </a:xfrm>
          <a:prstGeom prst="wedgeRoundRectCallout">
            <a:avLst>
              <a:gd name="adj1" fmla="val 71695"/>
              <a:gd name="adj2" fmla="val 10664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/>
              <a:t>Merge</a:t>
            </a:r>
            <a:endParaRPr lang="en-US" sz="2400" dirty="0"/>
          </a:p>
        </p:txBody>
      </p:sp>
      <p:sp>
        <p:nvSpPr>
          <p:cNvPr id="11" name="Left Brace 10"/>
          <p:cNvSpPr/>
          <p:nvPr/>
        </p:nvSpPr>
        <p:spPr>
          <a:xfrm>
            <a:off x="5424046" y="3278061"/>
            <a:ext cx="394810" cy="1656184"/>
          </a:xfrm>
          <a:prstGeom prst="leftBrac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ular Callout 8"/>
          <p:cNvSpPr/>
          <p:nvPr/>
        </p:nvSpPr>
        <p:spPr>
          <a:xfrm>
            <a:off x="5424046" y="1737360"/>
            <a:ext cx="5135464" cy="573037"/>
          </a:xfrm>
          <a:prstGeom prst="wedgeRoundRectCallout">
            <a:avLst>
              <a:gd name="adj1" fmla="val 1046"/>
              <a:gd name="adj2" fmla="val 101413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/>
              <a:t>Number </a:t>
            </a:r>
            <a:r>
              <a:rPr lang="en-GB" sz="2400"/>
              <a:t>of disk blocks </a:t>
            </a:r>
            <a:r>
              <a:rPr lang="en-GB" sz="2400" dirty="0"/>
              <a:t>that fit in RAM</a:t>
            </a:r>
            <a:endParaRPr lang="en-US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34582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in more details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2279576" y="2492897"/>
            <a:ext cx="1296144" cy="39356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262064" y="1943106"/>
            <a:ext cx="1296144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</a:t>
            </a:r>
            <a:r>
              <a:rPr lang="en-US" sz="2400" baseline="-25000" dirty="0"/>
              <a:t>1</a:t>
            </a:r>
            <a:r>
              <a:rPr lang="en-US" sz="2400" dirty="0"/>
              <a:t>:</a:t>
            </a:r>
            <a:endParaRPr lang="en-US" sz="2400" baseline="-25000" dirty="0"/>
          </a:p>
        </p:txBody>
      </p:sp>
      <p:sp>
        <p:nvSpPr>
          <p:cNvPr id="9" name="Rectangle 8"/>
          <p:cNvSpPr/>
          <p:nvPr/>
        </p:nvSpPr>
        <p:spPr>
          <a:xfrm>
            <a:off x="3839072" y="2492897"/>
            <a:ext cx="1296144" cy="39356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821560" y="1943106"/>
            <a:ext cx="1296144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</a:t>
            </a:r>
            <a:r>
              <a:rPr lang="en-US" sz="2400" baseline="-25000" dirty="0"/>
              <a:t>2</a:t>
            </a:r>
            <a:r>
              <a:rPr lang="en-US" sz="2400" dirty="0"/>
              <a:t>:</a:t>
            </a:r>
            <a:endParaRPr lang="en-US" sz="2400" baseline="-25000" dirty="0"/>
          </a:p>
        </p:txBody>
      </p:sp>
      <p:sp>
        <p:nvSpPr>
          <p:cNvPr id="12" name="TextBox 11"/>
          <p:cNvSpPr txBox="1"/>
          <p:nvPr/>
        </p:nvSpPr>
        <p:spPr>
          <a:xfrm>
            <a:off x="5195246" y="3861049"/>
            <a:ext cx="1296144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…</a:t>
            </a:r>
            <a:endParaRPr lang="en-US" sz="2400" baseline="-25000" dirty="0"/>
          </a:p>
        </p:txBody>
      </p:sp>
      <p:sp>
        <p:nvSpPr>
          <p:cNvPr id="13" name="Rectangle 12"/>
          <p:cNvSpPr/>
          <p:nvPr/>
        </p:nvSpPr>
        <p:spPr>
          <a:xfrm>
            <a:off x="6491028" y="2464779"/>
            <a:ext cx="1296144" cy="39356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473516" y="1914988"/>
            <a:ext cx="1296144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</a:t>
            </a:r>
            <a:r>
              <a:rPr lang="en-US" sz="2400" baseline="-25000" dirty="0"/>
              <a:t>M</a:t>
            </a:r>
            <a:r>
              <a:rPr lang="en-US" sz="2400" dirty="0"/>
              <a:t>:</a:t>
            </a:r>
            <a:endParaRPr lang="en-US" sz="2400" baseline="-25000" dirty="0"/>
          </a:p>
        </p:txBody>
      </p:sp>
      <p:sp>
        <p:nvSpPr>
          <p:cNvPr id="15" name="TextBox 14"/>
          <p:cNvSpPr txBox="1"/>
          <p:nvPr/>
        </p:nvSpPr>
        <p:spPr>
          <a:xfrm>
            <a:off x="2279576" y="2492897"/>
            <a:ext cx="1296144" cy="461665"/>
          </a:xfrm>
          <a:prstGeom prst="rect">
            <a:avLst/>
          </a:prstGeom>
          <a:solidFill>
            <a:srgbClr val="4F81BD"/>
          </a:solidFill>
          <a:ln w="285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839072" y="2493931"/>
            <a:ext cx="1296144" cy="461665"/>
          </a:xfrm>
          <a:prstGeom prst="rect">
            <a:avLst/>
          </a:prstGeom>
          <a:solidFill>
            <a:srgbClr val="4F81BD"/>
          </a:solidFill>
          <a:ln w="285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91028" y="2457789"/>
            <a:ext cx="1296144" cy="461665"/>
          </a:xfrm>
          <a:prstGeom prst="rect">
            <a:avLst/>
          </a:prstGeom>
          <a:solidFill>
            <a:srgbClr val="4F81BD"/>
          </a:solidFill>
          <a:ln w="285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758626" y="2466570"/>
            <a:ext cx="1296144" cy="3935607"/>
          </a:xfrm>
          <a:prstGeom prst="rect">
            <a:avLst/>
          </a:prstGeom>
          <a:solidFill>
            <a:schemeClr val="bg1"/>
          </a:solidFill>
          <a:ln w="28575"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8741114" y="1916779"/>
            <a:ext cx="1296144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Output:</a:t>
            </a:r>
            <a:endParaRPr lang="en-US" sz="2400" baseline="-25000" dirty="0"/>
          </a:p>
        </p:txBody>
      </p:sp>
      <p:sp>
        <p:nvSpPr>
          <p:cNvPr id="20" name="TextBox 19"/>
          <p:cNvSpPr txBox="1"/>
          <p:nvPr/>
        </p:nvSpPr>
        <p:spPr>
          <a:xfrm>
            <a:off x="8758626" y="2467604"/>
            <a:ext cx="1296144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4F81BD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2400" dirty="0"/>
          </a:p>
        </p:txBody>
      </p:sp>
      <p:sp>
        <p:nvSpPr>
          <p:cNvPr id="22" name="Right Arrow 21"/>
          <p:cNvSpPr/>
          <p:nvPr/>
        </p:nvSpPr>
        <p:spPr>
          <a:xfrm>
            <a:off x="7968208" y="3861049"/>
            <a:ext cx="576064" cy="5715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88ACF82F-33E9-472D-B365-35C5BA539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41461"/>
            <a:ext cx="10058400" cy="4023360"/>
          </a:xfrm>
        </p:spPr>
        <p:txBody>
          <a:bodyPr/>
          <a:lstStyle/>
          <a:p>
            <a:r>
              <a:rPr lang="en-US" dirty="0"/>
              <a:t>Goal: Must merge M (perhaps large) parts into one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EB3C16-352A-4029-B0A1-0606FBC3E896}"/>
              </a:ext>
            </a:extLst>
          </p:cNvPr>
          <p:cNvSpPr txBox="1"/>
          <p:nvPr/>
        </p:nvSpPr>
        <p:spPr>
          <a:xfrm>
            <a:off x="435540" y="2145820"/>
            <a:ext cx="1682577" cy="1477328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Colors:</a:t>
            </a:r>
          </a:p>
          <a:p>
            <a:r>
              <a:rPr lang="en-US" dirty="0">
                <a:solidFill>
                  <a:srgbClr val="4F81BD"/>
                </a:solidFill>
              </a:rPr>
              <a:t>Blue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in RAM</a:t>
            </a:r>
          </a:p>
          <a:p>
            <a:r>
              <a:rPr lang="en-US" dirty="0">
                <a:solidFill>
                  <a:srgbClr val="E48312"/>
                </a:solidFill>
              </a:rPr>
              <a:t>Orange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in disk</a:t>
            </a:r>
          </a:p>
          <a:p>
            <a:r>
              <a:rPr lang="en-US" dirty="0">
                <a:solidFill>
                  <a:schemeClr val="bg1"/>
                </a:solidFill>
              </a:rPr>
              <a:t>White does not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exists yet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8" name="Rounded Rectangular Callout 32">
            <a:extLst>
              <a:ext uri="{FF2B5EF4-FFF2-40B4-BE49-F238E27FC236}">
                <a16:creationId xmlns:a16="http://schemas.microsoft.com/office/drawing/2014/main" id="{F81473FE-ADA4-43F8-8954-4EFAD4847CC0}"/>
              </a:ext>
            </a:extLst>
          </p:cNvPr>
          <p:cNvSpPr/>
          <p:nvPr/>
        </p:nvSpPr>
        <p:spPr>
          <a:xfrm>
            <a:off x="3591236" y="3543011"/>
            <a:ext cx="5464274" cy="573037"/>
          </a:xfrm>
          <a:prstGeom prst="wedgeRoundRectCallout">
            <a:avLst>
              <a:gd name="adj1" fmla="val 19294"/>
              <a:gd name="adj2" fmla="val -13899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/>
              <a:t>RAM holds smallest blocks from each part</a:t>
            </a:r>
            <a:endParaRPr lang="en-US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05414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9" grpId="0" animBg="1"/>
      <p:bldP spid="10" grpId="0"/>
      <p:bldP spid="12" grpId="0"/>
      <p:bldP spid="13" grpId="0" animBg="1"/>
      <p:bldP spid="14" grpId="0"/>
      <p:bldP spid="15" grpId="0" animBg="1"/>
      <p:bldP spid="16" grpId="0" animBg="1"/>
      <p:bldP spid="17" grpId="0" animBg="1"/>
      <p:bldP spid="18" grpId="0" animBg="1"/>
      <p:bldP spid="19" grpId="0"/>
      <p:bldP spid="20" grpId="0" animBg="1"/>
      <p:bldP spid="22" grpId="0" animBg="1"/>
      <p:bldP spid="24" grpId="0" animBg="1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in more details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2279576" y="2919453"/>
            <a:ext cx="1296144" cy="35090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839072" y="2954561"/>
            <a:ext cx="1296144" cy="34739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195246" y="3861049"/>
            <a:ext cx="1296144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…</a:t>
            </a:r>
            <a:endParaRPr lang="en-US" sz="2400" baseline="-25000" dirty="0"/>
          </a:p>
        </p:txBody>
      </p:sp>
      <p:sp>
        <p:nvSpPr>
          <p:cNvPr id="13" name="Rectangle 12"/>
          <p:cNvSpPr/>
          <p:nvPr/>
        </p:nvSpPr>
        <p:spPr>
          <a:xfrm>
            <a:off x="6491028" y="2919453"/>
            <a:ext cx="1296144" cy="348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2279576" y="2492897"/>
            <a:ext cx="1296144" cy="461665"/>
          </a:xfrm>
          <a:prstGeom prst="rect">
            <a:avLst/>
          </a:prstGeom>
          <a:solidFill>
            <a:srgbClr val="4F81BD"/>
          </a:solidFill>
          <a:ln w="285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839072" y="2493931"/>
            <a:ext cx="1296144" cy="461665"/>
          </a:xfrm>
          <a:prstGeom prst="rect">
            <a:avLst/>
          </a:prstGeom>
          <a:solidFill>
            <a:srgbClr val="4F81BD"/>
          </a:solidFill>
          <a:ln w="285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91028" y="2457789"/>
            <a:ext cx="1296144" cy="461665"/>
          </a:xfrm>
          <a:prstGeom prst="rect">
            <a:avLst/>
          </a:prstGeom>
          <a:solidFill>
            <a:srgbClr val="4F81BD"/>
          </a:solidFill>
          <a:ln w="285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758626" y="2919454"/>
            <a:ext cx="1296144" cy="3482723"/>
          </a:xfrm>
          <a:prstGeom prst="rect">
            <a:avLst/>
          </a:prstGeom>
          <a:solidFill>
            <a:schemeClr val="bg1"/>
          </a:solidFill>
          <a:ln w="28575"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8758626" y="2467604"/>
            <a:ext cx="1296144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4F81BD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2400" dirty="0"/>
          </a:p>
        </p:txBody>
      </p:sp>
      <p:sp>
        <p:nvSpPr>
          <p:cNvPr id="22" name="Right Arrow 21"/>
          <p:cNvSpPr/>
          <p:nvPr/>
        </p:nvSpPr>
        <p:spPr>
          <a:xfrm>
            <a:off x="7968208" y="3861049"/>
            <a:ext cx="576064" cy="5715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2135560" y="2012518"/>
            <a:ext cx="1547482" cy="46166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650051" y="1977410"/>
            <a:ext cx="1547482" cy="46166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758626" y="2919454"/>
            <a:ext cx="1296144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4F81BD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2400" dirty="0"/>
          </a:p>
        </p:txBody>
      </p:sp>
      <p:sp>
        <p:nvSpPr>
          <p:cNvPr id="32" name="TextBox 31"/>
          <p:cNvSpPr txBox="1"/>
          <p:nvPr/>
        </p:nvSpPr>
        <p:spPr>
          <a:xfrm>
            <a:off x="2279576" y="2973276"/>
            <a:ext cx="1290918" cy="461665"/>
          </a:xfrm>
          <a:prstGeom prst="rect">
            <a:avLst/>
          </a:prstGeom>
          <a:solidFill>
            <a:srgbClr val="4F81BD"/>
          </a:solidFill>
          <a:ln w="285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4" name="Rounded Rectangular Callout 33"/>
          <p:cNvSpPr/>
          <p:nvPr/>
        </p:nvSpPr>
        <p:spPr>
          <a:xfrm>
            <a:off x="2531758" y="4218757"/>
            <a:ext cx="3609574" cy="685708"/>
          </a:xfrm>
          <a:prstGeom prst="wedgeRoundRectCallout">
            <a:avLst>
              <a:gd name="adj1" fmla="val -27953"/>
              <a:gd name="adj2" fmla="val -155731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>
              <a:buFont typeface="+mj-lt"/>
              <a:buAutoNum type="arabicPeriod" startAt="3"/>
            </a:pPr>
            <a:r>
              <a:rPr lang="en-GB" sz="2400" dirty="0"/>
              <a:t>Fetch following block of first block to finish</a:t>
            </a:r>
            <a:endParaRPr lang="en-US" sz="2400" dirty="0"/>
          </a:p>
        </p:txBody>
      </p:sp>
      <p:sp>
        <p:nvSpPr>
          <p:cNvPr id="35" name="TextBox 34"/>
          <p:cNvSpPr txBox="1"/>
          <p:nvPr/>
        </p:nvSpPr>
        <p:spPr>
          <a:xfrm>
            <a:off x="6338538" y="1977410"/>
            <a:ext cx="1547482" cy="46166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7" name="Rounded Rectangular Callout 36"/>
          <p:cNvSpPr/>
          <p:nvPr/>
        </p:nvSpPr>
        <p:spPr>
          <a:xfrm>
            <a:off x="7549839" y="5110333"/>
            <a:ext cx="2866156" cy="746553"/>
          </a:xfrm>
          <a:prstGeom prst="wedgeRoundRectCallout">
            <a:avLst>
              <a:gd name="adj1" fmla="val 21750"/>
              <a:gd name="adj2" fmla="val -19074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>
              <a:buFont typeface="+mj-lt"/>
              <a:buAutoNum type="arabicPeriod" startAt="2"/>
            </a:pPr>
            <a:r>
              <a:rPr lang="en-GB" sz="2400" dirty="0"/>
              <a:t>Start next output block, …</a:t>
            </a:r>
            <a:endParaRPr lang="en-US" sz="2400" dirty="0"/>
          </a:p>
        </p:txBody>
      </p:sp>
      <p:sp>
        <p:nvSpPr>
          <p:cNvPr id="39" name="TextBox 38"/>
          <p:cNvSpPr txBox="1"/>
          <p:nvPr/>
        </p:nvSpPr>
        <p:spPr>
          <a:xfrm>
            <a:off x="3820017" y="2952082"/>
            <a:ext cx="1311707" cy="461665"/>
          </a:xfrm>
          <a:prstGeom prst="rect">
            <a:avLst/>
          </a:prstGeom>
          <a:solidFill>
            <a:srgbClr val="4F81BD"/>
          </a:solidFill>
          <a:ln w="285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760927" y="3371304"/>
            <a:ext cx="1296144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4F81BD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8758626" y="1987225"/>
            <a:ext cx="1296144" cy="461665"/>
          </a:xfrm>
          <a:prstGeom prst="rect">
            <a:avLst/>
          </a:prstGeom>
          <a:solidFill>
            <a:srgbClr val="4F81BD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endParaRPr lang="en-US" sz="2400" dirty="0"/>
          </a:p>
        </p:txBody>
      </p:sp>
      <p:sp>
        <p:nvSpPr>
          <p:cNvPr id="28" name="TextBox 27"/>
          <p:cNvSpPr txBox="1"/>
          <p:nvPr/>
        </p:nvSpPr>
        <p:spPr>
          <a:xfrm>
            <a:off x="8262953" y="1987169"/>
            <a:ext cx="2137619" cy="46166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endParaRPr lang="en-US" sz="2400" dirty="0"/>
          </a:p>
        </p:txBody>
      </p:sp>
      <p:sp>
        <p:nvSpPr>
          <p:cNvPr id="41" name="Rounded Rectangular Callout 40"/>
          <p:cNvSpPr/>
          <p:nvPr/>
        </p:nvSpPr>
        <p:spPr>
          <a:xfrm>
            <a:off x="2279576" y="5652588"/>
            <a:ext cx="4608512" cy="685708"/>
          </a:xfrm>
          <a:prstGeom prst="wedgeRoundRectCallout">
            <a:avLst>
              <a:gd name="adj1" fmla="val -27953"/>
              <a:gd name="adj2" fmla="val -155731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2400" dirty="0"/>
              <a:t>The one with smallest </a:t>
            </a:r>
            <a:r>
              <a:rPr lang="en-GB" sz="2400"/>
              <a:t>last record</a:t>
            </a:r>
            <a:endParaRPr lang="en-US" sz="2400" dirty="0"/>
          </a:p>
        </p:txBody>
      </p:sp>
      <p:sp>
        <p:nvSpPr>
          <p:cNvPr id="42" name="TextBox 41"/>
          <p:cNvSpPr txBox="1"/>
          <p:nvPr/>
        </p:nvSpPr>
        <p:spPr>
          <a:xfrm>
            <a:off x="8743110" y="2927308"/>
            <a:ext cx="1322676" cy="461665"/>
          </a:xfrm>
          <a:prstGeom prst="rect">
            <a:avLst/>
          </a:prstGeom>
          <a:solidFill>
            <a:srgbClr val="4F81BD"/>
          </a:solidFill>
          <a:ln w="285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41461"/>
            <a:ext cx="10058400" cy="4023360"/>
          </a:xfrm>
        </p:spPr>
        <p:txBody>
          <a:bodyPr/>
          <a:lstStyle/>
          <a:p>
            <a:r>
              <a:rPr lang="en-US" dirty="0"/>
              <a:t>Goal: Must merge M (perhaps large) parts into one </a:t>
            </a:r>
          </a:p>
        </p:txBody>
      </p:sp>
      <p:sp>
        <p:nvSpPr>
          <p:cNvPr id="38" name="Rounded Rectangular Callout 37"/>
          <p:cNvSpPr/>
          <p:nvPr/>
        </p:nvSpPr>
        <p:spPr>
          <a:xfrm>
            <a:off x="3068052" y="1342424"/>
            <a:ext cx="3609574" cy="685708"/>
          </a:xfrm>
          <a:prstGeom prst="wedgeRoundRectCallout">
            <a:avLst>
              <a:gd name="adj1" fmla="val -9529"/>
              <a:gd name="adj2" fmla="val 16673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>
              <a:buFont typeface="+mj-lt"/>
              <a:buAutoNum type="arabicPeriod" startAt="3"/>
            </a:pPr>
            <a:r>
              <a:rPr lang="en-GB" sz="2400" dirty="0"/>
              <a:t>Fetch following block of first block to finish</a:t>
            </a:r>
            <a:endParaRPr lang="en-US" sz="2400" dirty="0"/>
          </a:p>
        </p:txBody>
      </p:sp>
      <p:sp>
        <p:nvSpPr>
          <p:cNvPr id="31" name="Rounded Rectangular Callout 30"/>
          <p:cNvSpPr/>
          <p:nvPr/>
        </p:nvSpPr>
        <p:spPr>
          <a:xfrm>
            <a:off x="7643020" y="4353301"/>
            <a:ext cx="2866156" cy="746553"/>
          </a:xfrm>
          <a:prstGeom prst="wedgeRoundRectCallout">
            <a:avLst>
              <a:gd name="adj1" fmla="val 21750"/>
              <a:gd name="adj2" fmla="val -19074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>
              <a:buFont typeface="+mj-lt"/>
              <a:buAutoNum type="arabicPeriod" startAt="2"/>
            </a:pPr>
            <a:r>
              <a:rPr lang="en-GB" sz="2400" dirty="0"/>
              <a:t>Start next output block, …</a:t>
            </a:r>
            <a:endParaRPr lang="en-US" sz="24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09CD286-15F7-4E95-B307-84000340E9F4}"/>
              </a:ext>
            </a:extLst>
          </p:cNvPr>
          <p:cNvSpPr txBox="1"/>
          <p:nvPr/>
        </p:nvSpPr>
        <p:spPr>
          <a:xfrm>
            <a:off x="435540" y="2145820"/>
            <a:ext cx="1682577" cy="1477328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Colors:</a:t>
            </a:r>
          </a:p>
          <a:p>
            <a:r>
              <a:rPr lang="en-US" dirty="0">
                <a:solidFill>
                  <a:srgbClr val="4F81BD"/>
                </a:solidFill>
              </a:rPr>
              <a:t>Blue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in RAM</a:t>
            </a:r>
          </a:p>
          <a:p>
            <a:r>
              <a:rPr lang="en-US" dirty="0">
                <a:solidFill>
                  <a:srgbClr val="E48312"/>
                </a:solidFill>
              </a:rPr>
              <a:t>Orange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in disk</a:t>
            </a:r>
          </a:p>
          <a:p>
            <a:r>
              <a:rPr lang="en-US" dirty="0">
                <a:solidFill>
                  <a:schemeClr val="bg1"/>
                </a:solidFill>
              </a:rPr>
              <a:t>White does not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exists yet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6CE3DEC-CA96-4E65-A76F-C5EB72D9063C}"/>
              </a:ext>
            </a:extLst>
          </p:cNvPr>
          <p:cNvSpPr txBox="1"/>
          <p:nvPr/>
        </p:nvSpPr>
        <p:spPr>
          <a:xfrm>
            <a:off x="8764134" y="2462444"/>
            <a:ext cx="1296144" cy="461665"/>
          </a:xfrm>
          <a:prstGeom prst="rect">
            <a:avLst/>
          </a:prstGeom>
          <a:solidFill>
            <a:srgbClr val="E48312"/>
          </a:solidFill>
          <a:ln w="28575">
            <a:solidFill>
              <a:srgbClr val="4F81BD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2400" dirty="0"/>
          </a:p>
        </p:txBody>
      </p:sp>
      <p:sp>
        <p:nvSpPr>
          <p:cNvPr id="30" name="Rounded Rectangular Callout 29"/>
          <p:cNvSpPr/>
          <p:nvPr/>
        </p:nvSpPr>
        <p:spPr>
          <a:xfrm>
            <a:off x="7248128" y="1280526"/>
            <a:ext cx="2520280" cy="573037"/>
          </a:xfrm>
          <a:prstGeom prst="wedgeRoundRectCallout">
            <a:avLst>
              <a:gd name="adj1" fmla="val 36867"/>
              <a:gd name="adj2" fmla="val 133997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/>
              <a:t>1. </a:t>
            </a:r>
            <a:r>
              <a:rPr lang="en-GB" sz="2400" dirty="0"/>
              <a:t>Move to disk, …</a:t>
            </a:r>
            <a:endParaRPr lang="en-US" sz="2400" dirty="0"/>
          </a:p>
        </p:txBody>
      </p:sp>
      <p:sp>
        <p:nvSpPr>
          <p:cNvPr id="36" name="Rounded Rectangular Callout 35"/>
          <p:cNvSpPr/>
          <p:nvPr/>
        </p:nvSpPr>
        <p:spPr>
          <a:xfrm>
            <a:off x="7154947" y="1829012"/>
            <a:ext cx="2520280" cy="573037"/>
          </a:xfrm>
          <a:prstGeom prst="wedgeRoundRectCallout">
            <a:avLst>
              <a:gd name="adj1" fmla="val 36867"/>
              <a:gd name="adj2" fmla="val 133997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/>
              <a:t>1. Move to disk, …</a:t>
            </a:r>
            <a:endParaRPr lang="en-US" sz="2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3E8F202-6371-4D5A-B755-285FEF154C98}"/>
              </a:ext>
            </a:extLst>
          </p:cNvPr>
          <p:cNvSpPr txBox="1"/>
          <p:nvPr/>
        </p:nvSpPr>
        <p:spPr>
          <a:xfrm>
            <a:off x="8758626" y="2929933"/>
            <a:ext cx="1298836" cy="461665"/>
          </a:xfrm>
          <a:prstGeom prst="rect">
            <a:avLst/>
          </a:prstGeom>
          <a:solidFill>
            <a:srgbClr val="E48312"/>
          </a:solidFill>
          <a:ln w="28575">
            <a:solidFill>
              <a:srgbClr val="4F81BD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7" name="Rounded Rectangular Callout 32">
            <a:extLst>
              <a:ext uri="{FF2B5EF4-FFF2-40B4-BE49-F238E27FC236}">
                <a16:creationId xmlns:a16="http://schemas.microsoft.com/office/drawing/2014/main" id="{1BD17685-8B43-445F-8BF7-52266C360FBB}"/>
              </a:ext>
            </a:extLst>
          </p:cNvPr>
          <p:cNvSpPr/>
          <p:nvPr/>
        </p:nvSpPr>
        <p:spPr>
          <a:xfrm>
            <a:off x="3591236" y="3543011"/>
            <a:ext cx="5464274" cy="573037"/>
          </a:xfrm>
          <a:prstGeom prst="wedgeRoundRectCallout">
            <a:avLst>
              <a:gd name="adj1" fmla="val 19294"/>
              <a:gd name="adj2" fmla="val -13899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/>
              <a:t>RAM holds smallest blocks from each part</a:t>
            </a:r>
            <a:endParaRPr lang="en-US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778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3.7037E-7 L 0.0004 0.0715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356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2.22222E-6 L -0.00451 0.03635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83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88889E-6 -7.40741E-7 L -0.00451 0.03634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6" y="18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1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35" dur="1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1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51 0.03634 L -0.00451 0.07176 " pathEditMode="relative" rAng="0" ptsTypes="AA">
                                      <p:cBhvr>
                                        <p:cTn id="5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14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0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1.11111E-6 -7.40741E-7 L -0.00451 0.03634 " pathEditMode="relative" rAng="0" ptsTypes="AA">
                                      <p:cBhvr>
                                        <p:cTn id="5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6" y="1806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4 0.07153 L 0.0004 0.13588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7" grpId="0" animBg="1"/>
      <p:bldP spid="29" grpId="0" animBg="1"/>
      <p:bldP spid="32" grpId="0" animBg="1"/>
      <p:bldP spid="34" grpId="0" animBg="1"/>
      <p:bldP spid="34" grpId="1" animBg="1"/>
      <p:bldP spid="35" grpId="0" animBg="1"/>
      <p:bldP spid="37" grpId="0" animBg="1"/>
      <p:bldP spid="37" grpId="1" animBg="1"/>
      <p:bldP spid="39" grpId="0" animBg="1"/>
      <p:bldP spid="40" grpId="0" animBg="1"/>
      <p:bldP spid="26" grpId="0" animBg="1"/>
      <p:bldP spid="26" grpId="1" animBg="1"/>
      <p:bldP spid="41" grpId="0" animBg="1"/>
      <p:bldP spid="41" grpId="1" animBg="1"/>
      <p:bldP spid="42" grpId="0" animBg="1"/>
      <p:bldP spid="38" grpId="0" animBg="1"/>
      <p:bldP spid="38" grpId="1" animBg="1"/>
      <p:bldP spid="31" grpId="0" animBg="1"/>
      <p:bldP spid="31" grpId="1" animBg="1"/>
      <p:bldP spid="44" grpId="0" animBg="1"/>
      <p:bldP spid="30" grpId="0" animBg="1"/>
      <p:bldP spid="30" grpId="1" animBg="1"/>
      <p:bldP spid="36" grpId="0" animBg="1"/>
      <p:bldP spid="36" grpId="1" animBg="1"/>
      <p:bldP spid="4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External Merge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External merge sort: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5770730" y="1959542"/>
            <a:ext cx="4740655" cy="24055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400" b="1" dirty="0"/>
              <a:t>Divide</a:t>
            </a:r>
            <a:r>
              <a:rPr lang="en-US" sz="2400" dirty="0"/>
              <a:t> input in </a:t>
            </a:r>
            <a:r>
              <a:rPr lang="en-US" sz="2400" b="1" dirty="0"/>
              <a:t>M</a:t>
            </a:r>
            <a:r>
              <a:rPr lang="en-US" sz="2400" dirty="0"/>
              <a:t> parts P</a:t>
            </a:r>
            <a:r>
              <a:rPr lang="en-US" sz="2400" baseline="-25000" dirty="0"/>
              <a:t>1</a:t>
            </a:r>
            <a:r>
              <a:rPr lang="en-US" sz="2400" dirty="0"/>
              <a:t>, P</a:t>
            </a:r>
            <a:r>
              <a:rPr lang="en-US" sz="2400" baseline="-25000" dirty="0"/>
              <a:t>2</a:t>
            </a:r>
            <a:r>
              <a:rPr lang="en-US" sz="2400" dirty="0"/>
              <a:t>, …, P</a:t>
            </a:r>
            <a:r>
              <a:rPr lang="en-US" sz="2400" baseline="-25000" dirty="0"/>
              <a:t>M</a:t>
            </a:r>
          </a:p>
          <a:p>
            <a:r>
              <a:rPr lang="en-US" sz="2400" b="1" dirty="0"/>
              <a:t>Sort</a:t>
            </a:r>
            <a:r>
              <a:rPr lang="en-US" sz="2400" dirty="0"/>
              <a:t> P</a:t>
            </a:r>
            <a:r>
              <a:rPr lang="en-US" sz="2400" baseline="-25000" dirty="0"/>
              <a:t>1</a:t>
            </a:r>
            <a:r>
              <a:rPr lang="en-US" sz="2400" dirty="0"/>
              <a:t>, P</a:t>
            </a:r>
            <a:r>
              <a:rPr lang="en-US" sz="2400" baseline="-25000" dirty="0"/>
              <a:t>2</a:t>
            </a:r>
            <a:r>
              <a:rPr lang="en-US" sz="2400" dirty="0"/>
              <a:t>, …, P</a:t>
            </a:r>
            <a:r>
              <a:rPr lang="en-US" sz="2400" baseline="-25000" dirty="0"/>
              <a:t>M</a:t>
            </a:r>
            <a:r>
              <a:rPr lang="en-US" sz="2400" dirty="0"/>
              <a:t> </a:t>
            </a:r>
            <a:r>
              <a:rPr lang="en-US" sz="2400" b="1" dirty="0"/>
              <a:t>recursively</a:t>
            </a:r>
          </a:p>
          <a:p>
            <a:r>
              <a:rPr lang="en-US" sz="2400" b="1" dirty="0"/>
              <a:t>While</a:t>
            </a:r>
            <a:r>
              <a:rPr lang="en-US" sz="2400" dirty="0"/>
              <a:t> not all P</a:t>
            </a:r>
            <a:r>
              <a:rPr lang="en-US" sz="2400" baseline="-25000" dirty="0"/>
              <a:t>i</a:t>
            </a:r>
            <a:r>
              <a:rPr lang="en-US" sz="2400" dirty="0"/>
              <a:t> are empty:</a:t>
            </a:r>
          </a:p>
          <a:p>
            <a:r>
              <a:rPr lang="en-US" sz="2400" dirty="0"/>
              <a:t>	Add smallest remaining 	element from any part P</a:t>
            </a:r>
            <a:r>
              <a:rPr lang="en-US" sz="2400" baseline="-25000" dirty="0"/>
              <a:t>i</a:t>
            </a:r>
            <a:r>
              <a:rPr lang="en-US" sz="2400" dirty="0"/>
              <a:t> to 	output</a:t>
            </a:r>
          </a:p>
        </p:txBody>
      </p:sp>
      <p:sp>
        <p:nvSpPr>
          <p:cNvPr id="10" name="Rounded Rectangular Callout 9"/>
          <p:cNvSpPr/>
          <p:nvPr/>
        </p:nvSpPr>
        <p:spPr>
          <a:xfrm>
            <a:off x="3863753" y="2589286"/>
            <a:ext cx="1211583" cy="573037"/>
          </a:xfrm>
          <a:prstGeom prst="wedgeRoundRectCallout">
            <a:avLst>
              <a:gd name="adj1" fmla="val 71695"/>
              <a:gd name="adj2" fmla="val 10664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/>
              <a:t>Merge</a:t>
            </a:r>
            <a:endParaRPr lang="en-US" sz="2400" dirty="0"/>
          </a:p>
        </p:txBody>
      </p:sp>
      <p:sp>
        <p:nvSpPr>
          <p:cNvPr id="11" name="Left Brace 10"/>
          <p:cNvSpPr/>
          <p:nvPr/>
        </p:nvSpPr>
        <p:spPr>
          <a:xfrm>
            <a:off x="5375920" y="2708920"/>
            <a:ext cx="394810" cy="1656184"/>
          </a:xfrm>
          <a:prstGeom prst="leftBrac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ular Callout 11"/>
          <p:cNvSpPr/>
          <p:nvPr/>
        </p:nvSpPr>
        <p:spPr>
          <a:xfrm>
            <a:off x="2783633" y="4307837"/>
            <a:ext cx="4218745" cy="1497427"/>
          </a:xfrm>
          <a:prstGeom prst="wedgeRoundRectCallout">
            <a:avLst>
              <a:gd name="adj1" fmla="val 40226"/>
              <a:gd name="adj2" fmla="val -8626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/>
              <a:t>On each level of recursion we scan through </a:t>
            </a:r>
            <a:r>
              <a:rPr lang="en-GB" sz="2400"/>
              <a:t>all blocks once </a:t>
            </a:r>
            <a:br>
              <a:rPr lang="en-GB" sz="2400"/>
            </a:br>
            <a:r>
              <a:rPr lang="en-GB" sz="2400"/>
              <a:t>= O(N/B) disk operations, where </a:t>
            </a:r>
            <a:r>
              <a:rPr lang="en-GB" sz="2400" dirty="0"/>
              <a:t>B is block size</a:t>
            </a:r>
            <a:endParaRPr lang="en-US" sz="2400" dirty="0"/>
          </a:p>
        </p:txBody>
      </p:sp>
      <p:sp>
        <p:nvSpPr>
          <p:cNvPr id="13" name="Rounded Rectangular Callout 12"/>
          <p:cNvSpPr/>
          <p:nvPr/>
        </p:nvSpPr>
        <p:spPr>
          <a:xfrm>
            <a:off x="2495601" y="437839"/>
            <a:ext cx="5586897" cy="1521703"/>
          </a:xfrm>
          <a:prstGeom prst="wedgeRoundRectCallout">
            <a:avLst>
              <a:gd name="adj1" fmla="val 51511"/>
              <a:gd name="adj2" fmla="val 8370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/>
              <a:t>We split in M buckets in each level of recursion until reminder is below MB (where it fits in RAM and can be sorted directly): </a:t>
            </a:r>
            <a:r>
              <a:rPr lang="en-GB" sz="2400" dirty="0" err="1"/>
              <a:t>log</a:t>
            </a:r>
            <a:r>
              <a:rPr lang="en-GB" sz="2400" baseline="-25000" dirty="0" err="1"/>
              <a:t>M</a:t>
            </a:r>
            <a:r>
              <a:rPr lang="en-GB" sz="2400" dirty="0"/>
              <a:t>(N/(MB)) levels</a:t>
            </a:r>
            <a:endParaRPr lang="en-US" sz="2400" dirty="0"/>
          </a:p>
        </p:txBody>
      </p:sp>
      <p:sp>
        <p:nvSpPr>
          <p:cNvPr id="14" name="Rounded Rectangular Callout 13"/>
          <p:cNvSpPr/>
          <p:nvPr/>
        </p:nvSpPr>
        <p:spPr>
          <a:xfrm>
            <a:off x="1401693" y="2428321"/>
            <a:ext cx="4218745" cy="842543"/>
          </a:xfrm>
          <a:prstGeom prst="wedgeRoundRectCallout">
            <a:avLst>
              <a:gd name="adj1" fmla="val 54358"/>
              <a:gd name="adj2" fmla="val 23021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/>
              <a:t>Total disk operations: </a:t>
            </a:r>
            <a:br>
              <a:rPr lang="en-GB" sz="2400" dirty="0"/>
            </a:br>
            <a:r>
              <a:rPr lang="en-GB" sz="2400" dirty="0"/>
              <a:t>O(N/B </a:t>
            </a:r>
            <a:r>
              <a:rPr lang="en-GB" sz="2400" dirty="0" err="1"/>
              <a:t>log</a:t>
            </a:r>
            <a:r>
              <a:rPr lang="en-GB" sz="2400" baseline="-25000" dirty="0" err="1"/>
              <a:t>M</a:t>
            </a:r>
            <a:r>
              <a:rPr lang="en-GB" sz="2400" dirty="0"/>
              <a:t>(N/(MB)))</a:t>
            </a:r>
            <a:endParaRPr lang="en-US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0473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practice, since hard disks are slow:</a:t>
                </a:r>
              </a:p>
              <a:p>
                <a:pPr lvl="1"/>
                <a:r>
                  <a:rPr lang="en-US" dirty="0"/>
                  <a:t>Running time is basically time spend on disk operations</a:t>
                </a:r>
              </a:p>
              <a:p>
                <a:pPr lvl="1"/>
                <a:r>
                  <a:rPr lang="en-US" dirty="0"/>
                  <a:t>Thus, time is </a:t>
                </a:r>
                <a:r>
                  <a:rPr lang="en-GB" dirty="0"/>
                  <a:t>O(N/B </a:t>
                </a:r>
                <a:r>
                  <a:rPr lang="en-GB" dirty="0" err="1"/>
                  <a:t>log</a:t>
                </a:r>
                <a:r>
                  <a:rPr lang="en-GB" baseline="-25000" dirty="0" err="1"/>
                  <a:t>M</a:t>
                </a:r>
                <a:r>
                  <a:rPr lang="en-GB" dirty="0"/>
                  <a:t>(N/(MB))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×</m:t>
                    </m:r>
                  </m:oMath>
                </a14:m>
                <a:r>
                  <a:rPr lang="en-GB" dirty="0"/>
                  <a:t> D)</a:t>
                </a:r>
              </a:p>
              <a:p>
                <a:pPr lvl="1"/>
                <a:r>
                  <a:rPr lang="en-US" dirty="0"/>
                  <a:t>D is time for a disk operation</a:t>
                </a:r>
              </a:p>
              <a:p>
                <a:r>
                  <a:rPr lang="en-GB" dirty="0"/>
                  <a:t>Quicksort (or other internal memory sorting algorithms) uses O(N/B log</a:t>
                </a:r>
                <a:r>
                  <a:rPr lang="en-GB" baseline="-25000" dirty="0"/>
                  <a:t>2</a:t>
                </a:r>
                <a:r>
                  <a:rPr lang="en-GB" dirty="0"/>
                  <a:t>(N)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×</m:t>
                    </m:r>
                  </m:oMath>
                </a14:m>
                <a:r>
                  <a:rPr lang="en-GB" dirty="0"/>
                  <a:t> D) time! </a:t>
                </a:r>
              </a:p>
              <a:p>
                <a:endParaRPr lang="en-US" dirty="0"/>
              </a:p>
              <a:p>
                <a:r>
                  <a:rPr lang="en-US" dirty="0"/>
                  <a:t>Common values for D, B and M:</a:t>
                </a:r>
              </a:p>
              <a:p>
                <a:pPr lvl="1"/>
                <a:r>
                  <a:rPr lang="en-US" dirty="0"/>
                  <a:t>D was around </a:t>
                </a:r>
                <a:r>
                  <a:rPr lang="en-GB" dirty="0"/>
                  <a:t>3.1</a:t>
                </a:r>
                <a:r>
                  <a:rPr lang="en-GB" baseline="30000" dirty="0"/>
                  <a:t>.</a:t>
                </a:r>
                <a:r>
                  <a:rPr lang="en-GB" dirty="0"/>
                  <a:t>10</a:t>
                </a:r>
                <a:r>
                  <a:rPr lang="en-GB" baseline="30000" dirty="0"/>
                  <a:t>4</a:t>
                </a:r>
                <a:r>
                  <a:rPr lang="en-GB" dirty="0"/>
                  <a:t> </a:t>
                </a:r>
                <a:r>
                  <a:rPr lang="en-GB" b="1" dirty="0"/>
                  <a:t>nano-seconds </a:t>
                </a:r>
                <a:r>
                  <a:rPr lang="en-GB" dirty="0"/>
                  <a:t>on SSDs and 2</a:t>
                </a:r>
                <a:r>
                  <a:rPr lang="en-GB" sz="1400" baseline="30000" dirty="0"/>
                  <a:t>.</a:t>
                </a:r>
                <a:r>
                  <a:rPr lang="en-GB" dirty="0"/>
                  <a:t>10</a:t>
                </a:r>
                <a:r>
                  <a:rPr lang="en-GB" baseline="30000" dirty="0"/>
                  <a:t>6</a:t>
                </a:r>
                <a:r>
                  <a:rPr lang="en-GB" b="1" dirty="0"/>
                  <a:t> nano-seconds </a:t>
                </a:r>
                <a:r>
                  <a:rPr lang="en-GB" dirty="0"/>
                  <a:t>on fast normal hard disks </a:t>
                </a:r>
              </a:p>
              <a:p>
                <a:pPr lvl="1"/>
                <a:r>
                  <a:rPr lang="en-US" dirty="0"/>
                  <a:t>B is typically around 512-4096 bytes</a:t>
                </a:r>
              </a:p>
              <a:p>
                <a:pPr lvl="1"/>
                <a:r>
                  <a:rPr lang="en-US" dirty="0"/>
                  <a:t>M is the size of your RAM divided by B, so say 8-32 GB RAM / 512-4096 bytes: 2.0</a:t>
                </a:r>
                <a:r>
                  <a:rPr lang="en-GB" baseline="30000" dirty="0"/>
                  <a:t>.</a:t>
                </a:r>
                <a:r>
                  <a:rPr lang="en-GB" dirty="0"/>
                  <a:t>10</a:t>
                </a:r>
                <a:r>
                  <a:rPr lang="en-GB" baseline="30000" dirty="0"/>
                  <a:t>6 </a:t>
                </a:r>
                <a:r>
                  <a:rPr lang="en-GB" dirty="0"/>
                  <a:t>to 6.5</a:t>
                </a:r>
                <a:r>
                  <a:rPr lang="en-GB" baseline="30000" dirty="0"/>
                  <a:t>.</a:t>
                </a:r>
                <a:r>
                  <a:rPr lang="en-GB" dirty="0"/>
                  <a:t>10</a:t>
                </a:r>
                <a:r>
                  <a:rPr lang="en-GB" baseline="30000" dirty="0"/>
                  <a:t>7</a:t>
                </a: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606" t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13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665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CC3E014-0C56-478A-A711-41066A65D53C}"/>
              </a:ext>
            </a:extLst>
          </p:cNvPr>
          <p:cNvSpPr txBox="1">
            <a:spLocks/>
          </p:cNvSpPr>
          <p:nvPr/>
        </p:nvSpPr>
        <p:spPr>
          <a:xfrm>
            <a:off x="1100488" y="1854117"/>
            <a:ext cx="8856984" cy="510748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Want to sort N=4 TB in 4 MB of RAM with B=4096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US" sz="4000" dirty="0"/>
              <a:t>External Merge Sort:</a:t>
            </a:r>
          </a:p>
          <a:p>
            <a:pPr lvl="1"/>
            <a:r>
              <a:rPr lang="en-US" dirty="0"/>
              <a:t>M = 4 MB/4096 = 1024</a:t>
            </a:r>
          </a:p>
          <a:p>
            <a:pPr lvl="1"/>
            <a:r>
              <a:rPr lang="en-GB" dirty="0" err="1"/>
              <a:t>log</a:t>
            </a:r>
            <a:r>
              <a:rPr lang="en-GB" baseline="-25000" dirty="0" err="1"/>
              <a:t>M</a:t>
            </a:r>
            <a:r>
              <a:rPr lang="en-GB" dirty="0"/>
              <a:t>(N/(M B)) is then </a:t>
            </a:r>
            <a:r>
              <a:rPr lang="en-US" dirty="0"/>
              <a:t>≈  </a:t>
            </a:r>
            <a:r>
              <a:rPr lang="en-GB" dirty="0"/>
              <a:t>log</a:t>
            </a:r>
            <a:r>
              <a:rPr lang="en-GB" baseline="-25000" dirty="0"/>
              <a:t>1024</a:t>
            </a:r>
            <a:r>
              <a:rPr lang="en-GB" dirty="0"/>
              <a:t> (1024</a:t>
            </a:r>
            <a:r>
              <a:rPr lang="en-GB" baseline="30000" dirty="0"/>
              <a:t>2</a:t>
            </a:r>
            <a:r>
              <a:rPr lang="en-GB" dirty="0"/>
              <a:t>) = 2</a:t>
            </a:r>
          </a:p>
          <a:p>
            <a:r>
              <a:rPr lang="en-US" dirty="0"/>
              <a:t>We are thus using 2 recursive calls, for 3 scans in total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US" sz="4000" dirty="0"/>
              <a:t>(Internal) Quick Sort:</a:t>
            </a:r>
          </a:p>
          <a:p>
            <a:pPr lvl="1"/>
            <a:r>
              <a:rPr lang="en-US" dirty="0"/>
              <a:t>log</a:t>
            </a:r>
            <a:r>
              <a:rPr lang="en-US" baseline="-25000" dirty="0"/>
              <a:t>2</a:t>
            </a:r>
            <a:r>
              <a:rPr lang="en-US" dirty="0"/>
              <a:t>(N)=42</a:t>
            </a:r>
          </a:p>
          <a:p>
            <a:r>
              <a:rPr lang="en-US" dirty="0"/>
              <a:t>We are thus using 42 recursive calls, for 43 scans in total</a:t>
            </a:r>
          </a:p>
          <a:p>
            <a:endParaRPr lang="en-US" dirty="0"/>
          </a:p>
        </p:txBody>
      </p:sp>
      <p:sp>
        <p:nvSpPr>
          <p:cNvPr id="9" name="Rounded Rectangular Callout 4">
            <a:extLst>
              <a:ext uri="{FF2B5EF4-FFF2-40B4-BE49-F238E27FC236}">
                <a16:creationId xmlns:a16="http://schemas.microsoft.com/office/drawing/2014/main" id="{95BAB854-09DE-4CF9-9ED0-EDC78E766F30}"/>
              </a:ext>
            </a:extLst>
          </p:cNvPr>
          <p:cNvSpPr/>
          <p:nvPr/>
        </p:nvSpPr>
        <p:spPr>
          <a:xfrm>
            <a:off x="5681713" y="5480552"/>
            <a:ext cx="4218745" cy="842543"/>
          </a:xfrm>
          <a:prstGeom prst="wedgeRoundRectCallout">
            <a:avLst>
              <a:gd name="adj1" fmla="val -104646"/>
              <a:gd name="adj2" fmla="val -4877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/>
              <a:t>Assuming we are lucky about pivot elements</a:t>
            </a:r>
            <a:endParaRPr lang="en-US" sz="2400" dirty="0"/>
          </a:p>
        </p:txBody>
      </p:sp>
      <p:sp>
        <p:nvSpPr>
          <p:cNvPr id="10" name="Rounded Rectangular Callout 4">
            <a:extLst>
              <a:ext uri="{FF2B5EF4-FFF2-40B4-BE49-F238E27FC236}">
                <a16:creationId xmlns:a16="http://schemas.microsoft.com/office/drawing/2014/main" id="{30E6E709-0B67-47D8-BFFD-70DE6BD8E39A}"/>
              </a:ext>
            </a:extLst>
          </p:cNvPr>
          <p:cNvSpPr/>
          <p:nvPr/>
        </p:nvSpPr>
        <p:spPr>
          <a:xfrm>
            <a:off x="6491840" y="2183900"/>
            <a:ext cx="4218745" cy="1136816"/>
          </a:xfrm>
          <a:prstGeom prst="wedgeRoundRectCallout">
            <a:avLst>
              <a:gd name="adj1" fmla="val -104646"/>
              <a:gd name="adj2" fmla="val -4877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/>
              <a:t>If we used a normal amount of RAM, we would be done in 1 recursive call…</a:t>
            </a:r>
            <a:endParaRPr lang="en-US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01974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20292-2FA1-4728-88D2-1D8240D3D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8FE4B-20E7-4F7C-A3CA-CC35CAE32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External memory sorting is very much faster on inputs that are much larger than main memory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BA8EA-E237-4D29-BCED-9715CB0EA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72989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.3|6.9|3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|8.3|1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6.7|9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.9|21.1|1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6.7|16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4|10.9|20.7|18.4|16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9|7.8|8.9|3.7|7.8|30|1.8|5.5|2.3|2.5|27.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9|39.6|57.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7|9.9|8.6|39.5|4.5|25.6|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2|2.9|8.4|23.3|7.6|22.6|5.4|7.5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435</TotalTime>
  <Words>1071</Words>
  <Application>Microsoft Office PowerPoint</Application>
  <PresentationFormat>Widescreen</PresentationFormat>
  <Paragraphs>180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Calibri</vt:lpstr>
      <vt:lpstr>Calibri Light</vt:lpstr>
      <vt:lpstr>Cambria Math</vt:lpstr>
      <vt:lpstr>Retrospect</vt:lpstr>
      <vt:lpstr>External memory merge-sort </vt:lpstr>
      <vt:lpstr>Overview over this video</vt:lpstr>
      <vt:lpstr>Reminder: Computing σcondition(R)</vt:lpstr>
      <vt:lpstr>Example</vt:lpstr>
      <vt:lpstr>Faster Joins With Sorting (from video “Faster Joins With Sorting”)</vt:lpstr>
      <vt:lpstr>Outside databases</vt:lpstr>
      <vt:lpstr>Understanding the issue solved</vt:lpstr>
      <vt:lpstr>Merge Sort</vt:lpstr>
      <vt:lpstr>External Merge Sort</vt:lpstr>
      <vt:lpstr>Merge in more details</vt:lpstr>
      <vt:lpstr>Merge in more details</vt:lpstr>
      <vt:lpstr>Analysis of External Merge Sort</vt:lpstr>
      <vt:lpstr>Comparison</vt:lpstr>
      <vt:lpstr>Numeric example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External memory merge-sort</dc:title>
  <dc:creator>Rasmus Ibsen-Jensen</dc:creator>
  <cp:lastModifiedBy>Rasmus Ibsen-Jensen</cp:lastModifiedBy>
  <cp:revision>18</cp:revision>
  <dcterms:created xsi:type="dcterms:W3CDTF">2020-11-14T15:11:50Z</dcterms:created>
  <dcterms:modified xsi:type="dcterms:W3CDTF">2020-11-17T12:09:33Z</dcterms:modified>
</cp:coreProperties>
</file>