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518" r:id="rId3"/>
    <p:sldId id="347" r:id="rId4"/>
    <p:sldId id="370" r:id="rId5"/>
    <p:sldId id="364" r:id="rId6"/>
    <p:sldId id="371" r:id="rId7"/>
    <p:sldId id="503" r:id="rId8"/>
    <p:sldId id="393" r:id="rId9"/>
    <p:sldId id="520" r:id="rId10"/>
    <p:sldId id="508" r:id="rId11"/>
    <p:sldId id="521" r:id="rId12"/>
    <p:sldId id="509" r:id="rId13"/>
    <p:sldId id="522" r:id="rId14"/>
    <p:sldId id="510" r:id="rId15"/>
    <p:sldId id="511" r:id="rId16"/>
    <p:sldId id="523" r:id="rId17"/>
    <p:sldId id="512" r:id="rId18"/>
    <p:sldId id="524" r:id="rId19"/>
    <p:sldId id="525" r:id="rId20"/>
    <p:sldId id="396" r:id="rId21"/>
    <p:sldId id="513" r:id="rId22"/>
    <p:sldId id="398" r:id="rId23"/>
    <p:sldId id="400" r:id="rId24"/>
    <p:sldId id="514" r:id="rId25"/>
    <p:sldId id="402" r:id="rId26"/>
    <p:sldId id="403" r:id="rId27"/>
    <p:sldId id="405" r:id="rId28"/>
    <p:sldId id="515" r:id="rId29"/>
    <p:sldId id="516" r:id="rId30"/>
    <p:sldId id="526" r:id="rId31"/>
    <p:sldId id="517" r:id="rId32"/>
    <p:sldId id="519" r:id="rId3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2" y="4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48165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607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2403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691522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071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4033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6099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34991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03345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24534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3319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6D7E14BE-C36D-4B4F-8BEF-02BB4541A8F7}" type="datetimeFigureOut">
              <a:rPr lang="en-GB" smtClean="0"/>
              <a:t>17/11/2020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925F53-A3C0-45F1-9FBE-F222DE888463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7579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image" Target="../media/image50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7.png"/><Relationship Id="rId5" Type="http://schemas.openxmlformats.org/officeDocument/2006/relationships/image" Target="../media/image3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80.png"/><Relationship Id="rId5" Type="http://schemas.openxmlformats.org/officeDocument/2006/relationships/image" Target="../media/image7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Relationship Id="rId5" Type="http://schemas.openxmlformats.org/officeDocument/2006/relationships/image" Target="../media/image1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Relationship Id="rId6" Type="http://schemas.openxmlformats.org/officeDocument/2006/relationships/image" Target="../media/image130.png"/><Relationship Id="rId5" Type="http://schemas.openxmlformats.org/officeDocument/2006/relationships/image" Target="../media/image1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Relationship Id="rId5" Type="http://schemas.openxmlformats.org/officeDocument/2006/relationships/image" Target="../media/image14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Relationship Id="rId6" Type="http://schemas.openxmlformats.org/officeDocument/2006/relationships/image" Target="../media/image140.png"/><Relationship Id="rId5" Type="http://schemas.openxmlformats.org/officeDocument/2006/relationships/image" Target="../media/image2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Relationship Id="rId5" Type="http://schemas.openxmlformats.org/officeDocument/2006/relationships/image" Target="../media/image16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180.png"/><Relationship Id="rId5" Type="http://schemas.openxmlformats.org/officeDocument/2006/relationships/image" Target="../media/image17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Relationship Id="rId6" Type="http://schemas.openxmlformats.org/officeDocument/2006/relationships/image" Target="../media/image200.png"/><Relationship Id="rId5" Type="http://schemas.openxmlformats.org/officeDocument/2006/relationships/image" Target="../media/image190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00.png"/><Relationship Id="rId4" Type="http://schemas.openxmlformats.org/officeDocument/2006/relationships/image" Target="../media/image19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8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8.xml"/><Relationship Id="rId5" Type="http://schemas.openxmlformats.org/officeDocument/2006/relationships/image" Target="../media/image44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A75439-879B-44E3-96F1-7A873C367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Idea, searching and inserting in B+-tree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937AFF-C8A0-4D39-B581-F3D4CCFB54D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6690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188463-6117-40E6-B3A8-6C1F1976E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over this video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F489B8-18FD-4E27-99E6-9568143C81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video will cover the basics of B+-trees as well as </a:t>
            </a:r>
          </a:p>
          <a:p>
            <a:pPr lvl="1"/>
            <a:r>
              <a:rPr lang="en-US" dirty="0"/>
              <a:t>Searching for values</a:t>
            </a:r>
          </a:p>
          <a:p>
            <a:pPr lvl="1"/>
            <a:r>
              <a:rPr lang="en-US" dirty="0"/>
              <a:t>Inserting pairs of values and pointers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F517B2-9E76-47CD-840F-9F402FCD2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16437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Single Level vs Multi-Level Indexes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Single level index: stored in single list</a:t>
            </a:r>
          </a:p>
          <a:p>
            <a:r>
              <a:rPr lang="en-US" dirty="0"/>
              <a:t>Multi-level index: distributed across </a:t>
            </a:r>
            <a:br>
              <a:rPr lang="en-US" dirty="0"/>
            </a:br>
            <a:r>
              <a:rPr lang="en-US" dirty="0"/>
              <a:t>different layers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</a:t>
            </a:fld>
            <a:endParaRPr lang="en-GB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087033" y="3356992"/>
          <a:ext cx="1620736" cy="18542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846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600" dirty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4729940" y="3556215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1001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3001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746164" y="2673699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746164" y="4545907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1101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1201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1301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 rot="5400000">
            <a:off x="7294562" y="6103437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8762388" y="1809603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21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31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8762388" y="3588387"/>
          <a:ext cx="1440160" cy="1677600"/>
        </p:xfrm>
        <a:graphic>
          <a:graphicData uri="http://schemas.openxmlformats.org/drawingml/2006/table">
            <a:tbl>
              <a:tblPr firstRow="1" bandRow="1">
                <a:tableStyleId>{10A1B5D5-9B99-4C35-A422-299274C87663}</a:tableStyleId>
              </a:tblPr>
              <a:tblGrid>
                <a:gridCol w="6083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18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Value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Pointers</a:t>
                      </a:r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GB" sz="1600" dirty="0"/>
                        <a:t>111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121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en-US" sz="1600" dirty="0"/>
                        <a:t>131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520"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r>
                        <a:rPr lang="mr-IN" sz="1600" dirty="0"/>
                        <a:t>…</a:t>
                      </a:r>
                      <a:endParaRPr lang="en-US" sz="1600" dirty="0"/>
                    </a:p>
                  </a:txBody>
                  <a:tcPr marL="45720" marR="4572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7" name="Elbow Connector 26"/>
          <p:cNvCxnSpPr/>
          <p:nvPr/>
        </p:nvCxnSpPr>
        <p:spPr>
          <a:xfrm flipV="1">
            <a:off x="6170100" y="2849887"/>
            <a:ext cx="576064" cy="1191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8" name="Elbow Connector 37"/>
          <p:cNvCxnSpPr/>
          <p:nvPr/>
        </p:nvCxnSpPr>
        <p:spPr>
          <a:xfrm>
            <a:off x="6170100" y="4420311"/>
            <a:ext cx="576064" cy="255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4" name="Elbow Connector 53"/>
          <p:cNvCxnSpPr/>
          <p:nvPr/>
        </p:nvCxnSpPr>
        <p:spPr>
          <a:xfrm flipV="1">
            <a:off x="8186324" y="1991060"/>
            <a:ext cx="576064" cy="1191964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55" name="Elbow Connector 54"/>
          <p:cNvCxnSpPr/>
          <p:nvPr/>
        </p:nvCxnSpPr>
        <p:spPr>
          <a:xfrm>
            <a:off x="8186324" y="3511362"/>
            <a:ext cx="576064" cy="25586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 rot="5400000">
            <a:off x="9310786" y="5269679"/>
            <a:ext cx="3433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mr-IN" dirty="0"/>
              <a:t>…</a:t>
            </a:r>
            <a:endParaRPr lang="en-US" dirty="0"/>
          </a:p>
        </p:txBody>
      </p:sp>
      <p:sp>
        <p:nvSpPr>
          <p:cNvPr id="57" name="Rounded Rectangular Callout 56"/>
          <p:cNvSpPr/>
          <p:nvPr/>
        </p:nvSpPr>
        <p:spPr>
          <a:xfrm>
            <a:off x="5068700" y="5384708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Level 1</a:t>
            </a:r>
            <a:endParaRPr lang="en-US" dirty="0"/>
          </a:p>
        </p:txBody>
      </p:sp>
      <p:sp>
        <p:nvSpPr>
          <p:cNvPr id="58" name="Rounded Rectangular Callout 57"/>
          <p:cNvSpPr/>
          <p:nvPr/>
        </p:nvSpPr>
        <p:spPr>
          <a:xfrm>
            <a:off x="1847528" y="5425466"/>
            <a:ext cx="1331544" cy="595822"/>
          </a:xfrm>
          <a:prstGeom prst="wedgeRoundRectCallout">
            <a:avLst>
              <a:gd name="adj1" fmla="val 20245"/>
              <a:gd name="adj2" fmla="val -7163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Single-level index</a:t>
            </a:r>
            <a:endParaRPr lang="en-US" dirty="0"/>
          </a:p>
        </p:txBody>
      </p:sp>
      <p:sp>
        <p:nvSpPr>
          <p:cNvPr id="61" name="Rounded Rectangular Callout 60"/>
          <p:cNvSpPr/>
          <p:nvPr/>
        </p:nvSpPr>
        <p:spPr>
          <a:xfrm>
            <a:off x="7589501" y="6360158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Level 2</a:t>
            </a:r>
            <a:endParaRPr lang="en-US" dirty="0"/>
          </a:p>
        </p:txBody>
      </p:sp>
      <p:sp>
        <p:nvSpPr>
          <p:cNvPr id="62" name="Rounded Rectangular Callout 61"/>
          <p:cNvSpPr/>
          <p:nvPr/>
        </p:nvSpPr>
        <p:spPr>
          <a:xfrm>
            <a:off x="9621416" y="5408986"/>
            <a:ext cx="939081" cy="381211"/>
          </a:xfrm>
          <a:prstGeom prst="wedgeRoundRectCallout">
            <a:avLst>
              <a:gd name="adj1" fmla="val -21811"/>
              <a:gd name="adj2" fmla="val -75153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Level 3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98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6" grpId="0"/>
      <p:bldP spid="57" grpId="0" animBg="1"/>
      <p:bldP spid="58" grpId="0" animBg="1"/>
      <p:bldP spid="61" grpId="0" animBg="1"/>
      <p:bldP spid="6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Leaves (Idea)</a:t>
            </a:r>
          </a:p>
        </p:txBody>
      </p:sp>
      <p:sp>
        <p:nvSpPr>
          <p:cNvPr id="34" name="Content Placeholder 33"/>
          <p:cNvSpPr>
            <a:spLocks noGrp="1"/>
          </p:cNvSpPr>
          <p:nvPr>
            <p:ph idx="1"/>
          </p:nvPr>
        </p:nvSpPr>
        <p:spPr>
          <a:xfrm>
            <a:off x="1981200" y="4006998"/>
            <a:ext cx="8229600" cy="2441254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 = chosen such that node fits into a single disk block</a:t>
            </a:r>
          </a:p>
          <a:p>
            <a:pPr>
              <a:spcBef>
                <a:spcPts val="672"/>
              </a:spcBef>
            </a:pPr>
            <a:r>
              <a:rPr lang="en-US" dirty="0"/>
              <a:t>Example: </a:t>
            </a:r>
          </a:p>
          <a:p>
            <a:pPr lvl="1"/>
            <a:r>
              <a:rPr lang="en-US" dirty="0"/>
              <a:t>Disk block size = 512 byte</a:t>
            </a:r>
          </a:p>
          <a:p>
            <a:pPr lvl="1"/>
            <a:r>
              <a:rPr lang="en-US" dirty="0"/>
              <a:t>Values: 4 byte integers</a:t>
            </a:r>
          </a:p>
          <a:p>
            <a:pPr lvl="1"/>
            <a:r>
              <a:rPr lang="en-US" dirty="0"/>
              <a:t>Pointers: 8 bytes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4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819692" y="1837112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" name="Straight Connector 6"/>
          <p:cNvCxnSpPr>
            <a:stCxn id="5" idx="1"/>
            <a:endCxn id="5" idx="3"/>
          </p:cNvCxnSpPr>
          <p:nvPr/>
        </p:nvCxnSpPr>
        <p:spPr>
          <a:xfrm>
            <a:off x="3819692" y="2341168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flipV="1">
            <a:off x="4431760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 flipV="1">
            <a:off x="5043828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 flipV="1">
            <a:off x="7492100" y="1837112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V="1">
            <a:off x="4143728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4719792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V="1">
            <a:off x="7168064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V="1">
            <a:off x="7816136" y="234116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3925559" y="183711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37626" y="1837113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78289" y="1837113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n</a:t>
            </a:r>
            <a:endParaRPr lang="en-US" baseline="-25000" dirty="0"/>
          </a:p>
        </p:txBody>
      </p:sp>
      <p:cxnSp>
        <p:nvCxnSpPr>
          <p:cNvPr id="35" name="Straight Arrow Connector 34"/>
          <p:cNvCxnSpPr>
            <a:stCxn id="72" idx="2"/>
            <a:endCxn id="36" idx="0"/>
          </p:cNvCxnSpPr>
          <p:nvPr/>
        </p:nvCxnSpPr>
        <p:spPr>
          <a:xfrm flipH="1">
            <a:off x="3719228" y="2638506"/>
            <a:ext cx="269905" cy="66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898682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37" name="Straight Arrow Connector 36"/>
          <p:cNvCxnSpPr>
            <a:stCxn id="73" idx="2"/>
            <a:endCxn id="45" idx="0"/>
          </p:cNvCxnSpPr>
          <p:nvPr/>
        </p:nvCxnSpPr>
        <p:spPr>
          <a:xfrm>
            <a:off x="4431759" y="2635598"/>
            <a:ext cx="1144582" cy="664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755796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9122" y="3300239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n</a:t>
            </a:r>
          </a:p>
        </p:txBody>
      </p:sp>
      <p:cxnSp>
        <p:nvCxnSpPr>
          <p:cNvPr id="50" name="Straight Arrow Connector 49"/>
          <p:cNvCxnSpPr>
            <a:stCxn id="74" idx="2"/>
            <a:endCxn id="49" idx="0"/>
          </p:cNvCxnSpPr>
          <p:nvPr/>
        </p:nvCxnSpPr>
        <p:spPr>
          <a:xfrm>
            <a:off x="7492101" y="2630774"/>
            <a:ext cx="187567" cy="669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571415" y="2453839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next </a:t>
            </a:r>
            <a:r>
              <a:rPr lang="en-US" dirty="0">
                <a:solidFill>
                  <a:schemeClr val="accent1"/>
                </a:solidFill>
              </a:rPr>
              <a:t>leaf</a:t>
            </a:r>
            <a:endParaRPr lang="en-US" baseline="-25000" dirty="0">
              <a:solidFill>
                <a:schemeClr val="accent1"/>
              </a:solidFill>
            </a:endParaRPr>
          </a:p>
        </p:txBody>
      </p:sp>
      <p:cxnSp>
        <p:nvCxnSpPr>
          <p:cNvPr id="54" name="Straight Arrow Connector 53"/>
          <p:cNvCxnSpPr/>
          <p:nvPr/>
        </p:nvCxnSpPr>
        <p:spPr>
          <a:xfrm>
            <a:off x="7945058" y="2651501"/>
            <a:ext cx="6108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3890463" y="2455899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ectangle 72"/>
          <p:cNvSpPr/>
          <p:nvPr/>
        </p:nvSpPr>
        <p:spPr>
          <a:xfrm>
            <a:off x="4333090" y="2452992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7393431" y="2448167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ight Brace 81"/>
          <p:cNvSpPr/>
          <p:nvPr/>
        </p:nvSpPr>
        <p:spPr>
          <a:xfrm>
            <a:off x="4936303" y="4653330"/>
            <a:ext cx="264032" cy="1080120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5304098" y="4941362"/>
            <a:ext cx="10217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2"/>
                </a:solidFill>
              </a:rPr>
              <a:t>n</a:t>
            </a:r>
            <a:r>
              <a:rPr lang="en-US" sz="2400" dirty="0"/>
              <a:t> = 42</a:t>
            </a:r>
          </a:p>
        </p:txBody>
      </p:sp>
      <p:sp>
        <p:nvSpPr>
          <p:cNvPr id="85" name="Rectangle 84"/>
          <p:cNvSpPr/>
          <p:nvPr/>
        </p:nvSpPr>
        <p:spPr>
          <a:xfrm>
            <a:off x="3719227" y="1765105"/>
            <a:ext cx="4492953" cy="654730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1981200" y="1796214"/>
            <a:ext cx="1703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 in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increasing order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6109834" y="179621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mr-IN" sz="2400"/>
              <a:t>…</a:t>
            </a:r>
            <a:endParaRPr lang="en-US" sz="2400" baseline="-25000" dirty="0"/>
          </a:p>
        </p:txBody>
      </p:sp>
      <p:sp>
        <p:nvSpPr>
          <p:cNvPr id="33" name="TextBox 32"/>
          <p:cNvSpPr txBox="1"/>
          <p:nvPr/>
        </p:nvSpPr>
        <p:spPr>
          <a:xfrm>
            <a:off x="5931990" y="5295954"/>
            <a:ext cx="256822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(512 ≥ 42 (8+4)+8</a:t>
            </a:r>
          </a:p>
          <a:p>
            <a:r>
              <a:rPr lang="en-US" sz="2400" dirty="0"/>
              <a:t> 512 &lt; 43 (8+4)+8)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520963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" grpId="0" build="p"/>
      <p:bldP spid="82" grpId="0" animBg="1"/>
      <p:bldP spid="83" grpId="0"/>
      <p:bldP spid="85" grpId="0" animBg="1"/>
      <p:bldP spid="86" grpId="0"/>
      <p:bldP spid="3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Inner Nodes (Idea)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0" y="5125663"/>
            <a:ext cx="8229600" cy="1322589"/>
          </a:xfrm>
        </p:spPr>
        <p:txBody>
          <a:bodyPr>
            <a:normAutofit/>
          </a:bodyPr>
          <a:lstStyle/>
          <a:p>
            <a:r>
              <a:rPr lang="en-US" dirty="0"/>
              <a:t>Pointers point to B+ tree nodes at level below</a:t>
            </a:r>
          </a:p>
          <a:p>
            <a:r>
              <a:rPr lang="en-US" b="1" dirty="0">
                <a:solidFill>
                  <a:schemeClr val="accent2"/>
                </a:solidFill>
              </a:rPr>
              <a:t>n</a:t>
            </a:r>
            <a:r>
              <a:rPr lang="en-US" dirty="0"/>
              <a:t> = chosen as before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5</a:t>
            </a:fld>
            <a:endParaRPr lang="en-GB"/>
          </a:p>
        </p:txBody>
      </p:sp>
      <p:sp>
        <p:nvSpPr>
          <p:cNvPr id="5" name="Rectangle 4"/>
          <p:cNvSpPr/>
          <p:nvPr/>
        </p:nvSpPr>
        <p:spPr>
          <a:xfrm>
            <a:off x="3935760" y="2094119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8" idx="1"/>
            <a:endCxn id="8" idx="3"/>
          </p:cNvCxnSpPr>
          <p:nvPr/>
        </p:nvCxnSpPr>
        <p:spPr>
          <a:xfrm>
            <a:off x="3935760" y="2598175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7" name="Straight Connector 6"/>
          <p:cNvCxnSpPr/>
          <p:nvPr/>
        </p:nvCxnSpPr>
        <p:spPr>
          <a:xfrm flipV="1">
            <a:off x="4547828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V="1">
            <a:off x="5159896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V="1">
            <a:off x="7608168" y="209411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 flipV="1">
            <a:off x="4259796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flipV="1">
            <a:off x="4835860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 flipV="1">
            <a:off x="7284132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V="1">
            <a:off x="7932204" y="259817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041627" y="209412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3694" y="209412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94357" y="2094120"/>
            <a:ext cx="43954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n</a:t>
            </a:r>
            <a:endParaRPr lang="en-US" baseline="-25000" dirty="0"/>
          </a:p>
        </p:txBody>
      </p:sp>
      <p:cxnSp>
        <p:nvCxnSpPr>
          <p:cNvPr id="23" name="Straight Arrow Connector 22"/>
          <p:cNvCxnSpPr>
            <a:stCxn id="31" idx="2"/>
            <a:endCxn id="24" idx="0"/>
          </p:cNvCxnSpPr>
          <p:nvPr/>
        </p:nvCxnSpPr>
        <p:spPr>
          <a:xfrm flipH="1">
            <a:off x="3051230" y="2895513"/>
            <a:ext cx="1053970" cy="89526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2279576" y="3790782"/>
            <a:ext cx="1543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node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for values &lt;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25" name="Straight Arrow Connector 24"/>
          <p:cNvCxnSpPr>
            <a:stCxn id="32" idx="2"/>
            <a:endCxn id="26" idx="0"/>
          </p:cNvCxnSpPr>
          <p:nvPr/>
        </p:nvCxnSpPr>
        <p:spPr>
          <a:xfrm>
            <a:off x="4547828" y="2892606"/>
            <a:ext cx="490833" cy="92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3981320" y="3817057"/>
                <a:ext cx="21146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81320" y="3817057"/>
                <a:ext cx="2114681" cy="646331"/>
              </a:xfrm>
              <a:prstGeom prst="rect">
                <a:avLst/>
              </a:prstGeom>
              <a:blipFill>
                <a:blip r:embed="rId5"/>
                <a:stretch>
                  <a:fillRect l="-57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6175042" y="3817057"/>
                <a:ext cx="2190023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n-1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5042" y="3817057"/>
                <a:ext cx="2190023" cy="646331"/>
              </a:xfrm>
              <a:prstGeom prst="rect">
                <a:avLst/>
              </a:prstGeom>
              <a:blipFill>
                <a:blip r:embed="rId6"/>
                <a:stretch>
                  <a:fillRect l="-1950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Straight Arrow Connector 27"/>
          <p:cNvCxnSpPr>
            <a:stCxn id="33" idx="2"/>
            <a:endCxn id="27" idx="0"/>
          </p:cNvCxnSpPr>
          <p:nvPr/>
        </p:nvCxnSpPr>
        <p:spPr>
          <a:xfrm flipH="1">
            <a:off x="7270054" y="2887780"/>
            <a:ext cx="338115" cy="92927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4006531" y="2712906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449158" y="2709999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7509499" y="2705174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4" name="TextBox 43"/>
              <p:cNvSpPr txBox="1"/>
              <p:nvPr/>
            </p:nvSpPr>
            <p:spPr>
              <a:xfrm>
                <a:off x="8448158" y="3798769"/>
                <a:ext cx="15666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for 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n</a:t>
                </a:r>
              </a:p>
            </p:txBody>
          </p:sp>
        </mc:Choice>
        <mc:Fallback xmlns="">
          <p:sp>
            <p:nvSpPr>
              <p:cNvPr id="44" name="TextBox 4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48158" y="3798769"/>
                <a:ext cx="1566647" cy="646331"/>
              </a:xfrm>
              <a:prstGeom prst="rect">
                <a:avLst/>
              </a:prstGeom>
              <a:blipFill>
                <a:blip r:embed="rId7"/>
                <a:stretch>
                  <a:fillRect l="-3113" t="-4717" r="-194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5" name="Straight Arrow Connector 44"/>
          <p:cNvCxnSpPr>
            <a:stCxn id="46" idx="2"/>
            <a:endCxn id="44" idx="0"/>
          </p:cNvCxnSpPr>
          <p:nvPr/>
        </p:nvCxnSpPr>
        <p:spPr>
          <a:xfrm>
            <a:off x="8081085" y="2887780"/>
            <a:ext cx="1150396" cy="9109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7982416" y="2705174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/>
          <p:cNvSpPr/>
          <p:nvPr/>
        </p:nvSpPr>
        <p:spPr>
          <a:xfrm>
            <a:off x="3835295" y="2027826"/>
            <a:ext cx="4492953" cy="677346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2097268" y="2062590"/>
            <a:ext cx="17030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2"/>
                </a:solidFill>
              </a:rPr>
              <a:t>sorted in</a:t>
            </a:r>
          </a:p>
          <a:p>
            <a:pPr algn="ctr"/>
            <a:r>
              <a:rPr lang="en-US" dirty="0">
                <a:solidFill>
                  <a:schemeClr val="accent2"/>
                </a:solidFill>
              </a:rPr>
              <a:t>increasing order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99057" y="2036324"/>
            <a:ext cx="39786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mr-IN" sz="2400"/>
              <a:t>…</a:t>
            </a:r>
            <a:endParaRPr lang="en-US" sz="2400" baseline="-25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4906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49" grpId="0" animBg="1"/>
      <p:bldP spid="5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Leaves (Actually)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097280" y="1845733"/>
                <a:ext cx="10058400" cy="4851845"/>
              </a:xfrm>
            </p:spPr>
            <p:txBody>
              <a:bodyPr>
                <a:normAutofit/>
              </a:bodyPr>
              <a:lstStyle/>
              <a:p>
                <a:r>
                  <a:rPr lang="en-GB" dirty="0"/>
                  <a:t>Not all of the fields have to be used</a:t>
                </a:r>
              </a:p>
              <a:p>
                <a:r>
                  <a:rPr lang="en-GB" dirty="0"/>
                  <a:t>Fields are filled from left to right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>
                  <a:spcBef>
                    <a:spcPts val="2472"/>
                  </a:spcBef>
                </a:pPr>
                <a:r>
                  <a:rPr lang="en-US" dirty="0"/>
                  <a:t>Ensure that at least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GB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lang="en-GB" dirty="0"/>
                  <a:t> pointers are used (unless this is the only leaf)</a:t>
                </a:r>
              </a:p>
              <a:p>
                <a:pPr>
                  <a:spcBef>
                    <a:spcPts val="2472"/>
                  </a:spcBef>
                </a:pPr>
                <a:r>
                  <a:rPr lang="en-GB" dirty="0"/>
                  <a:t>To follow the online tool for this (will show it soon), we count the next leaf pointer as a pointer (fairly sensible), even if there are none (less sensible)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97280" y="1845733"/>
                <a:ext cx="10058400" cy="4851845"/>
              </a:xfrm>
              <a:blipFill>
                <a:blip r:embed="rId5"/>
                <a:stretch>
                  <a:fillRect l="-606" t="-138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6</a:t>
            </a:fld>
            <a:endParaRPr lang="en-GB"/>
          </a:p>
        </p:txBody>
      </p:sp>
      <p:sp>
        <p:nvSpPr>
          <p:cNvPr id="51" name="Rectangle 50"/>
          <p:cNvSpPr/>
          <p:nvPr/>
        </p:nvSpPr>
        <p:spPr>
          <a:xfrm>
            <a:off x="3938673" y="2664108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2" name="Straight Connector 51"/>
          <p:cNvCxnSpPr>
            <a:stCxn id="54" idx="1"/>
            <a:endCxn id="54" idx="3"/>
          </p:cNvCxnSpPr>
          <p:nvPr/>
        </p:nvCxnSpPr>
        <p:spPr>
          <a:xfrm>
            <a:off x="3938673" y="3168164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3" name="Straight Connector 52"/>
          <p:cNvCxnSpPr/>
          <p:nvPr/>
        </p:nvCxnSpPr>
        <p:spPr>
          <a:xfrm flipV="1">
            <a:off x="4550741" y="266410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 flipV="1">
            <a:off x="5162809" y="266410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6" name="Straight Connector 55"/>
          <p:cNvCxnSpPr/>
          <p:nvPr/>
        </p:nvCxnSpPr>
        <p:spPr>
          <a:xfrm flipV="1">
            <a:off x="6386945" y="266410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 flipV="1">
            <a:off x="6999013" y="2664108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62709" y="3168164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0" name="Straight Connector 59"/>
          <p:cNvCxnSpPr/>
          <p:nvPr/>
        </p:nvCxnSpPr>
        <p:spPr>
          <a:xfrm flipV="1">
            <a:off x="4838773" y="3168164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2" name="Straight Connector 61"/>
          <p:cNvCxnSpPr/>
          <p:nvPr/>
        </p:nvCxnSpPr>
        <p:spPr>
          <a:xfrm flipV="1">
            <a:off x="6062909" y="3168164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3" name="Straight Connector 62"/>
          <p:cNvCxnSpPr/>
          <p:nvPr/>
        </p:nvCxnSpPr>
        <p:spPr>
          <a:xfrm flipV="1">
            <a:off x="6710981" y="3168164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 flipV="1">
            <a:off x="7935117" y="3168164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4044540" y="2664109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656607" y="2664109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cxnSp>
        <p:nvCxnSpPr>
          <p:cNvPr id="69" name="Straight Arrow Connector 68"/>
          <p:cNvCxnSpPr>
            <a:endCxn id="70" idx="0"/>
          </p:cNvCxnSpPr>
          <p:nvPr/>
        </p:nvCxnSpPr>
        <p:spPr>
          <a:xfrm flipH="1">
            <a:off x="3184406" y="3465502"/>
            <a:ext cx="923708" cy="6617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TextBox 69"/>
          <p:cNvSpPr txBox="1"/>
          <p:nvPr/>
        </p:nvSpPr>
        <p:spPr>
          <a:xfrm>
            <a:off x="2363861" y="4127235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71" name="Straight Arrow Connector 70"/>
          <p:cNvCxnSpPr>
            <a:endCxn id="72" idx="0"/>
          </p:cNvCxnSpPr>
          <p:nvPr/>
        </p:nvCxnSpPr>
        <p:spPr>
          <a:xfrm>
            <a:off x="4550740" y="3462594"/>
            <a:ext cx="304944" cy="66464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4035139" y="4127235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a</a:t>
            </a:r>
            <a:r>
              <a:rPr lang="en-US" baseline="-25000" dirty="0">
                <a:solidFill>
                  <a:schemeClr val="accent1"/>
                </a:solidFill>
              </a:rPr>
              <a:t>2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748237" y="4127235"/>
            <a:ext cx="16410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tuples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with value </a:t>
            </a:r>
            <a:r>
              <a:rPr lang="en-US" dirty="0" err="1">
                <a:solidFill>
                  <a:schemeClr val="accent1"/>
                </a:solidFill>
              </a:rPr>
              <a:t>a</a:t>
            </a:r>
            <a:r>
              <a:rPr lang="en-US" baseline="-25000" dirty="0" err="1">
                <a:solidFill>
                  <a:schemeClr val="accent1"/>
                </a:solidFill>
              </a:rPr>
              <a:t>i</a:t>
            </a:r>
            <a:endParaRPr lang="en-US" baseline="-25000" dirty="0">
              <a:solidFill>
                <a:schemeClr val="accent1"/>
              </a:solidFill>
            </a:endParaRPr>
          </a:p>
        </p:txBody>
      </p:sp>
      <p:cxnSp>
        <p:nvCxnSpPr>
          <p:cNvPr id="74" name="Straight Arrow Connector 73"/>
          <p:cNvCxnSpPr/>
          <p:nvPr/>
        </p:nvCxnSpPr>
        <p:spPr>
          <a:xfrm>
            <a:off x="6381216" y="3457770"/>
            <a:ext cx="187567" cy="6694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8690396" y="3280835"/>
            <a:ext cx="9964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chemeClr val="accent1"/>
                </a:solidFill>
              </a:rPr>
              <a:t>next </a:t>
            </a:r>
            <a:r>
              <a:rPr lang="en-US" dirty="0">
                <a:solidFill>
                  <a:schemeClr val="accent1"/>
                </a:solidFill>
              </a:rPr>
              <a:t>leaf</a:t>
            </a:r>
            <a:endParaRPr lang="en-US" baseline="-25000" dirty="0">
              <a:solidFill>
                <a:schemeClr val="accent1"/>
              </a:solidFill>
            </a:endParaRPr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8064039" y="3478497"/>
            <a:ext cx="61085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77" name="Rectangle 76"/>
          <p:cNvSpPr/>
          <p:nvPr/>
        </p:nvSpPr>
        <p:spPr>
          <a:xfrm>
            <a:off x="4009444" y="3282895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Rectangle 77"/>
          <p:cNvSpPr/>
          <p:nvPr/>
        </p:nvSpPr>
        <p:spPr>
          <a:xfrm>
            <a:off x="4452071" y="3279988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7512412" y="3275163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/>
          <p:cNvSpPr txBox="1"/>
          <p:nvPr/>
        </p:nvSpPr>
        <p:spPr>
          <a:xfrm>
            <a:off x="6517868" y="2685304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endParaRPr lang="en-US" baseline="-25000" dirty="0"/>
          </a:p>
        </p:txBody>
      </p:sp>
      <p:sp>
        <p:nvSpPr>
          <p:cNvPr id="84" name="TextBox 83"/>
          <p:cNvSpPr txBox="1"/>
          <p:nvPr/>
        </p:nvSpPr>
        <p:spPr>
          <a:xfrm>
            <a:off x="7186877" y="2139610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unused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7607626" y="4133040"/>
            <a:ext cx="2232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don’t point anywhere</a:t>
            </a:r>
          </a:p>
        </p:txBody>
      </p:sp>
      <p:cxnSp>
        <p:nvCxnSpPr>
          <p:cNvPr id="90" name="Straight Arrow Connector 89"/>
          <p:cNvCxnSpPr/>
          <p:nvPr/>
        </p:nvCxnSpPr>
        <p:spPr>
          <a:xfrm>
            <a:off x="7607626" y="2508942"/>
            <a:ext cx="1" cy="4227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93" name="Straight Arrow Connector 92"/>
          <p:cNvCxnSpPr/>
          <p:nvPr/>
        </p:nvCxnSpPr>
        <p:spPr>
          <a:xfrm flipH="1" flipV="1">
            <a:off x="7389329" y="3478498"/>
            <a:ext cx="674711" cy="64873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981321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8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4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3" grpId="1" uiExpand="1" build="p"/>
      <p:bldP spid="51" grpId="0" animBg="1"/>
      <p:bldP spid="66" grpId="0"/>
      <p:bldP spid="67" grpId="0"/>
      <p:bldP spid="70" grpId="0"/>
      <p:bldP spid="72" grpId="0"/>
      <p:bldP spid="73" grpId="0"/>
      <p:bldP spid="75" grpId="0"/>
      <p:bldP spid="77" grpId="0"/>
      <p:bldP spid="78" grpId="0"/>
      <p:bldP spid="79" grpId="0"/>
      <p:bldP spid="82" grpId="0"/>
      <p:bldP spid="84" grpId="0"/>
      <p:bldP spid="8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B+ Tree: Inner Nodes (Actually)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Similar as for leaves:</a:t>
                </a:r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endParaRPr lang="en-GB" dirty="0"/>
              </a:p>
              <a:p>
                <a:pPr>
                  <a:spcBef>
                    <a:spcPts val="3072"/>
                  </a:spcBef>
                </a:pPr>
                <a:r>
                  <a:rPr lang="en-US" dirty="0"/>
                  <a:t>Ensure that at least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mr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GB" i="1">
                                <a:latin typeface="Cambria Math" charset="0"/>
                              </a:rPr>
                              <m:t>𝑛</m:t>
                            </m:r>
                            <m:r>
                              <a:rPr lang="en-GB" i="1">
                                <a:latin typeface="Cambria Math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GB" i="1">
                                <a:latin typeface="Cambria Math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a:rPr lang="en-GB" i="1">
                        <a:latin typeface="Cambria Math" charset="0"/>
                      </a:rPr>
                      <m:t> </m:t>
                    </m:r>
                  </m:oMath>
                </a14:m>
                <a:r>
                  <a:rPr lang="en-GB" dirty="0"/>
                  <a:t>pointers are used</a:t>
                </a:r>
              </a:p>
              <a:p>
                <a:r>
                  <a:rPr lang="en-GB" dirty="0"/>
                  <a:t>Exception: root must use </a:t>
                </a:r>
                <a14:m>
                  <m:oMath xmlns:m="http://schemas.openxmlformats.org/officeDocument/2006/math">
                    <m:r>
                      <a:rPr lang="en-GB" b="0" i="1" smtClean="0">
                        <a:latin typeface="Cambria Math" charset="0"/>
                      </a:rPr>
                      <m:t>≥</m:t>
                    </m:r>
                  </m:oMath>
                </a14:m>
                <a:r>
                  <a:rPr lang="en-GB" dirty="0"/>
                  <a:t> 2 pointers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606" t="-166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7</a:t>
            </a:fld>
            <a:endParaRPr lang="en-GB"/>
          </a:p>
        </p:txBody>
      </p:sp>
      <p:sp>
        <p:nvSpPr>
          <p:cNvPr id="40" name="Rectangle 39"/>
          <p:cNvSpPr/>
          <p:nvPr/>
        </p:nvSpPr>
        <p:spPr>
          <a:xfrm>
            <a:off x="4034409" y="2375699"/>
            <a:ext cx="4284476" cy="100811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1" name="Straight Connector 40"/>
          <p:cNvCxnSpPr>
            <a:stCxn id="46" idx="1"/>
            <a:endCxn id="46" idx="3"/>
          </p:cNvCxnSpPr>
          <p:nvPr/>
        </p:nvCxnSpPr>
        <p:spPr>
          <a:xfrm>
            <a:off x="4034409" y="2879755"/>
            <a:ext cx="4284476" cy="0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2" name="Straight Connector 41"/>
          <p:cNvCxnSpPr/>
          <p:nvPr/>
        </p:nvCxnSpPr>
        <p:spPr>
          <a:xfrm flipV="1">
            <a:off x="4646477" y="237569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flipV="1">
            <a:off x="5258545" y="237569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5" name="Straight Connector 44"/>
          <p:cNvCxnSpPr/>
          <p:nvPr/>
        </p:nvCxnSpPr>
        <p:spPr>
          <a:xfrm flipV="1">
            <a:off x="6482681" y="237569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6" name="Straight Connector 45"/>
          <p:cNvCxnSpPr/>
          <p:nvPr/>
        </p:nvCxnSpPr>
        <p:spPr>
          <a:xfrm flipV="1">
            <a:off x="7094749" y="2375699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4358445" y="287975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49" name="Straight Connector 48"/>
          <p:cNvCxnSpPr/>
          <p:nvPr/>
        </p:nvCxnSpPr>
        <p:spPr>
          <a:xfrm flipV="1">
            <a:off x="4934509" y="287975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68" name="Straight Connector 67"/>
          <p:cNvCxnSpPr/>
          <p:nvPr/>
        </p:nvCxnSpPr>
        <p:spPr>
          <a:xfrm flipV="1">
            <a:off x="6158645" y="287975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V="1">
            <a:off x="6806717" y="287975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V="1">
            <a:off x="7382781" y="2879755"/>
            <a:ext cx="0" cy="504056"/>
          </a:xfrm>
          <a:prstGeom prst="line">
            <a:avLst/>
          </a:prstGeom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5" name="TextBox 84"/>
          <p:cNvSpPr txBox="1"/>
          <p:nvPr/>
        </p:nvSpPr>
        <p:spPr>
          <a:xfrm>
            <a:off x="4140276" y="237570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1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4752343" y="2375700"/>
            <a:ext cx="4363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a</a:t>
            </a:r>
            <a:r>
              <a:rPr lang="en-US" sz="2400" baseline="-25000" dirty="0"/>
              <a:t>2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300082" y="183784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2"/>
                </a:solidFill>
              </a:rPr>
              <a:t>unused</a:t>
            </a:r>
          </a:p>
        </p:txBody>
      </p:sp>
      <p:cxnSp>
        <p:nvCxnSpPr>
          <p:cNvPr id="108" name="Straight Arrow Connector 107"/>
          <p:cNvCxnSpPr/>
          <p:nvPr/>
        </p:nvCxnSpPr>
        <p:spPr>
          <a:xfrm>
            <a:off x="7752184" y="2207174"/>
            <a:ext cx="0" cy="4297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6612539" y="2369892"/>
            <a:ext cx="37863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 err="1"/>
              <a:t>a</a:t>
            </a:r>
            <a:r>
              <a:rPr lang="en-US" sz="2400" baseline="-25000" dirty="0" err="1"/>
              <a:t>i</a:t>
            </a:r>
            <a:endParaRPr lang="en-US" baseline="-25000" dirty="0"/>
          </a:p>
        </p:txBody>
      </p:sp>
      <p:sp>
        <p:nvSpPr>
          <p:cNvPr id="111" name="TextBox 110"/>
          <p:cNvSpPr txBox="1"/>
          <p:nvPr/>
        </p:nvSpPr>
        <p:spPr>
          <a:xfrm>
            <a:off x="8912454" y="3552687"/>
            <a:ext cx="1568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>
                <a:solidFill>
                  <a:schemeClr val="accent2"/>
                </a:solidFill>
              </a:rPr>
              <a:t>point nowhere</a:t>
            </a:r>
            <a:endParaRPr lang="en-US" dirty="0">
              <a:solidFill>
                <a:schemeClr val="accent2"/>
              </a:solidFill>
            </a:endParaRPr>
          </a:p>
        </p:txBody>
      </p:sp>
      <p:cxnSp>
        <p:nvCxnSpPr>
          <p:cNvPr id="112" name="Straight Arrow Connector 111"/>
          <p:cNvCxnSpPr/>
          <p:nvPr/>
        </p:nvCxnSpPr>
        <p:spPr>
          <a:xfrm flipH="1" flipV="1">
            <a:off x="7866488" y="3211068"/>
            <a:ext cx="1070905" cy="40166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114" name="Straight Arrow Connector 113"/>
          <p:cNvCxnSpPr/>
          <p:nvPr/>
        </p:nvCxnSpPr>
        <p:spPr>
          <a:xfrm flipH="1">
            <a:off x="2691809" y="3157269"/>
            <a:ext cx="1519289" cy="87915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1919536" y="4052539"/>
            <a:ext cx="154330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chemeClr val="accent1"/>
                </a:solidFill>
              </a:rPr>
              <a:t>Points to node</a:t>
            </a:r>
            <a:br>
              <a:rPr lang="en-US" dirty="0">
                <a:solidFill>
                  <a:schemeClr val="accent1"/>
                </a:solidFill>
              </a:rPr>
            </a:br>
            <a:r>
              <a:rPr lang="en-US" dirty="0">
                <a:solidFill>
                  <a:schemeClr val="accent1"/>
                </a:solidFill>
              </a:rPr>
              <a:t>for values &lt; a</a:t>
            </a:r>
            <a:r>
              <a:rPr lang="en-US" baseline="-25000" dirty="0">
                <a:solidFill>
                  <a:schemeClr val="accent1"/>
                </a:solidFill>
              </a:rPr>
              <a:t>1</a:t>
            </a:r>
          </a:p>
        </p:txBody>
      </p:sp>
      <p:cxnSp>
        <p:nvCxnSpPr>
          <p:cNvPr id="116" name="Straight Arrow Connector 115"/>
          <p:cNvCxnSpPr>
            <a:endCxn id="117" idx="0"/>
          </p:cNvCxnSpPr>
          <p:nvPr/>
        </p:nvCxnSpPr>
        <p:spPr>
          <a:xfrm>
            <a:off x="4653724" y="3154363"/>
            <a:ext cx="24896" cy="9244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TextBox 116"/>
              <p:cNvSpPr txBox="1"/>
              <p:nvPr/>
            </p:nvSpPr>
            <p:spPr>
              <a:xfrm>
                <a:off x="3621280" y="4078814"/>
                <a:ext cx="211468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117" name="TextBox 1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1280" y="4078814"/>
                <a:ext cx="2114681" cy="646331"/>
              </a:xfrm>
              <a:prstGeom prst="rect">
                <a:avLst/>
              </a:prstGeom>
              <a:blipFill>
                <a:blip r:embed="rId6"/>
                <a:stretch>
                  <a:fillRect l="-576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8" name="TextBox 117"/>
              <p:cNvSpPr txBox="1"/>
              <p:nvPr/>
            </p:nvSpPr>
            <p:spPr>
              <a:xfrm>
                <a:off x="5859886" y="4078814"/>
                <a:ext cx="2100255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 for 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i-1</a:t>
                </a:r>
                <a:r>
                  <a:rPr lang="en-US" dirty="0">
                    <a:solidFill>
                      <a:schemeClr val="accent1"/>
                    </a:solidFill>
                  </a:rPr>
                  <a:t> and &lt; </a:t>
                </a:r>
                <a:r>
                  <a:rPr lang="en-US" dirty="0" err="1">
                    <a:solidFill>
                      <a:schemeClr val="accent1"/>
                    </a:solidFill>
                  </a:rPr>
                  <a:t>a</a:t>
                </a:r>
                <a:r>
                  <a:rPr lang="en-US" baseline="-25000" dirty="0" err="1">
                    <a:solidFill>
                      <a:schemeClr val="accent1"/>
                    </a:solidFill>
                  </a:rPr>
                  <a:t>i</a:t>
                </a:r>
                <a:endParaRPr lang="en-US" baseline="-25000" dirty="0">
                  <a:solidFill>
                    <a:schemeClr val="accent1"/>
                  </a:solidFill>
                </a:endParaRPr>
              </a:p>
            </p:txBody>
          </p:sp>
        </mc:Choice>
        <mc:Fallback xmlns="">
          <p:sp>
            <p:nvSpPr>
              <p:cNvPr id="118" name="TextBox 1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59886" y="4078814"/>
                <a:ext cx="2100255" cy="646331"/>
              </a:xfrm>
              <a:prstGeom prst="rect">
                <a:avLst/>
              </a:prstGeom>
              <a:blipFill>
                <a:blip r:embed="rId7"/>
                <a:stretch>
                  <a:fillRect l="-2029" t="-4717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9" name="Straight Arrow Connector 118"/>
          <p:cNvCxnSpPr>
            <a:endCxn id="118" idx="0"/>
          </p:cNvCxnSpPr>
          <p:nvPr/>
        </p:nvCxnSpPr>
        <p:spPr>
          <a:xfrm>
            <a:off x="6489929" y="3183005"/>
            <a:ext cx="420085" cy="89580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4112428" y="2974663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Rectangle 120"/>
          <p:cNvSpPr/>
          <p:nvPr/>
        </p:nvSpPr>
        <p:spPr>
          <a:xfrm>
            <a:off x="4555055" y="2971756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2" name="Rectangle 121"/>
          <p:cNvSpPr/>
          <p:nvPr/>
        </p:nvSpPr>
        <p:spPr>
          <a:xfrm>
            <a:off x="7615396" y="2966931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3" name="TextBox 122"/>
              <p:cNvSpPr txBox="1"/>
              <p:nvPr/>
            </p:nvSpPr>
            <p:spPr>
              <a:xfrm>
                <a:off x="8154070" y="4078814"/>
                <a:ext cx="1566647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dirty="0">
                    <a:solidFill>
                      <a:schemeClr val="accent1"/>
                    </a:solidFill>
                  </a:rPr>
                  <a:t>Points to node</a:t>
                </a:r>
                <a:br>
                  <a:rPr lang="en-US" dirty="0">
                    <a:solidFill>
                      <a:schemeClr val="accent1"/>
                    </a:solidFill>
                  </a:rPr>
                </a:br>
                <a:r>
                  <a:rPr lang="en-US" dirty="0">
                    <a:solidFill>
                      <a:schemeClr val="accent1"/>
                    </a:solidFill>
                  </a:rPr>
                  <a:t>for values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chemeClr val="accent1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chemeClr val="accent1"/>
                    </a:solidFill>
                  </a:rPr>
                  <a:t> a</a:t>
                </a:r>
                <a:r>
                  <a:rPr lang="en-US" baseline="-25000" dirty="0">
                    <a:solidFill>
                      <a:schemeClr val="accent1"/>
                    </a:solidFill>
                  </a:rPr>
                  <a:t>i</a:t>
                </a:r>
              </a:p>
            </p:txBody>
          </p:sp>
        </mc:Choice>
        <mc:Fallback xmlns="">
          <p:sp>
            <p:nvSpPr>
              <p:cNvPr id="123" name="TextBox 1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54070" y="4078814"/>
                <a:ext cx="1566647" cy="646331"/>
              </a:xfrm>
              <a:prstGeom prst="rect">
                <a:avLst/>
              </a:prstGeom>
              <a:blipFill>
                <a:blip r:embed="rId8"/>
                <a:stretch>
                  <a:fillRect l="-2724" t="-4717" r="-1946" b="-1415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4" name="Straight Arrow Connector 123"/>
          <p:cNvCxnSpPr>
            <a:endCxn id="123" idx="0"/>
          </p:cNvCxnSpPr>
          <p:nvPr/>
        </p:nvCxnSpPr>
        <p:spPr>
          <a:xfrm>
            <a:off x="7083599" y="3211067"/>
            <a:ext cx="1853794" cy="8677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25" name="Rectangle 124"/>
          <p:cNvSpPr/>
          <p:nvPr/>
        </p:nvSpPr>
        <p:spPr>
          <a:xfrm>
            <a:off x="8088313" y="2966931"/>
            <a:ext cx="197338" cy="18260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ounded Rectangular Callout 157">
            <a:extLst>
              <a:ext uri="{FF2B5EF4-FFF2-40B4-BE49-F238E27FC236}">
                <a16:creationId xmlns:a16="http://schemas.microsoft.com/office/drawing/2014/main" id="{136AA086-AF3C-41DD-9226-6D86DB5CB443}"/>
              </a:ext>
            </a:extLst>
          </p:cNvPr>
          <p:cNvSpPr/>
          <p:nvPr/>
        </p:nvSpPr>
        <p:spPr>
          <a:xfrm>
            <a:off x="3695705" y="1837841"/>
            <a:ext cx="2993304" cy="474641"/>
          </a:xfrm>
          <a:prstGeom prst="wedgeRoundRectCallout">
            <a:avLst>
              <a:gd name="adj1" fmla="val 52046"/>
              <a:gd name="adj2" fmla="val 133435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Number is smallest number in child-subtree slightly to the right</a:t>
            </a:r>
            <a:endParaRPr lang="en-US" sz="1600" dirty="0"/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BEE57D4C-580B-4094-9FBB-251DBB8496FC}"/>
              </a:ext>
            </a:extLst>
          </p:cNvPr>
          <p:cNvCxnSpPr>
            <a:cxnSpLocks/>
          </p:cNvCxnSpPr>
          <p:nvPr/>
        </p:nvCxnSpPr>
        <p:spPr>
          <a:xfrm>
            <a:off x="7031810" y="3281422"/>
            <a:ext cx="1770781" cy="90576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68579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 B+ Tree Index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8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29</a:t>
            </a:r>
            <a:endParaRPr lang="en-US" dirty="0"/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7" y="4941168"/>
            <a:ext cx="292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4" y="4941168"/>
            <a:ext cx="33003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327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0" y="4941168"/>
            <a:ext cx="332626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932464" y="1885323"/>
            <a:ext cx="692818" cy="40011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dirty="0"/>
              <a:t>n = 3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6" name="TextBox 145"/>
              <p:cNvSpPr txBox="1"/>
              <p:nvPr/>
            </p:nvSpPr>
            <p:spPr>
              <a:xfrm>
                <a:off x="8932464" y="2474312"/>
                <a:ext cx="1376852" cy="668516"/>
              </a:xfrm>
              <a:prstGeom prst="rect">
                <a:avLst/>
              </a:prstGeom>
            </p:spPr>
            <p:style>
              <a:lnRef idx="2">
                <a:schemeClr val="accent1"/>
              </a:lnRef>
              <a:fillRef idx="1">
                <a:schemeClr val="l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mr-IN" sz="20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2000" i="1" dirty="0">
                              <a:latin typeface="Cambria Math" charset="0"/>
                            </a:rPr>
                            <m:t>𝑛</m:t>
                          </m:r>
                          <m:r>
                            <a:rPr lang="en-GB" sz="2000" i="1" dirty="0">
                              <a:latin typeface="Cambria Math" charset="0"/>
                            </a:rPr>
                            <m:t>+1</m:t>
                          </m:r>
                        </m:num>
                        <m:den>
                          <m:r>
                            <a:rPr lang="en-GB" sz="2000" i="1" dirty="0">
                              <a:latin typeface="Cambria Math" charset="0"/>
                            </a:rPr>
                            <m:t>2</m:t>
                          </m:r>
                        </m:den>
                      </m:f>
                      <m:r>
                        <a:rPr lang="en-US" sz="2000" i="1" dirty="0">
                          <a:latin typeface="Cambria Math" charset="0"/>
                        </a:rPr>
                        <m:t> =</m:t>
                      </m:r>
                      <m:r>
                        <a:rPr lang="en-GB" sz="2000" i="1" dirty="0">
                          <a:latin typeface="Cambria Math" charset="0"/>
                        </a:rPr>
                        <m:t>2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46" name="TextBox 14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32464" y="2474312"/>
                <a:ext cx="1376852" cy="66851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8" name="Rounded Rectangular Callout 157"/>
          <p:cNvSpPr/>
          <p:nvPr/>
        </p:nvSpPr>
        <p:spPr>
          <a:xfrm>
            <a:off x="1765363" y="1877217"/>
            <a:ext cx="979353" cy="474641"/>
          </a:xfrm>
          <a:prstGeom prst="wedgeRoundRectCallout">
            <a:avLst>
              <a:gd name="adj1" fmla="val 71498"/>
              <a:gd name="adj2" fmla="val 2506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1600" dirty="0"/>
              <a:t>Height 3</a:t>
            </a:r>
            <a:endParaRPr lang="en-US" sz="1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7BEF99-35C3-4D83-9AEE-4B9145A19AD5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19213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4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320CA3-E29F-4847-ABFF-218788223E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</a:t>
            </a:r>
            <a:endParaRPr lang="en-GB" dirty="0"/>
          </a:p>
        </p:txBody>
      </p:sp>
      <p:pic>
        <p:nvPicPr>
          <p:cNvPr id="4" name="Picture 3" descr="The online visualization tool">
            <a:extLst>
              <a:ext uri="{FF2B5EF4-FFF2-40B4-BE49-F238E27FC236}">
                <a16:creationId xmlns:a16="http://schemas.microsoft.com/office/drawing/2014/main" id="{7DDDF6B7-03E5-4DB7-BC6C-BC631193CE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0336" y="1801934"/>
            <a:ext cx="8106906" cy="4248743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11330987-B5AA-472D-9A3B-EB42964CF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311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Up Values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10</a:t>
            </a:fld>
            <a:endParaRPr lang="en-GB" dirty="0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29</a:t>
            </a:r>
            <a:endParaRPr lang="en-US" dirty="0"/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>
            <a:off x="5749567" y="2544238"/>
            <a:ext cx="1644804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 flipH="1">
            <a:off x="6971549" y="3569413"/>
            <a:ext cx="424331" cy="810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7" y="4941168"/>
            <a:ext cx="292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>
            <a:off x="6746059" y="5020294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13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29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  <a:blipFill>
                <a:blip r:embed="rId5"/>
                <a:stretch>
                  <a:fillRect l="-5161" t="-6349" r="-3226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8344166" y="3179159"/>
                <a:ext cx="1386918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23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29</a:t>
                </a:r>
                <a:r>
                  <a:rPr lang="en-US" dirty="0">
                    <a:solidFill>
                      <a:schemeClr val="tx1"/>
                    </a:solidFill>
                  </a:rPr>
                  <a:t> &lt; 31</a:t>
                </a: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4166" y="3179159"/>
                <a:ext cx="1386918" cy="369332"/>
              </a:xfrm>
              <a:prstGeom prst="rect">
                <a:avLst/>
              </a:prstGeom>
              <a:blipFill>
                <a:blip r:embed="rId6"/>
                <a:stretch>
                  <a:fillRect l="-3493" t="-8065" r="-2183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52277DB6-8FBF-40DE-BDD9-CF5F01B09D23}"/>
              </a:ext>
            </a:extLst>
          </p:cNvPr>
          <p:cNvSpPr/>
          <p:nvPr/>
        </p:nvSpPr>
        <p:spPr>
          <a:xfrm>
            <a:off x="1583819" y="1844643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Example: get pointer to tuples with value </a:t>
            </a:r>
            <a:r>
              <a:rPr lang="en-US" dirty="0">
                <a:solidFill>
                  <a:srgbClr val="FF0000"/>
                </a:solidFill>
              </a:rPr>
              <a:t>29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D98636D-D7BE-4697-A463-F59A28F7694B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727948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CF5D-088B-4522-93AB-B9447342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looking for 29</a:t>
            </a:r>
            <a:endParaRPr lang="en-GB" dirty="0"/>
          </a:p>
        </p:txBody>
      </p:sp>
      <p:pic>
        <p:nvPicPr>
          <p:cNvPr id="5" name="Screen Recording 4" descr="Looking up 29 in the online visualization tool">
            <a:hlinkClick r:id="" action="ppaction://media"/>
            <a:extLst>
              <a:ext uri="{FF2B5EF4-FFF2-40B4-BE49-F238E27FC236}">
                <a16:creationId xmlns:a16="http://schemas.microsoft.com/office/drawing/2014/main" id="{8F2B61A4-77E5-4911-BF50-807E2070111D}"/>
              </a:ext>
            </a:extLst>
          </p:cNvPr>
          <p:cNvPicPr>
            <a:picLocks noChangeAspect="1"/>
          </p:cNvPicPr>
          <p:nvPr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97280" y="1819275"/>
            <a:ext cx="8058150" cy="4267200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04B584A-F96B-4BC1-BC10-E5D91CFC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11</a:t>
            </a:fld>
            <a:endParaRPr lang="en-GB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53932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4337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12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29</a:t>
            </a:r>
            <a:endParaRPr lang="en-US" dirty="0"/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583819" y="1844643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Example: get pointer to tuples with value </a:t>
            </a:r>
            <a:r>
              <a:rPr lang="en-US" dirty="0">
                <a:solidFill>
                  <a:srgbClr val="FF0000"/>
                </a:solidFill>
              </a:rPr>
              <a:t>11</a:t>
            </a: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329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00465" y="2116427"/>
            <a:ext cx="8739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 &lt; 13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3048671" y="3148810"/>
                <a:ext cx="814647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7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11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671" y="3148810"/>
                <a:ext cx="814647" cy="369332"/>
              </a:xfrm>
              <a:prstGeom prst="rect">
                <a:avLst/>
              </a:prstGeom>
              <a:blipFill>
                <a:blip r:embed="rId5"/>
                <a:stretch>
                  <a:fillRect l="-5147" t="-8065" r="-4412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 flipH="1">
            <a:off x="4738111" y="2553439"/>
            <a:ext cx="885891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flipH="1">
            <a:off x="3937004" y="3598034"/>
            <a:ext cx="630067" cy="810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3719736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AF25049-58DF-4937-BC02-EBC440F23B0A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715805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4CF5D-088B-4522-93AB-B9447342E8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looking for 11</a:t>
            </a:r>
            <a:endParaRPr lang="en-GB" dirty="0"/>
          </a:p>
        </p:txBody>
      </p:sp>
      <p:pic>
        <p:nvPicPr>
          <p:cNvPr id="8" name="Screen Recording 7" descr="Looking up 11 in the online visualization tool">
            <a:hlinkClick r:id="" action="ppaction://media"/>
            <a:extLst>
              <a:ext uri="{FF2B5EF4-FFF2-40B4-BE49-F238E27FC236}">
                <a16:creationId xmlns:a16="http://schemas.microsoft.com/office/drawing/2014/main" id="{16B92DC8-BB32-4BA1-BD0A-3227BC9440DE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097280" y="1809750"/>
            <a:ext cx="805815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3979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05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14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29</a:t>
            </a:r>
            <a:endParaRPr lang="en-US" dirty="0"/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7" name="Rectangle 26"/>
              <p:cNvSpPr/>
              <p:nvPr/>
            </p:nvSpPr>
            <p:spPr>
              <a:xfrm>
                <a:off x="1539860" y="1869528"/>
                <a:ext cx="2442128" cy="80692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r>
                  <a:rPr lang="en-US" dirty="0"/>
                  <a:t>Example: get pointers to tuples with value </a:t>
                </a:r>
                <a14:m>
                  <m:oMath xmlns:m="http://schemas.openxmlformats.org/officeDocument/2006/math">
                    <m:r>
                      <a:rPr lang="en-GB" i="1">
                        <a:solidFill>
                          <a:srgbClr val="FF0000"/>
                        </a:solidFill>
                        <a:latin typeface="Cambria Math" charset="0"/>
                      </a:rPr>
                      <m:t>≥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11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27" name="Rectangle 2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9860" y="1869528"/>
                <a:ext cx="2442128" cy="806920"/>
              </a:xfrm>
              <a:prstGeom prst="rect">
                <a:avLst/>
              </a:prstGeom>
              <a:blipFill>
                <a:blip r:embed="rId5"/>
                <a:stretch>
                  <a:fillRect l="-1990" r="-3731" b="-74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329944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00465" y="2116427"/>
            <a:ext cx="873957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11</a:t>
            </a:r>
            <a:r>
              <a:rPr lang="en-US" dirty="0"/>
              <a:t> &lt; 13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3048671" y="3148810"/>
                <a:ext cx="814647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7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11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671" y="3148810"/>
                <a:ext cx="814647" cy="369332"/>
              </a:xfrm>
              <a:prstGeom prst="rect">
                <a:avLst/>
              </a:prstGeom>
              <a:blipFill>
                <a:blip r:embed="rId6"/>
                <a:stretch>
                  <a:fillRect l="-5147" t="-8065" r="-4412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 flipH="1">
            <a:off x="4738111" y="2553439"/>
            <a:ext cx="885891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flipH="1">
            <a:off x="3937004" y="3598034"/>
            <a:ext cx="630067" cy="810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6" name="Straight Arrow Connector 145"/>
          <p:cNvCxnSpPr/>
          <p:nvPr/>
        </p:nvCxnSpPr>
        <p:spPr>
          <a:xfrm>
            <a:off x="3719736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Arrow Connector 144"/>
          <p:cNvCxnSpPr/>
          <p:nvPr/>
        </p:nvCxnSpPr>
        <p:spPr>
          <a:xfrm>
            <a:off x="4408167" y="4869160"/>
            <a:ext cx="337847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Arrow Connector 146"/>
          <p:cNvCxnSpPr/>
          <p:nvPr/>
        </p:nvCxnSpPr>
        <p:spPr>
          <a:xfrm>
            <a:off x="4871864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/>
          <p:cNvCxnSpPr/>
          <p:nvPr/>
        </p:nvCxnSpPr>
        <p:spPr>
          <a:xfrm>
            <a:off x="5231904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Straight Arrow Connector 168"/>
          <p:cNvCxnSpPr/>
          <p:nvPr/>
        </p:nvCxnSpPr>
        <p:spPr>
          <a:xfrm>
            <a:off x="5663952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Straight Arrow Connector 169"/>
          <p:cNvCxnSpPr/>
          <p:nvPr/>
        </p:nvCxnSpPr>
        <p:spPr>
          <a:xfrm>
            <a:off x="5935106" y="4869160"/>
            <a:ext cx="315706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Arrow Connector 170"/>
          <p:cNvCxnSpPr/>
          <p:nvPr/>
        </p:nvCxnSpPr>
        <p:spPr>
          <a:xfrm>
            <a:off x="6384032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Straight Arrow Connector 172"/>
          <p:cNvCxnSpPr/>
          <p:nvPr/>
        </p:nvCxnSpPr>
        <p:spPr>
          <a:xfrm>
            <a:off x="6744072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/>
          <p:cNvCxnSpPr/>
          <p:nvPr/>
        </p:nvCxnSpPr>
        <p:spPr>
          <a:xfrm>
            <a:off x="7433383" y="4869160"/>
            <a:ext cx="301693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Straight Arrow Connector 174"/>
          <p:cNvCxnSpPr/>
          <p:nvPr/>
        </p:nvCxnSpPr>
        <p:spPr>
          <a:xfrm>
            <a:off x="7896200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Straight Arrow Connector 175"/>
          <p:cNvCxnSpPr/>
          <p:nvPr/>
        </p:nvCxnSpPr>
        <p:spPr>
          <a:xfrm>
            <a:off x="8328248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Straight Arrow Connector 176"/>
          <p:cNvCxnSpPr/>
          <p:nvPr/>
        </p:nvCxnSpPr>
        <p:spPr>
          <a:xfrm>
            <a:off x="8688288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Arrow Connector 178"/>
          <p:cNvCxnSpPr/>
          <p:nvPr/>
        </p:nvCxnSpPr>
        <p:spPr>
          <a:xfrm>
            <a:off x="8945991" y="4869160"/>
            <a:ext cx="306395" cy="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Arrow Connector 179"/>
          <p:cNvCxnSpPr/>
          <p:nvPr/>
        </p:nvCxnSpPr>
        <p:spPr>
          <a:xfrm>
            <a:off x="9408368" y="5013176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Straight Arrow Connector 180"/>
          <p:cNvCxnSpPr/>
          <p:nvPr/>
        </p:nvCxnSpPr>
        <p:spPr>
          <a:xfrm>
            <a:off x="9768408" y="5020294"/>
            <a:ext cx="0" cy="54006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44CDA474-80BD-4D3D-865B-78B98981666A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8168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1E726C-4E19-48E9-819B-BD5E5445BD6C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15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29</a:t>
            </a:r>
            <a:endParaRPr lang="en-US" dirty="0"/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541468" y="1842286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Exercise: get pointer to tuples with value </a:t>
            </a:r>
            <a:r>
              <a:rPr lang="en-US" dirty="0">
                <a:solidFill>
                  <a:srgbClr val="FF0000"/>
                </a:solidFill>
              </a:rPr>
              <a:t>9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00464" y="2116427"/>
            <a:ext cx="756938" cy="369332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9 </a:t>
            </a:r>
            <a:r>
              <a:rPr lang="en-US" dirty="0"/>
              <a:t>&lt; 13</a:t>
            </a:r>
            <a:endParaRPr lang="en-US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3048671" y="3148810"/>
                <a:ext cx="697627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7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9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671" y="3148810"/>
                <a:ext cx="697627" cy="369332"/>
              </a:xfrm>
              <a:prstGeom prst="rect">
                <a:avLst/>
              </a:prstGeom>
              <a:blipFill>
                <a:blip r:embed="rId5"/>
                <a:stretch>
                  <a:fillRect l="-5983" t="-8065" r="-5128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 flipH="1">
            <a:off x="4738111" y="2553439"/>
            <a:ext cx="885891" cy="50405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 flipH="1">
            <a:off x="3937004" y="3598034"/>
            <a:ext cx="630067" cy="8106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7" name="Rounded Rectangular Callout 146"/>
          <p:cNvSpPr/>
          <p:nvPr/>
        </p:nvSpPr>
        <p:spPr>
          <a:xfrm>
            <a:off x="3591625" y="5679010"/>
            <a:ext cx="2487182" cy="644539"/>
          </a:xfrm>
          <a:prstGeom prst="wedgeRoundRectCallout">
            <a:avLst>
              <a:gd name="adj1" fmla="val -38579"/>
              <a:gd name="adj2" fmla="val -12946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9 </a:t>
            </a:r>
            <a:r>
              <a:rPr lang="en-GB" dirty="0" err="1"/>
              <a:t>doesn</a:t>
            </a:r>
            <a:r>
              <a:rPr lang="mr-IN" dirty="0"/>
              <a:t>’</a:t>
            </a:r>
            <a:r>
              <a:rPr lang="en-GB" dirty="0"/>
              <a:t>t exist </a:t>
            </a:r>
            <a:r>
              <a:rPr lang="en-GB" dirty="0">
                <a:sym typeface="Wingdings"/>
              </a:rPr>
              <a:t> </a:t>
            </a:r>
            <a:br>
              <a:rPr lang="en-GB" dirty="0">
                <a:sym typeface="Wingdings"/>
              </a:rPr>
            </a:br>
            <a:r>
              <a:rPr lang="en-GB" dirty="0">
                <a:sym typeface="Wingdings"/>
              </a:rPr>
              <a:t>no tuples with value 9!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9415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  <p:bldP spid="14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A20CB-45B2-41FC-BEDF-1F290F92C6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looking for 9</a:t>
            </a:r>
            <a:endParaRPr lang="en-GB" dirty="0"/>
          </a:p>
        </p:txBody>
      </p:sp>
      <p:pic>
        <p:nvPicPr>
          <p:cNvPr id="3" name="Screen Recording 2" descr="Looking up 9 in the online visualization tool">
            <a:hlinkClick r:id="" action="ppaction://media"/>
            <a:extLst>
              <a:ext uri="{FF2B5EF4-FFF2-40B4-BE49-F238E27FC236}">
                <a16:creationId xmlns:a16="http://schemas.microsoft.com/office/drawing/2014/main" id="{59164A6B-4E8A-4A18-8C80-3CED2BFC430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90625" y="1828800"/>
            <a:ext cx="8058150" cy="4267200"/>
          </a:xfrm>
          <a:prstGeom prst="rect">
            <a:avLst/>
          </a:prstGeom>
        </p:spPr>
      </p:pic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E41A531B-7DC1-4F75-81E1-E544E0D02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94388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70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Looking Up A Value: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193974" y="1806022"/>
                <a:ext cx="8579296" cy="510748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Goal: find the pointer to the rows with value </a:t>
                </a:r>
                <a:r>
                  <a:rPr lang="en-US" sz="2400" b="1" dirty="0"/>
                  <a:t>v</a:t>
                </a:r>
              </a:p>
              <a:p>
                <a:r>
                  <a:rPr lang="en-US" sz="2400" dirty="0"/>
                  <a:t>Procedure:</a:t>
                </a:r>
              </a:p>
              <a:p>
                <a:pPr lvl="1">
                  <a:spcBef>
                    <a:spcPts val="1176"/>
                  </a:spcBef>
                </a:pPr>
                <a:r>
                  <a:rPr lang="en-US" sz="2000" dirty="0"/>
                  <a:t>Start at the root of the B+ tree</a:t>
                </a:r>
              </a:p>
              <a:p>
                <a:pPr lvl="1">
                  <a:spcBef>
                    <a:spcPts val="1176"/>
                  </a:spcBef>
                </a:pPr>
                <a:r>
                  <a:rPr lang="en-US" sz="2000" dirty="0"/>
                  <a:t>While the current node is a non-leaf node:</a:t>
                </a:r>
              </a:p>
              <a:p>
                <a:pPr lvl="2"/>
                <a:r>
                  <a:rPr lang="en-US" sz="1800" dirty="0"/>
                  <a:t>If </a:t>
                </a:r>
                <a:r>
                  <a:rPr lang="en-US" sz="1800" b="1" dirty="0"/>
                  <a:t>v</a:t>
                </a:r>
                <a:r>
                  <a:rPr lang="en-US" sz="1800" dirty="0"/>
                  <a:t> &lt; a</a:t>
                </a:r>
                <a:r>
                  <a:rPr lang="en-US" sz="1800" baseline="-25000" dirty="0"/>
                  <a:t>1</a:t>
                </a:r>
                <a:r>
                  <a:rPr lang="en-US" sz="1800" dirty="0"/>
                  <a:t>, proceed to the first child of the node</a:t>
                </a:r>
              </a:p>
              <a:p>
                <a:pPr lvl="2"/>
                <a:r>
                  <a:rPr lang="en-US" sz="1800" dirty="0"/>
                  <a:t>Otherwise find the </a:t>
                </a:r>
                <a:r>
                  <a:rPr lang="en-US" sz="1800" b="1" dirty="0"/>
                  <a:t>largest </a:t>
                </a:r>
                <a:r>
                  <a:rPr lang="en-US" sz="1800" b="1" dirty="0" err="1"/>
                  <a:t>i</a:t>
                </a:r>
                <a:r>
                  <a:rPr lang="en-US" sz="1800" dirty="0"/>
                  <a:t> with </a:t>
                </a:r>
                <a:r>
                  <a:rPr lang="en-US" sz="1800" dirty="0" err="1"/>
                  <a:t>a</a:t>
                </a:r>
                <a:r>
                  <a:rPr lang="en-US" sz="1800" baseline="-25000" dirty="0" err="1"/>
                  <a:t>i</a:t>
                </a: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GB" sz="1800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sz="1800" dirty="0"/>
                  <a:t> </a:t>
                </a:r>
                <a:r>
                  <a:rPr lang="en-US" sz="1800" b="1" dirty="0"/>
                  <a:t>v</a:t>
                </a:r>
                <a:br>
                  <a:rPr lang="en-US" sz="1800" b="1" dirty="0"/>
                </a:br>
                <a:r>
                  <a:rPr lang="en-US" sz="1800" dirty="0"/>
                  <a:t>and proceed to the associated child node</a:t>
                </a:r>
              </a:p>
              <a:p>
                <a:pPr lvl="1">
                  <a:spcBef>
                    <a:spcPts val="1224"/>
                  </a:spcBef>
                </a:pPr>
                <a:r>
                  <a:rPr lang="en-US" sz="2000" dirty="0"/>
                  <a:t>If the current node is a leaf:</a:t>
                </a:r>
              </a:p>
              <a:p>
                <a:pPr lvl="2"/>
                <a:r>
                  <a:rPr lang="en-US" sz="1800" dirty="0"/>
                  <a:t>If </a:t>
                </a:r>
                <a:r>
                  <a:rPr lang="en-US" sz="1800" b="1" dirty="0"/>
                  <a:t>v</a:t>
                </a:r>
                <a:r>
                  <a:rPr lang="en-US" sz="1800" dirty="0"/>
                  <a:t> occurs in the leaf, follow the associated pointer</a:t>
                </a:r>
              </a:p>
              <a:p>
                <a:pPr lvl="2"/>
                <a:r>
                  <a:rPr lang="en-US" sz="1800" dirty="0"/>
                  <a:t>If </a:t>
                </a:r>
                <a:r>
                  <a:rPr lang="en-US" sz="1800" b="1" dirty="0"/>
                  <a:t>v</a:t>
                </a:r>
                <a:r>
                  <a:rPr lang="en-US" sz="1800" dirty="0"/>
                  <a:t> does not occur in the leaf, return “</a:t>
                </a:r>
                <a:r>
                  <a:rPr lang="en-US" sz="1800" b="1" dirty="0"/>
                  <a:t>v</a:t>
                </a:r>
                <a:r>
                  <a:rPr lang="en-US" sz="1800" dirty="0"/>
                  <a:t> does not exist in index”</a:t>
                </a:r>
              </a:p>
              <a:p>
                <a:pPr>
                  <a:spcBef>
                    <a:spcPts val="1176"/>
                  </a:spcBef>
                </a:pPr>
                <a:r>
                  <a:rPr lang="en-US" sz="2400" dirty="0"/>
                  <a:t>Running time: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log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n) 	“real” running time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D)</a:t>
                </a:r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193974" y="1806022"/>
                <a:ext cx="8579296" cy="5107483"/>
              </a:xfrm>
              <a:blipFill>
                <a:blip r:embed="rId5"/>
                <a:stretch>
                  <a:fillRect l="-1137" t="-167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17</a:t>
            </a:fld>
            <a:endParaRPr lang="en-GB"/>
          </a:p>
        </p:txBody>
      </p:sp>
      <p:grpSp>
        <p:nvGrpSpPr>
          <p:cNvPr id="43" name="Group 42"/>
          <p:cNvGrpSpPr/>
          <p:nvPr/>
        </p:nvGrpSpPr>
        <p:grpSpPr>
          <a:xfrm>
            <a:off x="8112225" y="2924944"/>
            <a:ext cx="2234891" cy="1019948"/>
            <a:chOff x="6657589" y="3383568"/>
            <a:chExt cx="2234891" cy="1019948"/>
          </a:xfrm>
        </p:grpSpPr>
        <p:sp>
          <p:nvSpPr>
            <p:cNvPr id="16" name="Rectangle 15"/>
            <p:cNvSpPr/>
            <p:nvPr/>
          </p:nvSpPr>
          <p:spPr>
            <a:xfrm>
              <a:off x="6732240" y="3392861"/>
              <a:ext cx="2160240" cy="720080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" name="Straight Connector 16"/>
            <p:cNvCxnSpPr>
              <a:endCxn id="16" idx="3"/>
            </p:cNvCxnSpPr>
            <p:nvPr/>
          </p:nvCxnSpPr>
          <p:spPr>
            <a:xfrm>
              <a:off x="6732240" y="3752901"/>
              <a:ext cx="2160240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7169432" y="339286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7606623" y="339286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V="1">
              <a:off x="8043815" y="339286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V="1">
              <a:off x="6963695" y="375290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V="1">
              <a:off x="7375168" y="375290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V="1">
              <a:off x="7838078" y="375290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25" name="TextBox 24"/>
            <p:cNvSpPr txBox="1"/>
            <p:nvPr/>
          </p:nvSpPr>
          <p:spPr>
            <a:xfrm>
              <a:off x="6795611" y="3387776"/>
              <a:ext cx="3738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</a:t>
              </a:r>
              <a:r>
                <a:rPr lang="en-US" baseline="-25000" dirty="0"/>
                <a:t>1</a:t>
              </a:r>
            </a:p>
          </p:txBody>
        </p:sp>
        <p:cxnSp>
          <p:nvCxnSpPr>
            <p:cNvPr id="26" name="Straight Arrow Connector 25"/>
            <p:cNvCxnSpPr/>
            <p:nvPr/>
          </p:nvCxnSpPr>
          <p:spPr>
            <a:xfrm flipH="1">
              <a:off x="6657589" y="3913642"/>
              <a:ext cx="203238" cy="489874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 flipV="1">
              <a:off x="8296193" y="375290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>
            <a:xfrm flipV="1">
              <a:off x="8460432" y="339286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>
            <a:xfrm flipV="1">
              <a:off x="8686800" y="3752901"/>
              <a:ext cx="0" cy="36004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7670644" y="3384132"/>
              <a:ext cx="33054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a</a:t>
              </a:r>
              <a:r>
                <a:rPr lang="en-US" baseline="-25000" dirty="0" err="1"/>
                <a:t>i</a:t>
              </a:r>
              <a:endParaRPr lang="en-US" baseline="-25000" dirty="0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7232532" y="338356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 dirty="0"/>
                <a:t>…</a:t>
              </a:r>
              <a:endParaRPr lang="en-US" baseline="-25000" dirty="0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8083028" y="3383568"/>
              <a:ext cx="34336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mr-IN"/>
                <a:t>…</a:t>
              </a:r>
              <a:endParaRPr lang="en-US" baseline="-25000" dirty="0"/>
            </a:p>
          </p:txBody>
        </p:sp>
        <p:cxnSp>
          <p:nvCxnSpPr>
            <p:cNvPr id="41" name="Straight Arrow Connector 40"/>
            <p:cNvCxnSpPr/>
            <p:nvPr/>
          </p:nvCxnSpPr>
          <p:spPr>
            <a:xfrm>
              <a:off x="8092247" y="3926046"/>
              <a:ext cx="136438" cy="47747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>
          <a:xfrm>
            <a:off x="7674444" y="3990432"/>
            <a:ext cx="8755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</a:t>
            </a:r>
            <a:r>
              <a:rPr lang="en-US" b="1" dirty="0"/>
              <a:t>v</a:t>
            </a:r>
            <a:r>
              <a:rPr lang="en-US" dirty="0"/>
              <a:t> &lt; a</a:t>
            </a:r>
            <a:r>
              <a:rPr lang="en-US" baseline="-25000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/>
              <p:cNvSpPr txBox="1"/>
              <p:nvPr/>
            </p:nvSpPr>
            <p:spPr>
              <a:xfrm>
                <a:off x="9313048" y="3974142"/>
                <a:ext cx="92044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if a</a:t>
                </a:r>
                <a:r>
                  <a:rPr lang="en-US" baseline="-25000" dirty="0"/>
                  <a:t>1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baseline="-25000" dirty="0"/>
                  <a:t> </a:t>
                </a:r>
                <a:r>
                  <a:rPr lang="en-US" b="1" dirty="0"/>
                  <a:t>v</a:t>
                </a:r>
                <a:endParaRPr lang="en-US" b="1" baseline="-25000" dirty="0"/>
              </a:p>
            </p:txBody>
          </p:sp>
        </mc:Choice>
        <mc:Fallback xmlns="">
          <p:sp>
            <p:nvSpPr>
              <p:cNvPr id="45" name="TextBox 4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13048" y="3974142"/>
                <a:ext cx="920445" cy="369332"/>
              </a:xfrm>
              <a:prstGeom prst="rect">
                <a:avLst/>
              </a:prstGeom>
              <a:blipFill>
                <a:blip r:embed="rId6"/>
                <a:stretch>
                  <a:fillRect l="-5960" t="-9836" r="-4636" b="-2459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Rounded Rectangular Callout 46"/>
          <p:cNvSpPr/>
          <p:nvPr/>
        </p:nvSpPr>
        <p:spPr>
          <a:xfrm>
            <a:off x="3084985" y="6355373"/>
            <a:ext cx="2199150" cy="432048"/>
          </a:xfrm>
          <a:prstGeom prst="wedgeRoundRectCallout">
            <a:avLst>
              <a:gd name="adj1" fmla="val -31961"/>
              <a:gd name="adj2" fmla="val -892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Height of the B+ tree</a:t>
            </a:r>
            <a:endParaRPr lang="en-US" dirty="0"/>
          </a:p>
        </p:txBody>
      </p:sp>
      <p:sp>
        <p:nvSpPr>
          <p:cNvPr id="27" name="Rounded Rectangular Callout 26"/>
          <p:cNvSpPr/>
          <p:nvPr/>
        </p:nvSpPr>
        <p:spPr>
          <a:xfrm>
            <a:off x="8259710" y="5256261"/>
            <a:ext cx="2847222" cy="364083"/>
          </a:xfrm>
          <a:prstGeom prst="wedgeRoundRectCallout">
            <a:avLst>
              <a:gd name="adj1" fmla="val -48126"/>
              <a:gd name="adj2" fmla="val 107481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Time for a disk operation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5402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7" grpId="0" animBg="1"/>
      <p:bldP spid="27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18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13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48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  <a:blipFill>
                <a:blip r:embed="rId5"/>
                <a:stretch>
                  <a:fillRect l="-5161" t="-6349" r="-3226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8340396" y="3143737"/>
                <a:ext cx="931665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43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48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96" y="3143737"/>
                <a:ext cx="931665" cy="369332"/>
              </a:xfrm>
              <a:prstGeom prst="rect">
                <a:avLst/>
              </a:prstGeom>
              <a:blipFill>
                <a:blip r:embed="rId6"/>
                <a:stretch>
                  <a:fillRect l="-4516" t="-8065" r="-3871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>
            <a:off x="5895209" y="2576983"/>
            <a:ext cx="1411231" cy="421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>
            <a:cxnSpLocks/>
          </p:cNvCxnSpPr>
          <p:nvPr/>
        </p:nvCxnSpPr>
        <p:spPr>
          <a:xfrm>
            <a:off x="8025956" y="3580189"/>
            <a:ext cx="1650764" cy="76517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F5E61B4B-69B5-4ABE-944E-C0778647E82D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48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78F9D36F-6F75-498C-93D7-959F3201F16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48</a:t>
            </a:r>
          </a:p>
        </p:txBody>
      </p:sp>
      <p:cxnSp>
        <p:nvCxnSpPr>
          <p:cNvPr id="169" name="Straight Arrow Connector 168">
            <a:extLst>
              <a:ext uri="{FF2B5EF4-FFF2-40B4-BE49-F238E27FC236}">
                <a16:creationId xmlns:a16="http://schemas.microsoft.com/office/drawing/2014/main" id="{D1BBB3C5-CEFE-45D4-B160-637AD9BC2AFD}"/>
              </a:ext>
            </a:extLst>
          </p:cNvPr>
          <p:cNvCxnSpPr/>
          <p:nvPr/>
        </p:nvCxnSpPr>
        <p:spPr>
          <a:xfrm>
            <a:off x="10129785" y="502170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99BAC8E5-077C-421D-9152-BC9FB4C94969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37928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  <p:bldP spid="14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FA49-B4D9-4ED4-9A25-9BC1C284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inserting 48</a:t>
            </a:r>
            <a:endParaRPr lang="en-GB" dirty="0"/>
          </a:p>
        </p:txBody>
      </p:sp>
      <p:pic>
        <p:nvPicPr>
          <p:cNvPr id="4" name="Screen Recording 3" descr="Inserting 48 in the online visualization tool">
            <a:hlinkClick r:id="" action="ppaction://media"/>
            <a:extLst>
              <a:ext uri="{FF2B5EF4-FFF2-40B4-BE49-F238E27FC236}">
                <a16:creationId xmlns:a16="http://schemas.microsoft.com/office/drawing/2014/main" id="{177C8EFC-588B-4BA8-A51A-A99AD91BE86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200150" y="1866900"/>
            <a:ext cx="8229600" cy="4248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564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3662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20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13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42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  <a:blipFill>
                <a:blip r:embed="rId5"/>
                <a:stretch>
                  <a:fillRect l="-5161" t="-6349" r="-3226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8340396" y="3143737"/>
                <a:ext cx="1386918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31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42</a:t>
                </a:r>
                <a:r>
                  <a:rPr lang="en-US" dirty="0">
                    <a:solidFill>
                      <a:schemeClr val="tx1"/>
                    </a:solidFill>
                  </a:rPr>
                  <a:t> &lt; 43</a:t>
                </a: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96" y="3143737"/>
                <a:ext cx="1386918" cy="369332"/>
              </a:xfrm>
              <a:prstGeom prst="rect">
                <a:avLst/>
              </a:prstGeom>
              <a:blipFill>
                <a:blip r:embed="rId6"/>
                <a:stretch>
                  <a:fillRect l="-3043" t="-8065" r="-2174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>
            <a:off x="5895209" y="2576983"/>
            <a:ext cx="1411231" cy="421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>
            <a:off x="7653098" y="3573016"/>
            <a:ext cx="603142" cy="792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7" name="Rounded Rectangular Callout 146"/>
          <p:cNvSpPr/>
          <p:nvPr/>
        </p:nvSpPr>
        <p:spPr>
          <a:xfrm>
            <a:off x="7638481" y="5756080"/>
            <a:ext cx="2816339" cy="531310"/>
          </a:xfrm>
          <a:prstGeom prst="wedgeRoundRectCallout">
            <a:avLst>
              <a:gd name="adj1" fmla="val -22035"/>
              <a:gd name="adj2" fmla="val -7413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Need to </a:t>
            </a:r>
            <a:r>
              <a:rPr lang="en-GB"/>
              <a:t>make space for </a:t>
            </a:r>
            <a:r>
              <a:rPr lang="en-GB" dirty="0">
                <a:solidFill>
                  <a:srgbClr val="FF0000"/>
                </a:solidFill>
              </a:rPr>
              <a:t>42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5E61B4B-69B5-4ABE-944E-C0778647E82D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8" name="TextBox 157">
            <a:extLst>
              <a:ext uri="{FF2B5EF4-FFF2-40B4-BE49-F238E27FC236}">
                <a16:creationId xmlns:a16="http://schemas.microsoft.com/office/drawing/2014/main" id="{05B8185E-4DE9-42D9-A26F-6D82CFDF4747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71" name="Straight Arrow Connector 170">
            <a:extLst>
              <a:ext uri="{FF2B5EF4-FFF2-40B4-BE49-F238E27FC236}">
                <a16:creationId xmlns:a16="http://schemas.microsoft.com/office/drawing/2014/main" id="{2EC0065C-A455-4B94-B8FE-696CABE7532D}"/>
              </a:ext>
            </a:extLst>
          </p:cNvPr>
          <p:cNvCxnSpPr/>
          <p:nvPr/>
        </p:nvCxnSpPr>
        <p:spPr>
          <a:xfrm>
            <a:off x="10129785" y="502170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DE36EF7F-88AB-4602-A372-D52172A6D3EF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59187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172" grpId="0" animBg="1"/>
      <p:bldP spid="147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21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735076" y="4383688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740703" y="437439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165037" y="436975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589371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35075" y="3573016"/>
            <a:ext cx="655788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7" y="4941168"/>
            <a:ext cx="29228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/>
          <p:nvPr/>
        </p:nvCxnSpPr>
        <p:spPr>
          <a:xfrm>
            <a:off x="7433383" y="4941168"/>
            <a:ext cx="301693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945991" y="4941168"/>
            <a:ext cx="30639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824192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821131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59842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TextBox 34"/>
              <p:cNvSpPr txBox="1"/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13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>
                    <a:solidFill>
                      <a:srgbClr val="FF0000"/>
                    </a:solidFill>
                  </a:rPr>
                  <a:t> 42</a:t>
                </a:r>
              </a:p>
            </p:txBody>
          </p:sp>
        </mc:Choice>
        <mc:Fallback xmlns="">
          <p:sp>
            <p:nvSpPr>
              <p:cNvPr id="35" name="TextBox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00465" y="2116427"/>
                <a:ext cx="931665" cy="369332"/>
              </a:xfrm>
              <a:prstGeom prst="rect">
                <a:avLst/>
              </a:prstGeom>
              <a:blipFill>
                <a:blip r:embed="rId4"/>
                <a:stretch>
                  <a:fillRect l="-5161" t="-6349" r="-3226" b="-22222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2" name="TextBox 171"/>
              <p:cNvSpPr txBox="1"/>
              <p:nvPr/>
            </p:nvSpPr>
            <p:spPr>
              <a:xfrm>
                <a:off x="8340396" y="3143737"/>
                <a:ext cx="1386918" cy="369332"/>
              </a:xfrm>
              <a:prstGeom prst="rect">
                <a:avLst/>
              </a:prstGeom>
              <a:ln/>
            </p:spPr>
            <p:style>
              <a:lnRef idx="1">
                <a:schemeClr val="accent2"/>
              </a:lnRef>
              <a:fillRef idx="2">
                <a:schemeClr val="accent2"/>
              </a:fillRef>
              <a:effectRef idx="1">
                <a:schemeClr val="accent2"/>
              </a:effectRef>
              <a:fontRef idx="minor">
                <a:schemeClr val="dk1"/>
              </a:fontRef>
            </p:style>
            <p:txBody>
              <a:bodyPr wrap="none" rtlCol="0">
                <a:spAutoFit/>
              </a:bodyPr>
              <a:lstStyle/>
              <a:p>
                <a:r>
                  <a:rPr lang="en-US" dirty="0"/>
                  <a:t>31 </a:t>
                </a:r>
                <a14:m>
                  <m:oMath xmlns:m="http://schemas.openxmlformats.org/officeDocument/2006/math">
                    <m:r>
                      <a:rPr lang="en-GB" i="1">
                        <a:latin typeface="Cambria Math" charset="0"/>
                      </a:rPr>
                      <m:t>≤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>
                    <a:solidFill>
                      <a:srgbClr val="FF0000"/>
                    </a:solidFill>
                  </a:rPr>
                  <a:t>42</a:t>
                </a:r>
                <a:r>
                  <a:rPr lang="en-US" dirty="0">
                    <a:solidFill>
                      <a:schemeClr val="tx1"/>
                    </a:solidFill>
                  </a:rPr>
                  <a:t> &lt; 43</a:t>
                </a:r>
              </a:p>
            </p:txBody>
          </p:sp>
        </mc:Choice>
        <mc:Fallback xmlns="">
          <p:sp>
            <p:nvSpPr>
              <p:cNvPr id="172" name="TextBox 17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40396" y="3143737"/>
                <a:ext cx="1386918" cy="369332"/>
              </a:xfrm>
              <a:prstGeom prst="rect">
                <a:avLst/>
              </a:prstGeom>
              <a:blipFill>
                <a:blip r:embed="rId5"/>
                <a:stretch>
                  <a:fillRect l="-3043" t="-8065" r="-2174" b="-24194"/>
                </a:stretch>
              </a:blipFill>
              <a:ln/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3" name="Straight Arrow Connector 142"/>
          <p:cNvCxnSpPr/>
          <p:nvPr/>
        </p:nvCxnSpPr>
        <p:spPr>
          <a:xfrm>
            <a:off x="5895209" y="2576983"/>
            <a:ext cx="1411231" cy="421333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4" name="Straight Arrow Connector 143"/>
          <p:cNvCxnSpPr/>
          <p:nvPr/>
        </p:nvCxnSpPr>
        <p:spPr>
          <a:xfrm>
            <a:off x="7653098" y="3573016"/>
            <a:ext cx="603142" cy="79208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47" name="Rounded Rectangular Callout 146"/>
          <p:cNvSpPr/>
          <p:nvPr/>
        </p:nvSpPr>
        <p:spPr>
          <a:xfrm>
            <a:off x="8025321" y="5754342"/>
            <a:ext cx="1613905" cy="531310"/>
          </a:xfrm>
          <a:prstGeom prst="wedgeRoundRectCallout">
            <a:avLst>
              <a:gd name="adj1" fmla="val -22035"/>
              <a:gd name="adj2" fmla="val -7413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Split the node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3428B44-0EB0-4860-A604-2C65AF472298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A5F56A-C80A-436D-82C2-484CF49FB6AA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1085F79-6D1C-45CF-A627-1E36F4891F1A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70" name="Straight Arrow Connector 169">
            <a:extLst>
              <a:ext uri="{FF2B5EF4-FFF2-40B4-BE49-F238E27FC236}">
                <a16:creationId xmlns:a16="http://schemas.microsoft.com/office/drawing/2014/main" id="{08FE7FDE-CC77-4EF7-911A-1794A2548DFA}"/>
              </a:ext>
            </a:extLst>
          </p:cNvPr>
          <p:cNvCxnSpPr/>
          <p:nvPr/>
        </p:nvCxnSpPr>
        <p:spPr>
          <a:xfrm>
            <a:off x="10129785" y="5021705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0205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D4679D5-ACEC-4282-B8F2-7FF8AFBB90A7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22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025530" y="54448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 flipV="1">
            <a:off x="8426897" y="4941168"/>
            <a:ext cx="825489" cy="108012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034587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Rounded Rectangular Callout 181"/>
          <p:cNvSpPr/>
          <p:nvPr/>
        </p:nvSpPr>
        <p:spPr>
          <a:xfrm>
            <a:off x="5329482" y="5737859"/>
            <a:ext cx="1613905" cy="531310"/>
          </a:xfrm>
          <a:prstGeom prst="wedgeRoundRectCallout">
            <a:avLst>
              <a:gd name="adj1" fmla="val 61819"/>
              <a:gd name="adj2" fmla="val -2250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Split the node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11B6A5D-38B8-40B7-B878-EE471E0E1679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0593632-39A4-44AC-A2F7-6FB27ECD3E46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47" name="Straight Arrow Connector 146">
            <a:extLst>
              <a:ext uri="{FF2B5EF4-FFF2-40B4-BE49-F238E27FC236}">
                <a16:creationId xmlns:a16="http://schemas.microsoft.com/office/drawing/2014/main" id="{3DC399B7-F064-4B5D-AAC5-F8AA4A70E64E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80243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/>
          <p:cNvGrpSpPr/>
          <p:nvPr/>
        </p:nvGrpSpPr>
        <p:grpSpPr>
          <a:xfrm>
            <a:off x="8716513" y="544522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23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7" name="TextBox 246"/>
          <p:cNvSpPr txBox="1"/>
          <p:nvPr/>
        </p:nvSpPr>
        <p:spPr>
          <a:xfrm>
            <a:off x="8025530" y="5444870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>
            <a:off x="8034587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36E55304-A38E-4269-8BC3-048CA5938ED7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68B9C1-7531-4922-9173-C88CF62C9090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7" name="TextBox 176">
            <a:extLst>
              <a:ext uri="{FF2B5EF4-FFF2-40B4-BE49-F238E27FC236}">
                <a16:creationId xmlns:a16="http://schemas.microsoft.com/office/drawing/2014/main" id="{73DA2D56-1A03-47B8-9826-0E4600D58ED2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78" name="Straight Arrow Connector 177">
            <a:extLst>
              <a:ext uri="{FF2B5EF4-FFF2-40B4-BE49-F238E27FC236}">
                <a16:creationId xmlns:a16="http://schemas.microsoft.com/office/drawing/2014/main" id="{BB9ED159-6FFE-468D-8BD6-28D89D987B2E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03143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24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5CDD3081-19BF-4239-953E-D247A6D0F0F1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D2C50E-3CDC-4320-A649-0D3E1F07422C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5BE0894-FC66-4F04-A7A3-218C08625B35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76" name="Straight Arrow Connector 175">
            <a:extLst>
              <a:ext uri="{FF2B5EF4-FFF2-40B4-BE49-F238E27FC236}">
                <a16:creationId xmlns:a16="http://schemas.microsoft.com/office/drawing/2014/main" id="{E4DE6702-297D-42FF-A54E-6EF5129028FD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03600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25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42</a:t>
            </a:r>
          </a:p>
        </p:txBody>
      </p:sp>
      <p:sp>
        <p:nvSpPr>
          <p:cNvPr id="174" name="Rounded Rectangular Callout 173"/>
          <p:cNvSpPr/>
          <p:nvPr/>
        </p:nvSpPr>
        <p:spPr>
          <a:xfrm>
            <a:off x="7850595" y="4908105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Insert value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6" name="Rounded Rectangular Callout 175"/>
          <p:cNvSpPr/>
          <p:nvPr/>
        </p:nvSpPr>
        <p:spPr>
          <a:xfrm>
            <a:off x="7722215" y="1939830"/>
            <a:ext cx="2722405" cy="592422"/>
          </a:xfrm>
          <a:prstGeom prst="wedgeRoundRectCallout">
            <a:avLst>
              <a:gd name="adj1" fmla="val -35998"/>
              <a:gd name="adj2" fmla="val 8901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Problem: not yet a B+ tree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49EF2E2-495D-4530-AA52-3D28C8C949FD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0B01770-93C9-4977-AAE2-4D6DBE157957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A466A2B3-53D0-41AB-8C01-14DE142E8FBB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13F0A6D1-6E19-4BA7-9D52-77456727B32A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0951031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6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26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7766083" y="2990119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8040217" y="3573016"/>
            <a:ext cx="18679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2" name="Rounded Rectangular Callout 171"/>
          <p:cNvSpPr/>
          <p:nvPr/>
        </p:nvSpPr>
        <p:spPr>
          <a:xfrm>
            <a:off x="7673954" y="1667952"/>
            <a:ext cx="1505884" cy="895295"/>
          </a:xfrm>
          <a:prstGeom prst="wedgeRoundRectCallout">
            <a:avLst>
              <a:gd name="adj1" fmla="val -31422"/>
              <a:gd name="adj2" fmla="val 87997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Cannot add the new leaf</a:t>
            </a:r>
            <a:br>
              <a:rPr lang="en-GB" dirty="0"/>
            </a:br>
            <a:r>
              <a:rPr lang="en-GB" dirty="0"/>
              <a:t>as a child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77" name="Rounded Rectangular Callout 176"/>
          <p:cNvSpPr/>
          <p:nvPr/>
        </p:nvSpPr>
        <p:spPr>
          <a:xfrm>
            <a:off x="8403721" y="2800752"/>
            <a:ext cx="1580712" cy="502235"/>
          </a:xfrm>
          <a:prstGeom prst="wedgeRoundRectCallout">
            <a:avLst>
              <a:gd name="adj1" fmla="val -59344"/>
              <a:gd name="adj2" fmla="val 31556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Solution: split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0E3A049-0FC0-4291-90AD-EFAFBE5ECA9C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748918-2208-4A71-9626-B60821DB130C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16596832-743A-4B7C-A9E8-5F3E6F195EA3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0" name="Straight Arrow Connector 179">
            <a:extLst>
              <a:ext uri="{FF2B5EF4-FFF2-40B4-BE49-F238E27FC236}">
                <a16:creationId xmlns:a16="http://schemas.microsoft.com/office/drawing/2014/main" id="{5FB9A0A9-8FDB-4EF7-A77D-72B7D104CAF0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14613666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2" grpId="0" animBg="1"/>
      <p:bldP spid="17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27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0972D6F4-898A-4EFE-843B-563F170FFB81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A96135-00CA-42A7-B2CE-71E4690C12B6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9F4C083-9972-47AE-93D9-E6E617F45569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4264C3FE-0301-45A4-AA75-DB534020DE93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80923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28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4FC4C498-622D-40EB-9215-29E14FBE5D5A}"/>
              </a:ext>
            </a:extLst>
          </p:cNvPr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E712CA9-B257-4420-9291-A4958F59E7FB}"/>
              </a:ext>
            </a:extLst>
          </p:cNvPr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184" name="TextBox 183">
            <a:extLst>
              <a:ext uri="{FF2B5EF4-FFF2-40B4-BE49-F238E27FC236}">
                <a16:creationId xmlns:a16="http://schemas.microsoft.com/office/drawing/2014/main" id="{D30D8492-EF05-417E-932A-11834C5EBEB2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5" name="Straight Arrow Connector 184">
            <a:extLst>
              <a:ext uri="{FF2B5EF4-FFF2-40B4-BE49-F238E27FC236}">
                <a16:creationId xmlns:a16="http://schemas.microsoft.com/office/drawing/2014/main" id="{974D9E2C-1C75-4FFF-BD62-7D5D615F6CB9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288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roup 173"/>
          <p:cNvGrpSpPr/>
          <p:nvPr/>
        </p:nvGrpSpPr>
        <p:grpSpPr>
          <a:xfrm>
            <a:off x="8738881" y="2995446"/>
            <a:ext cx="1311575" cy="720080"/>
            <a:chOff x="457200" y="4005064"/>
            <a:chExt cx="1442732" cy="792088"/>
          </a:xfrm>
        </p:grpSpPr>
        <p:sp>
          <p:nvSpPr>
            <p:cNvPr id="176" name="Rectangle 17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77" name="Straight Connector 176"/>
            <p:cNvCxnSpPr>
              <a:stCxn id="176" idx="1"/>
              <a:endCxn id="17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8" name="Straight Connector 17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9" name="Straight Connector 17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0" name="Straight Connector 17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1" name="Straight Connector 18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2" name="Straight Connector 18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3" name="Straight Connector 18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43" name="Group 142"/>
          <p:cNvGrpSpPr/>
          <p:nvPr/>
        </p:nvGrpSpPr>
        <p:grpSpPr>
          <a:xfrm>
            <a:off x="8714264" y="5463454"/>
            <a:ext cx="1311575" cy="720080"/>
            <a:chOff x="457200" y="4005064"/>
            <a:chExt cx="1442732" cy="792088"/>
          </a:xfrm>
        </p:grpSpPr>
        <p:sp>
          <p:nvSpPr>
            <p:cNvPr id="144" name="Rectangle 143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5" name="Straight Connector 144"/>
            <p:cNvCxnSpPr>
              <a:stCxn id="144" idx="1"/>
              <a:endCxn id="144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6" name="Straight Connector 145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7" name="Straight Connector 146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8" name="Straight Connector 157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9" name="Straight Connector 168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0" name="Straight Connector 169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1" name="Straight Connector 170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Insertions of Value/Pointer Pairs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29</a:t>
            </a:fld>
            <a:endParaRPr lang="en-GB"/>
          </a:p>
        </p:txBody>
      </p:sp>
      <p:grpSp>
        <p:nvGrpSpPr>
          <p:cNvPr id="33" name="Group 32"/>
          <p:cNvGrpSpPr/>
          <p:nvPr/>
        </p:nvGrpSpPr>
        <p:grpSpPr>
          <a:xfrm>
            <a:off x="1665836" y="4383688"/>
            <a:ext cx="1311575" cy="720080"/>
            <a:chOff x="457200" y="4005064"/>
            <a:chExt cx="1442732" cy="792088"/>
          </a:xfrm>
        </p:grpSpPr>
        <p:sp>
          <p:nvSpPr>
            <p:cNvPr id="5" name="Rectangle 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6" name="Straight Connector 5"/>
            <p:cNvCxnSpPr>
              <a:stCxn id="5" idx="1"/>
              <a:endCxn id="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" name="Straight Connector 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98" name="Group 97"/>
          <p:cNvGrpSpPr/>
          <p:nvPr/>
        </p:nvGrpSpPr>
        <p:grpSpPr>
          <a:xfrm>
            <a:off x="3183146" y="4383688"/>
            <a:ext cx="1311575" cy="720080"/>
            <a:chOff x="457200" y="4005064"/>
            <a:chExt cx="1442732" cy="792088"/>
          </a:xfrm>
        </p:grpSpPr>
        <p:sp>
          <p:nvSpPr>
            <p:cNvPr id="99" name="Rectangle 98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0" name="Straight Connector 99"/>
            <p:cNvCxnSpPr>
              <a:stCxn id="99" idx="1"/>
              <a:endCxn id="99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3" name="Straight Connector 102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4" name="Straight Connector 103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5" name="Straight Connector 104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07" name="Group 106"/>
          <p:cNvGrpSpPr/>
          <p:nvPr/>
        </p:nvGrpSpPr>
        <p:grpSpPr>
          <a:xfrm>
            <a:off x="4700456" y="4383688"/>
            <a:ext cx="1311575" cy="720080"/>
            <a:chOff x="457200" y="4005064"/>
            <a:chExt cx="1442732" cy="792088"/>
          </a:xfrm>
        </p:grpSpPr>
        <p:sp>
          <p:nvSpPr>
            <p:cNvPr id="108" name="Rectangle 107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9" name="Straight Connector 108"/>
            <p:cNvCxnSpPr>
              <a:stCxn id="108" idx="1"/>
              <a:endCxn id="108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3" name="Straight Connector 112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4" name="Straight Connector 113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5" name="Straight Connector 114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16" name="Group 115"/>
          <p:cNvGrpSpPr/>
          <p:nvPr/>
        </p:nvGrpSpPr>
        <p:grpSpPr>
          <a:xfrm>
            <a:off x="6217766" y="4383688"/>
            <a:ext cx="1311575" cy="720080"/>
            <a:chOff x="457200" y="4005064"/>
            <a:chExt cx="1442732" cy="792088"/>
          </a:xfrm>
        </p:grpSpPr>
        <p:sp>
          <p:nvSpPr>
            <p:cNvPr id="117" name="Rectangle 11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8" name="Straight Connector 117"/>
            <p:cNvCxnSpPr>
              <a:stCxn id="117" idx="1"/>
              <a:endCxn id="11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19" name="Straight Connector 11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1" name="Straight Connector 12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2" name="Straight Connector 12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3" name="Straight Connector 12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4" name="Straight Connector 12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25" name="Group 124"/>
          <p:cNvGrpSpPr/>
          <p:nvPr/>
        </p:nvGrpSpPr>
        <p:grpSpPr>
          <a:xfrm>
            <a:off x="7171235" y="5463454"/>
            <a:ext cx="1311575" cy="720080"/>
            <a:chOff x="457200" y="4005064"/>
            <a:chExt cx="1442732" cy="792088"/>
          </a:xfrm>
        </p:grpSpPr>
        <p:sp>
          <p:nvSpPr>
            <p:cNvPr id="126" name="Rectangle 12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7" name="Straight Connector 126"/>
            <p:cNvCxnSpPr>
              <a:stCxn id="126" idx="1"/>
              <a:endCxn id="12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8" name="Straight Connector 12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29" name="Straight Connector 12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0" name="Straight Connector 12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1" name="Straight Connector 13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2" name="Straight Connector 13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3" name="Straight Connector 13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134" name="Group 133"/>
          <p:cNvGrpSpPr/>
          <p:nvPr/>
        </p:nvGrpSpPr>
        <p:grpSpPr>
          <a:xfrm>
            <a:off x="9252386" y="4383688"/>
            <a:ext cx="1311575" cy="720080"/>
            <a:chOff x="457200" y="4005064"/>
            <a:chExt cx="1442732" cy="792088"/>
          </a:xfrm>
        </p:grpSpPr>
        <p:sp>
          <p:nvSpPr>
            <p:cNvPr id="135" name="Rectangle 13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36" name="Straight Connector 135"/>
            <p:cNvCxnSpPr>
              <a:stCxn id="135" idx="1"/>
              <a:endCxn id="13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7" name="Straight Connector 13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8" name="Straight Connector 13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39" name="Straight Connector 13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0" name="Straight Connector 13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1" name="Straight Connector 14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42" name="Straight Connector 14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06" name="Group 205"/>
          <p:cNvGrpSpPr/>
          <p:nvPr/>
        </p:nvGrpSpPr>
        <p:grpSpPr>
          <a:xfrm>
            <a:off x="4031809" y="2996952"/>
            <a:ext cx="1311575" cy="720080"/>
            <a:chOff x="457200" y="4005064"/>
            <a:chExt cx="1442732" cy="792088"/>
          </a:xfrm>
        </p:grpSpPr>
        <p:sp>
          <p:nvSpPr>
            <p:cNvPr id="207" name="Rectangle 206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08" name="Straight Connector 207"/>
            <p:cNvCxnSpPr>
              <a:stCxn id="207" idx="1"/>
              <a:endCxn id="207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09" name="Straight Connector 208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0" name="Straight Connector 209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1" name="Straight Connector 210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2" name="Straight Connector 211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3" name="Straight Connector 212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4" name="Straight Connector 213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15" name="Group 214"/>
          <p:cNvGrpSpPr/>
          <p:nvPr/>
        </p:nvGrpSpPr>
        <p:grpSpPr>
          <a:xfrm>
            <a:off x="6860693" y="2996952"/>
            <a:ext cx="1311575" cy="720080"/>
            <a:chOff x="457200" y="4005064"/>
            <a:chExt cx="1442732" cy="792088"/>
          </a:xfrm>
        </p:grpSpPr>
        <p:sp>
          <p:nvSpPr>
            <p:cNvPr id="216" name="Rectangle 215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7" name="Straight Connector 216"/>
            <p:cNvCxnSpPr>
              <a:stCxn id="216" idx="1"/>
              <a:endCxn id="216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8" name="Straight Connector 217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19" name="Straight Connector 218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0" name="Straight Connector 219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1" name="Straight Connector 220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2" name="Straight Connector 221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3" name="Straight Connector 222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pSp>
        <p:nvGrpSpPr>
          <p:cNvPr id="224" name="Group 223"/>
          <p:cNvGrpSpPr/>
          <p:nvPr/>
        </p:nvGrpSpPr>
        <p:grpSpPr>
          <a:xfrm>
            <a:off x="5434485" y="1916832"/>
            <a:ext cx="1311575" cy="720080"/>
            <a:chOff x="457200" y="4005064"/>
            <a:chExt cx="1442732" cy="792088"/>
          </a:xfrm>
        </p:grpSpPr>
        <p:sp>
          <p:nvSpPr>
            <p:cNvPr id="225" name="Rectangle 224"/>
            <p:cNvSpPr/>
            <p:nvPr/>
          </p:nvSpPr>
          <p:spPr>
            <a:xfrm>
              <a:off x="457200" y="4005064"/>
              <a:ext cx="1442732" cy="792088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26" name="Straight Connector 225"/>
            <p:cNvCxnSpPr>
              <a:stCxn id="225" idx="1"/>
              <a:endCxn id="225" idx="3"/>
            </p:cNvCxnSpPr>
            <p:nvPr/>
          </p:nvCxnSpPr>
          <p:spPr>
            <a:xfrm>
              <a:off x="457200" y="4401108"/>
              <a:ext cx="1442732" cy="0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7" name="Straight Connector 226"/>
            <p:cNvCxnSpPr/>
            <p:nvPr/>
          </p:nvCxnSpPr>
          <p:spPr>
            <a:xfrm flipV="1">
              <a:off x="93811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8" name="Straight Connector 227"/>
            <p:cNvCxnSpPr/>
            <p:nvPr/>
          </p:nvCxnSpPr>
          <p:spPr>
            <a:xfrm flipV="1">
              <a:off x="1419021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9" name="Straight Connector 228"/>
            <p:cNvCxnSpPr/>
            <p:nvPr/>
          </p:nvCxnSpPr>
          <p:spPr>
            <a:xfrm flipV="1">
              <a:off x="1899932" y="4005064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0" name="Straight Connector 229"/>
            <p:cNvCxnSpPr/>
            <p:nvPr/>
          </p:nvCxnSpPr>
          <p:spPr>
            <a:xfrm flipV="1">
              <a:off x="711800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1" name="Straight Connector 230"/>
            <p:cNvCxnSpPr/>
            <p:nvPr/>
          </p:nvCxnSpPr>
          <p:spPr>
            <a:xfrm flipV="1">
              <a:off x="11644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32" name="Straight Connector 231"/>
            <p:cNvCxnSpPr/>
            <p:nvPr/>
          </p:nvCxnSpPr>
          <p:spPr>
            <a:xfrm flipV="1">
              <a:off x="1673621" y="4401108"/>
              <a:ext cx="0" cy="396044"/>
            </a:xfrm>
            <a:prstGeom prst="line">
              <a:avLst/>
            </a:prstGeom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sp>
        <p:nvSpPr>
          <p:cNvPr id="233" name="TextBox 232"/>
          <p:cNvSpPr txBox="1"/>
          <p:nvPr/>
        </p:nvSpPr>
        <p:spPr>
          <a:xfrm>
            <a:off x="5443728" y="191683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13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4106480" y="2995589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7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733588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2157921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2593872" y="438368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3272476" y="4388091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7</a:t>
            </a:r>
            <a:endParaRPr lang="en-US" dirty="0"/>
          </a:p>
        </p:txBody>
      </p:sp>
      <p:sp>
        <p:nvSpPr>
          <p:cNvPr id="239" name="TextBox 238"/>
          <p:cNvSpPr txBox="1"/>
          <p:nvPr/>
        </p:nvSpPr>
        <p:spPr>
          <a:xfrm>
            <a:off x="3638866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4746013" y="438368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13</a:t>
            </a:r>
          </a:p>
        </p:txBody>
      </p:sp>
      <p:sp>
        <p:nvSpPr>
          <p:cNvPr id="241" name="TextBox 240"/>
          <p:cNvSpPr txBox="1"/>
          <p:nvPr/>
        </p:nvSpPr>
        <p:spPr>
          <a:xfrm>
            <a:off x="5159750" y="438694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17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5573487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19</a:t>
            </a:r>
            <a:endParaRPr lang="en-US" dirty="0"/>
          </a:p>
        </p:txBody>
      </p:sp>
      <p:sp>
        <p:nvSpPr>
          <p:cNvPr id="243" name="TextBox 242"/>
          <p:cNvSpPr txBox="1"/>
          <p:nvPr/>
        </p:nvSpPr>
        <p:spPr>
          <a:xfrm>
            <a:off x="6250812" y="439020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44" name="TextBox 243"/>
          <p:cNvSpPr txBox="1"/>
          <p:nvPr/>
        </p:nvSpPr>
        <p:spPr>
          <a:xfrm>
            <a:off x="6665898" y="4388091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29</a:t>
            </a:r>
          </a:p>
        </p:txBody>
      </p:sp>
      <p:sp>
        <p:nvSpPr>
          <p:cNvPr id="245" name="TextBox 244"/>
          <p:cNvSpPr txBox="1"/>
          <p:nvPr/>
        </p:nvSpPr>
        <p:spPr>
          <a:xfrm>
            <a:off x="7176862" y="545416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31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7601196" y="544951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37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9278616" y="437439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43</a:t>
            </a:r>
            <a:endParaRPr lang="en-US" dirty="0"/>
          </a:p>
        </p:txBody>
      </p:sp>
      <p:sp>
        <p:nvSpPr>
          <p:cNvPr id="249" name="TextBox 248"/>
          <p:cNvSpPr txBox="1"/>
          <p:nvPr/>
        </p:nvSpPr>
        <p:spPr>
          <a:xfrm>
            <a:off x="9685656" y="436510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47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6904899" y="2994493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23</a:t>
            </a:r>
          </a:p>
        </p:txBody>
      </p:sp>
      <p:sp>
        <p:nvSpPr>
          <p:cNvPr id="251" name="TextBox 250"/>
          <p:cNvSpPr txBox="1"/>
          <p:nvPr/>
        </p:nvSpPr>
        <p:spPr>
          <a:xfrm>
            <a:off x="7335491" y="299230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31</a:t>
            </a:r>
            <a:endParaRPr lang="en-US" dirty="0"/>
          </a:p>
        </p:txBody>
      </p:sp>
      <p:sp>
        <p:nvSpPr>
          <p:cNvPr id="252" name="TextBox 251"/>
          <p:cNvSpPr txBox="1"/>
          <p:nvPr/>
        </p:nvSpPr>
        <p:spPr>
          <a:xfrm>
            <a:off x="8757368" y="3005254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43</a:t>
            </a:r>
          </a:p>
        </p:txBody>
      </p:sp>
      <p:cxnSp>
        <p:nvCxnSpPr>
          <p:cNvPr id="254" name="Straight Arrow Connector 253"/>
          <p:cNvCxnSpPr>
            <a:endCxn id="207" idx="0"/>
          </p:cNvCxnSpPr>
          <p:nvPr/>
        </p:nvCxnSpPr>
        <p:spPr>
          <a:xfrm flipH="1">
            <a:off x="4687597" y="2492896"/>
            <a:ext cx="885891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5" name="Straight Arrow Connector 254"/>
          <p:cNvCxnSpPr>
            <a:endCxn id="5" idx="0"/>
          </p:cNvCxnSpPr>
          <p:nvPr/>
        </p:nvCxnSpPr>
        <p:spPr>
          <a:xfrm flipH="1">
            <a:off x="2321624" y="3573016"/>
            <a:ext cx="178485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58" name="Straight Arrow Connector 257"/>
          <p:cNvCxnSpPr>
            <a:endCxn id="216" idx="0"/>
          </p:cNvCxnSpPr>
          <p:nvPr/>
        </p:nvCxnSpPr>
        <p:spPr>
          <a:xfrm>
            <a:off x="5871676" y="2492896"/>
            <a:ext cx="1644804" cy="50405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1" name="Straight Arrow Connector 260"/>
          <p:cNvCxnSpPr>
            <a:endCxn id="99" idx="0"/>
          </p:cNvCxnSpPr>
          <p:nvPr/>
        </p:nvCxnSpPr>
        <p:spPr>
          <a:xfrm flipH="1">
            <a:off x="3838934" y="3573016"/>
            <a:ext cx="630067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4" name="Straight Arrow Connector 263"/>
          <p:cNvCxnSpPr>
            <a:endCxn id="241" idx="0"/>
          </p:cNvCxnSpPr>
          <p:nvPr/>
        </p:nvCxnSpPr>
        <p:spPr>
          <a:xfrm flipH="1">
            <a:off x="5369102" y="3573016"/>
            <a:ext cx="1590994" cy="81393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67" name="Straight Arrow Connector 266"/>
          <p:cNvCxnSpPr>
            <a:endCxn id="117" idx="0"/>
          </p:cNvCxnSpPr>
          <p:nvPr/>
        </p:nvCxnSpPr>
        <p:spPr>
          <a:xfrm flipH="1">
            <a:off x="6873554" y="3573016"/>
            <a:ext cx="42433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0" name="Straight Arrow Connector 269"/>
          <p:cNvCxnSpPr>
            <a:endCxn id="126" idx="0"/>
          </p:cNvCxnSpPr>
          <p:nvPr/>
        </p:nvCxnSpPr>
        <p:spPr>
          <a:xfrm>
            <a:off x="7752230" y="3573016"/>
            <a:ext cx="74793" cy="18904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273" name="Straight Arrow Connector 272"/>
          <p:cNvCxnSpPr>
            <a:endCxn id="135" idx="0"/>
          </p:cNvCxnSpPr>
          <p:nvPr/>
        </p:nvCxnSpPr>
        <p:spPr>
          <a:xfrm>
            <a:off x="9176073" y="3573016"/>
            <a:ext cx="732101" cy="81067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76" name="TextBox 275"/>
          <p:cNvSpPr txBox="1"/>
          <p:nvPr/>
        </p:nvSpPr>
        <p:spPr>
          <a:xfrm>
            <a:off x="1527219" y="5887915"/>
            <a:ext cx="49210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(Example from ”Database Systems: The Complete Book”)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794114" y="1837525"/>
            <a:ext cx="2375709" cy="80692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Task: insert value </a:t>
            </a:r>
            <a:r>
              <a:rPr lang="en-US" dirty="0">
                <a:solidFill>
                  <a:srgbClr val="FF0000"/>
                </a:solidFill>
              </a:rPr>
              <a:t>42</a:t>
            </a:r>
            <a:r>
              <a:rPr lang="en-US" dirty="0"/>
              <a:t> 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48" name="Straight Arrow Connector 147"/>
          <p:cNvCxnSpPr/>
          <p:nvPr/>
        </p:nvCxnSpPr>
        <p:spPr>
          <a:xfrm>
            <a:off x="177552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Arrow Connector 148"/>
          <p:cNvCxnSpPr/>
          <p:nvPr/>
        </p:nvCxnSpPr>
        <p:spPr>
          <a:xfrm>
            <a:off x="2135560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Arrow Connector 149"/>
          <p:cNvCxnSpPr/>
          <p:nvPr/>
        </p:nvCxnSpPr>
        <p:spPr>
          <a:xfrm>
            <a:off x="2540218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Arrow Connector 150"/>
          <p:cNvCxnSpPr/>
          <p:nvPr/>
        </p:nvCxnSpPr>
        <p:spPr>
          <a:xfrm>
            <a:off x="2895559" y="4941168"/>
            <a:ext cx="287587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2" name="Straight Arrow Connector 151"/>
          <p:cNvCxnSpPr/>
          <p:nvPr/>
        </p:nvCxnSpPr>
        <p:spPr>
          <a:xfrm>
            <a:off x="32922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/>
          <p:cNvCxnSpPr/>
          <p:nvPr/>
        </p:nvCxnSpPr>
        <p:spPr>
          <a:xfrm>
            <a:off x="4408166" y="4941168"/>
            <a:ext cx="27943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4" name="Straight Arrow Connector 153"/>
          <p:cNvCxnSpPr/>
          <p:nvPr/>
        </p:nvCxnSpPr>
        <p:spPr>
          <a:xfrm>
            <a:off x="5920775" y="4941168"/>
            <a:ext cx="29699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5" name="Straight Arrow Connector 154"/>
          <p:cNvCxnSpPr>
            <a:endCxn id="245" idx="0"/>
          </p:cNvCxnSpPr>
          <p:nvPr/>
        </p:nvCxnSpPr>
        <p:spPr>
          <a:xfrm flipH="1">
            <a:off x="7386214" y="4941168"/>
            <a:ext cx="47168" cy="51299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6" name="Straight Arrow Connector 155"/>
          <p:cNvCxnSpPr/>
          <p:nvPr/>
        </p:nvCxnSpPr>
        <p:spPr>
          <a:xfrm>
            <a:off x="8395904" y="6003514"/>
            <a:ext cx="32060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157" name="Straight Arrow Connector 156"/>
          <p:cNvCxnSpPr/>
          <p:nvPr/>
        </p:nvCxnSpPr>
        <p:spPr>
          <a:xfrm>
            <a:off x="3620337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Straight Arrow Connector 158"/>
          <p:cNvCxnSpPr/>
          <p:nvPr/>
        </p:nvCxnSpPr>
        <p:spPr>
          <a:xfrm>
            <a:off x="4785084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/>
          <p:cNvCxnSpPr/>
          <p:nvPr/>
        </p:nvCxnSpPr>
        <p:spPr>
          <a:xfrm>
            <a:off x="5137646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Straight Arrow Connector 160"/>
          <p:cNvCxnSpPr/>
          <p:nvPr/>
        </p:nvCxnSpPr>
        <p:spPr>
          <a:xfrm>
            <a:off x="5571199" y="5020294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Straight Arrow Connector 161"/>
          <p:cNvCxnSpPr/>
          <p:nvPr/>
        </p:nvCxnSpPr>
        <p:spPr>
          <a:xfrm>
            <a:off x="633649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Straight Arrow Connector 162"/>
          <p:cNvCxnSpPr/>
          <p:nvPr/>
        </p:nvCxnSpPr>
        <p:spPr>
          <a:xfrm>
            <a:off x="6665841" y="5013176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Arrow Connector 163"/>
          <p:cNvCxnSpPr/>
          <p:nvPr/>
        </p:nvCxnSpPr>
        <p:spPr>
          <a:xfrm>
            <a:off x="7260351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/>
          <p:cNvCxnSpPr/>
          <p:nvPr/>
        </p:nvCxnSpPr>
        <p:spPr>
          <a:xfrm>
            <a:off x="7647469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/>
          <p:cNvCxnSpPr/>
          <p:nvPr/>
        </p:nvCxnSpPr>
        <p:spPr>
          <a:xfrm>
            <a:off x="9322908" y="5013176"/>
            <a:ext cx="0" cy="21602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Straight Arrow Connector 167"/>
          <p:cNvCxnSpPr/>
          <p:nvPr/>
        </p:nvCxnSpPr>
        <p:spPr>
          <a:xfrm>
            <a:off x="9685656" y="5020294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Elbow Connector 16"/>
          <p:cNvCxnSpPr/>
          <p:nvPr/>
        </p:nvCxnSpPr>
        <p:spPr>
          <a:xfrm flipV="1">
            <a:off x="9984433" y="5085184"/>
            <a:ext cx="205735" cy="90822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247" name="TextBox 246"/>
          <p:cNvSpPr txBox="1"/>
          <p:nvPr/>
        </p:nvSpPr>
        <p:spPr>
          <a:xfrm>
            <a:off x="8738880" y="5442722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41</a:t>
            </a:r>
          </a:p>
        </p:txBody>
      </p:sp>
      <p:cxnSp>
        <p:nvCxnSpPr>
          <p:cNvPr id="166" name="Straight Arrow Connector 165"/>
          <p:cNvCxnSpPr/>
          <p:nvPr/>
        </p:nvCxnSpPr>
        <p:spPr>
          <a:xfrm>
            <a:off x="8832304" y="6092942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130744" y="5435926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42</a:t>
            </a:r>
          </a:p>
        </p:txBody>
      </p:sp>
      <p:cxnSp>
        <p:nvCxnSpPr>
          <p:cNvPr id="175" name="Straight Arrow Connector 174"/>
          <p:cNvCxnSpPr/>
          <p:nvPr/>
        </p:nvCxnSpPr>
        <p:spPr>
          <a:xfrm>
            <a:off x="9151455" y="6090753"/>
            <a:ext cx="0" cy="5400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Straight Arrow Connector 186"/>
          <p:cNvCxnSpPr/>
          <p:nvPr/>
        </p:nvCxnSpPr>
        <p:spPr>
          <a:xfrm>
            <a:off x="8832306" y="3573016"/>
            <a:ext cx="113413" cy="186291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89" name="Rounded Rectangular Callout 188"/>
          <p:cNvSpPr/>
          <p:nvPr/>
        </p:nvSpPr>
        <p:spPr>
          <a:xfrm>
            <a:off x="7070667" y="1250085"/>
            <a:ext cx="1714513" cy="700718"/>
          </a:xfrm>
          <a:prstGeom prst="wedgeRoundRectCallout">
            <a:avLst>
              <a:gd name="adj1" fmla="val -62436"/>
              <a:gd name="adj2" fmla="val 3596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Add the new node as a </a:t>
            </a:r>
            <a:r>
              <a:rPr lang="en-GB" dirty="0"/>
              <a:t>child</a:t>
            </a:r>
            <a:endParaRPr lang="en-US" dirty="0">
              <a:solidFill>
                <a:srgbClr val="FF0000"/>
              </a:solidFill>
            </a:endParaRPr>
          </a:p>
        </p:txBody>
      </p:sp>
      <p:cxnSp>
        <p:nvCxnSpPr>
          <p:cNvPr id="190" name="Straight Arrow Connector 189"/>
          <p:cNvCxnSpPr>
            <a:endCxn id="176" idx="0"/>
          </p:cNvCxnSpPr>
          <p:nvPr/>
        </p:nvCxnSpPr>
        <p:spPr>
          <a:xfrm>
            <a:off x="6372458" y="2492896"/>
            <a:ext cx="3022210" cy="50255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172" name="TextBox 171"/>
          <p:cNvSpPr txBox="1"/>
          <p:nvPr/>
        </p:nvSpPr>
        <p:spPr>
          <a:xfrm>
            <a:off x="5884534" y="1913815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>
                <a:solidFill>
                  <a:srgbClr val="FF0000"/>
                </a:solidFill>
              </a:rPr>
              <a:t>41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4" name="Rounded Rectangular Callout 183"/>
          <p:cNvSpPr/>
          <p:nvPr/>
        </p:nvSpPr>
        <p:spPr>
          <a:xfrm>
            <a:off x="4762781" y="1359593"/>
            <a:ext cx="1411226" cy="390618"/>
          </a:xfrm>
          <a:prstGeom prst="wedgeRoundRectCallout">
            <a:avLst>
              <a:gd name="adj1" fmla="val 45621"/>
              <a:gd name="adj2" fmla="val 101562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/>
              <a:t>Insert value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89731506-5BAF-48A5-9A92-9726F478E791}"/>
              </a:ext>
            </a:extLst>
          </p:cNvPr>
          <p:cNvSpPr txBox="1"/>
          <p:nvPr/>
        </p:nvSpPr>
        <p:spPr>
          <a:xfrm>
            <a:off x="10133137" y="436687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48</a:t>
            </a:r>
          </a:p>
        </p:txBody>
      </p: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F4723203-7D4F-4ECD-9FC7-793EDEF6AF69}"/>
              </a:ext>
            </a:extLst>
          </p:cNvPr>
          <p:cNvCxnSpPr/>
          <p:nvPr/>
        </p:nvCxnSpPr>
        <p:spPr>
          <a:xfrm>
            <a:off x="10130454" y="5022673"/>
            <a:ext cx="0" cy="2089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custDataLst>
      <p:tags r:id="rId1"/>
    </p:custDataLst>
    <p:extLst>
      <p:ext uri="{BB962C8B-B14F-4D97-AF65-F5344CB8AC3E}">
        <p14:creationId xmlns:p14="http://schemas.microsoft.com/office/powerpoint/2010/main" val="388313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9" grpId="0" animBg="1"/>
      <p:bldP spid="172" grpId="0"/>
      <p:bldP spid="18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E3FA49-B4D9-4ED4-9A25-9BC1C284A9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version of inserting 42</a:t>
            </a:r>
            <a:endParaRPr lang="en-GB" dirty="0"/>
          </a:p>
        </p:txBody>
      </p:sp>
      <p:pic>
        <p:nvPicPr>
          <p:cNvPr id="3" name="Screen Recording 2" descr="Inserting 42 in the online visualization tool">
            <a:hlinkClick r:id="" action="ppaction://media"/>
            <a:extLst>
              <a:ext uri="{FF2B5EF4-FFF2-40B4-BE49-F238E27FC236}">
                <a16:creationId xmlns:a16="http://schemas.microsoft.com/office/drawing/2014/main" id="{F4E62DDE-5E90-48AD-B667-AE8BB66E553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79094" y="1882440"/>
            <a:ext cx="8229600" cy="4248150"/>
          </a:xfrm>
          <a:prstGeom prst="rect">
            <a:avLst/>
          </a:prstGeom>
        </p:spPr>
      </p:pic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A3C9EE7F-464B-4A7D-AF69-306E94DA8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900458" y="6459785"/>
            <a:ext cx="1312025" cy="365125"/>
          </a:xfrm>
        </p:spPr>
        <p:txBody>
          <a:bodyPr/>
          <a:lstStyle/>
          <a:p>
            <a:fld id="{C260D5AD-280D-4F23-8F09-5CDE2943111F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2631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1193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Insertion: Summary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1219200" y="1838074"/>
                <a:ext cx="8579296" cy="5107483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Goal: insert a new value/pointer pair</a:t>
                </a:r>
                <a:endParaRPr lang="en-US" sz="2400" b="1" dirty="0"/>
              </a:p>
              <a:p>
                <a:r>
                  <a:rPr lang="en-US" sz="2400" dirty="0"/>
                  <a:t>Procedure: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Find the leaf that should contain the value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If the leaf is not full, insert the key value pair at a suitable location</a:t>
                </a:r>
              </a:p>
              <a:p>
                <a:pPr lvl="1">
                  <a:spcBef>
                    <a:spcPts val="576"/>
                  </a:spcBef>
                </a:pPr>
                <a:r>
                  <a:rPr lang="en-US" sz="2000" dirty="0"/>
                  <a:t>If the leaf is full: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en-US" sz="1600" dirty="0"/>
                  <a:t>Split the leaf to make space for the new value/pointer pair and move half of the pointers to the new node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en-US" sz="1600" dirty="0"/>
                  <a:t>Insert the value/pointer pair</a:t>
                </a:r>
              </a:p>
              <a:p>
                <a:pPr lvl="2">
                  <a:spcBef>
                    <a:spcPts val="600"/>
                  </a:spcBef>
                </a:pPr>
                <a:r>
                  <a:rPr lang="en-US" sz="1600" dirty="0"/>
                  <a:t>Connect the leaf to a suitable parent node (which might incur the creation of a new node etc.)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dirty="0"/>
                  <a:t>The B+ tree </a:t>
                </a:r>
                <a:r>
                  <a:rPr lang="en-US" sz="2400" b="1" dirty="0"/>
                  <a:t>remains balanced</a:t>
                </a:r>
                <a:r>
                  <a:rPr lang="en-US" sz="2400" dirty="0"/>
                  <a:t>!</a:t>
                </a:r>
              </a:p>
              <a:p>
                <a:pPr>
                  <a:spcBef>
                    <a:spcPts val="1176"/>
                  </a:spcBef>
                </a:pPr>
                <a:r>
                  <a:rPr lang="en-US" sz="2400" dirty="0"/>
                  <a:t>Running time: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log</a:t>
                </a:r>
                <a:r>
                  <a:rPr lang="en-US" sz="2400" baseline="-25000" dirty="0"/>
                  <a:t>2</a:t>
                </a:r>
                <a:r>
                  <a:rPr lang="en-US" sz="2400" dirty="0"/>
                  <a:t> n) 	“real” running time O(h </a:t>
                </a:r>
                <a14:m>
                  <m:oMath xmlns:m="http://schemas.openxmlformats.org/officeDocument/2006/math">
                    <m:r>
                      <a:rPr lang="en-GB" sz="2400" i="1">
                        <a:latin typeface="Cambria Math" charset="0"/>
                      </a:rPr>
                      <m:t>×</m:t>
                    </m:r>
                  </m:oMath>
                </a14:m>
                <a:r>
                  <a:rPr lang="en-US" sz="2400" dirty="0"/>
                  <a:t> D)</a:t>
                </a:r>
              </a:p>
              <a:p>
                <a:pPr>
                  <a:spcBef>
                    <a:spcPts val="1176"/>
                  </a:spcBef>
                </a:pPr>
                <a:endParaRPr lang="en-US" sz="2400" dirty="0"/>
              </a:p>
              <a:p>
                <a:endParaRPr lang="en-US" sz="26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219200" y="1838074"/>
                <a:ext cx="8579296" cy="5107483"/>
              </a:xfrm>
              <a:blipFill>
                <a:blip r:embed="rId5"/>
                <a:stretch>
                  <a:fillRect l="-1066" t="-1673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60D5AD-280D-4F23-8F09-5CDE2943111F}" type="slidenum">
              <a:rPr lang="en-GB" smtClean="0"/>
              <a:pPr/>
              <a:t>31</a:t>
            </a:fld>
            <a:endParaRPr lang="en-GB"/>
          </a:p>
        </p:txBody>
      </p:sp>
      <p:sp>
        <p:nvSpPr>
          <p:cNvPr id="47" name="Rounded Rectangular Callout 46"/>
          <p:cNvSpPr/>
          <p:nvPr/>
        </p:nvSpPr>
        <p:spPr>
          <a:xfrm>
            <a:off x="3061055" y="6389355"/>
            <a:ext cx="2199150" cy="364083"/>
          </a:xfrm>
          <a:prstGeom prst="wedgeRoundRectCallout">
            <a:avLst>
              <a:gd name="adj1" fmla="val -31961"/>
              <a:gd name="adj2" fmla="val -89254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Height of the B+ tree</a:t>
            </a:r>
            <a:endParaRPr lang="en-US" dirty="0"/>
          </a:p>
        </p:txBody>
      </p:sp>
      <p:sp>
        <p:nvSpPr>
          <p:cNvPr id="6" name="Rounded Rectangular Callout 5"/>
          <p:cNvSpPr/>
          <p:nvPr/>
        </p:nvSpPr>
        <p:spPr>
          <a:xfrm>
            <a:off x="6096000" y="5214974"/>
            <a:ext cx="2847222" cy="364083"/>
          </a:xfrm>
          <a:prstGeom prst="wedgeRoundRectCallout">
            <a:avLst>
              <a:gd name="adj1" fmla="val 24950"/>
              <a:gd name="adj2" fmla="val 127219"/>
              <a:gd name="adj3" fmla="val 16667"/>
            </a:avLst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Time for a disk operation</a:t>
            </a:r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86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73C296-26B2-4D91-835D-F09B70AEDB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C4487-78F5-4FCC-BBF8-606653E908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video provided an overview over the idea of B+-trees and how to search and insert into them</a:t>
            </a:r>
          </a:p>
          <a:p>
            <a:pPr lvl="1"/>
            <a:r>
              <a:rPr lang="en-US" dirty="0"/>
              <a:t>Slide 16 has a summary of lookups</a:t>
            </a:r>
          </a:p>
          <a:p>
            <a:pPr lvl="1"/>
            <a:r>
              <a:rPr lang="en-US" dirty="0"/>
              <a:t>Slide 27 has a summary of insertions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1545690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|14.6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3|11.4|11.3|12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8.9|69.7|13.2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6|15|38|24.5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1.5|9.4|7.1|10.6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4.5|9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6|8.2|17.1|5.3|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7|1.2|4.8|1.1|5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5.6|5.3|3.8|0.6|2.4|2.2|4.5|1.9|0.9|0.9|1.2|0.9|1.3|0.9|1.3|1|1.3|0.8|0.9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.2|2.4|3.9|1.3|8.7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6.4|3.5|28.5|3.3|15.2|14.1|36.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7.8|4.9|5.8|1.7|3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5|3.2|4.1|3.1|8.5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.2|33.9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2.1|4.9|11.8|33|36.7|13.8|23.8"/>
</p:tagLst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250</TotalTime>
  <Words>1645</Words>
  <Application>Microsoft Office PowerPoint</Application>
  <PresentationFormat>Widescreen</PresentationFormat>
  <Paragraphs>624</Paragraphs>
  <Slides>32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Calibri</vt:lpstr>
      <vt:lpstr>Calibri Light</vt:lpstr>
      <vt:lpstr>Cambria Math</vt:lpstr>
      <vt:lpstr>Retrospect</vt:lpstr>
      <vt:lpstr>Idea, searching and inserting in B+-tree</vt:lpstr>
      <vt:lpstr>Overview over this video</vt:lpstr>
      <vt:lpstr>Single Level vs Multi-Level Indexes</vt:lpstr>
      <vt:lpstr>B+ Tree: Leaves (Idea)</vt:lpstr>
      <vt:lpstr>B+ Tree: Inner Nodes (Idea)</vt:lpstr>
      <vt:lpstr>B+ Tree: Leaves (Actually)</vt:lpstr>
      <vt:lpstr>B+ Tree: Inner Nodes (Actually)</vt:lpstr>
      <vt:lpstr>A B+ Tree Index</vt:lpstr>
      <vt:lpstr>Online version</vt:lpstr>
      <vt:lpstr>Looking Up Values</vt:lpstr>
      <vt:lpstr>Online version of looking for 29</vt:lpstr>
      <vt:lpstr>Example 2</vt:lpstr>
      <vt:lpstr>Online version of looking for 11</vt:lpstr>
      <vt:lpstr>Example 3</vt:lpstr>
      <vt:lpstr>Example 4</vt:lpstr>
      <vt:lpstr>Online version of looking for 9</vt:lpstr>
      <vt:lpstr>Looking Up A Value: Summary</vt:lpstr>
      <vt:lpstr>Insertions of Value/Pointer Pairs</vt:lpstr>
      <vt:lpstr>Online version of inserting 48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Insertions of Value/Pointer Pairs</vt:lpstr>
      <vt:lpstr>Online version of inserting 42</vt:lpstr>
      <vt:lpstr>Insertion: Summary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Idea, searching and inserting in B+-tree</dc:title>
  <dc:creator>Rasmus Ibsen-Jensen</dc:creator>
  <cp:lastModifiedBy>Rasmus Ibsen-Jensen</cp:lastModifiedBy>
  <cp:revision>15</cp:revision>
  <dcterms:created xsi:type="dcterms:W3CDTF">2020-11-14T16:38:32Z</dcterms:created>
  <dcterms:modified xsi:type="dcterms:W3CDTF">2020-11-17T17:57:57Z</dcterms:modified>
</cp:coreProperties>
</file>