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56" r:id="rId2"/>
    <p:sldId id="500" r:id="rId3"/>
    <p:sldId id="355" r:id="rId4"/>
    <p:sldId id="499" r:id="rId5"/>
    <p:sldId id="354" r:id="rId6"/>
    <p:sldId id="357" r:id="rId7"/>
    <p:sldId id="361" r:id="rId8"/>
    <p:sldId id="545" r:id="rId9"/>
    <p:sldId id="358" r:id="rId10"/>
    <p:sldId id="54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18196-3445-4B1C-A409-5B42B6D16E21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EE99B-0D1D-4573-9AC0-68F2D9805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4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97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33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1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82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39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08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13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2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3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98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71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39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5E5177-CBCC-4998-BF6D-0A4D93630FE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B97F17-91A7-4916-8519-C24F3061167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88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AEC7-4EDF-44E5-8A8F-C9590875C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98EF7-AE91-4919-866A-93F40A67CA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53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1EFC1-9C3C-4931-AC80-B097FE90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A2FF-8F91-4103-B0A7-2BDA3F3E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video will discuss the topic of indices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DA5E2-542F-44E6-B1CA-C0592EAA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74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Reminder: Computing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b="1" baseline="-25000" dirty="0">
                    <a:solidFill>
                      <a:schemeClr val="accent3"/>
                    </a:solidFill>
                  </a:rPr>
                  <a:t>condition</a:t>
                </a:r>
                <a:r>
                  <a:rPr lang="en-US" b="1" dirty="0"/>
                  <a:t>(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6"/>
                <a:stretch>
                  <a:fillRect l="-296" r="-37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procedure: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2472"/>
              </a:spcBef>
            </a:pPr>
            <a:r>
              <a:rPr lang="en-US" dirty="0"/>
              <a:t>Needs to read the entire relation</a:t>
            </a:r>
          </a:p>
          <a:p>
            <a:r>
              <a:rPr lang="en-US" dirty="0"/>
              <a:t>Yes, sometimes!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873704" y="2319642"/>
            <a:ext cx="1814208" cy="2363369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4160" y="2201390"/>
            <a:ext cx="439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dirty="0"/>
              <a:t>: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73848" y="2315591"/>
            <a:ext cx="0" cy="2363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5770730" y="1959542"/>
            <a:ext cx="3722966" cy="1634013"/>
            <a:chOff x="4428926" y="1959541"/>
            <a:chExt cx="3722966" cy="1634013"/>
          </a:xfrm>
        </p:grpSpPr>
        <p:sp>
          <p:nvSpPr>
            <p:cNvPr id="11" name="Rectangle 10"/>
            <p:cNvSpPr/>
            <p:nvPr/>
          </p:nvSpPr>
          <p:spPr>
            <a:xfrm>
              <a:off x="4428926" y="1959541"/>
              <a:ext cx="3722966" cy="163401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00935" y="2073743"/>
              <a:ext cx="27432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for each </a:t>
              </a:r>
              <a:r>
                <a:rPr lang="en-US" sz="2400" dirty="0"/>
                <a:t>tuple </a:t>
              </a:r>
              <a:r>
                <a:rPr lang="en-US" sz="2400" b="1" dirty="0">
                  <a:solidFill>
                    <a:schemeClr val="accent1"/>
                  </a:solidFill>
                </a:rPr>
                <a:t>t</a:t>
              </a:r>
              <a:r>
                <a:rPr lang="en-US" sz="2400" dirty="0"/>
                <a:t> in </a:t>
              </a:r>
              <a:r>
                <a:rPr lang="en-US" sz="2400" b="1" dirty="0">
                  <a:solidFill>
                    <a:schemeClr val="accent1"/>
                  </a:solidFill>
                </a:rPr>
                <a:t>R</a:t>
              </a:r>
              <a:r>
                <a:rPr lang="en-US" sz="2400" dirty="0"/>
                <a:t>: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41468" y="2563811"/>
              <a:ext cx="2959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if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accent1"/>
                  </a:solidFill>
                </a:rPr>
                <a:t>t</a:t>
              </a:r>
              <a:r>
                <a:rPr lang="en-US" sz="2400" dirty="0"/>
                <a:t> satisfies </a:t>
              </a:r>
              <a:r>
                <a:rPr lang="en-US" sz="2400" b="1" dirty="0">
                  <a:solidFill>
                    <a:schemeClr val="accent3"/>
                  </a:solidFill>
                </a:rPr>
                <a:t>condition</a:t>
              </a:r>
              <a:r>
                <a:rPr lang="en-US" sz="2400" dirty="0"/>
                <a:t>: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65894" y="3039661"/>
              <a:ext cx="12362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output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accent1"/>
                  </a:solidFill>
                </a:rPr>
                <a:t>t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2957145" y="2354432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7145" y="2620234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7145" y="2886036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57145" y="3151838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7144" y="3417640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r-IN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ounded Rectangular Callout 19">
            <a:extLst>
              <a:ext uri="{FF2B5EF4-FFF2-40B4-BE49-F238E27FC236}">
                <a16:creationId xmlns:a16="http://schemas.microsoft.com/office/drawing/2014/main" id="{C826C214-345B-4D6E-A8C5-15877C7C60BC}"/>
              </a:ext>
            </a:extLst>
          </p:cNvPr>
          <p:cNvSpPr/>
          <p:nvPr/>
        </p:nvSpPr>
        <p:spPr>
          <a:xfrm>
            <a:off x="3300507" y="5167127"/>
            <a:ext cx="2542231" cy="400110"/>
          </a:xfrm>
          <a:prstGeom prst="wedgeRoundRectCallout">
            <a:avLst>
              <a:gd name="adj1" fmla="val -26099"/>
              <a:gd name="adj2" fmla="val -9796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Can this be done faster?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489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941168"/>
            <a:ext cx="8229600" cy="1507083"/>
          </a:xfrm>
        </p:spPr>
        <p:txBody>
          <a:bodyPr>
            <a:normAutofit/>
          </a:bodyPr>
          <a:lstStyle/>
          <a:p>
            <a:r>
              <a:rPr lang="en-US" dirty="0"/>
              <a:t>Selection can be performed faster if we know </a:t>
            </a:r>
            <a:br>
              <a:rPr lang="en-US" dirty="0"/>
            </a:br>
            <a:r>
              <a:rPr lang="en-US" b="1" dirty="0"/>
              <a:t>where to find the rows for ‘G401’</a:t>
            </a:r>
          </a:p>
          <a:p>
            <a:r>
              <a:rPr lang="en-US" dirty="0"/>
              <a:t>Two solutions: </a:t>
            </a:r>
            <a:r>
              <a:rPr lang="en-US" b="1" dirty="0"/>
              <a:t>sorting</a:t>
            </a:r>
            <a:r>
              <a:rPr lang="en-US" dirty="0"/>
              <a:t> &amp; </a:t>
            </a:r>
            <a:r>
              <a:rPr lang="en-US" b="1" dirty="0"/>
              <a:t>index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63553" y="2223238"/>
                <a:ext cx="43999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1" i="1"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sz="3200" b="1" baseline="-25000" dirty="0">
                    <a:solidFill>
                      <a:schemeClr val="accent3"/>
                    </a:solidFill>
                  </a:rPr>
                  <a:t>programme=‘G401’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chemeClr val="accent1"/>
                    </a:solidFill>
                  </a:rPr>
                  <a:t>Students</a:t>
                </a:r>
                <a:r>
                  <a:rPr lang="en-US" sz="3200" b="1" dirty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2223238"/>
                <a:ext cx="4399987" cy="584775"/>
              </a:xfrm>
              <a:prstGeom prst="rect">
                <a:avLst/>
              </a:prstGeom>
              <a:blipFill>
                <a:blip r:embed="rId5"/>
                <a:stretch>
                  <a:fillRect t="-12500" r="-2219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463309"/>
              </p:ext>
            </p:extLst>
          </p:nvPr>
        </p:nvGraphicFramePr>
        <p:xfrm>
          <a:off x="6937788" y="2198638"/>
          <a:ext cx="2962670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2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Chloe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37789" y="1737360"/>
            <a:ext cx="1126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9" name="Rounded Rectangular Callout 67">
            <a:extLst>
              <a:ext uri="{FF2B5EF4-FFF2-40B4-BE49-F238E27FC236}">
                <a16:creationId xmlns:a16="http://schemas.microsoft.com/office/drawing/2014/main" id="{6F37DB31-D77C-4C30-BFD4-3B27954D96C5}"/>
              </a:ext>
            </a:extLst>
          </p:cNvPr>
          <p:cNvSpPr/>
          <p:nvPr/>
        </p:nvSpPr>
        <p:spPr>
          <a:xfrm>
            <a:off x="1744947" y="6069310"/>
            <a:ext cx="1591811" cy="573037"/>
          </a:xfrm>
          <a:prstGeom prst="wedgeRoundRectCallout">
            <a:avLst>
              <a:gd name="adj1" fmla="val 76519"/>
              <a:gd name="adj2" fmla="val -566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See last video</a:t>
            </a:r>
          </a:p>
        </p:txBody>
      </p:sp>
      <p:sp>
        <p:nvSpPr>
          <p:cNvPr id="10" name="Rounded Rectangular Callout 67">
            <a:extLst>
              <a:ext uri="{FF2B5EF4-FFF2-40B4-BE49-F238E27FC236}">
                <a16:creationId xmlns:a16="http://schemas.microsoft.com/office/drawing/2014/main" id="{5A34A7A6-C5AE-4937-9DBC-B2D31EB236C5}"/>
              </a:ext>
            </a:extLst>
          </p:cNvPr>
          <p:cNvSpPr/>
          <p:nvPr/>
        </p:nvSpPr>
        <p:spPr>
          <a:xfrm>
            <a:off x="5667634" y="5782791"/>
            <a:ext cx="1591811" cy="573037"/>
          </a:xfrm>
          <a:prstGeom prst="wedgeRoundRectCallout">
            <a:avLst>
              <a:gd name="adj1" fmla="val -72634"/>
              <a:gd name="adj2" fmla="val -3704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This video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49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Given </a:t>
            </a:r>
            <a:r>
              <a:rPr lang="en-GB" sz="2400" dirty="0"/>
              <a:t>the values for one or more attributes of a relation </a:t>
            </a:r>
            <a:r>
              <a:rPr lang="en-GB" sz="2400" b="1" dirty="0"/>
              <a:t>R</a:t>
            </a:r>
            <a:r>
              <a:rPr lang="en-GB" sz="2400" dirty="0"/>
              <a:t>, provides quick access to the tuples with these values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>
              <a:spcBef>
                <a:spcPts val="3672"/>
              </a:spcBef>
            </a:pPr>
            <a:endParaRPr lang="en-GB" sz="2400" dirty="0"/>
          </a:p>
          <a:p>
            <a:pPr>
              <a:spcBef>
                <a:spcPts val="3672"/>
              </a:spcBef>
            </a:pPr>
            <a:r>
              <a:rPr lang="en-GB" sz="2400" dirty="0"/>
              <a:t>Types:</a:t>
            </a:r>
          </a:p>
          <a:p>
            <a:pPr lvl="1"/>
            <a:r>
              <a:rPr lang="en-GB" sz="2000" dirty="0"/>
              <a:t>Secondary: merely points to location of records on disk</a:t>
            </a:r>
          </a:p>
          <a:p>
            <a:pPr lvl="1"/>
            <a:r>
              <a:rPr lang="en-GB" sz="2000" dirty="0"/>
              <a:t>Primary: in addition, defines how data is sorted on disk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032104" y="2633320"/>
          <a:ext cx="2962670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2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Chloe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7032105" y="2204864"/>
            <a:ext cx="1126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2738690" y="2939360"/>
          <a:ext cx="2952328" cy="18542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1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  <a:r>
                        <a:rPr lang="en-US" sz="1600" baseline="0" dirty="0"/>
                        <a:t> to rows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1234, 3456, 4567, </a:t>
                      </a: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2345, </a:t>
                      </a: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666683" y="2512159"/>
            <a:ext cx="3025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on attribute </a:t>
            </a:r>
            <a:r>
              <a:rPr lang="en-US" b="1" dirty="0" err="1">
                <a:solidFill>
                  <a:schemeClr val="accent3"/>
                </a:solidFill>
              </a:rPr>
              <a:t>programme</a:t>
            </a:r>
            <a:endParaRPr lang="en-US" b="1" dirty="0">
              <a:solidFill>
                <a:schemeClr val="accent3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5754245" y="3564577"/>
            <a:ext cx="1224136" cy="235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754245" y="3916489"/>
            <a:ext cx="1224136" cy="368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754245" y="4001473"/>
            <a:ext cx="1224136" cy="643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754245" y="3919199"/>
            <a:ext cx="1224136" cy="365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 rot="2460928">
            <a:off x="2736794" y="6076906"/>
            <a:ext cx="368402" cy="351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 rot="2819338">
            <a:off x="2637559" y="3580651"/>
            <a:ext cx="368402" cy="351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ular Callout 67"/>
          <p:cNvSpPr/>
          <p:nvPr/>
        </p:nvSpPr>
        <p:spPr>
          <a:xfrm>
            <a:off x="3971212" y="5746915"/>
            <a:ext cx="2304256" cy="573037"/>
          </a:xfrm>
          <a:prstGeom prst="wedgeRoundRectCallout">
            <a:avLst>
              <a:gd name="adj1" fmla="val -69422"/>
              <a:gd name="adj2" fmla="val -7063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Good when attributes involve primary key</a:t>
            </a:r>
            <a:endParaRPr lang="en-US" dirty="0"/>
          </a:p>
        </p:txBody>
      </p:sp>
      <p:sp>
        <p:nvSpPr>
          <p:cNvPr id="69" name="Rounded Rectangular Callout 68"/>
          <p:cNvSpPr/>
          <p:nvPr/>
        </p:nvSpPr>
        <p:spPr>
          <a:xfrm>
            <a:off x="7233102" y="5329994"/>
            <a:ext cx="1501824" cy="382316"/>
          </a:xfrm>
          <a:prstGeom prst="wedgeRoundRectCallout">
            <a:avLst>
              <a:gd name="adj1" fmla="val -74464"/>
              <a:gd name="adj2" fmla="val -699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Always dense</a:t>
            </a:r>
            <a:endParaRPr lang="en-US" dirty="0"/>
          </a:p>
        </p:txBody>
      </p:sp>
      <p:grpSp>
        <p:nvGrpSpPr>
          <p:cNvPr id="72" name="Group 71"/>
          <p:cNvGrpSpPr/>
          <p:nvPr/>
        </p:nvGrpSpPr>
        <p:grpSpPr>
          <a:xfrm>
            <a:off x="1866008" y="2881492"/>
            <a:ext cx="1565696" cy="1987669"/>
            <a:chOff x="342008" y="2881491"/>
            <a:chExt cx="1565696" cy="1987669"/>
          </a:xfrm>
        </p:grpSpPr>
        <p:sp>
          <p:nvSpPr>
            <p:cNvPr id="70" name="Rectangle 69"/>
            <p:cNvSpPr/>
            <p:nvPr/>
          </p:nvSpPr>
          <p:spPr>
            <a:xfrm>
              <a:off x="1142681" y="2881491"/>
              <a:ext cx="765023" cy="1987669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42008" y="3639517"/>
              <a:ext cx="788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sorted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601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8" grpId="0" animBg="1"/>
      <p:bldP spid="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Revisited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1981200" y="5248479"/>
            <a:ext cx="8229600" cy="1199772"/>
          </a:xfrm>
        </p:spPr>
        <p:txBody>
          <a:bodyPr>
            <a:normAutofit/>
          </a:bodyPr>
          <a:lstStyle/>
          <a:p>
            <a:r>
              <a:rPr lang="en-US" sz="2400" dirty="0"/>
              <a:t>Selection with index:</a:t>
            </a:r>
          </a:p>
          <a:p>
            <a:pPr lvl="1"/>
            <a:r>
              <a:rPr lang="en-US" sz="2000" dirty="0"/>
              <a:t>Find entry for ‘</a:t>
            </a:r>
            <a:r>
              <a:rPr lang="en-US" sz="2000" b="1" dirty="0">
                <a:solidFill>
                  <a:schemeClr val="accent3"/>
                </a:solidFill>
              </a:rPr>
              <a:t>G401</a:t>
            </a:r>
            <a:r>
              <a:rPr lang="en-US" sz="2000" dirty="0"/>
              <a:t>’ in index</a:t>
            </a:r>
          </a:p>
          <a:p>
            <a:pPr lvl="1"/>
            <a:r>
              <a:rPr lang="en-US" sz="2000" dirty="0"/>
              <a:t>Visit all rows in </a:t>
            </a:r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whose ids occur in the index entry for ‘</a:t>
            </a:r>
            <a:r>
              <a:rPr lang="en-US" sz="2000" b="1" dirty="0">
                <a:solidFill>
                  <a:schemeClr val="accent3"/>
                </a:solidFill>
              </a:rPr>
              <a:t>G401</a:t>
            </a:r>
            <a:r>
              <a:rPr lang="en-US" sz="2000" dirty="0"/>
              <a:t>’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179150" y="1741807"/>
                <a:ext cx="43999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1" i="1"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sz="3200" b="1" baseline="-25000" dirty="0">
                    <a:solidFill>
                      <a:schemeClr val="accent3"/>
                    </a:solidFill>
                  </a:rPr>
                  <a:t>programme=‘G401’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chemeClr val="accent1"/>
                    </a:solidFill>
                  </a:rPr>
                  <a:t>Students</a:t>
                </a:r>
                <a:r>
                  <a:rPr lang="en-US" sz="3200" b="1" dirty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150" y="1741807"/>
                <a:ext cx="4399987" cy="584775"/>
              </a:xfrm>
              <a:prstGeom prst="rect">
                <a:avLst/>
              </a:prstGeom>
              <a:blipFill>
                <a:blip r:embed="rId5"/>
                <a:stretch>
                  <a:fillRect t="-12500" r="-2216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4412" y="2417296"/>
          <a:ext cx="2962670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2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Chloe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4413" y="1988840"/>
            <a:ext cx="1126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48467" y="2916505"/>
          <a:ext cx="2952328" cy="18542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1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  <a:r>
                        <a:rPr lang="en-US" sz="1600" baseline="0" dirty="0"/>
                        <a:t> to rows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1234, 3456, 4567, </a:t>
                      </a: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76460" y="2489304"/>
            <a:ext cx="3025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on attribute </a:t>
            </a:r>
            <a:r>
              <a:rPr lang="en-US" b="1" dirty="0" err="1">
                <a:solidFill>
                  <a:schemeClr val="accent3"/>
                </a:solidFill>
              </a:rPr>
              <a:t>programme</a:t>
            </a:r>
            <a:endParaRPr lang="en-US" b="1" dirty="0">
              <a:solidFill>
                <a:schemeClr val="accent3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576553" y="3348553"/>
            <a:ext cx="1224136" cy="43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576553" y="3841769"/>
            <a:ext cx="1224136" cy="226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576553" y="3924617"/>
            <a:ext cx="1224136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576553" y="3703174"/>
            <a:ext cx="1224136" cy="514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ounded Rectangular Callout 23"/>
          <p:cNvSpPr/>
          <p:nvPr/>
        </p:nvSpPr>
        <p:spPr>
          <a:xfrm>
            <a:off x="6188622" y="5326102"/>
            <a:ext cx="1635571" cy="420818"/>
          </a:xfrm>
          <a:prstGeom prst="wedgeRoundRectCallout">
            <a:avLst>
              <a:gd name="adj1" fmla="val -46082"/>
              <a:gd name="adj2" fmla="val 9125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Running time?</a:t>
            </a:r>
            <a:endParaRPr lang="en-US" dirty="0"/>
          </a:p>
        </p:txBody>
      </p:sp>
      <p:sp>
        <p:nvSpPr>
          <p:cNvPr id="17" name="Rounded Rectangular Callout 23">
            <a:extLst>
              <a:ext uri="{FF2B5EF4-FFF2-40B4-BE49-F238E27FC236}">
                <a16:creationId xmlns:a16="http://schemas.microsoft.com/office/drawing/2014/main" id="{AF944A29-61DC-4FAB-88B8-147F0F19CF62}"/>
              </a:ext>
            </a:extLst>
          </p:cNvPr>
          <p:cNvSpPr/>
          <p:nvPr/>
        </p:nvSpPr>
        <p:spPr>
          <a:xfrm>
            <a:off x="5707357" y="5326102"/>
            <a:ext cx="4022179" cy="420818"/>
          </a:xfrm>
          <a:prstGeom prst="wedgeRoundRectCallout">
            <a:avLst>
              <a:gd name="adj1" fmla="val -40698"/>
              <a:gd name="adj2" fmla="val 1217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Running time? O(log </a:t>
            </a:r>
            <a:r>
              <a:rPr lang="en-GB" dirty="0" err="1"/>
              <a:t>k+size</a:t>
            </a:r>
            <a:r>
              <a:rPr lang="en-GB" dirty="0"/>
              <a:t> of output)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127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6" grpId="0"/>
      <p:bldP spid="24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1" name="Content Placeholder 40"/>
          <p:cNvSpPr>
            <a:spLocks noGrp="1"/>
          </p:cNvSpPr>
          <p:nvPr>
            <p:ph idx="1"/>
          </p:nvPr>
        </p:nvSpPr>
        <p:spPr>
          <a:xfrm>
            <a:off x="1981200" y="5238721"/>
            <a:ext cx="8229600" cy="1209531"/>
          </a:xfrm>
        </p:spPr>
        <p:txBody>
          <a:bodyPr>
            <a:normAutofit/>
          </a:bodyPr>
          <a:lstStyle/>
          <a:p>
            <a:r>
              <a:rPr lang="en-US" sz="2400" dirty="0"/>
              <a:t>Selection with two indexes:</a:t>
            </a:r>
          </a:p>
          <a:p>
            <a:pPr lvl="1"/>
            <a:r>
              <a:rPr lang="en-US" sz="2000" dirty="0"/>
              <a:t>Find entries for ‘</a:t>
            </a:r>
            <a:r>
              <a:rPr lang="en-US" sz="2000" b="1" dirty="0">
                <a:solidFill>
                  <a:schemeClr val="accent3"/>
                </a:solidFill>
              </a:rPr>
              <a:t>G401</a:t>
            </a:r>
            <a:r>
              <a:rPr lang="en-US" sz="2000" dirty="0"/>
              <a:t>’ &amp; </a:t>
            </a:r>
            <a:r>
              <a:rPr lang="en-US" sz="2000" b="1" dirty="0">
                <a:solidFill>
                  <a:schemeClr val="accent3"/>
                </a:solidFill>
              </a:rPr>
              <a:t>2</a:t>
            </a:r>
            <a:r>
              <a:rPr lang="en-US" sz="2000" dirty="0"/>
              <a:t> in indexes for </a:t>
            </a:r>
            <a:r>
              <a:rPr lang="en-US" sz="2000" b="1" dirty="0" err="1">
                <a:solidFill>
                  <a:schemeClr val="accent3"/>
                </a:solidFill>
              </a:rPr>
              <a:t>programme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/>
              <a:t>&amp; </a:t>
            </a:r>
            <a:r>
              <a:rPr lang="en-US" sz="2000" b="1" dirty="0">
                <a:solidFill>
                  <a:schemeClr val="accent3"/>
                </a:solidFill>
              </a:rPr>
              <a:t>year</a:t>
            </a:r>
          </a:p>
          <a:p>
            <a:pPr lvl="1"/>
            <a:r>
              <a:rPr lang="en-US" sz="2000" dirty="0"/>
              <a:t>Visit all rows in </a:t>
            </a:r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whose ids occur in both index entries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27428" y="1631880"/>
                <a:ext cx="581563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1" i="1"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sz="3200" b="1" baseline="-25000" dirty="0" err="1">
                    <a:solidFill>
                      <a:schemeClr val="accent3"/>
                    </a:solidFill>
                  </a:rPr>
                  <a:t>programme</a:t>
                </a:r>
                <a:r>
                  <a:rPr lang="en-US" sz="3200" b="1" baseline="-25000" dirty="0">
                    <a:solidFill>
                      <a:schemeClr val="accent3"/>
                    </a:solidFill>
                  </a:rPr>
                  <a:t>=‘G401’ </a:t>
                </a:r>
                <a:r>
                  <a:rPr lang="en-US" sz="3200" b="1" baseline="-25000" dirty="0"/>
                  <a:t>AND</a:t>
                </a:r>
                <a:r>
                  <a:rPr lang="en-US" sz="3200" b="1" baseline="-25000" dirty="0">
                    <a:solidFill>
                      <a:schemeClr val="accent3"/>
                    </a:solidFill>
                  </a:rPr>
                  <a:t> year=2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chemeClr val="accent1"/>
                    </a:solidFill>
                  </a:rPr>
                  <a:t>Students</a:t>
                </a:r>
                <a:r>
                  <a:rPr lang="en-US" sz="3200" b="1" dirty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428" y="1631880"/>
                <a:ext cx="5815631" cy="584775"/>
              </a:xfrm>
              <a:prstGeom prst="rect">
                <a:avLst/>
              </a:prstGeom>
              <a:blipFill>
                <a:blip r:embed="rId5"/>
                <a:stretch>
                  <a:fillRect t="-12500" r="-1782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815671"/>
              </p:ext>
            </p:extLst>
          </p:nvPr>
        </p:nvGraphicFramePr>
        <p:xfrm>
          <a:off x="5077631" y="2640565"/>
          <a:ext cx="3202028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59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Chloe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77632" y="2212109"/>
            <a:ext cx="1126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24743"/>
              </p:ext>
            </p:extLst>
          </p:nvPr>
        </p:nvGraphicFramePr>
        <p:xfrm>
          <a:off x="2024584" y="3040731"/>
          <a:ext cx="2437928" cy="2062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6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  <a:r>
                        <a:rPr lang="en-US" sz="1600" baseline="0" dirty="0"/>
                        <a:t> to rows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1234, 3456, 4567, </a:t>
                      </a: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81200" y="2635718"/>
            <a:ext cx="216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</a:t>
            </a:r>
            <a:r>
              <a:rPr lang="en-US"/>
              <a:t>on </a:t>
            </a:r>
            <a:r>
              <a:rPr lang="en-US" b="1" dirty="0" err="1">
                <a:solidFill>
                  <a:schemeClr val="accent3"/>
                </a:solidFill>
              </a:rPr>
              <a:t>programme</a:t>
            </a:r>
            <a:endParaRPr lang="en-US" b="1" dirty="0">
              <a:solidFill>
                <a:schemeClr val="accent3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535244" y="3571823"/>
            <a:ext cx="488665" cy="354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535244" y="4012310"/>
            <a:ext cx="488665" cy="279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35244" y="4084318"/>
            <a:ext cx="488665" cy="567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535244" y="3926444"/>
            <a:ext cx="488665" cy="5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08312"/>
              </p:ext>
            </p:extLst>
          </p:nvPr>
        </p:nvGraphicFramePr>
        <p:xfrm>
          <a:off x="8865344" y="2727525"/>
          <a:ext cx="1568660" cy="24333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5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4567,</a:t>
                      </a:r>
                      <a:r>
                        <a:rPr lang="en-US" sz="1600" baseline="0" dirty="0"/>
                        <a:t> </a:t>
                      </a:r>
                      <a:r>
                        <a:rPr lang="mr-IN" sz="1600" baseline="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1234, 2345, </a:t>
                      </a: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3456,</a:t>
                      </a:r>
                      <a:r>
                        <a:rPr lang="en-GB" sz="1600" baseline="0" dirty="0"/>
                        <a:t> </a:t>
                      </a:r>
                      <a:r>
                        <a:rPr lang="mr-IN" sz="1600" baseline="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821961" y="2322512"/>
            <a:ext cx="14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on </a:t>
            </a:r>
            <a:r>
              <a:rPr lang="en-US" b="1" dirty="0">
                <a:solidFill>
                  <a:schemeClr val="accent3"/>
                </a:solidFill>
              </a:rPr>
              <a:t>year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8333382" y="3571825"/>
            <a:ext cx="488578" cy="512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8333382" y="3938505"/>
            <a:ext cx="488578" cy="21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8333384" y="4291904"/>
            <a:ext cx="488577" cy="23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8333384" y="3664708"/>
            <a:ext cx="488577" cy="1016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75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41" name="Content Placeholder 40"/>
          <p:cNvSpPr>
            <a:spLocks noGrp="1"/>
          </p:cNvSpPr>
          <p:nvPr>
            <p:ph idx="1"/>
          </p:nvPr>
        </p:nvSpPr>
        <p:spPr>
          <a:xfrm>
            <a:off x="1981200" y="5238721"/>
            <a:ext cx="8229600" cy="1209531"/>
          </a:xfrm>
        </p:spPr>
        <p:txBody>
          <a:bodyPr>
            <a:normAutofit/>
          </a:bodyPr>
          <a:lstStyle/>
          <a:p>
            <a:r>
              <a:rPr lang="en-US" sz="2400" dirty="0"/>
              <a:t>Selection with two indexes:</a:t>
            </a:r>
          </a:p>
          <a:p>
            <a:pPr lvl="1"/>
            <a:r>
              <a:rPr lang="en-US" sz="2000" dirty="0"/>
              <a:t>Find entries for ‘</a:t>
            </a:r>
            <a:r>
              <a:rPr lang="en-US" sz="2000" b="1" dirty="0">
                <a:solidFill>
                  <a:schemeClr val="accent3"/>
                </a:solidFill>
              </a:rPr>
              <a:t>G401</a:t>
            </a:r>
            <a:r>
              <a:rPr lang="en-US" sz="2000" dirty="0"/>
              <a:t>’, </a:t>
            </a:r>
            <a:r>
              <a:rPr lang="en-US" sz="2000" b="1" dirty="0">
                <a:solidFill>
                  <a:schemeClr val="accent3"/>
                </a:solidFill>
              </a:rPr>
              <a:t>2</a:t>
            </a:r>
            <a:r>
              <a:rPr lang="en-US" sz="2000" dirty="0"/>
              <a:t> in index for </a:t>
            </a:r>
            <a:r>
              <a:rPr lang="en-US" sz="2000" b="1" dirty="0" err="1">
                <a:solidFill>
                  <a:schemeClr val="accent3"/>
                </a:solidFill>
              </a:rPr>
              <a:t>programme</a:t>
            </a:r>
            <a:r>
              <a:rPr lang="en-US" sz="2000" b="1" dirty="0">
                <a:solidFill>
                  <a:schemeClr val="accent3"/>
                </a:solidFill>
              </a:rPr>
              <a:t>,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3"/>
                </a:solidFill>
              </a:rPr>
              <a:t>year</a:t>
            </a:r>
          </a:p>
          <a:p>
            <a:pPr lvl="1"/>
            <a:r>
              <a:rPr lang="en-US" sz="2000" dirty="0"/>
              <a:t>Visit all rows in </a:t>
            </a:r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whose ids occur in that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27428" y="1631880"/>
                <a:ext cx="581563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1" i="1"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sz="3200" b="1" baseline="-25000" dirty="0" err="1">
                    <a:solidFill>
                      <a:schemeClr val="accent3"/>
                    </a:solidFill>
                  </a:rPr>
                  <a:t>programme</a:t>
                </a:r>
                <a:r>
                  <a:rPr lang="en-US" sz="3200" b="1" baseline="-25000" dirty="0">
                    <a:solidFill>
                      <a:schemeClr val="accent3"/>
                    </a:solidFill>
                  </a:rPr>
                  <a:t>=‘G401’ </a:t>
                </a:r>
                <a:r>
                  <a:rPr lang="en-US" sz="3200" b="1" baseline="-25000" dirty="0"/>
                  <a:t>AND</a:t>
                </a:r>
                <a:r>
                  <a:rPr lang="en-US" sz="3200" b="1" baseline="-25000" dirty="0">
                    <a:solidFill>
                      <a:schemeClr val="accent3"/>
                    </a:solidFill>
                  </a:rPr>
                  <a:t> year=2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chemeClr val="accent1"/>
                    </a:solidFill>
                  </a:rPr>
                  <a:t>Students</a:t>
                </a:r>
                <a:r>
                  <a:rPr lang="en-US" sz="3200" b="1" dirty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428" y="1631880"/>
                <a:ext cx="5815631" cy="584775"/>
              </a:xfrm>
              <a:prstGeom prst="rect">
                <a:avLst/>
              </a:prstGeom>
              <a:blipFill>
                <a:blip r:embed="rId5"/>
                <a:stretch>
                  <a:fillRect t="-12500" r="-1782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7631" y="2640565"/>
          <a:ext cx="3202028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59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Chloe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77632" y="2212109"/>
            <a:ext cx="1126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321151"/>
              </p:ext>
            </p:extLst>
          </p:nvPr>
        </p:nvGraphicFramePr>
        <p:xfrm>
          <a:off x="1248170" y="2592206"/>
          <a:ext cx="3240504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65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853">
                  <a:extLst>
                    <a:ext uri="{9D8B030D-6E8A-4147-A177-3AD203B41FA5}">
                      <a16:colId xmlns:a16="http://schemas.microsoft.com/office/drawing/2014/main" val="3430903169"/>
                    </a:ext>
                  </a:extLst>
                </a:gridCol>
                <a:gridCol w="18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  <a:r>
                        <a:rPr lang="en-US" sz="1600" baseline="0" dirty="0"/>
                        <a:t> to rows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6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0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60571" y="2233427"/>
            <a:ext cx="26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on </a:t>
            </a:r>
            <a:r>
              <a:rPr lang="en-US" b="1" dirty="0" err="1">
                <a:solidFill>
                  <a:schemeClr val="accent3"/>
                </a:solidFill>
              </a:rPr>
              <a:t>programme</a:t>
            </a:r>
            <a:r>
              <a:rPr lang="en-US" b="1" dirty="0">
                <a:solidFill>
                  <a:schemeClr val="accent3"/>
                </a:solidFill>
              </a:rPr>
              <a:t>, year</a:t>
            </a:r>
          </a:p>
        </p:txBody>
      </p:sp>
      <p:cxnSp>
        <p:nvCxnSpPr>
          <p:cNvPr id="11" name="Straight Arrow Connector 10"/>
          <p:cNvCxnSpPr>
            <a:cxnSpLocks/>
            <a:stCxn id="9" idx="3"/>
          </p:cNvCxnSpPr>
          <p:nvPr/>
        </p:nvCxnSpPr>
        <p:spPr>
          <a:xfrm flipV="1">
            <a:off x="4488674" y="3571824"/>
            <a:ext cx="535235" cy="318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4488674" y="4284237"/>
            <a:ext cx="535235" cy="7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4511959" y="3560291"/>
            <a:ext cx="511950" cy="1091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V="1">
            <a:off x="4532057" y="3926444"/>
            <a:ext cx="491852" cy="639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2367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Indexes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2400" b="1" dirty="0">
                    <a:solidFill>
                      <a:schemeClr val="accent2"/>
                    </a:solidFill>
                  </a:rPr>
                  <a:t>B+ Trees</a:t>
                </a:r>
              </a:p>
              <a:p>
                <a:pPr lvl="1"/>
                <a:r>
                  <a:rPr lang="en-US" sz="2000" dirty="0"/>
                  <a:t>Good if selection condition </a:t>
                </a:r>
                <a:br>
                  <a:rPr lang="en-US" sz="2000" dirty="0"/>
                </a:br>
                <a:r>
                  <a:rPr lang="en-US" sz="2000" dirty="0"/>
                  <a:t>specifies a range</a:t>
                </a:r>
              </a:p>
              <a:p>
                <a:pPr lvl="1"/>
                <a:r>
                  <a:rPr lang="en-US" sz="2000" dirty="0"/>
                  <a:t>E.g.,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2000" baseline="-25000" dirty="0" err="1"/>
                  <a:t>programme</a:t>
                </a:r>
                <a:r>
                  <a:rPr lang="en-US" sz="2000" baseline="-25000" dirty="0"/>
                  <a:t>=‘G401’ AND year &gt; 1</a:t>
                </a:r>
                <a:endParaRPr lang="en-US" sz="2000" dirty="0"/>
              </a:p>
              <a:p>
                <a:pPr lvl="1"/>
                <a:r>
                  <a:rPr lang="en-US" sz="2000" dirty="0"/>
                  <a:t>Most widely used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b="1" dirty="0">
                    <a:solidFill>
                      <a:schemeClr val="accent1"/>
                    </a:solidFill>
                  </a:rPr>
                  <a:t>Hash tables</a:t>
                </a:r>
              </a:p>
              <a:p>
                <a:pPr lvl="1"/>
                <a:r>
                  <a:rPr lang="en-US" sz="2000" dirty="0"/>
                  <a:t>Good if selection involves</a:t>
                </a:r>
                <a:br>
                  <a:rPr lang="en-US" sz="2000" dirty="0"/>
                </a:br>
                <a:r>
                  <a:rPr lang="en-US" sz="2000" dirty="0"/>
                  <a:t>equality only</a:t>
                </a:r>
              </a:p>
              <a:p>
                <a:pPr lvl="1"/>
                <a:r>
                  <a:rPr lang="en-US" sz="2000" dirty="0"/>
                  <a:t>E.g.,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2000" baseline="-25000" dirty="0" err="1"/>
                  <a:t>programme</a:t>
                </a:r>
                <a:r>
                  <a:rPr lang="en-US" sz="2000" baseline="-25000" dirty="0"/>
                  <a:t>=‘G401’</a:t>
                </a:r>
                <a:endParaRPr lang="en-US" sz="1600" dirty="0"/>
              </a:p>
              <a:p>
                <a:pPr lvl="1"/>
                <a:endParaRPr lang="en-US" sz="2000" baseline="-25000" dirty="0"/>
              </a:p>
              <a:p>
                <a:r>
                  <a:rPr lang="en-US" sz="2400" dirty="0"/>
                  <a:t>Many more</a:t>
                </a:r>
                <a:r>
                  <a:rPr lang="en-GB" sz="2400" dirty="0"/>
                  <a:t>...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788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281192" y="2318967"/>
            <a:ext cx="4104456" cy="1008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CREATE INDEX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ON Students USING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btree</a:t>
            </a:r>
            <a:r>
              <a:rPr lang="en-US" b="1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programme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, year);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192" y="3717032"/>
            <a:ext cx="4104456" cy="1008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CREATE INDEX 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ON Students USING </a:t>
            </a:r>
            <a:r>
              <a:rPr lang="en-US" b="1" dirty="0">
                <a:solidFill>
                  <a:schemeClr val="accent1"/>
                </a:solidFill>
                <a:latin typeface="Courier New" charset="0"/>
                <a:ea typeface="Courier New" charset="0"/>
                <a:cs typeface="Courier New" charset="0"/>
              </a:rPr>
              <a:t>hash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programme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);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9137773" y="2108558"/>
            <a:ext cx="948482" cy="420818"/>
          </a:xfrm>
          <a:prstGeom prst="wedgeRoundRectCallout">
            <a:avLst>
              <a:gd name="adj1" fmla="val -21734"/>
              <a:gd name="adj2" fmla="val 847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default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281192" y="4869160"/>
            <a:ext cx="4104456" cy="1008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CREATE INDEX 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ON Students USING </a:t>
            </a:r>
            <a:r>
              <a:rPr lang="en-US" b="1" dirty="0">
                <a:solidFill>
                  <a:schemeClr val="accent1"/>
                </a:solidFill>
                <a:latin typeface="Courier New" charset="0"/>
                <a:ea typeface="Courier New" charset="0"/>
                <a:cs typeface="Courier New" charset="0"/>
              </a:rPr>
              <a:t>hash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(lower(name));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07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17FF-B170-4E00-8220-616FD2A8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C7B2-0928-497C-AF7E-D30C6EB4E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variety of different indices</a:t>
            </a:r>
          </a:p>
          <a:p>
            <a:r>
              <a:rPr lang="en-US" dirty="0"/>
              <a:t>In particular:</a:t>
            </a:r>
          </a:p>
          <a:p>
            <a:pPr lvl="1"/>
            <a:r>
              <a:rPr lang="en-US" dirty="0"/>
              <a:t>Hash-index: good for equality</a:t>
            </a:r>
          </a:p>
          <a:p>
            <a:pPr lvl="1"/>
            <a:r>
              <a:rPr lang="en-US" dirty="0"/>
              <a:t>B+-Tree: good for ranges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DB225-C045-4E26-A6F6-3BB22702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570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6.2|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9.8|6.3|5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|11.7|19.6|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2.8|17.8|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|2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4|12.1|24.8|6.9|25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332</TotalTime>
  <Words>663</Words>
  <Application>Microsoft Office PowerPoint</Application>
  <PresentationFormat>Widescreen</PresentationFormat>
  <Paragraphs>277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Cambria Math</vt:lpstr>
      <vt:lpstr>Courier New</vt:lpstr>
      <vt:lpstr>Retrospect</vt:lpstr>
      <vt:lpstr>Index</vt:lpstr>
      <vt:lpstr>Overview over this video</vt:lpstr>
      <vt:lpstr>Reminder: Computing σcondition(R)</vt:lpstr>
      <vt:lpstr>Example</vt:lpstr>
      <vt:lpstr>Index</vt:lpstr>
      <vt:lpstr>Example Revisited</vt:lpstr>
      <vt:lpstr>Example 2</vt:lpstr>
      <vt:lpstr>Example 3</vt:lpstr>
      <vt:lpstr>Forms of Indexes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</dc:title>
  <dc:creator>Rasmus Ibsen-Jensen</dc:creator>
  <cp:lastModifiedBy>Rasmus Ibsen-Jensen</cp:lastModifiedBy>
  <cp:revision>11</cp:revision>
  <dcterms:created xsi:type="dcterms:W3CDTF">2020-11-14T16:11:51Z</dcterms:created>
  <dcterms:modified xsi:type="dcterms:W3CDTF">2020-11-17T12:08:54Z</dcterms:modified>
</cp:coreProperties>
</file>