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425" r:id="rId3"/>
    <p:sldId id="372" r:id="rId4"/>
    <p:sldId id="424" r:id="rId5"/>
    <p:sldId id="376" r:id="rId6"/>
    <p:sldId id="378" r:id="rId7"/>
    <p:sldId id="430" r:id="rId8"/>
    <p:sldId id="432" r:id="rId9"/>
    <p:sldId id="416" r:id="rId10"/>
    <p:sldId id="436" r:id="rId11"/>
    <p:sldId id="42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DE6CD-26F8-4387-AE9D-758E233E7A76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2BCA3-F4D9-470E-8A2D-A1A15159BF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15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309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20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508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41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2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2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47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12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42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39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65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870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F66008C-FC78-4271-873A-390B60A3313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0BCE97-7BAE-4E8B-9F89-4EAE1C8FCC71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06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30.png"/><Relationship Id="rId5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7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00.png"/><Relationship Id="rId5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NULL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41E92-5236-4CCD-9073-6B3919D34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query processing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89ACD-63AB-41E2-939E-B9116C416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39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79205-ED7A-4F4E-8061-0C4D36B6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4E31E-832C-480E-98F0-620D547AB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video is meant to serve as an introduction to query processing AND also how and what a query plan is (basically, a way to look at relational algebra)</a:t>
            </a:r>
            <a:endParaRPr lang="en-GB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5D469C7-967C-4135-B9EF-9217CCDDE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793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Where we are</a:t>
            </a:r>
            <a:r>
              <a:rPr lang="mr-IN" dirty="0"/>
              <a:t>…</a:t>
            </a:r>
            <a:endParaRPr lang="en-US" sz="27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2794877" y="4577621"/>
            <a:ext cx="1872208" cy="6671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Index/file/record 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9128" y="5519731"/>
            <a:ext cx="1872208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Buffer manager &amp; storage manager</a:t>
            </a:r>
          </a:p>
        </p:txBody>
      </p:sp>
      <p:sp>
        <p:nvSpPr>
          <p:cNvPr id="13" name="Can 12"/>
          <p:cNvSpPr/>
          <p:nvPr/>
        </p:nvSpPr>
        <p:spPr>
          <a:xfrm>
            <a:off x="5629760" y="5418959"/>
            <a:ext cx="1512168" cy="78379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cxnSp>
        <p:nvCxnSpPr>
          <p:cNvPr id="15" name="Straight Arrow Connector 14"/>
          <p:cNvCxnSpPr>
            <a:stCxn id="8" idx="2"/>
            <a:endCxn id="12" idx="0"/>
          </p:cNvCxnSpPr>
          <p:nvPr/>
        </p:nvCxnSpPr>
        <p:spPr>
          <a:xfrm flipH="1">
            <a:off x="3715232" y="5244796"/>
            <a:ext cx="15749" cy="27493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  <a:stCxn id="13" idx="2"/>
          </p:cNvCxnSpPr>
          <p:nvPr/>
        </p:nvCxnSpPr>
        <p:spPr>
          <a:xfrm flipH="1">
            <a:off x="4651336" y="5810856"/>
            <a:ext cx="978424" cy="4425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n 41"/>
          <p:cNvSpPr/>
          <p:nvPr/>
        </p:nvSpPr>
        <p:spPr>
          <a:xfrm>
            <a:off x="5940902" y="4416653"/>
            <a:ext cx="877252" cy="66838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Buffers</a:t>
            </a:r>
            <a:endParaRPr lang="en-US" dirty="0"/>
          </a:p>
        </p:txBody>
      </p:sp>
      <p:cxnSp>
        <p:nvCxnSpPr>
          <p:cNvPr id="43" name="Straight Arrow Connector 42"/>
          <p:cNvCxnSpPr>
            <a:endCxn id="42" idx="2"/>
          </p:cNvCxnSpPr>
          <p:nvPr/>
        </p:nvCxnSpPr>
        <p:spPr>
          <a:xfrm flipV="1">
            <a:off x="4651336" y="4750845"/>
            <a:ext cx="1289566" cy="935261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cxnSpLocks/>
            <a:stCxn id="7" idx="3"/>
          </p:cNvCxnSpPr>
          <p:nvPr/>
        </p:nvCxnSpPr>
        <p:spPr>
          <a:xfrm>
            <a:off x="4659867" y="4003716"/>
            <a:ext cx="1289566" cy="1058432"/>
          </a:xfrm>
          <a:prstGeom prst="straightConnector1">
            <a:avLst/>
          </a:prstGeom>
          <a:ln w="1905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cxnSpLocks/>
            <a:stCxn id="53" idx="3"/>
            <a:endCxn id="9" idx="0"/>
          </p:cNvCxnSpPr>
          <p:nvPr/>
        </p:nvCxnSpPr>
        <p:spPr>
          <a:xfrm>
            <a:off x="4601540" y="1978657"/>
            <a:ext cx="1777988" cy="298215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cxnSpLocks/>
            <a:stCxn id="7" idx="3"/>
            <a:endCxn id="10" idx="1"/>
          </p:cNvCxnSpPr>
          <p:nvPr/>
        </p:nvCxnSpPr>
        <p:spPr>
          <a:xfrm flipV="1">
            <a:off x="4659867" y="3467513"/>
            <a:ext cx="822217" cy="536203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/>
          <p:cNvCxnSpPr>
            <a:cxnSpLocks/>
            <a:stCxn id="7" idx="2"/>
            <a:endCxn id="11" idx="2"/>
          </p:cNvCxnSpPr>
          <p:nvPr/>
        </p:nvCxnSpPr>
        <p:spPr>
          <a:xfrm rot="5400000" flipH="1" flipV="1">
            <a:off x="6000290" y="1462904"/>
            <a:ext cx="480309" cy="5033364"/>
          </a:xfrm>
          <a:prstGeom prst="curvedConnector3">
            <a:avLst>
              <a:gd name="adj1" fmla="val -47594"/>
            </a:avLst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10" idx="2"/>
            <a:endCxn id="42" idx="1"/>
          </p:cNvCxnSpPr>
          <p:nvPr/>
        </p:nvCxnSpPr>
        <p:spPr>
          <a:xfrm flipH="1">
            <a:off x="6379528" y="3746397"/>
            <a:ext cx="2656" cy="670256"/>
          </a:xfrm>
          <a:prstGeom prst="straightConnector1">
            <a:avLst/>
          </a:prstGeom>
          <a:ln w="1905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>
            <a:off x="4585792" y="2741424"/>
            <a:ext cx="1381019" cy="1753691"/>
          </a:xfrm>
          <a:prstGeom prst="straightConnector1">
            <a:avLst/>
          </a:prstGeom>
          <a:ln w="1905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H="1">
            <a:off x="4651336" y="3745783"/>
            <a:ext cx="1084624" cy="178671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673836" y="3181663"/>
            <a:ext cx="2166581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Concurrency control/ Scheduler</a:t>
            </a:r>
            <a:endParaRPr lang="en-US" dirty="0"/>
          </a:p>
        </p:txBody>
      </p:sp>
      <p:cxnSp>
        <p:nvCxnSpPr>
          <p:cNvPr id="96" name="Straight Arrow Connector 95"/>
          <p:cNvCxnSpPr>
            <a:stCxn id="9" idx="2"/>
            <a:endCxn id="10" idx="0"/>
          </p:cNvCxnSpPr>
          <p:nvPr/>
        </p:nvCxnSpPr>
        <p:spPr>
          <a:xfrm>
            <a:off x="6379528" y="2834641"/>
            <a:ext cx="2656" cy="35398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7305313" y="2834641"/>
            <a:ext cx="365867" cy="347023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2084" y="3188629"/>
            <a:ext cx="1800200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Recovery Manager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79428" y="2276872"/>
            <a:ext cx="1800200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Transaction manager</a:t>
            </a:r>
            <a:endParaRPr lang="en-US" dirty="0"/>
          </a:p>
        </p:txBody>
      </p:sp>
      <p:cxnSp>
        <p:nvCxnSpPr>
          <p:cNvPr id="18" name="Straight Connector 17"/>
          <p:cNvCxnSpPr>
            <a:endCxn id="14" idx="1"/>
          </p:cNvCxnSpPr>
          <p:nvPr/>
        </p:nvCxnSpPr>
        <p:spPr>
          <a:xfrm>
            <a:off x="4572965" y="3527420"/>
            <a:ext cx="504056" cy="46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682351" y="1793991"/>
            <a:ext cx="2122424" cy="44035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787659" y="2757181"/>
            <a:ext cx="1872208" cy="4320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Query Compiler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7659" y="3787692"/>
            <a:ext cx="1872208" cy="4320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Execution Engine</a:t>
            </a:r>
          </a:p>
        </p:txBody>
      </p:sp>
      <p:cxnSp>
        <p:nvCxnSpPr>
          <p:cNvPr id="16" name="Straight Arrow Connector 15"/>
          <p:cNvCxnSpPr>
            <a:cxnSpLocks/>
            <a:stCxn id="7" idx="2"/>
            <a:endCxn id="8" idx="0"/>
          </p:cNvCxnSpPr>
          <p:nvPr/>
        </p:nvCxnSpPr>
        <p:spPr>
          <a:xfrm>
            <a:off x="3723763" y="4219740"/>
            <a:ext cx="7218" cy="357881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6" idx="2"/>
            <a:endCxn id="7" idx="0"/>
          </p:cNvCxnSpPr>
          <p:nvPr/>
        </p:nvCxnSpPr>
        <p:spPr>
          <a:xfrm>
            <a:off x="3723763" y="3189229"/>
            <a:ext cx="0" cy="598463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D16D14D-B3D8-4577-86B8-8F7B86DEA7AA}"/>
              </a:ext>
            </a:extLst>
          </p:cNvPr>
          <p:cNvSpPr/>
          <p:nvPr/>
        </p:nvSpPr>
        <p:spPr>
          <a:xfrm>
            <a:off x="4782150" y="1763150"/>
            <a:ext cx="5616624" cy="448188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" name="Straight Arrow Connector 50"/>
          <p:cNvCxnSpPr>
            <a:cxnSpLocks/>
            <a:stCxn id="53" idx="2"/>
            <a:endCxn id="6" idx="0"/>
          </p:cNvCxnSpPr>
          <p:nvPr/>
        </p:nvCxnSpPr>
        <p:spPr>
          <a:xfrm flipH="1">
            <a:off x="3723763" y="2163323"/>
            <a:ext cx="7218" cy="59385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860422" y="1793991"/>
            <a:ext cx="174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User/application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7021" y="2758445"/>
            <a:ext cx="4826272" cy="15388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Responsible for</a:t>
            </a:r>
          </a:p>
          <a:p>
            <a:pPr marL="342900" indent="-342900">
              <a:spcBef>
                <a:spcPts val="600"/>
              </a:spcBef>
              <a:buFont typeface="Arial" charset="0"/>
              <a:buChar char="•"/>
            </a:pPr>
            <a:r>
              <a:rPr lang="en-US" sz="2000" dirty="0"/>
              <a:t>Transforming SQL queries into sequences of database operations </a:t>
            </a:r>
          </a:p>
          <a:p>
            <a:pPr marL="342900" indent="-342900">
              <a:spcBef>
                <a:spcPts val="600"/>
              </a:spcBef>
              <a:buFont typeface="Arial" charset="0"/>
              <a:buChar char="•"/>
            </a:pPr>
            <a:r>
              <a:rPr lang="en-US" sz="2000" dirty="0"/>
              <a:t>Executing these operations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621655" y="2469150"/>
            <a:ext cx="2186733" cy="1983722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414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14" grpId="0" animBg="1"/>
      <p:bldP spid="1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SQL query:</a:t>
            </a:r>
            <a:r>
              <a:rPr lang="en-US" sz="2400" dirty="0"/>
              <a:t> SQL </a:t>
            </a:r>
            <a:r>
              <a:rPr lang="en-US" sz="2000" dirty="0"/>
              <a:t>SELECT</a:t>
            </a:r>
            <a:r>
              <a:rPr lang="en-US" sz="2400" dirty="0"/>
              <a:t>/</a:t>
            </a:r>
            <a:r>
              <a:rPr lang="en-US" sz="2000" dirty="0"/>
              <a:t>INSERT</a:t>
            </a:r>
            <a:r>
              <a:rPr lang="en-US" sz="2400" dirty="0"/>
              <a:t>/</a:t>
            </a:r>
            <a:r>
              <a:rPr lang="en-US" sz="2000" dirty="0"/>
              <a:t>UPDATE</a:t>
            </a:r>
            <a:r>
              <a:rPr lang="en-US" sz="2400" dirty="0"/>
              <a:t>/</a:t>
            </a:r>
            <a:r>
              <a:rPr lang="en-US" sz="2000" dirty="0"/>
              <a:t>DELETE</a:t>
            </a:r>
            <a:r>
              <a:rPr lang="en-US" sz="2400" dirty="0"/>
              <a:t> statement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Declarative: tells the DBMS </a:t>
            </a:r>
            <a:r>
              <a:rPr lang="en-US" sz="2400" b="1" dirty="0"/>
              <a:t>what we want</a:t>
            </a:r>
            <a:r>
              <a:rPr lang="en-US" sz="2400" dirty="0"/>
              <a:t>, </a:t>
            </a:r>
            <a:r>
              <a:rPr lang="en-US" sz="2400" b="1" i="1" dirty="0"/>
              <a:t>not</a:t>
            </a:r>
            <a:r>
              <a:rPr lang="en-US" sz="2400" dirty="0"/>
              <a:t> </a:t>
            </a:r>
            <a:r>
              <a:rPr lang="en-US" sz="2400" b="1" dirty="0"/>
              <a:t>how to get it</a:t>
            </a:r>
          </a:p>
          <a:p>
            <a:r>
              <a:rPr lang="en-US" sz="2400" b="1" dirty="0"/>
              <a:t>DBMS</a:t>
            </a:r>
            <a:r>
              <a:rPr lang="en-US" sz="2400" dirty="0"/>
              <a:t> </a:t>
            </a:r>
            <a:r>
              <a:rPr lang="en-US" sz="2400" b="1" dirty="0"/>
              <a:t>selects a good sequence of database operations </a:t>
            </a:r>
            <a:br>
              <a:rPr lang="en-US" sz="2400" b="1" dirty="0"/>
            </a:br>
            <a:r>
              <a:rPr lang="en-US" sz="2400" dirty="0"/>
              <a:t>to execute the query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423593" y="2165043"/>
            <a:ext cx="4434407" cy="10081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SELECT id AS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employee_id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FROM Employees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WHERE department = ’Liv’;</a:t>
            </a:r>
          </a:p>
        </p:txBody>
      </p:sp>
      <p:sp>
        <p:nvSpPr>
          <p:cNvPr id="6" name="Rectangle 5"/>
          <p:cNvSpPr/>
          <p:nvPr/>
        </p:nvSpPr>
        <p:spPr>
          <a:xfrm>
            <a:off x="3376732" y="3429000"/>
            <a:ext cx="6795150" cy="12241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SELECT name, sum(amount)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FROM Employees, Salary</a:t>
            </a:r>
            <a:br>
              <a:rPr lang="en-US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WHERE id =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e_id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AND department = ‘Liv’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GROUP BY name;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6535" y="2065464"/>
            <a:ext cx="3748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Employees(name, id, </a:t>
            </a:r>
            <a:r>
              <a:rPr lang="en-US" sz="2000" dirty="0" err="1"/>
              <a:t>departmnet</a:t>
            </a:r>
            <a:r>
              <a:rPr lang="en-US" sz="2000" dirty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5876" y="2451500"/>
            <a:ext cx="31772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Salary(</a:t>
            </a:r>
            <a:r>
              <a:rPr lang="en-US" sz="2000" dirty="0" err="1"/>
              <a:t>e_id</a:t>
            </a:r>
            <a:r>
              <a:rPr lang="en-US" sz="2000" dirty="0"/>
              <a:t>, month, amount)</a:t>
            </a:r>
          </a:p>
        </p:txBody>
      </p:sp>
      <p:sp>
        <p:nvSpPr>
          <p:cNvPr id="9" name="Rounded Rectangular Callout 8"/>
          <p:cNvSpPr/>
          <p:nvPr/>
        </p:nvSpPr>
        <p:spPr>
          <a:xfrm>
            <a:off x="6028603" y="646658"/>
            <a:ext cx="2027197" cy="708712"/>
          </a:xfrm>
          <a:prstGeom prst="wedgeRoundRectCallout">
            <a:avLst>
              <a:gd name="adj1" fmla="val -36361"/>
              <a:gd name="adj2" fmla="val 7169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Here typically SELECT statements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316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/>
      <p:bldP spid="8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/>
          <p:cNvSpPr/>
          <p:nvPr/>
        </p:nvSpPr>
        <p:spPr>
          <a:xfrm>
            <a:off x="5643073" y="1801503"/>
            <a:ext cx="3456384" cy="18859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Query Processing Work?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5890112" y="2324833"/>
            <a:ext cx="2107752" cy="5975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Parse query &amp;</a:t>
            </a:r>
            <a:br>
              <a:rPr lang="en-US" dirty="0"/>
            </a:br>
            <a:r>
              <a:rPr lang="en-US" dirty="0"/>
              <a:t>preprocess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511" y="1692708"/>
            <a:ext cx="1140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0112" y="3675454"/>
            <a:ext cx="2107752" cy="6902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Optimise</a:t>
            </a:r>
            <a:br>
              <a:rPr lang="en-US" dirty="0"/>
            </a:br>
            <a:r>
              <a:rPr lang="en-US" dirty="0"/>
              <a:t>logical query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2241" y="2994422"/>
            <a:ext cx="1963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Logical query plan </a:t>
            </a:r>
            <a:br>
              <a:rPr lang="en-US" dirty="0"/>
            </a:br>
            <a:r>
              <a:rPr lang="en-US" dirty="0"/>
              <a:t>(relational algebra)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0112" y="4733450"/>
            <a:ext cx="2107752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Select</a:t>
            </a:r>
            <a:br>
              <a:rPr lang="en-US" dirty="0"/>
            </a:br>
            <a:r>
              <a:rPr lang="en-US" dirty="0"/>
              <a:t>physical query plan</a:t>
            </a:r>
          </a:p>
        </p:txBody>
      </p:sp>
      <p:cxnSp>
        <p:nvCxnSpPr>
          <p:cNvPr id="17" name="Straight Arrow Connector 16"/>
          <p:cNvCxnSpPr>
            <a:stCxn id="11" idx="2"/>
            <a:endCxn id="10" idx="0"/>
          </p:cNvCxnSpPr>
          <p:nvPr/>
        </p:nvCxnSpPr>
        <p:spPr>
          <a:xfrm>
            <a:off x="6943988" y="2062040"/>
            <a:ext cx="0" cy="262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2"/>
            <a:endCxn id="12" idx="0"/>
          </p:cNvCxnSpPr>
          <p:nvPr/>
        </p:nvCxnSpPr>
        <p:spPr>
          <a:xfrm>
            <a:off x="6943988" y="2922414"/>
            <a:ext cx="0" cy="753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4" idx="0"/>
          </p:cNvCxnSpPr>
          <p:nvPr/>
        </p:nvCxnSpPr>
        <p:spPr>
          <a:xfrm>
            <a:off x="6943988" y="4365727"/>
            <a:ext cx="0" cy="367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5890112" y="5709729"/>
            <a:ext cx="2107752" cy="4888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Query Execution</a:t>
            </a:r>
          </a:p>
        </p:txBody>
      </p:sp>
      <p:cxnSp>
        <p:nvCxnSpPr>
          <p:cNvPr id="82" name="Straight Arrow Connector 81"/>
          <p:cNvCxnSpPr>
            <a:stCxn id="14" idx="2"/>
            <a:endCxn id="81" idx="0"/>
          </p:cNvCxnSpPr>
          <p:nvPr/>
        </p:nvCxnSpPr>
        <p:spPr>
          <a:xfrm>
            <a:off x="6943988" y="5453530"/>
            <a:ext cx="0" cy="256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042240" y="4380630"/>
            <a:ext cx="2858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Optimised</a:t>
            </a:r>
            <a:r>
              <a:rPr lang="en-US" dirty="0"/>
              <a:t> logical query plan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042240" y="5391221"/>
            <a:ext cx="1982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query plan</a:t>
            </a:r>
          </a:p>
        </p:txBody>
      </p:sp>
      <p:sp>
        <p:nvSpPr>
          <p:cNvPr id="132" name="Left Brace 131"/>
          <p:cNvSpPr/>
          <p:nvPr/>
        </p:nvSpPr>
        <p:spPr>
          <a:xfrm>
            <a:off x="5386057" y="3687415"/>
            <a:ext cx="277110" cy="195030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3295173" y="4105322"/>
            <a:ext cx="1997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Query </a:t>
            </a:r>
            <a:r>
              <a:rPr lang="en-US" dirty="0" err="1"/>
              <a:t>optimisation</a:t>
            </a:r>
            <a:br>
              <a:rPr lang="en-US" dirty="0"/>
            </a:br>
            <a:r>
              <a:rPr lang="en-US" dirty="0"/>
              <a:t>(later videos)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329969" y="2254291"/>
            <a:ext cx="113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This video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817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0" grpId="0" animBg="1"/>
      <p:bldP spid="12" grpId="0" animBg="1"/>
      <p:bldP spid="13" grpId="0"/>
      <p:bldP spid="14" grpId="0" animBg="1"/>
      <p:bldP spid="81" grpId="0" animBg="1"/>
      <p:bldP spid="104" grpId="0"/>
      <p:bldP spid="119" grpId="0"/>
      <p:bldP spid="132" grpId="0" animBg="1"/>
      <p:bldP spid="133" grpId="0"/>
      <p:bldP spid="1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Relational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Set of </a:t>
                </a:r>
                <a:r>
                  <a:rPr lang="en-US" b="1" dirty="0"/>
                  <a:t>operations</a:t>
                </a:r>
                <a:r>
                  <a:rPr lang="en-US" dirty="0"/>
                  <a:t> that can be applied to </a:t>
                </a:r>
                <a:r>
                  <a:rPr lang="en-US" b="1" dirty="0"/>
                  <a:t>relations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to </a:t>
                </a:r>
                <a:r>
                  <a:rPr lang="en-US" b="1" dirty="0"/>
                  <a:t>compute new relations</a:t>
                </a:r>
              </a:p>
              <a:p>
                <a:pPr>
                  <a:spcBef>
                    <a:spcPts val="1872"/>
                  </a:spcBef>
                </a:pPr>
                <a:r>
                  <a:rPr lang="en-US" dirty="0"/>
                  <a:t>Basic relational algebra: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Selection (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)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Projection (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)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Cartesian product (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)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Union (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∪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)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  <a:sym typeface="Wingdings"/>
                  </a:rPr>
                  <a:t>Renaming (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charset="0"/>
                        <a:sym typeface="Wingdings"/>
                      </a:rPr>
                      <m:t>𝜌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  <a:sym typeface="Wingdings"/>
                  </a:rPr>
                  <a:t>)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Natural join (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)</a:t>
                </a:r>
              </a:p>
              <a:p>
                <a:pPr lvl="1"/>
                <a:r>
                  <a:rPr lang="en-US" dirty="0" err="1">
                    <a:solidFill>
                      <a:schemeClr val="accent1"/>
                    </a:solidFill>
                  </a:rPr>
                  <a:t>Semijoin</a:t>
                </a:r>
                <a:r>
                  <a:rPr lang="en-US" dirty="0">
                    <a:solidFill>
                      <a:schemeClr val="accent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⋉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)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Many others can be defined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6986929" y="2331579"/>
            <a:ext cx="576064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986929" y="3339691"/>
            <a:ext cx="576064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  <a:r>
              <a:rPr lang="en-US" baseline="-25000" dirty="0"/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9336360" y="2839657"/>
            <a:ext cx="936104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 relation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892008" y="2839657"/>
            <a:ext cx="1156320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operation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570748" y="2758521"/>
            <a:ext cx="321260" cy="230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7562992" y="3339691"/>
            <a:ext cx="329016" cy="157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3"/>
          </p:cNvCxnSpPr>
          <p:nvPr/>
        </p:nvCxnSpPr>
        <p:spPr>
          <a:xfrm flipV="1">
            <a:off x="9048328" y="3119645"/>
            <a:ext cx="242472" cy="8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27CFB31-3637-4524-B759-74E6F1951FC8}"/>
                  </a:ext>
                </a:extLst>
              </p:cNvPr>
              <p:cNvSpPr/>
              <p:nvPr/>
            </p:nvSpPr>
            <p:spPr>
              <a:xfrm>
                <a:off x="4510088" y="3982702"/>
                <a:ext cx="4826272" cy="156966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400" dirty="0"/>
                  <a:t>If you are unsure what any of these means, go back and watch the SQL query – </a:t>
                </a:r>
                <a:r>
                  <a:rPr lang="en-US" sz="2400" dirty="0" err="1"/>
                  <a:t>Misc</a:t>
                </a:r>
                <a:r>
                  <a:rPr lang="en-US" sz="2400" dirty="0"/>
                  <a:t> video (and the second tutorial for Union (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sz="2400" dirty="0"/>
                  <a:t>))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27CFB31-3637-4524-B759-74E6F1951F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088" y="3982702"/>
                <a:ext cx="4826272" cy="1569660"/>
              </a:xfrm>
              <a:prstGeom prst="rect">
                <a:avLst/>
              </a:prstGeom>
              <a:blipFill>
                <a:blip r:embed="rId6"/>
                <a:stretch>
                  <a:fillRect l="-1889" t="-2692" b="-7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5144C6-F16F-4860-876E-B63F040D92D4}"/>
              </a:ext>
            </a:extLst>
          </p:cNvPr>
          <p:cNvCxnSpPr>
            <a:endCxn id="13" idx="1"/>
          </p:cNvCxnSpPr>
          <p:nvPr/>
        </p:nvCxnSpPr>
        <p:spPr>
          <a:xfrm>
            <a:off x="4006032" y="4751677"/>
            <a:ext cx="504056" cy="1585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6674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Plans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6209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relational algebra expression</a:t>
            </a:r>
            <a:r>
              <a:rPr lang="en-US" dirty="0"/>
              <a:t> that is obtained from an SQL query is also called a </a:t>
            </a:r>
            <a:r>
              <a:rPr lang="en-US" b="1" dirty="0"/>
              <a:t>(logical) query plan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Query plans are typically </a:t>
            </a:r>
            <a:r>
              <a:rPr lang="en-US" b="1" dirty="0"/>
              <a:t>represented as trees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90889" y="4437114"/>
                <a:ext cx="8664011" cy="5874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department,name</a:t>
                </a:r>
                <a:r>
                  <a:rPr lang="en-GB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2"/>
                    </a:solidFill>
                  </a:rPr>
                  <a:t>department=</a:t>
                </a:r>
                <a:r>
                  <a:rPr lang="en-GB" sz="2400" b="1" baseline="-25000" dirty="0" err="1">
                    <a:solidFill>
                      <a:schemeClr val="accent2"/>
                    </a:solidFill>
                  </a:rPr>
                  <a:t>worksAt</a:t>
                </a:r>
                <a:r>
                  <a:rPr lang="en-GB" sz="2400" b="1" baseline="-25000" dirty="0">
                    <a:solidFill>
                      <a:schemeClr val="accent2"/>
                    </a:solidFill>
                  </a:rPr>
                  <a:t> AND city=‘Liverpool’</a:t>
                </a:r>
                <a:r>
                  <a:rPr lang="en-GB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sz="2400" b="1" dirty="0">
                    <a:solidFill>
                      <a:schemeClr val="accent4"/>
                    </a:solidFill>
                  </a:rPr>
                  <a:t>Stores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1" i="1">
                        <a:solidFill>
                          <a:schemeClr val="tx1"/>
                        </a:solidFill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chemeClr val="accent4"/>
                    </a:solidFill>
                  </a:rPr>
                  <a:t>Employees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))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89" y="4437114"/>
                <a:ext cx="8664011" cy="587441"/>
              </a:xfrm>
              <a:prstGeom prst="rect">
                <a:avLst/>
              </a:prstGeom>
              <a:blipFill>
                <a:blip r:embed="rId5"/>
                <a:stretch>
                  <a:fillRect b="-11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536678" y="2628610"/>
            <a:ext cx="5624205" cy="1141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SELECT </a:t>
            </a:r>
            <a:r>
              <a:rPr lang="en-US" sz="2000" b="1" dirty="0">
                <a:solidFill>
                  <a:schemeClr val="accent1"/>
                </a:solidFill>
              </a:rPr>
              <a:t>department</a:t>
            </a:r>
            <a:r>
              <a:rPr lang="en-US" sz="2000" dirty="0">
                <a:solidFill>
                  <a:schemeClr val="accent1"/>
                </a:solidFill>
              </a:rPr>
              <a:t>, </a:t>
            </a:r>
            <a:r>
              <a:rPr lang="en-US" sz="2000" b="1" dirty="0">
                <a:solidFill>
                  <a:schemeClr val="accent1"/>
                </a:solidFill>
              </a:rPr>
              <a:t>name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FROM </a:t>
            </a:r>
            <a:r>
              <a:rPr lang="en-US" sz="2000" b="1" dirty="0">
                <a:solidFill>
                  <a:schemeClr val="accent4"/>
                </a:solidFill>
              </a:rPr>
              <a:t>Stores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b="1" dirty="0">
                <a:solidFill>
                  <a:schemeClr val="accent4"/>
                </a:solidFill>
              </a:rPr>
              <a:t>Employees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WHERE </a:t>
            </a:r>
            <a:r>
              <a:rPr lang="en-US" sz="2000" b="1" dirty="0">
                <a:solidFill>
                  <a:schemeClr val="accent2"/>
                </a:solidFill>
              </a:rPr>
              <a:t>department=</a:t>
            </a:r>
            <a:r>
              <a:rPr lang="en-US" sz="2000" b="1" dirty="0" err="1">
                <a:solidFill>
                  <a:schemeClr val="accent2"/>
                </a:solidFill>
              </a:rPr>
              <a:t>worksAt</a:t>
            </a:r>
            <a:r>
              <a:rPr lang="en-US" sz="2000" b="1" dirty="0">
                <a:solidFill>
                  <a:schemeClr val="accent2"/>
                </a:solidFill>
              </a:rPr>
              <a:t> AND city=‘Liverpool’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096000" y="4014838"/>
            <a:ext cx="0" cy="311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15878" y="2702875"/>
            <a:ext cx="1245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SQL query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715591" y="5095959"/>
            <a:ext cx="2760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Query plan for the query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823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 animBg="1"/>
      <p:bldP spid="8" grpId="0" animBg="1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 Plans As Trees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0" y="2492897"/>
            <a:ext cx="8229600" cy="3955355"/>
          </a:xfrm>
        </p:spPr>
        <p:txBody>
          <a:bodyPr/>
          <a:lstStyle/>
          <a:p>
            <a:r>
              <a:rPr lang="en-US" dirty="0"/>
              <a:t>Tree representation: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67349" y="5031444"/>
                <a:ext cx="506650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>
                          <a:solidFill>
                            <a:schemeClr val="tx1"/>
                          </a:solidFill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349" y="5031444"/>
                <a:ext cx="506650" cy="587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09137" y="3284985"/>
                <a:ext cx="2005330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 department,name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137" y="3284985"/>
                <a:ext cx="2005330" cy="587441"/>
              </a:xfrm>
              <a:prstGeom prst="rect">
                <a:avLst/>
              </a:prstGeom>
              <a:blipFill>
                <a:blip r:embed="rId6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91847" y="4054954"/>
                <a:ext cx="4012738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2"/>
                    </a:solidFill>
                  </a:rPr>
                  <a:t>department=</a:t>
                </a:r>
                <a:r>
                  <a:rPr lang="en-GB" sz="2400" b="1" baseline="-25000" dirty="0" err="1">
                    <a:solidFill>
                      <a:schemeClr val="accent2"/>
                    </a:solidFill>
                  </a:rPr>
                  <a:t>worksAt</a:t>
                </a:r>
                <a:r>
                  <a:rPr lang="en-GB" sz="2400" b="1" baseline="-25000" dirty="0">
                    <a:solidFill>
                      <a:schemeClr val="accent2"/>
                    </a:solidFill>
                  </a:rPr>
                  <a:t> AND city=‘Liverpool’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847" y="4054954"/>
                <a:ext cx="4012738" cy="587441"/>
              </a:xfrm>
              <a:prstGeom prst="rect">
                <a:avLst/>
              </a:prstGeom>
              <a:blipFill>
                <a:blip r:embed="rId7"/>
                <a:stretch>
                  <a:fillRect b="-9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093632" y="5793888"/>
            <a:ext cx="1017944" cy="587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Stores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73999" y="5793888"/>
            <a:ext cx="1599450" cy="587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Employees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5" name="Content Placeholder 5"/>
          <p:cNvSpPr txBox="1">
            <a:spLocks/>
          </p:cNvSpPr>
          <p:nvPr/>
        </p:nvSpPr>
        <p:spPr>
          <a:xfrm>
            <a:off x="6672064" y="3344584"/>
            <a:ext cx="3538736" cy="2820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272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72"/>
              </a:spcBef>
            </a:pPr>
            <a:r>
              <a:rPr lang="en-US" sz="2000" dirty="0"/>
              <a:t>Leaves = input relations</a:t>
            </a:r>
          </a:p>
          <a:p>
            <a:pPr>
              <a:spcBef>
                <a:spcPts val="672"/>
              </a:spcBef>
            </a:pPr>
            <a:r>
              <a:rPr lang="en-US" sz="2000" dirty="0"/>
              <a:t>Inner nodes = operators</a:t>
            </a:r>
          </a:p>
          <a:p>
            <a:pPr>
              <a:spcBef>
                <a:spcPts val="672"/>
              </a:spcBef>
            </a:pPr>
            <a:endParaRPr lang="en-US" sz="2000" dirty="0"/>
          </a:p>
          <a:p>
            <a:pPr>
              <a:spcBef>
                <a:spcPts val="672"/>
              </a:spcBef>
            </a:pPr>
            <a:endParaRPr lang="en-US" sz="2000" dirty="0"/>
          </a:p>
          <a:p>
            <a:pPr>
              <a:spcBef>
                <a:spcPts val="672"/>
              </a:spcBef>
            </a:pPr>
            <a:r>
              <a:rPr lang="en-US" sz="2000" dirty="0"/>
              <a:t>Such trees are evaluated from the leaves to the root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511824" y="3944434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4511824" y="4752934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4112624" y="5589240"/>
            <a:ext cx="264034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664690" y="5589240"/>
            <a:ext cx="264034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8889CC-A1A4-4958-8E15-E487D377D251}"/>
                  </a:ext>
                </a:extLst>
              </p:cNvPr>
              <p:cNvSpPr txBox="1"/>
              <p:nvPr/>
            </p:nvSpPr>
            <p:spPr>
              <a:xfrm>
                <a:off x="1866779" y="1858323"/>
                <a:ext cx="8664011" cy="5874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department,name</a:t>
                </a:r>
                <a:r>
                  <a:rPr lang="en-GB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2"/>
                    </a:solidFill>
                  </a:rPr>
                  <a:t>department=</a:t>
                </a:r>
                <a:r>
                  <a:rPr lang="en-GB" sz="2400" b="1" baseline="-25000" dirty="0" err="1">
                    <a:solidFill>
                      <a:schemeClr val="accent2"/>
                    </a:solidFill>
                  </a:rPr>
                  <a:t>worksAt</a:t>
                </a:r>
                <a:r>
                  <a:rPr lang="en-GB" sz="2400" b="1" baseline="-25000" dirty="0">
                    <a:solidFill>
                      <a:schemeClr val="accent2"/>
                    </a:solidFill>
                  </a:rPr>
                  <a:t> AND city=‘Liverpool’</a:t>
                </a:r>
                <a:r>
                  <a:rPr lang="en-GB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sz="2400" b="1" dirty="0">
                    <a:solidFill>
                      <a:schemeClr val="accent4"/>
                    </a:solidFill>
                  </a:rPr>
                  <a:t>Stores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1" i="1">
                        <a:solidFill>
                          <a:schemeClr val="tx1"/>
                        </a:solidFill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>
                    <a:solidFill>
                      <a:schemeClr val="accent4"/>
                    </a:solidFill>
                  </a:rPr>
                  <a:t>Employees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8889CC-A1A4-4958-8E15-E487D377D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779" y="1858323"/>
                <a:ext cx="8664011" cy="587441"/>
              </a:xfrm>
              <a:prstGeom prst="rect">
                <a:avLst/>
              </a:prstGeom>
              <a:blipFill>
                <a:blip r:embed="rId8"/>
                <a:stretch>
                  <a:fillRect b="-112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702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/>
      <p:bldP spid="8" grpId="0"/>
      <p:bldP spid="9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the following query plan as a tree: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11624" y="2415883"/>
                <a:ext cx="8002356" cy="58744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2"/>
                    </a:solidFill>
                  </a:rPr>
                  <a:t> department=</a:t>
                </a:r>
                <a:r>
                  <a:rPr lang="en-GB" sz="2400" b="1" baseline="-25000" dirty="0" err="1">
                    <a:solidFill>
                      <a:schemeClr val="accent2"/>
                    </a:solidFill>
                  </a:rPr>
                  <a:t>worksAt</a:t>
                </a:r>
                <a:r>
                  <a:rPr lang="en-GB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department</a:t>
                </a:r>
                <a:r>
                  <a:rPr lang="en-GB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sz="2400" b="1" dirty="0">
                    <a:solidFill>
                      <a:schemeClr val="accent4"/>
                    </a:solidFill>
                  </a:rPr>
                  <a:t>Stores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GB" sz="2400" b="1" i="1">
                        <a:solidFill>
                          <a:schemeClr val="tx1"/>
                        </a:solidFill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worksAt,name</a:t>
                </a:r>
                <a:r>
                  <a:rPr lang="en-GB" sz="2400" dirty="0">
                    <a:solidFill>
                      <a:schemeClr val="tx1"/>
                    </a:solidFill>
                  </a:rPr>
                  <a:t>(</a:t>
                </a:r>
                <a:r>
                  <a:rPr lang="en-US" sz="2400" b="1" dirty="0">
                    <a:solidFill>
                      <a:schemeClr val="accent4"/>
                    </a:solidFill>
                  </a:rPr>
                  <a:t>Employees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2415883"/>
                <a:ext cx="8002356" cy="587441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910304" y="4192251"/>
                <a:ext cx="506650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>
                          <a:solidFill>
                            <a:schemeClr val="tx1"/>
                          </a:solidFill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304" y="4192251"/>
                <a:ext cx="506650" cy="587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101063" y="4833671"/>
                <a:ext cx="1471529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 department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063" y="4833671"/>
                <a:ext cx="1471529" cy="587441"/>
              </a:xfrm>
              <a:prstGeom prst="rect">
                <a:avLst/>
              </a:prstGeom>
              <a:blipFill>
                <a:blip r:embed="rId7"/>
                <a:stretch>
                  <a:fillRect r="-415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26729" y="3311332"/>
                <a:ext cx="2273800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2"/>
                    </a:solidFill>
                  </a:rPr>
                  <a:t> department=</a:t>
                </a:r>
                <a:r>
                  <a:rPr lang="en-GB" sz="2400" b="1" baseline="-25000" dirty="0" err="1">
                    <a:solidFill>
                      <a:schemeClr val="accent2"/>
                    </a:solidFill>
                  </a:rPr>
                  <a:t>worksAt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6729" y="3311332"/>
                <a:ext cx="2273800" cy="587441"/>
              </a:xfrm>
              <a:prstGeom prst="rect">
                <a:avLst/>
              </a:prstGeom>
              <a:blipFill>
                <a:blip r:embed="rId8"/>
                <a:stretch>
                  <a:fillRect b="-9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4327855" y="5649871"/>
            <a:ext cx="1017944" cy="587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Stores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76503" y="5646535"/>
            <a:ext cx="1599450" cy="5874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Employees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046208" y="4628539"/>
            <a:ext cx="792088" cy="39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528182" y="4643355"/>
            <a:ext cx="966299" cy="345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9" idx="0"/>
          </p:cNvCxnSpPr>
          <p:nvPr/>
        </p:nvCxnSpPr>
        <p:spPr>
          <a:xfrm flipH="1">
            <a:off x="4836827" y="5421112"/>
            <a:ext cx="1" cy="228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5" idx="2"/>
            <a:endCxn id="10" idx="0"/>
          </p:cNvCxnSpPr>
          <p:nvPr/>
        </p:nvCxnSpPr>
        <p:spPr>
          <a:xfrm flipH="1">
            <a:off x="7676228" y="5391324"/>
            <a:ext cx="1" cy="255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831363" y="4803883"/>
                <a:ext cx="1689731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 worksAt,name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363" y="4803883"/>
                <a:ext cx="1689731" cy="587441"/>
              </a:xfrm>
              <a:prstGeom prst="rect">
                <a:avLst/>
              </a:prstGeom>
              <a:blipFill>
                <a:blip r:embed="rId9"/>
                <a:stretch>
                  <a:fillRect r="-361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>
            <a:stCxn id="8" idx="2"/>
            <a:endCxn id="6" idx="0"/>
          </p:cNvCxnSpPr>
          <p:nvPr/>
        </p:nvCxnSpPr>
        <p:spPr>
          <a:xfrm>
            <a:off x="6163629" y="3898773"/>
            <a:ext cx="0" cy="293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1240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Query Plans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 are typically </a:t>
                </a:r>
                <a:r>
                  <a:rPr lang="en-US" b="1" dirty="0"/>
                  <a:t>many different query plans</a:t>
                </a:r>
              </a:p>
              <a:p>
                <a:r>
                  <a:rPr lang="en-US" dirty="0"/>
                  <a:t>DBMSs aim to </a:t>
                </a:r>
                <a:r>
                  <a:rPr lang="en-US" b="1" dirty="0"/>
                  <a:t>select a best possible query plan</a:t>
                </a:r>
              </a:p>
              <a:p>
                <a:r>
                  <a:rPr lang="en-US" dirty="0"/>
                  <a:t>Relational algebra is better suited than SQL for this</a:t>
                </a:r>
              </a:p>
              <a:p>
                <a:pPr lvl="1"/>
                <a:r>
                  <a:rPr lang="en-US" dirty="0"/>
                  <a:t>Can use </a:t>
                </a:r>
                <a:r>
                  <a:rPr lang="en-US" b="1" dirty="0"/>
                  <a:t>equivalence laws </a:t>
                </a:r>
                <a:r>
                  <a:rPr lang="en-US" dirty="0"/>
                  <a:t>of relational algebra to </a:t>
                </a:r>
                <a:br>
                  <a:rPr lang="en-US" dirty="0"/>
                </a:br>
                <a:r>
                  <a:rPr lang="en-US" dirty="0"/>
                  <a:t>generate a query plan for the same query</a:t>
                </a:r>
                <a:br>
                  <a:rPr lang="en-US" dirty="0"/>
                </a:br>
                <a:r>
                  <a:rPr lang="en-US" dirty="0"/>
                  <a:t>that can be executed faster!</a:t>
                </a:r>
              </a:p>
              <a:p>
                <a:pPr lvl="1"/>
                <a:r>
                  <a:rPr lang="en-US" dirty="0"/>
                  <a:t>Example: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baseline="-25000" dirty="0"/>
                  <a:t>condition</a:t>
                </a:r>
                <a:r>
                  <a:rPr lang="en-US" dirty="0"/>
                  <a:t>(R</a:t>
                </a:r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R</a:t>
                </a:r>
                <a:r>
                  <a:rPr lang="en-US" baseline="-25000" dirty="0"/>
                  <a:t>2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baseline="-25000" dirty="0"/>
                  <a:t>condition</a:t>
                </a:r>
                <a:r>
                  <a:rPr lang="en-US" dirty="0"/>
                  <a:t>(R</a:t>
                </a:r>
                <a:r>
                  <a:rPr lang="en-US" baseline="-25000" dirty="0"/>
                  <a:t>1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aseline="-25000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baseline="-25000" dirty="0"/>
                  <a:t>condition</a:t>
                </a:r>
                <a:r>
                  <a:rPr lang="en-US" dirty="0"/>
                  <a:t>(R</a:t>
                </a:r>
                <a:r>
                  <a:rPr lang="en-US" baseline="-25000" dirty="0"/>
                  <a:t>2</a:t>
                </a:r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/>
                <a:stretch>
                  <a:fillRect l="-1333" t="-1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23792" y="4957869"/>
                <a:ext cx="648072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792" y="4957869"/>
                <a:ext cx="648072" cy="587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007769" y="4469688"/>
                <a:ext cx="1029357" cy="5187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000" baseline="-25000" dirty="0">
                    <a:solidFill>
                      <a:schemeClr val="tx1"/>
                    </a:solidFill>
                  </a:rPr>
                  <a:t>condition</a:t>
                </a:r>
                <a:endParaRPr 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769" y="4469688"/>
                <a:ext cx="1029357" cy="518769"/>
              </a:xfrm>
              <a:prstGeom prst="rect">
                <a:avLst/>
              </a:prstGeom>
              <a:blipFill>
                <a:blip r:embed="rId8"/>
                <a:stretch>
                  <a:fillRect r="-592" b="-82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4538058" y="4919417"/>
            <a:ext cx="0" cy="227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020061" y="5554947"/>
            <a:ext cx="388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R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699640" y="5554947"/>
            <a:ext cx="388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2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337676" y="5415123"/>
            <a:ext cx="102141" cy="178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655290" y="5415123"/>
            <a:ext cx="102141" cy="178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722828" y="4986892"/>
                <a:ext cx="1029357" cy="5187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000" baseline="-25000" dirty="0">
                    <a:solidFill>
                      <a:schemeClr val="tx1"/>
                    </a:solidFill>
                  </a:rPr>
                  <a:t>condition</a:t>
                </a:r>
                <a:endParaRPr 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828" y="4986892"/>
                <a:ext cx="1029357" cy="518769"/>
              </a:xfrm>
              <a:prstGeom prst="rect">
                <a:avLst/>
              </a:prstGeom>
              <a:blipFill>
                <a:blip r:embed="rId9"/>
                <a:stretch>
                  <a:fillRect b="-82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5375226" y="5161610"/>
            <a:ext cx="1224831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426292" y="4550191"/>
                <a:ext cx="541916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292" y="4550191"/>
                <a:ext cx="541916" cy="587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>
            <a:off x="7320136" y="5441143"/>
            <a:ext cx="0" cy="227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7324196" y="4962272"/>
            <a:ext cx="177714" cy="1782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874955" y="4984084"/>
            <a:ext cx="171534" cy="156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752185" y="4985488"/>
                <a:ext cx="1029357" cy="5187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0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000" baseline="-25000" dirty="0">
                    <a:solidFill>
                      <a:schemeClr val="tx1"/>
                    </a:solidFill>
                  </a:rPr>
                  <a:t>condition</a:t>
                </a:r>
                <a:endParaRPr lang="en-US" sz="2400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185" y="4985488"/>
                <a:ext cx="1029357" cy="518769"/>
              </a:xfrm>
              <a:prstGeom prst="rect">
                <a:avLst/>
              </a:prstGeom>
              <a:blipFill>
                <a:blip r:embed="rId11"/>
                <a:stretch>
                  <a:fillRect b="-82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/>
          <p:nvPr/>
        </p:nvCxnSpPr>
        <p:spPr>
          <a:xfrm>
            <a:off x="8112224" y="5441143"/>
            <a:ext cx="0" cy="227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126012" y="5632915"/>
            <a:ext cx="388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R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7940000" y="5632915"/>
            <a:ext cx="388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40" name="Rounded Rectangular Callout 39"/>
          <p:cNvSpPr/>
          <p:nvPr/>
        </p:nvSpPr>
        <p:spPr>
          <a:xfrm>
            <a:off x="8136365" y="3894510"/>
            <a:ext cx="1999507" cy="614611"/>
          </a:xfrm>
          <a:prstGeom prst="wedgeRoundRectCallout">
            <a:avLst>
              <a:gd name="adj1" fmla="val -51393"/>
              <a:gd name="adj2" fmla="val -8100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Details will come </a:t>
            </a:r>
            <a:br>
              <a:rPr lang="en-US" dirty="0"/>
            </a:br>
            <a:r>
              <a:rPr lang="en-US" dirty="0"/>
              <a:t>later</a:t>
            </a:r>
            <a:r>
              <a:rPr lang="mr-IN" dirty="0"/>
              <a:t>…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336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12" grpId="0"/>
      <p:bldP spid="13" grpId="0"/>
      <p:bldP spid="19" grpId="0"/>
      <p:bldP spid="28" grpId="0"/>
      <p:bldP spid="32" grpId="0"/>
      <p:bldP spid="38" grpId="0"/>
      <p:bldP spid="39" grpId="0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DBMS translate SQL queries into relational algebra</a:t>
            </a:r>
            <a:br>
              <a:rPr lang="en-US" dirty="0"/>
            </a:br>
            <a:r>
              <a:rPr lang="en-US" dirty="0"/>
              <a:t>expressions, also called </a:t>
            </a:r>
            <a:r>
              <a:rPr lang="en-US" b="1" dirty="0"/>
              <a:t>(logical) query plans</a:t>
            </a:r>
            <a:endParaRPr lang="en-US" dirty="0"/>
          </a:p>
          <a:p>
            <a:r>
              <a:rPr lang="en-US" dirty="0"/>
              <a:t>The DBMS will then</a:t>
            </a:r>
          </a:p>
          <a:p>
            <a:pPr lvl="1"/>
            <a:r>
              <a:rPr lang="en-US" dirty="0" err="1"/>
              <a:t>Optimise</a:t>
            </a:r>
            <a:r>
              <a:rPr lang="en-US" dirty="0"/>
              <a:t> the logical query plan by using equivalence laws</a:t>
            </a:r>
            <a:br>
              <a:rPr lang="en-US" dirty="0"/>
            </a:br>
            <a:r>
              <a:rPr lang="en-US" dirty="0"/>
              <a:t>(later</a:t>
            </a:r>
            <a:r>
              <a:rPr lang="mr-IN" dirty="0"/>
              <a:t>…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Select suitable algorithms for computing each operator</a:t>
            </a:r>
            <a:br>
              <a:rPr lang="en-GB" dirty="0"/>
            </a:br>
            <a:r>
              <a:rPr lang="en-GB" dirty="0"/>
              <a:t>in the logical query plan (later</a:t>
            </a:r>
            <a:r>
              <a:rPr lang="mr-IN" dirty="0"/>
              <a:t>…</a:t>
            </a:r>
            <a:r>
              <a:rPr lang="en-GB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7432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5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|7.2|11.5|3.1|20.8|19.5|45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5.8|9.7|23|12.8|17.3|1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9.2|12.8|23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9.9|7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6|1.9|8.4|7.3|10.8|10.9|15.9|14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16.7|7.6|12.3|3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34|25|36.2|21.3|3.3|24.2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127</TotalTime>
  <Words>660</Words>
  <Application>Microsoft Office PowerPoint</Application>
  <PresentationFormat>Widescreen</PresentationFormat>
  <Paragraphs>129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Courier New</vt:lpstr>
      <vt:lpstr>Retrospect</vt:lpstr>
      <vt:lpstr>Introduction to query processing</vt:lpstr>
      <vt:lpstr>Overview over this video</vt:lpstr>
      <vt:lpstr>Where we are…</vt:lpstr>
      <vt:lpstr>SQL Queries</vt:lpstr>
      <vt:lpstr>How Does Query Processing Work?</vt:lpstr>
      <vt:lpstr>Relational Algebra</vt:lpstr>
      <vt:lpstr>Query Plans</vt:lpstr>
      <vt:lpstr>Query Plans As Trees</vt:lpstr>
      <vt:lpstr>Another example</vt:lpstr>
      <vt:lpstr>Equivalent Query Plans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query processing</dc:title>
  <dc:creator>Rasmus Ibsen-Jensen</dc:creator>
  <cp:lastModifiedBy>Rasmus Ibsen-Jensen</cp:lastModifiedBy>
  <cp:revision>10</cp:revision>
  <dcterms:created xsi:type="dcterms:W3CDTF">2020-11-14T13:32:39Z</dcterms:created>
  <dcterms:modified xsi:type="dcterms:W3CDTF">2020-11-17T12:08:41Z</dcterms:modified>
</cp:coreProperties>
</file>