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544" r:id="rId3"/>
    <p:sldId id="545" r:id="rId4"/>
    <p:sldId id="550" r:id="rId5"/>
    <p:sldId id="540" r:id="rId6"/>
    <p:sldId id="518" r:id="rId7"/>
    <p:sldId id="520" r:id="rId8"/>
    <p:sldId id="551" r:id="rId9"/>
    <p:sldId id="521" r:id="rId10"/>
    <p:sldId id="443" r:id="rId11"/>
    <p:sldId id="546" r:id="rId12"/>
    <p:sldId id="548" r:id="rId13"/>
    <p:sldId id="547" r:id="rId14"/>
    <p:sldId id="549" r:id="rId15"/>
    <p:sldId id="552" r:id="rId16"/>
    <p:sldId id="541" r:id="rId17"/>
    <p:sldId id="522" r:id="rId18"/>
    <p:sldId id="523" r:id="rId19"/>
    <p:sldId id="524" r:id="rId20"/>
    <p:sldId id="525" r:id="rId21"/>
    <p:sldId id="553" r:id="rId22"/>
    <p:sldId id="542" r:id="rId23"/>
    <p:sldId id="526" r:id="rId24"/>
    <p:sldId id="527" r:id="rId25"/>
    <p:sldId id="528" r:id="rId26"/>
    <p:sldId id="529" r:id="rId27"/>
    <p:sldId id="530" r:id="rId28"/>
    <p:sldId id="531" r:id="rId29"/>
    <p:sldId id="532" r:id="rId30"/>
    <p:sldId id="533" r:id="rId31"/>
    <p:sldId id="457" r:id="rId32"/>
    <p:sldId id="534" r:id="rId33"/>
    <p:sldId id="554" r:id="rId34"/>
    <p:sldId id="535" r:id="rId35"/>
    <p:sldId id="537" r:id="rId36"/>
    <p:sldId id="538" r:id="rId37"/>
    <p:sldId id="54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9C7CA-356D-4539-AA98-B488C09F62E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C665C-03A4-4E53-A849-6646EC16B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31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4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88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6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0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86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29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70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6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48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8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2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59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12C24F-C114-4F11-8318-EBD09F99FD6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473F59-CAA8-496B-A81D-D44F9859384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26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2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3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50.png"/><Relationship Id="rId5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160E-5641-4810-AB02-5E1962A4E7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Deletions and conclusions for B+-Trees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74239-F42C-4D64-AB88-E85107691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6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8BA7-D545-4034-9392-76AEE488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ED16-AA9F-47E2-9E85-2ECF0934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discusses how to do deletions as well as a conclusion for B+-trees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100CC-2379-43C4-94D2-4992A530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16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12DB8-D36A-44E8-9DEC-832E69AC2851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F4A88C9-74E2-4C48-9A05-EFC40FC0E517}"/>
              </a:ext>
            </a:extLst>
          </p:cNvPr>
          <p:cNvSpPr txBox="1"/>
          <p:nvPr/>
        </p:nvSpPr>
        <p:spPr>
          <a:xfrm>
            <a:off x="10162395" y="1950014"/>
            <a:ext cx="69281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n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586BEC0-B0D9-4CAF-92C8-B9198A065420}"/>
                  </a:ext>
                </a:extLst>
              </p:cNvPr>
              <p:cNvSpPr txBox="1"/>
              <p:nvPr/>
            </p:nvSpPr>
            <p:spPr>
              <a:xfrm>
                <a:off x="10162395" y="2539003"/>
                <a:ext cx="1376852" cy="66851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charset="0"/>
                            </a:rPr>
                            <m:t>𝑛</m:t>
                          </m:r>
                          <m:r>
                            <a:rPr lang="en-GB" sz="2000" i="1" dirty="0">
                              <a:latin typeface="Cambria Math" charset="0"/>
                            </a:rPr>
                            <m:t>+1</m:t>
                          </m:r>
                        </m:num>
                        <m:den>
                          <m:r>
                            <a:rPr lang="en-GB" sz="2000" i="1" dirty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2000" i="1" dirty="0">
                          <a:latin typeface="Cambria Math" charset="0"/>
                        </a:rPr>
                        <m:t> =</m:t>
                      </m:r>
                      <m:r>
                        <a:rPr lang="en-GB" sz="2000" i="1" dirty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586BEC0-B0D9-4CAF-92C8-B9198A06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395" y="2539003"/>
                <a:ext cx="1376852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Rounded Rectangular Callout 157">
            <a:extLst>
              <a:ext uri="{FF2B5EF4-FFF2-40B4-BE49-F238E27FC236}">
                <a16:creationId xmlns:a16="http://schemas.microsoft.com/office/drawing/2014/main" id="{207BDD6F-68B7-480C-9935-1DD55F904F93}"/>
              </a:ext>
            </a:extLst>
          </p:cNvPr>
          <p:cNvSpPr/>
          <p:nvPr/>
        </p:nvSpPr>
        <p:spPr>
          <a:xfrm>
            <a:off x="2249606" y="2039551"/>
            <a:ext cx="979353" cy="474641"/>
          </a:xfrm>
          <a:prstGeom prst="wedgeRoundRectCallout">
            <a:avLst>
              <a:gd name="adj1" fmla="val 71498"/>
              <a:gd name="adj2" fmla="val 2506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Height 3</a:t>
            </a:r>
            <a:endParaRPr lang="en-US" sz="16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65F6D25-857C-44F2-B30A-91FDED5A1E53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C680041B-023F-4D1F-8007-17670EDD600F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0341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71F4-2CEB-4574-B816-D44A6971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the initial tree</a:t>
            </a:r>
            <a:endParaRPr lang="en-GB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BD8FD8E-746C-4563-9FCB-CC5905D5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4" name="Screen Recording 3" descr="The initial tree in the online tool">
            <a:hlinkClick r:id="" action="ppaction://media"/>
            <a:extLst>
              <a:ext uri="{FF2B5EF4-FFF2-40B4-BE49-F238E27FC236}">
                <a16:creationId xmlns:a16="http://schemas.microsoft.com/office/drawing/2014/main" id="{8244A7D0-86FD-462B-A179-78AB876AF78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1575" y="1895475"/>
            <a:ext cx="85153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3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050E3-8233-440A-859C-AE75D872350E}"/>
              </a:ext>
            </a:extLst>
          </p:cNvPr>
          <p:cNvSpPr txBox="1"/>
          <p:nvPr/>
        </p:nvSpPr>
        <p:spPr>
          <a:xfrm>
            <a:off x="0" y="296778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Delete 42</a:t>
            </a:r>
            <a:endParaRPr lang="en-GB" sz="40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98DF17-28A0-448A-822B-A3F54124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12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/>
              <p:cNvSpPr txBox="1"/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14:m>
                  <m:oMath xmlns:m="http://schemas.openxmlformats.org/officeDocument/2006/math">
                    <m:r>
                      <a:rPr lang="en-GB">
                        <a:latin typeface="Cambria Math" charset="0"/>
                      </a:rPr>
                      <m:t>1</m:t>
                    </m:r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42</a:t>
                </a:r>
              </a:p>
            </p:txBody>
          </p:sp>
        </mc:Choice>
        <mc:Fallback xmlns="">
          <p:sp>
            <p:nvSpPr>
              <p:cNvPr id="185" name="Text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  <a:blipFill>
                <a:blip r:embed="rId5"/>
                <a:stretch>
                  <a:fillRect l="-4403" t="-6349" r="-3774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TextBox 185"/>
          <p:cNvSpPr txBox="1"/>
          <p:nvPr/>
        </p:nvSpPr>
        <p:spPr>
          <a:xfrm>
            <a:off x="7874448" y="3902442"/>
            <a:ext cx="873957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42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&lt; 43</a:t>
            </a:r>
          </a:p>
        </p:txBody>
      </p:sp>
      <p:cxnSp>
        <p:nvCxnSpPr>
          <p:cNvPr id="188" name="Straight Arrow Connector 187"/>
          <p:cNvCxnSpPr/>
          <p:nvPr/>
        </p:nvCxnSpPr>
        <p:spPr>
          <a:xfrm>
            <a:off x="6371898" y="2523136"/>
            <a:ext cx="2804175" cy="505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>
            <a:off x="8897742" y="3601342"/>
            <a:ext cx="106402" cy="1849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>
            <a:off x="9215915" y="6088212"/>
            <a:ext cx="36470" cy="5400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3" name="Rounded Rectangular Callout 192"/>
          <p:cNvSpPr/>
          <p:nvPr/>
        </p:nvSpPr>
        <p:spPr>
          <a:xfrm>
            <a:off x="4762781" y="1359593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Find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4" name="Rounded Rectangular Callout 193"/>
          <p:cNvSpPr/>
          <p:nvPr/>
        </p:nvSpPr>
        <p:spPr>
          <a:xfrm>
            <a:off x="7396462" y="4671722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A0777-4181-454A-823A-71BA952595BE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5B215-8329-43EE-956D-67431C1A3397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9C1EC1F-782F-4121-A84E-0639A7A01E5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6B2649D7-6680-4A66-AE6F-460A21BBD137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5191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93" grpId="0" animBg="1"/>
      <p:bldP spid="19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93" name="Rounded Rectangular Callout 192"/>
          <p:cNvSpPr/>
          <p:nvPr/>
        </p:nvSpPr>
        <p:spPr>
          <a:xfrm>
            <a:off x="7396462" y="4671722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3" name="Rounded Rectangular Callout 172"/>
          <p:cNvSpPr/>
          <p:nvPr/>
        </p:nvSpPr>
        <p:spPr>
          <a:xfrm>
            <a:off x="5920774" y="3161723"/>
            <a:ext cx="2689014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Clean up!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5" name="Rounded Rectangular Callout 174"/>
          <p:cNvSpPr/>
          <p:nvPr/>
        </p:nvSpPr>
        <p:spPr>
          <a:xfrm>
            <a:off x="4057528" y="2144442"/>
            <a:ext cx="1358019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Clean up!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841BB-0D9F-4D19-B22B-D574A40B82FF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2B1B8-792F-4FC8-B615-3DC0642524E8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4" name="Rounded Rectangular Callout 183"/>
          <p:cNvSpPr/>
          <p:nvPr/>
        </p:nvSpPr>
        <p:spPr>
          <a:xfrm>
            <a:off x="6143289" y="5974477"/>
            <a:ext cx="2689014" cy="479826"/>
          </a:xfrm>
          <a:prstGeom prst="wedgeRoundRectCallout">
            <a:avLst>
              <a:gd name="adj1" fmla="val 45621"/>
              <a:gd name="adj2" fmla="val -832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If leaf satisfies condition: Done!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F4A6127-A5F7-4CD3-9ECB-31D3AA9D4FF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04E4579-9B6F-43F1-B207-7DD7C42F4888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987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5" grpId="0" animBg="1"/>
      <p:bldP spid="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A68D-9E89-42F0-BCEF-C973E9F0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delete 42</a:t>
            </a:r>
            <a:endParaRPr lang="en-GB" dirty="0"/>
          </a:p>
        </p:txBody>
      </p:sp>
      <p:pic>
        <p:nvPicPr>
          <p:cNvPr id="3" name="Screen Recording 2" descr="Deleting 42 in the online tool">
            <a:hlinkClick r:id="" action="ppaction://media"/>
            <a:extLst>
              <a:ext uri="{FF2B5EF4-FFF2-40B4-BE49-F238E27FC236}">
                <a16:creationId xmlns:a16="http://schemas.microsoft.com/office/drawing/2014/main" id="{0C7F932D-73E1-46E6-BDEA-65025F5EAE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19275"/>
            <a:ext cx="8515350" cy="4133850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41FBD21-D472-4E23-A93E-BB8F48ED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458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may be more than one B+ tree with the same leaves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5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insertion + deletion of 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DD7F53-55CA-4712-AD0C-FA80187DCA92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6E35160-DD67-4517-ACF0-6A637FB0A048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E95ABEF-EF1B-4EE0-85A6-EF9214F9379C}"/>
              </a:ext>
            </a:extLst>
          </p:cNvPr>
          <p:cNvCxnSpPr>
            <a:cxnSpLocks/>
          </p:cNvCxnSpPr>
          <p:nvPr/>
        </p:nvCxnSpPr>
        <p:spPr>
          <a:xfrm>
            <a:off x="10130454" y="5022673"/>
            <a:ext cx="2683" cy="53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17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insertion + deletion of 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cxnSpLocks/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cxnSpLocks/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2B1B8-792F-4FC8-B615-3DC0642524E8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F4A6127-A5F7-4CD3-9ECB-31D3AA9D4FF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04E4579-9B6F-43F1-B207-7DD7C42F4888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7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050E3-8233-440A-859C-AE75D872350E}"/>
              </a:ext>
            </a:extLst>
          </p:cNvPr>
          <p:cNvSpPr txBox="1"/>
          <p:nvPr/>
        </p:nvSpPr>
        <p:spPr>
          <a:xfrm>
            <a:off x="0" y="296778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Delete 48</a:t>
            </a:r>
            <a:endParaRPr lang="en-GB" sz="40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98DF17-28A0-448A-822B-A3F54124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02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841BB-0D9F-4D19-B22B-D574A40B82FF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48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2B1B8-792F-4FC8-B615-3DC0642524E8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F4A6127-A5F7-4CD3-9ECB-31D3AA9D4FF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04E4579-9B6F-43F1-B207-7DD7C42F4888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EFC43E0E-A704-4BBF-8D3A-973EE07ED11E}"/>
                  </a:ext>
                </a:extLst>
              </p:cNvPr>
              <p:cNvSpPr txBox="1"/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14:m>
                  <m:oMath xmlns:m="http://schemas.openxmlformats.org/officeDocument/2006/math">
                    <m:r>
                      <a:rPr lang="en-GB">
                        <a:latin typeface="Cambria Math" charset="0"/>
                      </a:rPr>
                      <m:t>1</m:t>
                    </m:r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48</a:t>
                </a: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EFC43E0E-A704-4BBF-8D3A-973EE07ED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  <a:blipFill>
                <a:blip r:embed="rId5"/>
                <a:stretch>
                  <a:fillRect l="-4403" t="-6349" r="-3774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069C1F9-1387-42B7-8F73-9B86CA009FD7}"/>
              </a:ext>
            </a:extLst>
          </p:cNvPr>
          <p:cNvCxnSpPr/>
          <p:nvPr/>
        </p:nvCxnSpPr>
        <p:spPr>
          <a:xfrm>
            <a:off x="6371898" y="2523136"/>
            <a:ext cx="2804175" cy="505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1" name="Rounded Rectangular Callout 192">
            <a:extLst>
              <a:ext uri="{FF2B5EF4-FFF2-40B4-BE49-F238E27FC236}">
                <a16:creationId xmlns:a16="http://schemas.microsoft.com/office/drawing/2014/main" id="{73E1D751-FF4D-4ED9-B548-180F9CB5A393}"/>
              </a:ext>
            </a:extLst>
          </p:cNvPr>
          <p:cNvSpPr/>
          <p:nvPr/>
        </p:nvSpPr>
        <p:spPr>
          <a:xfrm>
            <a:off x="4762781" y="1359593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Find value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7047CDE-63EE-49E0-8CA5-1B1E990490C7}"/>
                  </a:ext>
                </a:extLst>
              </p:cNvPr>
              <p:cNvSpPr txBox="1"/>
              <p:nvPr/>
            </p:nvSpPr>
            <p:spPr>
              <a:xfrm>
                <a:off x="10551841" y="2815726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48</a:t>
                </a: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C7047CDE-63EE-49E0-8CA5-1B1E99049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841" y="2815726"/>
                <a:ext cx="931665" cy="369332"/>
              </a:xfrm>
              <a:prstGeom prst="rect">
                <a:avLst/>
              </a:prstGeom>
              <a:blipFill>
                <a:blip r:embed="rId6"/>
                <a:stretch>
                  <a:fillRect l="-5161" t="-8065" r="-3226" b="-24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020BA88-78F9-46ED-9772-850221FD3EC0}"/>
              </a:ext>
            </a:extLst>
          </p:cNvPr>
          <p:cNvCxnSpPr>
            <a:cxnSpLocks/>
          </p:cNvCxnSpPr>
          <p:nvPr/>
        </p:nvCxnSpPr>
        <p:spPr>
          <a:xfrm>
            <a:off x="9214980" y="3550135"/>
            <a:ext cx="810859" cy="801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Rounded Rectangular Callout 192">
            <a:extLst>
              <a:ext uri="{FF2B5EF4-FFF2-40B4-BE49-F238E27FC236}">
                <a16:creationId xmlns:a16="http://schemas.microsoft.com/office/drawing/2014/main" id="{6BEE7C78-F870-4656-AEC4-B4B4446382A2}"/>
              </a:ext>
            </a:extLst>
          </p:cNvPr>
          <p:cNvSpPr/>
          <p:nvPr/>
        </p:nvSpPr>
        <p:spPr>
          <a:xfrm>
            <a:off x="7810548" y="3808575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00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85" grpId="0" animBg="1"/>
      <p:bldP spid="191" grpId="0" animBg="1"/>
      <p:bldP spid="192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841BB-0D9F-4D19-B22B-D574A40B82FF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48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2B1B8-792F-4FC8-B615-3DC0642524E8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5" name="Rounded Rectangular Callout 172">
            <a:extLst>
              <a:ext uri="{FF2B5EF4-FFF2-40B4-BE49-F238E27FC236}">
                <a16:creationId xmlns:a16="http://schemas.microsoft.com/office/drawing/2014/main" id="{48C4AB27-A1CC-40CD-903B-71B89EDC554A}"/>
              </a:ext>
            </a:extLst>
          </p:cNvPr>
          <p:cNvSpPr/>
          <p:nvPr/>
        </p:nvSpPr>
        <p:spPr>
          <a:xfrm>
            <a:off x="5920774" y="3161723"/>
            <a:ext cx="2689014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Clean up!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4" name="Rounded Rectangular Callout 174">
            <a:extLst>
              <a:ext uri="{FF2B5EF4-FFF2-40B4-BE49-F238E27FC236}">
                <a16:creationId xmlns:a16="http://schemas.microsoft.com/office/drawing/2014/main" id="{CFEEE19F-D085-4B16-962E-D376FB7F00E2}"/>
              </a:ext>
            </a:extLst>
          </p:cNvPr>
          <p:cNvSpPr/>
          <p:nvPr/>
        </p:nvSpPr>
        <p:spPr>
          <a:xfrm>
            <a:off x="4057528" y="2144442"/>
            <a:ext cx="1358019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Clean up!</a:t>
            </a:r>
          </a:p>
        </p:txBody>
      </p:sp>
      <p:sp>
        <p:nvSpPr>
          <p:cNvPr id="193" name="Rounded Rectangular Callout 183">
            <a:extLst>
              <a:ext uri="{FF2B5EF4-FFF2-40B4-BE49-F238E27FC236}">
                <a16:creationId xmlns:a16="http://schemas.microsoft.com/office/drawing/2014/main" id="{26B7E216-9153-42D9-B6E5-622791E78D0D}"/>
              </a:ext>
            </a:extLst>
          </p:cNvPr>
          <p:cNvSpPr/>
          <p:nvPr/>
        </p:nvSpPr>
        <p:spPr>
          <a:xfrm>
            <a:off x="6672328" y="5026977"/>
            <a:ext cx="2689014" cy="479826"/>
          </a:xfrm>
          <a:prstGeom prst="wedgeRoundRectCallout">
            <a:avLst>
              <a:gd name="adj1" fmla="val 45621"/>
              <a:gd name="adj2" fmla="val -832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If leaf satisfies condition: Done!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ounded Rectangular Callout 192">
            <a:extLst>
              <a:ext uri="{FF2B5EF4-FFF2-40B4-BE49-F238E27FC236}">
                <a16:creationId xmlns:a16="http://schemas.microsoft.com/office/drawing/2014/main" id="{599C7764-FAFD-4BDE-8E85-B7696CBF9ABC}"/>
              </a:ext>
            </a:extLst>
          </p:cNvPr>
          <p:cNvSpPr/>
          <p:nvPr/>
        </p:nvSpPr>
        <p:spPr>
          <a:xfrm>
            <a:off x="7810548" y="3808575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516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  <p:bldP spid="184" grpId="0" animBg="1"/>
      <p:bldP spid="19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2EDA-99D3-4DE5-AB30-6A48734C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delete 48</a:t>
            </a:r>
            <a:endParaRPr lang="en-GB" dirty="0"/>
          </a:p>
        </p:txBody>
      </p:sp>
      <p:pic>
        <p:nvPicPr>
          <p:cNvPr id="3" name="Screen Recording 2" descr="Deleting 48 in the online tool">
            <a:hlinkClick r:id="" action="ppaction://media"/>
            <a:extLst>
              <a:ext uri="{FF2B5EF4-FFF2-40B4-BE49-F238E27FC236}">
                <a16:creationId xmlns:a16="http://schemas.microsoft.com/office/drawing/2014/main" id="{F84D999B-74EA-45D4-BF53-38726E2B13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923549"/>
            <a:ext cx="8515350" cy="413385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0A22C15-1F90-4F09-87C8-632C6A7A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78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050E3-8233-440A-859C-AE75D872350E}"/>
              </a:ext>
            </a:extLst>
          </p:cNvPr>
          <p:cNvSpPr txBox="1"/>
          <p:nvPr/>
        </p:nvSpPr>
        <p:spPr>
          <a:xfrm>
            <a:off x="0" y="296778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Delete 41</a:t>
            </a:r>
            <a:endParaRPr lang="en-GB" sz="40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98DF17-28A0-448A-822B-A3F54124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859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/>
              <p:cNvSpPr txBox="1"/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14:m>
                  <m:oMath xmlns:m="http://schemas.openxmlformats.org/officeDocument/2006/math">
                    <m:r>
                      <a:rPr lang="en-GB">
                        <a:latin typeface="Cambria Math" charset="0"/>
                      </a:rPr>
                      <m:t>1</m:t>
                    </m:r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41</a:t>
                </a:r>
              </a:p>
            </p:txBody>
          </p:sp>
        </mc:Choice>
        <mc:Fallback xmlns="">
          <p:sp>
            <p:nvSpPr>
              <p:cNvPr id="185" name="Text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33" y="1788778"/>
                <a:ext cx="954107" cy="369332"/>
              </a:xfrm>
              <a:prstGeom prst="rect">
                <a:avLst/>
              </a:prstGeom>
              <a:blipFill>
                <a:blip r:embed="rId5"/>
                <a:stretch>
                  <a:fillRect l="-4403" t="-6349" r="-3774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TextBox 185"/>
          <p:cNvSpPr txBox="1"/>
          <p:nvPr/>
        </p:nvSpPr>
        <p:spPr>
          <a:xfrm>
            <a:off x="7874448" y="3902442"/>
            <a:ext cx="873957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41</a:t>
            </a:r>
            <a:r>
              <a:rPr lang="en-US" dirty="0">
                <a:solidFill>
                  <a:schemeClr val="tx1"/>
                </a:solidFill>
              </a:rPr>
              <a:t> &lt; 43</a:t>
            </a:r>
          </a:p>
        </p:txBody>
      </p:sp>
      <p:cxnSp>
        <p:nvCxnSpPr>
          <p:cNvPr id="188" name="Straight Arrow Connector 187"/>
          <p:cNvCxnSpPr/>
          <p:nvPr/>
        </p:nvCxnSpPr>
        <p:spPr>
          <a:xfrm>
            <a:off x="6371898" y="2523136"/>
            <a:ext cx="2804175" cy="505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>
            <a:off x="8897742" y="3601342"/>
            <a:ext cx="106402" cy="1849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>
            <a:off x="8845773" y="6115373"/>
            <a:ext cx="36470" cy="5400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3" name="Rounded Rectangular Callout 192"/>
          <p:cNvSpPr/>
          <p:nvPr/>
        </p:nvSpPr>
        <p:spPr>
          <a:xfrm>
            <a:off x="4762781" y="1359593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Find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4" name="Rounded Rectangular Callout 193"/>
          <p:cNvSpPr/>
          <p:nvPr/>
        </p:nvSpPr>
        <p:spPr>
          <a:xfrm>
            <a:off x="7396462" y="4671722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6EF93-C303-460D-B854-A8973A13B014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41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7A20D-3488-4D48-83E8-A43A849CDB52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3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93" grpId="0" animBg="1"/>
      <p:bldP spid="19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8CD70FA-4FB0-44A0-94C9-92E334878AC4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93" name="Rounded Rectangular Callout 192"/>
          <p:cNvSpPr/>
          <p:nvPr/>
        </p:nvSpPr>
        <p:spPr>
          <a:xfrm>
            <a:off x="7396462" y="4671722"/>
            <a:ext cx="1411226" cy="488415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4" name="Rounded Rectangular Callout 183"/>
          <p:cNvSpPr/>
          <p:nvPr/>
        </p:nvSpPr>
        <p:spPr>
          <a:xfrm>
            <a:off x="6143289" y="5974477"/>
            <a:ext cx="2689014" cy="479826"/>
          </a:xfrm>
          <a:prstGeom prst="wedgeRoundRectCallout">
            <a:avLst>
              <a:gd name="adj1" fmla="val 45621"/>
              <a:gd name="adj2" fmla="val -8329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If leaf satisfies condition: Done!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CFD8EF-A706-43D5-9CDC-F2A6660AADCD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41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169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/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73" name="Rounded Rectangular Callout 172"/>
          <p:cNvSpPr/>
          <p:nvPr/>
        </p:nvSpPr>
        <p:spPr>
          <a:xfrm>
            <a:off x="4219460" y="5425401"/>
            <a:ext cx="2689014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Check if adjacent node has more than minimum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5" name="Rounded Rectangular Callout 174"/>
          <p:cNvSpPr/>
          <p:nvPr/>
        </p:nvSpPr>
        <p:spPr>
          <a:xfrm>
            <a:off x="6200336" y="3729678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Check if adjacent node has more than minimum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5" name="Rounded Rectangular Callout 184"/>
          <p:cNvSpPr/>
          <p:nvPr/>
        </p:nvSpPr>
        <p:spPr>
          <a:xfrm>
            <a:off x="2556667" y="2802788"/>
            <a:ext cx="3224868" cy="2300981"/>
          </a:xfrm>
          <a:prstGeom prst="wedgeRoundRectCallout">
            <a:avLst>
              <a:gd name="adj1" fmla="val 63093"/>
              <a:gd name="adj2" fmla="val 415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 node is adjacent to another, if they are at the same depth and their common ancestor has no descendant at that depth between them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90225-0145-421C-B571-A232D42CD6C2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41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A54DD-772F-44E2-AC3C-DF4938146FCB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447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5" grpId="0" animBg="1"/>
      <p:bldP spid="18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/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41</a:t>
            </a:r>
            <a:endParaRPr lang="en-US" dirty="0"/>
          </a:p>
        </p:txBody>
      </p:sp>
      <p:sp>
        <p:nvSpPr>
          <p:cNvPr id="173" name="Rounded Rectangular Callout 172"/>
          <p:cNvSpPr/>
          <p:nvPr/>
        </p:nvSpPr>
        <p:spPr>
          <a:xfrm>
            <a:off x="6341621" y="4436538"/>
            <a:ext cx="2689014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Steal a pointer</a:t>
            </a:r>
          </a:p>
        </p:txBody>
      </p:sp>
      <p:sp>
        <p:nvSpPr>
          <p:cNvPr id="166" name="Rounded Rectangular Callout 165"/>
          <p:cNvSpPr/>
          <p:nvPr/>
        </p:nvSpPr>
        <p:spPr>
          <a:xfrm>
            <a:off x="5920774" y="3161723"/>
            <a:ext cx="2689014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Clean up!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8754011" y="30176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47</a:t>
            </a:r>
            <a:endParaRPr lang="en-US" dirty="0"/>
          </a:p>
        </p:txBody>
      </p:sp>
      <p:sp>
        <p:nvSpPr>
          <p:cNvPr id="188" name="TextBox 187"/>
          <p:cNvSpPr txBox="1"/>
          <p:nvPr/>
        </p:nvSpPr>
        <p:spPr>
          <a:xfrm>
            <a:off x="5880917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1FA23-60E3-4733-91D8-6D4D9EB2B9C9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41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6" name="Rounded Rectangular Callout 185"/>
          <p:cNvSpPr/>
          <p:nvPr/>
        </p:nvSpPr>
        <p:spPr>
          <a:xfrm>
            <a:off x="3784134" y="2144442"/>
            <a:ext cx="1631413" cy="479826"/>
          </a:xfrm>
          <a:prstGeom prst="wedgeRoundRectCallout">
            <a:avLst>
              <a:gd name="adj1" fmla="val 59563"/>
              <a:gd name="adj2" fmla="val -24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Clean up!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11134C-ACBD-42BC-B783-579825A9F372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88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-0.04454 0.156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78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7.40741E-7 L -0.04075 0.158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" y="794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22222E-6 L -0.02969 -0.0004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7" y="13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07407E-6 L -0.03334 0.0013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/>
      <p:bldP spid="249" grpId="0"/>
      <p:bldP spid="252" grpId="0"/>
      <p:bldP spid="172" grpId="0"/>
      <p:bldP spid="166" grpId="0" animBg="1"/>
      <p:bldP spid="184" grpId="0"/>
      <p:bldP spid="188" grpId="0"/>
      <p:bldP spid="18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1DB6-8429-4C60-BFB6-322F2FE5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delete 41</a:t>
            </a:r>
            <a:endParaRPr lang="en-GB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731B4D2-83B3-4B52-A0C5-1BB75D66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 dirty="0"/>
          </a:p>
        </p:txBody>
      </p:sp>
      <p:pic>
        <p:nvPicPr>
          <p:cNvPr id="4" name="Screen Recording 3" descr="Deleting 41 in the online tool">
            <a:hlinkClick r:id="" action="ppaction://media"/>
            <a:extLst>
              <a:ext uri="{FF2B5EF4-FFF2-40B4-BE49-F238E27FC236}">
                <a16:creationId xmlns:a16="http://schemas.microsoft.com/office/drawing/2014/main" id="{96C94390-7C24-47C0-A1C9-8C1EF1823B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41147"/>
            <a:ext cx="85153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050E3-8233-440A-859C-AE75D872350E}"/>
              </a:ext>
            </a:extLst>
          </p:cNvPr>
          <p:cNvSpPr txBox="1"/>
          <p:nvPr/>
        </p:nvSpPr>
        <p:spPr>
          <a:xfrm>
            <a:off x="0" y="296778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Delete 47</a:t>
            </a:r>
            <a:endParaRPr lang="en-GB" sz="40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98DF17-28A0-448A-822B-A3F54124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525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23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/>
              <p:cNvSpPr txBox="1"/>
              <p:nvPr/>
            </p:nvSpPr>
            <p:spPr>
              <a:xfrm>
                <a:off x="7473933" y="1788778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47</a:t>
                </a:r>
              </a:p>
            </p:txBody>
          </p:sp>
        </mc:Choice>
        <mc:Fallback xmlns="">
          <p:sp>
            <p:nvSpPr>
              <p:cNvPr id="185" name="Text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33" y="1788778"/>
                <a:ext cx="931665" cy="369332"/>
              </a:xfrm>
              <a:prstGeom prst="rect">
                <a:avLst/>
              </a:prstGeom>
              <a:blipFill>
                <a:blip r:embed="rId5"/>
                <a:stretch>
                  <a:fillRect l="-4516" t="-6349" r="-3871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/>
              <p:cNvSpPr txBox="1"/>
              <p:nvPr/>
            </p:nvSpPr>
            <p:spPr>
              <a:xfrm>
                <a:off x="7874448" y="3902442"/>
                <a:ext cx="878767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47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47</a:t>
                </a:r>
              </a:p>
            </p:txBody>
          </p:sp>
        </mc:Choice>
        <mc:Fallback xmlns="">
          <p:sp>
            <p:nvSpPr>
              <p:cNvPr id="186" name="TextBox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448" y="3902442"/>
                <a:ext cx="878767" cy="369332"/>
              </a:xfrm>
              <a:prstGeom prst="rect">
                <a:avLst/>
              </a:prstGeom>
              <a:blipFill>
                <a:blip r:embed="rId6"/>
                <a:stretch>
                  <a:fillRect l="-5479" t="-6349" r="-4110" b="-2222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Straight Arrow Connector 187"/>
          <p:cNvCxnSpPr/>
          <p:nvPr/>
        </p:nvCxnSpPr>
        <p:spPr>
          <a:xfrm>
            <a:off x="6371898" y="2523136"/>
            <a:ext cx="2804175" cy="505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/>
          <p:nvPr/>
        </p:nvCxnSpPr>
        <p:spPr>
          <a:xfrm>
            <a:off x="9126572" y="3593713"/>
            <a:ext cx="673293" cy="841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Arrow Connector 191"/>
          <p:cNvCxnSpPr/>
          <p:nvPr/>
        </p:nvCxnSpPr>
        <p:spPr>
          <a:xfrm>
            <a:off x="9379766" y="4972215"/>
            <a:ext cx="805" cy="3207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3" name="Rounded Rectangular Callout 192"/>
          <p:cNvSpPr/>
          <p:nvPr/>
        </p:nvSpPr>
        <p:spPr>
          <a:xfrm>
            <a:off x="4762781" y="1359593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Find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4" name="Rounded Rectangular Callout 193"/>
          <p:cNvSpPr/>
          <p:nvPr/>
        </p:nvSpPr>
        <p:spPr>
          <a:xfrm>
            <a:off x="7488710" y="4516282"/>
            <a:ext cx="1411226" cy="488415"/>
          </a:xfrm>
          <a:prstGeom prst="wedgeRoundRectCallout">
            <a:avLst>
              <a:gd name="adj1" fmla="val 72835"/>
              <a:gd name="adj2" fmla="val -3510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56A0E2-7483-4D7D-B085-112ACC545F2B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12F2D-61B1-42AA-88DA-217327F718F8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0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93" grpId="0" animBg="1"/>
      <p:bldP spid="19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24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94" name="Rounded Rectangular Callout 193"/>
          <p:cNvSpPr/>
          <p:nvPr/>
        </p:nvSpPr>
        <p:spPr>
          <a:xfrm>
            <a:off x="7488710" y="4516282"/>
            <a:ext cx="1411226" cy="488415"/>
          </a:xfrm>
          <a:prstGeom prst="wedgeRoundRectCallout">
            <a:avLst>
              <a:gd name="adj1" fmla="val 72835"/>
              <a:gd name="adj2" fmla="val -3510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8" name="Rounded Rectangular Callout 167"/>
          <p:cNvSpPr/>
          <p:nvPr/>
        </p:nvSpPr>
        <p:spPr>
          <a:xfrm>
            <a:off x="5761327" y="5010772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Check if adjacent node has more than minimum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F3D0EA-D93F-48C0-BE20-7F6F9F9101E6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0F47D-A9B6-4965-9769-DD71911518D2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5" name="Rounded Rectangular Callout 183">
            <a:extLst>
              <a:ext uri="{FF2B5EF4-FFF2-40B4-BE49-F238E27FC236}">
                <a16:creationId xmlns:a16="http://schemas.microsoft.com/office/drawing/2014/main" id="{36571E60-9157-4224-BB74-BE28C1D23CFB}"/>
              </a:ext>
            </a:extLst>
          </p:cNvPr>
          <p:cNvSpPr/>
          <p:nvPr/>
        </p:nvSpPr>
        <p:spPr>
          <a:xfrm>
            <a:off x="9020352" y="3752415"/>
            <a:ext cx="2689014" cy="479826"/>
          </a:xfrm>
          <a:prstGeom prst="wedgeRoundRectCallout">
            <a:avLst>
              <a:gd name="adj1" fmla="val -12545"/>
              <a:gd name="adj2" fmla="val 10895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If leaf satisfies condition: Done!</a:t>
            </a:r>
            <a:endParaRPr 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92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7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25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75" name="Rounded Rectangular Callout 174"/>
          <p:cNvSpPr/>
          <p:nvPr/>
        </p:nvSpPr>
        <p:spPr>
          <a:xfrm>
            <a:off x="5881161" y="4633121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Pick an adjacent node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84" name="Straight Arrow Connector 183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05B65F-4538-44CE-AAB1-B0805864E60B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7482D-DDED-402A-9A0F-20B9AF1577F7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extLst>
      <p:ext uri="{BB962C8B-B14F-4D97-AF65-F5344CB8AC3E}">
        <p14:creationId xmlns:p14="http://schemas.microsoft.com/office/powerpoint/2010/main" val="523898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26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3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75" name="Rounded Rectangular Callout 174"/>
          <p:cNvSpPr/>
          <p:nvPr/>
        </p:nvSpPr>
        <p:spPr>
          <a:xfrm>
            <a:off x="6074710" y="4507006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Pick an adjacent node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3" name="Rounded Rectangular Callout 172"/>
          <p:cNvSpPr/>
          <p:nvPr/>
        </p:nvSpPr>
        <p:spPr>
          <a:xfrm>
            <a:off x="6263919" y="3621196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Merge together!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85" name="Straight Arrow Connector 184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D34B15E-02B1-498C-B245-D64CE72E876C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A4E6C-C4E9-45ED-B85A-7F23341E6591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extLst>
      <p:ext uri="{BB962C8B-B14F-4D97-AF65-F5344CB8AC3E}">
        <p14:creationId xmlns:p14="http://schemas.microsoft.com/office/powerpoint/2010/main" val="475422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27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7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75" name="Rounded Rectangular Callout 174"/>
          <p:cNvSpPr/>
          <p:nvPr/>
        </p:nvSpPr>
        <p:spPr>
          <a:xfrm>
            <a:off x="8015330" y="3765428"/>
            <a:ext cx="1234889" cy="479826"/>
          </a:xfrm>
          <a:prstGeom prst="wedgeRoundRectCallout">
            <a:avLst>
              <a:gd name="adj1" fmla="val 48122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Remove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84" name="Straight Arrow Connector 183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2A2B270-18FA-4667-92A1-493310988671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E6052-4BC9-4467-8266-E6F1D65E1E32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extLst>
      <p:ext uri="{BB962C8B-B14F-4D97-AF65-F5344CB8AC3E}">
        <p14:creationId xmlns:p14="http://schemas.microsoft.com/office/powerpoint/2010/main" val="1935351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28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20000" y="4383687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25627" y="4374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49961" y="4369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40391" y="3573017"/>
            <a:ext cx="635397" cy="81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825837" y="3573016"/>
            <a:ext cx="1082336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7362534" y="4941169"/>
            <a:ext cx="331748" cy="4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4669" y="4923747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09116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196234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flipH="1">
            <a:off x="9265278" y="5013176"/>
            <a:ext cx="57631" cy="54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9267258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73" name="Rounded Rectangular Callout 172"/>
          <p:cNvSpPr/>
          <p:nvPr/>
        </p:nvSpPr>
        <p:spPr>
          <a:xfrm>
            <a:off x="7838797" y="1946318"/>
            <a:ext cx="1234889" cy="479826"/>
          </a:xfrm>
          <a:prstGeom prst="wedgeRoundRectCallout">
            <a:avLst>
              <a:gd name="adj1" fmla="val 48122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A0706-8CA5-400A-967E-182FC2C12BF6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FF3D3-3086-4D4D-B111-9C286ADDC9F7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35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29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20000" y="4383687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25627" y="4374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49961" y="4369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40391" y="3573017"/>
            <a:ext cx="635397" cy="81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825837" y="3573016"/>
            <a:ext cx="1082336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7362534" y="4941169"/>
            <a:ext cx="331748" cy="4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4669" y="4923747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09116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196234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flipH="1">
            <a:off x="9265278" y="5013176"/>
            <a:ext cx="57631" cy="54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9267258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73" name="Rounded Rectangular Callout 172"/>
          <p:cNvSpPr/>
          <p:nvPr/>
        </p:nvSpPr>
        <p:spPr>
          <a:xfrm>
            <a:off x="7838797" y="1946318"/>
            <a:ext cx="1234889" cy="479826"/>
          </a:xfrm>
          <a:prstGeom prst="wedgeRoundRectCallout">
            <a:avLst>
              <a:gd name="adj1" fmla="val 48122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FBA49-5FA9-42F3-AAF0-EDF647F8DDB5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Rounded Rectangular Callout 142"/>
          <p:cNvSpPr/>
          <p:nvPr/>
        </p:nvSpPr>
        <p:spPr>
          <a:xfrm>
            <a:off x="3880625" y="2568827"/>
            <a:ext cx="2689014" cy="479826"/>
          </a:xfrm>
          <a:prstGeom prst="wedgeRoundRectCallout">
            <a:avLst>
              <a:gd name="adj1" fmla="val 60923"/>
              <a:gd name="adj2" fmla="val 1225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Check if adjacent node has more than minimum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00C51-C76B-48C0-90B5-F963B57A181E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extLst>
      <p:ext uri="{BB962C8B-B14F-4D97-AF65-F5344CB8AC3E}">
        <p14:creationId xmlns:p14="http://schemas.microsoft.com/office/powerpoint/2010/main" val="1366315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30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20000" y="4383687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25627" y="4374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49961" y="4369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40391" y="3573017"/>
            <a:ext cx="635397" cy="81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825837" y="3573016"/>
            <a:ext cx="1082336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1524001" y="6474822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7362534" y="4941169"/>
            <a:ext cx="331748" cy="4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4669" y="4923747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09116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196234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flipH="1">
            <a:off x="9265278" y="5013176"/>
            <a:ext cx="57631" cy="54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9267258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44" name="Rounded Rectangular Callout 143"/>
          <p:cNvSpPr/>
          <p:nvPr/>
        </p:nvSpPr>
        <p:spPr>
          <a:xfrm>
            <a:off x="7883563" y="2110399"/>
            <a:ext cx="1729700" cy="479826"/>
          </a:xfrm>
          <a:prstGeom prst="wedgeRoundRectCallout">
            <a:avLst>
              <a:gd name="adj1" fmla="val 41778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Steal &amp; update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7A310C-B415-494A-AC0E-2A765918C94A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59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31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20000" y="4383687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25627" y="4374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49961" y="4369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760984" y="30010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 flipH="1">
            <a:off x="8375787" y="3573017"/>
            <a:ext cx="450050" cy="81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7362534" y="4941169"/>
            <a:ext cx="331748" cy="4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4669" y="4923747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09116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196234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flipH="1">
            <a:off x="9265278" y="5013176"/>
            <a:ext cx="57631" cy="54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9267258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44" name="Rounded Rectangular Callout 143"/>
          <p:cNvSpPr/>
          <p:nvPr/>
        </p:nvSpPr>
        <p:spPr>
          <a:xfrm>
            <a:off x="7883563" y="2110399"/>
            <a:ext cx="1729700" cy="479826"/>
          </a:xfrm>
          <a:prstGeom prst="wedgeRoundRectCallout">
            <a:avLst>
              <a:gd name="adj1" fmla="val 41778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Steal &amp; update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01FF5-3C8D-4781-B613-4B238F12E1F0}"/>
              </a:ext>
            </a:extLst>
          </p:cNvPr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6A01C-C496-4455-B109-35E1E4B9CABA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extLst>
      <p:ext uri="{BB962C8B-B14F-4D97-AF65-F5344CB8AC3E}">
        <p14:creationId xmlns:p14="http://schemas.microsoft.com/office/powerpoint/2010/main" val="298275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32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20000" y="4383687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25627" y="43743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49961" y="43697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760984" y="30010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 flipH="1">
            <a:off x="8375787" y="3573017"/>
            <a:ext cx="450050" cy="810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645848" y="1826244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delete value </a:t>
            </a:r>
            <a:r>
              <a:rPr lang="en-US" dirty="0">
                <a:solidFill>
                  <a:srgbClr val="FF0000"/>
                </a:solidFill>
              </a:rPr>
              <a:t>47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V="1">
            <a:off x="7362534" y="4941169"/>
            <a:ext cx="331748" cy="4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4669" y="4923747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09116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196234" y="501317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 flipH="1">
            <a:off x="9265278" y="5013176"/>
            <a:ext cx="57631" cy="547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9267258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sp>
        <p:nvSpPr>
          <p:cNvPr id="144" name="Rounded Rectangular Callout 143"/>
          <p:cNvSpPr/>
          <p:nvPr/>
        </p:nvSpPr>
        <p:spPr>
          <a:xfrm>
            <a:off x="7883563" y="2110399"/>
            <a:ext cx="1729700" cy="479826"/>
          </a:xfrm>
          <a:prstGeom prst="wedgeRoundRectCallout">
            <a:avLst>
              <a:gd name="adj1" fmla="val 41778"/>
              <a:gd name="adj2" fmla="val 1339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Steal &amp; update</a:t>
            </a:r>
          </a:p>
        </p:txBody>
      </p:sp>
      <p:sp>
        <p:nvSpPr>
          <p:cNvPr id="143" name="Rounded Rectangular Callout 142"/>
          <p:cNvSpPr/>
          <p:nvPr/>
        </p:nvSpPr>
        <p:spPr>
          <a:xfrm>
            <a:off x="6685326" y="1184978"/>
            <a:ext cx="1234889" cy="479826"/>
          </a:xfrm>
          <a:prstGeom prst="wedgeRoundRectCallout">
            <a:avLst>
              <a:gd name="adj1" fmla="val -57025"/>
              <a:gd name="adj2" fmla="val 9393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Update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87997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E3788-566A-4459-BE2C-4655672A824B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26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0D0B-7819-4662-B0CF-A73913DD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delete 47</a:t>
            </a:r>
            <a:endParaRPr lang="en-GB" dirty="0"/>
          </a:p>
        </p:txBody>
      </p:sp>
      <p:pic>
        <p:nvPicPr>
          <p:cNvPr id="4" name="Screen Recording 3" descr="Deleting 47 in the online tool">
            <a:hlinkClick r:id="" action="ppaction://media"/>
            <a:extLst>
              <a:ext uri="{FF2B5EF4-FFF2-40B4-BE49-F238E27FC236}">
                <a16:creationId xmlns:a16="http://schemas.microsoft.com/office/drawing/2014/main" id="{887C6EDD-DDD8-4763-A1D2-5827EEE7A3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76425"/>
            <a:ext cx="8515350" cy="413385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880A48-91F7-45CA-B7B7-96D124D3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19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Deletion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3658" y="1773575"/>
                <a:ext cx="8686800" cy="464326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Goal: delete a value/pointer pair</a:t>
                </a:r>
                <a:endParaRPr lang="en-US" sz="2400" b="1" dirty="0"/>
              </a:p>
              <a:p>
                <a:r>
                  <a:rPr lang="en-US" sz="2400" dirty="0"/>
                  <a:t>Procedure: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Find the leaf that should contain the value </a:t>
                </a:r>
              </a:p>
              <a:p>
                <a:pPr lvl="2">
                  <a:spcBef>
                    <a:spcPts val="576"/>
                  </a:spcBef>
                </a:pPr>
                <a:r>
                  <a:rPr lang="en-US" sz="1600" dirty="0"/>
                  <a:t>If not there: Done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Remove the value/pointer pair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Let the current node C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Let x be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100" i="1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GB" sz="1100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𝑓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𝐶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𝑖𝑠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𝑟𝑜𝑜𝑡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mr-IN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i="1">
                                          <a:latin typeface="Cambria Math" charset="0"/>
                                        </a:rPr>
                                        <m:t>𝑛</m:t>
                                      </m:r>
                                      <m:r>
                                        <a:rPr lang="en-GB" sz="1200" i="1">
                                          <a:latin typeface="Cambria Math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GB" sz="12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lang="en-GB" sz="1100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𝑓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𝐶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𝑖𝑠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𝑖𝑛𝑡𝑒𝑟𝑛𝑎𝑙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200" i="1">
                                  <a:latin typeface="Cambria Math" charset="0"/>
                                </a:rPr>
                                <m:t>𝑛𝑜𝑑𝑒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mr-IN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100" i="1">
                                          <a:latin typeface="Cambria Math" charset="0"/>
                                        </a:rPr>
                                        <m:t>𝑛</m:t>
                                      </m:r>
                                      <m:r>
                                        <a:rPr lang="en-GB" sz="1100" i="1">
                                          <a:latin typeface="Cambria Math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GB" sz="11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lang="en-GB" sz="1100" i="1">
                                  <a:latin typeface="Cambria Math" charset="0"/>
                                </a:rPr>
                                <m:t>𝑖𝑓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𝑐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𝑖𝑠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charset="0"/>
                                </a:rPr>
                                <m:t>𝑙𝑒𝑎𝑓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If C has above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sz="2000" dirty="0"/>
                  <a:t> pointers: Fix ancestors (if necessary) and you are done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If C is the root but not a leaf: Remove it (and let the child of the root be the new root)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Otherwise, check if an adjacent node</a:t>
                </a:r>
                <a:r>
                  <a:rPr lang="en-GB" sz="1800" dirty="0">
                    <a:solidFill>
                      <a:prstClr val="black"/>
                    </a:solidFill>
                  </a:rPr>
                  <a:t> </a:t>
                </a:r>
                <a:r>
                  <a:rPr lang="en-US" sz="2000" dirty="0"/>
                  <a:t>has at least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𝑥</m:t>
                    </m:r>
                    <m:r>
                      <a:rPr lang="en-GB" sz="2000" i="1"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sz="2000" dirty="0"/>
                  <a:t> pointers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If so: take one, fix ancestors (if necessary) and you are done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Otherwise, merge with sibling and go to line 3 with the parent as current node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The B+ tree </a:t>
                </a:r>
                <a:r>
                  <a:rPr lang="en-US" sz="2400" b="1" dirty="0"/>
                  <a:t>remains balanced</a:t>
                </a:r>
                <a:r>
                  <a:rPr lang="en-US" sz="2400" dirty="0"/>
                  <a:t>!</a:t>
                </a:r>
              </a:p>
              <a:p>
                <a:pPr>
                  <a:spcBef>
                    <a:spcPts val="1176"/>
                  </a:spcBef>
                </a:pPr>
                <a:r>
                  <a:rPr lang="en-US" sz="2400" dirty="0"/>
                  <a:t>Running time: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log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n) 		“real” running time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D)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3658" y="1773575"/>
                <a:ext cx="8686800" cy="4643268"/>
              </a:xfrm>
              <a:blipFill>
                <a:blip r:embed="rId5"/>
                <a:stretch>
                  <a:fillRect l="-421" t="-1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7" name="Rounded Rectangular Callout 46"/>
          <p:cNvSpPr/>
          <p:nvPr/>
        </p:nvSpPr>
        <p:spPr>
          <a:xfrm>
            <a:off x="2700881" y="6264822"/>
            <a:ext cx="2199150" cy="364083"/>
          </a:xfrm>
          <a:prstGeom prst="wedgeRoundRectCallout">
            <a:avLst>
              <a:gd name="adj1" fmla="val -31961"/>
              <a:gd name="adj2" fmla="val -892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Height of the B+ tree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7471810" y="5749844"/>
            <a:ext cx="2847222" cy="364083"/>
          </a:xfrm>
          <a:prstGeom prst="wedgeRoundRectCallout">
            <a:avLst>
              <a:gd name="adj1" fmla="val -56470"/>
              <a:gd name="adj2" fmla="val -136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Time for a disk operation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8131120" y="3913167"/>
            <a:ext cx="2847222" cy="364083"/>
          </a:xfrm>
          <a:prstGeom prst="wedgeRoundRectCallout">
            <a:avLst>
              <a:gd name="adj1" fmla="val -111489"/>
              <a:gd name="adj2" fmla="val 1452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See definition slide 19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873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B+ Tree Indexes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Fast lookups, insertions, deletions </a:t>
                </a:r>
                <a:r>
                  <a:rPr lang="en-US" dirty="0"/>
                  <a:t>in time:</a:t>
                </a:r>
              </a:p>
              <a:p>
                <a:endParaRPr lang="en-US" dirty="0"/>
              </a:p>
              <a:p>
                <a:pPr>
                  <a:spcBef>
                    <a:spcPts val="3072"/>
                  </a:spcBef>
                </a:pPr>
                <a:r>
                  <a:rPr lang="en-US" dirty="0"/>
                  <a:t>Remain </a:t>
                </a:r>
                <a:r>
                  <a:rPr lang="en-US" b="1" dirty="0"/>
                  <a:t>balanced</a:t>
                </a:r>
              </a:p>
              <a:p>
                <a:r>
                  <a:rPr lang="en-US" b="1" dirty="0"/>
                  <a:t>Huge capacity </a:t>
                </a:r>
                <a:r>
                  <a:rPr lang="en-US" dirty="0"/>
                  <a:t>even with height 3 if blocks large enough</a:t>
                </a:r>
              </a:p>
              <a:p>
                <a:pPr lvl="1"/>
                <a:r>
                  <a:rPr lang="en-US" dirty="0"/>
                  <a:t>Block size: 16386 bytes (16 kilobytes)</a:t>
                </a:r>
              </a:p>
              <a:p>
                <a:pPr lvl="1"/>
                <a:r>
                  <a:rPr lang="en-US" dirty="0"/>
                  <a:t>Values stored in index: 4 bytes</a:t>
                </a:r>
              </a:p>
              <a:p>
                <a:pPr lvl="1"/>
                <a:r>
                  <a:rPr lang="en-US" dirty="0"/>
                  <a:t>Pointers: 8 bytes</a:t>
                </a:r>
              </a:p>
              <a:p>
                <a:pPr lvl="1"/>
                <a:r>
                  <a:rPr lang="en-US" dirty="0"/>
                  <a:t>Largest </a:t>
                </a:r>
                <a:r>
                  <a:rPr lang="en-US" dirty="0">
                    <a:solidFill>
                      <a:schemeClr val="accent1"/>
                    </a:solidFill>
                  </a:rPr>
                  <a:t>n</a:t>
                </a:r>
                <a:r>
                  <a:rPr lang="en-US" dirty="0"/>
                  <a:t> so that each B+ tree node fits into a block</a:t>
                </a:r>
                <a:br>
                  <a:rPr lang="en-US" dirty="0"/>
                </a:br>
                <a:r>
                  <a:rPr lang="en-US" dirty="0"/>
                  <a:t>(i.e., </a:t>
                </a:r>
                <a:r>
                  <a:rPr lang="en-US" i="1" dirty="0"/>
                  <a:t>4</a:t>
                </a:r>
                <a:r>
                  <a:rPr lang="en-US" i="1" dirty="0">
                    <a:solidFill>
                      <a:schemeClr val="accent1"/>
                    </a:solidFill>
                  </a:rPr>
                  <a:t>n</a:t>
                </a:r>
                <a:r>
                  <a:rPr lang="en-US" i="1" dirty="0"/>
                  <a:t> + 8(</a:t>
                </a:r>
                <a:r>
                  <a:rPr lang="en-US" i="1" dirty="0">
                    <a:solidFill>
                      <a:schemeClr val="accent1"/>
                    </a:solidFill>
                  </a:rPr>
                  <a:t>n</a:t>
                </a:r>
                <a:r>
                  <a:rPr lang="en-US" i="1" dirty="0"/>
                  <a:t>+1)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i="1" dirty="0"/>
                  <a:t> 16386</a:t>
                </a:r>
                <a:r>
                  <a:rPr lang="en-US" dirty="0"/>
                  <a:t>) is 1364</a:t>
                </a:r>
              </a:p>
              <a:p>
                <a:pPr lvl="1"/>
                <a:r>
                  <a:rPr lang="en-US" dirty="0"/>
                  <a:t>B+ trees with height 3 can store &gt; n</a:t>
                </a:r>
                <a:r>
                  <a:rPr lang="en-US" baseline="30000" dirty="0"/>
                  <a:t>3</a:t>
                </a:r>
                <a:r>
                  <a:rPr lang="en-US" dirty="0"/>
                  <a:t> = </a:t>
                </a:r>
                <a:r>
                  <a:rPr lang="is-IS" dirty="0"/>
                  <a:t>2.5</a:t>
                </a:r>
                <a:r>
                  <a:rPr lang="is-IS" baseline="30000" dirty="0"/>
                  <a:t>.</a:t>
                </a:r>
                <a:r>
                  <a:rPr lang="is-IS" dirty="0"/>
                  <a:t>10</a:t>
                </a:r>
                <a:r>
                  <a:rPr lang="is-IS" baseline="30000" dirty="0"/>
                  <a:t>9</a:t>
                </a:r>
                <a:r>
                  <a:rPr lang="en-US" dirty="0"/>
                  <a:t> values</a:t>
                </a:r>
                <a:endParaRPr lang="is-I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59570" y="2518116"/>
                <a:ext cx="37457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176"/>
                  </a:spcBef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height of B+ tree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log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n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570" y="2518116"/>
                <a:ext cx="3745705" cy="461665"/>
              </a:xfrm>
              <a:prstGeom prst="rect">
                <a:avLst/>
              </a:prstGeom>
              <a:blipFill>
                <a:blip r:embed="rId6"/>
                <a:stretch>
                  <a:fillRect t="-10526" r="-1954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359970" y="2830084"/>
                <a:ext cx="15579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176"/>
                  </a:spcBef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log</a:t>
                </a:r>
                <a:r>
                  <a:rPr lang="en-US" sz="2400" baseline="-25000" dirty="0">
                    <a:solidFill>
                      <a:schemeClr val="accent2"/>
                    </a:solidFill>
                  </a:rPr>
                  <a:t>2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GB" sz="2400" dirty="0">
                    <a:solidFill>
                      <a:schemeClr val="accent2"/>
                    </a:solidFill>
                  </a:rPr>
                  <a:t>N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970" y="2830084"/>
                <a:ext cx="1557927" cy="461665"/>
              </a:xfrm>
              <a:prstGeom prst="rect">
                <a:avLst/>
              </a:prstGeom>
              <a:blipFill>
                <a:blip r:embed="rId7"/>
                <a:stretch>
                  <a:fillRect l="-5859" t="-10526" r="-5078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359970" y="2505470"/>
                <a:ext cx="2681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176"/>
                  </a:spcBef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 err="1">
                    <a:solidFill>
                      <a:schemeClr val="accent2"/>
                    </a:solidFill>
                  </a:rPr>
                  <a:t>log</a:t>
                </a:r>
                <a:r>
                  <a:rPr lang="en-US" sz="2400" baseline="-25000" dirty="0" err="1">
                    <a:solidFill>
                      <a:srgbClr val="4F81BD"/>
                    </a:solidFill>
                  </a:rPr>
                  <a:t>n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GB" sz="2400" dirty="0">
                    <a:solidFill>
                      <a:schemeClr val="accent2"/>
                    </a:solidFill>
                  </a:rPr>
                  <a:t>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GB" sz="2400" dirty="0"/>
                  <a:t>log</a:t>
                </a:r>
                <a:r>
                  <a:rPr lang="en-GB" sz="2400" baseline="-25000" dirty="0"/>
                  <a:t>2</a:t>
                </a:r>
                <a:r>
                  <a:rPr lang="en-GB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GB" sz="2400" dirty="0">
                    <a:solidFill>
                      <a:srgbClr val="4F81BD"/>
                    </a:solidFill>
                  </a:rPr>
                  <a:t>n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970" y="2505470"/>
                <a:ext cx="2681633" cy="461665"/>
              </a:xfrm>
              <a:prstGeom prst="rect">
                <a:avLst/>
              </a:prstGeom>
              <a:blipFill>
                <a:blip r:embed="rId8"/>
                <a:stretch>
                  <a:fillRect l="-3409" t="-10526" r="-682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ular Callout 8"/>
          <p:cNvSpPr/>
          <p:nvPr/>
        </p:nvSpPr>
        <p:spPr>
          <a:xfrm>
            <a:off x="3791223" y="2142703"/>
            <a:ext cx="2847222" cy="364083"/>
          </a:xfrm>
          <a:prstGeom prst="wedgeRoundRectCallout">
            <a:avLst>
              <a:gd name="adj1" fmla="val 33509"/>
              <a:gd name="adj2" fmla="val 9408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/>
                </a:solidFill>
              </a:rPr>
              <a:t>n</a:t>
            </a:r>
            <a:r>
              <a:rPr lang="en-GB" sz="2400" dirty="0"/>
              <a:t> ≈ B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700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8" grpId="0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B+ Tree Indexes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Can be implemented </a:t>
                </a:r>
                <a:r>
                  <a:rPr lang="en-US" b="1" dirty="0"/>
                  <a:t>efficiently with respect to number of disk accesses</a:t>
                </a:r>
              </a:p>
              <a:p>
                <a:pPr lvl="1"/>
                <a:r>
                  <a:rPr lang="en-GB" dirty="0"/>
                  <a:t>Number of disk accesses typically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2 + height of B+ tree</a:t>
                </a:r>
              </a:p>
              <a:p>
                <a:r>
                  <a:rPr lang="en-US" dirty="0"/>
                  <a:t>Most of the B+ tree can be kept in memory</a:t>
                </a:r>
              </a:p>
              <a:p>
                <a:pPr lvl="1"/>
                <a:r>
                  <a:rPr lang="en-US" dirty="0"/>
                  <a:t>Specifically, the upper levels</a:t>
                </a:r>
              </a:p>
              <a:p>
                <a:pPr lvl="1"/>
                <a:r>
                  <a:rPr lang="en-US" dirty="0"/>
                  <a:t>Even with block size of 16384 bytes and n = 1364:</a:t>
                </a:r>
              </a:p>
              <a:p>
                <a:pPr lvl="2"/>
                <a:r>
                  <a:rPr lang="en-US" dirty="0"/>
                  <a:t>Level 1 (root)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16 KB</a:t>
                </a:r>
              </a:p>
              <a:p>
                <a:pPr lvl="2"/>
                <a:r>
                  <a:rPr lang="en-US" dirty="0"/>
                  <a:t>Level 2 (children of root)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16 KB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21 MB</a:t>
                </a:r>
              </a:p>
              <a:p>
                <a:pPr lvl="2"/>
                <a:r>
                  <a:rPr lang="en-US" dirty="0"/>
                  <a:t>Level 3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16 KB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28 GB</a:t>
                </a:r>
              </a:p>
              <a:p>
                <a:pPr lvl="2"/>
                <a:r>
                  <a:rPr lang="en-US" dirty="0"/>
                  <a:t>Level 4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(n+1)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16 KB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38 TB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4772163" y="4749316"/>
            <a:ext cx="3807060" cy="654658"/>
          </a:xfrm>
          <a:prstGeom prst="wedgeRoundRectCallout">
            <a:avLst>
              <a:gd name="adj1" fmla="val -35292"/>
              <a:gd name="adj2" fmla="val -723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Typically, these are the leaf nodes and</a:t>
            </a:r>
            <a:br>
              <a:rPr lang="en-GB" dirty="0"/>
            </a:br>
            <a:r>
              <a:rPr lang="en-GB" dirty="0"/>
              <a:t>can be loaded from disk on demand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887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D78E-047D-418E-8219-B7B4ADD5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A38F32-D348-4DDA-BC97-90F925FA4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do each operation (search, insertion and deletions) in a B+-tree in time </a:t>
                </a:r>
                <a:endParaRPr lang="en-US" sz="2000" i="1" dirty="0">
                  <a:latin typeface="Cambria Math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chemeClr val="accent2"/>
                    </a:solidFill>
                  </a:rPr>
                  <a:t>height of B+ tree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log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n</a:t>
                </a:r>
                <a:r>
                  <a:rPr lang="en-US" dirty="0"/>
                  <a:t>) or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>
                    <a:solidFill>
                      <a:schemeClr val="accent2"/>
                    </a:solidFill>
                  </a:rPr>
                  <a:t>height of B+ tree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D)</a:t>
                </a:r>
              </a:p>
              <a:p>
                <a:endParaRPr lang="en-GB" dirty="0"/>
              </a:p>
              <a:p>
                <a:endParaRPr lang="en-GB" sz="2000" dirty="0"/>
              </a:p>
              <a:p>
                <a:r>
                  <a:rPr lang="en-GB" dirty="0"/>
                  <a:t>Slide 34 contains a summary of how to do deletions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A38F32-D348-4DDA-BC97-90F925FA4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41F56-3D99-4E2E-993E-0BCF28DC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37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6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9|8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7|1.8|2.6|3.3|3.5|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13.8|2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2.5|2.1|3.5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22.3|4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.8|3.2|2.1|2.9|4.7|2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6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10|10.1|4.9|1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2.1|4.2|4.1|2.6|2.9|3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4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15.1|6.8|27.7|35.3|36.4|14.5|11.8|16.6|42.3|33.9|4.8|43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3|26.9|30.3|10|97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8|15.4|21|74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201</TotalTime>
  <Words>1589</Words>
  <Application>Microsoft Office PowerPoint</Application>
  <PresentationFormat>Widescreen</PresentationFormat>
  <Paragraphs>635</Paragraphs>
  <Slides>37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Calibri</vt:lpstr>
      <vt:lpstr>Calibri Light</vt:lpstr>
      <vt:lpstr>Cambria Math</vt:lpstr>
      <vt:lpstr>Retrospect</vt:lpstr>
      <vt:lpstr>Deletions and conclusions for B+-Trees</vt:lpstr>
      <vt:lpstr>Overview of video</vt:lpstr>
      <vt:lpstr>Initial tree</vt:lpstr>
      <vt:lpstr>Online version of the initial tree</vt:lpstr>
      <vt:lpstr>PowerPoint Presentation</vt:lpstr>
      <vt:lpstr>Deletion</vt:lpstr>
      <vt:lpstr>Deletion</vt:lpstr>
      <vt:lpstr>Online version of delete 42</vt:lpstr>
      <vt:lpstr>Side note</vt:lpstr>
      <vt:lpstr>Before insertion + deletion of 42</vt:lpstr>
      <vt:lpstr>After insertion + deletion of 42</vt:lpstr>
      <vt:lpstr>PowerPoint Presentation</vt:lpstr>
      <vt:lpstr>Deletion 2</vt:lpstr>
      <vt:lpstr>Deletion 2</vt:lpstr>
      <vt:lpstr>Online version of delete 48</vt:lpstr>
      <vt:lpstr>PowerPoint Presentation</vt:lpstr>
      <vt:lpstr>Deletion 3</vt:lpstr>
      <vt:lpstr>Deletion 3</vt:lpstr>
      <vt:lpstr>Deletion 3</vt:lpstr>
      <vt:lpstr>Deletion 3</vt:lpstr>
      <vt:lpstr>Online version of delete 41</vt:lpstr>
      <vt:lpstr>PowerPoint Presentation</vt:lpstr>
      <vt:lpstr>Deletion 4</vt:lpstr>
      <vt:lpstr>Deletion 4</vt:lpstr>
      <vt:lpstr>Deletion 4</vt:lpstr>
      <vt:lpstr>Deletion 4</vt:lpstr>
      <vt:lpstr>Deletion 4</vt:lpstr>
      <vt:lpstr>Deletion 4</vt:lpstr>
      <vt:lpstr>Deletion 4</vt:lpstr>
      <vt:lpstr>Deletion 4</vt:lpstr>
      <vt:lpstr>Deletion 4</vt:lpstr>
      <vt:lpstr>Deletion 4</vt:lpstr>
      <vt:lpstr>Online version of delete 47</vt:lpstr>
      <vt:lpstr>Review: Deletion</vt:lpstr>
      <vt:lpstr>Properties of B+ Tree Indexes</vt:lpstr>
      <vt:lpstr>Properties of B+ Tree Indexes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Deletions and conclusions for B+-Trees</dc:title>
  <dc:creator>Rasmus Ibsen-Jensen</dc:creator>
  <cp:lastModifiedBy>Rasmus Ibsen-Jensen</cp:lastModifiedBy>
  <cp:revision>14</cp:revision>
  <dcterms:created xsi:type="dcterms:W3CDTF">2020-11-14T16:41:34Z</dcterms:created>
  <dcterms:modified xsi:type="dcterms:W3CDTF">2020-11-17T17:53:19Z</dcterms:modified>
</cp:coreProperties>
</file>