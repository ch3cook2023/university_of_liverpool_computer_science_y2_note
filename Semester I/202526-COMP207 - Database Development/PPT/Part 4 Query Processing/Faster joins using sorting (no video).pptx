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95" r:id="rId3"/>
    <p:sldId id="494" r:id="rId4"/>
    <p:sldId id="488" r:id="rId5"/>
    <p:sldId id="489" r:id="rId6"/>
    <p:sldId id="444" r:id="rId7"/>
    <p:sldId id="445" r:id="rId8"/>
    <p:sldId id="446" r:id="rId9"/>
    <p:sldId id="447" r:id="rId10"/>
    <p:sldId id="450" r:id="rId11"/>
    <p:sldId id="448" r:id="rId12"/>
    <p:sldId id="451" r:id="rId13"/>
    <p:sldId id="449" r:id="rId14"/>
    <p:sldId id="490" r:id="rId15"/>
    <p:sldId id="491" r:id="rId16"/>
    <p:sldId id="454" r:id="rId17"/>
    <p:sldId id="455" r:id="rId18"/>
    <p:sldId id="456" r:id="rId19"/>
    <p:sldId id="458" r:id="rId20"/>
    <p:sldId id="492" r:id="rId21"/>
    <p:sldId id="459" r:id="rId22"/>
    <p:sldId id="460" r:id="rId23"/>
    <p:sldId id="461" r:id="rId24"/>
    <p:sldId id="463" r:id="rId25"/>
    <p:sldId id="462" r:id="rId26"/>
    <p:sldId id="464" r:id="rId27"/>
    <p:sldId id="465" r:id="rId28"/>
    <p:sldId id="466" r:id="rId29"/>
    <p:sldId id="467" r:id="rId30"/>
    <p:sldId id="468" r:id="rId31"/>
    <p:sldId id="469" r:id="rId32"/>
    <p:sldId id="470" r:id="rId33"/>
    <p:sldId id="493" r:id="rId34"/>
    <p:sldId id="472" r:id="rId35"/>
    <p:sldId id="471" r:id="rId36"/>
    <p:sldId id="43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20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3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04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01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23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33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21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17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58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49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28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F8AE013-C646-4BB7-92B6-FDC7D50B6A5F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600EA25-848E-4EB6-A41E-04DC059FEE0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3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8.png"/><Relationship Id="rId5" Type="http://schemas.openxmlformats.org/officeDocument/2006/relationships/image" Target="../media/image2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7" Type="http://schemas.openxmlformats.org/officeDocument/2006/relationships/image" Target="../media/image1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9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tiff"/><Relationship Id="rId7" Type="http://schemas.openxmlformats.org/officeDocument/2006/relationships/image" Target="../media/image15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3.tiff"/><Relationship Id="rId9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85D6-1E59-411C-A93F-E86B4193E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637520" cy="3566160"/>
          </a:xfrm>
        </p:spPr>
        <p:txBody>
          <a:bodyPr/>
          <a:lstStyle/>
          <a:p>
            <a:r>
              <a:rPr lang="en-US" dirty="0"/>
              <a:t>Faster joins using sorting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1346D-DC6D-45BE-B715-6543F23C4D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52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FBD4-BA6A-494A-BDDB-5FECC13E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9C6AA-2756-459C-89F1-F1F50DC88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last video, we saw how to do (Naïve) loop join to handle joins, e.g. natural join</a:t>
            </a:r>
          </a:p>
          <a:p>
            <a:r>
              <a:rPr lang="en-US" dirty="0"/>
              <a:t>Here, we will see a more advanced technique called sort join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883EB-177A-4120-A87D-6E64552E4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77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597A-E455-42FD-BD97-53F94D959C24}"/>
              </a:ext>
            </a:extLst>
          </p:cNvPr>
          <p:cNvSpPr txBox="1">
            <a:spLocks/>
          </p:cNvSpPr>
          <p:nvPr/>
        </p:nvSpPr>
        <p:spPr>
          <a:xfrm>
            <a:off x="2209800" y="2564905"/>
            <a:ext cx="7772400" cy="7200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/>
              <a:t>Can We Go Faster?</a:t>
            </a:r>
            <a:endParaRPr lang="en-US" i="1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DD9A8E3-2BD4-4141-8A92-D604467F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74D272-DE1E-4020-B58B-0AEE5572EBB8}"/>
              </a:ext>
            </a:extLst>
          </p:cNvPr>
          <p:cNvSpPr txBox="1">
            <a:spLocks/>
          </p:cNvSpPr>
          <p:nvPr/>
        </p:nvSpPr>
        <p:spPr>
          <a:xfrm>
            <a:off x="2209800" y="3429000"/>
            <a:ext cx="7772400" cy="593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/>
              <a:t>Yes, we can!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087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Equijoins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256520" cy="40233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Equijoin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r>
                  <a:rPr lang="en-US" dirty="0"/>
                  <a:t>is defined as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aseline="-25000" dirty="0"/>
                  <a:t>=</a:t>
                </a:r>
                <a:r>
                  <a:rPr lang="en-US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4872"/>
                  </a:spcBef>
                </a:pPr>
                <a:r>
                  <a:rPr lang="en-US" i="1" dirty="0"/>
                  <a:t>If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</a:t>
                </a:r>
                <a:r>
                  <a:rPr lang="en-US" i="1" dirty="0"/>
                  <a:t>and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r>
                  <a:rPr lang="en-US" dirty="0"/>
                  <a:t>, </a:t>
                </a:r>
                <a:r>
                  <a:rPr lang="en-US" i="1" dirty="0"/>
                  <a:t>then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r>
                  <a:rPr lang="en-US" dirty="0"/>
                  <a:t>can be computed with one pass over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 </a:t>
                </a:r>
                <a:r>
                  <a:rPr lang="en-US" dirty="0"/>
                  <a:t>+ run time equal to the size of the output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256520" cy="4023360"/>
              </a:xfrm>
              <a:blipFill>
                <a:blip r:embed="rId5"/>
                <a:stretch>
                  <a:fillRect l="-594" t="-1667" r="-12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47528" y="3284984"/>
          <a:ext cx="1656184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75520" y="2830796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37929" y="3284984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65923" y="2830796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25849" y="2763356"/>
                <a:ext cx="3331782" cy="5258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Stores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tx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code</a:t>
                </a:r>
                <a:r>
                  <a:rPr lang="en-US" sz="2000" b="1" baseline="-25000" dirty="0">
                    <a:solidFill>
                      <a:schemeClr val="tx1"/>
                    </a:solidFill>
                  </a:rPr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depart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Employees</a:t>
                </a:r>
                <a:endParaRPr lang="en-US" sz="20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849" y="2763356"/>
                <a:ext cx="3331782" cy="525886"/>
              </a:xfrm>
              <a:prstGeom prst="rect">
                <a:avLst/>
              </a:prstGeom>
              <a:blipFill>
                <a:blip r:embed="rId6"/>
                <a:stretch>
                  <a:fillRect l="-1463" b="-80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32386" y="3284984"/>
          <a:ext cx="3807836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71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ular Callout 15"/>
          <p:cNvSpPr/>
          <p:nvPr/>
        </p:nvSpPr>
        <p:spPr>
          <a:xfrm>
            <a:off x="2036643" y="2301604"/>
            <a:ext cx="2715401" cy="420818"/>
          </a:xfrm>
          <a:prstGeom prst="wedgeRoundRectCallout">
            <a:avLst>
              <a:gd name="adj1" fmla="val -20565"/>
              <a:gd name="adj2" fmla="val -6954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A, B are the </a:t>
            </a:r>
            <a:r>
              <a:rPr lang="en-GB" b="1" dirty="0"/>
              <a:t>join attributes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218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" grpId="0"/>
      <p:bldP spid="12" grpId="0"/>
      <p:bldP spid="13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5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98055F7F-247E-4412-8C08-18F3C45A78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98055F7F-247E-4412-8C08-18F3C45A7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7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5732CDA8-A841-4724-AE99-BBE257D8B0CC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09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6" grpId="0"/>
      <p:bldP spid="19" grpId="0" animBg="1"/>
      <p:bldP spid="20" grpId="0" animBg="1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D66DB23-66BC-4B20-B629-EA33D3D20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D66DB23-66BC-4B20-B629-EA33D3D20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B5A2B37F-6B8F-44F0-A1F5-F518CDE6E37C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682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107BF14B-AC6D-4CD6-8D5F-B1EE6E32A0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107BF14B-AC6D-4CD6-8D5F-B1EE6E32A0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3FC3EEBF-F317-496D-BDC0-7A64915F0A87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392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B58BAC5C-861E-4F97-BBD1-B9887C7C4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B58BAC5C-861E-4F97-BBD1-B9887C7C4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B4C961BF-E8A3-4577-86F6-571090BBB40D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1008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D31C63B-E9CE-416C-82D8-359A1359C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D31C63B-E9CE-416C-82D8-359A1359C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D8E2C4D9-30F6-4446-A0B4-B43B504274D5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776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E6ACA8E7-A964-4533-9DC0-B2DE4C47D0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E6ACA8E7-A964-4533-9DC0-B2DE4C47D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742E92A7-2617-4B44-BD12-E8E197C16891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907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758F0065-5834-4971-A627-B794270B28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758F0065-5834-4971-A627-B794270B28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ABC11ED0-D860-482C-A370-E20950AAB435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0222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14EE8CDB-7D64-4737-A2CD-B5EF17D86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14EE8CDB-7D64-4737-A2CD-B5EF17D86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9E4A5D51-B732-4100-8079-3DF635F460B7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6534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07707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E9F2F953-6C01-4647-AA64-F8F415826F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E9F2F953-6C01-4647-AA64-F8F415826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5A709C56-E307-431C-A694-4593BFFD0166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787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407707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07707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B4C7D7AE-B0EF-4E58-B488-D0D2596728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B4C7D7AE-B0EF-4E58-B488-D0D259672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B4D12300-DC82-4091-B73F-A1F2275E0EB3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8819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07707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0EAB9E8-87D4-4BEC-8B32-AF9BD59EB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0EAB9E8-87D4-4BEC-8B32-AF9BD59EB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FD323ED2-A95F-4F11-978E-677A29EEEAE8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180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07707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2F2A0F25-F89D-4276-97F8-151033404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2F2A0F25-F89D-4276-97F8-151033404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55B35C86-1E8B-4560-A2B5-858283BCD184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146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63BC7964-40FE-4C4C-BAE6-C99523C51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63BC7964-40FE-4C4C-BAE6-C99523C51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AC665F90-DFF8-4AC2-BE52-D40F9201011B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4935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C63433B7-AB5B-4814-AD03-F1C7928AB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C63433B7-AB5B-4814-AD03-F1C7928AB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24">
            <a:extLst>
              <a:ext uri="{FF2B5EF4-FFF2-40B4-BE49-F238E27FC236}">
                <a16:creationId xmlns:a16="http://schemas.microsoft.com/office/drawing/2014/main" id="{A0811505-3D8E-4D98-AC3E-38D88DE4D9B9}"/>
              </a:ext>
            </a:extLst>
          </p:cNvPr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9118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5617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29763" y="5143363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3271" y="5435932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77417" y="5155108"/>
            <a:ext cx="0" cy="28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41731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4509120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5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ular Callout 24"/>
          <p:cNvSpPr/>
          <p:nvPr/>
        </p:nvSpPr>
        <p:spPr>
          <a:xfrm>
            <a:off x="3758790" y="1177274"/>
            <a:ext cx="1760015" cy="420818"/>
          </a:xfrm>
          <a:prstGeom prst="wedgeRoundRectCallout">
            <a:avLst>
              <a:gd name="adj1" fmla="val -64206"/>
              <a:gd name="adj2" fmla="val -195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as in merge 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ular Callout 23"/>
              <p:cNvSpPr/>
              <p:nvPr/>
            </p:nvSpPr>
            <p:spPr>
              <a:xfrm>
                <a:off x="7160722" y="1744779"/>
                <a:ext cx="4715272" cy="637808"/>
              </a:xfrm>
              <a:prstGeom prst="wedgeRoundRectCallout">
                <a:avLst>
                  <a:gd name="adj1" fmla="val -34614"/>
                  <a:gd name="adj2" fmla="val 85914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sz="2000" dirty="0"/>
                  <a:t>Running time: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sz="2000" dirty="0"/>
                  <a:t>(|</a:t>
                </a:r>
                <a:r>
                  <a:rPr lang="en-GB" sz="2000" b="1" dirty="0"/>
                  <a:t>R</a:t>
                </a:r>
                <a:r>
                  <a:rPr lang="en-GB" sz="2000" dirty="0"/>
                  <a:t>| + |</a:t>
                </a:r>
                <a:r>
                  <a:rPr lang="en-GB" sz="2000" b="1" dirty="0"/>
                  <a:t>S</a:t>
                </a:r>
                <a:r>
                  <a:rPr lang="en-GB" sz="2000" dirty="0"/>
                  <a:t>|+ size of output)</a:t>
                </a:r>
              </a:p>
            </p:txBody>
          </p:sp>
        </mc:Choice>
        <mc:Fallback xmlns="">
          <p:sp>
            <p:nvSpPr>
              <p:cNvPr id="24" name="Rounded Rectangular Callou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722" y="1744779"/>
                <a:ext cx="4715272" cy="637808"/>
              </a:xfrm>
              <a:prstGeom prst="wedgeRoundRectCallout">
                <a:avLst>
                  <a:gd name="adj1" fmla="val -34614"/>
                  <a:gd name="adj2" fmla="val 85914"/>
                  <a:gd name="adj3" fmla="val 16667"/>
                </a:avLst>
              </a:prstGeom>
              <a:blipFill>
                <a:blip r:embed="rId7"/>
                <a:stretch>
                  <a:fillRect l="-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643EDD28-DBEB-4CC3-9657-4A139AD0F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643EDD28-DBEB-4CC3-9657-4A139AD0F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8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2188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5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F918B4DE-627C-497D-8C1F-335C0D93A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F918B4DE-627C-497D-8C1F-335C0D93A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7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8692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40AB8573-5AA9-4397-808C-2A82A78422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40AB8573-5AA9-4397-808C-2A82A7842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869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22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9218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31FB4E1B-404B-4444-A456-29B4CE9A20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31FB4E1B-404B-4444-A456-29B4CE9A20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853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23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D2595305-8401-45C6-A988-96C0052A1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D2595305-8401-45C6-A988-96C0052A1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2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24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ACC1200B-AB47-4E6A-866D-CF244EC4F8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ACC1200B-AB47-4E6A-866D-CF244EC4F8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5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25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3842AB83-782D-4E73-8C2B-AABD1A747E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3842AB83-782D-4E73-8C2B-AABD1A747E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891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26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1F5D1504-FACF-41C3-9AAA-F9AED8C858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1F5D1504-FACF-41C3-9AAA-F9AED8C858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016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27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5988E483-9FF0-4329-9316-EA3CA8591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5988E483-9FF0-4329-9316-EA3CA8591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87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28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695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C3B12088-599C-4DB8-8575-91885BA5C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C3B12088-599C-4DB8-8575-91885BA5C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499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29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299695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E144CCE5-2B66-4D25-BF48-6DED97B9CA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E144CCE5-2B66-4D25-BF48-6DED97B9C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44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30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A3459EF1-A492-4F53-9343-B34EA7B410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A3459EF1-A492-4F53-9343-B34EA7B41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609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31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4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0D558F44-D1F8-4313-A3C2-9F6022783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0D558F44-D1F8-4313-A3C2-9F6022783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6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0870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Merging With Duplicates in Column </a:t>
            </a:r>
            <a:r>
              <a:rPr lang="en-US" b="1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32</a:t>
            </a:fld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85748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27741" y="2239033"/>
            <a:ext cx="3866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b="1" dirty="0"/>
              <a:t> 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7673" y="2652898"/>
          <a:ext cx="1584177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49666" y="2239033"/>
            <a:ext cx="3064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5891" y="5262533"/>
            <a:ext cx="114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731" y="371703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72355" y="3356992"/>
            <a:ext cx="1872208" cy="43204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9598" y="2666653"/>
          <a:ext cx="2300965" cy="2595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44" y="3887146"/>
                <a:ext cx="740908" cy="400110"/>
              </a:xfrm>
              <a:prstGeom prst="rect">
                <a:avLst/>
              </a:prstGeom>
              <a:blipFill>
                <a:blip r:embed="rId5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355" y="3887146"/>
                <a:ext cx="43473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/>
          <p:cNvCxnSpPr>
            <a:stCxn id="16" idx="0"/>
            <a:endCxn id="34" idx="1"/>
          </p:cNvCxnSpPr>
          <p:nvPr/>
        </p:nvCxnSpPr>
        <p:spPr>
          <a:xfrm rot="5400000" flipH="1" flipV="1">
            <a:off x="1363887" y="4248275"/>
            <a:ext cx="1676389" cy="35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78147" y="3463497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374405" y="3815414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36"/>
          <p:cNvCxnSpPr>
            <a:stCxn id="16" idx="0"/>
            <a:endCxn id="36" idx="1"/>
          </p:cNvCxnSpPr>
          <p:nvPr/>
        </p:nvCxnSpPr>
        <p:spPr>
          <a:xfrm rot="5400000" flipH="1" flipV="1">
            <a:off x="1537973" y="4426104"/>
            <a:ext cx="1324472" cy="348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74404" y="4167331"/>
            <a:ext cx="250495" cy="245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>
            <a:endCxn id="40" idx="1"/>
          </p:cNvCxnSpPr>
          <p:nvPr/>
        </p:nvCxnSpPr>
        <p:spPr>
          <a:xfrm rot="5400000" flipH="1" flipV="1">
            <a:off x="1720809" y="4595184"/>
            <a:ext cx="958800" cy="348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44784" y="5677360"/>
            <a:ext cx="7839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Remember tuples in S that match with the current value of 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7378090" y="1305127"/>
            <a:ext cx="3007559" cy="662357"/>
          </a:xfrm>
          <a:prstGeom prst="wedgeRoundRectCallout">
            <a:avLst>
              <a:gd name="adj1" fmla="val -37821"/>
              <a:gd name="adj2" fmla="val 9483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Runtime: O(|R|+|S|+size of output)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AD6E8F3C-9F83-4073-8E06-7520761FED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</p:spPr>
            <p:txBody>
              <a:bodyPr/>
              <a:lstStyle/>
              <a:p>
                <a:r>
                  <a:rPr lang="en-US" dirty="0"/>
                  <a:t>Goal: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b="1" baseline="-25000" dirty="0"/>
                  <a:t>=</a:t>
                </a:r>
                <a:r>
                  <a:rPr lang="en-US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b="1" dirty="0"/>
                  <a:t> </a:t>
                </a:r>
                <a:br>
                  <a:rPr lang="en-US" b="1" dirty="0"/>
                </a:br>
                <a:r>
                  <a:rPr lang="en-US" dirty="0"/>
                  <a:t>Assume: 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is sorted on </a:t>
                </a:r>
                <a:r>
                  <a:rPr lang="en-US" b="1" dirty="0">
                    <a:solidFill>
                      <a:schemeClr val="accent3"/>
                    </a:solidFill>
                  </a:rPr>
                  <a:t>B</a:t>
                </a: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AD6E8F3C-9F83-4073-8E06-7520761FE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963" y="1791833"/>
                <a:ext cx="10058400" cy="4022725"/>
              </a:xfrm>
              <a:blipFill>
                <a:blip r:embed="rId7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5809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Faster Joins With Sorting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DC7379E-252B-48EF-BAD9-FAF135B96F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8570" y="1852401"/>
                <a:ext cx="8229600" cy="5184576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Sort Join Algorithm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GB" dirty="0"/>
                  <a:t>Typical 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|log</a:t>
                </a:r>
                <a:r>
                  <a:rPr lang="en-GB" baseline="-25000" dirty="0"/>
                  <a:t>2</a:t>
                </a:r>
                <a:r>
                  <a:rPr lang="en-GB" dirty="0"/>
                  <a:t>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charset="0"/>
                      </a:rPr>
                      <m:t>+</m:t>
                    </m:r>
                  </m:oMath>
                </a14:m>
                <a:r>
                  <a:rPr lang="en-GB" dirty="0"/>
                  <a:t> 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|log</a:t>
                </a:r>
                <a:r>
                  <a:rPr lang="en-GB" baseline="-25000" dirty="0"/>
                  <a:t>2</a:t>
                </a:r>
                <a:r>
                  <a:rPr lang="en-GB" dirty="0"/>
                  <a:t>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|)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GB" dirty="0"/>
                  <a:t>If not “too many” values in </a:t>
                </a:r>
                <a:r>
                  <a:rPr lang="en-GB" b="1" dirty="0">
                    <a:solidFill>
                      <a:schemeClr val="accent1"/>
                    </a:solidFill>
                  </a:rPr>
                  <a:t>A</a:t>
                </a:r>
                <a:r>
                  <a:rPr lang="en-GB" dirty="0"/>
                  <a:t> occur multiple times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GB" dirty="0"/>
                  <a:t>E.g., this is the case if </a:t>
                </a:r>
                <a:r>
                  <a:rPr lang="en-GB" b="1" dirty="0">
                    <a:solidFill>
                      <a:schemeClr val="accent1"/>
                    </a:solidFill>
                  </a:rPr>
                  <a:t>A</a:t>
                </a:r>
                <a:r>
                  <a:rPr lang="en-GB" dirty="0"/>
                  <a:t> is a key</a:t>
                </a:r>
              </a:p>
              <a:p>
                <a:pPr>
                  <a:spcBef>
                    <a:spcPts val="1872"/>
                  </a:spcBef>
                </a:pPr>
                <a:r>
                  <a:rPr lang="en-GB" dirty="0"/>
                  <a:t>Typically much faster than Nested Loop </a:t>
                </a:r>
                <a:r>
                  <a:rPr lang="en-GB" dirty="0" err="1"/>
                  <a:t>Join</a:t>
                </a:r>
                <a:endParaRPr lang="en-GB" dirty="0"/>
              </a:p>
              <a:p>
                <a:pPr lvl="1">
                  <a:spcBef>
                    <a:spcPts val="1872"/>
                  </a:spcBef>
                </a:pPr>
                <a:r>
                  <a:rPr lang="en-GB" dirty="0"/>
                  <a:t>Same time in the worst case, because output can have size up to 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</a:t>
                </a: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DC7379E-252B-48EF-BAD9-FAF135B96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70" y="1852401"/>
                <a:ext cx="8229600" cy="5184576"/>
              </a:xfrm>
              <a:prstGeom prst="rect">
                <a:avLst/>
              </a:prstGeom>
              <a:blipFill>
                <a:blip r:embed="rId5"/>
                <a:stretch>
                  <a:fillRect l="-815" t="-1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F93C61D3-FF1A-4F28-A3FE-F43A99DF36CB}"/>
              </a:ext>
            </a:extLst>
          </p:cNvPr>
          <p:cNvSpPr/>
          <p:nvPr/>
        </p:nvSpPr>
        <p:spPr>
          <a:xfrm>
            <a:off x="1976330" y="2241717"/>
            <a:ext cx="8542640" cy="1872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DB48F8-71D3-464E-A65B-F5EB6BCB6501}"/>
              </a:ext>
            </a:extLst>
          </p:cNvPr>
          <p:cNvSpPr txBox="1"/>
          <p:nvPr/>
        </p:nvSpPr>
        <p:spPr>
          <a:xfrm>
            <a:off x="2048339" y="2795113"/>
            <a:ext cx="1628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1. </a:t>
            </a:r>
            <a:r>
              <a:rPr lang="en-US" sz="2000" dirty="0"/>
              <a:t>Sort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on </a:t>
            </a:r>
            <a:r>
              <a:rPr lang="en-US" sz="20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609865-6C1D-46E1-9928-45E8218C62F4}"/>
                  </a:ext>
                </a:extLst>
              </p:cNvPr>
              <p:cNvSpPr/>
              <p:nvPr/>
            </p:nvSpPr>
            <p:spPr>
              <a:xfrm>
                <a:off x="2048339" y="2357241"/>
                <a:ext cx="21661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609865-6C1D-46E1-9928-45E8218C6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339" y="2357241"/>
                <a:ext cx="2166106" cy="400110"/>
              </a:xfrm>
              <a:prstGeom prst="rect">
                <a:avLst/>
              </a:prstGeom>
              <a:blipFill>
                <a:blip r:embed="rId6"/>
                <a:stretch>
                  <a:fillRect l="-2817" t="-9231" r="-2535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67ECBC3-E422-4BE8-8F37-BADBA834700A}"/>
              </a:ext>
            </a:extLst>
          </p:cNvPr>
          <p:cNvCxnSpPr/>
          <p:nvPr/>
        </p:nvCxnSpPr>
        <p:spPr>
          <a:xfrm>
            <a:off x="2120347" y="2745772"/>
            <a:ext cx="20940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488BD7E-9E21-4FAC-972F-3B132A1C6093}"/>
              </a:ext>
            </a:extLst>
          </p:cNvPr>
          <p:cNvSpPr txBox="1"/>
          <p:nvPr/>
        </p:nvSpPr>
        <p:spPr>
          <a:xfrm>
            <a:off x="2057017" y="3156260"/>
            <a:ext cx="1566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2. Sort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on </a:t>
            </a:r>
            <a:r>
              <a:rPr lang="en-US" sz="2000" b="1" dirty="0">
                <a:solidFill>
                  <a:schemeClr val="accent3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32D8E-ACA8-45F0-A424-4F97E8E54657}"/>
              </a:ext>
            </a:extLst>
          </p:cNvPr>
          <p:cNvSpPr txBox="1"/>
          <p:nvPr/>
        </p:nvSpPr>
        <p:spPr>
          <a:xfrm>
            <a:off x="2057017" y="3525376"/>
            <a:ext cx="3078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3. Merge the sorted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ular Callout 17">
                <a:extLst>
                  <a:ext uri="{FF2B5EF4-FFF2-40B4-BE49-F238E27FC236}">
                    <a16:creationId xmlns:a16="http://schemas.microsoft.com/office/drawing/2014/main" id="{82C54131-F6C9-46BB-BA0F-96A84364A9C3}"/>
                  </a:ext>
                </a:extLst>
              </p:cNvPr>
              <p:cNvSpPr/>
              <p:nvPr/>
            </p:nvSpPr>
            <p:spPr>
              <a:xfrm>
                <a:off x="4286452" y="2545314"/>
                <a:ext cx="3247814" cy="389854"/>
              </a:xfrm>
              <a:prstGeom prst="wedgeRoundRectCallout">
                <a:avLst>
                  <a:gd name="adj1" fmla="val -62681"/>
                  <a:gd name="adj2" fmla="val 51515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(|R|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log</a:t>
                </a:r>
                <a:r>
                  <a:rPr lang="en-GB" baseline="-25000" dirty="0"/>
                  <a:t>2</a:t>
                </a:r>
                <a:r>
                  <a:rPr lang="en-GB" dirty="0"/>
                  <a:t> |R|)</a:t>
                </a:r>
              </a:p>
            </p:txBody>
          </p:sp>
        </mc:Choice>
        <mc:Fallback xmlns="">
          <p:sp>
            <p:nvSpPr>
              <p:cNvPr id="39" name="Rounded Rectangular Callout 17">
                <a:extLst>
                  <a:ext uri="{FF2B5EF4-FFF2-40B4-BE49-F238E27FC236}">
                    <a16:creationId xmlns:a16="http://schemas.microsoft.com/office/drawing/2014/main" id="{82C54131-F6C9-46BB-BA0F-96A84364A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452" y="2545314"/>
                <a:ext cx="3247814" cy="389854"/>
              </a:xfrm>
              <a:prstGeom prst="wedgeRoundRectCallout">
                <a:avLst>
                  <a:gd name="adj1" fmla="val -62681"/>
                  <a:gd name="adj2" fmla="val 51515"/>
                  <a:gd name="adj3" fmla="val 16667"/>
                </a:avLst>
              </a:prstGeom>
              <a:blipFill>
                <a:blip r:embed="rId7"/>
                <a:stretch>
                  <a:fillRect t="-4545" r="-663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ular Callout 18">
                <a:extLst>
                  <a:ext uri="{FF2B5EF4-FFF2-40B4-BE49-F238E27FC236}">
                    <a16:creationId xmlns:a16="http://schemas.microsoft.com/office/drawing/2014/main" id="{F0B97F99-D11B-494A-8830-13DCB83B5086}"/>
                  </a:ext>
                </a:extLst>
              </p:cNvPr>
              <p:cNvSpPr/>
              <p:nvPr/>
            </p:nvSpPr>
            <p:spPr>
              <a:xfrm>
                <a:off x="4160518" y="3086966"/>
                <a:ext cx="3199400" cy="389854"/>
              </a:xfrm>
              <a:prstGeom prst="wedgeRoundRectCallout">
                <a:avLst>
                  <a:gd name="adj1" fmla="val -64829"/>
                  <a:gd name="adj2" fmla="val 21025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(|S|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log</a:t>
                </a:r>
                <a:r>
                  <a:rPr lang="en-GB" baseline="-25000" dirty="0"/>
                  <a:t>2</a:t>
                </a:r>
                <a:r>
                  <a:rPr lang="en-GB" dirty="0"/>
                  <a:t> |S|)</a:t>
                </a:r>
              </a:p>
            </p:txBody>
          </p:sp>
        </mc:Choice>
        <mc:Fallback xmlns="">
          <p:sp>
            <p:nvSpPr>
              <p:cNvPr id="40" name="Rounded Rectangular Callout 18">
                <a:extLst>
                  <a:ext uri="{FF2B5EF4-FFF2-40B4-BE49-F238E27FC236}">
                    <a16:creationId xmlns:a16="http://schemas.microsoft.com/office/drawing/2014/main" id="{F0B97F99-D11B-494A-8830-13DCB83B50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18" y="3086966"/>
                <a:ext cx="3199400" cy="389854"/>
              </a:xfrm>
              <a:prstGeom prst="wedgeRoundRectCallout">
                <a:avLst>
                  <a:gd name="adj1" fmla="val -64829"/>
                  <a:gd name="adj2" fmla="val 21025"/>
                  <a:gd name="adj3" fmla="val 16667"/>
                </a:avLst>
              </a:prstGeom>
              <a:blipFill>
                <a:blip r:embed="rId8"/>
                <a:stretch>
                  <a:fillRect t="-3030" r="-826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ular Callout 19">
                <a:extLst>
                  <a:ext uri="{FF2B5EF4-FFF2-40B4-BE49-F238E27FC236}">
                    <a16:creationId xmlns:a16="http://schemas.microsoft.com/office/drawing/2014/main" id="{5CFA824F-76B8-49CF-9D68-BC51723226CC}"/>
                  </a:ext>
                </a:extLst>
              </p:cNvPr>
              <p:cNvSpPr/>
              <p:nvPr/>
            </p:nvSpPr>
            <p:spPr>
              <a:xfrm>
                <a:off x="5442013" y="3628619"/>
                <a:ext cx="4100571" cy="389854"/>
              </a:xfrm>
              <a:prstGeom prst="wedgeRoundRectCallout">
                <a:avLst>
                  <a:gd name="adj1" fmla="val -59913"/>
                  <a:gd name="adj2" fmla="val -18848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(|R|+|S|+size of output)</a:t>
                </a:r>
              </a:p>
            </p:txBody>
          </p:sp>
        </mc:Choice>
        <mc:Fallback xmlns="">
          <p:sp>
            <p:nvSpPr>
              <p:cNvPr id="41" name="Rounded Rectangular Callout 19">
                <a:extLst>
                  <a:ext uri="{FF2B5EF4-FFF2-40B4-BE49-F238E27FC236}">
                    <a16:creationId xmlns:a16="http://schemas.microsoft.com/office/drawing/2014/main" id="{5CFA824F-76B8-49CF-9D68-BC5172322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013" y="3628619"/>
                <a:ext cx="4100571" cy="389854"/>
              </a:xfrm>
              <a:prstGeom prst="wedgeRoundRectCallout">
                <a:avLst>
                  <a:gd name="adj1" fmla="val -59913"/>
                  <a:gd name="adj2" fmla="val -18848"/>
                  <a:gd name="adj3" fmla="val 16667"/>
                </a:avLst>
              </a:prstGeom>
              <a:blipFill>
                <a:blip r:embed="rId9"/>
                <a:stretch>
                  <a:fillRect t="-3030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ular Callout 19">
            <a:extLst>
              <a:ext uri="{FF2B5EF4-FFF2-40B4-BE49-F238E27FC236}">
                <a16:creationId xmlns:a16="http://schemas.microsoft.com/office/drawing/2014/main" id="{07DD5515-C312-460C-BAA4-81580E1AC788}"/>
              </a:ext>
            </a:extLst>
          </p:cNvPr>
          <p:cNvSpPr/>
          <p:nvPr/>
        </p:nvSpPr>
        <p:spPr>
          <a:xfrm>
            <a:off x="7359918" y="4569319"/>
            <a:ext cx="3159052" cy="836055"/>
          </a:xfrm>
          <a:prstGeom prst="wedgeRoundRectCallout">
            <a:avLst>
              <a:gd name="adj1" fmla="val -48197"/>
              <a:gd name="adj2" fmla="val -1145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Having a run time depending on the size of output is called output sensitive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81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  <p:bldP spid="33" grpId="0" animBg="1"/>
      <p:bldP spid="34" grpId="0"/>
      <p:bldP spid="35" grpId="0"/>
      <p:bldP spid="37" grpId="0"/>
      <p:bldP spid="38" grpId="0"/>
      <p:bldP spid="39" grpId="0" animBg="1"/>
      <p:bldP spid="40" grpId="0" animBg="1"/>
      <p:bldP spid="41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Various </a:t>
            </a:r>
            <a:r>
              <a:rPr lang="en-US" b="1" dirty="0"/>
              <a:t>join algorithms </a:t>
            </a:r>
            <a:r>
              <a:rPr lang="en-US" dirty="0"/>
              <a:t>in practice:</a:t>
            </a:r>
          </a:p>
          <a:p>
            <a:pPr lvl="1"/>
            <a:r>
              <a:rPr lang="en-US" dirty="0"/>
              <a:t>Index joins</a:t>
            </a:r>
          </a:p>
          <a:p>
            <a:pPr lvl="1"/>
            <a:r>
              <a:rPr lang="en-US" dirty="0"/>
              <a:t>Hash joins </a:t>
            </a:r>
          </a:p>
          <a:p>
            <a:pPr lvl="1"/>
            <a:r>
              <a:rPr lang="en-US" dirty="0"/>
              <a:t>Multiway joins: join more than two relations at once</a:t>
            </a:r>
          </a:p>
          <a:p>
            <a:pPr>
              <a:spcBef>
                <a:spcPts val="1872"/>
              </a:spcBef>
            </a:pPr>
            <a:r>
              <a:rPr lang="en-US" dirty="0"/>
              <a:t>Can compute </a:t>
            </a:r>
            <a:r>
              <a:rPr lang="en-US" b="1" dirty="0"/>
              <a:t>other operations of relational algebra </a:t>
            </a:r>
            <a:r>
              <a:rPr lang="en-US" dirty="0"/>
              <a:t>using similar methods as those in this lecture</a:t>
            </a:r>
          </a:p>
          <a:p>
            <a:pPr>
              <a:spcBef>
                <a:spcPts val="1872"/>
              </a:spcBef>
            </a:pPr>
            <a:r>
              <a:rPr lang="en-US" b="1" dirty="0"/>
              <a:t>We’ve neglected that relations are stored on disk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34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152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Running Time vs Disk Accesses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35</a:t>
            </a:fld>
            <a:endParaRPr lang="en-GB"/>
          </a:p>
        </p:txBody>
      </p:sp>
      <p:pic>
        <p:nvPicPr>
          <p:cNvPr id="6" name="Picture 5" descr="RAM B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72" y="2124728"/>
            <a:ext cx="2418730" cy="5574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6854" y="2210676"/>
            <a:ext cx="525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fast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0" name="Picture 9" descr="Hard di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697" y="1801422"/>
            <a:ext cx="1674189" cy="1323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0170" y="2210676"/>
            <a:ext cx="613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slow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807968" y="2413309"/>
            <a:ext cx="16561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359692" y="3190974"/>
            <a:ext cx="5472608" cy="10567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Relevant parameters: </a:t>
            </a:r>
          </a:p>
          <a:p>
            <a:pPr marL="285750" indent="-285750">
              <a:buFont typeface="Arial" charset="0"/>
              <a:buChar char="•"/>
            </a:pPr>
            <a:r>
              <a:rPr lang="en-US" b="1" dirty="0"/>
              <a:t>B</a:t>
            </a:r>
            <a:r>
              <a:rPr lang="en-US" dirty="0"/>
              <a:t> = size of a disk block (</a:t>
            </a:r>
            <a:r>
              <a:rPr lang="en-US"/>
              <a:t>typically 512</a:t>
            </a:r>
            <a:r>
              <a:rPr lang="en-US" dirty="0"/>
              <a:t>→4096 bytes)</a:t>
            </a:r>
          </a:p>
          <a:p>
            <a:pPr marL="285750" indent="-285750">
              <a:buFont typeface="Arial" charset="0"/>
              <a:buChar char="•"/>
            </a:pPr>
            <a:r>
              <a:rPr lang="en-US" b="1" dirty="0"/>
              <a:t>M</a:t>
            </a:r>
            <a:r>
              <a:rPr lang="en-US" dirty="0"/>
              <a:t> = number of disk blocks that fit into available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/>
              <p:cNvGraphicFramePr>
                <a:graphicFrameLocks noGrp="1"/>
              </p:cNvGraphicFramePr>
              <p:nvPr/>
            </p:nvGraphicFramePr>
            <p:xfrm>
              <a:off x="2099553" y="4618788"/>
              <a:ext cx="7992889" cy="15591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82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8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62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148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</a:t>
                          </a:r>
                          <a:r>
                            <a:rPr lang="en-US" baseline="0" dirty="0"/>
                            <a:t> of elementary operations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disk accesses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385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Reading a</a:t>
                          </a:r>
                          <a:r>
                            <a:rPr lang="en-US" baseline="0" dirty="0"/>
                            <a:t> relation </a:t>
                          </a:r>
                          <a:r>
                            <a:rPr lang="en-US" b="1" baseline="0" dirty="0"/>
                            <a:t>R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800" smtClean="0">
                                  <a:latin typeface="Cambria Math" charset="0"/>
                                </a:rPr>
                                <m:t>𝑂</m:t>
                              </m:r>
                              <m:r>
                                <a:rPr lang="en-GB" sz="1800" smtClean="0">
                                  <a:latin typeface="Cambria Math" charset="0"/>
                                </a:rPr>
                                <m:t>(|</m:t>
                              </m:r>
                              <m:r>
                                <m:rPr>
                                  <m:nor/>
                                </m:rPr>
                                <a:rPr lang="en-GB" sz="1800" smtClean="0"/>
                                <m:t>R</m:t>
                              </m:r>
                              <m:r>
                                <a:rPr lang="en-GB" sz="1800" smtClean="0">
                                  <a:latin typeface="Cambria Math" charset="0"/>
                                </a:rPr>
                                <m:t>|)</m:t>
                              </m:r>
                            </m:oMath>
                          </a14:m>
                          <a:r>
                            <a:rPr lang="en-US" sz="1800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385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Sorting </a:t>
                          </a:r>
                          <a:r>
                            <a:rPr lang="en-US" b="1" dirty="0"/>
                            <a:t>R</a:t>
                          </a:r>
                          <a:r>
                            <a:rPr lang="en-US" dirty="0"/>
                            <a:t> on attribute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en-US" b="1" baseline="0" dirty="0"/>
                            <a:t>A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800" smtClean="0">
                                  <a:latin typeface="Cambria Math" charset="0"/>
                                </a:rPr>
                                <m:t>𝑂</m:t>
                              </m:r>
                              <m:r>
                                <a:rPr lang="en-GB" sz="1800" smtClean="0">
                                  <a:latin typeface="Cambria Math" charset="0"/>
                                </a:rPr>
                                <m:t>(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GB" sz="1800" smtClean="0"/>
                                    <m:t>R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mr-IN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mr-IN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mr-IN" sz="1800" i="0" smtClean="0">
                                          <a:latin typeface="Cambria Math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800" b="0" i="1" smtClean="0">
                                      <a:latin typeface="Cambria Math" charset="0"/>
                                    </a:rPr>
                                    <m:t>|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sz="1800" b="0" i="0" smtClean="0">
                                      <a:latin typeface="Cambria Math" charset="0"/>
                                    </a:rPr>
                                    <m:t>R</m:t>
                                  </m:r>
                                  <m:r>
                                    <a:rPr lang="en-GB" sz="1800" b="0" i="1" smtClean="0">
                                      <a:latin typeface="Cambria Math" charset="0"/>
                                    </a:rPr>
                                    <m:t>|</m:t>
                                  </m:r>
                                </m:e>
                              </m:func>
                              <m:r>
                                <a:rPr lang="en-GB" sz="1800" smtClean="0">
                                  <a:latin typeface="Cambria Math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/>
              <p:cNvGraphicFramePr>
                <a:graphicFrameLocks noGrp="1"/>
              </p:cNvGraphicFramePr>
              <p:nvPr/>
            </p:nvGraphicFramePr>
            <p:xfrm>
              <a:off x="2099553" y="4618788"/>
              <a:ext cx="7992889" cy="15591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82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8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62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148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</a:t>
                          </a:r>
                          <a:r>
                            <a:rPr lang="en-US" baseline="0" dirty="0"/>
                            <a:t> of elementary operations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disk accesses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385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Reading a</a:t>
                          </a:r>
                          <a:r>
                            <a:rPr lang="en-US" baseline="0" dirty="0"/>
                            <a:t> relation </a:t>
                          </a:r>
                          <a:r>
                            <a:rPr lang="en-US" b="1" baseline="0" dirty="0"/>
                            <a:t>R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7500" t="-85870" r="-75769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385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Sorting </a:t>
                          </a:r>
                          <a:r>
                            <a:rPr lang="en-US" b="1" dirty="0"/>
                            <a:t>R</a:t>
                          </a:r>
                          <a:r>
                            <a:rPr lang="en-US" dirty="0"/>
                            <a:t> on attribute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en-US" b="1" baseline="0" dirty="0"/>
                            <a:t>A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7500" t="-187912" r="-75769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8122761" y="5110671"/>
                <a:ext cx="1414800" cy="46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>
                        <a:solidFill>
                          <a:schemeClr val="tx1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mr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mr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tx1"/>
                                </a:solidFill>
                              </a:rPr>
                              <m:t>R</m:t>
                            </m:r>
                            <m:r>
                              <a:rPr lang="en-GB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tx1"/>
                                </a:solidFill>
                              </a:rPr>
                              <m:t>B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761" y="5110671"/>
                <a:ext cx="1414800" cy="46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969887" y="5668592"/>
                <a:ext cx="1711216" cy="46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>
                        <a:solidFill>
                          <a:schemeClr val="tx1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mr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mr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tx1"/>
                                </a:solidFill>
                              </a:rPr>
                              <m:t>R</m:t>
                            </m:r>
                            <m:r>
                              <a:rPr lang="en-GB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tx1"/>
                                </a:solidFill>
                              </a:rPr>
                              <m:t>B</m:t>
                            </m:r>
                          </m:den>
                        </m:f>
                        <m:func>
                          <m:funcPr>
                            <m:ctrlPr>
                              <a:rPr lang="mr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mr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mr-IN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GB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M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mr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GB">
                                    <a:solidFill>
                                      <a:schemeClr val="tx1"/>
                                    </a:solidFill>
                                  </a:rPr>
                                  <m:t>R</m:t>
                                </m:r>
                                <m:r>
                                  <a:rPr lang="en-GB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GB">
                                    <a:solidFill>
                                      <a:schemeClr val="tx1"/>
                                    </a:solidFill>
                                  </a:rPr>
                                  <m:t>B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887" y="5668592"/>
                <a:ext cx="1711216" cy="468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ular Callout 28"/>
          <p:cNvSpPr/>
          <p:nvPr/>
        </p:nvSpPr>
        <p:spPr>
          <a:xfrm>
            <a:off x="6753219" y="6250747"/>
            <a:ext cx="2927885" cy="420818"/>
          </a:xfrm>
          <a:prstGeom prst="wedgeRoundRectCallout">
            <a:avLst>
              <a:gd name="adj1" fmla="val 21366"/>
              <a:gd name="adj2" fmla="val -8040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/>
              <a:t>External memory merge sort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081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0" grpId="0" animBg="1"/>
      <p:bldP spid="31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one approach to do faster joins, namely sort joins</a:t>
            </a:r>
          </a:p>
          <a:p>
            <a:r>
              <a:rPr lang="en-US" dirty="0"/>
              <a:t>Sort join has run time close to linear (i.e. like sort) + the size of the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230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17.7|11.1|5.4|1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8|8.5|4.3|4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9|1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3.4|24.2|17.9|7.6|7.1|34.1|39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2|2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7|48|41.8|43.9|24.4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</TotalTime>
  <Words>3393</Words>
  <Application>Microsoft Office PowerPoint</Application>
  <PresentationFormat>Widescreen</PresentationFormat>
  <Paragraphs>2208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Retrospect</vt:lpstr>
      <vt:lpstr>Faster joins using sorting</vt:lpstr>
      <vt:lpstr>Overview</vt:lpstr>
      <vt:lpstr>PowerPoint Presentation</vt:lpstr>
      <vt:lpstr>Equijoins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Merging With Duplicates in Column A</vt:lpstr>
      <vt:lpstr>Faster Joins With Sorting</vt:lpstr>
      <vt:lpstr>Remarks</vt:lpstr>
      <vt:lpstr>Running Time vs Disk Accesses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Faster joins using sorting</dc:title>
  <dc:creator>Rasmus Ibsen-Jensen</dc:creator>
  <cp:lastModifiedBy>Rasmus Ibsen-Jensen</cp:lastModifiedBy>
  <cp:revision>9</cp:revision>
  <dcterms:created xsi:type="dcterms:W3CDTF">2020-11-14T14:47:35Z</dcterms:created>
  <dcterms:modified xsi:type="dcterms:W3CDTF">2020-11-17T12:09:21Z</dcterms:modified>
</cp:coreProperties>
</file>