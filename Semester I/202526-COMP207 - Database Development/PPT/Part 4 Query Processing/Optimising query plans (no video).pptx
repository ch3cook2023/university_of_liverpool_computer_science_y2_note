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376" r:id="rId3"/>
    <p:sldId id="558" r:id="rId4"/>
    <p:sldId id="383" r:id="rId5"/>
    <p:sldId id="384" r:id="rId6"/>
    <p:sldId id="386" r:id="rId7"/>
    <p:sldId id="387" r:id="rId8"/>
    <p:sldId id="388" r:id="rId9"/>
    <p:sldId id="557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88" d="100"/>
          <a:sy n="88" d="100"/>
        </p:scale>
        <p:origin x="11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974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13303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3078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5890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18456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57023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3822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501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6959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99867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4061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F0A6417-F333-4BDC-8C37-453AC3C2B303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C045109-F11C-4F36-AD0C-49EB309DC0EF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99927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7" Type="http://schemas.openxmlformats.org/officeDocument/2006/relationships/image" Target="../media/image4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6" Type="http://schemas.openxmlformats.org/officeDocument/2006/relationships/image" Target="../media/image310.png"/><Relationship Id="rId5" Type="http://schemas.openxmlformats.org/officeDocument/2006/relationships/image" Target="../media/image210.png"/><Relationship Id="rId10" Type="http://schemas.openxmlformats.org/officeDocument/2006/relationships/image" Target="../media/image7.pn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9.png"/><Relationship Id="rId5" Type="http://schemas.openxmlformats.org/officeDocument/2006/relationships/image" Target="../media/image8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0.png"/><Relationship Id="rId10" Type="http://schemas.openxmlformats.org/officeDocument/2006/relationships/image" Target="../media/image16.png"/><Relationship Id="rId9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0.png"/><Relationship Id="rId10" Type="http://schemas.openxmlformats.org/officeDocument/2006/relationships/image" Target="../media/image23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9.png"/><Relationship Id="rId1" Type="http://schemas.openxmlformats.org/officeDocument/2006/relationships/tags" Target="../tags/tag6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0.png"/><Relationship Id="rId15" Type="http://schemas.openxmlformats.org/officeDocument/2006/relationships/image" Target="../media/image38.png"/><Relationship Id="rId10" Type="http://schemas.openxmlformats.org/officeDocument/2006/relationships/image" Target="../media/image33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AE454-70FD-43A9-A270-0C62D0C3F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Optimising</a:t>
            </a:r>
            <a:r>
              <a:rPr lang="en-US" dirty="0"/>
              <a:t> query plans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D51E8-8A52-4B79-B514-DDA25AD88F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0129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Rectangle 133"/>
          <p:cNvSpPr/>
          <p:nvPr/>
        </p:nvSpPr>
        <p:spPr>
          <a:xfrm>
            <a:off x="5786272" y="3612687"/>
            <a:ext cx="4114175" cy="109262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this video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10" name="Rectangle 9"/>
          <p:cNvSpPr/>
          <p:nvPr/>
        </p:nvSpPr>
        <p:spPr>
          <a:xfrm>
            <a:off x="5890112" y="2324833"/>
            <a:ext cx="2107752" cy="59758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Parse query &amp;</a:t>
            </a:r>
            <a:br>
              <a:rPr lang="en-US" dirty="0"/>
            </a:br>
            <a:r>
              <a:rPr lang="en-US" dirty="0"/>
              <a:t>preprocess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511" y="1692708"/>
            <a:ext cx="1140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SQL query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0112" y="3675454"/>
            <a:ext cx="2107752" cy="690273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Optimise</a:t>
            </a:r>
            <a:br>
              <a:rPr lang="en-US" dirty="0"/>
            </a:br>
            <a:r>
              <a:rPr lang="en-US" dirty="0"/>
              <a:t>logical query plan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2241" y="2994422"/>
            <a:ext cx="19636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Logical query plan </a:t>
            </a:r>
            <a:br>
              <a:rPr lang="en-US" dirty="0"/>
            </a:br>
            <a:r>
              <a:rPr lang="en-US" dirty="0"/>
              <a:t>(relational algebra)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90112" y="4733450"/>
            <a:ext cx="2107752" cy="72008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  <a:br>
              <a:rPr lang="en-US" dirty="0"/>
            </a:br>
            <a:r>
              <a:rPr lang="en-US" dirty="0"/>
              <a:t>physical query plan</a:t>
            </a:r>
          </a:p>
        </p:txBody>
      </p:sp>
      <p:cxnSp>
        <p:nvCxnSpPr>
          <p:cNvPr id="17" name="Straight Arrow Connector 16"/>
          <p:cNvCxnSpPr>
            <a:stCxn id="11" idx="2"/>
            <a:endCxn id="10" idx="0"/>
          </p:cNvCxnSpPr>
          <p:nvPr/>
        </p:nvCxnSpPr>
        <p:spPr>
          <a:xfrm>
            <a:off x="6943988" y="2062040"/>
            <a:ext cx="0" cy="2627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10" idx="2"/>
            <a:endCxn id="12" idx="0"/>
          </p:cNvCxnSpPr>
          <p:nvPr/>
        </p:nvCxnSpPr>
        <p:spPr>
          <a:xfrm>
            <a:off x="6943988" y="2922414"/>
            <a:ext cx="0" cy="7530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12" idx="2"/>
            <a:endCxn id="14" idx="0"/>
          </p:cNvCxnSpPr>
          <p:nvPr/>
        </p:nvCxnSpPr>
        <p:spPr>
          <a:xfrm>
            <a:off x="6943988" y="4365727"/>
            <a:ext cx="0" cy="36772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Rectangle 80"/>
          <p:cNvSpPr/>
          <p:nvPr/>
        </p:nvSpPr>
        <p:spPr>
          <a:xfrm>
            <a:off x="5890112" y="5709729"/>
            <a:ext cx="2107752" cy="488846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Query Execution</a:t>
            </a:r>
          </a:p>
        </p:txBody>
      </p:sp>
      <p:cxnSp>
        <p:nvCxnSpPr>
          <p:cNvPr id="82" name="Straight Arrow Connector 81"/>
          <p:cNvCxnSpPr>
            <a:stCxn id="14" idx="2"/>
            <a:endCxn id="81" idx="0"/>
          </p:cNvCxnSpPr>
          <p:nvPr/>
        </p:nvCxnSpPr>
        <p:spPr>
          <a:xfrm>
            <a:off x="6943988" y="5453530"/>
            <a:ext cx="0" cy="2561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7042240" y="4380630"/>
            <a:ext cx="285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Optimised</a:t>
            </a:r>
            <a:r>
              <a:rPr lang="en-US" dirty="0"/>
              <a:t> logical query plan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042240" y="5391221"/>
            <a:ext cx="1982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Physical query plan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4378095" y="3913906"/>
            <a:ext cx="1130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6"/>
                </a:solidFill>
              </a:rPr>
              <a:t>This video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81772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" grpId="0" animBg="1"/>
      <p:bldP spid="13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31975-BCBC-4D11-A687-7D710D8CC314}"/>
              </a:ext>
            </a:extLst>
          </p:cNvPr>
          <p:cNvSpPr txBox="1">
            <a:spLocks/>
          </p:cNvSpPr>
          <p:nvPr/>
        </p:nvSpPr>
        <p:spPr>
          <a:xfrm>
            <a:off x="986589" y="3030126"/>
            <a:ext cx="10363200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How to </a:t>
            </a:r>
            <a:r>
              <a:rPr lang="en-US" dirty="0" err="1"/>
              <a:t>optimise</a:t>
            </a:r>
            <a:r>
              <a:rPr lang="en-US" dirty="0"/>
              <a:t> the initial query plan?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B66C1B-DFF9-4548-8B26-E772DAAE3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7127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</a:t>
            </a:r>
            <a:r>
              <a:rPr lang="en-US" dirty="0" err="1"/>
              <a:t>Optimise</a:t>
            </a:r>
            <a:r>
              <a:rPr lang="en-US" dirty="0"/>
              <a:t> Query Plans?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initial query plan might not be the optimal one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360545" y="4996815"/>
                <a:ext cx="648072" cy="525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0545" y="4996815"/>
                <a:ext cx="648072" cy="52588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489622" y="4095534"/>
                <a:ext cx="2919233" cy="5789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 err="1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aseline="-25000" dirty="0">
                    <a:solidFill>
                      <a:schemeClr val="accent1"/>
                    </a:solidFill>
                  </a:rPr>
                  <a:t>=depart AND city=Liv</a:t>
                </a:r>
                <a:endParaRPr lang="en-US" sz="2800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9622" y="4095534"/>
                <a:ext cx="2919233" cy="578914"/>
              </a:xfrm>
              <a:prstGeom prst="rect">
                <a:avLst/>
              </a:prstGeom>
              <a:blipFill>
                <a:blip r:embed="rId6"/>
                <a:stretch>
                  <a:fillRect b="-1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4684581" y="4687316"/>
            <a:ext cx="0" cy="37777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191" y="5817110"/>
            <a:ext cx="8376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Stores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713792" y="5817110"/>
            <a:ext cx="1311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Employees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 flipH="1">
            <a:off x="4235243" y="5476812"/>
            <a:ext cx="341467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4792180" y="5476812"/>
            <a:ext cx="341740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5916929" y="5063688"/>
            <a:ext cx="64807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67608" y="2348881"/>
            <a:ext cx="4264025" cy="11414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SELECT </a:t>
            </a:r>
            <a:r>
              <a:rPr lang="en-US" sz="2000" b="1" dirty="0">
                <a:solidFill>
                  <a:schemeClr val="accent1"/>
                </a:solidFill>
              </a:rPr>
              <a:t>*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FROM Stores, Employees</a:t>
            </a:r>
            <a:br>
              <a:rPr lang="en-US" sz="2000" dirty="0">
                <a:solidFill>
                  <a:schemeClr val="accent1"/>
                </a:solidFill>
              </a:rPr>
            </a:br>
            <a:r>
              <a:rPr lang="en-US" sz="2000" dirty="0">
                <a:solidFill>
                  <a:schemeClr val="accent1"/>
                </a:solidFill>
              </a:rPr>
              <a:t>WHERE </a:t>
            </a:r>
            <a:r>
              <a:rPr lang="en-US" sz="2000" dirty="0" err="1">
                <a:solidFill>
                  <a:schemeClr val="accent1"/>
                </a:solidFill>
              </a:rPr>
              <a:t>worksAt</a:t>
            </a:r>
            <a:r>
              <a:rPr lang="en-US" sz="2000" dirty="0">
                <a:solidFill>
                  <a:schemeClr val="accent1"/>
                </a:solidFill>
              </a:rPr>
              <a:t>=depart AND city=Liv;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4684581" y="3784252"/>
            <a:ext cx="0" cy="311283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Rounded Rectangular Callout 30"/>
          <p:cNvSpPr/>
          <p:nvPr/>
        </p:nvSpPr>
        <p:spPr>
          <a:xfrm>
            <a:off x="1668458" y="4696249"/>
            <a:ext cx="2315157" cy="995378"/>
          </a:xfrm>
          <a:prstGeom prst="wedgeRoundRectCallout">
            <a:avLst>
              <a:gd name="adj1" fmla="val 70652"/>
              <a:gd name="adj2" fmla="val 10460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Inefficient if Stores contains few tuples </a:t>
            </a:r>
            <a:br>
              <a:rPr lang="en-GB" dirty="0"/>
            </a:br>
            <a:r>
              <a:rPr lang="en-GB" dirty="0"/>
              <a:t>with city=Liv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8519767" y="4211155"/>
                <a:ext cx="648072" cy="525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9767" y="4211155"/>
                <a:ext cx="648072" cy="525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8071297" y="3309874"/>
                <a:ext cx="1744233" cy="5789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 err="1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aseline="-25000" dirty="0">
                    <a:solidFill>
                      <a:schemeClr val="accent1"/>
                    </a:solidFill>
                  </a:rPr>
                  <a:t>=depart</a:t>
                </a:r>
                <a:endParaRPr lang="en-US" sz="2800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1297" y="3309874"/>
                <a:ext cx="1744233" cy="578914"/>
              </a:xfrm>
              <a:prstGeom prst="rect">
                <a:avLst/>
              </a:prstGeom>
              <a:blipFill>
                <a:blip r:embed="rId8"/>
                <a:stretch>
                  <a:fillRect b="-1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/>
          <p:nvPr/>
        </p:nvCxnSpPr>
        <p:spPr>
          <a:xfrm>
            <a:off x="8843803" y="3901656"/>
            <a:ext cx="0" cy="37777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717130" y="5843762"/>
            <a:ext cx="8376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Stores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8861115" y="5031450"/>
            <a:ext cx="1311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Employees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39" name="Straight Arrow Connector 38"/>
          <p:cNvCxnSpPr/>
          <p:nvPr/>
        </p:nvCxnSpPr>
        <p:spPr>
          <a:xfrm flipH="1">
            <a:off x="8240692" y="4691152"/>
            <a:ext cx="495240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8951402" y="4691152"/>
            <a:ext cx="495512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7706903" y="4897898"/>
                <a:ext cx="1028716" cy="5789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>
                    <a:solidFill>
                      <a:schemeClr val="accent1"/>
                    </a:solidFill>
                  </a:rPr>
                  <a:t>city=Liv</a:t>
                </a:r>
                <a:endParaRPr lang="en-US" sz="2800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06903" y="4897898"/>
                <a:ext cx="1028716" cy="578914"/>
              </a:xfrm>
              <a:prstGeom prst="rect">
                <a:avLst/>
              </a:prstGeom>
              <a:blipFill>
                <a:blip r:embed="rId9"/>
                <a:stretch>
                  <a:fillRect r="-1183" b="-1368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/>
          <p:cNvCxnSpPr/>
          <p:nvPr/>
        </p:nvCxnSpPr>
        <p:spPr>
          <a:xfrm>
            <a:off x="8240972" y="5489680"/>
            <a:ext cx="0" cy="37777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ular Callout 46"/>
          <p:cNvSpPr/>
          <p:nvPr/>
        </p:nvSpPr>
        <p:spPr>
          <a:xfrm>
            <a:off x="6374145" y="3957803"/>
            <a:ext cx="2051044" cy="726916"/>
          </a:xfrm>
          <a:prstGeom prst="wedgeRoundRectCallout">
            <a:avLst>
              <a:gd name="adj1" fmla="val 61949"/>
              <a:gd name="adj2" fmla="val 2221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Computed only for tuples with city=Liv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ounded Rectangular Callout 47"/>
              <p:cNvSpPr/>
              <p:nvPr/>
            </p:nvSpPr>
            <p:spPr>
              <a:xfrm>
                <a:off x="7966153" y="2547653"/>
                <a:ext cx="2466010" cy="746841"/>
              </a:xfrm>
              <a:prstGeom prst="wedgeRoundRectCallout">
                <a:avLst>
                  <a:gd name="adj1" fmla="val 4098"/>
                  <a:gd name="adj2" fmla="val 83469"/>
                  <a:gd name="adj3" fmla="val 16667"/>
                </a:avLst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Even faster </a:t>
                </a:r>
                <a:r>
                  <a:rPr lang="en-GB"/>
                  <a:t>if combined with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GB" dirty="0"/>
                  <a:t> into an equijoin</a:t>
                </a:r>
                <a:endParaRPr lang="en-US" dirty="0"/>
              </a:p>
            </p:txBody>
          </p:sp>
        </mc:Choice>
        <mc:Fallback xmlns="">
          <p:sp>
            <p:nvSpPr>
              <p:cNvPr id="48" name="Rounded Rectangular Callout 4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66153" y="2547653"/>
                <a:ext cx="2466010" cy="746841"/>
              </a:xfrm>
              <a:prstGeom prst="wedgeRoundRectCallout">
                <a:avLst>
                  <a:gd name="adj1" fmla="val 4098"/>
                  <a:gd name="adj2" fmla="val 83469"/>
                  <a:gd name="adj3" fmla="val 16667"/>
                </a:avLst>
              </a:prstGeom>
              <a:blipFill>
                <a:blip r:embed="rId10"/>
                <a:stretch>
                  <a:fillRect l="-493" r="-1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Rounded Rectangular Callout 48"/>
          <p:cNvSpPr/>
          <p:nvPr/>
        </p:nvSpPr>
        <p:spPr>
          <a:xfrm>
            <a:off x="5547001" y="5258975"/>
            <a:ext cx="2065906" cy="495175"/>
          </a:xfrm>
          <a:prstGeom prst="wedgeRoundRectCallout">
            <a:avLst>
              <a:gd name="adj1" fmla="val 59708"/>
              <a:gd name="adj2" fmla="val -3622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/>
              <a:t>Could exploit index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83929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4" grpId="0"/>
      <p:bldP spid="35" grpId="0"/>
      <p:bldP spid="37" grpId="0"/>
      <p:bldP spid="38" grpId="0"/>
      <p:bldP spid="42" grpId="0"/>
      <p:bldP spid="47" grpId="0" animBg="1"/>
      <p:bldP spid="48" grpId="0" animBg="1"/>
      <p:bldP spid="4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Optimise?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66800" y="1837862"/>
                <a:ext cx="10058400" cy="40233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sz="2400" dirty="0"/>
                  <a:t>Evaluation of query plans: </a:t>
                </a:r>
              </a:p>
              <a:p>
                <a:pPr lvl="1"/>
                <a:r>
                  <a:rPr lang="en-US" sz="2000" dirty="0"/>
                  <a:t>Bottom-up</a:t>
                </a:r>
              </a:p>
              <a:p>
                <a:pPr lvl="1"/>
                <a:r>
                  <a:rPr lang="en-US" sz="2000" dirty="0"/>
                  <a:t>Efficiency depends on size of</a:t>
                </a:r>
                <a:br>
                  <a:rPr lang="en-US" sz="2000" dirty="0"/>
                </a:br>
                <a:r>
                  <a:rPr lang="en-US" sz="2000" dirty="0"/>
                  <a:t>intermediate results</a:t>
                </a:r>
              </a:p>
              <a:p>
                <a:r>
                  <a:rPr lang="en-US" sz="2400" dirty="0"/>
                  <a:t>Rewrite the initial query plan so that </a:t>
                </a:r>
                <a:br>
                  <a:rPr lang="en-US" sz="2400" dirty="0"/>
                </a:br>
                <a:r>
                  <a:rPr lang="en-US" sz="2400" dirty="0"/>
                  <a:t>intermediate results will be smaller</a:t>
                </a:r>
              </a:p>
              <a:p>
                <a:r>
                  <a:rPr lang="en-US" sz="2400" dirty="0"/>
                  <a:t>Based on equivalence laws of relational algebra</a:t>
                </a:r>
              </a:p>
              <a:p>
                <a:pPr lvl="1"/>
                <a:r>
                  <a:rPr lang="en-US" sz="2000" dirty="0"/>
                  <a:t>Many laws (see references for this lecture on Vital)</a:t>
                </a:r>
              </a:p>
              <a:p>
                <a:pPr lvl="1"/>
                <a:r>
                  <a:rPr lang="en-US" sz="2000" dirty="0"/>
                  <a:t>Examples: </a:t>
                </a:r>
              </a:p>
              <a:p>
                <a:pPr lvl="2">
                  <a:spcBef>
                    <a:spcPts val="1032"/>
                  </a:spcBef>
                </a:pP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A=a</a:t>
                </a:r>
                <a:r>
                  <a:rPr lang="en-US" sz="1800" baseline="-25000" dirty="0"/>
                  <a:t> AND </a:t>
                </a:r>
                <a:r>
                  <a:rPr lang="en-US" sz="1800" b="1" baseline="-25000" dirty="0">
                    <a:solidFill>
                      <a:schemeClr val="accent3"/>
                    </a:solidFill>
                  </a:rPr>
                  <a:t>B=b</a:t>
                </a:r>
                <a:r>
                  <a:rPr lang="en-US" sz="1800" dirty="0"/>
                  <a:t>(R) = </a:t>
                </a: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A=a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3"/>
                    </a:solidFill>
                  </a:rPr>
                  <a:t>B=b</a:t>
                </a:r>
                <a:r>
                  <a:rPr lang="en-US" sz="1800" dirty="0"/>
                  <a:t>(R))</a:t>
                </a:r>
              </a:p>
              <a:p>
                <a:pPr lvl="2">
                  <a:spcBef>
                    <a:spcPts val="1032"/>
                  </a:spcBef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A=a</a:t>
                </a:r>
                <a:r>
                  <a:rPr lang="en-US" sz="1800" dirty="0"/>
                  <a:t>(</a:t>
                </a:r>
                <a:r>
                  <a:rPr lang="en-US" sz="1800" b="1" dirty="0">
                    <a:solidFill>
                      <a:schemeClr val="accent3"/>
                    </a:solidFill>
                  </a:rPr>
                  <a:t>R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1800" dirty="0"/>
                  <a:t> S) =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A=a</a:t>
                </a:r>
                <a:r>
                  <a:rPr lang="en-US" sz="1800" dirty="0"/>
                  <a:t>(</a:t>
                </a:r>
                <a:r>
                  <a:rPr lang="en-US" sz="1800" b="1" dirty="0">
                    <a:solidFill>
                      <a:schemeClr val="accent3"/>
                    </a:solidFill>
                  </a:rPr>
                  <a:t>R</a:t>
                </a:r>
                <a:r>
                  <a:rPr lang="en-US" sz="1800" dirty="0"/>
                  <a:t>) </a:t>
                </a: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1800" dirty="0"/>
                  <a:t> S</a:t>
                </a:r>
              </a:p>
              <a:p>
                <a:pPr lvl="2">
                  <a:spcBef>
                    <a:spcPts val="1032"/>
                  </a:spcBef>
                </a:pPr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𝜎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A=B</a:t>
                </a:r>
                <a:r>
                  <a:rPr lang="en-US" sz="1800" dirty="0"/>
                  <a:t>(R </a:t>
                </a:r>
                <a14:m>
                  <m:oMath xmlns:m="http://schemas.openxmlformats.org/officeDocument/2006/math">
                    <m:r>
                      <a:rPr lang="en-GB" sz="1800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1800" dirty="0"/>
                  <a:t> S) = R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1800" b="1" baseline="-25000" dirty="0">
                    <a:solidFill>
                      <a:schemeClr val="accent1"/>
                    </a:solidFill>
                  </a:rPr>
                  <a:t>A=B</a:t>
                </a:r>
                <a:r>
                  <a:rPr lang="en-US" sz="1800" dirty="0"/>
                  <a:t> S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66800" y="1837862"/>
                <a:ext cx="10058400" cy="4023360"/>
              </a:xfrm>
              <a:blipFill>
                <a:blip r:embed="rId5"/>
                <a:stretch>
                  <a:fillRect l="-788" t="-30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7607987" y="1829121"/>
            <a:ext cx="2835424" cy="226945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8478911" y="2730402"/>
                <a:ext cx="648072" cy="52588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squar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>
                          <a:solidFill>
                            <a:schemeClr val="accent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8911" y="2730402"/>
                <a:ext cx="648072" cy="52588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607988" y="1829121"/>
                <a:ext cx="2919233" cy="57891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accent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aseline="-25000" dirty="0" err="1">
                    <a:solidFill>
                      <a:schemeClr val="accent1"/>
                    </a:solidFill>
                  </a:rPr>
                  <a:t>worksAt</a:t>
                </a:r>
                <a:r>
                  <a:rPr lang="en-GB" sz="2400" baseline="-25000" dirty="0">
                    <a:solidFill>
                      <a:schemeClr val="accent1"/>
                    </a:solidFill>
                  </a:rPr>
                  <a:t>=depart AND city=Liv</a:t>
                </a:r>
                <a:endParaRPr lang="en-US" sz="2800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7988" y="1829121"/>
                <a:ext cx="2919233" cy="578914"/>
              </a:xfrm>
              <a:prstGeom prst="rect">
                <a:avLst/>
              </a:prstGeom>
              <a:blipFill>
                <a:blip r:embed="rId7"/>
                <a:stretch>
                  <a:fillRect b="-1263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/>
          <p:nvPr/>
        </p:nvCxnSpPr>
        <p:spPr>
          <a:xfrm>
            <a:off x="8802947" y="2420903"/>
            <a:ext cx="0" cy="377777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7618557" y="3550697"/>
            <a:ext cx="8376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Stores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8832158" y="3550697"/>
            <a:ext cx="131189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000" dirty="0">
                <a:solidFill>
                  <a:schemeClr val="accent1"/>
                </a:solidFill>
              </a:rPr>
              <a:t>Employees</a:t>
            </a:r>
            <a:endParaRPr lang="en-US" dirty="0">
              <a:solidFill>
                <a:schemeClr val="accent1"/>
              </a:solidFill>
            </a:endParaRPr>
          </a:p>
        </p:txBody>
      </p:sp>
      <p:cxnSp>
        <p:nvCxnSpPr>
          <p:cNvPr id="31" name="Straight Arrow Connector 30"/>
          <p:cNvCxnSpPr/>
          <p:nvPr/>
        </p:nvCxnSpPr>
        <p:spPr>
          <a:xfrm flipH="1">
            <a:off x="8353609" y="3210399"/>
            <a:ext cx="341467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8910546" y="3210399"/>
            <a:ext cx="341740" cy="334802"/>
          </a:xfrm>
          <a:prstGeom prst="straightConnector1">
            <a:avLst/>
          </a:prstGeom>
          <a:ln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ular Callout 41"/>
          <p:cNvSpPr/>
          <p:nvPr/>
        </p:nvSpPr>
        <p:spPr>
          <a:xfrm>
            <a:off x="4389872" y="4605108"/>
            <a:ext cx="1449568" cy="446060"/>
          </a:xfrm>
          <a:prstGeom prst="wedgeRoundRectCallout">
            <a:avLst>
              <a:gd name="adj1" fmla="val -78155"/>
              <a:gd name="adj2" fmla="val 4175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If A </a:t>
            </a:r>
            <a:r>
              <a:rPr lang="en-GB" dirty="0"/>
              <a:t>is on R</a:t>
            </a:r>
            <a:endParaRPr lang="en-US" dirty="0"/>
          </a:p>
        </p:txBody>
      </p:sp>
      <p:sp>
        <p:nvSpPr>
          <p:cNvPr id="46" name="Rounded Rectangular Callout 45"/>
          <p:cNvSpPr/>
          <p:nvPr/>
        </p:nvSpPr>
        <p:spPr>
          <a:xfrm>
            <a:off x="3915545" y="5415162"/>
            <a:ext cx="2540211" cy="446060"/>
          </a:xfrm>
          <a:prstGeom prst="wedgeRoundRectCallout">
            <a:avLst>
              <a:gd name="adj1" fmla="val -58638"/>
              <a:gd name="adj2" fmla="val -3409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If A is on R and B is on S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2696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2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758634" y="3925230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8634" y="3925230"/>
                <a:ext cx="506650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207072" y="2184402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7072" y="2184402"/>
                <a:ext cx="1510323" cy="587441"/>
              </a:xfrm>
              <a:prstGeom prst="rect">
                <a:avLst/>
              </a:prstGeom>
              <a:blipFill>
                <a:blip r:embed="rId6"/>
                <a:stretch>
                  <a:fillRect b="-1030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2630791" y="3035857"/>
                <a:ext cx="2984251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=depart AND 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791" y="3035857"/>
                <a:ext cx="2984251" cy="587441"/>
              </a:xfrm>
              <a:prstGeom prst="rect">
                <a:avLst/>
              </a:prstGeom>
              <a:blipFill>
                <a:blip r:embed="rId7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/>
          <p:cNvSpPr txBox="1"/>
          <p:nvPr/>
        </p:nvSpPr>
        <p:spPr>
          <a:xfrm>
            <a:off x="2654610" y="4687673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265285" y="4683677"/>
            <a:ext cx="1345341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>
            <a:off x="4003109" y="2838220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4003109" y="3646720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3603909" y="4483026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155975" y="4483026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835899" y="1721464"/>
            <a:ext cx="6581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#1: Push selections as far down the tree as possible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026421" y="3953010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6421" y="3953010"/>
                <a:ext cx="506650" cy="5874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464153" y="2206551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64153" y="2206551"/>
                <a:ext cx="1510323" cy="587441"/>
              </a:xfrm>
              <a:prstGeom prst="rect">
                <a:avLst/>
              </a:prstGeom>
              <a:blipFill>
                <a:blip r:embed="rId9"/>
                <a:stretch>
                  <a:fillRect r="-403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370788" y="3063637"/>
                <a:ext cx="177879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=depart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0788" y="3063637"/>
                <a:ext cx="1778793" cy="587441"/>
              </a:xfrm>
              <a:prstGeom prst="rect">
                <a:avLst/>
              </a:prstGeom>
              <a:blipFill>
                <a:blip r:embed="rId10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441117" y="5569594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557406" y="4711457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8270896" y="2866000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270896" y="3674500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7871696" y="4510806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423762" y="4510806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335965" y="4650939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5965" y="4650939"/>
                <a:ext cx="1046349" cy="587441"/>
              </a:xfrm>
              <a:prstGeom prst="rect">
                <a:avLst/>
              </a:prstGeom>
              <a:blipFill>
                <a:blip r:embed="rId11"/>
                <a:stretch>
                  <a:fillRect r="-581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7859139" y="5237344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934164" y="3863232"/>
            <a:ext cx="64807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884577" y="5403469"/>
            <a:ext cx="4654000" cy="731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dirty="0"/>
              <a:t>Intuition: </a:t>
            </a:r>
            <a:r>
              <a:rPr lang="en-GB"/>
              <a:t>This gets </a:t>
            </a:r>
            <a:r>
              <a:rPr lang="en-GB" dirty="0"/>
              <a:t>rid of many irrelevant tuples</a:t>
            </a:r>
            <a:br>
              <a:rPr lang="en-GB" dirty="0"/>
            </a:br>
            <a:r>
              <a:rPr lang="en-GB" dirty="0"/>
              <a:t>very early during execution.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37715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5" grpId="0"/>
      <p:bldP spid="16" grpId="0"/>
      <p:bldP spid="17" grpId="0"/>
      <p:bldP spid="18" grpId="0"/>
      <p:bldP spid="19" grpId="0"/>
      <p:bldP spid="24" grpId="0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14" name="TextBox 13"/>
          <p:cNvSpPr txBox="1"/>
          <p:nvPr/>
        </p:nvSpPr>
        <p:spPr>
          <a:xfrm>
            <a:off x="2578915" y="1702144"/>
            <a:ext cx="703417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i="1" dirty="0"/>
              <a:t>#2: “Push” projections as far down the tree as possible,</a:t>
            </a:r>
            <a:br>
              <a:rPr lang="en-US" sz="2400" i="1" dirty="0"/>
            </a:br>
            <a:r>
              <a:rPr lang="en-US" sz="2400" i="1" dirty="0"/>
              <a:t>or insert projections where appropriate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173571" y="4137704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3571" y="4137704"/>
                <a:ext cx="506650" cy="58744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597155" y="2564905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7155" y="2564905"/>
                <a:ext cx="1510323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495657" y="3277975"/>
                <a:ext cx="177879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=depart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95657" y="3277975"/>
                <a:ext cx="1778793" cy="587441"/>
              </a:xfrm>
              <a:prstGeom prst="rect">
                <a:avLst/>
              </a:prstGeom>
              <a:blipFill>
                <a:blip r:embed="rId7"/>
                <a:stretch>
                  <a:fillRect r="-344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408457" y="5958825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43723" y="5711924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8409841" y="3152345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8418046" y="3859194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7844732" y="4653136"/>
            <a:ext cx="438149" cy="30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570913" y="4653137"/>
            <a:ext cx="438149" cy="282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267309" y="5408655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309" y="5408655"/>
                <a:ext cx="1046349" cy="587441"/>
              </a:xfrm>
              <a:prstGeom prst="rect">
                <a:avLst/>
              </a:prstGeom>
              <a:blipFill>
                <a:blip r:embed="rId8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7801487" y="5925499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879976" y="4077570"/>
            <a:ext cx="64807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3714548" y="4167348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4548" y="4167348"/>
                <a:ext cx="506650" cy="5874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52280" y="2420889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280" y="2420889"/>
                <a:ext cx="1510323" cy="587441"/>
              </a:xfrm>
              <a:prstGeom prst="rect">
                <a:avLst/>
              </a:prstGeom>
              <a:blipFill>
                <a:blip r:embed="rId10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58915" y="3277975"/>
                <a:ext cx="177879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=depart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8915" y="3277975"/>
                <a:ext cx="1778793" cy="587441"/>
              </a:xfrm>
              <a:prstGeom prst="rect">
                <a:avLst/>
              </a:prstGeom>
              <a:blipFill>
                <a:blip r:embed="rId11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/>
          <p:cNvSpPr txBox="1"/>
          <p:nvPr/>
        </p:nvSpPr>
        <p:spPr>
          <a:xfrm>
            <a:off x="3129244" y="5783932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245533" y="4925795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3959023" y="3080338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3959023" y="3888838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H="1">
            <a:off x="3559823" y="4725144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/>
          <p:nvPr/>
        </p:nvCxnSpPr>
        <p:spPr>
          <a:xfrm>
            <a:off x="4111889" y="4725144"/>
            <a:ext cx="264034" cy="2880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3024092" y="4865277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4092" y="4865277"/>
                <a:ext cx="1046349" cy="587441"/>
              </a:xfrm>
              <a:prstGeom prst="rect">
                <a:avLst/>
              </a:prstGeom>
              <a:blipFill>
                <a:blip r:embed="rId12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7" name="Straight Arrow Connector 36"/>
          <p:cNvCxnSpPr/>
          <p:nvPr/>
        </p:nvCxnSpPr>
        <p:spPr>
          <a:xfrm>
            <a:off x="3547266" y="5451682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297111" y="4821214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97111" y="4821214"/>
                <a:ext cx="1510323" cy="587441"/>
              </a:xfrm>
              <a:prstGeom prst="rect">
                <a:avLst/>
              </a:prstGeom>
              <a:blipFill>
                <a:blip r:embed="rId13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>
            <a:off x="9116391" y="5401351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357950" y="4821214"/>
                <a:ext cx="1109444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950" y="4821214"/>
                <a:ext cx="1109444" cy="587441"/>
              </a:xfrm>
              <a:prstGeom prst="rect">
                <a:avLst/>
              </a:prstGeom>
              <a:blipFill>
                <a:blip r:embed="rId14"/>
                <a:stretch>
                  <a:fillRect r="-549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/>
          <p:nvPr/>
        </p:nvCxnSpPr>
        <p:spPr>
          <a:xfrm>
            <a:off x="7775383" y="5373217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722015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19" grpId="0"/>
      <p:bldP spid="24" grpId="0"/>
      <p:bldP spid="27" grpId="0"/>
      <p:bldP spid="28" grpId="0"/>
      <p:bldP spid="29" grpId="0"/>
      <p:bldP spid="30" grpId="0"/>
      <p:bldP spid="31" grpId="0"/>
      <p:bldP spid="36" grpId="0"/>
      <p:bldP spid="39" grpId="0"/>
      <p:bldP spid="4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Heuristics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654480" y="1766719"/>
                <a:ext cx="688303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2400" i="1" dirty="0"/>
                  <a:t>#3: If possible, introduce equijoins for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i="1" dirty="0"/>
                  <a:t> followed by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𝜎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4480" y="1766719"/>
                <a:ext cx="6883039" cy="461665"/>
              </a:xfrm>
              <a:prstGeom prst="rect">
                <a:avLst/>
              </a:prstGeom>
              <a:blipFill>
                <a:blip r:embed="rId5"/>
                <a:stretch>
                  <a:fillRect l="-885" t="-10526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8206923" y="3396176"/>
                <a:ext cx="1846632" cy="58744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⋈</m:t>
                    </m:r>
                  </m:oMath>
                </a14:m>
                <a:r>
                  <a:rPr lang="en-US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US" sz="2400" b="1" baseline="-25000" dirty="0">
                    <a:solidFill>
                      <a:schemeClr val="accent2"/>
                    </a:solidFill>
                  </a:rPr>
                  <a:t>=depart</a:t>
                </a:r>
                <a:endParaRPr lang="en-US" sz="2400" b="1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6923" y="3396176"/>
                <a:ext cx="1846632" cy="587441"/>
              </a:xfrm>
              <a:prstGeom prst="rect">
                <a:avLst/>
              </a:prstGeom>
              <a:blipFill>
                <a:blip r:embed="rId6"/>
                <a:stretch>
                  <a:fillRect b="-104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630859" y="2620500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30859" y="2620500"/>
                <a:ext cx="1510323" cy="587441"/>
              </a:xfrm>
              <a:prstGeom prst="rect">
                <a:avLst/>
              </a:prstGeom>
              <a:blipFill>
                <a:blip r:embed="rId7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7395151" y="5473954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466413" y="4970396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8443545" y="3207940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H="1">
            <a:off x="7867422" y="3911608"/>
            <a:ext cx="438149" cy="30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8593603" y="3911609"/>
            <a:ext cx="438149" cy="282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7289999" y="4667127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9999" y="4667127"/>
                <a:ext cx="1046349" cy="587441"/>
              </a:xfrm>
              <a:prstGeom prst="rect">
                <a:avLst/>
              </a:prstGeom>
              <a:blipFill>
                <a:blip r:embed="rId8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" name="Straight Arrow Connector 24"/>
          <p:cNvCxnSpPr/>
          <p:nvPr/>
        </p:nvCxnSpPr>
        <p:spPr>
          <a:xfrm>
            <a:off x="7813173" y="5253532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5879976" y="4293096"/>
            <a:ext cx="648072" cy="0"/>
          </a:xfrm>
          <a:prstGeom prst="straightConnector1">
            <a:avLst/>
          </a:prstGeom>
          <a:ln>
            <a:prstDash val="sysDot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152280" y="2204865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52280" y="2204865"/>
                <a:ext cx="1510323" cy="587441"/>
              </a:xfrm>
              <a:prstGeom prst="rect">
                <a:avLst/>
              </a:prstGeom>
              <a:blipFill>
                <a:blip r:embed="rId9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8319801" y="4079686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801" y="4079686"/>
                <a:ext cx="1510323" cy="587441"/>
              </a:xfrm>
              <a:prstGeom prst="rect">
                <a:avLst/>
              </a:prstGeom>
              <a:blipFill>
                <a:blip r:embed="rId10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>
            <a:off x="9139081" y="4659823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380640" y="4079686"/>
                <a:ext cx="1109444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0640" y="4079686"/>
                <a:ext cx="1109444" cy="587441"/>
              </a:xfrm>
              <a:prstGeom prst="rect">
                <a:avLst/>
              </a:prstGeom>
              <a:blipFill>
                <a:blip r:embed="rId11"/>
                <a:stretch>
                  <a:fillRect r="-549"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8" name="Straight Arrow Connector 47"/>
          <p:cNvCxnSpPr/>
          <p:nvPr/>
        </p:nvCxnSpPr>
        <p:spPr>
          <a:xfrm>
            <a:off x="7798073" y="4631689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3728942" y="3773950"/>
                <a:ext cx="506650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1">
                <a:schemeClr val="dk1"/>
              </a:lnRef>
              <a:fillRef idx="2">
                <a:schemeClr val="dk1"/>
              </a:fillRef>
              <a:effectRef idx="1">
                <a:schemeClr val="dk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1" i="1">
                          <a:solidFill>
                            <a:schemeClr val="tx1"/>
                          </a:solidFill>
                          <a:latin typeface="Cambria Math" charset="0"/>
                        </a:rPr>
                        <m:t>×</m:t>
                      </m:r>
                    </m:oMath>
                  </m:oMathPara>
                </a14:m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942" y="3773950"/>
                <a:ext cx="506650" cy="58744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3051028" y="2914221"/>
                <a:ext cx="177879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 err="1">
                    <a:solidFill>
                      <a:schemeClr val="accent2"/>
                    </a:solidFill>
                  </a:rPr>
                  <a:t>worksAt</a:t>
                </a:r>
                <a:r>
                  <a:rPr lang="en-GB" sz="2400" b="1" baseline="-25000" dirty="0">
                    <a:solidFill>
                      <a:schemeClr val="accent2"/>
                    </a:solidFill>
                  </a:rPr>
                  <a:t>=depart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028" y="2914221"/>
                <a:ext cx="1778793" cy="587441"/>
              </a:xfrm>
              <a:prstGeom prst="rect">
                <a:avLst/>
              </a:prstGeom>
              <a:blipFill>
                <a:blip r:embed="rId13"/>
                <a:stretch>
                  <a:fillRect r="-342"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TextBox 42"/>
          <p:cNvSpPr txBox="1"/>
          <p:nvPr/>
        </p:nvSpPr>
        <p:spPr>
          <a:xfrm>
            <a:off x="2927832" y="5851728"/>
            <a:ext cx="871045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Stores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3999094" y="5348170"/>
            <a:ext cx="1345342" cy="5258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08000" tIns="108000" rIns="108000" bIns="108000" rtlCol="0">
            <a:spAutoFit/>
          </a:bodyPr>
          <a:lstStyle/>
          <a:p>
            <a:pPr algn="ctr"/>
            <a:r>
              <a:rPr lang="en-US" sz="2000" dirty="0">
                <a:solidFill>
                  <a:schemeClr val="tx1"/>
                </a:solidFill>
              </a:rPr>
              <a:t>Employees</a:t>
            </a:r>
            <a:endParaRPr lang="en-US" sz="2400" dirty="0">
              <a:solidFill>
                <a:schemeClr val="tx1"/>
              </a:solidFill>
            </a:endParaRP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965212" y="2788591"/>
            <a:ext cx="0" cy="2716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3973417" y="3495440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flipH="1">
            <a:off x="3400103" y="4289382"/>
            <a:ext cx="438149" cy="308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>
            <a:off x="4126284" y="4289383"/>
            <a:ext cx="438149" cy="2824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2822680" y="5044901"/>
                <a:ext cx="1046349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𝜎</m:t>
                    </m:r>
                  </m:oMath>
                </a14:m>
                <a:r>
                  <a:rPr lang="en-GB" sz="2400" b="1" baseline="-25000" dirty="0">
                    <a:solidFill>
                      <a:schemeClr val="accent2"/>
                    </a:solidFill>
                  </a:rPr>
                  <a:t>city=Liv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2680" y="5044901"/>
                <a:ext cx="1046349" cy="587441"/>
              </a:xfrm>
              <a:prstGeom prst="rect">
                <a:avLst/>
              </a:prstGeom>
              <a:blipFill>
                <a:blip r:embed="rId14"/>
                <a:stretch>
                  <a:fillRect b="-1041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2" name="Straight Arrow Connector 51"/>
          <p:cNvCxnSpPr/>
          <p:nvPr/>
        </p:nvCxnSpPr>
        <p:spPr>
          <a:xfrm>
            <a:off x="3345854" y="5631306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3852482" y="4457460"/>
                <a:ext cx="1510323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depart</a:t>
                </a:r>
                <a:r>
                  <a:rPr lang="en-GB" sz="2400" b="1" baseline="-25000" dirty="0" err="1">
                    <a:solidFill>
                      <a:schemeClr val="accent1"/>
                    </a:solidFill>
                  </a:rPr>
                  <a:t>,name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2482" y="4457460"/>
                <a:ext cx="1510323" cy="587441"/>
              </a:xfrm>
              <a:prstGeom prst="rect">
                <a:avLst/>
              </a:prstGeom>
              <a:blipFill>
                <a:blip r:embed="rId15"/>
                <a:stretch>
                  <a:fillRect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Straight Arrow Connector 53"/>
          <p:cNvCxnSpPr/>
          <p:nvPr/>
        </p:nvCxnSpPr>
        <p:spPr>
          <a:xfrm>
            <a:off x="4671762" y="5037597"/>
            <a:ext cx="0" cy="3322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2913321" y="4457460"/>
                <a:ext cx="1109444" cy="58744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08000" tIns="108000" rIns="108000" bIns="10800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sz="2400" i="1">
                        <a:solidFill>
                          <a:schemeClr val="tx1"/>
                        </a:solidFill>
                        <a:latin typeface="Cambria Math" charset="0"/>
                      </a:rPr>
                      <m:t>𝜋</m:t>
                    </m:r>
                  </m:oMath>
                </a14:m>
                <a:r>
                  <a:rPr lang="en-GB" sz="2400" b="1" baseline="-25000" dirty="0">
                    <a:solidFill>
                      <a:schemeClr val="accent1"/>
                    </a:solidFill>
                  </a:rPr>
                  <a:t>worksAt</a:t>
                </a: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321" y="4457460"/>
                <a:ext cx="1109444" cy="587441"/>
              </a:xfrm>
              <a:prstGeom prst="rect">
                <a:avLst/>
              </a:prstGeom>
              <a:blipFill>
                <a:blip r:embed="rId16"/>
                <a:stretch>
                  <a:fillRect r="-549" b="-927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/>
          <p:nvPr/>
        </p:nvCxnSpPr>
        <p:spPr>
          <a:xfrm>
            <a:off x="3330754" y="5009463"/>
            <a:ext cx="0" cy="2427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4671762" y="432454"/>
            <a:ext cx="2456934" cy="627171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Many more heuristics</a:t>
            </a:r>
            <a:r>
              <a:rPr lang="mr-IN" dirty="0"/>
              <a:t>…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Rounded Rectangular Callout 56"/>
              <p:cNvSpPr/>
              <p:nvPr/>
            </p:nvSpPr>
            <p:spPr>
              <a:xfrm>
                <a:off x="5217619" y="3230723"/>
                <a:ext cx="2868877" cy="467043"/>
              </a:xfrm>
              <a:prstGeom prst="wedgeRoundRectCallout">
                <a:avLst>
                  <a:gd name="adj1" fmla="val 54938"/>
                  <a:gd name="adj2" fmla="val 34528"/>
                  <a:gd name="adj3" fmla="val 16667"/>
                </a:avLst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GB" dirty="0"/>
                  <a:t>Faster than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dirty="0"/>
                  <a:t> followed by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𝜎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7" name="Rounded Rectangular Callout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7619" y="3230723"/>
                <a:ext cx="2868877" cy="467043"/>
              </a:xfrm>
              <a:prstGeom prst="wedgeRoundRectCallout">
                <a:avLst>
                  <a:gd name="adj1" fmla="val 54938"/>
                  <a:gd name="adj2" fmla="val 34528"/>
                  <a:gd name="adj3" fmla="val 16667"/>
                </a:avLst>
              </a:prstGeom>
              <a:blipFill>
                <a:blip r:embed="rId17"/>
                <a:stretch>
                  <a:fillRect l="-805" b="-759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"/>
    </p:custDataLst>
    <p:extLst>
      <p:ext uri="{BB962C8B-B14F-4D97-AF65-F5344CB8AC3E}">
        <p14:creationId xmlns:p14="http://schemas.microsoft.com/office/powerpoint/2010/main" val="1170181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8" grpId="0"/>
      <p:bldP spid="19" grpId="0"/>
      <p:bldP spid="24" grpId="0"/>
      <p:bldP spid="28" grpId="0"/>
      <p:bldP spid="39" grpId="0"/>
      <p:bldP spid="47" grpId="0"/>
      <p:bldP spid="38" grpId="0"/>
      <p:bldP spid="42" grpId="0"/>
      <p:bldP spid="43" grpId="0"/>
      <p:bldP spid="44" grpId="0"/>
      <p:bldP spid="51" grpId="0"/>
      <p:bldP spid="53" grpId="0"/>
      <p:bldP spid="55" grpId="0"/>
      <p:bldP spid="3" grpId="0" animBg="1"/>
      <p:bldP spid="5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23" name="Content Placeholder 2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Optimisation of query plans at the logical level</a:t>
            </a:r>
            <a:endParaRPr lang="en-US" b="1" dirty="0"/>
          </a:p>
          <a:p>
            <a:pPr lvl="1"/>
            <a:r>
              <a:rPr lang="en-US" dirty="0"/>
              <a:t>Started with initial query plan</a:t>
            </a:r>
          </a:p>
          <a:p>
            <a:pPr lvl="1"/>
            <a:r>
              <a:rPr lang="en-US" dirty="0"/>
              <a:t>Applied equivalence laws of relational algebra to </a:t>
            </a:r>
            <a:r>
              <a:rPr lang="en-US" dirty="0" err="1"/>
              <a:t>optimise</a:t>
            </a:r>
            <a:r>
              <a:rPr lang="en-US" dirty="0"/>
              <a:t> the plan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9384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5.3|24.2|13.2|17.5|24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8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3|3.9|12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|4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3|8.4|37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263</TotalTime>
  <Words>485</Words>
  <Application>Microsoft Office PowerPoint</Application>
  <PresentationFormat>Widescreen</PresentationFormat>
  <Paragraphs>106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Calibri Light</vt:lpstr>
      <vt:lpstr>Cambria Math</vt:lpstr>
      <vt:lpstr>Retrospect</vt:lpstr>
      <vt:lpstr>Optimising query plans</vt:lpstr>
      <vt:lpstr>Overview of this video</vt:lpstr>
      <vt:lpstr>PowerPoint Presentation</vt:lpstr>
      <vt:lpstr>Why Optimise Query Plans?</vt:lpstr>
      <vt:lpstr>How to Optimise?</vt:lpstr>
      <vt:lpstr>Heuristics</vt:lpstr>
      <vt:lpstr>Heuristics</vt:lpstr>
      <vt:lpstr>Heuristics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Optimising query plans</dc:title>
  <dc:creator>Rasmus Ibsen-Jensen</dc:creator>
  <cp:lastModifiedBy>Rasmus Ibsen-Jensen</cp:lastModifiedBy>
  <cp:revision>6</cp:revision>
  <dcterms:created xsi:type="dcterms:W3CDTF">2020-11-14T16:51:13Z</dcterms:created>
  <dcterms:modified xsi:type="dcterms:W3CDTF">2020-11-17T12:08:29Z</dcterms:modified>
</cp:coreProperties>
</file>