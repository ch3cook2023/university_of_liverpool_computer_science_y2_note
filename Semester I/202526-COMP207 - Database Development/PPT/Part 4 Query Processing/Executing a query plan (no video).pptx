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495" r:id="rId3"/>
    <p:sldId id="482" r:id="rId4"/>
    <p:sldId id="395" r:id="rId5"/>
    <p:sldId id="413" r:id="rId6"/>
    <p:sldId id="483" r:id="rId7"/>
    <p:sldId id="419" r:id="rId8"/>
    <p:sldId id="484" r:id="rId9"/>
    <p:sldId id="485" r:id="rId10"/>
    <p:sldId id="438" r:id="rId11"/>
    <p:sldId id="439" r:id="rId12"/>
    <p:sldId id="440" r:id="rId13"/>
    <p:sldId id="441" r:id="rId14"/>
    <p:sldId id="442" r:id="rId15"/>
    <p:sldId id="486" r:id="rId16"/>
    <p:sldId id="43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41" autoAdjust="0"/>
    <p:restoredTop sz="94660"/>
  </p:normalViewPr>
  <p:slideViewPr>
    <p:cSldViewPr snapToGrid="0">
      <p:cViewPr varScale="1">
        <p:scale>
          <a:sx n="88" d="100"/>
          <a:sy n="88" d="100"/>
        </p:scale>
        <p:origin x="1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66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46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884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063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98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365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544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57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01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932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0D054C-18F0-4E2E-81E9-26EEC1D8ED50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8DE6150-BEAC-4B7F-9418-D29A9554E4AC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00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11.png"/><Relationship Id="rId5" Type="http://schemas.openxmlformats.org/officeDocument/2006/relationships/image" Target="../media/image10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18.png"/><Relationship Id="rId5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A8E23-8B76-4F20-BC74-6F0C331358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Executing a query plan naively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75D11-C51E-4BFD-9113-D3547C81F7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261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3AFA4-A644-4242-8D9B-E1DFFA3C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274C5-5D2C-4115-8E23-89FE1B26B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see a fairly naïve approach to executing a query plan – the next video will show a more advanced approach to some of it</a:t>
            </a:r>
            <a:endParaRPr lang="en-GB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4B269B1B-74C7-4551-AEC7-E0F0A778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773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Query Plans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8952FA-C74F-43DD-9920-529B47B01362}"/>
              </a:ext>
            </a:extLst>
          </p:cNvPr>
          <p:cNvSpPr/>
          <p:nvPr/>
        </p:nvSpPr>
        <p:spPr>
          <a:xfrm>
            <a:off x="6322490" y="2493806"/>
            <a:ext cx="3168352" cy="26642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E920C88D-1648-40E0-91BD-9E9867592454}"/>
              </a:ext>
            </a:extLst>
          </p:cNvPr>
          <p:cNvSpPr txBox="1">
            <a:spLocks/>
          </p:cNvSpPr>
          <p:nvPr/>
        </p:nvSpPr>
        <p:spPr>
          <a:xfrm>
            <a:off x="1086394" y="1845734"/>
            <a:ext cx="8229600" cy="518457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Query plans tells us exactly how to compute the result to a query</a:t>
            </a:r>
          </a:p>
          <a:p>
            <a:r>
              <a:rPr lang="en-US"/>
              <a:t>Proceed from bottom to top:</a:t>
            </a:r>
          </a:p>
          <a:p>
            <a:pPr lvl="1">
              <a:spcBef>
                <a:spcPts val="1176"/>
              </a:spcBef>
            </a:pPr>
            <a:r>
              <a:rPr lang="en-US"/>
              <a:t>Compute an </a:t>
            </a:r>
            <a:r>
              <a:rPr lang="en-US" b="1"/>
              <a:t>intermediate result </a:t>
            </a:r>
            <a:br>
              <a:rPr lang="en-US"/>
            </a:br>
            <a:r>
              <a:rPr lang="en-US"/>
              <a:t>for each node</a:t>
            </a:r>
          </a:p>
          <a:p>
            <a:pPr lvl="1">
              <a:spcBef>
                <a:spcPts val="1176"/>
              </a:spcBef>
            </a:pPr>
            <a:r>
              <a:rPr lang="en-US"/>
              <a:t>For a </a:t>
            </a:r>
            <a:r>
              <a:rPr lang="en-US" b="1"/>
              <a:t>leaf</a:t>
            </a:r>
            <a:r>
              <a:rPr lang="en-US"/>
              <a:t> labeled with relation </a:t>
            </a:r>
            <a:r>
              <a:rPr lang="en-US" b="1">
                <a:solidFill>
                  <a:schemeClr val="accent4"/>
                </a:solidFill>
              </a:rPr>
              <a:t>R</a:t>
            </a:r>
            <a:r>
              <a:rPr lang="en-US"/>
              <a:t>,</a:t>
            </a:r>
            <a:br>
              <a:rPr lang="en-US"/>
            </a:br>
            <a:r>
              <a:rPr lang="en-US"/>
              <a:t>the intermediate result is </a:t>
            </a:r>
            <a:r>
              <a:rPr lang="en-US" b="1">
                <a:solidFill>
                  <a:schemeClr val="accent4"/>
                </a:solidFill>
              </a:rPr>
              <a:t>R</a:t>
            </a:r>
            <a:r>
              <a:rPr lang="en-US"/>
              <a:t>.</a:t>
            </a:r>
          </a:p>
          <a:p>
            <a:pPr lvl="1">
              <a:spcBef>
                <a:spcPts val="1176"/>
              </a:spcBef>
            </a:pPr>
            <a:r>
              <a:rPr lang="en-US"/>
              <a:t>For an </a:t>
            </a:r>
            <a:r>
              <a:rPr lang="en-US" b="1"/>
              <a:t>inner node </a:t>
            </a:r>
            <a:r>
              <a:rPr lang="en-US"/>
              <a:t>labeled with operator </a:t>
            </a:r>
            <a:r>
              <a:rPr lang="en-US" b="1">
                <a:solidFill>
                  <a:schemeClr val="accent1"/>
                </a:solidFill>
              </a:rPr>
              <a:t>op</a:t>
            </a:r>
            <a:r>
              <a:rPr lang="en-US"/>
              <a:t>,</a:t>
            </a:r>
            <a:br>
              <a:rPr lang="en-US"/>
            </a:br>
            <a:r>
              <a:rPr lang="en-US"/>
              <a:t>get the intermediate result by applying </a:t>
            </a:r>
            <a:r>
              <a:rPr lang="en-US" b="1">
                <a:solidFill>
                  <a:schemeClr val="accent1"/>
                </a:solidFill>
              </a:rPr>
              <a:t>op</a:t>
            </a:r>
            <a:r>
              <a:rPr lang="en-US"/>
              <a:t> </a:t>
            </a:r>
            <a:br>
              <a:rPr lang="en-US"/>
            </a:br>
            <a:r>
              <a:rPr lang="en-US"/>
              <a:t>to the childrens’ intermediate results.</a:t>
            </a:r>
          </a:p>
          <a:p>
            <a:pPr lvl="1">
              <a:spcBef>
                <a:spcPts val="1176"/>
              </a:spcBef>
            </a:pPr>
            <a:r>
              <a:rPr lang="en-US" b="1"/>
              <a:t>Result</a:t>
            </a:r>
            <a:r>
              <a:rPr lang="en-US"/>
              <a:t> </a:t>
            </a:r>
            <a:r>
              <a:rPr lang="en-US" b="1"/>
              <a:t>of the query </a:t>
            </a:r>
            <a:r>
              <a:rPr lang="en-US"/>
              <a:t>= intermediate result of the root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D31B79-0CF4-4DC9-8EF5-08ED704FA441}"/>
                  </a:ext>
                </a:extLst>
              </p:cNvPr>
              <p:cNvSpPr txBox="1"/>
              <p:nvPr/>
            </p:nvSpPr>
            <p:spPr>
              <a:xfrm>
                <a:off x="7569055" y="3174596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4D31B79-0CF4-4DC9-8EF5-08ED704FA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9055" y="3174596"/>
                <a:ext cx="506650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BF5EA5-3FEA-4DE0-A9AA-2F392100EDEB}"/>
                  </a:ext>
                </a:extLst>
              </p:cNvPr>
              <p:cNvSpPr txBox="1"/>
              <p:nvPr/>
            </p:nvSpPr>
            <p:spPr>
              <a:xfrm>
                <a:off x="6591139" y="3729320"/>
                <a:ext cx="816991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code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BF5EA5-3FEA-4DE0-A9AA-2F392100E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1139" y="3729320"/>
                <a:ext cx="816991" cy="587441"/>
              </a:xfrm>
              <a:prstGeom prst="rect">
                <a:avLst/>
              </a:prstGeom>
              <a:blipFill>
                <a:blip r:embed="rId6"/>
                <a:stretch>
                  <a:fillRect r="-1493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D66AE3-7D94-42CE-B10C-BDD3F11B8734}"/>
                  </a:ext>
                </a:extLst>
              </p:cNvPr>
              <p:cNvSpPr txBox="1"/>
              <p:nvPr/>
            </p:nvSpPr>
            <p:spPr>
              <a:xfrm>
                <a:off x="7038333" y="2421799"/>
                <a:ext cx="14861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code=depart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CD66AE3-7D94-42CE-B10C-BDD3F11B8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333" y="2421799"/>
                <a:ext cx="1486149" cy="587441"/>
              </a:xfrm>
              <a:prstGeom prst="rect">
                <a:avLst/>
              </a:prstGeom>
              <a:blipFill>
                <a:blip r:embed="rId7"/>
                <a:stretch>
                  <a:fillRect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904D2EE-193F-4855-8DB5-7857570F118E}"/>
              </a:ext>
            </a:extLst>
          </p:cNvPr>
          <p:cNvSpPr txBox="1"/>
          <p:nvPr/>
        </p:nvSpPr>
        <p:spPr>
          <a:xfrm>
            <a:off x="6572051" y="4571585"/>
            <a:ext cx="884381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4"/>
                </a:solidFill>
              </a:rPr>
              <a:t>Stores</a:t>
            </a:r>
            <a:endParaRPr lang="en-US" sz="20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C205230-5285-4532-8DEB-E73BF624315E}"/>
              </a:ext>
            </a:extLst>
          </p:cNvPr>
          <p:cNvCxnSpPr/>
          <p:nvPr/>
        </p:nvCxnSpPr>
        <p:spPr>
          <a:xfrm flipH="1">
            <a:off x="7117400" y="3625699"/>
            <a:ext cx="490307" cy="302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F9C0C2-F399-4C02-ABFD-EFC0CF869FF4}"/>
              </a:ext>
            </a:extLst>
          </p:cNvPr>
          <p:cNvCxnSpPr/>
          <p:nvPr/>
        </p:nvCxnSpPr>
        <p:spPr>
          <a:xfrm>
            <a:off x="8059231" y="3606313"/>
            <a:ext cx="547197" cy="301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75450F-ABAC-4FA5-B3E5-CB8C0F0964EF}"/>
              </a:ext>
            </a:extLst>
          </p:cNvPr>
          <p:cNvCxnSpPr>
            <a:endCxn id="24" idx="0"/>
          </p:cNvCxnSpPr>
          <p:nvPr/>
        </p:nvCxnSpPr>
        <p:spPr>
          <a:xfrm>
            <a:off x="7014241" y="4305383"/>
            <a:ext cx="1" cy="266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887D40-B4E8-4A96-9D5F-46505410BFA9}"/>
              </a:ext>
            </a:extLst>
          </p:cNvPr>
          <p:cNvCxnSpPr>
            <a:endCxn id="31" idx="0"/>
          </p:cNvCxnSpPr>
          <p:nvPr/>
        </p:nvCxnSpPr>
        <p:spPr>
          <a:xfrm flipH="1">
            <a:off x="8620212" y="4305383"/>
            <a:ext cx="2588" cy="266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E81730B-CE91-4E95-A7A4-659DC83C6F2D}"/>
                  </a:ext>
                </a:extLst>
              </p:cNvPr>
              <p:cNvSpPr txBox="1"/>
              <p:nvPr/>
            </p:nvSpPr>
            <p:spPr>
              <a:xfrm>
                <a:off x="7826760" y="3729320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E81730B-CE91-4E95-A7A4-659DC83C6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6760" y="3729320"/>
                <a:ext cx="1510323" cy="587441"/>
              </a:xfrm>
              <a:prstGeom prst="rect">
                <a:avLst/>
              </a:prstGeom>
              <a:blipFill>
                <a:blip r:embed="rId8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64AB1A-1B74-4762-A509-D3C2DF4F7A42}"/>
              </a:ext>
            </a:extLst>
          </p:cNvPr>
          <p:cNvCxnSpPr/>
          <p:nvPr/>
        </p:nvCxnSpPr>
        <p:spPr>
          <a:xfrm>
            <a:off x="7822380" y="3009239"/>
            <a:ext cx="0" cy="26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5C4D0D9-9E5F-435C-940E-3DC5ED7EEF11}"/>
              </a:ext>
            </a:extLst>
          </p:cNvPr>
          <p:cNvSpPr txBox="1"/>
          <p:nvPr/>
        </p:nvSpPr>
        <p:spPr>
          <a:xfrm>
            <a:off x="7935454" y="4571585"/>
            <a:ext cx="136951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4"/>
                </a:solidFill>
              </a:rPr>
              <a:t>Employees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011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uiExpand="1" build="p"/>
      <p:bldP spid="21" grpId="0"/>
      <p:bldP spid="22" grpId="0"/>
      <p:bldP spid="23" grpId="0"/>
      <p:bldP spid="24" grpId="0"/>
      <p:bldP spid="29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07404" y="2540229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404" y="2540229"/>
                <a:ext cx="541916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886347" y="3633648"/>
                <a:ext cx="1573802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charset="0"/>
                      </a:rPr>
                      <m:t>𝜌</m:t>
                    </m:r>
                  </m:oMath>
                </a14:m>
                <a:r>
                  <a:rPr lang="en-GB" sz="2400" b="1" baseline="-25000" dirty="0" err="1">
                    <a:solidFill>
                      <a:schemeClr val="tx1"/>
                    </a:solidFill>
                  </a:rPr>
                  <a:t>code</a:t>
                </a:r>
                <a:r>
                  <a:rPr lang="en-GB" sz="2400" b="1" baseline="-25000" dirty="0" err="1">
                    <a:solidFill>
                      <a:schemeClr val="tx1"/>
                    </a:solidFill>
                    <a:sym typeface="Wingdings"/>
                  </a:rPr>
                  <a:t></a:t>
                </a:r>
                <a:r>
                  <a:rPr lang="en-GB" sz="2400" b="1" baseline="-25000" dirty="0" err="1">
                    <a:solidFill>
                      <a:schemeClr val="tx1"/>
                    </a:solidFill>
                  </a:rPr>
                  <a:t>depart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347" y="3633648"/>
                <a:ext cx="1573802" cy="587441"/>
              </a:xfrm>
              <a:prstGeom prst="rect">
                <a:avLst/>
              </a:prstGeom>
              <a:blipFill>
                <a:blip r:embed="rId6"/>
                <a:stretch>
                  <a:fillRect l="-388" r="-388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76640" y="1636924"/>
                <a:ext cx="1203444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tx1"/>
                    </a:solidFill>
                  </a:rPr>
                  <a:t>city=Man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6640" y="1636924"/>
                <a:ext cx="1203444" cy="587441"/>
              </a:xfrm>
              <a:prstGeom prst="rect">
                <a:avLst/>
              </a:prstGeom>
              <a:blipFill>
                <a:blip r:embed="rId7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223792" y="4796032"/>
            <a:ext cx="88438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Stores</a:t>
            </a:r>
            <a:endParaRPr lang="en-US" sz="2000" dirty="0">
              <a:solidFill>
                <a:schemeClr val="accent3"/>
              </a:solidFill>
            </a:endParaRPr>
          </a:p>
        </p:txBody>
      </p:sp>
      <p:cxnSp>
        <p:nvCxnSpPr>
          <p:cNvPr id="9" name="Straight Arrow Connector 8"/>
          <p:cNvCxnSpPr>
            <a:endCxn id="6" idx="0"/>
          </p:cNvCxnSpPr>
          <p:nvPr/>
        </p:nvCxnSpPr>
        <p:spPr>
          <a:xfrm flipH="1">
            <a:off x="4673248" y="3058705"/>
            <a:ext cx="834156" cy="574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13" idx="0"/>
          </p:cNvCxnSpPr>
          <p:nvPr/>
        </p:nvCxnSpPr>
        <p:spPr>
          <a:xfrm>
            <a:off x="6142429" y="3066428"/>
            <a:ext cx="801136" cy="586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6" idx="2"/>
            <a:endCxn id="8" idx="0"/>
          </p:cNvCxnSpPr>
          <p:nvPr/>
        </p:nvCxnSpPr>
        <p:spPr>
          <a:xfrm flipH="1">
            <a:off x="4665983" y="4221089"/>
            <a:ext cx="7265" cy="574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3" idx="2"/>
            <a:endCxn id="15" idx="0"/>
          </p:cNvCxnSpPr>
          <p:nvPr/>
        </p:nvCxnSpPr>
        <p:spPr>
          <a:xfrm>
            <a:off x="6943565" y="4240190"/>
            <a:ext cx="5685" cy="565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65160" y="3652749"/>
                <a:ext cx="155680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tx1"/>
                    </a:solidFill>
                  </a:rPr>
                  <a:t>name, depart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160" y="3652749"/>
                <a:ext cx="1556809" cy="587441"/>
              </a:xfrm>
              <a:prstGeom prst="rect">
                <a:avLst/>
              </a:prstGeom>
              <a:blipFill>
                <a:blip r:embed="rId8"/>
                <a:stretch>
                  <a:fillRect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stCxn id="7" idx="2"/>
            <a:endCxn id="5" idx="0"/>
          </p:cNvCxnSpPr>
          <p:nvPr/>
        </p:nvCxnSpPr>
        <p:spPr>
          <a:xfrm>
            <a:off x="5778362" y="2224365"/>
            <a:ext cx="0" cy="315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64492" y="4805737"/>
            <a:ext cx="136951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Employees</a:t>
            </a:r>
            <a:endParaRPr lang="en-US" sz="2000" dirty="0">
              <a:solidFill>
                <a:schemeClr val="accent1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316083"/>
              </p:ext>
            </p:extLst>
          </p:nvPr>
        </p:nvGraphicFramePr>
        <p:xfrm>
          <a:off x="4223792" y="5302329"/>
          <a:ext cx="1656184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384032" y="5302329"/>
          <a:ext cx="3240360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phone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54265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54232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006893"/>
              </p:ext>
            </p:extLst>
          </p:nvPr>
        </p:nvGraphicFramePr>
        <p:xfrm>
          <a:off x="1919536" y="3795356"/>
          <a:ext cx="1656184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050559" y="3802576"/>
          <a:ext cx="2160240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681182"/>
              </p:ext>
            </p:extLst>
          </p:nvPr>
        </p:nvGraphicFramePr>
        <p:xfrm>
          <a:off x="7510842" y="2338936"/>
          <a:ext cx="269995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312754"/>
              </p:ext>
            </p:extLst>
          </p:nvPr>
        </p:nvGraphicFramePr>
        <p:xfrm>
          <a:off x="1634302" y="2311357"/>
          <a:ext cx="2699957" cy="74168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56" name="Straight Connector 55"/>
          <p:cNvCxnSpPr>
            <a:cxnSpLocks/>
          </p:cNvCxnSpPr>
          <p:nvPr/>
        </p:nvCxnSpPr>
        <p:spPr>
          <a:xfrm flipV="1">
            <a:off x="4334259" y="2096815"/>
            <a:ext cx="962955" cy="34684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stCxn id="47" idx="1"/>
            <a:endCxn id="5" idx="3"/>
          </p:cNvCxnSpPr>
          <p:nvPr/>
        </p:nvCxnSpPr>
        <p:spPr>
          <a:xfrm flipH="1" flipV="1">
            <a:off x="6049320" y="2833950"/>
            <a:ext cx="1461522" cy="61246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42" idx="1"/>
          </p:cNvCxnSpPr>
          <p:nvPr/>
        </p:nvCxnSpPr>
        <p:spPr>
          <a:xfrm flipH="1" flipV="1">
            <a:off x="7654787" y="4221088"/>
            <a:ext cx="395772" cy="137748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40" idx="3"/>
          </p:cNvCxnSpPr>
          <p:nvPr/>
        </p:nvCxnSpPr>
        <p:spPr>
          <a:xfrm flipH="1">
            <a:off x="3575720" y="4221088"/>
            <a:ext cx="469550" cy="130528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443595" y="2167341"/>
            <a:ext cx="3096344" cy="108012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383973" y="1798009"/>
            <a:ext cx="121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Final result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9293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3" grpId="0"/>
      <p:bldP spid="15" grpId="0"/>
      <p:bldP spid="17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426743" y="2909176"/>
                <a:ext cx="541916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6743" y="2909176"/>
                <a:ext cx="541916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007768" y="3569818"/>
                <a:ext cx="690996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A,B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68" y="3569818"/>
                <a:ext cx="690996" cy="587441"/>
              </a:xfrm>
              <a:prstGeom prst="rect">
                <a:avLst/>
              </a:prstGeom>
              <a:blipFill>
                <a:blip r:embed="rId6"/>
                <a:stretch>
                  <a:fillRect r="-1754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15591" y="2060849"/>
                <a:ext cx="728955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>
                    <a:solidFill>
                      <a:schemeClr val="tx1"/>
                    </a:solidFill>
                  </a:rPr>
                  <a:t>B=C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591" y="2060849"/>
                <a:ext cx="728955" cy="587441"/>
              </a:xfrm>
              <a:prstGeom prst="rect">
                <a:avLst/>
              </a:prstGeom>
              <a:blipFill>
                <a:blip r:embed="rId7"/>
                <a:stretch>
                  <a:fillRect r="-833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174482" y="4510812"/>
            <a:ext cx="357571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R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562647" y="3345464"/>
            <a:ext cx="792088" cy="390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6044621" y="3360280"/>
            <a:ext cx="966299" cy="3458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353267" y="4157258"/>
            <a:ext cx="1" cy="353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7190082" y="4157259"/>
            <a:ext cx="2585" cy="364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541124" y="3569818"/>
                <a:ext cx="1303086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𝜌</m:t>
                    </m:r>
                  </m:oMath>
                </a14:m>
                <a:r>
                  <a:rPr lang="en-US" sz="2400" baseline="-25000" dirty="0">
                    <a:solidFill>
                      <a:schemeClr val="tx1"/>
                    </a:solidFill>
                  </a:rPr>
                  <a:t>B</a:t>
                </a:r>
                <a:r>
                  <a:rPr lang="en-US" sz="2400" baseline="-25000" dirty="0">
                    <a:solidFill>
                      <a:schemeClr val="tx1"/>
                    </a:solidFill>
                    <a:sym typeface="Wingdings"/>
                  </a:rPr>
                  <a:t>C,CD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124" y="3569818"/>
                <a:ext cx="1303086" cy="587441"/>
              </a:xfrm>
              <a:prstGeom prst="rect">
                <a:avLst/>
              </a:prstGeom>
              <a:blipFill>
                <a:blip r:embed="rId8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>
            <a:off x="5680068" y="2648289"/>
            <a:ext cx="0" cy="26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21715" y="4522189"/>
            <a:ext cx="33673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</a:t>
            </a:r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278321" y="4976876"/>
          <a:ext cx="1656184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4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121882" y="4976876"/>
          <a:ext cx="1312401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37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092303" y="3804638"/>
          <a:ext cx="828092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4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880892" y="3808843"/>
          <a:ext cx="1312401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37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103332" y="2086457"/>
          <a:ext cx="1656184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4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00441"/>
              </p:ext>
            </p:extLst>
          </p:nvPr>
        </p:nvGraphicFramePr>
        <p:xfrm>
          <a:off x="8654945" y="2181197"/>
          <a:ext cx="1656184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40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8390934" y="2021792"/>
            <a:ext cx="2155966" cy="1412419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861123" y="1622805"/>
            <a:ext cx="121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Final result</a:t>
            </a:r>
          </a:p>
        </p:txBody>
      </p:sp>
      <p:cxnSp>
        <p:nvCxnSpPr>
          <p:cNvPr id="27" name="Straight Connector 26"/>
          <p:cNvCxnSpPr>
            <a:endCxn id="7" idx="3"/>
          </p:cNvCxnSpPr>
          <p:nvPr/>
        </p:nvCxnSpPr>
        <p:spPr>
          <a:xfrm flipH="1">
            <a:off x="6044546" y="2348881"/>
            <a:ext cx="2492563" cy="5689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5" idx="1"/>
          </p:cNvCxnSpPr>
          <p:nvPr/>
        </p:nvCxnSpPr>
        <p:spPr>
          <a:xfrm flipV="1">
            <a:off x="3759517" y="3202896"/>
            <a:ext cx="1667227" cy="1008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6" idx="1"/>
          </p:cNvCxnSpPr>
          <p:nvPr/>
        </p:nvCxnSpPr>
        <p:spPr>
          <a:xfrm>
            <a:off x="2920396" y="3861048"/>
            <a:ext cx="1087373" cy="249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13" idx="3"/>
          </p:cNvCxnSpPr>
          <p:nvPr/>
        </p:nvCxnSpPr>
        <p:spPr>
          <a:xfrm flipV="1">
            <a:off x="7844211" y="3861048"/>
            <a:ext cx="1036681" cy="249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367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”Apply” An Operator?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to compute </a:t>
                </a:r>
                <a14:m>
                  <m:oMath xmlns:m="http://schemas.openxmlformats.org/officeDocument/2006/math">
                    <m:r>
                      <a:rPr lang="en-GB" b="1" i="1">
                        <a:solidFill>
                          <a:schemeClr val="accent1"/>
                        </a:solidFill>
                        <a:latin typeface="Cambria Math" charset="0"/>
                      </a:rPr>
                      <m:t>𝝈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condition</a:t>
                </a:r>
                <a:r>
                  <a:rPr lang="en-US" b="1" dirty="0">
                    <a:solidFill>
                      <a:schemeClr val="accent1"/>
                    </a:solidFill>
                  </a:rPr>
                  <a:t>(R)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1872"/>
                  </a:spcBef>
                </a:pPr>
                <a:r>
                  <a:rPr lang="en-US" dirty="0"/>
                  <a:t>How to compute </a:t>
                </a:r>
                <a14:m>
                  <m:oMath xmlns:m="http://schemas.openxmlformats.org/officeDocument/2006/math">
                    <m:r>
                      <a:rPr lang="en-GB" b="1" i="1">
                        <a:solidFill>
                          <a:schemeClr val="accent1"/>
                        </a:solidFill>
                        <a:latin typeface="Cambria Math" charset="0"/>
                      </a:rPr>
                      <m:t>𝝅</m:t>
                    </m:r>
                  </m:oMath>
                </a14:m>
                <a:r>
                  <a:rPr lang="en-US" b="1" baseline="-25000" dirty="0">
                    <a:solidFill>
                      <a:schemeClr val="accent1"/>
                    </a:solidFill>
                  </a:rPr>
                  <a:t>attribute list</a:t>
                </a:r>
                <a:r>
                  <a:rPr lang="en-US" b="1" dirty="0">
                    <a:solidFill>
                      <a:schemeClr val="accent1"/>
                    </a:solidFill>
                  </a:rPr>
                  <a:t>(R)</a:t>
                </a:r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>
                  <a:spcBef>
                    <a:spcPts val="4272"/>
                  </a:spcBef>
                </a:pPr>
                <a:r>
                  <a:rPr lang="en-US" dirty="0"/>
                  <a:t>How to compute </a:t>
                </a:r>
                <a:r>
                  <a:rPr lang="en-US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b="1" i="1">
                        <a:solidFill>
                          <a:schemeClr val="accent1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b="1" dirty="0">
                    <a:solidFill>
                      <a:schemeClr val="accent1"/>
                    </a:solidFill>
                  </a:rPr>
                  <a:t> S</a:t>
                </a:r>
                <a:r>
                  <a:rPr lang="en-US" dirty="0"/>
                  <a:t>?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1333" t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927648" y="2266522"/>
            <a:ext cx="3672408" cy="36004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34592" y="2241324"/>
            <a:ext cx="3978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>
                <a:solidFill>
                  <a:schemeClr val="accent1"/>
                </a:solidFill>
              </a:rPr>
              <a:t>: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927648" y="2780928"/>
            <a:ext cx="36724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7248128" y="1816646"/>
            <a:ext cx="2962673" cy="12815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20136" y="1930847"/>
            <a:ext cx="212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 each </a:t>
            </a:r>
            <a:r>
              <a:rPr lang="en-US" dirty="0"/>
              <a:t>tuple </a:t>
            </a:r>
            <a:r>
              <a:rPr lang="en-US" b="1" dirty="0">
                <a:solidFill>
                  <a:schemeClr val="accent1"/>
                </a:solidFill>
              </a:rPr>
              <a:t>t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0670" y="2259529"/>
            <a:ext cx="2243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b="1" dirty="0">
                <a:solidFill>
                  <a:schemeClr val="accent1"/>
                </a:solidFill>
              </a:rPr>
              <a:t>t</a:t>
            </a:r>
            <a:r>
              <a:rPr lang="en-US" dirty="0"/>
              <a:t> satisfies condition: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5096" y="2579127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</a:t>
            </a:r>
            <a:r>
              <a:rPr lang="en-US" dirty="0"/>
              <a:t> </a:t>
            </a:r>
            <a:r>
              <a:rPr lang="en-US" b="1" dirty="0">
                <a:solidFill>
                  <a:schemeClr val="accent1"/>
                </a:solidFill>
              </a:rP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56175" y="2780928"/>
            <a:ext cx="26067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have to read entire file</a:t>
            </a:r>
          </a:p>
        </p:txBody>
      </p:sp>
      <p:sp>
        <p:nvSpPr>
          <p:cNvPr id="16" name="Rounded Rectangular Callout 15"/>
          <p:cNvSpPr/>
          <p:nvPr/>
        </p:nvSpPr>
        <p:spPr>
          <a:xfrm>
            <a:off x="6151737" y="3165023"/>
            <a:ext cx="2232248" cy="420818"/>
          </a:xfrm>
          <a:prstGeom prst="wedgeRoundRectCallout">
            <a:avLst>
              <a:gd name="adj1" fmla="val -40757"/>
              <a:gd name="adj2" fmla="val -847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Is there a faster way?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826774" y="4391132"/>
            <a:ext cx="30176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Similar! Read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only once</a:t>
            </a:r>
            <a:r>
              <a:rPr lang="mr-IN" sz="2000" dirty="0"/>
              <a:t>…</a:t>
            </a:r>
            <a:endParaRPr lang="en-US" sz="2000" dirty="0"/>
          </a:p>
        </p:txBody>
      </p:sp>
      <p:sp>
        <p:nvSpPr>
          <p:cNvPr id="18" name="Rectangle 17"/>
          <p:cNvSpPr/>
          <p:nvPr/>
        </p:nvSpPr>
        <p:spPr>
          <a:xfrm>
            <a:off x="2826774" y="5494182"/>
            <a:ext cx="24981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/>
              <a:t>Many different ways</a:t>
            </a:r>
            <a:r>
              <a:rPr lang="mr-IN" sz="2000" dirty="0"/>
              <a:t>…</a:t>
            </a:r>
            <a:endParaRPr lang="en-US" sz="2000" dirty="0"/>
          </a:p>
        </p:txBody>
      </p:sp>
      <p:sp>
        <p:nvSpPr>
          <p:cNvPr id="19" name="Rectangle 18"/>
          <p:cNvSpPr/>
          <p:nvPr/>
        </p:nvSpPr>
        <p:spPr>
          <a:xfrm>
            <a:off x="7233446" y="3716142"/>
            <a:ext cx="2962672" cy="14680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305454" y="3830344"/>
            <a:ext cx="212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for each </a:t>
            </a:r>
            <a:r>
              <a:rPr lang="en-US" dirty="0"/>
              <a:t>tuple </a:t>
            </a:r>
            <a:r>
              <a:rPr lang="en-US" b="1" dirty="0">
                <a:solidFill>
                  <a:schemeClr val="accent1"/>
                </a:solidFill>
              </a:rPr>
              <a:t>t</a:t>
            </a:r>
            <a:r>
              <a:rPr lang="en-US" dirty="0"/>
              <a:t> in </a:t>
            </a:r>
            <a:r>
              <a:rPr lang="en-US" b="1" dirty="0">
                <a:solidFill>
                  <a:schemeClr val="accent1"/>
                </a:solidFill>
              </a:rPr>
              <a:t>R</a:t>
            </a:r>
            <a:r>
              <a:rPr lang="en-US" dirty="0"/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5987" y="4159026"/>
            <a:ext cx="2304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 </a:t>
            </a:r>
            <a:r>
              <a:rPr lang="en-US" dirty="0"/>
              <a:t>the restriction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0413" y="4436223"/>
            <a:ext cx="21276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of </a:t>
            </a:r>
            <a:r>
              <a:rPr lang="en-US" b="1" dirty="0">
                <a:solidFill>
                  <a:schemeClr val="accent1"/>
                </a:solidFill>
              </a:rPr>
              <a:t>t </a:t>
            </a:r>
            <a:r>
              <a:rPr lang="en-US" dirty="0"/>
              <a:t>to the attributes</a:t>
            </a:r>
            <a:br>
              <a:rPr lang="en-US" b="1" dirty="0">
                <a:solidFill>
                  <a:schemeClr val="accent1"/>
                </a:solidFill>
              </a:rPr>
            </a:br>
            <a:r>
              <a:rPr lang="en-US" dirty="0"/>
              <a:t>in</a:t>
            </a:r>
            <a:r>
              <a:rPr lang="en-US" b="1" dirty="0">
                <a:solidFill>
                  <a:schemeClr val="accent1"/>
                </a:solidFill>
              </a:rPr>
              <a:t> attribute list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6871501" y="5397666"/>
            <a:ext cx="2227190" cy="420818"/>
          </a:xfrm>
          <a:prstGeom prst="wedgeRoundRectCallout">
            <a:avLst>
              <a:gd name="adj1" fmla="val -11607"/>
              <a:gd name="adj2" fmla="val -8910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Is there a faster way?</a:t>
            </a:r>
            <a:endParaRPr lang="en-US" dirty="0"/>
          </a:p>
        </p:txBody>
      </p:sp>
      <p:sp>
        <p:nvSpPr>
          <p:cNvPr id="24" name="Rounded Rectangular Callout 15">
            <a:extLst>
              <a:ext uri="{FF2B5EF4-FFF2-40B4-BE49-F238E27FC236}">
                <a16:creationId xmlns:a16="http://schemas.microsoft.com/office/drawing/2014/main" id="{DA5BBD38-0E78-4741-8727-15FA1A1D4832}"/>
              </a:ext>
            </a:extLst>
          </p:cNvPr>
          <p:cNvSpPr/>
          <p:nvPr/>
        </p:nvSpPr>
        <p:spPr>
          <a:xfrm>
            <a:off x="5484404" y="3137098"/>
            <a:ext cx="5379614" cy="513893"/>
          </a:xfrm>
          <a:prstGeom prst="wedgeRoundRectCallout">
            <a:avLst>
              <a:gd name="adj1" fmla="val -42095"/>
              <a:gd name="adj2" fmla="val -10348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Is there a faster way? Sometimes, e.g. if it is sorted and the condition is “easy” or we </a:t>
            </a:r>
            <a:r>
              <a:rPr lang="en-GB" dirty="0" err="1"/>
              <a:t>we</a:t>
            </a:r>
            <a:r>
              <a:rPr lang="en-GB" dirty="0"/>
              <a:t> have an index on it</a:t>
            </a:r>
            <a:endParaRPr lang="en-US" dirty="0"/>
          </a:p>
        </p:txBody>
      </p:sp>
      <p:sp>
        <p:nvSpPr>
          <p:cNvPr id="25" name="Rounded Rectangular Callout 15">
            <a:extLst>
              <a:ext uri="{FF2B5EF4-FFF2-40B4-BE49-F238E27FC236}">
                <a16:creationId xmlns:a16="http://schemas.microsoft.com/office/drawing/2014/main" id="{096759FE-0E89-429A-959B-85544444D88A}"/>
              </a:ext>
            </a:extLst>
          </p:cNvPr>
          <p:cNvSpPr/>
          <p:nvPr/>
        </p:nvSpPr>
        <p:spPr>
          <a:xfrm>
            <a:off x="6151737" y="5359751"/>
            <a:ext cx="4174591" cy="513893"/>
          </a:xfrm>
          <a:prstGeom prst="wedgeRoundRectCallout">
            <a:avLst>
              <a:gd name="adj1" fmla="val -11760"/>
              <a:gd name="adj2" fmla="val -8201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Is there a faster way? Not really, if you actually do it – can do it lazily though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031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  <p:bldP spid="10" grpId="0" animBg="1"/>
      <p:bldP spid="11" grpId="0"/>
      <p:bldP spid="12" grpId="0"/>
      <p:bldP spid="13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832131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234985"/>
              </p:ext>
            </p:extLst>
          </p:nvPr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678910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280568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192362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183967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ular Callout 27"/>
              <p:cNvSpPr/>
              <p:nvPr/>
            </p:nvSpPr>
            <p:spPr>
              <a:xfrm>
                <a:off x="9781259" y="5191960"/>
                <a:ext cx="730315" cy="396902"/>
              </a:xfrm>
              <a:prstGeom prst="wedgeRoundRectCallout">
                <a:avLst>
                  <a:gd name="adj1" fmla="val -72095"/>
                  <a:gd name="adj2" fmla="val -25759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GB" b="1" dirty="0"/>
                  <a:t> s</a:t>
                </a:r>
              </a:p>
            </p:txBody>
          </p:sp>
        </mc:Choice>
        <mc:Fallback xmlns="">
          <p:sp>
            <p:nvSpPr>
              <p:cNvPr id="28" name="Rounded Rectangular Callou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259" y="5191960"/>
                <a:ext cx="730315" cy="396902"/>
              </a:xfrm>
              <a:prstGeom prst="wedgeRoundRectCallout">
                <a:avLst>
                  <a:gd name="adj1" fmla="val -72095"/>
                  <a:gd name="adj2" fmla="val -25759"/>
                  <a:gd name="adj3" fmla="val 16667"/>
                </a:avLst>
              </a:prstGeom>
              <a:blipFill>
                <a:blip r:embed="rId7"/>
                <a:stretch>
                  <a:fillRect t="-2985" r="-676" b="-179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>
            <a:extLst>
              <a:ext uri="{FF2B5EF4-FFF2-40B4-BE49-F238E27FC236}">
                <a16:creationId xmlns:a16="http://schemas.microsoft.com/office/drawing/2014/main" id="{16C4636F-5061-4887-92A2-03FF05B2A28E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AE5A1E-4C69-4521-A649-FF2C987AFFAA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720924-D5C9-478E-B157-E6AA641274E6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8E61CA-57E1-433F-84BC-1E9088ADE8BD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2C28A8-3093-43F0-ABE9-EEE166450D3A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72C28A8-3093-43F0-ABE9-EEE166450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8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96191BB-141C-4DBE-972A-D397B2EFDBC5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96191BB-141C-4DBE-972A-D397B2EFD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9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00FE7AA-983E-48E7-ACFD-1E9AF08362E9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Rounded Rectangular Callout 15">
            <a:extLst>
              <a:ext uri="{FF2B5EF4-FFF2-40B4-BE49-F238E27FC236}">
                <a16:creationId xmlns:a16="http://schemas.microsoft.com/office/drawing/2014/main" id="{0C6FD3AC-A0AA-49C3-9DEC-65CF2840FA05}"/>
              </a:ext>
            </a:extLst>
          </p:cNvPr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252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8" grpId="0"/>
      <p:bldP spid="20" grpId="0"/>
      <p:bldP spid="23" grpId="0"/>
      <p:bldP spid="24" grpId="0"/>
      <p:bldP spid="26" grpId="0" animBg="1"/>
      <p:bldP spid="27" grpId="0" animBg="1"/>
      <p:bldP spid="28" grpId="0" animBg="1"/>
      <p:bldP spid="39" grpId="0" animBg="1"/>
      <p:bldP spid="40" grpId="0"/>
      <p:bldP spid="41" grpId="0"/>
      <p:bldP spid="42" grpId="0"/>
      <p:bldP spid="43" grpId="0"/>
      <p:bldP spid="44" grpId="0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545129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321240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192362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552378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DBFBD7-AFE2-4B8D-87C0-BADA6AF1B224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3C4E11-A2EA-49B1-B4C2-9B5C50D73C20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D7D11A-5858-447D-B10F-2AFF34F156FD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2C01AC-E7BE-4AEE-9AE8-8BA99DA3EB50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A55119-A1E2-4964-8FF1-E7C3951232F0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EA55119-A1E2-4964-8FF1-E7C395123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6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2EADA15-93D3-47E1-981B-E49A1C489B79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32EADA15-93D3-47E1-981B-E49A1C489B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7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2924C37-D442-4F9D-9781-A1984945A8DE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ounded Rectangular Callout 15">
            <a:extLst>
              <a:ext uri="{FF2B5EF4-FFF2-40B4-BE49-F238E27FC236}">
                <a16:creationId xmlns:a16="http://schemas.microsoft.com/office/drawing/2014/main" id="{36A9E79B-88BB-4947-B1A4-44004789F14B}"/>
              </a:ext>
            </a:extLst>
          </p:cNvPr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473552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731408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57637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192362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912418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80AD7A-27B3-4AEF-BC77-0D54D88DC81E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649661-B677-4AB8-AC4F-9A384CBC5B57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839B8B-526B-4635-9E0F-F76C966FFE6D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FE0A06-EF55-46CD-BC7E-8A94716DD21A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7A2EC6-42AC-4C07-A8FB-4C5780B615B2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7A2EC6-42AC-4C07-A8FB-4C5780B61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6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A761443-EDE5-4B0B-B0AB-E07A53E2BC0A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A761443-EDE5-4B0B-B0AB-E07A53E2B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7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8D0EE5F-57F5-4818-98D1-B99A00D2E9EE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ounded Rectangular Callout 15">
            <a:extLst>
              <a:ext uri="{FF2B5EF4-FFF2-40B4-BE49-F238E27FC236}">
                <a16:creationId xmlns:a16="http://schemas.microsoft.com/office/drawing/2014/main" id="{4E88B653-AF32-42E0-BCA4-6EB0DEFEE7BF}"/>
              </a:ext>
            </a:extLst>
          </p:cNvPr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992782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717262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93880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552378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192338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799287-C60D-45D7-9E47-1E1307F130EF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C7B3D3-5E3E-4E20-A3F5-089DF8059926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FAD46F-8F76-4D98-A872-F1899ECA596A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B15BB2-6009-4F54-92F6-8BCACD705B28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CF8EE2-8290-4EC3-A5D2-A1B7209AA946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1CF8EE2-8290-4EC3-A5D2-A1B7209AA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6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1E5ABC3-C9B2-429B-8CDF-6C87F09F0898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1E5ABC3-C9B2-429B-8CDF-6C87F09F0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7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063AED2-2743-47D6-A0E5-CC6D65E9FFD6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ounded Rectangular Callout 15">
            <a:extLst>
              <a:ext uri="{FF2B5EF4-FFF2-40B4-BE49-F238E27FC236}">
                <a16:creationId xmlns:a16="http://schemas.microsoft.com/office/drawing/2014/main" id="{1AF676AB-CC08-44F4-AE7F-B164F9623B2F}"/>
              </a:ext>
            </a:extLst>
          </p:cNvPr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51291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678042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11288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552378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552378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9CB1C3-9D1C-41F6-A6B5-B57DB4539921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546C99-A213-4FDE-A7A7-49045C39B09F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29BE7E-D9ED-400C-8955-80FDE5C64F3F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6FBFAD-B5DC-4343-9E7F-9A688895B6DF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26B374-8BBB-4ED0-A0FF-9E0AB8B697B5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26B374-8BBB-4ED0-A0FF-9E0AB8B69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6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190B321-84D0-43FE-97EC-421CB983636A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190B321-84D0-43FE-97EC-421CB98363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7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777902-B16F-4BF9-86CA-18B8EE068694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ounded Rectangular Callout 15">
            <a:extLst>
              <a:ext uri="{FF2B5EF4-FFF2-40B4-BE49-F238E27FC236}">
                <a16:creationId xmlns:a16="http://schemas.microsoft.com/office/drawing/2014/main" id="{09637B8C-CD54-4F56-9C60-7703DF65B740}"/>
              </a:ext>
            </a:extLst>
          </p:cNvPr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186981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214423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313188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552378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552378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ular Callout 21"/>
              <p:cNvSpPr/>
              <p:nvPr/>
            </p:nvSpPr>
            <p:spPr>
              <a:xfrm>
                <a:off x="9781259" y="5589240"/>
                <a:ext cx="730315" cy="396902"/>
              </a:xfrm>
              <a:prstGeom prst="wedgeRoundRectCallout">
                <a:avLst>
                  <a:gd name="adj1" fmla="val -72095"/>
                  <a:gd name="adj2" fmla="val -25759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GB" b="1" dirty="0"/>
                  <a:t> s</a:t>
                </a:r>
              </a:p>
            </p:txBody>
          </p:sp>
        </mc:Choice>
        <mc:Fallback xmlns="">
          <p:sp>
            <p:nvSpPr>
              <p:cNvPr id="22" name="Rounded Rectangular Callou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259" y="5589240"/>
                <a:ext cx="730315" cy="396902"/>
              </a:xfrm>
              <a:prstGeom prst="wedgeRoundRectCallout">
                <a:avLst>
                  <a:gd name="adj1" fmla="val -72095"/>
                  <a:gd name="adj2" fmla="val -25759"/>
                  <a:gd name="adj3" fmla="val 16667"/>
                </a:avLst>
              </a:prstGeom>
              <a:blipFill>
                <a:blip r:embed="rId6"/>
                <a:stretch>
                  <a:fillRect t="-2985" r="-676" b="-179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34971A5D-03C5-4332-95BB-7CF38ADF7792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ABCC65-262D-4D93-BDE1-FA2E13299C79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7E12B-0E47-4BB0-A7F7-C2280C325493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28FD6E-FE6F-43BD-B47B-D69F19FAE71C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EF5AD2-53EA-4B06-93D7-CC0D24CBC02B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8EF5AD2-53EA-4B06-93D7-CC0D24CBC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7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7677A27-D9AA-4393-8429-10BDA09606AE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7677A27-D9AA-4393-8429-10BDA09606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8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BF8FE8B-A600-4488-B10F-1013792064A1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Rounded Rectangular Callout 15">
            <a:extLst>
              <a:ext uri="{FF2B5EF4-FFF2-40B4-BE49-F238E27FC236}">
                <a16:creationId xmlns:a16="http://schemas.microsoft.com/office/drawing/2014/main" id="{7FD8274D-7996-4ED4-A78B-1B4E6F70C258}"/>
              </a:ext>
            </a:extLst>
          </p:cNvPr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5697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13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94228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673900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552378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912418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7E3E7A-3B5D-48E2-8897-C28809235BA8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9D4584-310A-4FD4-8CAC-72694FF105BB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B01732-7339-4837-B33A-7F392C5DFA30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B29F4D-46DD-441E-A079-A5122B989210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77505D-4E1D-45CD-9117-78147C13037F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977505D-4E1D-45CD-9117-78147C130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6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98AE0EE-32EE-4034-8EB6-52489B658001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98AE0EE-32EE-4034-8EB6-52489B6580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7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116C75C-909E-4156-ADE8-B0C0C8E331F6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Rounded Rectangular Callout 15">
            <a:extLst>
              <a:ext uri="{FF2B5EF4-FFF2-40B4-BE49-F238E27FC236}">
                <a16:creationId xmlns:a16="http://schemas.microsoft.com/office/drawing/2014/main" id="{AF25BE32-67CC-4409-8592-9B96C157A4A9}"/>
              </a:ext>
            </a:extLst>
          </p:cNvPr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16440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Nested Loop Join Algorithm</a:t>
            </a:r>
            <a:r>
              <a:rPr lang="en-US" dirty="0"/>
              <a:t>: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8201"/>
              </p:ext>
            </p:extLst>
          </p:nvPr>
        </p:nvGraphicFramePr>
        <p:xfrm>
          <a:off x="2065419" y="4774438"/>
          <a:ext cx="1593797" cy="111252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18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1993411" y="4320250"/>
            <a:ext cx="8509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Stores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23792" y="4753952"/>
          <a:ext cx="2160240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151785" y="4299764"/>
            <a:ext cx="1336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Employees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⋈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216" y="5186258"/>
                <a:ext cx="564577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>
                          <a:latin typeface="Cambria Math" charset="0"/>
                        </a:rPr>
                        <m:t>=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5126510"/>
                <a:ext cx="534121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888619"/>
              </p:ext>
            </p:extLst>
          </p:nvPr>
        </p:nvGraphicFramePr>
        <p:xfrm>
          <a:off x="7032105" y="4753952"/>
          <a:ext cx="2699957" cy="14833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043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depart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12345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Oscar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Janice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/>
                        <a:t>678910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Man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David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>
          <a:xfrm>
            <a:off x="1593492" y="5552378"/>
            <a:ext cx="344291" cy="396902"/>
          </a:xfrm>
          <a:prstGeom prst="wedgeRoundRectCallout">
            <a:avLst>
              <a:gd name="adj1" fmla="val 109213"/>
              <a:gd name="adj2" fmla="val -1884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r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6443163" y="5912418"/>
            <a:ext cx="344291" cy="396902"/>
          </a:xfrm>
          <a:prstGeom prst="wedgeRoundRectCallout">
            <a:avLst>
              <a:gd name="adj1" fmla="val -103258"/>
              <a:gd name="adj2" fmla="val -2115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ounded Rectangular Callout 21"/>
              <p:cNvSpPr/>
              <p:nvPr/>
            </p:nvSpPr>
            <p:spPr>
              <a:xfrm>
                <a:off x="9781259" y="5912418"/>
                <a:ext cx="730315" cy="396902"/>
              </a:xfrm>
              <a:prstGeom prst="wedgeRoundRectCallout">
                <a:avLst>
                  <a:gd name="adj1" fmla="val -72095"/>
                  <a:gd name="adj2" fmla="val -25759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GB" b="1" dirty="0"/>
                  <a:t>r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GB" b="1" dirty="0"/>
                  <a:t> s</a:t>
                </a:r>
              </a:p>
            </p:txBody>
          </p:sp>
        </mc:Choice>
        <mc:Fallback xmlns="">
          <p:sp>
            <p:nvSpPr>
              <p:cNvPr id="22" name="Rounded Rectangular Callout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1259" y="5912418"/>
                <a:ext cx="730315" cy="396902"/>
              </a:xfrm>
              <a:prstGeom prst="wedgeRoundRectCallout">
                <a:avLst>
                  <a:gd name="adj1" fmla="val -72095"/>
                  <a:gd name="adj2" fmla="val -25759"/>
                  <a:gd name="adj3" fmla="val 16667"/>
                </a:avLst>
              </a:prstGeom>
              <a:blipFill>
                <a:blip r:embed="rId6"/>
                <a:stretch>
                  <a:fillRect t="-2985" r="-676" b="-179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007FD849-4C43-4ECE-8C6F-39A48E500BBE}"/>
              </a:ext>
            </a:extLst>
          </p:cNvPr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099BD5-A579-430C-9AC7-48412EC955CA}"/>
              </a:ext>
            </a:extLst>
          </p:cNvPr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9C56CB-E728-4739-B225-99031605702A}"/>
              </a:ext>
            </a:extLst>
          </p:cNvPr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12B0DCD-4A32-4EB4-B2C2-41CAC37A0923}"/>
              </a:ext>
            </a:extLst>
          </p:cNvPr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9911E6C-9B03-41B2-AE9B-B8FED2587255}"/>
                  </a:ext>
                </a:extLst>
              </p:cNvPr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9911E6C-9B03-41B2-AE9B-B8FED2587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7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CBB0E5C-138C-4894-9F33-D03C9A9A223A}"/>
                  </a:ext>
                </a:extLst>
              </p:cNvPr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0CBB0E5C-138C-4894-9F33-D03C9A9A2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8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0DC5927-CD31-4012-834C-746336947E1C}"/>
              </a:ext>
            </a:extLst>
          </p:cNvPr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ounded Rectangular Callout 15"/>
          <p:cNvSpPr/>
          <p:nvPr/>
        </p:nvSpPr>
        <p:spPr>
          <a:xfrm>
            <a:off x="5251608" y="3862546"/>
            <a:ext cx="3780959" cy="389854"/>
          </a:xfrm>
          <a:prstGeom prst="wedgeRoundRectCallout">
            <a:avLst>
              <a:gd name="adj1" fmla="val -57338"/>
              <a:gd name="adj2" fmla="val -2119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the tuple obtained by joining </a:t>
            </a:r>
            <a:r>
              <a:rPr lang="en-GB" b="1" dirty="0"/>
              <a:t>r</a:t>
            </a:r>
            <a:r>
              <a:rPr lang="en-GB" dirty="0"/>
              <a:t> and </a:t>
            </a:r>
            <a:r>
              <a:rPr lang="en-GB" b="1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023518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Naïve Computation of Joins</a:t>
            </a:r>
            <a:endParaRPr lang="en-US" b="1" dirty="0">
              <a:solidFill>
                <a:schemeClr val="accent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Nested Loop Join Algorithm</a:t>
                </a:r>
                <a:r>
                  <a:rPr lang="en-US" dirty="0"/>
                  <a:t>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>
                  <a:spcBef>
                    <a:spcPts val="2472"/>
                  </a:spcBef>
                </a:pPr>
                <a:r>
                  <a:rPr lang="en-GB" dirty="0"/>
                  <a:t>Slow: for each tuple 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 in 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 reads entire relation 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</a:p>
              <a:p>
                <a:r>
                  <a:rPr lang="en-GB" dirty="0"/>
                  <a:t>Running time: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𝑂</m:t>
                    </m:r>
                  </m:oMath>
                </a14:m>
                <a:r>
                  <a:rPr lang="en-GB" dirty="0"/>
                  <a:t>(|</a:t>
                </a:r>
                <a:r>
                  <a:rPr lang="en-GB" b="1" dirty="0">
                    <a:solidFill>
                      <a:schemeClr val="accent1"/>
                    </a:solidFill>
                  </a:rPr>
                  <a:t>R</a:t>
                </a:r>
                <a:r>
                  <a:rPr lang="en-GB" dirty="0"/>
                  <a:t>|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|</a:t>
                </a:r>
                <a:r>
                  <a:rPr lang="en-GB" b="1" dirty="0">
                    <a:solidFill>
                      <a:schemeClr val="accent3"/>
                    </a:solidFill>
                  </a:rPr>
                  <a:t>S</a:t>
                </a:r>
                <a:r>
                  <a:rPr lang="en-GB" dirty="0"/>
                  <a:t>|)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5"/>
                <a:stretch>
                  <a:fillRect l="-1333" t="-11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2332225" y="2167206"/>
            <a:ext cx="7056784" cy="202337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04234" y="2720601"/>
            <a:ext cx="2320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0699" y="3070385"/>
            <a:ext cx="2312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for each </a:t>
            </a:r>
            <a:r>
              <a:rPr lang="en-US" sz="2000" dirty="0"/>
              <a:t>tuple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in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232" y="3430425"/>
            <a:ext cx="61606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</a:rPr>
              <a:t>r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chemeClr val="accent3"/>
                </a:solidFill>
              </a:rPr>
              <a:t>s</a:t>
            </a:r>
            <a:r>
              <a:rPr lang="en-US" sz="2000" dirty="0"/>
              <a:t> have the same values for all common attributes: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/>
                  <a:t>output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>
                    <a:solidFill>
                      <a:schemeClr val="accent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657" y="3790465"/>
                <a:ext cx="1489510" cy="400110"/>
              </a:xfrm>
              <a:prstGeom prst="rect">
                <a:avLst/>
              </a:prstGeom>
              <a:blipFill>
                <a:blip r:embed="rId6"/>
                <a:stretch>
                  <a:fillRect l="-4508" t="-9231" r="-4098" b="-276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000" b="1" dirty="0"/>
                  <a:t>Compute </a:t>
                </a:r>
                <a:r>
                  <a:rPr lang="en-US" sz="2000" b="1" dirty="0">
                    <a:solidFill>
                      <a:schemeClr val="accent1"/>
                    </a:solidFill>
                  </a:rPr>
                  <a:t>R</a:t>
                </a:r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r>
                      <a:rPr lang="en-GB" sz="2000" b="1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chemeClr val="accent3"/>
                    </a:solidFill>
                  </a:rPr>
                  <a:t>S</a:t>
                </a:r>
                <a:r>
                  <a:rPr lang="en-US" sz="2000" b="1" dirty="0"/>
                  <a:t>:</a:t>
                </a:r>
                <a:endParaRPr lang="en-GB" sz="2000" b="1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234" y="2282729"/>
                <a:ext cx="1863652" cy="400110"/>
              </a:xfrm>
              <a:prstGeom prst="rect">
                <a:avLst/>
              </a:prstGeom>
              <a:blipFill>
                <a:blip r:embed="rId7"/>
                <a:stretch>
                  <a:fillRect l="-3268" t="-7576" r="-3922" b="-25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ular Callout 21"/>
          <p:cNvSpPr/>
          <p:nvPr/>
        </p:nvSpPr>
        <p:spPr>
          <a:xfrm>
            <a:off x="1243676" y="5286587"/>
            <a:ext cx="2265538" cy="389854"/>
          </a:xfrm>
          <a:prstGeom prst="wedgeRoundRectCallout">
            <a:avLst>
              <a:gd name="adj1" fmla="val 27848"/>
              <a:gd name="adj2" fmla="val -98595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Number of tuples in </a:t>
            </a:r>
            <a:r>
              <a:rPr lang="en-GB" b="1" dirty="0"/>
              <a:t>R</a:t>
            </a:r>
          </a:p>
        </p:txBody>
      </p:sp>
      <p:sp>
        <p:nvSpPr>
          <p:cNvPr id="30" name="Rounded Rectangular Callout 29"/>
          <p:cNvSpPr/>
          <p:nvPr/>
        </p:nvSpPr>
        <p:spPr>
          <a:xfrm>
            <a:off x="3595079" y="5303194"/>
            <a:ext cx="2265538" cy="389854"/>
          </a:xfrm>
          <a:prstGeom prst="wedgeRoundRectCallout">
            <a:avLst>
              <a:gd name="adj1" fmla="val -38344"/>
              <a:gd name="adj2" fmla="val -105632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Number of tuples in </a:t>
            </a:r>
            <a:r>
              <a:rPr lang="en-GB" b="1" dirty="0"/>
              <a:t>S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476241" y="2671260"/>
            <a:ext cx="1728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83408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2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plans are evaluated bottom-up </a:t>
            </a:r>
            <a:r>
              <a:rPr lang="mr-IN" dirty="0"/>
              <a:t>–</a:t>
            </a:r>
            <a:r>
              <a:rPr lang="en-US" dirty="0"/>
              <a:t> from the leaves to the root</a:t>
            </a:r>
          </a:p>
          <a:p>
            <a:pPr>
              <a:spcBef>
                <a:spcPts val="1872"/>
              </a:spcBef>
            </a:pPr>
            <a:r>
              <a:rPr lang="en-US" dirty="0"/>
              <a:t>Each operator can be computed in different ways</a:t>
            </a:r>
          </a:p>
          <a:p>
            <a:pPr lvl="1"/>
            <a:r>
              <a:rPr lang="en-US" dirty="0"/>
              <a:t>Selection: e.g., linear scans (reading the relation once)</a:t>
            </a:r>
          </a:p>
          <a:p>
            <a:pPr lvl="1"/>
            <a:r>
              <a:rPr lang="en-US" dirty="0"/>
              <a:t>Projection: linear scans</a:t>
            </a:r>
          </a:p>
          <a:p>
            <a:pPr lvl="1"/>
            <a:r>
              <a:rPr lang="en-US" dirty="0"/>
              <a:t>Joins: Only Nested Loop Join in this video…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2307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|2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4|16|10.5|12.6|11.7|7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35.4|5.8|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6.4|3.7|3.5|6.9|3.2|2.9|22.2|7.8|2.4|15.7|3.9|18.4|10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35.6|6.3|10.2|3.8|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|3.5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277</TotalTime>
  <Words>1226</Words>
  <Application>Microsoft Office PowerPoint</Application>
  <PresentationFormat>Widescreen</PresentationFormat>
  <Paragraphs>493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Cambria Math</vt:lpstr>
      <vt:lpstr>Retrospect</vt:lpstr>
      <vt:lpstr>Executing a query plan naively</vt:lpstr>
      <vt:lpstr>Overview over this video</vt:lpstr>
      <vt:lpstr>Executing Query Plans</vt:lpstr>
      <vt:lpstr>Example</vt:lpstr>
      <vt:lpstr>Example 2</vt:lpstr>
      <vt:lpstr>How to ”Apply” An Operator?</vt:lpstr>
      <vt:lpstr>Naïve Computation of Joins</vt:lpstr>
      <vt:lpstr>Naïve Computation of Joins</vt:lpstr>
      <vt:lpstr>Naïve Computation of Joins</vt:lpstr>
      <vt:lpstr>Naïve Computation of Joins</vt:lpstr>
      <vt:lpstr>Naïve Computation of Joins</vt:lpstr>
      <vt:lpstr>Naïve Computation of Joins</vt:lpstr>
      <vt:lpstr>Naïve Computation of Joins</vt:lpstr>
      <vt:lpstr>Naïve Computation of Joins</vt:lpstr>
      <vt:lpstr>Naïve Computation of Joins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Rasmus Ibsen-Jensen</dc:creator>
  <cp:lastModifiedBy>Rasmus Ibsen-Jensen</cp:lastModifiedBy>
  <cp:revision>13</cp:revision>
  <dcterms:created xsi:type="dcterms:W3CDTF">2020-11-14T14:15:42Z</dcterms:created>
  <dcterms:modified xsi:type="dcterms:W3CDTF">2020-11-17T12:09:47Z</dcterms:modified>
</cp:coreProperties>
</file>