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376" r:id="rId3"/>
    <p:sldId id="258" r:id="rId4"/>
    <p:sldId id="558" r:id="rId5"/>
    <p:sldId id="399" r:id="rId6"/>
    <p:sldId id="559" r:id="rId7"/>
    <p:sldId id="560" r:id="rId8"/>
    <p:sldId id="561" r:id="rId9"/>
    <p:sldId id="562" r:id="rId10"/>
    <p:sldId id="563" r:id="rId11"/>
    <p:sldId id="412" r:id="rId12"/>
    <p:sldId id="414" r:id="rId13"/>
    <p:sldId id="565" r:id="rId14"/>
    <p:sldId id="367" r:id="rId15"/>
    <p:sldId id="564" r:id="rId16"/>
    <p:sldId id="5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3F275-332A-4F00-8884-7406E55F6CF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7E03F-D917-4192-8E13-E86DF83417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723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34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E03D-7F22-47F9-B619-559C3D346B4C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ABA9-6AF5-468E-B6CB-385A959C470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661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E03D-7F22-47F9-B619-559C3D346B4C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ABA9-6AF5-468E-B6CB-385A959C4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770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E03D-7F22-47F9-B619-559C3D346B4C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ABA9-6AF5-468E-B6CB-385A959C470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788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E03D-7F22-47F9-B619-559C3D346B4C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ABA9-6AF5-468E-B6CB-385A959C4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42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E03D-7F22-47F9-B619-559C3D346B4C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ABA9-6AF5-468E-B6CB-385A959C4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240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E03D-7F22-47F9-B619-559C3D346B4C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ABA9-6AF5-468E-B6CB-385A959C4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7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E03D-7F22-47F9-B619-559C3D346B4C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ABA9-6AF5-468E-B6CB-385A959C4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C4AE03D-7F22-47F9-B619-559C3D346B4C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C7ABA9-6AF5-468E-B6CB-385A959C4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78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E03D-7F22-47F9-B619-559C3D346B4C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ABA9-6AF5-468E-B6CB-385A959C4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604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E03D-7F22-47F9-B619-559C3D346B4C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ABA9-6AF5-468E-B6CB-385A959C4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650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E03D-7F22-47F9-B619-559C3D346B4C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ABA9-6AF5-468E-B6CB-385A959C4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528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C4AE03D-7F22-47F9-B619-559C3D346B4C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5C7ABA9-6AF5-468E-B6CB-385A959C4703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26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32.png"/><Relationship Id="rId5" Type="http://schemas.openxmlformats.org/officeDocument/2006/relationships/image" Target="../media/image210.png"/><Relationship Id="rId9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80.png"/><Relationship Id="rId5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10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7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190.png"/><Relationship Id="rId5" Type="http://schemas.openxmlformats.org/officeDocument/2006/relationships/image" Target="../media/image2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image" Target="../media/image2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230.png"/><Relationship Id="rId5" Type="http://schemas.openxmlformats.org/officeDocument/2006/relationships/image" Target="../media/image4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Relationship Id="rId6" Type="http://schemas.openxmlformats.org/officeDocument/2006/relationships/image" Target="../media/image26.png"/><Relationship Id="rId5" Type="http://schemas.openxmlformats.org/officeDocument/2006/relationships/image" Target="../media/image250.png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8F9E-B361-41A3-BBD6-CEFB05E828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Physical query plans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22DAE-1386-443C-AABC-BDCC94B53D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765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/>
          <p:cNvSpPr/>
          <p:nvPr/>
        </p:nvSpPr>
        <p:spPr>
          <a:xfrm>
            <a:off x="5786284" y="4705310"/>
            <a:ext cx="3238422" cy="10044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5890112" y="2324833"/>
            <a:ext cx="2107752" cy="5975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Parse query &amp;</a:t>
            </a:r>
            <a:br>
              <a:rPr lang="en-US" dirty="0"/>
            </a:br>
            <a:r>
              <a:rPr lang="en-US" dirty="0"/>
              <a:t>preprocess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511" y="1692708"/>
            <a:ext cx="1140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0112" y="3675454"/>
            <a:ext cx="2107752" cy="6902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Optimise</a:t>
            </a:r>
            <a:br>
              <a:rPr lang="en-US" dirty="0"/>
            </a:br>
            <a:r>
              <a:rPr lang="en-US" dirty="0"/>
              <a:t>logical query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2241" y="2994422"/>
            <a:ext cx="1963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Logical query plan </a:t>
            </a:r>
            <a:br>
              <a:rPr lang="en-US" dirty="0"/>
            </a:br>
            <a:r>
              <a:rPr lang="en-US" dirty="0"/>
              <a:t>(relational algebra)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0112" y="4733450"/>
            <a:ext cx="2107752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Select</a:t>
            </a:r>
            <a:br>
              <a:rPr lang="en-US" dirty="0"/>
            </a:br>
            <a:r>
              <a:rPr lang="en-US" dirty="0"/>
              <a:t>physical query plan</a:t>
            </a:r>
          </a:p>
        </p:txBody>
      </p:sp>
      <p:cxnSp>
        <p:nvCxnSpPr>
          <p:cNvPr id="17" name="Straight Arrow Connector 16"/>
          <p:cNvCxnSpPr>
            <a:stCxn id="11" idx="2"/>
            <a:endCxn id="10" idx="0"/>
          </p:cNvCxnSpPr>
          <p:nvPr/>
        </p:nvCxnSpPr>
        <p:spPr>
          <a:xfrm>
            <a:off x="6943988" y="2062040"/>
            <a:ext cx="0" cy="262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2"/>
            <a:endCxn id="12" idx="0"/>
          </p:cNvCxnSpPr>
          <p:nvPr/>
        </p:nvCxnSpPr>
        <p:spPr>
          <a:xfrm>
            <a:off x="6943988" y="2922414"/>
            <a:ext cx="0" cy="753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4" idx="0"/>
          </p:cNvCxnSpPr>
          <p:nvPr/>
        </p:nvCxnSpPr>
        <p:spPr>
          <a:xfrm>
            <a:off x="6943988" y="4365727"/>
            <a:ext cx="0" cy="367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5890112" y="5709729"/>
            <a:ext cx="2107752" cy="48884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Query Execution</a:t>
            </a:r>
          </a:p>
        </p:txBody>
      </p:sp>
      <p:cxnSp>
        <p:nvCxnSpPr>
          <p:cNvPr id="82" name="Straight Arrow Connector 81"/>
          <p:cNvCxnSpPr>
            <a:stCxn id="14" idx="2"/>
            <a:endCxn id="81" idx="0"/>
          </p:cNvCxnSpPr>
          <p:nvPr/>
        </p:nvCxnSpPr>
        <p:spPr>
          <a:xfrm>
            <a:off x="6943988" y="5453530"/>
            <a:ext cx="0" cy="256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7042240" y="4380630"/>
            <a:ext cx="2858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Optimised</a:t>
            </a:r>
            <a:r>
              <a:rPr lang="en-US" dirty="0"/>
              <a:t> logical query plan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042240" y="5391221"/>
            <a:ext cx="1982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Physical query plan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474348" y="4908824"/>
            <a:ext cx="1130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This video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817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  <p:bldP spid="1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3750B-99DD-4A5D-9753-810434B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/>
          <a:lstStyle/>
          <a:p>
            <a:r>
              <a:rPr lang="en-US" dirty="0"/>
              <a:t>What is the purpose of a physical query plan?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A7D3B-CC6B-4539-8EDA-8937D881F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472"/>
              </a:spcBef>
            </a:pPr>
            <a:r>
              <a:rPr lang="en-US" dirty="0"/>
              <a:t>A </a:t>
            </a:r>
            <a:r>
              <a:rPr lang="en-US" b="1" dirty="0"/>
              <a:t>physical query plan</a:t>
            </a:r>
            <a:r>
              <a:rPr lang="en-US" dirty="0"/>
              <a:t> adds information required to execute the </a:t>
            </a:r>
            <a:r>
              <a:rPr lang="en-US" dirty="0" err="1"/>
              <a:t>optimised</a:t>
            </a:r>
            <a:r>
              <a:rPr lang="en-US" dirty="0"/>
              <a:t> query plan</a:t>
            </a:r>
          </a:p>
          <a:p>
            <a:pPr lvl="1"/>
            <a:r>
              <a:rPr lang="en-US" dirty="0">
                <a:sym typeface="Wingdings"/>
              </a:rPr>
              <a:t>Which </a:t>
            </a:r>
            <a:r>
              <a:rPr lang="en-US" b="1" dirty="0">
                <a:sym typeface="Wingdings"/>
              </a:rPr>
              <a:t>algorithm</a:t>
            </a:r>
            <a:r>
              <a:rPr lang="en-US" dirty="0">
                <a:sym typeface="Wingdings"/>
              </a:rPr>
              <a:t> to use for execution of operators?</a:t>
            </a:r>
          </a:p>
          <a:p>
            <a:pPr lvl="2"/>
            <a:r>
              <a:rPr lang="en-US" dirty="0">
                <a:sym typeface="Wingdings"/>
              </a:rPr>
              <a:t>Naïve selection or selection with an index?</a:t>
            </a:r>
          </a:p>
          <a:p>
            <a:pPr lvl="2"/>
            <a:r>
              <a:rPr lang="en-US" dirty="0">
                <a:sym typeface="Wingdings"/>
              </a:rPr>
              <a:t>Nested Block Join or Sort Join or Hash Join etc.?</a:t>
            </a:r>
          </a:p>
          <a:p>
            <a:pPr lvl="1"/>
            <a:r>
              <a:rPr lang="en-US" dirty="0">
                <a:sym typeface="Wingdings"/>
              </a:rPr>
              <a:t>How to </a:t>
            </a:r>
            <a:r>
              <a:rPr lang="en-US" b="1" dirty="0">
                <a:sym typeface="Wingdings"/>
              </a:rPr>
              <a:t>pass information </a:t>
            </a:r>
            <a:r>
              <a:rPr lang="en-US" dirty="0">
                <a:sym typeface="Wingdings"/>
              </a:rPr>
              <a:t>from one operator to the other?</a:t>
            </a:r>
          </a:p>
          <a:p>
            <a:pPr lvl="2"/>
            <a:r>
              <a:rPr lang="en-US" dirty="0">
                <a:sym typeface="Wingdings"/>
              </a:rPr>
              <a:t>Write to disk, keep in memory, pipelining operators, etc.?</a:t>
            </a:r>
          </a:p>
          <a:p>
            <a:pPr lvl="1"/>
            <a:r>
              <a:rPr lang="en-US" dirty="0">
                <a:sym typeface="Wingdings"/>
              </a:rPr>
              <a:t>Good</a:t>
            </a:r>
            <a:r>
              <a:rPr lang="en-US" b="1" dirty="0">
                <a:sym typeface="Wingdings"/>
              </a:rPr>
              <a:t> order </a:t>
            </a:r>
            <a:r>
              <a:rPr lang="en-US" dirty="0">
                <a:sym typeface="Wingdings"/>
              </a:rPr>
              <a:t>for computing joins, unions, etc.?</a:t>
            </a:r>
          </a:p>
          <a:p>
            <a:pPr lvl="1"/>
            <a:r>
              <a:rPr lang="en-US" dirty="0">
                <a:sym typeface="Wingdings"/>
              </a:rPr>
              <a:t>Additional operations such as sorting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52FA209-68D2-4700-B44D-39B7E0BEC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09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1628999" y="2817480"/>
            <a:ext cx="4978896" cy="309634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Logical Plans To Physical Plans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6428080" y="1737360"/>
            <a:ext cx="3822825" cy="4710892"/>
          </a:xfrm>
        </p:spPr>
        <p:txBody>
          <a:bodyPr>
            <a:normAutofit/>
          </a:bodyPr>
          <a:lstStyle/>
          <a:p>
            <a:r>
              <a:rPr lang="en-US" sz="2400" b="1" dirty="0"/>
              <a:t>Generate</a:t>
            </a:r>
            <a:r>
              <a:rPr lang="en-US" sz="2400" dirty="0"/>
              <a:t> many different physical query plans</a:t>
            </a:r>
          </a:p>
          <a:p>
            <a:pPr>
              <a:spcBef>
                <a:spcPts val="2472"/>
              </a:spcBef>
            </a:pPr>
            <a:r>
              <a:rPr lang="en-US" sz="2400" b="1" dirty="0"/>
              <a:t>Estimate</a:t>
            </a:r>
            <a:r>
              <a:rPr lang="en-US" sz="2400" dirty="0"/>
              <a:t> </a:t>
            </a:r>
            <a:r>
              <a:rPr lang="en-US" sz="2400" b="1" dirty="0"/>
              <a:t>cost</a:t>
            </a:r>
            <a:r>
              <a:rPr lang="en-US" sz="2400" dirty="0"/>
              <a:t> of execution for each plan </a:t>
            </a:r>
          </a:p>
          <a:p>
            <a:pPr lvl="1"/>
            <a:r>
              <a:rPr lang="en-US" sz="2000" dirty="0"/>
              <a:t>Time </a:t>
            </a:r>
          </a:p>
          <a:p>
            <a:pPr lvl="1"/>
            <a:r>
              <a:rPr lang="en-US" sz="2000" dirty="0"/>
              <a:t>Disk accesses</a:t>
            </a:r>
          </a:p>
          <a:p>
            <a:pPr lvl="1"/>
            <a:r>
              <a:rPr lang="en-US" sz="2000" dirty="0"/>
              <a:t>Memory</a:t>
            </a:r>
            <a:endParaRPr lang="en-GB" sz="2000" dirty="0"/>
          </a:p>
          <a:p>
            <a:pPr lvl="1"/>
            <a:r>
              <a:rPr lang="en-GB" sz="2000" dirty="0"/>
              <a:t>Communication</a:t>
            </a:r>
          </a:p>
          <a:p>
            <a:pPr lvl="1"/>
            <a:r>
              <a:rPr lang="mr-IN" sz="2000" dirty="0"/>
              <a:t>…</a:t>
            </a:r>
            <a:endParaRPr lang="en-US" sz="2000" dirty="0"/>
          </a:p>
          <a:p>
            <a:pPr>
              <a:spcBef>
                <a:spcPts val="2472"/>
              </a:spcBef>
            </a:pPr>
            <a:r>
              <a:rPr lang="en-US" sz="2400" dirty="0"/>
              <a:t>Select physical plan with </a:t>
            </a:r>
            <a:r>
              <a:rPr lang="en-US" sz="2400" b="1" dirty="0"/>
              <a:t>lowest cost estimate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064571" y="1737360"/>
            <a:ext cx="2107752" cy="6480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Optimised</a:t>
            </a:r>
            <a:r>
              <a:rPr lang="en-US" dirty="0"/>
              <a:t> logical query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942045" y="3668364"/>
            <a:ext cx="1584176" cy="6480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Physical query plan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2727" y="4488265"/>
            <a:ext cx="1584176" cy="6480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Physical query plan 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3401" y="3062706"/>
            <a:ext cx="1584176" cy="6480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Physical query plan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6171" y="4158756"/>
            <a:ext cx="1584176" cy="6480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Physical query plan n</a:t>
            </a:r>
          </a:p>
        </p:txBody>
      </p:sp>
      <p:cxnSp>
        <p:nvCxnSpPr>
          <p:cNvPr id="13" name="Straight Arrow Connector 12"/>
          <p:cNvCxnSpPr>
            <a:stCxn id="6" idx="2"/>
            <a:endCxn id="11" idx="0"/>
          </p:cNvCxnSpPr>
          <p:nvPr/>
        </p:nvCxnSpPr>
        <p:spPr>
          <a:xfrm>
            <a:off x="4118447" y="2385432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29469" y="422862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/>
              <a:t>…</a:t>
            </a:r>
            <a:endParaRPr lang="en-US" dirty="0"/>
          </a:p>
        </p:txBody>
      </p:sp>
      <p:cxnSp>
        <p:nvCxnSpPr>
          <p:cNvPr id="25" name="Straight Arrow Connector 24"/>
          <p:cNvCxnSpPr>
            <a:cxnSpLocks/>
            <a:stCxn id="26" idx="2"/>
          </p:cNvCxnSpPr>
          <p:nvPr/>
        </p:nvCxnSpPr>
        <p:spPr>
          <a:xfrm>
            <a:off x="4751761" y="5531592"/>
            <a:ext cx="293481" cy="532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959673" y="4883520"/>
            <a:ext cx="1584176" cy="6480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Cheapest plan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4597151" y="5909802"/>
            <a:ext cx="1030576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execute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919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uiExpand="1" build="p"/>
      <p:bldP spid="7" grpId="0" animBg="1"/>
      <p:bldP spid="8" grpId="0" animBg="1"/>
      <p:bldP spid="9" grpId="0" animBg="1"/>
      <p:bldP spid="10" grpId="0" animBg="1"/>
      <p:bldP spid="17" grpId="0"/>
      <p:bldP spid="26" grpId="0" animBg="1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Cost of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Here: </a:t>
            </a:r>
            <a:r>
              <a:rPr lang="en-US" b="1" dirty="0"/>
              <a:t>number of disk access operations</a:t>
            </a:r>
          </a:p>
          <a:p>
            <a:r>
              <a:rPr lang="en-US" dirty="0"/>
              <a:t>Number of disk accesses influenced by many factors:</a:t>
            </a:r>
          </a:p>
          <a:p>
            <a:pPr lvl="1"/>
            <a:r>
              <a:rPr lang="en-US" dirty="0"/>
              <a:t>Selection of algorithms for the individual operators</a:t>
            </a:r>
          </a:p>
          <a:p>
            <a:pPr lvl="1"/>
            <a:r>
              <a:rPr lang="en-US" dirty="0"/>
              <a:t>Method for passing information</a:t>
            </a:r>
          </a:p>
          <a:p>
            <a:pPr lvl="1"/>
            <a:r>
              <a:rPr lang="en-US" b="1" dirty="0"/>
              <a:t>Size of intermediate results</a:t>
            </a:r>
            <a:endParaRPr lang="en-US" dirty="0"/>
          </a:p>
          <a:p>
            <a:pPr>
              <a:spcBef>
                <a:spcPts val="1872"/>
              </a:spcBef>
            </a:pPr>
            <a:r>
              <a:rPr lang="en-US" dirty="0"/>
              <a:t>Estimated from parameters of the database</a:t>
            </a:r>
          </a:p>
          <a:p>
            <a:pPr lvl="1"/>
            <a:r>
              <a:rPr lang="en-US" dirty="0">
                <a:sym typeface="Wingdings"/>
              </a:rPr>
              <a:t>Important </a:t>
            </a:r>
            <a:r>
              <a:rPr lang="en-US" dirty="0" err="1">
                <a:sym typeface="Wingdings"/>
              </a:rPr>
              <a:t>paramters</a:t>
            </a:r>
            <a:r>
              <a:rPr lang="en-US" dirty="0">
                <a:sym typeface="Wingdings"/>
              </a:rPr>
              <a:t>:</a:t>
            </a:r>
          </a:p>
          <a:p>
            <a:pPr lvl="2"/>
            <a:r>
              <a:rPr lang="en-US" b="1" dirty="0"/>
              <a:t>Size of relations</a:t>
            </a:r>
          </a:p>
          <a:p>
            <a:pPr lvl="2"/>
            <a:r>
              <a:rPr lang="en-US" b="1" dirty="0"/>
              <a:t>Number of distinct items per attribute per relation</a:t>
            </a:r>
          </a:p>
          <a:p>
            <a:pPr lvl="1"/>
            <a:r>
              <a:rPr lang="en-US" dirty="0">
                <a:sym typeface="Wingdings"/>
              </a:rPr>
              <a:t>Computed </a:t>
            </a:r>
            <a:r>
              <a:rPr lang="en-US" dirty="0"/>
              <a:t>exactly from the database or are estimated (“statistics gathering”)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Rounded Rectangular Callout 4"/>
          <p:cNvSpPr/>
          <p:nvPr/>
        </p:nvSpPr>
        <p:spPr>
          <a:xfrm>
            <a:off x="6672064" y="3421017"/>
            <a:ext cx="3096344" cy="446060"/>
          </a:xfrm>
          <a:prstGeom prst="wedgeRoundRectCallout">
            <a:avLst>
              <a:gd name="adj1" fmla="val -60141"/>
              <a:gd name="adj2" fmla="val -2179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One of the </a:t>
            </a:r>
            <a:r>
              <a:rPr lang="en-GB"/>
              <a:t>most critical factors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550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Estimating Intermediate Result Sizes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One of the most challenging tasks of a DBMS</a:t>
            </a:r>
          </a:p>
          <a:p>
            <a:pPr lvl="1"/>
            <a:r>
              <a:rPr lang="en-GB" dirty="0"/>
              <a:t>Difficult even for nodes close to the leaves</a:t>
            </a:r>
          </a:p>
          <a:p>
            <a:pPr lvl="1"/>
            <a:r>
              <a:rPr lang="en-GB" dirty="0"/>
              <a:t>Cannot afford executing the query</a:t>
            </a:r>
          </a:p>
          <a:p>
            <a:pPr lvl="1"/>
            <a:r>
              <a:rPr lang="en-GB" dirty="0"/>
              <a:t>Rely on statistics gathered from data</a:t>
            </a:r>
          </a:p>
          <a:p>
            <a:pPr>
              <a:spcBef>
                <a:spcPts val="3072"/>
              </a:spcBef>
            </a:pPr>
            <a:endParaRPr lang="en-GB" dirty="0"/>
          </a:p>
          <a:p>
            <a:pPr>
              <a:spcBef>
                <a:spcPts val="3072"/>
              </a:spcBef>
            </a:pPr>
            <a:endParaRPr lang="en-GB" dirty="0"/>
          </a:p>
          <a:p>
            <a:pPr>
              <a:spcBef>
                <a:spcPts val="672"/>
              </a:spcBef>
            </a:pPr>
            <a:r>
              <a:rPr lang="en-GB" dirty="0"/>
              <a:t>Many different approaches</a:t>
            </a:r>
          </a:p>
          <a:p>
            <a:pPr lvl="1">
              <a:spcBef>
                <a:spcPts val="672"/>
              </a:spcBef>
            </a:pPr>
            <a:r>
              <a:rPr lang="en-GB" dirty="0"/>
              <a:t>Some easier than others</a:t>
            </a:r>
          </a:p>
          <a:p>
            <a:pPr lvl="1">
              <a:spcBef>
                <a:spcPts val="672"/>
              </a:spcBef>
            </a:pPr>
            <a:r>
              <a:rPr lang="en-GB" dirty="0"/>
              <a:t>With join size estimation, we enter </a:t>
            </a:r>
            <a:br>
              <a:rPr lang="en-GB" dirty="0"/>
            </a:br>
            <a:r>
              <a:rPr lang="en-GB" dirty="0"/>
              <a:t>active research</a:t>
            </a:r>
            <a:r>
              <a:rPr lang="mr-IN" dirty="0"/>
              <a:t>…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737048" y="3057584"/>
                <a:ext cx="1846632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400" b="1" baseline="-25000" dirty="0">
                    <a:solidFill>
                      <a:schemeClr val="accent1"/>
                    </a:solidFill>
                  </a:rPr>
                  <a:t>depart=</a:t>
                </a:r>
                <a:r>
                  <a:rPr lang="en-US" sz="2400" b="1" baseline="-25000" dirty="0" err="1">
                    <a:solidFill>
                      <a:schemeClr val="accent1"/>
                    </a:solidFill>
                  </a:rPr>
                  <a:t>worksAt</a:t>
                </a:r>
                <a:endParaRPr lang="en-US" sz="24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048" y="3057584"/>
                <a:ext cx="1846632" cy="587441"/>
              </a:xfrm>
              <a:prstGeom prst="rect">
                <a:avLst/>
              </a:prstGeom>
              <a:blipFill>
                <a:blip r:embed="rId5"/>
                <a:stretch>
                  <a:fillRect b="-104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160984" y="2281908"/>
                <a:ext cx="164324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worksAt</a:t>
                </a:r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,name</a:t>
                </a:r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984" y="2281908"/>
                <a:ext cx="1643243" cy="587441"/>
              </a:xfrm>
              <a:prstGeom prst="rect">
                <a:avLst/>
              </a:prstGeom>
              <a:blipFill>
                <a:blip r:embed="rId6"/>
                <a:stretch>
                  <a:fillRect r="-372" b="-103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925277" y="5135362"/>
            <a:ext cx="871045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Stores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6539" y="4631804"/>
            <a:ext cx="1345341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Employees</a:t>
            </a:r>
            <a:endParaRPr lang="en-US" sz="2400" dirty="0">
              <a:solidFill>
                <a:schemeClr val="accent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8973670" y="2869348"/>
            <a:ext cx="0" cy="271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8397547" y="3573016"/>
            <a:ext cx="438149" cy="308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9123728" y="3573017"/>
            <a:ext cx="438149" cy="282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820124" y="4328535"/>
                <a:ext cx="1046349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city=Liv</a:t>
                </a:r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124" y="4328535"/>
                <a:ext cx="1046349" cy="587441"/>
              </a:xfrm>
              <a:prstGeom prst="rect">
                <a:avLst/>
              </a:prstGeom>
              <a:blipFill>
                <a:blip r:embed="rId7"/>
                <a:stretch>
                  <a:fillRect r="-585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8343298" y="4914940"/>
            <a:ext cx="0" cy="242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849926" y="3741094"/>
                <a:ext cx="164324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worksAt</a:t>
                </a:r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,name</a:t>
                </a:r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926" y="3741094"/>
                <a:ext cx="1643243" cy="587441"/>
              </a:xfrm>
              <a:prstGeom prst="rect">
                <a:avLst/>
              </a:prstGeom>
              <a:blipFill>
                <a:blip r:embed="rId8"/>
                <a:stretch>
                  <a:fillRect r="-372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9669206" y="4321231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910765" y="3741094"/>
                <a:ext cx="976522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</a:t>
                </a:r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765" y="3741094"/>
                <a:ext cx="976522" cy="587441"/>
              </a:xfrm>
              <a:prstGeom prst="rect">
                <a:avLst/>
              </a:prstGeom>
              <a:blipFill>
                <a:blip r:embed="rId9"/>
                <a:stretch>
                  <a:fillRect r="-625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>
            <a:off x="8328198" y="4293097"/>
            <a:ext cx="0" cy="242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008093" y="3963409"/>
            <a:ext cx="842808" cy="572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84032" y="3606289"/>
            <a:ext cx="659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Size?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777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  <p:bldP spid="12" grpId="0"/>
      <p:bldP spid="14" grpId="0"/>
      <p:bldP spid="16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Size of a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Estimate for the size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b="1" baseline="-25000" dirty="0">
                    <a:solidFill>
                      <a:schemeClr val="accent2"/>
                    </a:solidFill>
                  </a:rPr>
                  <a:t>A</a:t>
                </a:r>
                <a:r>
                  <a:rPr lang="en-US" baseline="-25000" dirty="0"/>
                  <a:t>=a</a:t>
                </a:r>
                <a:r>
                  <a:rPr lang="en-US" dirty="0"/>
                  <a:t>(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):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>
                  <a:spcBef>
                    <a:spcPts val="3672"/>
                  </a:spcBef>
                </a:pPr>
                <a:r>
                  <a:rPr lang="en-US" dirty="0"/>
                  <a:t>Estimate for the # of blocks required to store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b="1" baseline="-25000" dirty="0">
                    <a:solidFill>
                      <a:schemeClr val="accent2"/>
                    </a:solidFill>
                  </a:rPr>
                  <a:t>A</a:t>
                </a:r>
                <a:r>
                  <a:rPr lang="en-US" baseline="-25000" dirty="0"/>
                  <a:t>=a</a:t>
                </a:r>
                <a:r>
                  <a:rPr lang="en-US" dirty="0"/>
                  <a:t>(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):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>
                  <a:spcBef>
                    <a:spcPts val="3672"/>
                  </a:spcBef>
                </a:pPr>
                <a:r>
                  <a:rPr lang="en-US" dirty="0"/>
                  <a:t>Good if values in column </a:t>
                </a:r>
                <a:r>
                  <a:rPr lang="en-US" b="1" dirty="0">
                    <a:solidFill>
                      <a:schemeClr val="accent2"/>
                    </a:solidFill>
                  </a:rPr>
                  <a:t>A</a:t>
                </a:r>
                <a:r>
                  <a:rPr lang="en-US" dirty="0"/>
                  <a:t> of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occur equally often, but can be bad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53547" y="2361834"/>
                <a:ext cx="7084906" cy="10656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80000" tIns="180000" rIns="180000" bIns="180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charset="0"/>
                            </a:rPr>
                            <m:t>|</m:t>
                          </m:r>
                          <m:r>
                            <m:rPr>
                              <m:nor/>
                            </m:rPr>
                            <a:rPr lang="en-GB" sz="2400" b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R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distinct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values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column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1">
                              <a:solidFill>
                                <a:schemeClr val="accent2"/>
                              </a:solidFill>
                              <a:latin typeface="Cambria Math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relation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547" y="2361834"/>
                <a:ext cx="7084906" cy="10656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52254" y="4120499"/>
                <a:ext cx="7084906" cy="10656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80000" tIns="180000" rIns="180000" bIns="180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>
                              <a:latin typeface="Cambria Math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charset="0"/>
                            </a:rPr>
                            <m:t>blocks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charset="0"/>
                            </a:rPr>
                            <m:t>for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R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distinct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values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column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1">
                              <a:solidFill>
                                <a:schemeClr val="accent2"/>
                              </a:solidFill>
                              <a:latin typeface="Cambria Math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relation</m:t>
                          </m:r>
                          <m:r>
                            <m:rPr>
                              <m:nor/>
                            </m:rPr>
                            <a:rPr lang="en-GB" sz="24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254" y="4120499"/>
                <a:ext cx="7084906" cy="10656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ular Callout 7"/>
          <p:cNvSpPr/>
          <p:nvPr/>
        </p:nvSpPr>
        <p:spPr>
          <a:xfrm>
            <a:off x="7007033" y="2085445"/>
            <a:ext cx="3491880" cy="552779"/>
          </a:xfrm>
          <a:prstGeom prst="wedgeRoundRectCallout">
            <a:avLst>
              <a:gd name="adj1" fmla="val -58028"/>
              <a:gd name="adj2" fmla="val 3912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Recall: |R| = number of tuples in R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6938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0">
                <a:extLst>
                  <a:ext uri="{FF2B5EF4-FFF2-40B4-BE49-F238E27FC236}">
                    <a16:creationId xmlns:a16="http://schemas.microsoft.com/office/drawing/2014/main" id="{DB34453A-05DE-4FDC-A8C1-38D78C93DA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Assume:</a:t>
                </a:r>
              </a:p>
              <a:p>
                <a:pPr lvl="1"/>
                <a:r>
                  <a:rPr lang="en-US" sz="2000" dirty="0"/>
                  <a:t>Stores contains </a:t>
                </a:r>
                <a:r>
                  <a:rPr lang="en-US" sz="2000" b="1" dirty="0"/>
                  <a:t>80 tuples</a:t>
                </a:r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stored in </a:t>
                </a:r>
                <a:r>
                  <a:rPr lang="en-US" sz="2000" b="1" dirty="0"/>
                  <a:t>20 blocks</a:t>
                </a:r>
              </a:p>
              <a:p>
                <a:pPr lvl="1"/>
                <a:r>
                  <a:rPr lang="en-US" sz="2000" dirty="0"/>
                  <a:t>There are exactly </a:t>
                </a:r>
                <a:r>
                  <a:rPr lang="en-US" sz="2000" b="1" dirty="0"/>
                  <a:t>4 distinct values </a:t>
                </a:r>
                <a:br>
                  <a:rPr lang="en-US" sz="2000" b="1" dirty="0"/>
                </a:br>
                <a:r>
                  <a:rPr lang="en-US" sz="2000" dirty="0"/>
                  <a:t>for the city attribute of Stores</a:t>
                </a:r>
              </a:p>
              <a:p>
                <a:pPr>
                  <a:spcBef>
                    <a:spcPts val="2472"/>
                  </a:spcBef>
                </a:pPr>
                <a:r>
                  <a:rPr lang="en-US" sz="2400" dirty="0"/>
                  <a:t>Estimate for size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sz="2400" baseline="-25000" dirty="0"/>
                  <a:t>city=Liv</a:t>
                </a:r>
                <a:r>
                  <a:rPr lang="en-US" sz="2400" dirty="0"/>
                  <a:t>(Stores):</a:t>
                </a:r>
                <a:br>
                  <a:rPr lang="en-US" sz="2400" dirty="0"/>
                </a:br>
                <a:r>
                  <a:rPr lang="en-US" sz="2400" dirty="0"/>
                  <a:t>80/4 = 20 tuples</a:t>
                </a:r>
              </a:p>
              <a:p>
                <a:pPr>
                  <a:spcBef>
                    <a:spcPts val="2472"/>
                  </a:spcBef>
                </a:pPr>
                <a:r>
                  <a:rPr lang="en-US" sz="2400" dirty="0"/>
                  <a:t>Estimate for number of blocks that are required </a:t>
                </a:r>
                <a:br>
                  <a:rPr lang="en-US" sz="2400" dirty="0"/>
                </a:br>
                <a:r>
                  <a:rPr lang="en-US" sz="2400" dirty="0"/>
                  <a:t>to store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sz="2400" baseline="-25000" dirty="0"/>
                  <a:t>city=Liv</a:t>
                </a:r>
                <a:r>
                  <a:rPr lang="en-US" sz="2400" dirty="0"/>
                  <a:t>(Stores): 20/4 = 5 blocks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1" name="Content Placeholder 20">
                <a:extLst>
                  <a:ext uri="{FF2B5EF4-FFF2-40B4-BE49-F238E27FC236}">
                    <a16:creationId xmlns:a16="http://schemas.microsoft.com/office/drawing/2014/main" id="{DB34453A-05DE-4FDC-A8C1-38D78C93DA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909" t="-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A9CA1F7-38BA-4B3E-9C47-361460677BB0}"/>
                  </a:ext>
                </a:extLst>
              </p:cNvPr>
              <p:cNvSpPr txBox="1"/>
              <p:nvPr/>
            </p:nvSpPr>
            <p:spPr>
              <a:xfrm>
                <a:off x="9124563" y="2801794"/>
                <a:ext cx="1846632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400" b="1" baseline="-25000" dirty="0">
                    <a:solidFill>
                      <a:schemeClr val="accent1"/>
                    </a:solidFill>
                  </a:rPr>
                  <a:t>depart=</a:t>
                </a:r>
                <a:r>
                  <a:rPr lang="en-US" sz="2400" b="1" baseline="-25000" dirty="0" err="1">
                    <a:solidFill>
                      <a:schemeClr val="accent1"/>
                    </a:solidFill>
                  </a:rPr>
                  <a:t>worksAt</a:t>
                </a:r>
                <a:endParaRPr lang="en-US" sz="24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A9CA1F7-38BA-4B3E-9C47-361460677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4563" y="2801794"/>
                <a:ext cx="1846632" cy="587441"/>
              </a:xfrm>
              <a:prstGeom prst="rect">
                <a:avLst/>
              </a:prstGeom>
              <a:blipFill>
                <a:blip r:embed="rId6"/>
                <a:stretch>
                  <a:fillRect b="-104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D3CD2C-F7BC-4685-99CB-89199A95F583}"/>
                  </a:ext>
                </a:extLst>
              </p:cNvPr>
              <p:cNvSpPr txBox="1"/>
              <p:nvPr/>
            </p:nvSpPr>
            <p:spPr>
              <a:xfrm>
                <a:off x="8548499" y="2026118"/>
                <a:ext cx="164324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worksAt</a:t>
                </a:r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,name</a:t>
                </a:r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D3CD2C-F7BC-4685-99CB-89199A95F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499" y="2026118"/>
                <a:ext cx="1643243" cy="587441"/>
              </a:xfrm>
              <a:prstGeom prst="rect">
                <a:avLst/>
              </a:prstGeom>
              <a:blipFill>
                <a:blip r:embed="rId7"/>
                <a:stretch>
                  <a:fillRect r="-370" b="-103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769187A2-B287-49CB-841D-B0A44ECBF032}"/>
              </a:ext>
            </a:extLst>
          </p:cNvPr>
          <p:cNvSpPr txBox="1"/>
          <p:nvPr/>
        </p:nvSpPr>
        <p:spPr>
          <a:xfrm>
            <a:off x="8312791" y="4879572"/>
            <a:ext cx="871045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Stores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E8AD7B-625D-42BC-8B01-821DE3D97322}"/>
              </a:ext>
            </a:extLst>
          </p:cNvPr>
          <p:cNvSpPr txBox="1"/>
          <p:nvPr/>
        </p:nvSpPr>
        <p:spPr>
          <a:xfrm>
            <a:off x="9384054" y="4376014"/>
            <a:ext cx="1345341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Employees</a:t>
            </a:r>
            <a:endParaRPr lang="en-US" sz="2400" dirty="0">
              <a:solidFill>
                <a:schemeClr val="accent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2EBB31-DE35-41D0-9EE1-60BBAA8F3F07}"/>
              </a:ext>
            </a:extLst>
          </p:cNvPr>
          <p:cNvCxnSpPr/>
          <p:nvPr/>
        </p:nvCxnSpPr>
        <p:spPr>
          <a:xfrm>
            <a:off x="9361185" y="2613558"/>
            <a:ext cx="0" cy="271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3555661-72EA-4F71-9E4E-ECF63264AAAF}"/>
              </a:ext>
            </a:extLst>
          </p:cNvPr>
          <p:cNvCxnSpPr/>
          <p:nvPr/>
        </p:nvCxnSpPr>
        <p:spPr>
          <a:xfrm flipH="1">
            <a:off x="8785062" y="3317226"/>
            <a:ext cx="438149" cy="308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3497A7-4D99-42C4-B130-505D97FEEEFA}"/>
              </a:ext>
            </a:extLst>
          </p:cNvPr>
          <p:cNvCxnSpPr/>
          <p:nvPr/>
        </p:nvCxnSpPr>
        <p:spPr>
          <a:xfrm>
            <a:off x="9511243" y="3317227"/>
            <a:ext cx="438149" cy="282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BCBBED-3EC0-4C7B-B3B0-7BED8396AD3C}"/>
                  </a:ext>
                </a:extLst>
              </p:cNvPr>
              <p:cNvSpPr txBox="1"/>
              <p:nvPr/>
            </p:nvSpPr>
            <p:spPr>
              <a:xfrm>
                <a:off x="8207639" y="4072745"/>
                <a:ext cx="1046349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city=Liv</a:t>
                </a:r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BCBBED-3EC0-4C7B-B3B0-7BED8396A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639" y="4072745"/>
                <a:ext cx="1046349" cy="587441"/>
              </a:xfrm>
              <a:prstGeom prst="rect">
                <a:avLst/>
              </a:prstGeom>
              <a:blipFill>
                <a:blip r:embed="rId8"/>
                <a:stretch>
                  <a:fillRect r="-581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108A5A5-304C-4A45-80BC-7E129545568E}"/>
              </a:ext>
            </a:extLst>
          </p:cNvPr>
          <p:cNvCxnSpPr/>
          <p:nvPr/>
        </p:nvCxnSpPr>
        <p:spPr>
          <a:xfrm>
            <a:off x="8730813" y="4659150"/>
            <a:ext cx="0" cy="242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3F60331-7642-43E8-B31B-6B91F93BA032}"/>
                  </a:ext>
                </a:extLst>
              </p:cNvPr>
              <p:cNvSpPr txBox="1"/>
              <p:nvPr/>
            </p:nvSpPr>
            <p:spPr>
              <a:xfrm>
                <a:off x="9237441" y="3485304"/>
                <a:ext cx="164324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worksAt</a:t>
                </a:r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,name</a:t>
                </a:r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3F60331-7642-43E8-B31B-6B91F93BA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7441" y="3485304"/>
                <a:ext cx="1643243" cy="587441"/>
              </a:xfrm>
              <a:prstGeom prst="rect">
                <a:avLst/>
              </a:prstGeom>
              <a:blipFill>
                <a:blip r:embed="rId9"/>
                <a:stretch>
                  <a:fillRect r="-370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ECBF313-552A-4C03-99C0-EF65548E5501}"/>
              </a:ext>
            </a:extLst>
          </p:cNvPr>
          <p:cNvCxnSpPr/>
          <p:nvPr/>
        </p:nvCxnSpPr>
        <p:spPr>
          <a:xfrm>
            <a:off x="10056721" y="4065441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D6E4667-9E28-40AE-883A-7A8797B7B322}"/>
                  </a:ext>
                </a:extLst>
              </p:cNvPr>
              <p:cNvSpPr txBox="1"/>
              <p:nvPr/>
            </p:nvSpPr>
            <p:spPr>
              <a:xfrm>
                <a:off x="8298280" y="3485304"/>
                <a:ext cx="976522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</a:t>
                </a:r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D6E4667-9E28-40AE-883A-7A8797B7B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280" y="3485304"/>
                <a:ext cx="976522" cy="587441"/>
              </a:xfrm>
              <a:prstGeom prst="rect">
                <a:avLst/>
              </a:prstGeom>
              <a:blipFill>
                <a:blip r:embed="rId10"/>
                <a:stretch>
                  <a:fillRect r="-625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01A838D-ED84-4BA4-B603-727FE88400C6}"/>
              </a:ext>
            </a:extLst>
          </p:cNvPr>
          <p:cNvCxnSpPr/>
          <p:nvPr/>
        </p:nvCxnSpPr>
        <p:spPr>
          <a:xfrm>
            <a:off x="8715713" y="4037307"/>
            <a:ext cx="0" cy="242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BE7EB1D-087D-49D8-A4D4-BF6F5CBD4E9D}"/>
              </a:ext>
            </a:extLst>
          </p:cNvPr>
          <p:cNvCxnSpPr/>
          <p:nvPr/>
        </p:nvCxnSpPr>
        <p:spPr>
          <a:xfrm flipH="1" flipV="1">
            <a:off x="8947607" y="4638958"/>
            <a:ext cx="768001" cy="566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82B4AE7-D08F-43EF-A094-3A7B52F9A8A3}"/>
              </a:ext>
            </a:extLst>
          </p:cNvPr>
          <p:cNvSpPr txBox="1"/>
          <p:nvPr/>
        </p:nvSpPr>
        <p:spPr>
          <a:xfrm>
            <a:off x="9692714" y="5174461"/>
            <a:ext cx="659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Size?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027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sz="2400" dirty="0"/>
                  <a:t>How to estimate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sz="2400" dirty="0"/>
                  <a:t>?</a:t>
                </a:r>
              </a:p>
              <a:p>
                <a:r>
                  <a:rPr lang="en-US" sz="2400" dirty="0"/>
                  <a:t>Simple estimate based on size of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R </a:t>
                </a:r>
                <a:r>
                  <a:rPr lang="en-US" sz="2400" dirty="0"/>
                  <a:t>&amp; </a:t>
                </a:r>
                <a:r>
                  <a:rPr lang="en-US" sz="2400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sz="2400" dirty="0"/>
                  <a:t> and number of distinct values in common attributes</a:t>
                </a:r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endParaRPr lang="en-US" sz="2400" dirty="0"/>
              </a:p>
              <a:p>
                <a:pPr>
                  <a:spcBef>
                    <a:spcPts val="2472"/>
                  </a:spcBef>
                </a:pPr>
                <a:r>
                  <a:rPr lang="en-US" sz="2400" dirty="0"/>
                  <a:t>As for selection, based on assumptions</a:t>
                </a:r>
                <a:r>
                  <a:rPr lang="en-GB" sz="2400" dirty="0"/>
                  <a:t> that might not always lead to good estimates</a:t>
                </a:r>
                <a:endParaRPr lang="en-US" sz="2400" dirty="0"/>
              </a:p>
              <a:p>
                <a:r>
                  <a:rPr lang="en-US" sz="2400" dirty="0"/>
                  <a:t>More sophisticated methods: </a:t>
                </a:r>
              </a:p>
              <a:p>
                <a:pPr lvl="1"/>
                <a:r>
                  <a:rPr lang="en-US" sz="2000" dirty="0"/>
                  <a:t>Still a topic of active research</a:t>
                </a:r>
              </a:p>
              <a:p>
                <a:pPr lvl="1"/>
                <a:r>
                  <a:rPr lang="en-US" sz="2000" dirty="0"/>
                  <a:t>See, e.g., SIGMOD/PODS/VLDB conferences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788" t="-2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47729" y="2895327"/>
                <a:ext cx="5323207" cy="9586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80000" tIns="180000" rIns="180000" bIns="180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GB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GB" sz="2000" b="1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R</m:t>
                              </m:r>
                            </m:e>
                          </m:d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×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2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GB" sz="2000" b="1">
                                  <a:solidFill>
                                    <a:schemeClr val="accent3"/>
                                  </a:solidFill>
                                  <a:latin typeface="Cambria Math" charset="0"/>
                                </a:rPr>
                                <m:t>S</m:t>
                              </m:r>
                            </m:e>
                          </m:d>
                        </m:num>
                        <m:den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max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.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distinct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values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for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 b="1">
                              <a:solidFill>
                                <a:schemeClr val="accent2"/>
                              </a:solidFill>
                              <a:latin typeface="Cambria Math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 b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GB" sz="200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or</m:t>
                          </m:r>
                          <m:r>
                            <m:rPr>
                              <m:nor/>
                            </m:rPr>
                            <a:rPr lang="en-GB" sz="200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 b="1">
                              <a:solidFill>
                                <a:schemeClr val="accent3"/>
                              </a:solidFill>
                              <a:latin typeface="Cambria Math" charset="0"/>
                            </a:rPr>
                            <m:t>S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729" y="2895327"/>
                <a:ext cx="5323207" cy="9586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ular Callout 6"/>
          <p:cNvSpPr/>
          <p:nvPr/>
        </p:nvSpPr>
        <p:spPr>
          <a:xfrm>
            <a:off x="3281336" y="1051554"/>
            <a:ext cx="3995936" cy="654101"/>
          </a:xfrm>
          <a:prstGeom prst="wedgeRoundRectCallout">
            <a:avLst>
              <a:gd name="adj1" fmla="val -45496"/>
              <a:gd name="adj2" fmla="val 8020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Assume A is the </a:t>
            </a:r>
            <a:r>
              <a:rPr lang="en-GB"/>
              <a:t>only common attribute.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233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to generate </a:t>
            </a:r>
            <a:r>
              <a:rPr lang="en-US" dirty="0"/>
              <a:t>physical query plans?</a:t>
            </a:r>
          </a:p>
          <a:p>
            <a:pPr lvl="1"/>
            <a:r>
              <a:rPr lang="en-US" dirty="0"/>
              <a:t>Explore all?</a:t>
            </a:r>
          </a:p>
          <a:p>
            <a:pPr lvl="1"/>
            <a:r>
              <a:rPr lang="en-US" dirty="0"/>
              <a:t>More sensible approaches: top-down/bottom-up</a:t>
            </a:r>
          </a:p>
          <a:p>
            <a:r>
              <a:rPr lang="en-US" dirty="0"/>
              <a:t>Selection of a </a:t>
            </a:r>
            <a:r>
              <a:rPr lang="en-US" b="1" dirty="0"/>
              <a:t>suitable algorithm </a:t>
            </a:r>
            <a:r>
              <a:rPr lang="en-US" dirty="0"/>
              <a:t>for each operator</a:t>
            </a:r>
          </a:p>
          <a:p>
            <a:pPr lvl="1"/>
            <a:r>
              <a:rPr lang="en-US" dirty="0"/>
              <a:t>based on size of intermediate result</a:t>
            </a:r>
          </a:p>
          <a:p>
            <a:r>
              <a:rPr lang="en-US" dirty="0"/>
              <a:t>Selection of a </a:t>
            </a:r>
            <a:r>
              <a:rPr lang="en-US" b="1" dirty="0"/>
              <a:t>good join order</a:t>
            </a:r>
          </a:p>
          <a:p>
            <a:pPr lvl="1"/>
            <a:r>
              <a:rPr lang="en-US" dirty="0"/>
              <a:t>also based on size of intermediate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377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where join order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69162" y="4910377"/>
                <a:ext cx="541916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162" y="4910377"/>
                <a:ext cx="541916" cy="587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152968" y="5962412"/>
            <a:ext cx="1130219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Modules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286589" y="3404126"/>
            <a:ext cx="0" cy="602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3348070" y="4422800"/>
            <a:ext cx="726182" cy="48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506827" y="4442227"/>
            <a:ext cx="1601857" cy="820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926587" y="5173762"/>
                <a:ext cx="2743096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aseline="-25000" dirty="0">
                    <a:solidFill>
                      <a:schemeClr val="tx1"/>
                    </a:solidFill>
                  </a:rPr>
                  <a:t>name=Rasmus Ibsen-Jensen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587" y="5173762"/>
                <a:ext cx="2743096" cy="587441"/>
              </a:xfrm>
              <a:prstGeom prst="rect">
                <a:avLst/>
              </a:prstGeom>
              <a:blipFill>
                <a:blip r:embed="rId6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2380412" y="5467481"/>
            <a:ext cx="460215" cy="585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10707" y="5962669"/>
            <a:ext cx="1184977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Lecturers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298135" y="5739477"/>
            <a:ext cx="0" cy="351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9892" y="5963677"/>
            <a:ext cx="1140734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Students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215681" y="5467481"/>
            <a:ext cx="495481" cy="585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015631" y="3937655"/>
                <a:ext cx="541916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631" y="3937655"/>
                <a:ext cx="541916" cy="587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006734" y="2041207"/>
            <a:ext cx="6990925" cy="1141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SELECT </a:t>
            </a:r>
            <a:r>
              <a:rPr lang="en-US" sz="2000" b="1" dirty="0">
                <a:solidFill>
                  <a:schemeClr val="accent1"/>
                </a:solidFill>
              </a:rPr>
              <a:t>*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FROM Lecturers NATURAL JOIN Modules NATURAL JOIN Students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WHERE Lecturers.name = Rasmus Ibsen-Jensen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133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3" grpId="0"/>
      <p:bldP spid="15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where join order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66140" y="3359455"/>
                <a:ext cx="541916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140" y="3359455"/>
                <a:ext cx="541916" cy="587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153898" y="5920687"/>
            <a:ext cx="1130219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Modules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551087" y="2924945"/>
            <a:ext cx="0" cy="602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730863" y="3766431"/>
            <a:ext cx="391448" cy="495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375920" y="4599086"/>
            <a:ext cx="720080" cy="774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926587" y="5173762"/>
                <a:ext cx="2743096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aseline="-25000" dirty="0">
                    <a:solidFill>
                      <a:schemeClr val="tx1"/>
                    </a:solidFill>
                  </a:rPr>
                  <a:t>name=Rasmus Ibsen-Jensen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587" y="5173762"/>
                <a:ext cx="2743096" cy="587441"/>
              </a:xfrm>
              <a:prstGeom prst="rect">
                <a:avLst/>
              </a:prstGeom>
              <a:blipFill>
                <a:blip r:embed="rId6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2380414" y="3946895"/>
            <a:ext cx="1958715" cy="2134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27610" y="5930259"/>
            <a:ext cx="1184977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Lecturers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298135" y="5739477"/>
            <a:ext cx="0" cy="351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59677" y="5924022"/>
            <a:ext cx="1140734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Students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711164" y="4599085"/>
            <a:ext cx="1278185" cy="1454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880296" y="4165047"/>
                <a:ext cx="541916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296" y="4165047"/>
                <a:ext cx="541916" cy="587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DB2A8E4-1B9D-4E1A-9228-803E3E548248}"/>
              </a:ext>
            </a:extLst>
          </p:cNvPr>
          <p:cNvSpPr txBox="1"/>
          <p:nvPr/>
        </p:nvSpPr>
        <p:spPr>
          <a:xfrm>
            <a:off x="2135062" y="1784569"/>
            <a:ext cx="6990925" cy="1141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SELECT </a:t>
            </a:r>
            <a:r>
              <a:rPr lang="en-US" sz="2000" b="1" dirty="0">
                <a:solidFill>
                  <a:schemeClr val="accent1"/>
                </a:solidFill>
              </a:rPr>
              <a:t>*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FROM Lecturers NATURAL JOIN Modules NATURAL JOIN Students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WHERE Lecturers.name = Rasmus Ibsen-Jensen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8531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to generate </a:t>
            </a:r>
            <a:r>
              <a:rPr lang="en-US" dirty="0"/>
              <a:t>physical query plans?</a:t>
            </a:r>
          </a:p>
          <a:p>
            <a:pPr lvl="1"/>
            <a:r>
              <a:rPr lang="en-US" dirty="0"/>
              <a:t>Explore all?</a:t>
            </a:r>
          </a:p>
          <a:p>
            <a:pPr lvl="1"/>
            <a:r>
              <a:rPr lang="en-US" dirty="0"/>
              <a:t>More sensible approaches: top-down/bottom-up</a:t>
            </a:r>
          </a:p>
          <a:p>
            <a:r>
              <a:rPr lang="en-US" dirty="0"/>
              <a:t>Selection of a </a:t>
            </a:r>
            <a:r>
              <a:rPr lang="en-US" b="1" dirty="0"/>
              <a:t>suitable algorithm </a:t>
            </a:r>
            <a:r>
              <a:rPr lang="en-US" dirty="0"/>
              <a:t>for each operator</a:t>
            </a:r>
          </a:p>
          <a:p>
            <a:pPr lvl="1"/>
            <a:r>
              <a:rPr lang="en-US" dirty="0"/>
              <a:t>based on size of intermediate result</a:t>
            </a:r>
          </a:p>
          <a:p>
            <a:r>
              <a:rPr lang="en-US" dirty="0"/>
              <a:t>Selection of a </a:t>
            </a:r>
            <a:r>
              <a:rPr lang="en-US" b="1" dirty="0"/>
              <a:t>good join order</a:t>
            </a:r>
          </a:p>
          <a:p>
            <a:pPr lvl="1"/>
            <a:r>
              <a:rPr lang="en-US" dirty="0"/>
              <a:t>also based on size of intermediate results</a:t>
            </a:r>
          </a:p>
          <a:p>
            <a:r>
              <a:rPr lang="en-US" dirty="0"/>
              <a:t>How to </a:t>
            </a:r>
            <a:r>
              <a:rPr lang="en-US" b="1" dirty="0"/>
              <a:t>pass information </a:t>
            </a:r>
            <a:r>
              <a:rPr lang="en-US" dirty="0"/>
              <a:t>from one operator to another?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142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Materialisation: write intermediate results to disk</a:t>
                </a:r>
              </a:p>
              <a:p>
                <a:r>
                  <a:rPr lang="en-US" sz="2400" dirty="0"/>
                  <a:t>Pipelining (“stream-based processing”)</a:t>
                </a:r>
              </a:p>
              <a:p>
                <a:pPr lvl="1">
                  <a:defRPr/>
                </a:pPr>
                <a:r>
                  <a:rPr lang="en-GB" sz="2000" dirty="0"/>
                  <a:t>Passes the tuples of one operation directly to the next operation without using disk</a:t>
                </a:r>
              </a:p>
              <a:p>
                <a:pPr lvl="1">
                  <a:defRPr/>
                </a:pPr>
                <a:r>
                  <a:rPr lang="en-GB" sz="2000" dirty="0"/>
                  <a:t>Extra buffer for each pair of adjacent operations to hold tuples passing from one relation to the other</a:t>
                </a:r>
              </a:p>
              <a:p>
                <a:pPr lvl="1"/>
                <a:r>
                  <a:rPr lang="en-US" sz="2000" dirty="0"/>
                  <a:t>Example: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sz="1800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sz="1800" baseline="-25000" dirty="0"/>
                  <a:t>title,year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GB" sz="1800" i="1" dirty="0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sz="1800" baseline="-25000" dirty="0"/>
                  <a:t>length&gt;=100 AND studio=‘Fox’</a:t>
                </a:r>
                <a:r>
                  <a:rPr lang="en-US" sz="1800" dirty="0"/>
                  <a:t>(Film))</a:t>
                </a:r>
              </a:p>
              <a:p>
                <a:pPr lvl="2"/>
                <a:r>
                  <a:rPr lang="en-GB" sz="1800" dirty="0"/>
                  <a:t>With pipelining, the intermediate result of the selection will be written into a buffer in memory, from which the projection operator will read and process these tuples directly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5"/>
                <a:stretch>
                  <a:fillRect l="-963" t="-955" r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1960364" y="5733256"/>
            <a:ext cx="580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Film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4844977" y="5733256"/>
                <a:ext cx="22225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dirty="0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baseline="-25000" dirty="0"/>
                  <a:t>length&gt;=100 AND studio=‘Fox’</a:t>
                </a:r>
                <a:endParaRPr lang="en-US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977" y="5733256"/>
                <a:ext cx="2222532" cy="369332"/>
              </a:xfrm>
              <a:prstGeom prst="rect">
                <a:avLst/>
              </a:prstGeom>
              <a:blipFill>
                <a:blip r:embed="rId6"/>
                <a:stretch>
                  <a:fillRect b="-196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9428242" y="5738964"/>
                <a:ext cx="8850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baseline="-25000" dirty="0"/>
                  <a:t>title,year</a:t>
                </a:r>
                <a:endParaRPr lang="en-US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8242" y="5738964"/>
                <a:ext cx="885050" cy="369332"/>
              </a:xfrm>
              <a:prstGeom prst="rect">
                <a:avLst/>
              </a:prstGeom>
              <a:blipFill>
                <a:blip r:embed="rId7"/>
                <a:stretch>
                  <a:fillRect b="-196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>
            <a:off x="7067509" y="5917922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939718" y="5917922"/>
            <a:ext cx="4885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643573" y="5744314"/>
            <a:ext cx="1250528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2525149" y="5917922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397358" y="5917922"/>
            <a:ext cx="4885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101213" y="5744314"/>
            <a:ext cx="1250528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654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8" grpId="0" animBg="1"/>
      <p:bldP spid="4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Logical to Physical Query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982019" y="2518279"/>
                <a:ext cx="1812072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400" baseline="-25000" dirty="0">
                    <a:solidFill>
                      <a:schemeClr val="tx1"/>
                    </a:solidFill>
                  </a:rPr>
                  <a:t>depart=</a:t>
                </a:r>
                <a:r>
                  <a:rPr lang="en-US" sz="2400" baseline="-25000" dirty="0" err="1">
                    <a:solidFill>
                      <a:schemeClr val="tx1"/>
                    </a:solidFill>
                  </a:rPr>
                  <a:t>worksAt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019" y="2518279"/>
                <a:ext cx="1812072" cy="587441"/>
              </a:xfrm>
              <a:prstGeom prst="rect">
                <a:avLst/>
              </a:prstGeom>
              <a:blipFill>
                <a:blip r:embed="rId5"/>
                <a:stretch>
                  <a:fillRect b="-104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003949" y="1563038"/>
                <a:ext cx="1610285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aseline="-25000" dirty="0">
                    <a:solidFill>
                      <a:schemeClr val="tx1"/>
                    </a:solidFill>
                  </a:rPr>
                  <a:t>worksAt</a:t>
                </a:r>
                <a:r>
                  <a:rPr lang="en-GB" sz="2400" baseline="-25000" dirty="0" err="1">
                    <a:solidFill>
                      <a:schemeClr val="tx1"/>
                    </a:solidFill>
                  </a:rPr>
                  <a:t>,name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949" y="1563038"/>
                <a:ext cx="1610285" cy="587441"/>
              </a:xfrm>
              <a:prstGeom prst="rect">
                <a:avLst/>
              </a:prstGeom>
              <a:blipFill>
                <a:blip r:embed="rId6"/>
                <a:stretch>
                  <a:fillRect b="-103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4235939" y="4951873"/>
            <a:ext cx="871045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Stores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>
            <a:off x="5799984" y="2312979"/>
            <a:ext cx="0" cy="338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4715916" y="3186468"/>
            <a:ext cx="726182" cy="48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157874" y="3179763"/>
            <a:ext cx="718282" cy="448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049028" y="4371145"/>
                <a:ext cx="1028717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aseline="-25000" dirty="0">
                    <a:solidFill>
                      <a:schemeClr val="tx1"/>
                    </a:solidFill>
                  </a:rPr>
                  <a:t>city=Liv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028" y="4371145"/>
                <a:ext cx="1028717" cy="587441"/>
              </a:xfrm>
              <a:prstGeom prst="rect">
                <a:avLst/>
              </a:prstGeom>
              <a:blipFill>
                <a:blip r:embed="rId7"/>
                <a:stretch>
                  <a:fillRect r="-1183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073331" y="3575372"/>
                <a:ext cx="1610285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aseline="-25000" dirty="0">
                    <a:solidFill>
                      <a:schemeClr val="tx1"/>
                    </a:solidFill>
                  </a:rPr>
                  <a:t>worksAt</a:t>
                </a:r>
                <a:r>
                  <a:rPr lang="en-GB" sz="2400" baseline="-25000" dirty="0" err="1">
                    <a:solidFill>
                      <a:schemeClr val="tx1"/>
                    </a:solidFill>
                  </a:rPr>
                  <a:t>,name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331" y="3575372"/>
                <a:ext cx="1610285" cy="587441"/>
              </a:xfrm>
              <a:prstGeom prst="rect">
                <a:avLst/>
              </a:prstGeom>
              <a:blipFill>
                <a:blip r:embed="rId8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4186958" y="3575372"/>
                <a:ext cx="963698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aseline="-25000" dirty="0">
                    <a:solidFill>
                      <a:schemeClr val="tx1"/>
                    </a:solidFill>
                  </a:rPr>
                  <a:t>depart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958" y="3575372"/>
                <a:ext cx="963698" cy="587441"/>
              </a:xfrm>
              <a:prstGeom prst="rect">
                <a:avLst/>
              </a:prstGeom>
              <a:blipFill>
                <a:blip r:embed="rId9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/>
          <p:nvPr/>
        </p:nvCxnSpPr>
        <p:spPr>
          <a:xfrm>
            <a:off x="4645884" y="4162813"/>
            <a:ext cx="0" cy="602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4646518" y="4175354"/>
            <a:ext cx="0" cy="351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46947" y="5518974"/>
            <a:ext cx="1593706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Selection using</a:t>
            </a:r>
            <a:br>
              <a:rPr lang="en-US" dirty="0"/>
            </a:br>
            <a:r>
              <a:rPr lang="en-US" dirty="0"/>
              <a:t>index on city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72806" y="1896885"/>
            <a:ext cx="3083664" cy="10838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Assumption:</a:t>
            </a:r>
          </a:p>
          <a:p>
            <a:pPr marL="285750" indent="-285750">
              <a:spcBef>
                <a:spcPts val="600"/>
              </a:spcBef>
              <a:buFont typeface="Arial" charset="0"/>
              <a:buChar char="•"/>
            </a:pPr>
            <a:r>
              <a:rPr lang="en-US" dirty="0"/>
              <a:t>Stores has index on </a:t>
            </a:r>
            <a:r>
              <a:rPr lang="en-US" b="1" dirty="0"/>
              <a:t>city</a:t>
            </a:r>
            <a:endParaRPr lang="en-US" dirty="0"/>
          </a:p>
          <a:p>
            <a:pPr marL="285750" indent="-285750">
              <a:spcBef>
                <a:spcPts val="600"/>
              </a:spcBef>
              <a:buFont typeface="Arial" charset="0"/>
              <a:buChar char="•"/>
            </a:pPr>
            <a:r>
              <a:rPr lang="en-US" b="1" dirty="0"/>
              <a:t>depart </a:t>
            </a:r>
            <a:r>
              <a:rPr lang="en-US" dirty="0"/>
              <a:t>is a key of Stores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3740654" y="5709695"/>
            <a:ext cx="278501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146948" y="3684425"/>
            <a:ext cx="114274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Projection</a:t>
            </a:r>
          </a:p>
        </p:txBody>
      </p:sp>
      <p:cxnSp>
        <p:nvCxnSpPr>
          <p:cNvPr id="65" name="Straight Connector 64"/>
          <p:cNvCxnSpPr>
            <a:stCxn id="64" idx="3"/>
            <a:endCxn id="47" idx="1"/>
          </p:cNvCxnSpPr>
          <p:nvPr/>
        </p:nvCxnSpPr>
        <p:spPr>
          <a:xfrm>
            <a:off x="3289697" y="3869091"/>
            <a:ext cx="897261" cy="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261419" y="2627332"/>
            <a:ext cx="244226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Sort join (left leaf outer)</a:t>
            </a:r>
          </a:p>
        </p:txBody>
      </p:sp>
      <p:cxnSp>
        <p:nvCxnSpPr>
          <p:cNvPr id="75" name="Straight Connector 74"/>
          <p:cNvCxnSpPr>
            <a:cxnSpLocks/>
            <a:stCxn id="74" idx="3"/>
            <a:endCxn id="15" idx="1"/>
          </p:cNvCxnSpPr>
          <p:nvPr/>
        </p:nvCxnSpPr>
        <p:spPr>
          <a:xfrm>
            <a:off x="4703681" y="2811998"/>
            <a:ext cx="278338" cy="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555527" y="1779614"/>
            <a:ext cx="114274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Projection</a:t>
            </a:r>
            <a:endParaRPr lang="en-US" dirty="0"/>
          </a:p>
        </p:txBody>
      </p:sp>
      <p:cxnSp>
        <p:nvCxnSpPr>
          <p:cNvPr id="82" name="Straight Connector 81"/>
          <p:cNvCxnSpPr>
            <a:cxnSpLocks/>
            <a:stCxn id="81" idx="3"/>
          </p:cNvCxnSpPr>
          <p:nvPr/>
        </p:nvCxnSpPr>
        <p:spPr>
          <a:xfrm>
            <a:off x="4698276" y="1964280"/>
            <a:ext cx="378835" cy="3482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783500" y="4664866"/>
            <a:ext cx="1712108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sort on depart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91" name="Straight Arrow Connector 90"/>
          <p:cNvCxnSpPr>
            <a:cxnSpLocks/>
          </p:cNvCxnSpPr>
          <p:nvPr/>
        </p:nvCxnSpPr>
        <p:spPr>
          <a:xfrm>
            <a:off x="4640188" y="4862878"/>
            <a:ext cx="0" cy="235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983200" y="3137499"/>
            <a:ext cx="93647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Pipeline</a:t>
            </a:r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6203486" y="4520313"/>
            <a:ext cx="1345342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Employees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95" name="Straight Arrow Connector 94"/>
          <p:cNvCxnSpPr/>
          <p:nvPr/>
        </p:nvCxnSpPr>
        <p:spPr>
          <a:xfrm>
            <a:off x="6876156" y="4250723"/>
            <a:ext cx="0" cy="351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943998" y="4538755"/>
            <a:ext cx="1864329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sort on </a:t>
            </a:r>
            <a:r>
              <a:rPr lang="en-US" sz="2000" dirty="0" err="1">
                <a:solidFill>
                  <a:schemeClr val="tx1"/>
                </a:solidFill>
              </a:rPr>
              <a:t>worksAt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97" name="Straight Arrow Connector 96"/>
          <p:cNvCxnSpPr/>
          <p:nvPr/>
        </p:nvCxnSpPr>
        <p:spPr>
          <a:xfrm>
            <a:off x="6871096" y="4248995"/>
            <a:ext cx="0" cy="351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7063826" y="4224147"/>
            <a:ext cx="93647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Pipeline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8069F2-65C6-49A5-91A8-7AC150A4D33C}"/>
              </a:ext>
            </a:extLst>
          </p:cNvPr>
          <p:cNvSpPr txBox="1"/>
          <p:nvPr/>
        </p:nvSpPr>
        <p:spPr>
          <a:xfrm>
            <a:off x="5934621" y="2213361"/>
            <a:ext cx="93647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Pipeline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269D0D-D29C-4981-8F88-8690FB96FC6E}"/>
              </a:ext>
            </a:extLst>
          </p:cNvPr>
          <p:cNvSpPr txBox="1"/>
          <p:nvPr/>
        </p:nvSpPr>
        <p:spPr>
          <a:xfrm>
            <a:off x="3626277" y="4214419"/>
            <a:ext cx="93647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Pipeline</a:t>
            </a:r>
          </a:p>
        </p:txBody>
      </p:sp>
      <p:sp>
        <p:nvSpPr>
          <p:cNvPr id="14" name="Rounded Rectangular Callout 6">
            <a:extLst>
              <a:ext uri="{FF2B5EF4-FFF2-40B4-BE49-F238E27FC236}">
                <a16:creationId xmlns:a16="http://schemas.microsoft.com/office/drawing/2014/main" id="{17A06BFF-2DD3-4A5A-813D-4C58EC35FA28}"/>
              </a:ext>
            </a:extLst>
          </p:cNvPr>
          <p:cNvSpPr/>
          <p:nvPr/>
        </p:nvSpPr>
        <p:spPr>
          <a:xfrm>
            <a:off x="7962175" y="4873247"/>
            <a:ext cx="2320370" cy="1020632"/>
          </a:xfrm>
          <a:prstGeom prst="wedgeRoundRectCallout">
            <a:avLst>
              <a:gd name="adj1" fmla="val -88656"/>
              <a:gd name="adj2" fmla="val -2491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Can’t do pipelines on sort, due to requiring multiple scans</a:t>
            </a:r>
            <a:endParaRPr lang="en-US" dirty="0"/>
          </a:p>
        </p:txBody>
      </p:sp>
      <p:sp>
        <p:nvSpPr>
          <p:cNvPr id="17" name="Rounded Rectangular Callout 6">
            <a:extLst>
              <a:ext uri="{FF2B5EF4-FFF2-40B4-BE49-F238E27FC236}">
                <a16:creationId xmlns:a16="http://schemas.microsoft.com/office/drawing/2014/main" id="{975248C1-14D5-4DD5-B050-9244740B853E}"/>
              </a:ext>
            </a:extLst>
          </p:cNvPr>
          <p:cNvSpPr/>
          <p:nvPr/>
        </p:nvSpPr>
        <p:spPr>
          <a:xfrm>
            <a:off x="8187970" y="2980753"/>
            <a:ext cx="3863731" cy="1808191"/>
          </a:xfrm>
          <a:prstGeom prst="wedgeRoundRectCallout">
            <a:avLst>
              <a:gd name="adj1" fmla="val -69989"/>
              <a:gd name="adj2" fmla="val -2982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Can’t always do this pipeline here – depends on the amount of overlap</a:t>
            </a:r>
          </a:p>
          <a:p>
            <a:pPr algn="ctr"/>
            <a:r>
              <a:rPr lang="en-GB" dirty="0"/>
              <a:t>Since depart is key of stores it is fine here (we can always do it on the left, due to it being the outer one here)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CB4108-6C0E-4531-B544-40EA5DD840DC}"/>
              </a:ext>
            </a:extLst>
          </p:cNvPr>
          <p:cNvSpPr txBox="1"/>
          <p:nvPr/>
        </p:nvSpPr>
        <p:spPr>
          <a:xfrm>
            <a:off x="6680297" y="3119858"/>
            <a:ext cx="93647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Pipeline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E34248-E7B3-4F47-A30D-BD06071807BE}"/>
              </a:ext>
            </a:extLst>
          </p:cNvPr>
          <p:cNvSpPr txBox="1"/>
          <p:nvPr/>
        </p:nvSpPr>
        <p:spPr>
          <a:xfrm>
            <a:off x="4982019" y="4209137"/>
            <a:ext cx="114274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Projection</a:t>
            </a:r>
            <a:endParaRPr lang="en-US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02C70B0-FAD7-4155-85F0-AA91E68F7464}"/>
              </a:ext>
            </a:extLst>
          </p:cNvPr>
          <p:cNvCxnSpPr>
            <a:cxnSpLocks/>
            <a:stCxn id="50" idx="3"/>
          </p:cNvCxnSpPr>
          <p:nvPr/>
        </p:nvCxnSpPr>
        <p:spPr>
          <a:xfrm flipV="1">
            <a:off x="6124768" y="4078359"/>
            <a:ext cx="347993" cy="315444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B9E7CA7-F892-41CE-9FFD-D53375377FA3}"/>
              </a:ext>
            </a:extLst>
          </p:cNvPr>
          <p:cNvSpPr txBox="1"/>
          <p:nvPr/>
        </p:nvSpPr>
        <p:spPr>
          <a:xfrm>
            <a:off x="5159525" y="5804424"/>
            <a:ext cx="93647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Pipeline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649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78 0.12778 " pathEditMode="relative" ptsTypes="AA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78 0.12778 " pathEditMode="relative" ptsTypes="AA">
                                      <p:cBhvr>
                                        <p:cTn id="1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78 0.12778 " pathEditMode="relative" ptsTypes="AA">
                                      <p:cBhvr>
                                        <p:cTn id="1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78 0.12778 " pathEditMode="relative" ptsTypes="AA">
                                      <p:cBhvr>
                                        <p:cTn id="18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78 0.11181 " pathEditMode="relative" ptsTypes="AA">
                                      <p:cBhvr>
                                        <p:cTn id="33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78 0.11181 " pathEditMode="relative" ptsTypes="AA">
                                      <p:cBhvr>
                                        <p:cTn id="35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  <p:bldP spid="9" grpId="0" animBg="1"/>
      <p:bldP spid="64" grpId="0" animBg="1"/>
      <p:bldP spid="74" grpId="0" animBg="1"/>
      <p:bldP spid="81" grpId="0" animBg="1"/>
      <p:bldP spid="90" grpId="0"/>
      <p:bldP spid="93" grpId="0" animBg="1"/>
      <p:bldP spid="94" grpId="0"/>
      <p:bldP spid="96" grpId="0"/>
      <p:bldP spid="98" grpId="0" animBg="1"/>
      <p:bldP spid="10" grpId="0" animBg="1"/>
      <p:bldP spid="13" grpId="0" animBg="1"/>
      <p:bldP spid="14" grpId="0" animBg="1"/>
      <p:bldP spid="17" grpId="0" animBg="1"/>
      <p:bldP spid="19" grpId="0" animBg="1"/>
      <p:bldP spid="50" grpId="0" animBg="1"/>
      <p:bldP spid="6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A16D-D9AF-4BC9-8645-4668BC75C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DD643-1366-476C-8AAB-59E827B1F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part, we have seen how to go from a SQL query to how exactly we are going to solve it!</a:t>
            </a:r>
          </a:p>
          <a:p>
            <a:r>
              <a:rPr lang="en-US" dirty="0"/>
              <a:t>Specifically, in this video, we saw how to go from a </a:t>
            </a:r>
            <a:r>
              <a:rPr lang="en-US" dirty="0" err="1"/>
              <a:t>optimised</a:t>
            </a:r>
            <a:r>
              <a:rPr lang="en-US" dirty="0"/>
              <a:t> logical query plan to a physical ditto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B0794-3A97-4F73-A9F7-29B35C318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364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|23.7|20|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7|10.6|12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|8.3|15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6|4.8|28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6|23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24.1|22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5|36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1|26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8|36.7|3.9|16.7|10.2|11.9|7|30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256</TotalTime>
  <Words>1017</Words>
  <Application>Microsoft Office PowerPoint</Application>
  <PresentationFormat>Widescreen</PresentationFormat>
  <Paragraphs>196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Retrospect</vt:lpstr>
      <vt:lpstr>Physical query plans</vt:lpstr>
      <vt:lpstr>Overview of this video</vt:lpstr>
      <vt:lpstr>What is the purpose of a physical query plan? </vt:lpstr>
      <vt:lpstr>From Logical Plans To Physical Plans</vt:lpstr>
      <vt:lpstr>Estimating the Cost of Execution</vt:lpstr>
      <vt:lpstr>Estimating Intermediate Result Sizes</vt:lpstr>
      <vt:lpstr>Estimating the Size of a Selection</vt:lpstr>
      <vt:lpstr>Example</vt:lpstr>
      <vt:lpstr>Joins</vt:lpstr>
      <vt:lpstr>Other Issues</vt:lpstr>
      <vt:lpstr>Example where join order matters</vt:lpstr>
      <vt:lpstr>Example where join order matters</vt:lpstr>
      <vt:lpstr>Other Issues</vt:lpstr>
      <vt:lpstr>Passing Information</vt:lpstr>
      <vt:lpstr>From Logical to Physical Query Plan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Rasmus Ibsen-Jensen</dc:creator>
  <cp:lastModifiedBy>Rasmus Ibsen-Jensen</cp:lastModifiedBy>
  <cp:revision>12</cp:revision>
  <dcterms:created xsi:type="dcterms:W3CDTF">2020-11-14T16:57:36Z</dcterms:created>
  <dcterms:modified xsi:type="dcterms:W3CDTF">2020-11-17T12:08:14Z</dcterms:modified>
</cp:coreProperties>
</file>