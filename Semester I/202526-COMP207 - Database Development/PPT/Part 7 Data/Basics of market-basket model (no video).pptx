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77" r:id="rId3"/>
    <p:sldId id="473" r:id="rId4"/>
    <p:sldId id="474" r:id="rId5"/>
    <p:sldId id="475" r:id="rId6"/>
    <p:sldId id="456" r:id="rId7"/>
    <p:sldId id="461" r:id="rId8"/>
    <p:sldId id="476" r:id="rId9"/>
    <p:sldId id="422" r:id="rId10"/>
    <p:sldId id="4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63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61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8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13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523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63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72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9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53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43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089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9CF873F-A82A-4644-94B1-4EFB8887431E}" type="datetimeFigureOut">
              <a:rPr lang="en-GB" smtClean="0"/>
              <a:t>05/01/2021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5B9778-D23C-455F-BC12-D24688B52115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0.png"/><Relationship Id="rId5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99A-A30A-4DD9-B2D2-DAA372670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 of </a:t>
            </a:r>
            <a:br>
              <a:rPr lang="en-US" dirty="0"/>
            </a:br>
            <a:r>
              <a:rPr lang="en-US" dirty="0"/>
              <a:t>market-basket model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A0EBD-AE3D-4CD6-8183-054A6D2C88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19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5775-8A07-4783-969B-66B7B1FC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63A9-75D3-4D4C-A857-1EB5F2C7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we start on the main way we are going to do data-mining, namely using the market-basket model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E5B0D-2623-4BFA-A654-3D9AE09C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881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Market-Basket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Data that can be described by:</a:t>
                </a:r>
              </a:p>
              <a:p>
                <a:pPr lvl="1"/>
                <a:r>
                  <a:rPr lang="en-GB" dirty="0"/>
                  <a:t>A set of </a:t>
                </a:r>
                <a:r>
                  <a:rPr lang="en-GB" b="1" dirty="0"/>
                  <a:t>items </a:t>
                </a:r>
                <a:r>
                  <a:rPr lang="en-GB" b="1" i="1" dirty="0"/>
                  <a:t>I</a:t>
                </a:r>
                <a:endParaRPr lang="en-GB" dirty="0"/>
              </a:p>
              <a:p>
                <a:pPr lvl="1"/>
                <a:r>
                  <a:rPr lang="en-GB" dirty="0"/>
                  <a:t>A set of </a:t>
                </a:r>
                <a:r>
                  <a:rPr lang="en-GB" b="1" dirty="0"/>
                  <a:t>baskets </a:t>
                </a:r>
                <a:r>
                  <a:rPr lang="en-GB" b="1" i="1" dirty="0"/>
                  <a:t>B</a:t>
                </a:r>
                <a:r>
                  <a:rPr lang="en-GB" dirty="0"/>
                  <a:t>: each basket </a:t>
                </a:r>
                <a:r>
                  <a:rPr lang="en-GB" b="1" i="1" dirty="0"/>
                  <a:t>b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</m:oMath>
                </a14:m>
                <a:r>
                  <a:rPr lang="en-GB" dirty="0"/>
                  <a:t> </a:t>
                </a:r>
                <a:r>
                  <a:rPr lang="en-GB" b="1" i="1" dirty="0"/>
                  <a:t>B</a:t>
                </a:r>
                <a:r>
                  <a:rPr lang="en-GB" dirty="0"/>
                  <a:t> is a subset of </a:t>
                </a:r>
                <a:r>
                  <a:rPr lang="en-GB" b="1" i="1" dirty="0"/>
                  <a:t>I</a:t>
                </a:r>
              </a:p>
              <a:p>
                <a:r>
                  <a:rPr lang="en-GB" dirty="0"/>
                  <a:t>Example: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3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44526"/>
              </p:ext>
            </p:extLst>
          </p:nvPr>
        </p:nvGraphicFramePr>
        <p:xfrm>
          <a:off x="2351584" y="3349995"/>
          <a:ext cx="4896544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51584" y="5340649"/>
            <a:ext cx="5601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I</a:t>
            </a:r>
            <a:r>
              <a:rPr lang="en-US" sz="2400" dirty="0"/>
              <a:t> = {bread, coffee, cookies, eggs, juice, milk}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5390" y="5754044"/>
            <a:ext cx="2343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B</a:t>
            </a:r>
            <a:r>
              <a:rPr lang="en-US" sz="2400" dirty="0"/>
              <a:t> = {</a:t>
            </a:r>
            <a:r>
              <a:rPr lang="en-US" sz="2400" i="1" dirty="0"/>
              <a:t>b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2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3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4</a:t>
            </a:r>
            <a:r>
              <a:rPr lang="en-US" sz="2400" dirty="0"/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4497" y="3657871"/>
            <a:ext cx="316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= {milk, bread, </a:t>
            </a:r>
            <a:r>
              <a:rPr lang="en-GB" dirty="0"/>
              <a:t>cookies, juice</a:t>
            </a:r>
            <a:r>
              <a:rPr lang="en-US" dirty="0"/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498" y="4015708"/>
            <a:ext cx="1697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b</a:t>
            </a:r>
            <a:r>
              <a:rPr lang="en-US" baseline="-25000" dirty="0"/>
              <a:t>2</a:t>
            </a:r>
            <a:r>
              <a:rPr lang="en-US" dirty="0"/>
              <a:t> = {milk, juice}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4498" y="4382937"/>
            <a:ext cx="2334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b</a:t>
            </a:r>
            <a:r>
              <a:rPr lang="en-US" baseline="-25000" dirty="0"/>
              <a:t>3</a:t>
            </a:r>
            <a:r>
              <a:rPr lang="en-US" dirty="0"/>
              <a:t> = {milk, bread, eggs}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497" y="4730092"/>
            <a:ext cx="2802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b</a:t>
            </a:r>
            <a:r>
              <a:rPr lang="en-US" baseline="-25000" dirty="0"/>
              <a:t>4</a:t>
            </a:r>
            <a:r>
              <a:rPr lang="en-US" dirty="0"/>
              <a:t> = {bread, cookies, coffee}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16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289953"/>
            <a:ext cx="8229600" cy="2158299"/>
          </a:xfrm>
        </p:spPr>
        <p:txBody>
          <a:bodyPr>
            <a:normAutofit/>
          </a:bodyPr>
          <a:lstStyle/>
          <a:p>
            <a:r>
              <a:rPr lang="en-US" sz="2400" i="1" dirty="0"/>
              <a:t>I</a:t>
            </a:r>
            <a:r>
              <a:rPr lang="en-US" sz="2400" dirty="0"/>
              <a:t> = {Anna, Ben, Chloe, Dave, Emma, Fred, Gwen, Henry}</a:t>
            </a:r>
          </a:p>
          <a:p>
            <a:r>
              <a:rPr lang="en-US" sz="2400" i="1" dirty="0"/>
              <a:t>B</a:t>
            </a:r>
            <a:r>
              <a:rPr lang="en-US" sz="2400" dirty="0"/>
              <a:t> = {</a:t>
            </a:r>
            <a:r>
              <a:rPr lang="en-US" sz="2400" i="1" dirty="0"/>
              <a:t>b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2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3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4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5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baseline="-25000" dirty="0"/>
              <a:t>6</a:t>
            </a:r>
            <a:r>
              <a:rPr lang="en-US" sz="2400" dirty="0"/>
              <a:t>}</a:t>
            </a:r>
          </a:p>
          <a:p>
            <a:pPr lvl="1"/>
            <a:r>
              <a:rPr lang="en-US" sz="2000" i="1" dirty="0"/>
              <a:t>b</a:t>
            </a:r>
            <a:r>
              <a:rPr lang="en-US" sz="2000" baseline="-25000" dirty="0"/>
              <a:t>1</a:t>
            </a:r>
            <a:r>
              <a:rPr lang="en-US" sz="2000" dirty="0"/>
              <a:t> = {Anna, Chloe, Dave, Emma, Fred, Henry}</a:t>
            </a:r>
          </a:p>
          <a:p>
            <a:pPr lvl="1"/>
            <a:r>
              <a:rPr lang="en-US" sz="2000" i="1" dirty="0"/>
              <a:t>b</a:t>
            </a:r>
            <a:r>
              <a:rPr lang="en-US" sz="2000" baseline="-25000" dirty="0"/>
              <a:t>2</a:t>
            </a:r>
            <a:r>
              <a:rPr lang="en-US" sz="2000" dirty="0"/>
              <a:t> = {Anna, Dave, Emma, Gwen, Henry}</a:t>
            </a:r>
          </a:p>
          <a:p>
            <a:pPr lvl="1"/>
            <a:r>
              <a:rPr lang="mr-IN" sz="2000" dirty="0"/>
              <a:t>…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490583"/>
              </p:ext>
            </p:extLst>
          </p:nvPr>
        </p:nvGraphicFramePr>
        <p:xfrm>
          <a:off x="2706452" y="1842420"/>
          <a:ext cx="6779096" cy="2436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242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Films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Liked</a:t>
                      </a:r>
                      <a:r>
                        <a:rPr lang="en-US" sz="2000" baseline="0" dirty="0"/>
                        <a:t> by</a:t>
                      </a:r>
                      <a:r>
                        <a:rPr lang="mr-IN" sz="2000" baseline="0" dirty="0"/>
                        <a:t>…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Identity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Chloe, Dave, Emma, Fred,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Supremacy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Dave, Emma, Gwen,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Ultimatum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Emma, Fred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Harry</a:t>
                      </a:r>
                      <a:r>
                        <a:rPr lang="en-US" sz="2000" baseline="0" dirty="0"/>
                        <a:t> Potter 1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Chloe, Dave, Emma, Gwen,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sz="2000" dirty="0"/>
                        <a:t>Harry</a:t>
                      </a:r>
                      <a:r>
                        <a:rPr lang="en-GB" sz="2000" baseline="0" dirty="0"/>
                        <a:t> Potter 2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Dave, Gwen,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Harry</a:t>
                      </a:r>
                      <a:r>
                        <a:rPr lang="en-US" sz="2000" baseline="0" dirty="0"/>
                        <a:t> Potter 3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0455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Frequent-Itemset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159"/>
          </a:xfrm>
        </p:spPr>
        <p:txBody>
          <a:bodyPr>
            <a:normAutofit/>
          </a:bodyPr>
          <a:lstStyle/>
          <a:p>
            <a:r>
              <a:rPr lang="en-US" dirty="0"/>
              <a:t>Given: </a:t>
            </a:r>
          </a:p>
          <a:p>
            <a:pPr lvl="1"/>
            <a:r>
              <a:rPr lang="en-GB" dirty="0"/>
              <a:t>Set of items </a:t>
            </a:r>
            <a:r>
              <a:rPr lang="en-GB" b="1" i="1" dirty="0"/>
              <a:t>I</a:t>
            </a:r>
            <a:endParaRPr lang="en-GB" dirty="0"/>
          </a:p>
          <a:p>
            <a:pPr lvl="1"/>
            <a:r>
              <a:rPr lang="en-GB" dirty="0"/>
              <a:t>Set of baskets </a:t>
            </a:r>
            <a:r>
              <a:rPr lang="en-GB" b="1" i="1" dirty="0"/>
              <a:t>B</a:t>
            </a:r>
          </a:p>
          <a:p>
            <a:pPr>
              <a:spcBef>
                <a:spcPts val="3072"/>
              </a:spcBef>
            </a:pPr>
            <a:r>
              <a:rPr lang="en-GB" dirty="0"/>
              <a:t>Basic problem: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672"/>
              </a:spcBef>
            </a:pPr>
            <a:endParaRPr lang="en-GB" dirty="0"/>
          </a:p>
          <a:p>
            <a:pPr>
              <a:spcBef>
                <a:spcPts val="672"/>
              </a:spcBef>
            </a:pPr>
            <a:r>
              <a:rPr lang="en-GB" dirty="0"/>
              <a:t>How frequent is “frequently”?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810610" y="3921218"/>
            <a:ext cx="664214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Which items occur frequently together in a basket?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6443" y="4707136"/>
            <a:ext cx="549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“Diapers and beer are frequently bought together.”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330" y="5192111"/>
            <a:ext cx="8412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“Harry Potter 1 and Game of Thrones are frequently liked by the same viewers.”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818318"/>
              </p:ext>
            </p:extLst>
          </p:nvPr>
        </p:nvGraphicFramePr>
        <p:xfrm>
          <a:off x="5640700" y="1929004"/>
          <a:ext cx="4073644" cy="1587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3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Purchase </a:t>
                      </a:r>
                      <a:r>
                        <a:rPr lang="en-US" sz="1800" baseline="0" dirty="0"/>
                        <a:t>ID</a:t>
                      </a:r>
                      <a:endParaRPr lang="en-US" sz="18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Items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</a:t>
                      </a:r>
                      <a:r>
                        <a:rPr lang="en-US" sz="1800" baseline="0" dirty="0"/>
                        <a:t> cookies, juice</a:t>
                      </a:r>
                      <a:endParaRPr lang="en-US" sz="18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8746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of an Itemset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Given: </a:t>
            </a:r>
            <a:r>
              <a:rPr lang="en-GB" dirty="0"/>
              <a:t>set of items </a:t>
            </a:r>
            <a:r>
              <a:rPr lang="en-GB" b="1" i="1" dirty="0"/>
              <a:t>I</a:t>
            </a:r>
            <a:r>
              <a:rPr lang="en-GB" dirty="0"/>
              <a:t> and set of baskets </a:t>
            </a:r>
            <a:r>
              <a:rPr lang="en-GB" b="1" i="1" dirty="0"/>
              <a:t>B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>
              <a:spcBef>
                <a:spcPts val="4272"/>
              </a:spcBef>
            </a:pPr>
            <a:r>
              <a:rPr lang="en-US" b="1" dirty="0"/>
              <a:t>Support</a:t>
            </a:r>
            <a:r>
              <a:rPr lang="en-US" dirty="0"/>
              <a:t> of a subset </a:t>
            </a:r>
            <a:r>
              <a:rPr lang="en-US" b="1" i="1" dirty="0"/>
              <a:t>J</a:t>
            </a:r>
            <a:r>
              <a:rPr lang="en-US" dirty="0"/>
              <a:t> of </a:t>
            </a:r>
            <a:r>
              <a:rPr lang="en-US" b="1" i="1" dirty="0"/>
              <a:t>I</a:t>
            </a:r>
            <a:r>
              <a:rPr lang="en-US" dirty="0"/>
              <a:t> = frequency with which </a:t>
            </a:r>
            <a:br>
              <a:rPr lang="en-US" dirty="0"/>
            </a:br>
            <a:r>
              <a:rPr lang="en-US" dirty="0"/>
              <a:t>the items in </a:t>
            </a:r>
            <a:r>
              <a:rPr lang="en-US" b="1" i="1" dirty="0"/>
              <a:t>J</a:t>
            </a:r>
            <a:r>
              <a:rPr lang="en-US" dirty="0"/>
              <a:t> occur together in a basket in </a:t>
            </a:r>
            <a:r>
              <a:rPr lang="en-US" b="1" i="1" dirty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02951" y="5251647"/>
                <a:ext cx="5586099" cy="94867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80000" tIns="180000" rIns="180000" bIns="180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baskets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 i="1">
                              <a:latin typeface="Cambria Math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containing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items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 i="1">
                              <a:latin typeface="Cambria Math" charset="0"/>
                            </a:rPr>
                            <m:t>J</m:t>
                          </m:r>
                          <m:r>
                            <a:rPr lang="en-GB" sz="2000" i="1">
                              <a:latin typeface="Cambria Math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baskets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 b="1" i="1">
                              <a:latin typeface="Cambria Math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951" y="5251647"/>
                <a:ext cx="5586099" cy="948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428915"/>
              </p:ext>
            </p:extLst>
          </p:nvPr>
        </p:nvGraphicFramePr>
        <p:xfrm>
          <a:off x="3302951" y="2328051"/>
          <a:ext cx="4073644" cy="1587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3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20">
                <a:tc>
                  <a:txBody>
                    <a:bodyPr/>
                    <a:lstStyle/>
                    <a:p>
                      <a:r>
                        <a:rPr lang="en-US" sz="1800" dirty="0"/>
                        <a:t>Purchase </a:t>
                      </a:r>
                      <a:r>
                        <a:rPr lang="en-US" sz="1800" baseline="0" dirty="0"/>
                        <a:t>ID</a:t>
                      </a:r>
                      <a:endParaRPr lang="en-US" sz="18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Items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</a:t>
                      </a:r>
                      <a:r>
                        <a:rPr lang="en-US" sz="1800" baseline="0" dirty="0"/>
                        <a:t> cookies, juice</a:t>
                      </a:r>
                      <a:endParaRPr lang="en-US" sz="18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096">
                <a:tc>
                  <a:txBody>
                    <a:bodyPr/>
                    <a:lstStyle/>
                    <a:p>
                      <a:r>
                        <a:rPr lang="en-US" sz="18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ular Callout 11"/>
              <p:cNvSpPr/>
              <p:nvPr/>
            </p:nvSpPr>
            <p:spPr>
              <a:xfrm>
                <a:off x="7768098" y="2182598"/>
                <a:ext cx="2648382" cy="803420"/>
              </a:xfrm>
              <a:prstGeom prst="wedgeRoundRectCallout">
                <a:avLst>
                  <a:gd name="adj1" fmla="val -58264"/>
                  <a:gd name="adj2" fmla="val 23140"/>
                  <a:gd name="adj3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Support of {milk, juice}: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0.5</a:t>
                </a:r>
              </a:p>
            </p:txBody>
          </p:sp>
        </mc:Choice>
        <mc:Fallback xmlns="">
          <p:sp>
            <p:nvSpPr>
              <p:cNvPr id="12" name="Rounded 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098" y="2182598"/>
                <a:ext cx="2648382" cy="803420"/>
              </a:xfrm>
              <a:prstGeom prst="wedgeRoundRectCallout">
                <a:avLst>
                  <a:gd name="adj1" fmla="val -58264"/>
                  <a:gd name="adj2" fmla="val 23140"/>
                  <a:gd name="adj3" fmla="val 16667"/>
                </a:avLst>
              </a:prstGeom>
              <a:blipFill>
                <a:blip r:embed="rId6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ular Callout 12"/>
              <p:cNvSpPr/>
              <p:nvPr/>
            </p:nvSpPr>
            <p:spPr>
              <a:xfrm>
                <a:off x="7768099" y="3121851"/>
                <a:ext cx="2629369" cy="803420"/>
              </a:xfrm>
              <a:prstGeom prst="wedgeRoundRectCallout">
                <a:avLst>
                  <a:gd name="adj1" fmla="val -57494"/>
                  <a:gd name="adj2" fmla="val -27036"/>
                  <a:gd name="adj3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Support of {bread, juice}: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0.25</a:t>
                </a:r>
              </a:p>
            </p:txBody>
          </p:sp>
        </mc:Choice>
        <mc:Fallback xmlns="">
          <p:sp>
            <p:nvSpPr>
              <p:cNvPr id="13" name="Rounded Rectangular Callou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099" y="3121851"/>
                <a:ext cx="2629369" cy="803420"/>
              </a:xfrm>
              <a:prstGeom prst="wedgeRoundRectCallout">
                <a:avLst>
                  <a:gd name="adj1" fmla="val -57494"/>
                  <a:gd name="adj2" fmla="val -27036"/>
                  <a:gd name="adj3" fmla="val 16667"/>
                </a:avLst>
              </a:prstGeom>
              <a:blipFill>
                <a:blip r:embed="rId7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3468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</a:t>
            </a:r>
            <a:r>
              <a:rPr lang="en-US" dirty="0" err="1"/>
              <a:t>Itemsets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Given: </a:t>
            </a:r>
            <a:r>
              <a:rPr lang="en-GB" dirty="0"/>
              <a:t>set of items </a:t>
            </a:r>
            <a:r>
              <a:rPr lang="en-GB" b="1" i="1" dirty="0"/>
              <a:t>I</a:t>
            </a:r>
            <a:r>
              <a:rPr lang="en-GB" dirty="0"/>
              <a:t> and set of baskets </a:t>
            </a:r>
            <a:r>
              <a:rPr lang="en-GB" b="1" i="1" dirty="0"/>
              <a:t>B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>
              <a:spcBef>
                <a:spcPts val="3072"/>
              </a:spcBef>
            </a:pPr>
            <a:r>
              <a:rPr lang="en-US" dirty="0"/>
              <a:t>A subset </a:t>
            </a:r>
            <a:r>
              <a:rPr lang="en-US" b="1" i="1" dirty="0"/>
              <a:t>J</a:t>
            </a:r>
            <a:r>
              <a:rPr lang="en-US" dirty="0"/>
              <a:t> of </a:t>
            </a:r>
            <a:r>
              <a:rPr lang="en-US" b="1" i="1" dirty="0"/>
              <a:t>I</a:t>
            </a:r>
            <a:r>
              <a:rPr lang="en-US" dirty="0"/>
              <a:t> is </a:t>
            </a:r>
            <a:r>
              <a:rPr lang="en-US" b="1" dirty="0"/>
              <a:t>frequent</a:t>
            </a:r>
            <a:r>
              <a:rPr lang="en-US" dirty="0"/>
              <a:t> if its support is at least </a:t>
            </a:r>
            <a:r>
              <a:rPr lang="en-US" b="1" i="1" dirty="0"/>
              <a:t>s</a:t>
            </a:r>
            <a:r>
              <a:rPr lang="en-US" dirty="0"/>
              <a:t>.</a:t>
            </a:r>
          </a:p>
          <a:p>
            <a:pPr lvl="1">
              <a:spcBef>
                <a:spcPts val="672"/>
              </a:spcBef>
            </a:pPr>
            <a:r>
              <a:rPr lang="en-US" b="1" i="1" dirty="0"/>
              <a:t>s</a:t>
            </a:r>
            <a:r>
              <a:rPr lang="en-US" dirty="0"/>
              <a:t>: </a:t>
            </a:r>
            <a:r>
              <a:rPr lang="en-US" b="1" dirty="0"/>
              <a:t>support threshold </a:t>
            </a:r>
            <a:r>
              <a:rPr lang="en-US" dirty="0"/>
              <a:t>(specified by user)</a:t>
            </a:r>
          </a:p>
          <a:p>
            <a:r>
              <a:rPr lang="en-US" dirty="0"/>
              <a:t>Example (s = 0.5)</a:t>
            </a:r>
          </a:p>
          <a:p>
            <a:pPr lvl="1"/>
            <a:r>
              <a:rPr lang="en-US" dirty="0"/>
              <a:t>{milk, juice} is frequent </a:t>
            </a:r>
          </a:p>
          <a:p>
            <a:pPr lvl="1"/>
            <a:r>
              <a:rPr lang="en-US" dirty="0"/>
              <a:t>{bread, juice} is not frequent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5E2FFE-B57D-4CF2-82C7-67D50BB3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25111"/>
              </p:ext>
            </p:extLst>
          </p:nvPr>
        </p:nvGraphicFramePr>
        <p:xfrm>
          <a:off x="3302951" y="2328051"/>
          <a:ext cx="4073644" cy="1587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3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20">
                <a:tc>
                  <a:txBody>
                    <a:bodyPr/>
                    <a:lstStyle/>
                    <a:p>
                      <a:r>
                        <a:rPr lang="en-US" sz="1800" dirty="0"/>
                        <a:t>Purchase </a:t>
                      </a:r>
                      <a:r>
                        <a:rPr lang="en-US" sz="1800" baseline="0" dirty="0"/>
                        <a:t>ID</a:t>
                      </a:r>
                      <a:endParaRPr lang="en-US" sz="18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Items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</a:t>
                      </a:r>
                      <a:r>
                        <a:rPr lang="en-US" sz="1800" baseline="0" dirty="0"/>
                        <a:t> cookies, juice</a:t>
                      </a:r>
                      <a:endParaRPr lang="en-US" sz="18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096">
                <a:tc>
                  <a:txBody>
                    <a:bodyPr/>
                    <a:lstStyle/>
                    <a:p>
                      <a:r>
                        <a:rPr lang="en-US" sz="18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ular Callout 11">
                <a:extLst>
                  <a:ext uri="{FF2B5EF4-FFF2-40B4-BE49-F238E27FC236}">
                    <a16:creationId xmlns:a16="http://schemas.microsoft.com/office/drawing/2014/main" id="{BA63890E-4B8F-4A3B-A73B-7B89E0FB8ADE}"/>
                  </a:ext>
                </a:extLst>
              </p:cNvPr>
              <p:cNvSpPr/>
              <p:nvPr/>
            </p:nvSpPr>
            <p:spPr>
              <a:xfrm>
                <a:off x="7768098" y="2182598"/>
                <a:ext cx="2648382" cy="803420"/>
              </a:xfrm>
              <a:prstGeom prst="wedgeRoundRectCallout">
                <a:avLst>
                  <a:gd name="adj1" fmla="val -58264"/>
                  <a:gd name="adj2" fmla="val 23140"/>
                  <a:gd name="adj3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Support of {milk, juice}: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0.5</a:t>
                </a:r>
              </a:p>
            </p:txBody>
          </p:sp>
        </mc:Choice>
        <mc:Fallback xmlns="">
          <p:sp>
            <p:nvSpPr>
              <p:cNvPr id="9" name="Rounded Rectangular Callout 11">
                <a:extLst>
                  <a:ext uri="{FF2B5EF4-FFF2-40B4-BE49-F238E27FC236}">
                    <a16:creationId xmlns:a16="http://schemas.microsoft.com/office/drawing/2014/main" id="{BA63890E-4B8F-4A3B-A73B-7B89E0FB8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098" y="2182598"/>
                <a:ext cx="2648382" cy="803420"/>
              </a:xfrm>
              <a:prstGeom prst="wedgeRoundRectCallout">
                <a:avLst>
                  <a:gd name="adj1" fmla="val -58264"/>
                  <a:gd name="adj2" fmla="val 23140"/>
                  <a:gd name="adj3" fmla="val 16667"/>
                </a:avLst>
              </a:prstGeom>
              <a:blipFill>
                <a:blip r:embed="rId5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ular Callout 12">
                <a:extLst>
                  <a:ext uri="{FF2B5EF4-FFF2-40B4-BE49-F238E27FC236}">
                    <a16:creationId xmlns:a16="http://schemas.microsoft.com/office/drawing/2014/main" id="{05610ACC-7D62-4491-B20B-C98338B02F00}"/>
                  </a:ext>
                </a:extLst>
              </p:cNvPr>
              <p:cNvSpPr/>
              <p:nvPr/>
            </p:nvSpPr>
            <p:spPr>
              <a:xfrm>
                <a:off x="7768099" y="3121851"/>
                <a:ext cx="2629369" cy="803420"/>
              </a:xfrm>
              <a:prstGeom prst="wedgeRoundRectCallout">
                <a:avLst>
                  <a:gd name="adj1" fmla="val -57494"/>
                  <a:gd name="adj2" fmla="val -27036"/>
                  <a:gd name="adj3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Support of {bread, juice}: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0.25</a:t>
                </a:r>
              </a:p>
            </p:txBody>
          </p:sp>
        </mc:Choice>
        <mc:Fallback xmlns="">
          <p:sp>
            <p:nvSpPr>
              <p:cNvPr id="10" name="Rounded Rectangular Callout 12">
                <a:extLst>
                  <a:ext uri="{FF2B5EF4-FFF2-40B4-BE49-F238E27FC236}">
                    <a16:creationId xmlns:a16="http://schemas.microsoft.com/office/drawing/2014/main" id="{05610ACC-7D62-4491-B20B-C98338B02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099" y="3121851"/>
                <a:ext cx="2629369" cy="803420"/>
              </a:xfrm>
              <a:prstGeom prst="wedgeRoundRectCallout">
                <a:avLst>
                  <a:gd name="adj1" fmla="val -57494"/>
                  <a:gd name="adj2" fmla="val -27036"/>
                  <a:gd name="adj3" fmla="val 16667"/>
                </a:avLst>
              </a:prstGeom>
              <a:blipFill>
                <a:blip r:embed="rId6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8324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869161"/>
            <a:ext cx="8229600" cy="1579091"/>
          </a:xfrm>
        </p:spPr>
        <p:txBody>
          <a:bodyPr>
            <a:normAutofit/>
          </a:bodyPr>
          <a:lstStyle/>
          <a:p>
            <a:r>
              <a:rPr lang="en-GB" sz="2400" dirty="0"/>
              <a:t>What is the support of {BI, BS}? </a:t>
            </a:r>
          </a:p>
          <a:p>
            <a:r>
              <a:rPr lang="en-GB" sz="2400" dirty="0"/>
              <a:t>Is it frequent if the support threshold is s = 1/2?</a:t>
            </a:r>
          </a:p>
          <a:p>
            <a:r>
              <a:rPr lang="en-GB" sz="2400" dirty="0"/>
              <a:t>Which sets consisting of two items are frequent (with s = 1/2)?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6E94C9C7-FDB7-4D15-9EC1-84E869977E49}"/>
              </a:ext>
            </a:extLst>
          </p:cNvPr>
          <p:cNvSpPr/>
          <p:nvPr/>
        </p:nvSpPr>
        <p:spPr>
          <a:xfrm>
            <a:off x="8062331" y="2117530"/>
            <a:ext cx="903249" cy="3156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1E4C90AA-FA28-4857-80A8-1A77A5A26C8E}"/>
              </a:ext>
            </a:extLst>
          </p:cNvPr>
          <p:cNvSpPr/>
          <p:nvPr/>
        </p:nvSpPr>
        <p:spPr>
          <a:xfrm>
            <a:off x="8045603" y="3113334"/>
            <a:ext cx="903249" cy="3156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A7069C95-239A-41B3-A169-2F04A5E3B231}"/>
              </a:ext>
            </a:extLst>
          </p:cNvPr>
          <p:cNvSpPr/>
          <p:nvPr/>
        </p:nvSpPr>
        <p:spPr>
          <a:xfrm>
            <a:off x="8045602" y="3513331"/>
            <a:ext cx="903249" cy="3156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26927456-B16D-4663-B063-9A6E3DA69EFE}"/>
              </a:ext>
            </a:extLst>
          </p:cNvPr>
          <p:cNvSpPr/>
          <p:nvPr/>
        </p:nvSpPr>
        <p:spPr>
          <a:xfrm>
            <a:off x="8028392" y="4561616"/>
            <a:ext cx="903249" cy="3156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EC334-6DC0-417D-BB19-0AD59915CAE0}"/>
              </a:ext>
            </a:extLst>
          </p:cNvPr>
          <p:cNvSpPr txBox="1"/>
          <p:nvPr/>
        </p:nvSpPr>
        <p:spPr>
          <a:xfrm>
            <a:off x="8028392" y="4877727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1/2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F2CBB-C4E8-4E93-95C8-A3F58EDD3EC5}"/>
              </a:ext>
            </a:extLst>
          </p:cNvPr>
          <p:cNvSpPr txBox="1"/>
          <p:nvPr/>
        </p:nvSpPr>
        <p:spPr>
          <a:xfrm>
            <a:off x="8045602" y="5334164"/>
            <a:ext cx="61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Yes</a:t>
            </a:r>
            <a:endParaRPr lang="en-GB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A3EE1AE-A860-4CC0-83C9-F0D2BE435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58543"/>
              </p:ext>
            </p:extLst>
          </p:nvPr>
        </p:nvGraphicFramePr>
        <p:xfrm>
          <a:off x="4302362" y="1756019"/>
          <a:ext cx="3648236" cy="3132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0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Viewer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Liked</a:t>
                      </a:r>
                      <a:r>
                        <a:rPr lang="en-US" sz="2000" baseline="0" dirty="0"/>
                        <a:t> videos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Anna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Chloe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HP1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Dave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sz="2000" dirty="0"/>
                        <a:t>Emma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</a:t>
                      </a:r>
                      <a:r>
                        <a:rPr lang="en-US" sz="2000" baseline="0" dirty="0"/>
                        <a:t> BS, BU, HP1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Fred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Gwen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Henry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0434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9EA57D1-FFC4-48D8-81E3-8EB4CF272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095112"/>
              </p:ext>
            </p:extLst>
          </p:nvPr>
        </p:nvGraphicFramePr>
        <p:xfrm>
          <a:off x="4302362" y="1756019"/>
          <a:ext cx="3648236" cy="3132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0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Viewer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Liked</a:t>
                      </a:r>
                      <a:r>
                        <a:rPr lang="en-US" sz="2000" baseline="0" dirty="0"/>
                        <a:t> videos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Anna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Chloe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HP1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Dave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sz="2000" dirty="0"/>
                        <a:t>Emma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</a:t>
                      </a:r>
                      <a:r>
                        <a:rPr lang="en-US" sz="2000" baseline="0" dirty="0"/>
                        <a:t> BS, BU, HP1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Fred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Gwen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Henry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869161"/>
            <a:ext cx="8229600" cy="1579091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All frequent pairs of two items with support threshold s = 1/2: </a:t>
            </a:r>
            <a:br>
              <a:rPr lang="en-GB" sz="2400" dirty="0"/>
            </a:br>
            <a:r>
              <a:rPr lang="en-GB" sz="2400" dirty="0"/>
              <a:t>{BI, BS}, {BI, HP1}, {BS, HP1}, {HP1, HP2}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3F29FB-7107-462D-9536-E930F3C63768}"/>
              </a:ext>
            </a:extLst>
          </p:cNvPr>
          <p:cNvCxnSpPr>
            <a:cxnSpLocks/>
          </p:cNvCxnSpPr>
          <p:nvPr/>
        </p:nvCxnSpPr>
        <p:spPr>
          <a:xfrm flipH="1" flipV="1">
            <a:off x="6154190" y="2134612"/>
            <a:ext cx="261547" cy="3078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3CDE9B-F6F3-4544-BDAF-E6F9835C6C3B}"/>
              </a:ext>
            </a:extLst>
          </p:cNvPr>
          <p:cNvCxnSpPr/>
          <p:nvPr/>
        </p:nvCxnSpPr>
        <p:spPr>
          <a:xfrm flipV="1">
            <a:off x="6126480" y="2152521"/>
            <a:ext cx="367990" cy="289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CFC0F-0484-46B8-A780-BC39C278F0AA}"/>
              </a:ext>
            </a:extLst>
          </p:cNvPr>
          <p:cNvCxnSpPr>
            <a:cxnSpLocks/>
          </p:cNvCxnSpPr>
          <p:nvPr/>
        </p:nvCxnSpPr>
        <p:spPr>
          <a:xfrm flipH="1" flipV="1">
            <a:off x="6178589" y="3539397"/>
            <a:ext cx="261547" cy="3078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F9956D-288D-4641-A449-9D6BD8840E04}"/>
              </a:ext>
            </a:extLst>
          </p:cNvPr>
          <p:cNvCxnSpPr/>
          <p:nvPr/>
        </p:nvCxnSpPr>
        <p:spPr>
          <a:xfrm flipV="1">
            <a:off x="6150879" y="3557306"/>
            <a:ext cx="367990" cy="289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5F83A-136A-467E-BBEA-4966A9F03788}"/>
              </a:ext>
            </a:extLst>
          </p:cNvPr>
          <p:cNvCxnSpPr>
            <a:cxnSpLocks/>
          </p:cNvCxnSpPr>
          <p:nvPr/>
        </p:nvCxnSpPr>
        <p:spPr>
          <a:xfrm flipH="1" flipV="1">
            <a:off x="6558206" y="2459549"/>
            <a:ext cx="261547" cy="3078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4A0ECE-349B-455D-951E-3E55F00E8973}"/>
              </a:ext>
            </a:extLst>
          </p:cNvPr>
          <p:cNvCxnSpPr/>
          <p:nvPr/>
        </p:nvCxnSpPr>
        <p:spPr>
          <a:xfrm flipV="1">
            <a:off x="6530496" y="2477458"/>
            <a:ext cx="367990" cy="289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692EDA-D315-4B6B-9A4A-7354262F2EA5}"/>
              </a:ext>
            </a:extLst>
          </p:cNvPr>
          <p:cNvCxnSpPr>
            <a:cxnSpLocks/>
          </p:cNvCxnSpPr>
          <p:nvPr/>
        </p:nvCxnSpPr>
        <p:spPr>
          <a:xfrm flipH="1" flipV="1">
            <a:off x="7306352" y="4565870"/>
            <a:ext cx="261547" cy="3078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705935-418F-45CA-9BCC-542F2F662FE5}"/>
              </a:ext>
            </a:extLst>
          </p:cNvPr>
          <p:cNvCxnSpPr/>
          <p:nvPr/>
        </p:nvCxnSpPr>
        <p:spPr>
          <a:xfrm flipV="1">
            <a:off x="7278642" y="4583779"/>
            <a:ext cx="367990" cy="289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916B26-5C19-448D-B10A-ABEC25DCE0EC}"/>
              </a:ext>
            </a:extLst>
          </p:cNvPr>
          <p:cNvCxnSpPr>
            <a:cxnSpLocks/>
          </p:cNvCxnSpPr>
          <p:nvPr/>
        </p:nvCxnSpPr>
        <p:spPr>
          <a:xfrm flipH="1" flipV="1">
            <a:off x="5836082" y="3847238"/>
            <a:ext cx="261547" cy="3078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A1A030-1AEF-4C34-9F71-656EDF739950}"/>
              </a:ext>
            </a:extLst>
          </p:cNvPr>
          <p:cNvCxnSpPr/>
          <p:nvPr/>
        </p:nvCxnSpPr>
        <p:spPr>
          <a:xfrm flipV="1">
            <a:off x="5808372" y="3865147"/>
            <a:ext cx="367990" cy="289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6873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7BA0-2CC0-4730-A5AA-301D8F03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7D2A-260F-4CC4-8911-C2460D3AE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we saw the basics of the market-basket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1EFF6-6209-4DA3-996E-00534F22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326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35.2|12.9|12.1|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9|9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|7.2|7.3|5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|11.9|16.2|19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28.2|1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7|6.9|2.8|2.7|3.4|8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8|21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</TotalTime>
  <Words>765</Words>
  <Application>Microsoft Office PowerPoint</Application>
  <PresentationFormat>Widescreen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Cambria Math</vt:lpstr>
      <vt:lpstr>Retrospect</vt:lpstr>
      <vt:lpstr>Basics of  market-basket model</vt:lpstr>
      <vt:lpstr>Overview of this video</vt:lpstr>
      <vt:lpstr>Market-Basket Data</vt:lpstr>
      <vt:lpstr>Another Example</vt:lpstr>
      <vt:lpstr>Frequent-Itemset Mining</vt:lpstr>
      <vt:lpstr>Support of an Itemset</vt:lpstr>
      <vt:lpstr>Frequent Itemsets</vt:lpstr>
      <vt:lpstr>Example</vt:lpstr>
      <vt:lpstr>Frequent pairs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 market-basket model</dc:title>
  <dc:creator>Rasmus Ibsen-Jensen</dc:creator>
  <cp:lastModifiedBy>Rasmus Ibsen-Jensen</cp:lastModifiedBy>
  <cp:revision>7</cp:revision>
  <dcterms:created xsi:type="dcterms:W3CDTF">2021-01-03T19:30:18Z</dcterms:created>
  <dcterms:modified xsi:type="dcterms:W3CDTF">2021-01-05T17:26:39Z</dcterms:modified>
</cp:coreProperties>
</file>