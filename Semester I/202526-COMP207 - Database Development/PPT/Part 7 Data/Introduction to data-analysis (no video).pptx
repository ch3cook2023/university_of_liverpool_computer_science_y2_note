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447" r:id="rId3"/>
    <p:sldId id="432" r:id="rId4"/>
    <p:sldId id="421" r:id="rId5"/>
    <p:sldId id="434" r:id="rId6"/>
    <p:sldId id="446" r:id="rId7"/>
    <p:sldId id="441" r:id="rId8"/>
    <p:sldId id="442" r:id="rId9"/>
    <p:sldId id="44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1" autoAdjust="0"/>
    <p:restoredTop sz="94660"/>
  </p:normalViewPr>
  <p:slideViewPr>
    <p:cSldViewPr snapToGrid="0">
      <p:cViewPr varScale="1">
        <p:scale>
          <a:sx n="70" d="100"/>
          <a:sy n="70" d="100"/>
        </p:scale>
        <p:origin x="90" y="7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2BA9F1-0A5F-430A-A03E-0F85313A1491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546BFE-5734-4FBE-9648-19EDA58A06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3933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E6BCE-8179-4218-A772-03A855E03F0D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39880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E6BCE-8179-4218-A772-03A855E03F0D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980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E6BCE-8179-4218-A772-03A855E03F0D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2932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7E0A5-9DFC-4114-8797-9E40E95B1B16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F9CC-E899-4663-98FA-91FD0A6B1E84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5623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7E0A5-9DFC-4114-8797-9E40E95B1B16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F9CC-E899-4663-98FA-91FD0A6B1E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9218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7E0A5-9DFC-4114-8797-9E40E95B1B16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F9CC-E899-4663-98FA-91FD0A6B1E84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694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7E0A5-9DFC-4114-8797-9E40E95B1B16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F9CC-E899-4663-98FA-91FD0A6B1E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2494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7E0A5-9DFC-4114-8797-9E40E95B1B16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F9CC-E899-4663-98FA-91FD0A6B1E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6480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7E0A5-9DFC-4114-8797-9E40E95B1B16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F9CC-E899-4663-98FA-91FD0A6B1E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6358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7E0A5-9DFC-4114-8797-9E40E95B1B16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F9CC-E899-4663-98FA-91FD0A6B1E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0171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BB7E0A5-9DFC-4114-8797-9E40E95B1B16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F62F9CC-E899-4663-98FA-91FD0A6B1E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9027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7E0A5-9DFC-4114-8797-9E40E95B1B16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F9CC-E899-4663-98FA-91FD0A6B1E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7798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7E0A5-9DFC-4114-8797-9E40E95B1B16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F9CC-E899-4663-98FA-91FD0A6B1E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4408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7E0A5-9DFC-4114-8797-9E40E95B1B16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F9CC-E899-4663-98FA-91FD0A6B1E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2179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BB7E0A5-9DFC-4114-8797-9E40E95B1B16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F62F9CC-E899-4663-98FA-91FD0A6B1E84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1783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4E7B7-37CA-45C2-BE79-0E3D6805AD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</a:t>
            </a:r>
            <a:br>
              <a:rPr lang="en-US" dirty="0"/>
            </a:br>
            <a:r>
              <a:rPr lang="en-US" dirty="0"/>
              <a:t>data-analysis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B1518-C09A-4071-81E9-474A1D237D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6800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A66A6-31CF-43C0-AFB0-2B5430507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over video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28AAD-9F5E-48F8-ABDA-2B80AD646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part of the course, we will see data-analysis and data-mining, starting with the analysis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4349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Final Part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>
              <a:spcBef>
                <a:spcPts val="2472"/>
              </a:spcBef>
            </a:pPr>
            <a:r>
              <a:rPr lang="en-GB" dirty="0"/>
              <a:t>Return to </a:t>
            </a:r>
            <a:r>
              <a:rPr lang="en-GB" b="1" dirty="0"/>
              <a:t>relational databases</a:t>
            </a:r>
          </a:p>
          <a:p>
            <a:pPr lvl="1"/>
            <a:r>
              <a:rPr lang="en-GB" dirty="0"/>
              <a:t>So, again relational databases, SQL, </a:t>
            </a:r>
            <a:r>
              <a:rPr lang="mr-IN" dirty="0"/>
              <a:t>…</a:t>
            </a:r>
            <a:endParaRPr lang="en-GB" dirty="0"/>
          </a:p>
          <a:p>
            <a:pPr>
              <a:spcBef>
                <a:spcPts val="2472"/>
              </a:spcBef>
            </a:pPr>
            <a:r>
              <a:rPr lang="en-GB" dirty="0"/>
              <a:t>Different use cases: </a:t>
            </a:r>
            <a:r>
              <a:rPr lang="en-GB" b="1" dirty="0"/>
              <a:t>data analysis</a:t>
            </a:r>
          </a:p>
          <a:p>
            <a:pPr>
              <a:spcBef>
                <a:spcPts val="2472"/>
              </a:spcBef>
            </a:pPr>
            <a:r>
              <a:rPr lang="en-GB" dirty="0"/>
              <a:t>Different technology: </a:t>
            </a:r>
            <a:r>
              <a:rPr lang="en-GB" b="1" dirty="0"/>
              <a:t>data warehouses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12" name="Freeform 11"/>
          <p:cNvSpPr/>
          <p:nvPr/>
        </p:nvSpPr>
        <p:spPr>
          <a:xfrm>
            <a:off x="2999657" y="1749115"/>
            <a:ext cx="5683045" cy="1671484"/>
          </a:xfrm>
          <a:custGeom>
            <a:avLst/>
            <a:gdLst>
              <a:gd name="connsiteX0" fmla="*/ 0 w 5683045"/>
              <a:gd name="connsiteY0" fmla="*/ 1592826 h 1671484"/>
              <a:gd name="connsiteX1" fmla="*/ 78658 w 5683045"/>
              <a:gd name="connsiteY1" fmla="*/ 1602658 h 1671484"/>
              <a:gd name="connsiteX2" fmla="*/ 550606 w 5683045"/>
              <a:gd name="connsiteY2" fmla="*/ 1622323 h 1671484"/>
              <a:gd name="connsiteX3" fmla="*/ 904568 w 5683045"/>
              <a:gd name="connsiteY3" fmla="*/ 1632155 h 1671484"/>
              <a:gd name="connsiteX4" fmla="*/ 2428568 w 5683045"/>
              <a:gd name="connsiteY4" fmla="*/ 1651820 h 1671484"/>
              <a:gd name="connsiteX5" fmla="*/ 3352800 w 5683045"/>
              <a:gd name="connsiteY5" fmla="*/ 1671484 h 1671484"/>
              <a:gd name="connsiteX6" fmla="*/ 3854245 w 5683045"/>
              <a:gd name="connsiteY6" fmla="*/ 1651820 h 1671484"/>
              <a:gd name="connsiteX7" fmla="*/ 3903406 w 5683045"/>
              <a:gd name="connsiteY7" fmla="*/ 1641987 h 1671484"/>
              <a:gd name="connsiteX8" fmla="*/ 4080387 w 5683045"/>
              <a:gd name="connsiteY8" fmla="*/ 1622323 h 1671484"/>
              <a:gd name="connsiteX9" fmla="*/ 4168877 w 5683045"/>
              <a:gd name="connsiteY9" fmla="*/ 1602658 h 1671484"/>
              <a:gd name="connsiteX10" fmla="*/ 4257368 w 5683045"/>
              <a:gd name="connsiteY10" fmla="*/ 1582994 h 1671484"/>
              <a:gd name="connsiteX11" fmla="*/ 4316361 w 5683045"/>
              <a:gd name="connsiteY11" fmla="*/ 1563329 h 1671484"/>
              <a:gd name="connsiteX12" fmla="*/ 4444180 w 5683045"/>
              <a:gd name="connsiteY12" fmla="*/ 1524000 h 1671484"/>
              <a:gd name="connsiteX13" fmla="*/ 4611329 w 5683045"/>
              <a:gd name="connsiteY13" fmla="*/ 1445342 h 1671484"/>
              <a:gd name="connsiteX14" fmla="*/ 4650658 w 5683045"/>
              <a:gd name="connsiteY14" fmla="*/ 1425678 h 1671484"/>
              <a:gd name="connsiteX15" fmla="*/ 4748980 w 5683045"/>
              <a:gd name="connsiteY15" fmla="*/ 1366684 h 1671484"/>
              <a:gd name="connsiteX16" fmla="*/ 4807974 w 5683045"/>
              <a:gd name="connsiteY16" fmla="*/ 1307690 h 1671484"/>
              <a:gd name="connsiteX17" fmla="*/ 4837471 w 5683045"/>
              <a:gd name="connsiteY17" fmla="*/ 1268361 h 1671484"/>
              <a:gd name="connsiteX18" fmla="*/ 4906297 w 5683045"/>
              <a:gd name="connsiteY18" fmla="*/ 1160207 h 1671484"/>
              <a:gd name="connsiteX19" fmla="*/ 4916129 w 5683045"/>
              <a:gd name="connsiteY19" fmla="*/ 1120878 h 1671484"/>
              <a:gd name="connsiteX20" fmla="*/ 4935793 w 5683045"/>
              <a:gd name="connsiteY20" fmla="*/ 1071716 h 1671484"/>
              <a:gd name="connsiteX21" fmla="*/ 4965290 w 5683045"/>
              <a:gd name="connsiteY21" fmla="*/ 973394 h 1671484"/>
              <a:gd name="connsiteX22" fmla="*/ 4984955 w 5683045"/>
              <a:gd name="connsiteY22" fmla="*/ 796413 h 1671484"/>
              <a:gd name="connsiteX23" fmla="*/ 4965290 w 5683045"/>
              <a:gd name="connsiteY23" fmla="*/ 570271 h 1671484"/>
              <a:gd name="connsiteX24" fmla="*/ 4945626 w 5683045"/>
              <a:gd name="connsiteY24" fmla="*/ 491613 h 1671484"/>
              <a:gd name="connsiteX25" fmla="*/ 4916129 w 5683045"/>
              <a:gd name="connsiteY25" fmla="*/ 432620 h 1671484"/>
              <a:gd name="connsiteX26" fmla="*/ 4837471 w 5683045"/>
              <a:gd name="connsiteY26" fmla="*/ 255639 h 1671484"/>
              <a:gd name="connsiteX27" fmla="*/ 4817806 w 5683045"/>
              <a:gd name="connsiteY27" fmla="*/ 226142 h 1671484"/>
              <a:gd name="connsiteX28" fmla="*/ 4778477 w 5683045"/>
              <a:gd name="connsiteY28" fmla="*/ 186813 h 1671484"/>
              <a:gd name="connsiteX29" fmla="*/ 4680155 w 5683045"/>
              <a:gd name="connsiteY29" fmla="*/ 117987 h 1671484"/>
              <a:gd name="connsiteX30" fmla="*/ 4581832 w 5683045"/>
              <a:gd name="connsiteY30" fmla="*/ 58994 h 1671484"/>
              <a:gd name="connsiteX31" fmla="*/ 4473677 w 5683045"/>
              <a:gd name="connsiteY31" fmla="*/ 29497 h 1671484"/>
              <a:gd name="connsiteX32" fmla="*/ 4414684 w 5683045"/>
              <a:gd name="connsiteY32" fmla="*/ 9832 h 1671484"/>
              <a:gd name="connsiteX33" fmla="*/ 4286864 w 5683045"/>
              <a:gd name="connsiteY33" fmla="*/ 0 h 1671484"/>
              <a:gd name="connsiteX34" fmla="*/ 3991897 w 5683045"/>
              <a:gd name="connsiteY34" fmla="*/ 19665 h 1671484"/>
              <a:gd name="connsiteX35" fmla="*/ 3913238 w 5683045"/>
              <a:gd name="connsiteY35" fmla="*/ 39329 h 1671484"/>
              <a:gd name="connsiteX36" fmla="*/ 3854245 w 5683045"/>
              <a:gd name="connsiteY36" fmla="*/ 58994 h 1671484"/>
              <a:gd name="connsiteX37" fmla="*/ 3775587 w 5683045"/>
              <a:gd name="connsiteY37" fmla="*/ 68826 h 1671484"/>
              <a:gd name="connsiteX38" fmla="*/ 3716593 w 5683045"/>
              <a:gd name="connsiteY38" fmla="*/ 88490 h 1671484"/>
              <a:gd name="connsiteX39" fmla="*/ 3667432 w 5683045"/>
              <a:gd name="connsiteY39" fmla="*/ 108155 h 1671484"/>
              <a:gd name="connsiteX40" fmla="*/ 3618271 w 5683045"/>
              <a:gd name="connsiteY40" fmla="*/ 117987 h 1671484"/>
              <a:gd name="connsiteX41" fmla="*/ 3578942 w 5683045"/>
              <a:gd name="connsiteY41" fmla="*/ 137652 h 1671484"/>
              <a:gd name="connsiteX42" fmla="*/ 3549445 w 5683045"/>
              <a:gd name="connsiteY42" fmla="*/ 147484 h 1671484"/>
              <a:gd name="connsiteX43" fmla="*/ 3470787 w 5683045"/>
              <a:gd name="connsiteY43" fmla="*/ 226142 h 1671484"/>
              <a:gd name="connsiteX44" fmla="*/ 3431458 w 5683045"/>
              <a:gd name="connsiteY44" fmla="*/ 265471 h 1671484"/>
              <a:gd name="connsiteX45" fmla="*/ 3372464 w 5683045"/>
              <a:gd name="connsiteY45" fmla="*/ 344129 h 1671484"/>
              <a:gd name="connsiteX46" fmla="*/ 3323303 w 5683045"/>
              <a:gd name="connsiteY46" fmla="*/ 422787 h 1671484"/>
              <a:gd name="connsiteX47" fmla="*/ 3303638 w 5683045"/>
              <a:gd name="connsiteY47" fmla="*/ 501445 h 1671484"/>
              <a:gd name="connsiteX48" fmla="*/ 3323303 w 5683045"/>
              <a:gd name="connsiteY48" fmla="*/ 707923 h 1671484"/>
              <a:gd name="connsiteX49" fmla="*/ 3333135 w 5683045"/>
              <a:gd name="connsiteY49" fmla="*/ 757084 h 1671484"/>
              <a:gd name="connsiteX50" fmla="*/ 3352800 w 5683045"/>
              <a:gd name="connsiteY50" fmla="*/ 796413 h 1671484"/>
              <a:gd name="connsiteX51" fmla="*/ 3362632 w 5683045"/>
              <a:gd name="connsiteY51" fmla="*/ 825910 h 1671484"/>
              <a:gd name="connsiteX52" fmla="*/ 3401961 w 5683045"/>
              <a:gd name="connsiteY52" fmla="*/ 914400 h 1671484"/>
              <a:gd name="connsiteX53" fmla="*/ 3441290 w 5683045"/>
              <a:gd name="connsiteY53" fmla="*/ 983226 h 1671484"/>
              <a:gd name="connsiteX54" fmla="*/ 3480619 w 5683045"/>
              <a:gd name="connsiteY54" fmla="*/ 1042220 h 1671484"/>
              <a:gd name="connsiteX55" fmla="*/ 3500284 w 5683045"/>
              <a:gd name="connsiteY55" fmla="*/ 1081549 h 1671484"/>
              <a:gd name="connsiteX56" fmla="*/ 3529780 w 5683045"/>
              <a:gd name="connsiteY56" fmla="*/ 1111045 h 1671484"/>
              <a:gd name="connsiteX57" fmla="*/ 3588774 w 5683045"/>
              <a:gd name="connsiteY57" fmla="*/ 1199536 h 1671484"/>
              <a:gd name="connsiteX58" fmla="*/ 3657600 w 5683045"/>
              <a:gd name="connsiteY58" fmla="*/ 1268361 h 1671484"/>
              <a:gd name="connsiteX59" fmla="*/ 3696929 w 5683045"/>
              <a:gd name="connsiteY59" fmla="*/ 1297858 h 1671484"/>
              <a:gd name="connsiteX60" fmla="*/ 3726426 w 5683045"/>
              <a:gd name="connsiteY60" fmla="*/ 1327355 h 1671484"/>
              <a:gd name="connsiteX61" fmla="*/ 3755922 w 5683045"/>
              <a:gd name="connsiteY61" fmla="*/ 1347020 h 1671484"/>
              <a:gd name="connsiteX62" fmla="*/ 3824748 w 5683045"/>
              <a:gd name="connsiteY62" fmla="*/ 1415845 h 1671484"/>
              <a:gd name="connsiteX63" fmla="*/ 3893574 w 5683045"/>
              <a:gd name="connsiteY63" fmla="*/ 1465007 h 1671484"/>
              <a:gd name="connsiteX64" fmla="*/ 3982064 w 5683045"/>
              <a:gd name="connsiteY64" fmla="*/ 1504336 h 1671484"/>
              <a:gd name="connsiteX65" fmla="*/ 4021393 w 5683045"/>
              <a:gd name="connsiteY65" fmla="*/ 1524000 h 1671484"/>
              <a:gd name="connsiteX66" fmla="*/ 4090219 w 5683045"/>
              <a:gd name="connsiteY66" fmla="*/ 1543665 h 1671484"/>
              <a:gd name="connsiteX67" fmla="*/ 4129548 w 5683045"/>
              <a:gd name="connsiteY67" fmla="*/ 1563329 h 1671484"/>
              <a:gd name="connsiteX68" fmla="*/ 4168877 w 5683045"/>
              <a:gd name="connsiteY68" fmla="*/ 1573161 h 1671484"/>
              <a:gd name="connsiteX69" fmla="*/ 4227871 w 5683045"/>
              <a:gd name="connsiteY69" fmla="*/ 1592826 h 1671484"/>
              <a:gd name="connsiteX70" fmla="*/ 4395019 w 5683045"/>
              <a:gd name="connsiteY70" fmla="*/ 1612490 h 1671484"/>
              <a:gd name="connsiteX71" fmla="*/ 4621161 w 5683045"/>
              <a:gd name="connsiteY71" fmla="*/ 1622323 h 1671484"/>
              <a:gd name="connsiteX72" fmla="*/ 5211097 w 5683045"/>
              <a:gd name="connsiteY72" fmla="*/ 1632155 h 1671484"/>
              <a:gd name="connsiteX73" fmla="*/ 5525729 w 5683045"/>
              <a:gd name="connsiteY73" fmla="*/ 1641987 h 1671484"/>
              <a:gd name="connsiteX74" fmla="*/ 5683045 w 5683045"/>
              <a:gd name="connsiteY74" fmla="*/ 1632155 h 167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683045" h="1671484">
                <a:moveTo>
                  <a:pt x="0" y="1592826"/>
                </a:moveTo>
                <a:cubicBezTo>
                  <a:pt x="26219" y="1596103"/>
                  <a:pt x="52319" y="1600551"/>
                  <a:pt x="78658" y="1602658"/>
                </a:cubicBezTo>
                <a:cubicBezTo>
                  <a:pt x="224337" y="1614312"/>
                  <a:pt x="413949" y="1618244"/>
                  <a:pt x="550606" y="1622323"/>
                </a:cubicBezTo>
                <a:lnTo>
                  <a:pt x="904568" y="1632155"/>
                </a:lnTo>
                <a:cubicBezTo>
                  <a:pt x="2188116" y="1653196"/>
                  <a:pt x="1298337" y="1631018"/>
                  <a:pt x="2428568" y="1651820"/>
                </a:cubicBezTo>
                <a:lnTo>
                  <a:pt x="3352800" y="1671484"/>
                </a:lnTo>
                <a:lnTo>
                  <a:pt x="3854245" y="1651820"/>
                </a:lnTo>
                <a:cubicBezTo>
                  <a:pt x="3870911" y="1650585"/>
                  <a:pt x="3886889" y="1644528"/>
                  <a:pt x="3903406" y="1641987"/>
                </a:cubicBezTo>
                <a:cubicBezTo>
                  <a:pt x="3955093" y="1634035"/>
                  <a:pt x="4030133" y="1627348"/>
                  <a:pt x="4080387" y="1622323"/>
                </a:cubicBezTo>
                <a:lnTo>
                  <a:pt x="4168877" y="1602658"/>
                </a:lnTo>
                <a:cubicBezTo>
                  <a:pt x="4201617" y="1595642"/>
                  <a:pt x="4225819" y="1592459"/>
                  <a:pt x="4257368" y="1582994"/>
                </a:cubicBezTo>
                <a:cubicBezTo>
                  <a:pt x="4277222" y="1577038"/>
                  <a:pt x="4296550" y="1569425"/>
                  <a:pt x="4316361" y="1563329"/>
                </a:cubicBezTo>
                <a:cubicBezTo>
                  <a:pt x="4389124" y="1540940"/>
                  <a:pt x="4376446" y="1548631"/>
                  <a:pt x="4444180" y="1524000"/>
                </a:cubicBezTo>
                <a:cubicBezTo>
                  <a:pt x="4510184" y="1499999"/>
                  <a:pt x="4537310" y="1482351"/>
                  <a:pt x="4611329" y="1445342"/>
                </a:cubicBezTo>
                <a:lnTo>
                  <a:pt x="4650658" y="1425678"/>
                </a:lnTo>
                <a:cubicBezTo>
                  <a:pt x="4695672" y="1403171"/>
                  <a:pt x="4713407" y="1398700"/>
                  <a:pt x="4748980" y="1366684"/>
                </a:cubicBezTo>
                <a:cubicBezTo>
                  <a:pt x="4769651" y="1348080"/>
                  <a:pt x="4791288" y="1329938"/>
                  <a:pt x="4807974" y="1307690"/>
                </a:cubicBezTo>
                <a:cubicBezTo>
                  <a:pt x="4817806" y="1294580"/>
                  <a:pt x="4828074" y="1281786"/>
                  <a:pt x="4837471" y="1268361"/>
                </a:cubicBezTo>
                <a:cubicBezTo>
                  <a:pt x="4872421" y="1218433"/>
                  <a:pt x="4876753" y="1209446"/>
                  <a:pt x="4906297" y="1160207"/>
                </a:cubicBezTo>
                <a:cubicBezTo>
                  <a:pt x="4909574" y="1147097"/>
                  <a:pt x="4911856" y="1133698"/>
                  <a:pt x="4916129" y="1120878"/>
                </a:cubicBezTo>
                <a:cubicBezTo>
                  <a:pt x="4921710" y="1104134"/>
                  <a:pt x="4929761" y="1088303"/>
                  <a:pt x="4935793" y="1071716"/>
                </a:cubicBezTo>
                <a:cubicBezTo>
                  <a:pt x="4946943" y="1041054"/>
                  <a:pt x="4958768" y="1006005"/>
                  <a:pt x="4965290" y="973394"/>
                </a:cubicBezTo>
                <a:cubicBezTo>
                  <a:pt x="4979278" y="903452"/>
                  <a:pt x="4978083" y="878877"/>
                  <a:pt x="4984955" y="796413"/>
                </a:cubicBezTo>
                <a:cubicBezTo>
                  <a:pt x="4979705" y="707168"/>
                  <a:pt x="4982242" y="649383"/>
                  <a:pt x="4965290" y="570271"/>
                </a:cubicBezTo>
                <a:cubicBezTo>
                  <a:pt x="4959627" y="543845"/>
                  <a:pt x="4954716" y="517065"/>
                  <a:pt x="4945626" y="491613"/>
                </a:cubicBezTo>
                <a:cubicBezTo>
                  <a:pt x="4938231" y="470908"/>
                  <a:pt x="4925058" y="452711"/>
                  <a:pt x="4916129" y="432620"/>
                </a:cubicBezTo>
                <a:cubicBezTo>
                  <a:pt x="4881119" y="353847"/>
                  <a:pt x="4874357" y="322033"/>
                  <a:pt x="4837471" y="255639"/>
                </a:cubicBezTo>
                <a:cubicBezTo>
                  <a:pt x="4831732" y="245309"/>
                  <a:pt x="4825496" y="235114"/>
                  <a:pt x="4817806" y="226142"/>
                </a:cubicBezTo>
                <a:cubicBezTo>
                  <a:pt x="4805740" y="212066"/>
                  <a:pt x="4792430" y="199022"/>
                  <a:pt x="4778477" y="186813"/>
                </a:cubicBezTo>
                <a:cubicBezTo>
                  <a:pt x="4752245" y="163860"/>
                  <a:pt x="4706626" y="136517"/>
                  <a:pt x="4680155" y="117987"/>
                </a:cubicBezTo>
                <a:cubicBezTo>
                  <a:pt x="4629337" y="82414"/>
                  <a:pt x="4647300" y="86272"/>
                  <a:pt x="4581832" y="58994"/>
                </a:cubicBezTo>
                <a:cubicBezTo>
                  <a:pt x="4506758" y="27714"/>
                  <a:pt x="4543346" y="48498"/>
                  <a:pt x="4473677" y="29497"/>
                </a:cubicBezTo>
                <a:cubicBezTo>
                  <a:pt x="4453679" y="24043"/>
                  <a:pt x="4435158" y="13065"/>
                  <a:pt x="4414684" y="9832"/>
                </a:cubicBezTo>
                <a:cubicBezTo>
                  <a:pt x="4372474" y="3167"/>
                  <a:pt x="4329471" y="3277"/>
                  <a:pt x="4286864" y="0"/>
                </a:cubicBezTo>
                <a:cubicBezTo>
                  <a:pt x="4208123" y="3423"/>
                  <a:pt x="4083031" y="1438"/>
                  <a:pt x="3991897" y="19665"/>
                </a:cubicBezTo>
                <a:cubicBezTo>
                  <a:pt x="3965395" y="24965"/>
                  <a:pt x="3939225" y="31904"/>
                  <a:pt x="3913238" y="39329"/>
                </a:cubicBezTo>
                <a:cubicBezTo>
                  <a:pt x="3893307" y="45023"/>
                  <a:pt x="3874513" y="54651"/>
                  <a:pt x="3854245" y="58994"/>
                </a:cubicBezTo>
                <a:cubicBezTo>
                  <a:pt x="3828408" y="64531"/>
                  <a:pt x="3801806" y="65549"/>
                  <a:pt x="3775587" y="68826"/>
                </a:cubicBezTo>
                <a:cubicBezTo>
                  <a:pt x="3755922" y="75381"/>
                  <a:pt x="3736073" y="81406"/>
                  <a:pt x="3716593" y="88490"/>
                </a:cubicBezTo>
                <a:cubicBezTo>
                  <a:pt x="3700006" y="94522"/>
                  <a:pt x="3684337" y="103083"/>
                  <a:pt x="3667432" y="108155"/>
                </a:cubicBezTo>
                <a:cubicBezTo>
                  <a:pt x="3651425" y="112957"/>
                  <a:pt x="3634658" y="114710"/>
                  <a:pt x="3618271" y="117987"/>
                </a:cubicBezTo>
                <a:cubicBezTo>
                  <a:pt x="3605161" y="124542"/>
                  <a:pt x="3592414" y="131878"/>
                  <a:pt x="3578942" y="137652"/>
                </a:cubicBezTo>
                <a:cubicBezTo>
                  <a:pt x="3569416" y="141735"/>
                  <a:pt x="3557466" y="140921"/>
                  <a:pt x="3549445" y="147484"/>
                </a:cubicBezTo>
                <a:cubicBezTo>
                  <a:pt x="3520747" y="170964"/>
                  <a:pt x="3497006" y="199923"/>
                  <a:pt x="3470787" y="226142"/>
                </a:cubicBezTo>
                <a:cubicBezTo>
                  <a:pt x="3457677" y="239252"/>
                  <a:pt x="3443040" y="250994"/>
                  <a:pt x="3431458" y="265471"/>
                </a:cubicBezTo>
                <a:cubicBezTo>
                  <a:pt x="3347702" y="370166"/>
                  <a:pt x="3424630" y="271096"/>
                  <a:pt x="3372464" y="344129"/>
                </a:cubicBezTo>
                <a:cubicBezTo>
                  <a:pt x="3342220" y="386472"/>
                  <a:pt x="3343100" y="376594"/>
                  <a:pt x="3323303" y="422787"/>
                </a:cubicBezTo>
                <a:cubicBezTo>
                  <a:pt x="3311967" y="449238"/>
                  <a:pt x="3309408" y="472596"/>
                  <a:pt x="3303638" y="501445"/>
                </a:cubicBezTo>
                <a:cubicBezTo>
                  <a:pt x="3311068" y="605456"/>
                  <a:pt x="3309008" y="622152"/>
                  <a:pt x="3323303" y="707923"/>
                </a:cubicBezTo>
                <a:cubicBezTo>
                  <a:pt x="3326050" y="724407"/>
                  <a:pt x="3327850" y="741230"/>
                  <a:pt x="3333135" y="757084"/>
                </a:cubicBezTo>
                <a:cubicBezTo>
                  <a:pt x="3337770" y="770989"/>
                  <a:pt x="3347026" y="782941"/>
                  <a:pt x="3352800" y="796413"/>
                </a:cubicBezTo>
                <a:cubicBezTo>
                  <a:pt x="3356883" y="805939"/>
                  <a:pt x="3358993" y="816206"/>
                  <a:pt x="3362632" y="825910"/>
                </a:cubicBezTo>
                <a:cubicBezTo>
                  <a:pt x="3376079" y="861768"/>
                  <a:pt x="3384089" y="881634"/>
                  <a:pt x="3401961" y="914400"/>
                </a:cubicBezTo>
                <a:cubicBezTo>
                  <a:pt x="3414614" y="937597"/>
                  <a:pt x="3427442" y="960722"/>
                  <a:pt x="3441290" y="983226"/>
                </a:cubicBezTo>
                <a:cubicBezTo>
                  <a:pt x="3453676" y="1003354"/>
                  <a:pt x="3470049" y="1021081"/>
                  <a:pt x="3480619" y="1042220"/>
                </a:cubicBezTo>
                <a:cubicBezTo>
                  <a:pt x="3487174" y="1055330"/>
                  <a:pt x="3491765" y="1069622"/>
                  <a:pt x="3500284" y="1081549"/>
                </a:cubicBezTo>
                <a:cubicBezTo>
                  <a:pt x="3508366" y="1092864"/>
                  <a:pt x="3521437" y="1099921"/>
                  <a:pt x="3529780" y="1111045"/>
                </a:cubicBezTo>
                <a:cubicBezTo>
                  <a:pt x="3551051" y="1139406"/>
                  <a:pt x="3559277" y="1179872"/>
                  <a:pt x="3588774" y="1199536"/>
                </a:cubicBezTo>
                <a:cubicBezTo>
                  <a:pt x="3655457" y="1243990"/>
                  <a:pt x="3575859" y="1186620"/>
                  <a:pt x="3657600" y="1268361"/>
                </a:cubicBezTo>
                <a:cubicBezTo>
                  <a:pt x="3669187" y="1279948"/>
                  <a:pt x="3684487" y="1287193"/>
                  <a:pt x="3696929" y="1297858"/>
                </a:cubicBezTo>
                <a:cubicBezTo>
                  <a:pt x="3707486" y="1306907"/>
                  <a:pt x="3715744" y="1318453"/>
                  <a:pt x="3726426" y="1327355"/>
                </a:cubicBezTo>
                <a:cubicBezTo>
                  <a:pt x="3735504" y="1334920"/>
                  <a:pt x="3747139" y="1339115"/>
                  <a:pt x="3755922" y="1347020"/>
                </a:cubicBezTo>
                <a:cubicBezTo>
                  <a:pt x="3780038" y="1368724"/>
                  <a:pt x="3798792" y="1396378"/>
                  <a:pt x="3824748" y="1415845"/>
                </a:cubicBezTo>
                <a:cubicBezTo>
                  <a:pt x="3841628" y="1428505"/>
                  <a:pt x="3873448" y="1453506"/>
                  <a:pt x="3893574" y="1465007"/>
                </a:cubicBezTo>
                <a:cubicBezTo>
                  <a:pt x="3935922" y="1489206"/>
                  <a:pt x="3934668" y="1483271"/>
                  <a:pt x="3982064" y="1504336"/>
                </a:cubicBezTo>
                <a:cubicBezTo>
                  <a:pt x="3995458" y="1510289"/>
                  <a:pt x="4007921" y="1518226"/>
                  <a:pt x="4021393" y="1524000"/>
                </a:cubicBezTo>
                <a:cubicBezTo>
                  <a:pt x="4076850" y="1547766"/>
                  <a:pt x="4023703" y="1518721"/>
                  <a:pt x="4090219" y="1543665"/>
                </a:cubicBezTo>
                <a:cubicBezTo>
                  <a:pt x="4103943" y="1548811"/>
                  <a:pt x="4115824" y="1558183"/>
                  <a:pt x="4129548" y="1563329"/>
                </a:cubicBezTo>
                <a:cubicBezTo>
                  <a:pt x="4142201" y="1568074"/>
                  <a:pt x="4155934" y="1569278"/>
                  <a:pt x="4168877" y="1573161"/>
                </a:cubicBezTo>
                <a:cubicBezTo>
                  <a:pt x="4188731" y="1579117"/>
                  <a:pt x="4207545" y="1588761"/>
                  <a:pt x="4227871" y="1592826"/>
                </a:cubicBezTo>
                <a:cubicBezTo>
                  <a:pt x="4305280" y="1608307"/>
                  <a:pt x="4285060" y="1606206"/>
                  <a:pt x="4395019" y="1612490"/>
                </a:cubicBezTo>
                <a:cubicBezTo>
                  <a:pt x="4470348" y="1616795"/>
                  <a:pt x="4545731" y="1620505"/>
                  <a:pt x="4621161" y="1622323"/>
                </a:cubicBezTo>
                <a:lnTo>
                  <a:pt x="5211097" y="1632155"/>
                </a:lnTo>
                <a:lnTo>
                  <a:pt x="5525729" y="1641987"/>
                </a:lnTo>
                <a:lnTo>
                  <a:pt x="5683045" y="1632155"/>
                </a:lnTo>
              </a:path>
            </a:pathLst>
          </a:custGeom>
          <a:noFill/>
          <a:ln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 rot="60000">
            <a:off x="4398765" y="3098075"/>
            <a:ext cx="915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</a:rPr>
              <a:t>Relational</a:t>
            </a:r>
          </a:p>
        </p:txBody>
      </p:sp>
      <p:sp>
        <p:nvSpPr>
          <p:cNvPr id="15" name="TextBox 14"/>
          <p:cNvSpPr txBox="1"/>
          <p:nvPr/>
        </p:nvSpPr>
        <p:spPr>
          <a:xfrm rot="60000">
            <a:off x="6569050" y="2263097"/>
            <a:ext cx="12403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</a:rPr>
              <a:t>Non-relational</a:t>
            </a:r>
          </a:p>
        </p:txBody>
      </p:sp>
      <p:sp>
        <p:nvSpPr>
          <p:cNvPr id="16" name="TextBox 15"/>
          <p:cNvSpPr txBox="1"/>
          <p:nvPr/>
        </p:nvSpPr>
        <p:spPr>
          <a:xfrm rot="60000">
            <a:off x="8067873" y="3098073"/>
            <a:ext cx="915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solidFill>
                  <a:schemeClr val="tx2"/>
                </a:solidFill>
              </a:rPr>
              <a:t>Relational</a:t>
            </a:r>
            <a:endParaRPr lang="en-US" sz="1400" dirty="0">
              <a:solidFill>
                <a:schemeClr val="tx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65854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Data Analysis Scenario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big company wants to </a:t>
            </a:r>
            <a:r>
              <a:rPr lang="en-GB" i="1" dirty="0"/>
              <a:t>analyse its product sales</a:t>
            </a:r>
            <a:r>
              <a:rPr lang="mr-IN" dirty="0"/>
              <a:t>…</a:t>
            </a:r>
            <a:endParaRPr lang="en-GB" dirty="0"/>
          </a:p>
          <a:p>
            <a:r>
              <a:rPr lang="en-GB" dirty="0"/>
              <a:t>Has database with schema:</a:t>
            </a:r>
          </a:p>
          <a:p>
            <a:endParaRPr lang="en-GB" dirty="0"/>
          </a:p>
          <a:p>
            <a:endParaRPr lang="en-GB" dirty="0"/>
          </a:p>
          <a:p>
            <a:pPr>
              <a:spcBef>
                <a:spcPts val="2472"/>
              </a:spcBef>
            </a:pPr>
            <a:r>
              <a:rPr lang="en-GB" dirty="0"/>
              <a:t>Example query: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3792934" y="2716178"/>
            <a:ext cx="4606133" cy="7848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b="1" dirty="0"/>
              <a:t>Sales</a:t>
            </a:r>
            <a:r>
              <a:rPr lang="en-US" sz="2000" dirty="0"/>
              <a:t>(</a:t>
            </a:r>
            <a:r>
              <a:rPr lang="en-US" sz="2000" dirty="0" err="1"/>
              <a:t>productNo</a:t>
            </a:r>
            <a:r>
              <a:rPr lang="en-US" sz="2000" dirty="0"/>
              <a:t>, date, </a:t>
            </a:r>
            <a:r>
              <a:rPr lang="en-US" sz="2000" dirty="0" err="1"/>
              <a:t>store_name</a:t>
            </a:r>
            <a:r>
              <a:rPr lang="en-US" sz="2000" dirty="0"/>
              <a:t>, price)</a:t>
            </a:r>
          </a:p>
          <a:p>
            <a:pPr>
              <a:spcBef>
                <a:spcPts val="600"/>
              </a:spcBef>
            </a:pPr>
            <a:r>
              <a:rPr lang="en-US" sz="2000" b="1" dirty="0"/>
              <a:t>Stores</a:t>
            </a:r>
            <a:r>
              <a:rPr lang="en-US" sz="2000" dirty="0"/>
              <a:t>(name, city, country, phone)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7572" y="4639637"/>
            <a:ext cx="5836854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SELECT country, AVG(price)</a:t>
            </a:r>
          </a:p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FROM </a:t>
            </a:r>
            <a:r>
              <a:rPr lang="en-US" b="1" dirty="0">
                <a:latin typeface="Courier" charset="0"/>
                <a:ea typeface="Courier" charset="0"/>
                <a:cs typeface="Courier" charset="0"/>
              </a:rPr>
              <a:t>Sales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b="1" dirty="0">
                <a:latin typeface="Courier" charset="0"/>
                <a:ea typeface="Courier" charset="0"/>
                <a:cs typeface="Courier" charset="0"/>
              </a:rPr>
              <a:t>Stores</a:t>
            </a:r>
          </a:p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WHERE </a:t>
            </a:r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Sales.store_name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 = Stores.name AND</a:t>
            </a:r>
            <a:br>
              <a:rPr lang="en-US" dirty="0">
                <a:latin typeface="Courier" charset="0"/>
                <a:ea typeface="Courier" charset="0"/>
                <a:cs typeface="Courier" charset="0"/>
              </a:rPr>
            </a:br>
            <a:r>
              <a:rPr lang="en-US" dirty="0">
                <a:latin typeface="Courier" charset="0"/>
                <a:ea typeface="Courier" charset="0"/>
                <a:cs typeface="Courier" charset="0"/>
              </a:rPr>
              <a:t>      date &gt;= ‘2021-01-01’</a:t>
            </a:r>
          </a:p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GROUP BY country; </a:t>
            </a:r>
          </a:p>
        </p:txBody>
      </p:sp>
      <p:sp>
        <p:nvSpPr>
          <p:cNvPr id="13" name="Rounded Rectangular Callout 12"/>
          <p:cNvSpPr/>
          <p:nvPr/>
        </p:nvSpPr>
        <p:spPr>
          <a:xfrm>
            <a:off x="7721352" y="4210133"/>
            <a:ext cx="2664296" cy="527725"/>
          </a:xfrm>
          <a:prstGeom prst="wedgeRoundRectCallout">
            <a:avLst>
              <a:gd name="adj1" fmla="val -39646"/>
              <a:gd name="adj2" fmla="val 7533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Requires most of the </a:t>
            </a:r>
            <a:r>
              <a:rPr lang="en-US"/>
              <a:t>data 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98131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7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2: Healthcare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sz="2400" dirty="0"/>
              <a:t>A hospital wants to </a:t>
            </a:r>
            <a:r>
              <a:rPr lang="en-GB" sz="2400" i="1" dirty="0"/>
              <a:t>analyse risks, best mode of treatment, </a:t>
            </a:r>
            <a:r>
              <a:rPr lang="mr-IN" sz="2400" i="1" dirty="0"/>
              <a:t>…</a:t>
            </a:r>
            <a:endParaRPr lang="en-GB" sz="2400" i="1" dirty="0"/>
          </a:p>
          <a:p>
            <a:pPr>
              <a:spcBef>
                <a:spcPts val="1872"/>
              </a:spcBef>
            </a:pPr>
            <a:r>
              <a:rPr lang="en-GB" sz="2400" dirty="0"/>
              <a:t>Possible schema:</a:t>
            </a:r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Analyse for</a:t>
            </a:r>
          </a:p>
          <a:p>
            <a:pPr lvl="1"/>
            <a:r>
              <a:rPr lang="en-GB" sz="2000" dirty="0"/>
              <a:t>Best mode of treatment given a certain diagnosis</a:t>
            </a:r>
          </a:p>
          <a:p>
            <a:pPr lvl="1"/>
            <a:r>
              <a:rPr lang="en-GB" sz="2000" dirty="0"/>
              <a:t>Average length of stay</a:t>
            </a:r>
          </a:p>
          <a:p>
            <a:pPr lvl="1"/>
            <a:r>
              <a:rPr lang="mr-IN" sz="2000" dirty="0"/>
              <a:t>…</a:t>
            </a:r>
            <a:endParaRPr lang="en-GB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2812184" y="2703253"/>
            <a:ext cx="6567632" cy="1477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000" b="1" dirty="0" err="1"/>
              <a:t>EpisodesOfCare</a:t>
            </a:r>
            <a:r>
              <a:rPr lang="en-US" sz="2000" dirty="0"/>
              <a:t>(date, </a:t>
            </a:r>
            <a:r>
              <a:rPr lang="en-US" sz="2000" dirty="0" err="1"/>
              <a:t>patientID</a:t>
            </a:r>
            <a:r>
              <a:rPr lang="en-US" sz="2000" dirty="0"/>
              <a:t>, </a:t>
            </a:r>
            <a:r>
              <a:rPr lang="en-US" sz="2000" dirty="0" err="1"/>
              <a:t>diagnosisID</a:t>
            </a:r>
            <a:r>
              <a:rPr lang="en-US" sz="2000" dirty="0"/>
              <a:t>, </a:t>
            </a:r>
            <a:r>
              <a:rPr lang="en-US" sz="2000" dirty="0" err="1"/>
              <a:t>treatmentID</a:t>
            </a:r>
            <a:r>
              <a:rPr lang="en-US" sz="2000" dirty="0"/>
              <a:t>, </a:t>
            </a:r>
            <a:r>
              <a:rPr lang="mr-IN" sz="2000" dirty="0"/>
              <a:t>…</a:t>
            </a:r>
            <a:r>
              <a:rPr lang="en-US" sz="2000" dirty="0"/>
              <a:t>)</a:t>
            </a:r>
          </a:p>
          <a:p>
            <a:pPr>
              <a:spcBef>
                <a:spcPts val="400"/>
              </a:spcBef>
            </a:pPr>
            <a:r>
              <a:rPr lang="en-US" sz="2000" b="1" dirty="0"/>
              <a:t>Patients</a:t>
            </a:r>
            <a:r>
              <a:rPr lang="en-US" sz="2000" dirty="0"/>
              <a:t>(</a:t>
            </a:r>
            <a:r>
              <a:rPr lang="en-US" sz="2000" dirty="0" err="1"/>
              <a:t>patientID</a:t>
            </a:r>
            <a:r>
              <a:rPr lang="en-US" sz="2000" dirty="0"/>
              <a:t>, name, age, gender, </a:t>
            </a:r>
            <a:r>
              <a:rPr lang="mr-IN" sz="2000" dirty="0"/>
              <a:t>…</a:t>
            </a:r>
            <a:r>
              <a:rPr lang="en-US" sz="2000" dirty="0"/>
              <a:t>)</a:t>
            </a:r>
          </a:p>
          <a:p>
            <a:pPr>
              <a:spcBef>
                <a:spcPts val="400"/>
              </a:spcBef>
            </a:pPr>
            <a:r>
              <a:rPr lang="en-US" sz="2000" b="1" dirty="0"/>
              <a:t>Diagnoses</a:t>
            </a:r>
            <a:r>
              <a:rPr lang="en-US" sz="2000" dirty="0"/>
              <a:t>(</a:t>
            </a:r>
            <a:r>
              <a:rPr lang="en-US" sz="2000" dirty="0" err="1"/>
              <a:t>diagnosisID</a:t>
            </a:r>
            <a:r>
              <a:rPr lang="en-US" sz="2000" dirty="0"/>
              <a:t>, </a:t>
            </a:r>
            <a:r>
              <a:rPr lang="mr-IN" sz="2000" dirty="0"/>
              <a:t>…</a:t>
            </a:r>
            <a:r>
              <a:rPr lang="en-US" sz="2000" dirty="0"/>
              <a:t>)</a:t>
            </a:r>
          </a:p>
          <a:p>
            <a:pPr>
              <a:spcBef>
                <a:spcPts val="400"/>
              </a:spcBef>
            </a:pPr>
            <a:r>
              <a:rPr lang="en-US" sz="2000" b="1" dirty="0"/>
              <a:t>Treatments</a:t>
            </a:r>
            <a:r>
              <a:rPr lang="en-US" sz="2000" dirty="0"/>
              <a:t>(</a:t>
            </a:r>
            <a:r>
              <a:rPr lang="en-US" sz="2000" dirty="0" err="1"/>
              <a:t>treatmentID</a:t>
            </a:r>
            <a:r>
              <a:rPr lang="en-US" sz="2000" dirty="0"/>
              <a:t>, </a:t>
            </a:r>
            <a:r>
              <a:rPr lang="mr-IN" sz="2000" dirty="0"/>
              <a:t>…</a:t>
            </a:r>
            <a:r>
              <a:rPr lang="en-GB" sz="2000" dirty="0"/>
              <a:t>)</a:t>
            </a:r>
          </a:p>
        </p:txBody>
      </p:sp>
      <p:sp>
        <p:nvSpPr>
          <p:cNvPr id="13" name="Rounded Rectangular Callout 12"/>
          <p:cNvSpPr/>
          <p:nvPr/>
        </p:nvSpPr>
        <p:spPr>
          <a:xfrm>
            <a:off x="6672064" y="5543067"/>
            <a:ext cx="3285728" cy="550230"/>
          </a:xfrm>
          <a:prstGeom prst="wedgeRoundRectCallout">
            <a:avLst>
              <a:gd name="adj1" fmla="val -41741"/>
              <a:gd name="adj2" fmla="val -68383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i="1" dirty="0"/>
              <a:t>Again:</a:t>
            </a:r>
            <a:r>
              <a:rPr lang="en-US" dirty="0"/>
              <a:t> requires most of the </a:t>
            </a:r>
            <a:r>
              <a:rPr lang="en-US"/>
              <a:t>data 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280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The Problem?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Queries in these applications tend to</a:t>
            </a:r>
            <a:r>
              <a:rPr lang="mr-IN" dirty="0"/>
              <a:t>…</a:t>
            </a:r>
            <a:endParaRPr lang="en-GB" dirty="0"/>
          </a:p>
          <a:p>
            <a:pPr lvl="1"/>
            <a:r>
              <a:rPr lang="en-GB" dirty="0"/>
              <a:t>b</a:t>
            </a:r>
            <a:r>
              <a:rPr lang="en-US" dirty="0"/>
              <a:t>e </a:t>
            </a:r>
            <a:r>
              <a:rPr lang="en-US" b="1" dirty="0"/>
              <a:t>complex</a:t>
            </a:r>
            <a:r>
              <a:rPr lang="en-US" dirty="0"/>
              <a:t>: use aggregates &amp; other advanced features</a:t>
            </a:r>
          </a:p>
          <a:p>
            <a:pPr lvl="1"/>
            <a:r>
              <a:rPr lang="en-GB" b="1" dirty="0"/>
              <a:t>Examine large parts of the data</a:t>
            </a:r>
          </a:p>
          <a:p>
            <a:pPr lvl="1"/>
            <a:endParaRPr lang="en-GB" dirty="0"/>
          </a:p>
          <a:p>
            <a:pPr lvl="2"/>
            <a:endParaRPr lang="en-GB" dirty="0"/>
          </a:p>
          <a:p>
            <a:pPr lvl="2"/>
            <a:endParaRPr lang="en-GB" dirty="0"/>
          </a:p>
          <a:p>
            <a:pPr lvl="2"/>
            <a:endParaRPr lang="en-GB" dirty="0"/>
          </a:p>
          <a:p>
            <a:pPr lvl="2"/>
            <a:endParaRPr lang="en-GB" dirty="0"/>
          </a:p>
          <a:p>
            <a:pPr lvl="2"/>
            <a:endParaRPr lang="en-GB" dirty="0"/>
          </a:p>
          <a:p>
            <a:pPr>
              <a:spcBef>
                <a:spcPts val="2472"/>
              </a:spcBef>
            </a:pPr>
            <a:r>
              <a:rPr lang="en-US" dirty="0"/>
              <a:t>Block large parts of  database</a:t>
            </a:r>
          </a:p>
          <a:p>
            <a:r>
              <a:rPr lang="en-US" dirty="0"/>
              <a:t>Should avoid execution on DBMS serving many users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1762022" y="3217401"/>
            <a:ext cx="5121915" cy="13542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SELECT country, AVG(price)</a:t>
            </a:r>
          </a:p>
          <a:p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FROM Sales, Stores</a:t>
            </a:r>
          </a:p>
          <a:p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WHERE </a:t>
            </a:r>
            <a:r>
              <a:rPr lang="en-US" sz="1600" dirty="0" err="1">
                <a:latin typeface="Courier" charset="0"/>
                <a:ea typeface="Courier" charset="0"/>
                <a:cs typeface="Courier" charset="0"/>
              </a:rPr>
              <a:t>Sales.store_name</a:t>
            </a:r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 = Stores.name AND</a:t>
            </a:r>
            <a:br>
              <a:rPr lang="en-US" sz="1600" dirty="0">
                <a:latin typeface="Courier" charset="0"/>
                <a:ea typeface="Courier" charset="0"/>
                <a:cs typeface="Courier" charset="0"/>
              </a:rPr>
            </a:br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      date &gt;= ‘2021-01-01’</a:t>
            </a:r>
          </a:p>
          <a:p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GROUP BY country; 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233632" y="2857685"/>
          <a:ext cx="3254856" cy="971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528">
                <a:tc>
                  <a:txBody>
                    <a:bodyPr/>
                    <a:lstStyle/>
                    <a:p>
                      <a:r>
                        <a:rPr lang="en-US" sz="1600" dirty="0" err="1"/>
                        <a:t>productNo</a:t>
                      </a:r>
                      <a:endParaRPr lang="en-US" sz="16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date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store_name</a:t>
                      </a:r>
                      <a:endParaRPr lang="en-US" sz="16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price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6284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233633" y="4202829"/>
          <a:ext cx="2461259" cy="9426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0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125">
                <a:tc>
                  <a:txBody>
                    <a:bodyPr/>
                    <a:lstStyle/>
                    <a:p>
                      <a:r>
                        <a:rPr lang="en-US" sz="1600" dirty="0"/>
                        <a:t>name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city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country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phone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536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174707" y="3862520"/>
            <a:ext cx="769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Stores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7573526" y="3308656"/>
            <a:ext cx="1440160" cy="1540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7573526" y="3471730"/>
            <a:ext cx="1440160" cy="15414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7573526" y="3606196"/>
            <a:ext cx="1440160" cy="10951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174708" y="2474913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524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1" grpId="0" animBg="1"/>
      <p:bldP spid="14" grpId="0"/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Warehouses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 systems designed to support data analysis</a:t>
            </a:r>
          </a:p>
          <a:p>
            <a:pPr lvl="1"/>
            <a:r>
              <a:rPr lang="mr-IN" dirty="0"/>
              <a:t>…</a:t>
            </a:r>
            <a:r>
              <a:rPr lang="en-GB" dirty="0"/>
              <a:t>to answer queries </a:t>
            </a:r>
            <a:r>
              <a:rPr lang="en-US" dirty="0"/>
              <a:t>like those in the previous scenarios</a:t>
            </a:r>
          </a:p>
          <a:p>
            <a:r>
              <a:rPr lang="en-US" dirty="0"/>
              <a:t>Typically integrate different data sources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7</a:t>
            </a:fld>
            <a:endParaRPr lang="en-GB"/>
          </a:p>
        </p:txBody>
      </p:sp>
      <p:pic>
        <p:nvPicPr>
          <p:cNvPr id="5" name="Picture 4" descr="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577" y="3357560"/>
            <a:ext cx="831836" cy="831836"/>
          </a:xfrm>
          <a:prstGeom prst="rect">
            <a:avLst/>
          </a:prstGeom>
        </p:spPr>
      </p:pic>
      <p:pic>
        <p:nvPicPr>
          <p:cNvPr id="6" name="Picture 5" descr="Data ware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8174" y="3786740"/>
            <a:ext cx="1675647" cy="1675647"/>
          </a:xfrm>
          <a:prstGeom prst="rect">
            <a:avLst/>
          </a:prstGeom>
        </p:spPr>
      </p:pic>
      <p:pic>
        <p:nvPicPr>
          <p:cNvPr id="7" name="Picture 6" descr="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6" y="4462824"/>
            <a:ext cx="887172" cy="887172"/>
          </a:xfrm>
          <a:prstGeom prst="rect">
            <a:avLst/>
          </a:prstGeom>
        </p:spPr>
      </p:pic>
      <p:pic>
        <p:nvPicPr>
          <p:cNvPr id="8" name="Picture 7" descr="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63" y="5252596"/>
            <a:ext cx="840700" cy="840700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3300414" y="4005065"/>
            <a:ext cx="809589" cy="3070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2806708" y="4661335"/>
            <a:ext cx="1303294" cy="1099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3714716" y="5120536"/>
            <a:ext cx="395287" cy="2294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03362" y="5414117"/>
            <a:ext cx="22620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Data Warehouse</a:t>
            </a:r>
          </a:p>
        </p:txBody>
      </p:sp>
      <p:pic>
        <p:nvPicPr>
          <p:cNvPr id="29" name="Picture 28" descr="lapt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6941" y="4135733"/>
            <a:ext cx="1222073" cy="977658"/>
          </a:xfrm>
          <a:prstGeom prst="rect">
            <a:avLst/>
          </a:prstGeom>
        </p:spPr>
      </p:pic>
      <p:cxnSp>
        <p:nvCxnSpPr>
          <p:cNvPr id="37" name="Straight Arrow Connector 36"/>
          <p:cNvCxnSpPr>
            <a:stCxn id="29" idx="1"/>
            <a:endCxn id="6" idx="3"/>
          </p:cNvCxnSpPr>
          <p:nvPr/>
        </p:nvCxnSpPr>
        <p:spPr>
          <a:xfrm flipH="1">
            <a:off x="7803820" y="4624563"/>
            <a:ext cx="863120" cy="1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504306" y="5102610"/>
            <a:ext cx="17477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accent1"/>
                </a:solidFill>
              </a:rPr>
              <a:t>Data Analyst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4203421" y="4167362"/>
            <a:ext cx="1271567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Extract Transform</a:t>
            </a:r>
            <a:br>
              <a:rPr lang="en-US" dirty="0"/>
            </a:br>
            <a:r>
              <a:rPr lang="en-US" dirty="0"/>
              <a:t>Load</a:t>
            </a:r>
          </a:p>
        </p:txBody>
      </p:sp>
      <p:cxnSp>
        <p:nvCxnSpPr>
          <p:cNvPr id="70" name="Straight Arrow Connector 69"/>
          <p:cNvCxnSpPr>
            <a:endCxn id="6" idx="1"/>
          </p:cNvCxnSpPr>
          <p:nvPr/>
        </p:nvCxnSpPr>
        <p:spPr>
          <a:xfrm>
            <a:off x="5568405" y="4624563"/>
            <a:ext cx="55976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ular Callout 12">
            <a:extLst>
              <a:ext uri="{FF2B5EF4-FFF2-40B4-BE49-F238E27FC236}">
                <a16:creationId xmlns:a16="http://schemas.microsoft.com/office/drawing/2014/main" id="{A82B85AB-BE11-4D78-993C-1E7F4182FB24}"/>
              </a:ext>
            </a:extLst>
          </p:cNvPr>
          <p:cNvSpPr/>
          <p:nvPr/>
        </p:nvSpPr>
        <p:spPr>
          <a:xfrm>
            <a:off x="6500759" y="2797834"/>
            <a:ext cx="2877440" cy="681179"/>
          </a:xfrm>
          <a:prstGeom prst="wedgeRoundRectCallout">
            <a:avLst>
              <a:gd name="adj1" fmla="val -39646"/>
              <a:gd name="adj2" fmla="val 7533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Not constantly updated, but perhaps every day or so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61145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1" grpId="0"/>
      <p:bldP spid="42" grpId="0"/>
      <p:bldP spid="59" grpId="0" animBg="1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OLAP vs OLTP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b="1" dirty="0"/>
              <a:t>OLAP (Online Analytic Processing)</a:t>
            </a:r>
            <a:r>
              <a:rPr lang="en-US" sz="2400" dirty="0"/>
              <a:t>: refers to the process of </a:t>
            </a:r>
            <a:r>
              <a:rPr lang="en-US" sz="2400" dirty="0" err="1"/>
              <a:t>analysing</a:t>
            </a:r>
            <a:r>
              <a:rPr lang="en-US" sz="2400" dirty="0"/>
              <a:t> complex data stored in a data warehouse</a:t>
            </a:r>
          </a:p>
          <a:p>
            <a:r>
              <a:rPr lang="en-US" sz="2400" b="1" dirty="0"/>
              <a:t>OLAP query</a:t>
            </a:r>
            <a:r>
              <a:rPr lang="en-US" sz="2400" dirty="0"/>
              <a:t>: a query used in OLAP</a:t>
            </a:r>
          </a:p>
          <a:p>
            <a:pPr lvl="1"/>
            <a:r>
              <a:rPr lang="en-US" sz="2000" dirty="0"/>
              <a:t>Typical OLAP query: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>
              <a:spcBef>
                <a:spcPts val="4272"/>
              </a:spcBef>
            </a:pPr>
            <a:r>
              <a:rPr lang="en-US" sz="2400" b="1" dirty="0"/>
              <a:t>OLTP (Online Transaction Processing)</a:t>
            </a:r>
            <a:r>
              <a:rPr lang="en-US" sz="2400" dirty="0"/>
              <a:t>: traditional DBMS tasks</a:t>
            </a:r>
          </a:p>
          <a:p>
            <a:pPr lvl="1"/>
            <a:r>
              <a:rPr lang="en-US" sz="2000" dirty="0"/>
              <a:t>queries and updates that can be executed fast</a:t>
            </a:r>
          </a:p>
          <a:p>
            <a:pPr lvl="1"/>
            <a:r>
              <a:rPr lang="en-US" sz="2000" dirty="0"/>
              <a:t>affect a small portion of a database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3246502" y="3284984"/>
            <a:ext cx="5698996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SELECT country, AVG(price)</a:t>
            </a:r>
          </a:p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FROM Sales, Stores</a:t>
            </a:r>
          </a:p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WHERE </a:t>
            </a:r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Sales.store_name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Stores.name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 AND</a:t>
            </a:r>
            <a:br>
              <a:rPr lang="en-US" dirty="0">
                <a:latin typeface="Courier" charset="0"/>
                <a:ea typeface="Courier" charset="0"/>
                <a:cs typeface="Courier" charset="0"/>
              </a:rPr>
            </a:br>
            <a:r>
              <a:rPr lang="en-US">
                <a:latin typeface="Courier" charset="0"/>
                <a:ea typeface="Courier" charset="0"/>
                <a:cs typeface="Courier" charset="0"/>
              </a:rPr>
              <a:t>      date &gt;= ‘2021-01-01’</a:t>
            </a:r>
          </a:p>
          <a:p>
            <a:r>
              <a:rPr lang="en-US">
                <a:latin typeface="Courier" charset="0"/>
                <a:ea typeface="Courier" charset="0"/>
                <a:cs typeface="Courier" charset="0"/>
              </a:rPr>
              <a:t>GROUP 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BY country;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5991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56224-25A2-4710-A612-60D3EC884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F324E-F297-46A0-B528-FB628B43C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Data-analysis based on OLAP differs from what we have focused on before (in especially transaction management) in that there are typically complex but few queries</a:t>
            </a:r>
          </a:p>
          <a:p>
            <a:pPr lvl="1"/>
            <a:r>
              <a:rPr lang="en-US" dirty="0"/>
              <a:t>Often involving GROUP BY and some WHERE clause and can depend on very much data</a:t>
            </a:r>
          </a:p>
          <a:p>
            <a:r>
              <a:rPr lang="en-US" dirty="0"/>
              <a:t>(This compares to OLTP which consists of many queries at once, but where each are typically simple and only affects a small amount of data)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47633-F294-48FD-9DCE-75059C531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99523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8.5|24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8|37.8|8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.3|43.4|3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9|31.3|8.3|10.4|14.3|25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9|17.4|8.6|12.2|22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1|33.4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388</TotalTime>
  <Words>516</Words>
  <Application>Microsoft Office PowerPoint</Application>
  <PresentationFormat>Widescreen</PresentationFormat>
  <Paragraphs>106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Calibri Light</vt:lpstr>
      <vt:lpstr>Courier</vt:lpstr>
      <vt:lpstr>Retrospect</vt:lpstr>
      <vt:lpstr>Introduction to  data-analysis</vt:lpstr>
      <vt:lpstr>Overview over video</vt:lpstr>
      <vt:lpstr>The Final Part</vt:lpstr>
      <vt:lpstr>A Data Analysis Scenario</vt:lpstr>
      <vt:lpstr>Scenario 2: Healthcare Analytics</vt:lpstr>
      <vt:lpstr>What Is The Problem?</vt:lpstr>
      <vt:lpstr>Data Warehouses</vt:lpstr>
      <vt:lpstr>OLAP vs OLTP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data-analysis</dc:title>
  <dc:creator>Rasmus Ibsen-Jensen</dc:creator>
  <cp:lastModifiedBy>Rasmus Ibsen-Jensen</cp:lastModifiedBy>
  <cp:revision>12</cp:revision>
  <dcterms:created xsi:type="dcterms:W3CDTF">2021-01-03T18:36:03Z</dcterms:created>
  <dcterms:modified xsi:type="dcterms:W3CDTF">2021-01-05T15:57:45Z</dcterms:modified>
</cp:coreProperties>
</file>