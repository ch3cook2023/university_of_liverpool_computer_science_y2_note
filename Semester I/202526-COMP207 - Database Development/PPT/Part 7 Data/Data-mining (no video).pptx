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473" r:id="rId3"/>
    <p:sldId id="469" r:id="rId4"/>
    <p:sldId id="448" r:id="rId5"/>
    <p:sldId id="472" r:id="rId6"/>
    <p:sldId id="451" r:id="rId7"/>
    <p:sldId id="468" r:id="rId8"/>
    <p:sldId id="486" r:id="rId9"/>
    <p:sldId id="470" r:id="rId10"/>
    <p:sldId id="471" r:id="rId11"/>
    <p:sldId id="47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1" autoAdjust="0"/>
    <p:restoredTop sz="94660"/>
  </p:normalViewPr>
  <p:slideViewPr>
    <p:cSldViewPr snapToGrid="0">
      <p:cViewPr varScale="1">
        <p:scale>
          <a:sx n="86" d="100"/>
          <a:sy n="86" d="100"/>
        </p:scale>
        <p:origin x="126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191C7D-9640-49E3-83C6-9BB54FBBE0FA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118650-29BD-4BBF-8B4C-B10132F641E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4900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E6BCE-8179-4218-A772-03A855E03F0D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7277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2709-3A6C-4BC0-8579-C9B4AE58EF7C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558EB-526B-419A-B35D-F7E70B1B76A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27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2709-3A6C-4BC0-8579-C9B4AE58EF7C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558EB-526B-419A-B35D-F7E70B1B7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12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2709-3A6C-4BC0-8579-C9B4AE58EF7C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558EB-526B-419A-B35D-F7E70B1B76A4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2535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2709-3A6C-4BC0-8579-C9B4AE58EF7C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558EB-526B-419A-B35D-F7E70B1B7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785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2709-3A6C-4BC0-8579-C9B4AE58EF7C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558EB-526B-419A-B35D-F7E70B1B7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02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2709-3A6C-4BC0-8579-C9B4AE58EF7C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558EB-526B-419A-B35D-F7E70B1B7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821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2709-3A6C-4BC0-8579-C9B4AE58EF7C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558EB-526B-419A-B35D-F7E70B1B7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644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C92709-3A6C-4BC0-8579-C9B4AE58EF7C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7558EB-526B-419A-B35D-F7E70B1B7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472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2709-3A6C-4BC0-8579-C9B4AE58EF7C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558EB-526B-419A-B35D-F7E70B1B7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347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2709-3A6C-4BC0-8579-C9B4AE58EF7C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558EB-526B-419A-B35D-F7E70B1B7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526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2709-3A6C-4BC0-8579-C9B4AE58EF7C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7558EB-526B-419A-B35D-F7E70B1B76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132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0C92709-3A6C-4BC0-8579-C9B4AE58EF7C}" type="datetimeFigureOut">
              <a:rPr lang="en-GB" smtClean="0"/>
              <a:t>05/01/2021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7558EB-526B-419A-B35D-F7E70B1B76A4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1952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FE22D-CFE3-4118-BFFF-89DE60F012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Data-mining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73633-E97A-4E0D-9EB4-5E617B329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5453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D6446-6EC5-4874-9B0A-881061ACC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5DC16-F1F4-4BAE-8A06-126E8D867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Here, we will see a brief introduction to data-mining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C77B31-9A72-4A6B-AF81-827096A40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1342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01168" lvl="1" indent="0">
              <a:buNone/>
            </a:pPr>
            <a:r>
              <a:rPr lang="en-GB" sz="2500" dirty="0"/>
              <a:t>Can be seen as extended form of OLAP</a:t>
            </a:r>
          </a:p>
          <a:p>
            <a:pPr marL="201168" lvl="1" indent="0">
              <a:buNone/>
            </a:pPr>
            <a:endParaRPr lang="en-GB" sz="2500" dirty="0"/>
          </a:p>
          <a:p>
            <a:pPr marL="201168" lvl="1" indent="0">
              <a:buNone/>
            </a:pPr>
            <a:r>
              <a:rPr lang="en-GB" sz="2500" dirty="0"/>
              <a:t>“</a:t>
            </a:r>
            <a:r>
              <a:rPr lang="en-GB" sz="2500" i="1" dirty="0"/>
              <a:t>Find factors that have had the most influences over sales of product X?</a:t>
            </a:r>
            <a:r>
              <a:rPr lang="en-GB" sz="2500" dirty="0"/>
              <a:t>” rather than trying out queries like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3170124" y="3693181"/>
            <a:ext cx="4134465" cy="10772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SELECT </a:t>
            </a:r>
            <a:r>
              <a:rPr lang="en-US" sz="1600" b="1" dirty="0">
                <a:latin typeface="Courier" charset="0"/>
                <a:ea typeface="Courier" charset="0"/>
                <a:cs typeface="Courier" charset="0"/>
              </a:rPr>
              <a:t>model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, SUM(price)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FROM Sales NATURAL JOIN Products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WHERE type=‘X’</a:t>
            </a:r>
          </a:p>
          <a:p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GROUP BY </a:t>
            </a:r>
            <a:r>
              <a:rPr lang="en-US" sz="1600" b="1" dirty="0">
                <a:latin typeface="Courier" charset="0"/>
                <a:ea typeface="Courier" charset="0"/>
                <a:cs typeface="Courier" charset="0"/>
              </a:rPr>
              <a:t>model</a:t>
            </a:r>
            <a:r>
              <a:rPr lang="en-US" sz="1600" dirty="0">
                <a:latin typeface="Courier" charset="0"/>
                <a:ea typeface="Courier" charset="0"/>
                <a:cs typeface="Courier" charset="0"/>
              </a:rPr>
              <a:t>;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8253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Data-Mining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Refers to discovery of patterns/knowledge in data</a:t>
            </a:r>
          </a:p>
          <a:p>
            <a:pPr lvl="1"/>
            <a:r>
              <a:rPr lang="en-US" dirty="0"/>
              <a:t>“50% of people who buy hot dogs also buy mustard.”</a:t>
            </a:r>
          </a:p>
          <a:p>
            <a:pPr lvl="1"/>
            <a:r>
              <a:rPr lang="en-US" dirty="0"/>
              <a:t>“These three individual’s pattern of bank transactions indicate that they are running a terrorist cell.”</a:t>
            </a:r>
          </a:p>
          <a:p>
            <a:r>
              <a:rPr lang="en-US" dirty="0"/>
              <a:t>Combines many different areas of computer science</a:t>
            </a:r>
            <a:br>
              <a:rPr lang="en-US" dirty="0"/>
            </a:br>
            <a:r>
              <a:rPr lang="en-US" dirty="0"/>
              <a:t>and mathematics</a:t>
            </a:r>
          </a:p>
          <a:p>
            <a:pPr lvl="1"/>
            <a:r>
              <a:rPr lang="en-US" dirty="0"/>
              <a:t>Machine Learning: bit in COMP219, might see methods in other modules</a:t>
            </a:r>
          </a:p>
          <a:p>
            <a:pPr lvl="1"/>
            <a:r>
              <a:rPr lang="en-US" dirty="0"/>
              <a:t>Statistics</a:t>
            </a:r>
          </a:p>
          <a:p>
            <a:pPr lvl="1"/>
            <a:r>
              <a:rPr lang="en-US" dirty="0"/>
              <a:t>Data management</a:t>
            </a:r>
          </a:p>
          <a:p>
            <a:r>
              <a:rPr lang="en-US" dirty="0"/>
              <a:t>In the next videos: illustration of a basic method for 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31391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1: </a:t>
            </a:r>
            <a:r>
              <a:rPr lang="en-GB" dirty="0"/>
              <a:t>Supermarket Checkout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Imagine a supermarket</a:t>
            </a:r>
            <a:r>
              <a:rPr lang="mr-IN" dirty="0"/>
              <a:t>…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>
              <a:spcBef>
                <a:spcPts val="3072"/>
              </a:spcBef>
            </a:pPr>
            <a:r>
              <a:rPr lang="en-GB" dirty="0"/>
              <a:t>Use for decision making: “Which items are frequently bought together?”</a:t>
            </a:r>
          </a:p>
          <a:p>
            <a:pPr lvl="1"/>
            <a:r>
              <a:rPr lang="en-GB" dirty="0"/>
              <a:t>Can influence item placement, decisions on prices, etc.</a:t>
            </a:r>
          </a:p>
          <a:p>
            <a:pPr lvl="1"/>
            <a:r>
              <a:rPr lang="en-GB" dirty="0"/>
              <a:t>Can uncover interesting relationships, e.g.: diapers-beer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47728" y="2132856"/>
          <a:ext cx="4896544" cy="2088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Purchase </a:t>
                      </a:r>
                      <a:r>
                        <a:rPr lang="en-US" sz="2000" baseline="0" dirty="0"/>
                        <a:t>ID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Items</a:t>
                      </a:r>
                      <a:r>
                        <a:rPr lang="en-US" sz="2000" baseline="0" dirty="0"/>
                        <a:t> </a:t>
                      </a:r>
                      <a:r>
                        <a:rPr lang="en-US" sz="2000" dirty="0"/>
                        <a:t>bought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101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</a:t>
                      </a:r>
                      <a:r>
                        <a:rPr lang="en-US" sz="2000" baseline="0" dirty="0"/>
                        <a:t> cookies, juice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792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juice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1130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milk, bread, eggs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1735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bread, cookies, coffee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mr-IN" sz="2000" dirty="0"/>
                        <a:t>…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mr-IN" sz="2000" dirty="0"/>
                        <a:t>…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5265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2: You Might Also Like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Imagine a film streaming service</a:t>
            </a:r>
            <a:r>
              <a:rPr lang="mr-IN" dirty="0"/>
              <a:t>…</a:t>
            </a:r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Possible question: “Which viewers frequently like the same films?”</a:t>
            </a:r>
          </a:p>
          <a:p>
            <a:pPr lvl="1"/>
            <a:r>
              <a:rPr lang="en-GB" dirty="0"/>
              <a:t>Could be used for recommending films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680354"/>
              </p:ext>
            </p:extLst>
          </p:nvPr>
        </p:nvGraphicFramePr>
        <p:xfrm>
          <a:off x="2494578" y="2233216"/>
          <a:ext cx="6779096" cy="2436000"/>
        </p:xfrm>
        <a:graphic>
          <a:graphicData uri="http://schemas.openxmlformats.org/drawingml/2006/table">
            <a:tbl>
              <a:tblPr firstRow="1" bandRow="1">
                <a:tableStyleId>{1FECB4D8-DB02-4DC6-A0A2-4F2EBAE1DC90}</a:tableStyleId>
              </a:tblPr>
              <a:tblGrid>
                <a:gridCol w="2242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Films</a:t>
                      </a:r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Liked</a:t>
                      </a:r>
                      <a:r>
                        <a:rPr lang="en-US" sz="2000" baseline="0" dirty="0"/>
                        <a:t> by</a:t>
                      </a:r>
                      <a:r>
                        <a:rPr lang="mr-IN" sz="2000" baseline="0" dirty="0"/>
                        <a:t>…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Bourne</a:t>
                      </a:r>
                      <a:r>
                        <a:rPr lang="en-US" sz="2000" baseline="0" dirty="0"/>
                        <a:t> Identity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Anna, Chloe, Dave, Emma, Fred,</a:t>
                      </a:r>
                      <a:r>
                        <a:rPr lang="en-US" sz="2000" baseline="0" dirty="0"/>
                        <a:t> Henry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Bourne</a:t>
                      </a:r>
                      <a:r>
                        <a:rPr lang="en-US" sz="2000" baseline="0" dirty="0"/>
                        <a:t> Supremacy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Anna, Dave, Emma, Gwen,</a:t>
                      </a:r>
                      <a:r>
                        <a:rPr lang="en-US" sz="2000" baseline="0" dirty="0"/>
                        <a:t> Henry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Bourne</a:t>
                      </a:r>
                      <a:r>
                        <a:rPr lang="en-US" sz="2000" baseline="0" dirty="0"/>
                        <a:t> Ultimatum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Anna, Emma, Fred</a:t>
                      </a:r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Harry</a:t>
                      </a:r>
                      <a:r>
                        <a:rPr lang="en-US" sz="2000" baseline="0" dirty="0"/>
                        <a:t> Potter 1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Ben,</a:t>
                      </a:r>
                      <a:r>
                        <a:rPr lang="en-US" sz="2000" baseline="0" dirty="0"/>
                        <a:t> Chloe, Dave, Emma, Gwen, Henry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GB" sz="2000" dirty="0"/>
                        <a:t>Harry</a:t>
                      </a:r>
                      <a:r>
                        <a:rPr lang="en-GB" sz="2000" baseline="0" dirty="0"/>
                        <a:t> Potter 2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Ben,</a:t>
                      </a:r>
                      <a:r>
                        <a:rPr lang="en-US" sz="2000" baseline="0" dirty="0"/>
                        <a:t> Dave, Gwen, Henry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6800">
                <a:tc>
                  <a:txBody>
                    <a:bodyPr/>
                    <a:lstStyle/>
                    <a:p>
                      <a:r>
                        <a:rPr lang="en-US" sz="2000" dirty="0"/>
                        <a:t>Harry</a:t>
                      </a:r>
                      <a:r>
                        <a:rPr lang="en-US" sz="2000" baseline="0" dirty="0"/>
                        <a:t> Potter 3</a:t>
                      </a:r>
                      <a:endParaRPr lang="en-US" sz="2000" dirty="0"/>
                    </a:p>
                  </a:txBody>
                  <a:tcPr marT="21600" marB="21600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Ben,</a:t>
                      </a:r>
                      <a:r>
                        <a:rPr lang="en-US" sz="2000" baseline="0" dirty="0"/>
                        <a:t> Henry</a:t>
                      </a:r>
                      <a:endParaRPr lang="en-US" sz="2000" dirty="0"/>
                    </a:p>
                  </a:txBody>
                  <a:tcPr marT="21600" marB="216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341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Many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Deviation Detection</a:t>
            </a:r>
          </a:p>
          <a:p>
            <a:pPr lvl="1"/>
            <a:r>
              <a:rPr lang="en-GB" dirty="0"/>
              <a:t>Identify anomalies (e.g., intruders trying to break into a system)</a:t>
            </a:r>
          </a:p>
          <a:p>
            <a:r>
              <a:rPr lang="en-GB" b="1" dirty="0"/>
              <a:t>Link Analysis</a:t>
            </a:r>
          </a:p>
          <a:p>
            <a:pPr lvl="1"/>
            <a:r>
              <a:rPr lang="en-GB" dirty="0"/>
              <a:t>Try to discover links between attributes (e.g., association rules)</a:t>
            </a:r>
          </a:p>
          <a:p>
            <a:r>
              <a:rPr lang="en-GB" b="1" dirty="0"/>
              <a:t>Predictive Modelling (“Prediction”)</a:t>
            </a:r>
          </a:p>
          <a:p>
            <a:pPr lvl="1"/>
            <a:r>
              <a:rPr lang="en-GB" dirty="0"/>
              <a:t>Try to predict future behaviour of certain attributes in the data based on past behaviour</a:t>
            </a:r>
          </a:p>
          <a:p>
            <a:r>
              <a:rPr lang="en-GB" b="1" dirty="0"/>
              <a:t>Database Segmentation</a:t>
            </a:r>
          </a:p>
          <a:p>
            <a:pPr lvl="1"/>
            <a:r>
              <a:rPr lang="en-GB" dirty="0"/>
              <a:t>Group data by similar “behaviour” (e.g., group customers based on spending habits, reaction to a marketing campaign, etc.)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1E346-6A63-4251-93E3-75516FBCFDB6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A6383C07-9DB4-4C73-9AEC-88420E4920B3}"/>
              </a:ext>
            </a:extLst>
          </p:cNvPr>
          <p:cNvSpPr/>
          <p:nvPr/>
        </p:nvSpPr>
        <p:spPr>
          <a:xfrm rot="10800000">
            <a:off x="7482468" y="2848682"/>
            <a:ext cx="1070517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08057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Discovered Knowledge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Association rules</a:t>
            </a:r>
          </a:p>
          <a:p>
            <a:r>
              <a:rPr lang="en-US" b="1" dirty="0"/>
              <a:t>Classification hierarchies</a:t>
            </a:r>
          </a:p>
          <a:p>
            <a:pPr lvl="1"/>
            <a:r>
              <a:rPr lang="en-US" dirty="0"/>
              <a:t>Example: Classification of mutual funds based on performance data characteristics such as growth, income, stability, </a:t>
            </a:r>
            <a:r>
              <a:rPr lang="mr-IN" dirty="0"/>
              <a:t>…</a:t>
            </a:r>
            <a:endParaRPr lang="en-US" dirty="0"/>
          </a:p>
          <a:p>
            <a:r>
              <a:rPr lang="en-US" b="1" dirty="0"/>
              <a:t>Sequential patterns</a:t>
            </a:r>
          </a:p>
          <a:p>
            <a:pPr lvl="1"/>
            <a:r>
              <a:rPr lang="en-US" dirty="0"/>
              <a:t>Example: “If a patient underwent cardiac bypass surgery for blocked arteries and an aneurysm and later developed high blood urea within a year of surgery, he/she is likely to suffer from kidney failure within the next 18 months.”</a:t>
            </a:r>
          </a:p>
          <a:p>
            <a:r>
              <a:rPr lang="en-US" b="1" dirty="0"/>
              <a:t>Clustering</a:t>
            </a:r>
          </a:p>
          <a:p>
            <a:pPr lvl="1"/>
            <a:r>
              <a:rPr lang="en-US" dirty="0"/>
              <a:t>Example: Group treatment data on a disease based on similarity of side effects.</a:t>
            </a:r>
          </a:p>
          <a:p>
            <a:r>
              <a:rPr lang="en-US" dirty="0"/>
              <a:t>...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DE4F256A-56E5-4B9F-9D42-68AAFD00F628}"/>
              </a:ext>
            </a:extLst>
          </p:cNvPr>
          <p:cNvSpPr/>
          <p:nvPr/>
        </p:nvSpPr>
        <p:spPr>
          <a:xfrm rot="10800000">
            <a:off x="3479180" y="1804105"/>
            <a:ext cx="1070517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6617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Data-Mining – Real life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US phone company</a:t>
            </a:r>
          </a:p>
          <a:p>
            <a:pPr marL="914400" lvl="1" indent="-514350"/>
            <a:r>
              <a:rPr lang="en-GB" dirty="0"/>
              <a:t>Found 10,000 residential customers that paid above 1000$ a month</a:t>
            </a:r>
          </a:p>
          <a:p>
            <a:pPr marL="914400" lvl="1" indent="-514350"/>
            <a:r>
              <a:rPr lang="en-GB" dirty="0"/>
              <a:t>They were businesses that tried to use cheaper residential rates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Supermarkets (Target, US)</a:t>
            </a:r>
          </a:p>
          <a:p>
            <a:pPr marL="914400" lvl="1" indent="-514350"/>
            <a:r>
              <a:rPr lang="en-GB" dirty="0"/>
              <a:t>Managed to send promotional offers for diapers before some of the families had announced they were pregnant</a:t>
            </a:r>
          </a:p>
          <a:p>
            <a:pPr marL="914400" lvl="1" indent="-514350"/>
            <a:r>
              <a:rPr lang="en-GB" dirty="0"/>
              <a:t>(Outcome: partially hides this nowadays by adding “wrong” offers)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Crime prevention </a:t>
            </a:r>
          </a:p>
          <a:p>
            <a:pPr marL="914400" lvl="1" indent="-514350"/>
            <a:r>
              <a:rPr lang="en-GB" dirty="0"/>
              <a:t>Where to deploy police, who to search at borders, what intelligence to take seriously and credit card fraud detection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Personalities</a:t>
            </a:r>
          </a:p>
          <a:p>
            <a:pPr marL="914400" lvl="1" indent="-514350"/>
            <a:r>
              <a:rPr lang="en-GB" dirty="0"/>
              <a:t>Facebook likes + data mining is better at judging peoples personality than humans</a:t>
            </a:r>
          </a:p>
          <a:p>
            <a:pPr marL="914400" lvl="1" indent="-514350"/>
            <a:r>
              <a:rPr lang="en-GB" dirty="0"/>
              <a:t>See “</a:t>
            </a:r>
            <a:r>
              <a:rPr lang="en-GB" b="1" dirty="0"/>
              <a:t>Computer-based personality judgments are more accurate than those made by humans</a:t>
            </a:r>
            <a:r>
              <a:rPr lang="en-GB" dirty="0"/>
              <a:t>“ by Wu </a:t>
            </a:r>
            <a:r>
              <a:rPr lang="en-GB" dirty="0" err="1"/>
              <a:t>Youyou</a:t>
            </a:r>
            <a:r>
              <a:rPr lang="en-GB" dirty="0"/>
              <a:t> et. al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Email spam detection</a:t>
            </a:r>
          </a:p>
          <a:p>
            <a:pPr marL="914400" lvl="1" indent="-514350"/>
            <a:r>
              <a:rPr lang="en-GB" dirty="0"/>
              <a:t>e.g. in </a:t>
            </a:r>
            <a:r>
              <a:rPr lang="en-GB" dirty="0" err="1"/>
              <a:t>GMail</a:t>
            </a:r>
            <a:endParaRPr lang="en-GB" dirty="0"/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Recommendations</a:t>
            </a:r>
          </a:p>
          <a:p>
            <a:pPr marL="914400" lvl="1" indent="-514350"/>
            <a:r>
              <a:rPr lang="en-GB" dirty="0"/>
              <a:t>Related items in e.g. Netflix, Amazon or others</a:t>
            </a:r>
          </a:p>
          <a:p>
            <a:pPr marL="914400" lvl="1" indent="-514350"/>
            <a:r>
              <a:rPr lang="en-GB" dirty="0"/>
              <a:t>People you may know in Facebook</a:t>
            </a:r>
          </a:p>
          <a:p>
            <a:pPr marL="914400" lvl="1" indent="-514350"/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1E346-6A63-4251-93E3-75516FBCFDB6}" type="slidenum">
              <a:rPr lang="en-GB" smtClean="0"/>
              <a:pPr/>
              <a:t>9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801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 and how to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en-GB"/>
              <a:t>Supermarkets </a:t>
            </a:r>
            <a:r>
              <a:rPr lang="en-GB" dirty="0"/>
              <a:t>(Target, US)</a:t>
            </a:r>
          </a:p>
          <a:p>
            <a:pPr marL="914400" lvl="1" indent="-514350"/>
            <a:r>
              <a:rPr lang="en-GB" dirty="0"/>
              <a:t>Managed to send promotional offers for diapers before some of the families had announced they were pregnant</a:t>
            </a:r>
          </a:p>
          <a:p>
            <a:pPr marL="914400" lvl="1" indent="-514350"/>
            <a:r>
              <a:rPr lang="en-GB" dirty="0"/>
              <a:t>(Outcome: partially hides this nowadays by adding “wrong” offers)</a:t>
            </a:r>
          </a:p>
          <a:p>
            <a:r>
              <a:rPr lang="en-US" dirty="0"/>
              <a:t>Many other dubious examples</a:t>
            </a:r>
          </a:p>
          <a:p>
            <a:r>
              <a:rPr lang="en-US" dirty="0"/>
              <a:t>This module does not cover:</a:t>
            </a:r>
          </a:p>
          <a:p>
            <a:pPr lvl="1"/>
            <a:r>
              <a:rPr lang="en-US" dirty="0"/>
              <a:t>Ethics</a:t>
            </a:r>
          </a:p>
          <a:p>
            <a:pPr lvl="1"/>
            <a:r>
              <a:rPr lang="en-US" dirty="0"/>
              <a:t>How to use the information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815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A8A22-17F2-444E-87E7-759C7941E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53712-4C0D-4F52-B0B1-E91506D93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Here, we saw what data-mining is</a:t>
            </a:r>
          </a:p>
          <a:p>
            <a:r>
              <a:rPr lang="en-US" dirty="0"/>
              <a:t>In the next videos, we will see how to perform a basic version of it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88C4AA-4BC6-4B05-9F85-54FD97B6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452549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4.6|42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6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8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3.7|96.6|32|78.5|47.5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79</TotalTime>
  <Words>733</Words>
  <Application>Microsoft Office PowerPoint</Application>
  <PresentationFormat>Widescreen</PresentationFormat>
  <Paragraphs>122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Courier</vt:lpstr>
      <vt:lpstr>Retrospect</vt:lpstr>
      <vt:lpstr>Data-mining</vt:lpstr>
      <vt:lpstr>Overview over this video</vt:lpstr>
      <vt:lpstr>Data-Mining</vt:lpstr>
      <vt:lpstr>Data-Mining</vt:lpstr>
      <vt:lpstr>Scenario 1: Supermarket Checkout</vt:lpstr>
      <vt:lpstr>Scenario 2: You Might Also Like…</vt:lpstr>
      <vt:lpstr>Many Applications</vt:lpstr>
      <vt:lpstr>Types of Discovered Knowledge</vt:lpstr>
      <vt:lpstr>Data-Mining – Real life examples</vt:lpstr>
      <vt:lpstr>Ethics and how to use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Data-mining</dc:title>
  <dc:creator>Rasmus Ibsen-Jensen</dc:creator>
  <cp:lastModifiedBy>Rasmus Ibsen-Jensen</cp:lastModifiedBy>
  <cp:revision>6</cp:revision>
  <dcterms:created xsi:type="dcterms:W3CDTF">2021-01-03T19:11:05Z</dcterms:created>
  <dcterms:modified xsi:type="dcterms:W3CDTF">2021-01-05T17:11:25Z</dcterms:modified>
</cp:coreProperties>
</file>