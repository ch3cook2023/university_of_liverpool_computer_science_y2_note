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99" r:id="rId3"/>
    <p:sldId id="460" r:id="rId4"/>
    <p:sldId id="493" r:id="rId5"/>
    <p:sldId id="462" r:id="rId6"/>
    <p:sldId id="463" r:id="rId7"/>
    <p:sldId id="494" r:id="rId8"/>
    <p:sldId id="498" r:id="rId9"/>
    <p:sldId id="501" r:id="rId10"/>
    <p:sldId id="465" r:id="rId11"/>
    <p:sldId id="466" r:id="rId12"/>
    <p:sldId id="503" r:id="rId13"/>
    <p:sldId id="467" r:id="rId14"/>
    <p:sldId id="504" r:id="rId15"/>
    <p:sldId id="489" r:id="rId16"/>
    <p:sldId id="50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13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209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84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67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26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25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242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54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56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59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69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FE39235-2010-4916-A855-25CFA239208E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C0FD442-7B29-4040-BE3A-5A907B01DCF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71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30.png"/><Relationship Id="rId5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7.png"/><Relationship Id="rId5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CE98-C966-4E15-89A4-2401484B2A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about the </a:t>
            </a:r>
            <a:br>
              <a:rPr lang="en-US" dirty="0"/>
            </a:br>
            <a:r>
              <a:rPr lang="en-US" dirty="0"/>
              <a:t>market-basket model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EFB53-485C-4597-AB2F-B4C9814B7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1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266F-CC9A-462E-9C02-514E7098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358FB-D7CE-4EC2-BD4F-798E5D76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we will see:</a:t>
            </a:r>
          </a:p>
          <a:p>
            <a:pPr lvl="1"/>
            <a:r>
              <a:rPr lang="en-US" dirty="0"/>
              <a:t>more complex tables (i.e. with respect to a column instead of the full table) </a:t>
            </a:r>
          </a:p>
          <a:p>
            <a:pPr lvl="1"/>
            <a:r>
              <a:rPr lang="en-GB" dirty="0"/>
              <a:t>association rules</a:t>
            </a:r>
          </a:p>
          <a:p>
            <a:pPr lvl="1"/>
            <a:r>
              <a:rPr lang="en-US" dirty="0"/>
              <a:t>a-priori algorithm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3321E-0D73-41DF-9AF4-BB127D30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42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Complex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data is more complex: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Items are clear (milk, bread, cookies, juice, eggs, </a:t>
            </a:r>
            <a:r>
              <a:rPr lang="mr-IN" dirty="0"/>
              <a:t>…</a:t>
            </a:r>
            <a:r>
              <a:rPr lang="en-GB" dirty="0"/>
              <a:t>), </a:t>
            </a:r>
            <a:br>
              <a:rPr lang="en-GB" dirty="0"/>
            </a:br>
            <a:r>
              <a:rPr lang="en-GB" dirty="0"/>
              <a:t>but </a:t>
            </a:r>
            <a:r>
              <a:rPr lang="en-GB" i="1" dirty="0"/>
              <a:t>what are the baskets</a:t>
            </a:r>
            <a:r>
              <a:rPr lang="en-GB" dirty="0"/>
              <a:t>?</a:t>
            </a:r>
          </a:p>
          <a:p>
            <a:r>
              <a:rPr lang="en-GB" dirty="0"/>
              <a:t>Solution: consider baskets with respect to a column</a:t>
            </a:r>
          </a:p>
          <a:p>
            <a:pPr lvl="1"/>
            <a:r>
              <a:rPr lang="en-GB" dirty="0"/>
              <a:t>Exercise sheet for next week will make this more clear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26111"/>
              </p:ext>
            </p:extLst>
          </p:nvPr>
        </p:nvGraphicFramePr>
        <p:xfrm>
          <a:off x="3001825" y="2261294"/>
          <a:ext cx="6480720" cy="1740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Purchase </a:t>
                      </a:r>
                      <a:r>
                        <a:rPr lang="en-US" sz="2000" baseline="0" dirty="0"/>
                        <a:t>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Customer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8052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 (1/4): Customer Baskets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Baskets with respect to customer IDs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One basket per customer ID</a:t>
            </a:r>
          </a:p>
          <a:p>
            <a:pPr lvl="1"/>
            <a:r>
              <a:rPr lang="en-GB" dirty="0"/>
              <a:t>Basket for customer ID </a:t>
            </a:r>
            <a:r>
              <a:rPr lang="en-GB" b="1" i="1" dirty="0" err="1"/>
              <a:t>cid</a:t>
            </a:r>
            <a:r>
              <a:rPr lang="en-GB" dirty="0"/>
              <a:t>: all items that appear under “Items bought” in rows that have customer ID </a:t>
            </a:r>
            <a:r>
              <a:rPr lang="en-GB" b="1" i="1" dirty="0" err="1"/>
              <a:t>cid</a:t>
            </a:r>
            <a:endParaRPr lang="en-GB" dirty="0"/>
          </a:p>
          <a:p>
            <a:pPr lvl="1"/>
            <a:r>
              <a:rPr lang="en-GB" dirty="0"/>
              <a:t>Example: basket for ‘A’: {milk, bread, cookies, juice, eggs}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972667"/>
              </p:ext>
            </p:extLst>
          </p:nvPr>
        </p:nvGraphicFramePr>
        <p:xfrm>
          <a:off x="2855640" y="1845734"/>
          <a:ext cx="6480720" cy="1740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Purchase </a:t>
                      </a:r>
                      <a:r>
                        <a:rPr lang="en-US" sz="2000" baseline="0" dirty="0"/>
                        <a:t>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Customer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06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 (2/4): Customer Baskets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Equivalently: restrict to customer IDs &amp; items bought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spcBef>
                <a:spcPts val="4872"/>
              </a:spcBef>
            </a:pPr>
            <a:r>
              <a:rPr lang="en-GB" dirty="0"/>
              <a:t>Then combine baskets for customer IDs: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314741"/>
              </p:ext>
            </p:extLst>
          </p:nvPr>
        </p:nvGraphicFramePr>
        <p:xfrm>
          <a:off x="2855640" y="2275148"/>
          <a:ext cx="6696744" cy="1740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Purchase </a:t>
                      </a:r>
                      <a:r>
                        <a:rPr lang="en-US" sz="2000" baseline="0" dirty="0"/>
                        <a:t>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Customer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2783632" y="2078039"/>
            <a:ext cx="1440160" cy="2093281"/>
            <a:chOff x="1259632" y="1916832"/>
            <a:chExt cx="1440160" cy="2093281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259632" y="1916832"/>
              <a:ext cx="1440160" cy="208823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259632" y="1921881"/>
              <a:ext cx="1440160" cy="208823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439816" y="4869160"/>
          <a:ext cx="5112568" cy="1392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Customer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juice, eggs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5808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 (3/4): Customer Baskets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pPr>
              <a:spcBef>
                <a:spcPts val="3072"/>
              </a:spcBef>
            </a:pPr>
            <a:r>
              <a:rPr lang="en-GB" sz="2400" dirty="0"/>
              <a:t>Define all other notions using new baskets / table:</a:t>
            </a:r>
          </a:p>
          <a:p>
            <a:r>
              <a:rPr lang="en-GB" sz="2400" b="1" dirty="0">
                <a:solidFill>
                  <a:schemeClr val="accent2"/>
                </a:solidFill>
              </a:rPr>
              <a:t>Support of a set </a:t>
            </a:r>
            <a:r>
              <a:rPr lang="en-GB" sz="2400" b="1" i="1" dirty="0">
                <a:solidFill>
                  <a:schemeClr val="accent2"/>
                </a:solidFill>
              </a:rPr>
              <a:t>J</a:t>
            </a:r>
            <a:r>
              <a:rPr lang="en-GB" sz="2400" b="1" dirty="0">
                <a:solidFill>
                  <a:schemeClr val="accent2"/>
                </a:solidFill>
              </a:rPr>
              <a:t> </a:t>
            </a:r>
            <a:r>
              <a:rPr lang="en-GB" sz="2400" dirty="0">
                <a:solidFill>
                  <a:schemeClr val="accent2"/>
                </a:solidFill>
              </a:rPr>
              <a:t>with respect to the customers:</a:t>
            </a:r>
            <a:br>
              <a:rPr lang="en-GB" sz="2400" dirty="0">
                <a:solidFill>
                  <a:schemeClr val="accent2"/>
                </a:solidFill>
              </a:rPr>
            </a:br>
            <a:r>
              <a:rPr lang="en-GB" sz="2400" dirty="0"/>
              <a:t>support of </a:t>
            </a:r>
            <a:r>
              <a:rPr lang="en-GB" sz="2400" b="1" i="1" dirty="0"/>
              <a:t>J</a:t>
            </a:r>
            <a:r>
              <a:rPr lang="en-GB" sz="2400" dirty="0"/>
              <a:t> computed using the new set of baskets </a:t>
            </a:r>
          </a:p>
          <a:p>
            <a:r>
              <a:rPr lang="en-GB" sz="2400" b="1" i="1" dirty="0">
                <a:solidFill>
                  <a:schemeClr val="accent2"/>
                </a:solidFill>
              </a:rPr>
              <a:t>J</a:t>
            </a:r>
            <a:r>
              <a:rPr lang="en-GB" sz="2400" dirty="0">
                <a:solidFill>
                  <a:schemeClr val="accent2"/>
                </a:solidFill>
              </a:rPr>
              <a:t> </a:t>
            </a:r>
            <a:r>
              <a:rPr lang="en-GB" sz="2400" b="1" dirty="0">
                <a:solidFill>
                  <a:schemeClr val="accent2"/>
                </a:solidFill>
              </a:rPr>
              <a:t>is frequent</a:t>
            </a:r>
            <a:r>
              <a:rPr lang="en-GB" sz="2400" dirty="0">
                <a:solidFill>
                  <a:schemeClr val="accent2"/>
                </a:solidFill>
              </a:rPr>
              <a:t> with respect to the customers</a:t>
            </a:r>
            <a:r>
              <a:rPr lang="en-GB" sz="2400" dirty="0"/>
              <a:t>: </a:t>
            </a:r>
            <a:br>
              <a:rPr lang="en-GB" sz="2400" dirty="0"/>
            </a:br>
            <a:r>
              <a:rPr lang="en-GB" sz="2400" dirty="0"/>
              <a:t>if its support with respect to the customers is at least </a:t>
            </a:r>
            <a:br>
              <a:rPr lang="en-GB" sz="2400" dirty="0"/>
            </a:br>
            <a:r>
              <a:rPr lang="en-GB" sz="2400" dirty="0"/>
              <a:t>the support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27355"/>
              </p:ext>
            </p:extLst>
          </p:nvPr>
        </p:nvGraphicFramePr>
        <p:xfrm>
          <a:off x="3539716" y="1905895"/>
          <a:ext cx="5112568" cy="1392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Customer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juice, eggs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4318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1 (4/4)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Support of {milk, bread}:</a:t>
                </a:r>
              </a:p>
              <a:p>
                <a:pPr lvl="1"/>
                <a:r>
                  <a:rPr lang="en-GB" dirty="0"/>
                  <a:t>With respect to the purchases = 2/4 = 0.5</a:t>
                </a:r>
              </a:p>
              <a:p>
                <a:pPr lvl="1"/>
                <a:r>
                  <a:rPr lang="en-GB" dirty="0"/>
                  <a:t>With respect to the customers = 1/3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GB" dirty="0"/>
                  <a:t> 0.33</a:t>
                </a:r>
              </a:p>
              <a:p>
                <a:r>
                  <a:rPr lang="en-GB" dirty="0"/>
                  <a:t>With support threshold s = 0.5</a:t>
                </a:r>
              </a:p>
              <a:p>
                <a:pPr lvl="1"/>
                <a:r>
                  <a:rPr lang="en-GB" dirty="0"/>
                  <a:t>{milk, bread} is frequent with respect to the purchases</a:t>
                </a:r>
              </a:p>
              <a:p>
                <a:pPr lvl="1"/>
                <a:r>
                  <a:rPr lang="en-GB" dirty="0"/>
                  <a:t>{milk, bread} is not frequent with respect to the customers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689814"/>
              </p:ext>
            </p:extLst>
          </p:nvPr>
        </p:nvGraphicFramePr>
        <p:xfrm>
          <a:off x="2855640" y="1831152"/>
          <a:ext cx="6480720" cy="1740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Purchase </a:t>
                      </a:r>
                      <a:r>
                        <a:rPr lang="en-US" sz="2000" baseline="0" dirty="0"/>
                        <a:t>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Customer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94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support for {W, X} with respect to </a:t>
            </a:r>
            <a:r>
              <a:rPr lang="en-US" b="1" dirty="0"/>
              <a:t>transactions</a:t>
            </a:r>
            <a:r>
              <a:rPr lang="en-US" dirty="0"/>
              <a:t>?</a:t>
            </a:r>
          </a:p>
          <a:p>
            <a:r>
              <a:rPr lang="en-US" dirty="0"/>
              <a:t>What is the support for {W, X} with respect to </a:t>
            </a:r>
            <a:r>
              <a:rPr lang="en-US" b="1" dirty="0"/>
              <a:t>customers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052736"/>
              </p:ext>
            </p:extLst>
          </p:nvPr>
        </p:nvGraphicFramePr>
        <p:xfrm>
          <a:off x="3012976" y="1835567"/>
          <a:ext cx="6480720" cy="1740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71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7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Transaction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Customer</a:t>
                      </a:r>
                      <a:r>
                        <a:rPr lang="en-US" sz="2000" baseline="0" dirty="0"/>
                        <a:t> 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X, Y, Z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W, X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W, Z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7A2043-DF93-4713-91AB-E5856A1C6253}"/>
              </a:ext>
            </a:extLst>
          </p:cNvPr>
          <p:cNvSpPr txBox="1"/>
          <p:nvPr/>
        </p:nvSpPr>
        <p:spPr>
          <a:xfrm>
            <a:off x="7370956" y="3628144"/>
            <a:ext cx="543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1/4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95E1D-A124-4E3D-8F21-851C32CE8F81}"/>
              </a:ext>
            </a:extLst>
          </p:cNvPr>
          <p:cNvSpPr txBox="1"/>
          <p:nvPr/>
        </p:nvSpPr>
        <p:spPr>
          <a:xfrm>
            <a:off x="7370955" y="4095877"/>
            <a:ext cx="543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2/3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ounded Rectangular Callout 4">
            <a:extLst>
              <a:ext uri="{FF2B5EF4-FFF2-40B4-BE49-F238E27FC236}">
                <a16:creationId xmlns:a16="http://schemas.microsoft.com/office/drawing/2014/main" id="{EB3EBF34-A04D-45AC-8CDC-01DC1F443A97}"/>
              </a:ext>
            </a:extLst>
          </p:cNvPr>
          <p:cNvSpPr/>
          <p:nvPr/>
        </p:nvSpPr>
        <p:spPr>
          <a:xfrm>
            <a:off x="8392169" y="3662173"/>
            <a:ext cx="3104738" cy="2058403"/>
          </a:xfrm>
          <a:prstGeom prst="wedgeRoundRectCallout">
            <a:avLst>
              <a:gd name="adj1" fmla="val -65311"/>
              <a:gd name="adj2" fmla="val -2006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Note: support with respect to a column (like customers here) can be bigger (like here) or smaller (like in the previous example) than the support with respect to the full table</a:t>
            </a:r>
            <a:endParaRPr lang="en-US" baseline="-25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929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Variant of frequent-item mining query</a:t>
                </a:r>
              </a:p>
              <a:p>
                <a:pPr lvl="1"/>
                <a:r>
                  <a:rPr lang="en-US" dirty="0"/>
                  <a:t>“Customers who buy diapers frequently also buy beer.”</a:t>
                </a:r>
              </a:p>
              <a:p>
                <a:pPr lvl="1"/>
                <a:r>
                  <a:rPr lang="en-US" dirty="0"/>
                  <a:t>“People watching Harry Potter and Game of Thrones frequently also watch Twin Peaks.”</a:t>
                </a:r>
              </a:p>
              <a:p>
                <a:r>
                  <a:rPr lang="en-US" dirty="0"/>
                  <a:t>General form: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{diapers}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/>
                  <a:t> beer</a:t>
                </a:r>
              </a:p>
              <a:p>
                <a:pPr lvl="1"/>
                <a:r>
                  <a:rPr lang="en-US" dirty="0"/>
                  <a:t>{Harry Potter, Game of Thrones}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/>
                  <a:t> Twin Peaks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334418" y="3031798"/>
                <a:ext cx="2519555" cy="79440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lIns="180000" tIns="180000" rIns="180000" bIns="180000">
                <a:spAutoFit/>
              </a:bodyPr>
              <a:lstStyle/>
              <a:p>
                <a:pPr algn="ctr"/>
                <a:r>
                  <a:rPr lang="en-US" sz="2800" dirty="0"/>
                  <a:t>{</a:t>
                </a:r>
                <a:r>
                  <a:rPr lang="en-US" sz="2800" i="1" dirty="0"/>
                  <a:t>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, </a:t>
                </a:r>
                <a:r>
                  <a:rPr lang="en-US" sz="2800" i="1" dirty="0"/>
                  <a:t>i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, </a:t>
                </a:r>
                <a:r>
                  <a:rPr lang="mr-IN" sz="2800" dirty="0"/>
                  <a:t>…</a:t>
                </a:r>
                <a:r>
                  <a:rPr lang="en-GB" sz="2800" dirty="0"/>
                  <a:t>, </a:t>
                </a:r>
                <a:r>
                  <a:rPr lang="en-GB" sz="2800" i="1" dirty="0"/>
                  <a:t>i</a:t>
                </a:r>
                <a:r>
                  <a:rPr lang="en-GB" sz="2800" i="1" baseline="-25000" dirty="0"/>
                  <a:t>n</a:t>
                </a:r>
                <a:r>
                  <a:rPr lang="en-GB" sz="2800" dirty="0"/>
                  <a:t>}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GB" sz="2800" dirty="0"/>
                  <a:t> </a:t>
                </a:r>
                <a:r>
                  <a:rPr lang="en-GB" sz="2800" i="1" dirty="0"/>
                  <a:t>j</a:t>
                </a:r>
                <a:endParaRPr lang="en-US" sz="2800" baseline="-25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418" y="3031798"/>
                <a:ext cx="2519555" cy="794403"/>
              </a:xfrm>
              <a:prstGeom prst="rect">
                <a:avLst/>
              </a:prstGeom>
              <a:blipFill>
                <a:blip r:embed="rId6"/>
                <a:stretch>
                  <a:fillRect l="-964" r="-723" b="-30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213001" y="4133925"/>
            <a:ext cx="7623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items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4802108" y="3718416"/>
            <a:ext cx="504056" cy="432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162148" y="3718416"/>
            <a:ext cx="288032" cy="432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717057" y="3718416"/>
            <a:ext cx="144016" cy="432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921203" y="3718416"/>
            <a:ext cx="587942" cy="432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3906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Association Rules: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636912"/>
            <a:ext cx="8229600" cy="3811340"/>
          </a:xfrm>
        </p:spPr>
        <p:txBody>
          <a:bodyPr>
            <a:normAutofit/>
          </a:bodyPr>
          <a:lstStyle/>
          <a:p>
            <a:r>
              <a:rPr lang="en-US" sz="2400" b="1" dirty="0"/>
              <a:t>Support</a:t>
            </a:r>
            <a:r>
              <a:rPr lang="en-US" sz="2400" dirty="0"/>
              <a:t>: support of {</a:t>
            </a:r>
            <a:r>
              <a:rPr lang="en-US" sz="2400" i="1" dirty="0"/>
              <a:t>i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i</a:t>
            </a:r>
            <a:r>
              <a:rPr lang="en-US" sz="2400" baseline="-25000" dirty="0"/>
              <a:t>2</a:t>
            </a:r>
            <a:r>
              <a:rPr lang="en-US" sz="2400" dirty="0"/>
              <a:t>, </a:t>
            </a:r>
            <a:r>
              <a:rPr lang="mr-IN" sz="2400" dirty="0"/>
              <a:t>…</a:t>
            </a:r>
            <a:r>
              <a:rPr lang="en-GB" sz="2400" dirty="0"/>
              <a:t>, </a:t>
            </a:r>
            <a:r>
              <a:rPr lang="en-GB" sz="2400" i="1" dirty="0"/>
              <a:t>i</a:t>
            </a:r>
            <a:r>
              <a:rPr lang="en-GB" sz="2400" i="1" baseline="-25000" dirty="0"/>
              <a:t>n</a:t>
            </a:r>
            <a:r>
              <a:rPr lang="en-GB" sz="2400" dirty="0"/>
              <a:t>, </a:t>
            </a:r>
            <a:r>
              <a:rPr lang="en-GB" sz="2400" i="1" dirty="0"/>
              <a:t>j}</a:t>
            </a:r>
            <a:r>
              <a:rPr lang="en-GB" sz="2400" dirty="0"/>
              <a:t>  </a:t>
            </a:r>
            <a:endParaRPr lang="en-US" sz="2400" dirty="0"/>
          </a:p>
          <a:p>
            <a:pPr lvl="1"/>
            <a:r>
              <a:rPr lang="en-GB" sz="2000" dirty="0"/>
              <a:t>Want high support (not much benefit in exploiting the rule otherwise)</a:t>
            </a:r>
          </a:p>
          <a:p>
            <a:r>
              <a:rPr lang="en-GB" sz="2400" b="1" dirty="0"/>
              <a:t>Confidence</a:t>
            </a:r>
            <a:r>
              <a:rPr lang="en-GB" sz="2400" dirty="0"/>
              <a:t>: percentage of baskets for </a:t>
            </a:r>
            <a:r>
              <a:rPr lang="en-US" sz="2400" dirty="0"/>
              <a:t>{</a:t>
            </a:r>
            <a:r>
              <a:rPr lang="en-US" sz="2400" i="1" dirty="0"/>
              <a:t>i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i="1" dirty="0"/>
              <a:t>i</a:t>
            </a:r>
            <a:r>
              <a:rPr lang="en-US" sz="2400" baseline="-25000" dirty="0"/>
              <a:t>2</a:t>
            </a:r>
            <a:r>
              <a:rPr lang="en-US" sz="2400" dirty="0"/>
              <a:t>, </a:t>
            </a:r>
            <a:r>
              <a:rPr lang="mr-IN" sz="2400" dirty="0"/>
              <a:t>…</a:t>
            </a:r>
            <a:r>
              <a:rPr lang="en-GB" sz="2400" dirty="0"/>
              <a:t>, </a:t>
            </a:r>
            <a:r>
              <a:rPr lang="en-GB" sz="2400" i="1" dirty="0"/>
              <a:t>i</a:t>
            </a:r>
            <a:r>
              <a:rPr lang="en-GB" sz="2400" i="1" baseline="-25000" dirty="0"/>
              <a:t>n</a:t>
            </a:r>
            <a:r>
              <a:rPr lang="en-GB" sz="2400" i="1" dirty="0"/>
              <a:t>}</a:t>
            </a:r>
            <a:r>
              <a:rPr lang="en-GB" sz="2400" dirty="0"/>
              <a:t> containing j</a:t>
            </a:r>
            <a:br>
              <a:rPr lang="en-GB" sz="2400" dirty="0"/>
            </a:br>
            <a:endParaRPr lang="en-GB" sz="2400" dirty="0"/>
          </a:p>
          <a:p>
            <a:endParaRPr lang="en-GB" sz="2000" dirty="0"/>
          </a:p>
          <a:p>
            <a:endParaRPr lang="en-GB" sz="2000" dirty="0"/>
          </a:p>
          <a:p>
            <a:pPr lvl="1"/>
            <a:r>
              <a:rPr lang="en-GB" sz="2000" dirty="0"/>
              <a:t>S</a:t>
            </a:r>
            <a:r>
              <a:rPr lang="en-US" sz="2000" dirty="0" err="1"/>
              <a:t>hould</a:t>
            </a:r>
            <a:r>
              <a:rPr lang="en-US" sz="2000" dirty="0"/>
              <a:t> be high</a:t>
            </a:r>
            <a:endParaRPr lang="en-GB" sz="2000" dirty="0"/>
          </a:p>
          <a:p>
            <a:pPr lvl="1"/>
            <a:r>
              <a:rPr lang="en-GB" sz="2000" dirty="0"/>
              <a:t>”67% of all customers who bought milk also bought juice.”</a:t>
            </a:r>
          </a:p>
          <a:p>
            <a:pPr lvl="1"/>
            <a:r>
              <a:rPr lang="en-US" sz="2000" dirty="0"/>
              <a:t>Should differ significantly from fraction of baskets containing </a:t>
            </a:r>
            <a:r>
              <a:rPr lang="en-US" sz="2000" i="1" dirty="0"/>
              <a:t>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976451" y="1789934"/>
                <a:ext cx="2519555" cy="79440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lIns="180000" tIns="180000" rIns="180000" bIns="180000">
                <a:spAutoFit/>
              </a:bodyPr>
              <a:lstStyle/>
              <a:p>
                <a:pPr algn="ctr"/>
                <a:r>
                  <a:rPr lang="en-US" sz="2800" dirty="0"/>
                  <a:t>{</a:t>
                </a:r>
                <a:r>
                  <a:rPr lang="en-US" sz="2800" i="1" dirty="0"/>
                  <a:t>i</a:t>
                </a:r>
                <a:r>
                  <a:rPr lang="en-US" sz="2800" baseline="-25000" dirty="0"/>
                  <a:t>1</a:t>
                </a:r>
                <a:r>
                  <a:rPr lang="en-US" sz="2800" dirty="0"/>
                  <a:t>, </a:t>
                </a:r>
                <a:r>
                  <a:rPr lang="en-US" sz="2800" i="1" dirty="0"/>
                  <a:t>i</a:t>
                </a:r>
                <a:r>
                  <a:rPr lang="en-US" sz="2800" baseline="-25000" dirty="0"/>
                  <a:t>2</a:t>
                </a:r>
                <a:r>
                  <a:rPr lang="en-US" sz="2800" dirty="0"/>
                  <a:t>, </a:t>
                </a:r>
                <a:r>
                  <a:rPr lang="mr-IN" sz="2800" dirty="0"/>
                  <a:t>…</a:t>
                </a:r>
                <a:r>
                  <a:rPr lang="en-GB" sz="2800" dirty="0"/>
                  <a:t>, </a:t>
                </a:r>
                <a:r>
                  <a:rPr lang="en-GB" sz="2800" i="1" dirty="0"/>
                  <a:t>i</a:t>
                </a:r>
                <a:r>
                  <a:rPr lang="en-GB" sz="2800" i="1" baseline="-25000" dirty="0"/>
                  <a:t>n</a:t>
                </a:r>
                <a:r>
                  <a:rPr lang="en-GB" sz="2800" dirty="0"/>
                  <a:t>}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GB" sz="2800" dirty="0"/>
                  <a:t> </a:t>
                </a:r>
                <a:r>
                  <a:rPr lang="en-GB" sz="2800" i="1" dirty="0"/>
                  <a:t>j</a:t>
                </a:r>
                <a:endParaRPr lang="en-US" sz="2800" baseline="-25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451" y="1789934"/>
                <a:ext cx="2519555" cy="794403"/>
              </a:xfrm>
              <a:prstGeom prst="rect">
                <a:avLst/>
              </a:prstGeom>
              <a:blipFill>
                <a:blip r:embed="rId5"/>
                <a:stretch>
                  <a:fillRect l="-962" r="-481" b="-37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77375" y="4261328"/>
                <a:ext cx="2717708" cy="82385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lIns="90000" tIns="90000" rIns="90000" bIns="90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support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charset="0"/>
                                </a:rPr>
                                <m:t>{</m:t>
                              </m:r>
                              <m:r>
                                <a:rPr lang="en-GB" sz="2000" i="1">
                                  <a:latin typeface="Cambria Math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000" i="1">
                              <a:latin typeface="Cambria Math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000" i="1">
                              <a:latin typeface="Cambria Math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charset="0"/>
                            </a:rPr>
                            <m:t>𝑗</m:t>
                          </m:r>
                          <m:r>
                            <a:rPr lang="en-GB" sz="2000" i="1">
                              <a:latin typeface="Cambria Math" charset="0"/>
                            </a:rPr>
                            <m:t>}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support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sz="2000">
                              <a:latin typeface="Cambria Math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>
                                  <a:latin typeface="Cambria Math" charset="0"/>
                                </a:rPr>
                                <m:t>{</m:t>
                              </m:r>
                              <m:r>
                                <a:rPr lang="en-GB" sz="2000" i="1">
                                  <a:latin typeface="Cambria Math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000" b="1" i="1">
                              <a:latin typeface="Cambria Math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000" i="1">
                              <a:latin typeface="Cambria Math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75" y="4261328"/>
                <a:ext cx="2717708" cy="8238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2537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3297535"/>
                <a:ext cx="8229600" cy="3150717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Support</a:t>
                </a:r>
                <a:r>
                  <a:rPr lang="en-US" dirty="0"/>
                  <a:t> = support of {milk, juice}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GB" smtClean="0">
                            <a:latin typeface="Cambria Math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0.5</a:t>
                </a:r>
              </a:p>
              <a:p>
                <a:pPr lvl="1"/>
                <a:r>
                  <a:rPr lang="en-US" dirty="0"/>
                  <a:t>So, the rule applies in 50% of all the cases</a:t>
                </a:r>
              </a:p>
              <a:p>
                <a:pPr>
                  <a:spcBef>
                    <a:spcPts val="2472"/>
                  </a:spcBef>
                </a:pPr>
                <a:r>
                  <a:rPr lang="en-US" b="1" dirty="0"/>
                  <a:t>Confidence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mtClean="0"/>
                          <m:t>support</m:t>
                        </m:r>
                        <m:r>
                          <m:rPr>
                            <m:nor/>
                          </m:rPr>
                          <a:rPr lang="en-GB" smtClean="0"/>
                          <m:t> </m:t>
                        </m:r>
                        <m:r>
                          <m:rPr>
                            <m:nor/>
                          </m:rPr>
                          <a:rPr lang="en-GB" smtClean="0"/>
                          <m:t>of</m:t>
                        </m:r>
                        <m:r>
                          <m:rPr>
                            <m:nor/>
                          </m:rPr>
                          <a:rPr lang="en-GB" smtClean="0"/>
                          <m:t> {</m:t>
                        </m:r>
                        <m:r>
                          <m:rPr>
                            <m:nor/>
                          </m:rPr>
                          <a:rPr lang="en-GB" smtClean="0"/>
                          <m:t>milk</m:t>
                        </m:r>
                        <m:r>
                          <m:rPr>
                            <m:nor/>
                          </m:rPr>
                          <a:rPr lang="en-GB" smtClean="0"/>
                          <m:t>, </m:t>
                        </m:r>
                        <m:r>
                          <m:rPr>
                            <m:nor/>
                          </m:rPr>
                          <a:rPr lang="en-GB" smtClean="0"/>
                          <m:t>juice</m:t>
                        </m:r>
                        <m:r>
                          <m:rPr>
                            <m:nor/>
                          </m:rPr>
                          <a:rPr lang="en-GB" smtClean="0"/>
                          <m:t>}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mtClean="0"/>
                          <m:t>support</m:t>
                        </m:r>
                        <m:r>
                          <m:rPr>
                            <m:nor/>
                          </m:rPr>
                          <a:rPr lang="en-GB" smtClean="0"/>
                          <m:t> </m:t>
                        </m:r>
                        <m:r>
                          <m:rPr>
                            <m:nor/>
                          </m:rPr>
                          <a:rPr lang="en-GB" smtClean="0"/>
                          <m:t>of</m:t>
                        </m:r>
                        <m:r>
                          <m:rPr>
                            <m:nor/>
                          </m:rPr>
                          <a:rPr lang="en-GB" smtClean="0"/>
                          <m:t> {</m:t>
                        </m:r>
                        <m:r>
                          <m:rPr>
                            <m:nor/>
                          </m:rPr>
                          <a:rPr lang="en-GB" smtClean="0"/>
                          <m:t>milk</m:t>
                        </m:r>
                        <m:r>
                          <m:rPr>
                            <m:nor/>
                          </m:rPr>
                          <a:rPr lang="en-GB" smtClean="0"/>
                          <m:t>}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mtClean="0">
                            <a:latin typeface="Cambria Math" charset="0"/>
                          </a:rPr>
                          <m:t>2/4</m:t>
                        </m:r>
                      </m:num>
                      <m:den>
                        <m:r>
                          <a:rPr lang="en-GB" smtClean="0">
                            <a:latin typeface="Cambria Math" charset="0"/>
                          </a:rPr>
                          <m:t>3/4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GB" smtClean="0">
                            <a:latin typeface="Cambria Math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dirty="0" smtClean="0">
                        <a:latin typeface="Cambria Math" charset="0"/>
                      </a:rPr>
                      <m:t>≈</m:t>
                    </m:r>
                  </m:oMath>
                </a14:m>
                <a:r>
                  <a:rPr lang="en-US" dirty="0"/>
                  <a:t> 0.67</a:t>
                </a:r>
              </a:p>
              <a:p>
                <a:pPr lvl="1"/>
                <a:r>
                  <a:rPr lang="en-US" dirty="0"/>
                  <a:t>“67% of all customers who bought milk also bought juice.”</a:t>
                </a:r>
              </a:p>
              <a:p>
                <a:pPr lvl="1"/>
                <a:r>
                  <a:rPr lang="en-US" dirty="0"/>
                  <a:t>Differs significantly from % of baskets containing juice (0.5)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3297535"/>
                <a:ext cx="8229600" cy="3150717"/>
              </a:xfrm>
              <a:blipFill>
                <a:blip r:embed="rId5"/>
                <a:stretch>
                  <a:fillRect l="-741" t="-1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32338" y="2123807"/>
          <a:ext cx="4073644" cy="15876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33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Purchase </a:t>
                      </a:r>
                      <a:r>
                        <a:rPr lang="en-US" sz="1800" baseline="0" dirty="0"/>
                        <a:t>ID</a:t>
                      </a:r>
                      <a:endParaRPr lang="en-US" sz="18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Items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</a:t>
                      </a:r>
                      <a:r>
                        <a:rPr lang="en-US" sz="1800" baseline="0" dirty="0"/>
                        <a:t> cookies, juice</a:t>
                      </a:r>
                      <a:endParaRPr lang="en-US" sz="18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18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495599" y="1999753"/>
                <a:ext cx="2364064" cy="79440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180000" tIns="180000" rIns="180000" bIns="180000">
                <a:spAutoFit/>
              </a:bodyPr>
              <a:lstStyle/>
              <a:p>
                <a:pPr algn="ctr"/>
                <a:r>
                  <a:rPr lang="en-US" sz="2800" dirty="0"/>
                  <a:t>{</a:t>
                </a:r>
                <a:r>
                  <a:rPr lang="en-GB" sz="2800" dirty="0"/>
                  <a:t>milk}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GB" sz="2800" dirty="0"/>
                  <a:t> juice</a:t>
                </a:r>
                <a:endParaRPr lang="en-US" sz="2800" baseline="-25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99" y="1999753"/>
                <a:ext cx="2364064" cy="794403"/>
              </a:xfrm>
              <a:prstGeom prst="rect">
                <a:avLst/>
              </a:prstGeom>
              <a:blipFill>
                <a:blip r:embed="rId6"/>
                <a:stretch>
                  <a:fillRect l="-769" r="-769" b="-37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4270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834E-5985-49EF-B160-953EF25D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12D6DB-E690-4C84-9809-1A08C850AD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confidence for {BS}</a:t>
                </a:r>
                <a:r>
                  <a:rPr lang="en-GB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/>
                  <a:t> HP1?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 charset="0"/>
                          </a:rPr>
                          <m:t>5</m:t>
                        </m:r>
                      </m:den>
                    </m:f>
                  </m:oMath>
                </a14:m>
                <a:endParaRPr lang="nb-NO" dirty="0"/>
              </a:p>
              <a:p>
                <a:r>
                  <a:rPr lang="en-US" dirty="0"/>
                  <a:t>Are there movies X, Y such that {X}</a:t>
                </a:r>
                <a:r>
                  <a:rPr lang="en-GB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/>
                  <a:t> Y with confidence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&gt;</m:t>
                    </m:r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and support at least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GB" dirty="0"/>
                  <a:t>Pairs w. high support: {BI, BS}, {BI, HP1}, {BS, HP1}, {HP1, HP2}</a:t>
                </a:r>
              </a:p>
              <a:p>
                <a:r>
                  <a:rPr lang="en-US" dirty="0"/>
                  <a:t>{BS}</a:t>
                </a:r>
                <a:r>
                  <a:rPr lang="en-GB" dirty="0">
                    <a:ea typeface="Cambria Math" charset="0"/>
                    <a:cs typeface="Cambria Math" charset="0"/>
                  </a:rPr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/>
                  <a:t> BI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dirty="0"/>
                  <a:t>), {BS}</a:t>
                </a:r>
                <a:r>
                  <a:rPr lang="en-GB" dirty="0">
                    <a:ea typeface="Cambria Math" charset="0"/>
                    <a:cs typeface="Cambria Math" charset="0"/>
                  </a:rPr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/>
                  <a:t> HP1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dirty="0"/>
                  <a:t>), {HP2}</a:t>
                </a:r>
                <a:r>
                  <a:rPr lang="en-GB" dirty="0">
                    <a:ea typeface="Cambria Math" charset="0"/>
                    <a:cs typeface="Cambria Math" charset="0"/>
                  </a:rPr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/>
                  <a:t> HP1 (1) </a:t>
                </a:r>
              </a:p>
              <a:p>
                <a:r>
                  <a:rPr lang="en-US" dirty="0"/>
                  <a:t>(other rules with high enough support have confidence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GB" i="1">
                            <a:latin typeface="Cambria Math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12D6DB-E690-4C84-9809-1A08C850A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B19BB2-4274-4A01-BC9B-8B9FD4A9FA27}"/>
              </a:ext>
            </a:extLst>
          </p:cNvPr>
          <p:cNvGraphicFramePr>
            <a:graphicFrameLocks noGrp="1"/>
          </p:cNvGraphicFramePr>
          <p:nvPr/>
        </p:nvGraphicFramePr>
        <p:xfrm>
          <a:off x="8279852" y="1845734"/>
          <a:ext cx="3648236" cy="3132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0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Viewer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Liked</a:t>
                      </a:r>
                      <a:r>
                        <a:rPr lang="en-US" sz="2000" baseline="0" dirty="0"/>
                        <a:t> videos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Anna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BU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Ben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HP1, HP2, HP3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Chloe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HP1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Dave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HP1, HP2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sz="2000" dirty="0"/>
                        <a:t>Emma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</a:t>
                      </a:r>
                      <a:r>
                        <a:rPr lang="en-US" sz="2000" baseline="0" dirty="0"/>
                        <a:t> BS, BU, HP1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Fred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BU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Gwen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BS, HP1, HP2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Henry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BI, BS, HP1, HP2, HP3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4754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Association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Focus on association rules with high support (e.g., at least support threshold </a:t>
                </a:r>
                <a:r>
                  <a:rPr lang="en-US" b="1" i="1" dirty="0"/>
                  <a:t>s</a:t>
                </a:r>
                <a:r>
                  <a:rPr lang="en-US" dirty="0"/>
                  <a:t>)</a:t>
                </a:r>
              </a:p>
              <a:p>
                <a:pPr>
                  <a:spcBef>
                    <a:spcPts val="2472"/>
                  </a:spcBef>
                </a:pPr>
                <a:r>
                  <a:rPr lang="en-US" dirty="0"/>
                  <a:t>Compute the set </a:t>
                </a:r>
                <a:r>
                  <a:rPr lang="en-US" b="1" i="1" dirty="0"/>
                  <a:t>F</a:t>
                </a:r>
                <a:r>
                  <a:rPr lang="en-US" dirty="0"/>
                  <a:t> of all </a:t>
                </a:r>
                <a:r>
                  <a:rPr lang="en-US" dirty="0" err="1"/>
                  <a:t>itemsets</a:t>
                </a:r>
                <a:r>
                  <a:rPr lang="en-US" dirty="0"/>
                  <a:t> </a:t>
                </a:r>
                <a:r>
                  <a:rPr lang="en-US" b="1" i="1" dirty="0"/>
                  <a:t>J</a:t>
                </a:r>
                <a:r>
                  <a:rPr lang="en-US" dirty="0"/>
                  <a:t> with support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s</a:t>
                </a:r>
                <a:r>
                  <a:rPr lang="en-US" dirty="0"/>
                  <a:t> </a:t>
                </a:r>
              </a:p>
              <a:p>
                <a:pPr>
                  <a:spcBef>
                    <a:spcPts val="2472"/>
                  </a:spcBef>
                </a:pPr>
                <a:r>
                  <a:rPr lang="en-US" dirty="0"/>
                  <a:t>From </a:t>
                </a:r>
                <a:r>
                  <a:rPr lang="en-US" b="1" i="1" dirty="0"/>
                  <a:t>F</a:t>
                </a:r>
                <a:r>
                  <a:rPr lang="en-US" dirty="0"/>
                  <a:t> it is easy to obtain the association rules:</a:t>
                </a:r>
              </a:p>
              <a:p>
                <a:pPr lvl="1" algn="just">
                  <a:spcBef>
                    <a:spcPts val="672"/>
                  </a:spcBef>
                </a:pPr>
                <a:r>
                  <a:rPr lang="en-US" dirty="0"/>
                  <a:t>For each set </a:t>
                </a:r>
                <a:r>
                  <a:rPr lang="en-GB" b="1" i="1" dirty="0"/>
                  <a:t>J</a:t>
                </a:r>
                <a:r>
                  <a:rPr lang="en-GB" dirty="0"/>
                  <a:t> in </a:t>
                </a:r>
                <a:r>
                  <a:rPr lang="en-GB" b="1" i="1" dirty="0"/>
                  <a:t>F</a:t>
                </a:r>
                <a:r>
                  <a:rPr lang="en-GB" dirty="0"/>
                  <a:t> and each </a:t>
                </a:r>
                <a:r>
                  <a:rPr lang="en-GB" i="1" dirty="0"/>
                  <a:t>j</a:t>
                </a:r>
                <a:r>
                  <a:rPr lang="en-GB" dirty="0"/>
                  <a:t> in </a:t>
                </a:r>
                <a:r>
                  <a:rPr lang="en-GB" b="1" i="1" dirty="0"/>
                  <a:t>J</a:t>
                </a:r>
                <a:r>
                  <a:rPr lang="en-GB" dirty="0"/>
                  <a:t>, consider rule </a:t>
                </a:r>
                <a:r>
                  <a:rPr lang="en-GB" b="1" i="1" dirty="0"/>
                  <a:t>J</a:t>
                </a:r>
                <a:r>
                  <a:rPr lang="en-GB" dirty="0"/>
                  <a:t> \ {</a:t>
                </a:r>
                <a:r>
                  <a:rPr lang="en-GB" i="1" dirty="0"/>
                  <a:t>j</a:t>
                </a:r>
                <a:r>
                  <a:rPr lang="en-GB" dirty="0"/>
                  <a:t>}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  <a:r>
                  <a:rPr lang="en-GB" i="1" dirty="0"/>
                  <a:t>j</a:t>
                </a:r>
                <a:endParaRPr lang="en-US" b="1" i="1" baseline="-25000" dirty="0"/>
              </a:p>
              <a:p>
                <a:pPr lvl="1">
                  <a:spcBef>
                    <a:spcPts val="672"/>
                  </a:spcBef>
                </a:pPr>
                <a:r>
                  <a:rPr lang="en-US" dirty="0"/>
                  <a:t>Compute confidence for </a:t>
                </a:r>
                <a:r>
                  <a:rPr lang="en-GB" b="1" i="1" dirty="0"/>
                  <a:t>J</a:t>
                </a:r>
                <a:r>
                  <a:rPr lang="en-GB" dirty="0"/>
                  <a:t> \ {</a:t>
                </a:r>
                <a:r>
                  <a:rPr lang="en-GB" i="1" dirty="0"/>
                  <a:t>j</a:t>
                </a:r>
                <a:r>
                  <a:rPr lang="en-GB" dirty="0"/>
                  <a:t>}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GB" dirty="0"/>
                  <a:t> </a:t>
                </a:r>
                <a:r>
                  <a:rPr lang="en-GB" i="1" dirty="0"/>
                  <a:t>j</a:t>
                </a:r>
                <a:r>
                  <a:rPr lang="en-GB" dirty="0"/>
                  <a:t> </a:t>
                </a:r>
                <a:r>
                  <a:rPr lang="en-US" dirty="0"/>
                  <a:t>and compare with % of baskets containing </a:t>
                </a:r>
                <a:r>
                  <a:rPr lang="en-US" i="1" dirty="0"/>
                  <a:t>j</a:t>
                </a:r>
              </a:p>
              <a:p>
                <a:pPr>
                  <a:spcBef>
                    <a:spcPts val="2472"/>
                  </a:spcBef>
                </a:pPr>
                <a:r>
                  <a:rPr lang="en-US" dirty="0"/>
                  <a:t>Remains: Finding frequent </a:t>
                </a:r>
                <a:r>
                  <a:rPr lang="en-US" dirty="0" err="1"/>
                  <a:t>itemsets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315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12DF-F1FB-4E45-A2E5-5F07E702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A-Priori Algorithm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9E28-34FD-4B65-A4A3-FF24CB2C8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Goal</a:t>
                </a:r>
                <a:r>
                  <a:rPr lang="en-US" dirty="0"/>
                  <a:t>: compute all </a:t>
                </a:r>
                <a:r>
                  <a:rPr lang="en-US" dirty="0" err="1"/>
                  <a:t>itemsets</a:t>
                </a:r>
                <a:r>
                  <a:rPr lang="en-US" dirty="0"/>
                  <a:t> </a:t>
                </a:r>
                <a:r>
                  <a:rPr lang="en-US" b="1" i="1" dirty="0"/>
                  <a:t>J</a:t>
                </a:r>
                <a:r>
                  <a:rPr lang="en-US" dirty="0"/>
                  <a:t> with support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b="1" i="1" dirty="0"/>
                  <a:t>s</a:t>
                </a:r>
                <a:endParaRPr lang="en-US" sz="2000" b="1" i="1" dirty="0"/>
              </a:p>
              <a:p>
                <a:pPr>
                  <a:spcBef>
                    <a:spcPts val="2472"/>
                  </a:spcBef>
                </a:pPr>
                <a:r>
                  <a:rPr lang="en-US" dirty="0"/>
                  <a:t>Crux: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3072"/>
                  </a:spcBef>
                </a:pPr>
                <a:r>
                  <a:rPr lang="en-US" dirty="0"/>
                  <a:t>Compute frequent item sets from smaller ones: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en-US" i="1" dirty="0"/>
                  <a:t>F</a:t>
                </a:r>
                <a:r>
                  <a:rPr lang="en-US" baseline="-25000" dirty="0"/>
                  <a:t>1</a:t>
                </a:r>
                <a:r>
                  <a:rPr lang="en-US" dirty="0"/>
                  <a:t> := item sets {</a:t>
                </a:r>
                <a:r>
                  <a:rPr lang="en-US" i="1" dirty="0" err="1"/>
                  <a:t>i</a:t>
                </a:r>
                <a:r>
                  <a:rPr lang="en-US" i="1" dirty="0"/>
                  <a:t>}</a:t>
                </a:r>
                <a:r>
                  <a:rPr lang="en-US" dirty="0"/>
                  <a:t> with support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en-US" i="1" dirty="0"/>
                  <a:t>F</a:t>
                </a:r>
                <a:r>
                  <a:rPr lang="en-US" baseline="-25000" dirty="0"/>
                  <a:t>2</a:t>
                </a:r>
                <a:r>
                  <a:rPr lang="en-US" dirty="0"/>
                  <a:t> := item sets {</a:t>
                </a:r>
                <a:r>
                  <a:rPr lang="en-US" i="1" dirty="0" err="1"/>
                  <a:t>i</a:t>
                </a:r>
                <a:r>
                  <a:rPr lang="en-US" dirty="0" err="1"/>
                  <a:t>,</a:t>
                </a:r>
                <a:r>
                  <a:rPr lang="en-US" i="1" dirty="0" err="1"/>
                  <a:t>j</a:t>
                </a:r>
                <a:r>
                  <a:rPr lang="en-US" dirty="0"/>
                  <a:t>} with {</a:t>
                </a:r>
                <a:r>
                  <a:rPr lang="en-US" i="1" dirty="0" err="1"/>
                  <a:t>i</a:t>
                </a:r>
                <a:r>
                  <a:rPr lang="en-US" dirty="0"/>
                  <a:t>}, {</a:t>
                </a:r>
                <a:r>
                  <a:rPr lang="en-US" i="1" dirty="0"/>
                  <a:t>j</a:t>
                </a:r>
                <a:r>
                  <a:rPr lang="en-US" dirty="0"/>
                  <a:t>}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∈</m:t>
                    </m:r>
                  </m:oMath>
                </a14:m>
                <a:r>
                  <a:rPr lang="en-GB" i="1" dirty="0"/>
                  <a:t> F</a:t>
                </a:r>
                <a:r>
                  <a:rPr lang="en-GB" baseline="-25000" dirty="0"/>
                  <a:t>1</a:t>
                </a:r>
                <a:r>
                  <a:rPr lang="en-GB" dirty="0"/>
                  <a:t> and </a:t>
                </a:r>
                <a:r>
                  <a:rPr lang="en-US" dirty="0"/>
                  <a:t>support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en-US" i="1" dirty="0"/>
                  <a:t>F</a:t>
                </a:r>
                <a:r>
                  <a:rPr lang="en-US" baseline="-25000" dirty="0"/>
                  <a:t>3</a:t>
                </a:r>
                <a:r>
                  <a:rPr lang="en-US" dirty="0"/>
                  <a:t> := item sets {</a:t>
                </a:r>
                <a:r>
                  <a:rPr lang="en-US" i="1" dirty="0" err="1"/>
                  <a:t>i</a:t>
                </a:r>
                <a:r>
                  <a:rPr lang="en-US" dirty="0" err="1"/>
                  <a:t>,</a:t>
                </a:r>
                <a:r>
                  <a:rPr lang="en-US" i="1" dirty="0" err="1"/>
                  <a:t>j</a:t>
                </a:r>
                <a:r>
                  <a:rPr lang="en-US" dirty="0" err="1"/>
                  <a:t>,</a:t>
                </a:r>
                <a:r>
                  <a:rPr lang="en-US" i="1" dirty="0" err="1"/>
                  <a:t>k</a:t>
                </a:r>
                <a:r>
                  <a:rPr lang="en-US" dirty="0"/>
                  <a:t>} with {</a:t>
                </a:r>
                <a:r>
                  <a:rPr lang="en-US" i="1" dirty="0" err="1"/>
                  <a:t>i</a:t>
                </a:r>
                <a:r>
                  <a:rPr lang="en-US" dirty="0" err="1"/>
                  <a:t>,</a:t>
                </a:r>
                <a:r>
                  <a:rPr lang="en-US" i="1" dirty="0" err="1"/>
                  <a:t>j</a:t>
                </a:r>
                <a:r>
                  <a:rPr lang="en-US" dirty="0"/>
                  <a:t>},{</a:t>
                </a:r>
                <a:r>
                  <a:rPr lang="en-US" i="1" dirty="0" err="1"/>
                  <a:t>i</a:t>
                </a:r>
                <a:r>
                  <a:rPr lang="en-US" dirty="0" err="1"/>
                  <a:t>,</a:t>
                </a:r>
                <a:r>
                  <a:rPr lang="en-US" i="1" dirty="0" err="1"/>
                  <a:t>k</a:t>
                </a:r>
                <a:r>
                  <a:rPr lang="en-US" dirty="0"/>
                  <a:t>},{</a:t>
                </a:r>
                <a:r>
                  <a:rPr lang="en-US" i="1" dirty="0" err="1"/>
                  <a:t>j</a:t>
                </a:r>
                <a:r>
                  <a:rPr lang="en-US" dirty="0" err="1"/>
                  <a:t>,</a:t>
                </a:r>
                <a:r>
                  <a:rPr lang="en-US" i="1" dirty="0" err="1"/>
                  <a:t>k</a:t>
                </a:r>
                <a:r>
                  <a:rPr lang="en-US" dirty="0"/>
                  <a:t>}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∈</m:t>
                    </m:r>
                  </m:oMath>
                </a14:m>
                <a:r>
                  <a:rPr lang="en-US" i="1" dirty="0"/>
                  <a:t> F</a:t>
                </a:r>
                <a:r>
                  <a:rPr lang="en-US" baseline="-25000" dirty="0"/>
                  <a:t>2</a:t>
                </a:r>
                <a:r>
                  <a:rPr lang="en-US" dirty="0"/>
                  <a:t> </a:t>
                </a:r>
                <a:r>
                  <a:rPr lang="en-GB" dirty="0"/>
                  <a:t>and</a:t>
                </a:r>
                <a:r>
                  <a:rPr lang="en-US" dirty="0"/>
                  <a:t> support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</a:t>
                </a:r>
              </a:p>
              <a:p>
                <a:pPr lvl="1">
                  <a:spcBef>
                    <a:spcPts val="672"/>
                  </a:spcBef>
                </a:pPr>
                <a:r>
                  <a:rPr lang="mr-IN" dirty="0"/>
                  <a:t>…</a:t>
                </a:r>
                <a:endParaRPr lang="en-U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59E28-34FD-4B65-A4A3-FF24CB2C8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2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BAC50FB-FC91-4CE4-8F13-C73690EF8663}"/>
                  </a:ext>
                </a:extLst>
              </p:cNvPr>
              <p:cNvSpPr/>
              <p:nvPr/>
            </p:nvSpPr>
            <p:spPr>
              <a:xfrm>
                <a:off x="2382751" y="2802401"/>
                <a:ext cx="7426498" cy="55109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lIns="90000" tIns="90000" rIns="90000" bIns="90000">
                <a:spAutoFit/>
              </a:bodyPr>
              <a:lstStyle/>
              <a:p>
                <a:r>
                  <a:rPr lang="en-US" sz="2400" dirty="0"/>
                  <a:t>If </a:t>
                </a:r>
                <a:r>
                  <a:rPr lang="en-US" sz="2400" b="1" i="1" dirty="0"/>
                  <a:t>J</a:t>
                </a:r>
                <a:r>
                  <a:rPr lang="en-US" sz="2400" dirty="0"/>
                  <a:t> has support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i="1" dirty="0"/>
                  <a:t>s</a:t>
                </a:r>
                <a:r>
                  <a:rPr lang="en-US" sz="2400" dirty="0"/>
                  <a:t>, then all subsets of </a:t>
                </a:r>
                <a:r>
                  <a:rPr lang="en-US" sz="2400" b="1" i="1" dirty="0"/>
                  <a:t>J</a:t>
                </a:r>
                <a:r>
                  <a:rPr lang="en-US" sz="2400" dirty="0"/>
                  <a:t> have support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i="1" dirty="0"/>
                  <a:t>s</a:t>
                </a:r>
                <a:r>
                  <a:rPr lang="en-US" sz="2400" dirty="0"/>
                  <a:t>.</a:t>
                </a:r>
                <a:endParaRPr lang="en-US" sz="2400" baseline="-250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BAC50FB-FC91-4CE4-8F13-C73690EF86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51" y="2802401"/>
                <a:ext cx="7426498" cy="551090"/>
              </a:xfrm>
              <a:prstGeom prst="rect">
                <a:avLst/>
              </a:prstGeom>
              <a:blipFill>
                <a:blip r:embed="rId6"/>
                <a:stretch>
                  <a:fillRect l="-1230" r="-410" b="-15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8A3ACF0-CF1F-48AF-B65E-F39A0E77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8" name="Rounded Rectangular Callout 4">
            <a:extLst>
              <a:ext uri="{FF2B5EF4-FFF2-40B4-BE49-F238E27FC236}">
                <a16:creationId xmlns:a16="http://schemas.microsoft.com/office/drawing/2014/main" id="{E42FCA84-1C78-4656-B67A-280BB5B91EAC}"/>
              </a:ext>
            </a:extLst>
          </p:cNvPr>
          <p:cNvSpPr/>
          <p:nvPr/>
        </p:nvSpPr>
        <p:spPr>
          <a:xfrm>
            <a:off x="5814330" y="317116"/>
            <a:ext cx="2850167" cy="1474431"/>
          </a:xfrm>
          <a:prstGeom prst="wedgeRoundRectCallout">
            <a:avLst>
              <a:gd name="adj1" fmla="val -56111"/>
              <a:gd name="adj2" fmla="val 2799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This was what I was using for that early example for finding the pairs of movies that had high support</a:t>
            </a:r>
            <a:endParaRPr lang="en-US" baseline="-25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791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Input: set of items </a:t>
                </a:r>
                <a:r>
                  <a:rPr lang="en-US" b="1" i="1" dirty="0"/>
                  <a:t>I</a:t>
                </a:r>
                <a:r>
                  <a:rPr lang="en-US" dirty="0"/>
                  <a:t>, set of baskets </a:t>
                </a:r>
                <a:r>
                  <a:rPr lang="en-US" b="1" i="1" dirty="0"/>
                  <a:t>B</a:t>
                </a:r>
                <a:r>
                  <a:rPr lang="en-US" dirty="0"/>
                  <a:t>, max. size </a:t>
                </a:r>
                <a:r>
                  <a:rPr lang="en-US" b="1" i="1" dirty="0"/>
                  <a:t>q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support threshold </a:t>
                </a:r>
                <a:r>
                  <a:rPr lang="en-US" b="1" i="1" dirty="0"/>
                  <a:t>s</a:t>
                </a:r>
              </a:p>
              <a:p>
                <a:r>
                  <a:rPr lang="en-US" dirty="0"/>
                  <a:t>Output: subsets </a:t>
                </a:r>
                <a:r>
                  <a:rPr lang="en-US" b="1" i="1" dirty="0"/>
                  <a:t>J</a:t>
                </a:r>
                <a:r>
                  <a:rPr lang="en-US" dirty="0"/>
                  <a:t> of </a:t>
                </a:r>
                <a:r>
                  <a:rPr lang="en-US" b="1" i="1" dirty="0"/>
                  <a:t>I</a:t>
                </a:r>
                <a:r>
                  <a:rPr lang="en-US" dirty="0"/>
                  <a:t> with |</a:t>
                </a:r>
                <a:r>
                  <a:rPr lang="en-US" b="1" i="1" dirty="0"/>
                  <a:t>J</a:t>
                </a:r>
                <a:r>
                  <a:rPr lang="en-US" dirty="0"/>
                  <a:t>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q </a:t>
                </a:r>
                <a:r>
                  <a:rPr lang="en-US" dirty="0"/>
                  <a:t>and support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s</a:t>
                </a:r>
              </a:p>
              <a:p>
                <a:pPr>
                  <a:spcBef>
                    <a:spcPts val="3072"/>
                  </a:spcBef>
                </a:pPr>
                <a:endParaRPr lang="en-US" dirty="0"/>
              </a:p>
              <a:p>
                <a:pPr>
                  <a:spcBef>
                    <a:spcPts val="3072"/>
                  </a:spcBef>
                </a:pPr>
                <a:endParaRPr lang="en-US" dirty="0"/>
              </a:p>
              <a:p>
                <a:pPr>
                  <a:spcBef>
                    <a:spcPts val="3072"/>
                  </a:spcBef>
                </a:pPr>
                <a:endParaRPr lang="en-US" dirty="0"/>
              </a:p>
              <a:p>
                <a:pPr>
                  <a:spcBef>
                    <a:spcPts val="3072"/>
                  </a:spcBef>
                </a:pPr>
                <a:r>
                  <a:rPr lang="en-US" dirty="0"/>
                  <a:t>Efficient implementation in SQL for fixed </a:t>
                </a:r>
                <a:r>
                  <a:rPr lang="en-US" b="1" i="1" dirty="0"/>
                  <a:t>q</a:t>
                </a:r>
                <a:r>
                  <a:rPr lang="en-US" dirty="0"/>
                  <a:t> (e.g., </a:t>
                </a:r>
                <a:r>
                  <a:rPr lang="en-US" b="1" i="1" dirty="0"/>
                  <a:t>q</a:t>
                </a:r>
                <a:r>
                  <a:rPr lang="en-US" dirty="0"/>
                  <a:t>=2)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77865" y="3053465"/>
                <a:ext cx="5348125" cy="20739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spcBef>
                    <a:spcPts val="2472"/>
                  </a:spcBef>
                </a:pPr>
                <a:r>
                  <a:rPr lang="en-US" dirty="0"/>
                  <a:t>Algorithm:</a:t>
                </a:r>
              </a:p>
              <a:p>
                <a:pPr lvl="1"/>
                <a:r>
                  <a:rPr lang="en-US" i="1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 := { {</a:t>
                </a:r>
                <a:r>
                  <a:rPr lang="en-US" i="1" dirty="0" err="1"/>
                  <a:t>i</a:t>
                </a:r>
                <a:r>
                  <a:rPr lang="en-US" dirty="0"/>
                  <a:t>} : </a:t>
                </a:r>
                <a:r>
                  <a:rPr lang="en-US" i="1" dirty="0" err="1"/>
                  <a:t>i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I </a:t>
                </a:r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i="1" dirty="0"/>
                  <a:t>k</a:t>
                </a:r>
                <a:r>
                  <a:rPr lang="en-US" dirty="0"/>
                  <a:t> = 1 to </a:t>
                </a:r>
                <a:r>
                  <a:rPr lang="en-US" b="1" i="1" dirty="0"/>
                  <a:t>q</a:t>
                </a:r>
                <a:r>
                  <a:rPr lang="en-US" dirty="0"/>
                  <a:t> do</a:t>
                </a:r>
              </a:p>
              <a:p>
                <a:pPr lvl="2"/>
                <a:r>
                  <a:rPr lang="en-US" i="1" dirty="0" err="1"/>
                  <a:t>F</a:t>
                </a:r>
                <a:r>
                  <a:rPr lang="en-US" i="1" baseline="-25000" dirty="0" err="1"/>
                  <a:t>k</a:t>
                </a:r>
                <a:r>
                  <a:rPr lang="en-US" dirty="0"/>
                  <a:t> := { </a:t>
                </a:r>
                <a:r>
                  <a:rPr lang="en-US" b="1" i="1" dirty="0"/>
                  <a:t>J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 err="1"/>
                  <a:t>C</a:t>
                </a:r>
                <a:r>
                  <a:rPr lang="en-US" i="1" baseline="-25000" dirty="0" err="1"/>
                  <a:t>k</a:t>
                </a:r>
                <a:r>
                  <a:rPr lang="en-US" dirty="0"/>
                  <a:t> : </a:t>
                </a:r>
                <a:r>
                  <a:rPr lang="en-US" b="1" i="1" dirty="0"/>
                  <a:t>J</a:t>
                </a:r>
                <a:r>
                  <a:rPr lang="en-US" dirty="0"/>
                  <a:t> has support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s </a:t>
                </a:r>
                <a:r>
                  <a:rPr lang="en-US" dirty="0"/>
                  <a:t>}</a:t>
                </a:r>
              </a:p>
              <a:p>
                <a:pPr lvl="2"/>
                <a:r>
                  <a:rPr lang="en-US" dirty="0"/>
                  <a:t>if </a:t>
                </a:r>
                <a:r>
                  <a:rPr lang="en-US" i="1" dirty="0"/>
                  <a:t>k</a:t>
                </a:r>
                <a:r>
                  <a:rPr lang="en-US" dirty="0"/>
                  <a:t> = </a:t>
                </a:r>
                <a:r>
                  <a:rPr lang="en-US" b="1" i="1" dirty="0"/>
                  <a:t>q</a:t>
                </a:r>
                <a:r>
                  <a:rPr lang="en-US" dirty="0"/>
                  <a:t> then stop</a:t>
                </a:r>
              </a:p>
              <a:p>
                <a:pPr lvl="2"/>
                <a:r>
                  <a:rPr lang="en-US" i="1" dirty="0"/>
                  <a:t>C</a:t>
                </a:r>
                <a:r>
                  <a:rPr lang="en-US" i="1" baseline="-25000" dirty="0"/>
                  <a:t>k</a:t>
                </a:r>
                <a:r>
                  <a:rPr lang="en-US" baseline="-25000" dirty="0"/>
                  <a:t>+1</a:t>
                </a:r>
                <a:r>
                  <a:rPr lang="en-US" dirty="0"/>
                  <a:t> := { </a:t>
                </a:r>
                <a:r>
                  <a:rPr lang="en-US" b="1" i="1" dirty="0"/>
                  <a:t>J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⊆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I</a:t>
                </a:r>
                <a:r>
                  <a:rPr lang="en-US" dirty="0"/>
                  <a:t> : |</a:t>
                </a:r>
                <a:r>
                  <a:rPr lang="en-US" b="1" i="1" dirty="0"/>
                  <a:t>J</a:t>
                </a:r>
                <a:r>
                  <a:rPr lang="en-US" dirty="0"/>
                  <a:t>| = </a:t>
                </a:r>
                <a:r>
                  <a:rPr lang="en-US" i="1" dirty="0"/>
                  <a:t>k</a:t>
                </a:r>
                <a:r>
                  <a:rPr lang="en-US" dirty="0"/>
                  <a:t>+1 and all subsets of </a:t>
                </a:r>
                <a:r>
                  <a:rPr lang="en-US" b="1" i="1" dirty="0"/>
                  <a:t>J</a:t>
                </a:r>
                <a:r>
                  <a:rPr lang="en-US" dirty="0"/>
                  <a:t> of size </a:t>
                </a:r>
                <a:r>
                  <a:rPr lang="en-US" i="1" dirty="0"/>
                  <a:t>k</a:t>
                </a:r>
                <a:r>
                  <a:rPr lang="en-US" dirty="0"/>
                  <a:t> occur in </a:t>
                </a:r>
                <a:r>
                  <a:rPr lang="en-US" i="1" dirty="0" err="1"/>
                  <a:t>F</a:t>
                </a:r>
                <a:r>
                  <a:rPr lang="en-US" i="1" baseline="-25000" dirty="0" err="1"/>
                  <a:t>k</a:t>
                </a: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865" y="3053465"/>
                <a:ext cx="5348125" cy="2073983"/>
              </a:xfrm>
              <a:prstGeom prst="rect">
                <a:avLst/>
              </a:prstGeom>
              <a:blipFill>
                <a:blip r:embed="rId6"/>
                <a:stretch>
                  <a:fillRect l="-796" r="-910" b="-29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A-Priori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120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266F-CC9A-462E-9C02-514E7098A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358FB-D7CE-4EC2-BD4F-798E5D76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saw more complex tables (i.e. with respect to a column instead of the full table), association rules (i.e. does the presence of some items imply that more items are likely there too) as well as the a-priori algorithm (that was sketched in the first video as well)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3321E-0D73-41DF-9AF4-BB127D30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6111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4|8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4.7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2.8|3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5.1|9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9|18.9|25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33.4|2.7|21|6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15.8|11.3|9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4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5|19.6|9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11.8|11|5.5|16.5|18.8|41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4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106</TotalTime>
  <Words>1395</Words>
  <Application>Microsoft Office PowerPoint</Application>
  <PresentationFormat>Widescreen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Cambria Math</vt:lpstr>
      <vt:lpstr>Retrospect</vt:lpstr>
      <vt:lpstr>More about the  market-basket model</vt:lpstr>
      <vt:lpstr>Overview of video</vt:lpstr>
      <vt:lpstr>More Complex Tables</vt:lpstr>
      <vt:lpstr>Example 1 (1/4): Customer Baskets</vt:lpstr>
      <vt:lpstr>Example 1 (2/4): Customer Baskets</vt:lpstr>
      <vt:lpstr>Example 1 (3/4): Customer Baskets</vt:lpstr>
      <vt:lpstr>Example 1 (4/4)</vt:lpstr>
      <vt:lpstr>Example 2</vt:lpstr>
      <vt:lpstr>Association Rules</vt:lpstr>
      <vt:lpstr>Association Rules: Properties</vt:lpstr>
      <vt:lpstr>Example 1</vt:lpstr>
      <vt:lpstr>Example 2</vt:lpstr>
      <vt:lpstr>Finding Association Rules</vt:lpstr>
      <vt:lpstr>A-Priori Algorithm</vt:lpstr>
      <vt:lpstr>A-Priori Algorithm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complex tables and more examples</dc:title>
  <dc:creator>Rasmus Ibsen-Jensen</dc:creator>
  <cp:lastModifiedBy>Rasmus Ibsen-Jensen</cp:lastModifiedBy>
  <cp:revision>10</cp:revision>
  <dcterms:created xsi:type="dcterms:W3CDTF">2021-01-03T20:03:41Z</dcterms:created>
  <dcterms:modified xsi:type="dcterms:W3CDTF">2021-01-05T17:40:57Z</dcterms:modified>
</cp:coreProperties>
</file>