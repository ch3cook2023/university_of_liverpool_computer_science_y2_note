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53" r:id="rId3"/>
    <p:sldId id="425" r:id="rId4"/>
    <p:sldId id="426" r:id="rId5"/>
    <p:sldId id="447" r:id="rId6"/>
    <p:sldId id="454" r:id="rId7"/>
    <p:sldId id="450" r:id="rId8"/>
    <p:sldId id="452" r:id="rId9"/>
    <p:sldId id="45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1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F22D0-AA17-4D39-86B3-819CD597F6A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D-7F2E-472C-AD82-4174CED2F37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126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F22D0-AA17-4D39-86B3-819CD597F6A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D-7F2E-472C-AD82-4174CED2F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03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F22D0-AA17-4D39-86B3-819CD597F6A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D-7F2E-472C-AD82-4174CED2F37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303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F22D0-AA17-4D39-86B3-819CD597F6A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D-7F2E-472C-AD82-4174CED2F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844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F22D0-AA17-4D39-86B3-819CD597F6A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D-7F2E-472C-AD82-4174CED2F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252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F22D0-AA17-4D39-86B3-819CD597F6A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D-7F2E-472C-AD82-4174CED2F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873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F22D0-AA17-4D39-86B3-819CD597F6A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D-7F2E-472C-AD82-4174CED2F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422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2CF22D0-AA17-4D39-86B3-819CD597F6A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82BF5D-7F2E-472C-AD82-4174CED2F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846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F22D0-AA17-4D39-86B3-819CD597F6A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D-7F2E-472C-AD82-4174CED2F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99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F22D0-AA17-4D39-86B3-819CD597F6A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D-7F2E-472C-AD82-4174CED2F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04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F22D0-AA17-4D39-86B3-819CD597F6A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BF5D-7F2E-472C-AD82-4174CED2F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40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2CF22D0-AA17-4D39-86B3-819CD597F6A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82BF5D-7F2E-472C-AD82-4174CED2F373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60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711D-B440-450D-A444-F3C12CF6E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1094720" cy="3566160"/>
          </a:xfrm>
        </p:spPr>
        <p:txBody>
          <a:bodyPr/>
          <a:lstStyle/>
          <a:p>
            <a:r>
              <a:rPr lang="en-US" dirty="0"/>
              <a:t>More details about </a:t>
            </a:r>
            <a:br>
              <a:rPr lang="en-US" dirty="0"/>
            </a:br>
            <a:r>
              <a:rPr lang="en-US" dirty="0"/>
              <a:t>data-analysis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CA46B-99C4-4642-B8CC-04B12A4533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102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DAD3-C4DF-46AC-8062-0578158E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FB3A7-1158-4614-8614-EDFB239DA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video, we will see some more details about data-analysis as well as a technology </a:t>
            </a:r>
            <a:br>
              <a:rPr lang="en-US" dirty="0"/>
            </a:br>
            <a:r>
              <a:rPr lang="en-US" dirty="0"/>
              <a:t>(data-warehousing) and a technique for doing such (slicing and dicing)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DFCF6-53A2-4CB6-BFDF-546BDB68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3121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Tables &amp; Data Cubes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OLAP applications, there is typically a </a:t>
            </a:r>
            <a:r>
              <a:rPr lang="en-US" sz="2400" b="1" dirty="0"/>
              <a:t>unique fact table</a:t>
            </a:r>
          </a:p>
          <a:p>
            <a:pPr lvl="1"/>
            <a:r>
              <a:rPr lang="en-US" sz="2000" dirty="0"/>
              <a:t>Represents events &amp; objects of interest for the analysis</a:t>
            </a:r>
          </a:p>
          <a:p>
            <a:r>
              <a:rPr lang="en-US" sz="2400" dirty="0"/>
              <a:t>Example fact table: </a:t>
            </a:r>
            <a:r>
              <a:rPr lang="en-US" sz="2400" b="1" dirty="0">
                <a:solidFill>
                  <a:schemeClr val="accent2"/>
                </a:solidFill>
              </a:rPr>
              <a:t>Sales(</a:t>
            </a:r>
            <a:r>
              <a:rPr lang="en-US" sz="2400" b="1" dirty="0" err="1">
                <a:solidFill>
                  <a:schemeClr val="accent2"/>
                </a:solidFill>
              </a:rPr>
              <a:t>productNo</a:t>
            </a:r>
            <a:r>
              <a:rPr lang="en-US" sz="2400" b="1" dirty="0">
                <a:solidFill>
                  <a:schemeClr val="accent2"/>
                </a:solidFill>
              </a:rPr>
              <a:t>, date, store, price)</a:t>
            </a:r>
          </a:p>
          <a:p>
            <a:r>
              <a:rPr lang="en-US" sz="2400" dirty="0"/>
              <a:t>May be thought of as representing a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chemeClr val="accent1"/>
                </a:solidFill>
              </a:rPr>
              <a:t>data cube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2479633" y="4868182"/>
            <a:ext cx="694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8767" y="6129899"/>
            <a:ext cx="10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2202" y="3620465"/>
            <a:ext cx="75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stores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3174503" y="3599485"/>
            <a:ext cx="2520280" cy="2520280"/>
            <a:chOff x="3203848" y="3861048"/>
            <a:chExt cx="2520280" cy="2520280"/>
          </a:xfrm>
          <a:solidFill>
            <a:srgbClr val="0070C0"/>
          </a:solidFill>
        </p:grpSpPr>
        <p:sp>
          <p:nvSpPr>
            <p:cNvPr id="19" name="Cube 18"/>
            <p:cNvSpPr/>
            <p:nvPr/>
          </p:nvSpPr>
          <p:spPr>
            <a:xfrm>
              <a:off x="3203848" y="3861048"/>
              <a:ext cx="2520280" cy="2520280"/>
            </a:xfrm>
            <a:prstGeom prst="cube">
              <a:avLst/>
            </a:prstGeom>
            <a:grpFill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3830719" y="3861048"/>
              <a:ext cx="0" cy="1872208"/>
            </a:xfrm>
            <a:prstGeom prst="line">
              <a:avLst/>
            </a:prstGeom>
            <a:grpFill/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3820184" y="5752831"/>
              <a:ext cx="1903944" cy="0"/>
            </a:xfrm>
            <a:prstGeom prst="line">
              <a:avLst/>
            </a:prstGeom>
            <a:grpFill/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3214383" y="5749733"/>
              <a:ext cx="616336" cy="616337"/>
            </a:xfrm>
            <a:prstGeom prst="line">
              <a:avLst/>
            </a:prstGeom>
            <a:grpFill/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Oval 35"/>
          <p:cNvSpPr/>
          <p:nvPr/>
        </p:nvSpPr>
        <p:spPr>
          <a:xfrm>
            <a:off x="3719736" y="4660079"/>
            <a:ext cx="216024" cy="19954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326631" y="4435816"/>
            <a:ext cx="216024" cy="19954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719736" y="5605970"/>
            <a:ext cx="216024" cy="19954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5925718" y="4221088"/>
            <a:ext cx="4062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price for (prod67, ‘2020-11-26’, store123)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0039" y="4725144"/>
            <a:ext cx="394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price for (prod42, ‘2020-11-27’, store72)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9460" y="5894449"/>
            <a:ext cx="3945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price for (prod42, ‘2020-11-18’, store72)</a:t>
            </a:r>
          </a:p>
        </p:txBody>
      </p:sp>
      <p:cxnSp>
        <p:nvCxnSpPr>
          <p:cNvPr id="43" name="Straight Connector 42"/>
          <p:cNvCxnSpPr>
            <a:stCxn id="37" idx="6"/>
            <a:endCxn id="39" idx="1"/>
          </p:cNvCxnSpPr>
          <p:nvPr/>
        </p:nvCxnSpPr>
        <p:spPr>
          <a:xfrm flipV="1">
            <a:off x="4542655" y="4405754"/>
            <a:ext cx="1383063" cy="12983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36" idx="6"/>
            <a:endCxn id="40" idx="1"/>
          </p:cNvCxnSpPr>
          <p:nvPr/>
        </p:nvCxnSpPr>
        <p:spPr>
          <a:xfrm>
            <a:off x="3935760" y="4759853"/>
            <a:ext cx="2284279" cy="14995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38" idx="6"/>
            <a:endCxn id="41" idx="1"/>
          </p:cNvCxnSpPr>
          <p:nvPr/>
        </p:nvCxnSpPr>
        <p:spPr>
          <a:xfrm>
            <a:off x="3935760" y="5705743"/>
            <a:ext cx="2013700" cy="37337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" name="Rounded Rectangular Callout 51"/>
          <p:cNvSpPr/>
          <p:nvPr/>
        </p:nvSpPr>
        <p:spPr>
          <a:xfrm>
            <a:off x="5414213" y="3607862"/>
            <a:ext cx="3011018" cy="550230"/>
          </a:xfrm>
          <a:prstGeom prst="wedgeRoundRectCallout">
            <a:avLst>
              <a:gd name="adj1" fmla="val -43237"/>
              <a:gd name="adj2" fmla="val 7457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Each point = sale of a product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678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/>
      <p:bldP spid="21" grpId="0"/>
      <p:bldP spid="22" grpId="0"/>
      <p:bldP spid="36" grpId="0" animBg="1"/>
      <p:bldP spid="37" grpId="0" animBg="1"/>
      <p:bldP spid="38" grpId="0" animBg="1"/>
      <p:bldP spid="39" grpId="0"/>
      <p:bldP spid="40" grpId="0"/>
      <p:bldP spid="41" grpId="0"/>
      <p:bldP spid="5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 Schemas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One of the most common data warehouse architectures</a:t>
            </a:r>
          </a:p>
          <a:p>
            <a:pPr lvl="1"/>
            <a:r>
              <a:rPr lang="en-US" sz="2000" dirty="0"/>
              <a:t>Unique </a:t>
            </a:r>
            <a:r>
              <a:rPr lang="en-US" sz="2000" dirty="0">
                <a:solidFill>
                  <a:schemeClr val="accent2"/>
                </a:solidFill>
              </a:rPr>
              <a:t>fact table</a:t>
            </a:r>
            <a:r>
              <a:rPr lang="en-US" sz="2000" dirty="0"/>
              <a:t>: contains points in the data cube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Dimension tables</a:t>
            </a:r>
            <a:r>
              <a:rPr lang="en-US" sz="2000" dirty="0"/>
              <a:t>: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describe values along each axis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954034" y="3990255"/>
            <a:ext cx="39445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Sales(</a:t>
            </a:r>
            <a:r>
              <a:rPr lang="en-US" sz="2000" b="1" dirty="0" err="1">
                <a:solidFill>
                  <a:schemeClr val="accent2"/>
                </a:solidFill>
              </a:rPr>
              <a:t>productNo</a:t>
            </a:r>
            <a:r>
              <a:rPr lang="en-US" sz="2000" b="1" dirty="0">
                <a:solidFill>
                  <a:schemeClr val="accent2"/>
                </a:solidFill>
              </a:rPr>
              <a:t>, date, store, price)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44005" y="4653136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Dimension 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60980" y="4653136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Dimension 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456040" y="4653136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Dimension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68932" y="4653136"/>
            <a:ext cx="2133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Dependent Attribute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74503" y="3190035"/>
            <a:ext cx="38201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Products(</a:t>
            </a:r>
            <a:r>
              <a:rPr lang="en-US" sz="2000" b="1" dirty="0" err="1">
                <a:solidFill>
                  <a:schemeClr val="accent2"/>
                </a:solidFill>
              </a:rPr>
              <a:t>productNo</a:t>
            </a:r>
            <a:r>
              <a:rPr lang="en-US" sz="2000" b="1" dirty="0">
                <a:solidFill>
                  <a:schemeClr val="accent1"/>
                </a:solidFill>
              </a:rPr>
              <a:t>, type, model)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3614" y="5424168"/>
            <a:ext cx="38349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Stores(</a:t>
            </a:r>
            <a:r>
              <a:rPr lang="en-US" sz="2000" b="1" dirty="0">
                <a:solidFill>
                  <a:schemeClr val="accent2"/>
                </a:solidFill>
              </a:rPr>
              <a:t>name</a:t>
            </a:r>
            <a:r>
              <a:rPr lang="en-US" sz="2000" b="1" dirty="0">
                <a:solidFill>
                  <a:schemeClr val="accent1"/>
                </a:solidFill>
              </a:rPr>
              <a:t>, city, country, phone)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20853" y="3193583"/>
            <a:ext cx="39356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Days(</a:t>
            </a:r>
            <a:r>
              <a:rPr lang="en-US" sz="2000" b="1" dirty="0">
                <a:solidFill>
                  <a:schemeClr val="accent2"/>
                </a:solidFill>
              </a:rPr>
              <a:t>date</a:t>
            </a:r>
            <a:r>
              <a:rPr lang="en-US" sz="2000" b="1" dirty="0">
                <a:solidFill>
                  <a:schemeClr val="accent1"/>
                </a:solidFill>
              </a:rPr>
              <a:t>, day, week, month, year)</a:t>
            </a:r>
          </a:p>
        </p:txBody>
      </p:sp>
      <p:sp>
        <p:nvSpPr>
          <p:cNvPr id="63" name="Oval 62"/>
          <p:cNvSpPr/>
          <p:nvPr/>
        </p:nvSpPr>
        <p:spPr>
          <a:xfrm>
            <a:off x="3545226" y="3852916"/>
            <a:ext cx="4752528" cy="680304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4336977" y="4390366"/>
            <a:ext cx="412366" cy="26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5" idx="2"/>
          </p:cNvCxnSpPr>
          <p:nvPr/>
        </p:nvCxnSpPr>
        <p:spPr>
          <a:xfrm flipV="1">
            <a:off x="5568492" y="4390366"/>
            <a:ext cx="357812" cy="26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0"/>
          </p:cNvCxnSpPr>
          <p:nvPr/>
        </p:nvCxnSpPr>
        <p:spPr>
          <a:xfrm flipH="1" flipV="1">
            <a:off x="6895960" y="4369312"/>
            <a:ext cx="239113" cy="283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557057" y="4369312"/>
            <a:ext cx="610712" cy="283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44" idx="2"/>
          </p:cNvCxnSpPr>
          <p:nvPr/>
        </p:nvCxnSpPr>
        <p:spPr>
          <a:xfrm flipH="1" flipV="1">
            <a:off x="3784578" y="3590145"/>
            <a:ext cx="1221215" cy="468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6157921" y="3555811"/>
            <a:ext cx="1161437" cy="503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5255394" y="4369312"/>
            <a:ext cx="1396855" cy="1157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319156" y="3990255"/>
            <a:ext cx="1626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Centre of a star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31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9" grpId="0"/>
      <p:bldP spid="44" grpId="0"/>
      <p:bldP spid="45" grpId="0"/>
      <p:bldP spid="46" grpId="0"/>
      <p:bldP spid="63" grpId="0" animBg="1"/>
      <p:bldP spid="6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Schemas: More Precisely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star schema </a:t>
            </a:r>
            <a:r>
              <a:rPr lang="en-US" dirty="0"/>
              <a:t>describes a database consisting of:</a:t>
            </a:r>
          </a:p>
          <a:p>
            <a:pPr lvl="1">
              <a:spcBef>
                <a:spcPts val="1176"/>
              </a:spcBef>
            </a:pPr>
            <a:r>
              <a:rPr lang="en-US" dirty="0"/>
              <a:t>A </a:t>
            </a:r>
            <a:r>
              <a:rPr lang="en-US" b="1" dirty="0">
                <a:solidFill>
                  <a:schemeClr val="accent2"/>
                </a:solidFill>
              </a:rPr>
              <a:t>fact table </a:t>
            </a:r>
            <a:r>
              <a:rPr lang="en-US" dirty="0"/>
              <a:t>R(</a:t>
            </a:r>
            <a:r>
              <a:rPr lang="en-US" b="1" dirty="0">
                <a:solidFill>
                  <a:schemeClr val="accent6"/>
                </a:solidFill>
              </a:rPr>
              <a:t>A</a:t>
            </a:r>
            <a:r>
              <a:rPr lang="en-US" b="1" baseline="-25000" dirty="0">
                <a:solidFill>
                  <a:schemeClr val="accent6"/>
                </a:solidFill>
              </a:rPr>
              <a:t>1</a:t>
            </a:r>
            <a:r>
              <a:rPr lang="en-US" dirty="0"/>
              <a:t>,</a:t>
            </a:r>
            <a:r>
              <a:rPr lang="mr-IN" dirty="0"/>
              <a:t>…</a:t>
            </a:r>
            <a:r>
              <a:rPr lang="en-GB" b="1" dirty="0">
                <a:solidFill>
                  <a:schemeClr val="accent6"/>
                </a:solidFill>
              </a:rPr>
              <a:t>A</a:t>
            </a:r>
            <a:r>
              <a:rPr lang="en-GB" b="1" baseline="-25000" dirty="0">
                <a:solidFill>
                  <a:schemeClr val="accent6"/>
                </a:solidFill>
              </a:rPr>
              <a:t>n</a:t>
            </a:r>
            <a:r>
              <a:rPr lang="en-GB" dirty="0"/>
              <a:t>,B</a:t>
            </a:r>
            <a:r>
              <a:rPr lang="en-GB" baseline="-25000" dirty="0"/>
              <a:t>1</a:t>
            </a:r>
            <a:r>
              <a:rPr lang="en-GB" dirty="0"/>
              <a:t>,</a:t>
            </a:r>
            <a:r>
              <a:rPr lang="mr-IN" dirty="0"/>
              <a:t>…</a:t>
            </a:r>
            <a:r>
              <a:rPr lang="en-GB" dirty="0"/>
              <a:t>,</a:t>
            </a:r>
            <a:r>
              <a:rPr lang="en-GB" dirty="0" err="1"/>
              <a:t>B</a:t>
            </a:r>
            <a:r>
              <a:rPr lang="en-GB" baseline="-25000" dirty="0" err="1"/>
              <a:t>m</a:t>
            </a:r>
            <a:r>
              <a:rPr lang="en-US" dirty="0"/>
              <a:t>)</a:t>
            </a:r>
          </a:p>
          <a:p>
            <a:pPr lvl="2"/>
            <a:r>
              <a:rPr lang="en-US" b="1" dirty="0">
                <a:solidFill>
                  <a:schemeClr val="accent6"/>
                </a:solidFill>
              </a:rPr>
              <a:t>A</a:t>
            </a:r>
            <a:r>
              <a:rPr lang="en-US" b="1" baseline="-25000" dirty="0">
                <a:solidFill>
                  <a:schemeClr val="accent6"/>
                </a:solidFill>
              </a:rPr>
              <a:t>1</a:t>
            </a:r>
            <a:r>
              <a:rPr lang="en-US" dirty="0"/>
              <a:t>, </a:t>
            </a:r>
            <a:r>
              <a:rPr lang="mr-IN" dirty="0"/>
              <a:t>…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A</a:t>
            </a:r>
            <a:r>
              <a:rPr lang="en-GB" b="1" baseline="-25000" dirty="0">
                <a:solidFill>
                  <a:schemeClr val="accent6"/>
                </a:solidFill>
              </a:rPr>
              <a:t>n</a:t>
            </a:r>
            <a:r>
              <a:rPr lang="en-GB" dirty="0"/>
              <a:t> are called </a:t>
            </a:r>
            <a:r>
              <a:rPr lang="en-GB" b="1" dirty="0"/>
              <a:t>dimensions</a:t>
            </a:r>
          </a:p>
          <a:p>
            <a:pPr lvl="2"/>
            <a:r>
              <a:rPr lang="en-GB" dirty="0"/>
              <a:t>B</a:t>
            </a:r>
            <a:r>
              <a:rPr lang="en-GB" baseline="-25000" dirty="0"/>
              <a:t>1</a:t>
            </a:r>
            <a:r>
              <a:rPr lang="en-GB" dirty="0"/>
              <a:t>, </a:t>
            </a:r>
            <a:r>
              <a:rPr lang="mr-IN" dirty="0"/>
              <a:t>…</a:t>
            </a:r>
            <a:r>
              <a:rPr lang="en-GB" dirty="0"/>
              <a:t>, </a:t>
            </a:r>
            <a:r>
              <a:rPr lang="en-GB" dirty="0" err="1"/>
              <a:t>B</a:t>
            </a:r>
            <a:r>
              <a:rPr lang="en-GB" baseline="-25000" dirty="0" err="1"/>
              <a:t>m</a:t>
            </a:r>
            <a:r>
              <a:rPr lang="en-GB" dirty="0"/>
              <a:t> are called </a:t>
            </a:r>
            <a:r>
              <a:rPr lang="en-GB" b="1" dirty="0"/>
              <a:t>dependent attributes</a:t>
            </a:r>
            <a:endParaRPr lang="en-US" b="1" dirty="0"/>
          </a:p>
          <a:p>
            <a:pPr lvl="1">
              <a:spcBef>
                <a:spcPts val="1776"/>
              </a:spcBef>
            </a:pPr>
            <a:r>
              <a:rPr lang="en-US" dirty="0"/>
              <a:t>A </a:t>
            </a:r>
            <a:r>
              <a:rPr lang="en-US" b="1" dirty="0">
                <a:solidFill>
                  <a:schemeClr val="accent1"/>
                </a:solidFill>
              </a:rPr>
              <a:t>dimension table </a:t>
            </a:r>
            <a:r>
              <a:rPr lang="en-US" dirty="0"/>
              <a:t>D</a:t>
            </a:r>
            <a:r>
              <a:rPr lang="en-US" baseline="-25000" dirty="0"/>
              <a:t>i</a:t>
            </a:r>
            <a:r>
              <a:rPr lang="en-US" dirty="0"/>
              <a:t>(</a:t>
            </a:r>
            <a:r>
              <a:rPr lang="en-US" b="1" dirty="0">
                <a:solidFill>
                  <a:schemeClr val="accent6"/>
                </a:solidFill>
              </a:rPr>
              <a:t>A</a:t>
            </a:r>
            <a:r>
              <a:rPr lang="en-US" b="1" baseline="-25000" dirty="0">
                <a:solidFill>
                  <a:schemeClr val="accent6"/>
                </a:solidFill>
              </a:rPr>
              <a:t>i</a:t>
            </a:r>
            <a:r>
              <a:rPr lang="en-US" dirty="0"/>
              <a:t>,</a:t>
            </a:r>
            <a:r>
              <a:rPr lang="mr-IN" dirty="0"/>
              <a:t>…</a:t>
            </a:r>
            <a:r>
              <a:rPr lang="en-GB" dirty="0"/>
              <a:t>) for each dimension </a:t>
            </a:r>
            <a:r>
              <a:rPr lang="en-GB" b="1" dirty="0">
                <a:solidFill>
                  <a:schemeClr val="accent6"/>
                </a:solidFill>
              </a:rPr>
              <a:t>A</a:t>
            </a:r>
            <a:r>
              <a:rPr lang="en-GB" b="1" baseline="-25000" dirty="0">
                <a:solidFill>
                  <a:schemeClr val="accent6"/>
                </a:solidFill>
              </a:rPr>
              <a:t>i</a:t>
            </a:r>
            <a:r>
              <a:rPr lang="en-GB" dirty="0"/>
              <a:t> </a:t>
            </a:r>
            <a:endParaRPr lang="en-US" dirty="0"/>
          </a:p>
          <a:p>
            <a:pPr lvl="2">
              <a:spcBef>
                <a:spcPts val="576"/>
              </a:spcBef>
            </a:pPr>
            <a:endParaRPr lang="en-US" dirty="0"/>
          </a:p>
          <a:p>
            <a:pPr lvl="2">
              <a:spcBef>
                <a:spcPts val="576"/>
              </a:spcBef>
            </a:pPr>
            <a:endParaRPr lang="en-US" dirty="0"/>
          </a:p>
          <a:p>
            <a:pPr>
              <a:spcBef>
                <a:spcPts val="2976"/>
              </a:spcBef>
            </a:pPr>
            <a:endParaRPr lang="en-US" dirty="0"/>
          </a:p>
          <a:p>
            <a:pPr>
              <a:spcBef>
                <a:spcPts val="1176"/>
              </a:spcBef>
            </a:pPr>
            <a:endParaRPr lang="en-US" dirty="0"/>
          </a:p>
          <a:p>
            <a:pPr>
              <a:spcBef>
                <a:spcPts val="1176"/>
              </a:spcBef>
            </a:pPr>
            <a:r>
              <a:rPr lang="en-US" dirty="0"/>
              <a:t>More general: snowflake schema (not here)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4435119" y="3857414"/>
            <a:ext cx="24593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400" dirty="0"/>
              <a:t>R(</a:t>
            </a:r>
            <a:r>
              <a:rPr lang="en-US" sz="2400" b="1" dirty="0">
                <a:solidFill>
                  <a:schemeClr val="accent6"/>
                </a:solidFill>
              </a:rPr>
              <a:t>A</a:t>
            </a:r>
            <a:r>
              <a:rPr lang="en-US" sz="2400" b="1" baseline="-25000" dirty="0">
                <a:solidFill>
                  <a:schemeClr val="accent6"/>
                </a:solidFill>
              </a:rPr>
              <a:t>1</a:t>
            </a:r>
            <a:r>
              <a:rPr lang="en-US" sz="2400" dirty="0"/>
              <a:t>,</a:t>
            </a:r>
            <a:r>
              <a:rPr lang="mr-IN" sz="2400" dirty="0"/>
              <a:t>…</a:t>
            </a:r>
            <a:r>
              <a:rPr lang="en-GB" sz="2400" b="1" dirty="0">
                <a:solidFill>
                  <a:schemeClr val="accent6"/>
                </a:solidFill>
              </a:rPr>
              <a:t>A</a:t>
            </a:r>
            <a:r>
              <a:rPr lang="en-GB" sz="2400" b="1" baseline="-25000" dirty="0">
                <a:solidFill>
                  <a:schemeClr val="accent6"/>
                </a:solidFill>
              </a:rPr>
              <a:t>n</a:t>
            </a:r>
            <a:r>
              <a:rPr lang="en-GB" sz="2400" dirty="0"/>
              <a:t>,B</a:t>
            </a:r>
            <a:r>
              <a:rPr lang="en-GB" sz="2400" baseline="-25000" dirty="0"/>
              <a:t>1</a:t>
            </a:r>
            <a:r>
              <a:rPr lang="en-GB" sz="2400" dirty="0"/>
              <a:t>,</a:t>
            </a:r>
            <a:r>
              <a:rPr lang="mr-IN" sz="2400" dirty="0"/>
              <a:t>…</a:t>
            </a:r>
            <a:r>
              <a:rPr lang="en-GB" sz="2400" dirty="0"/>
              <a:t>,</a:t>
            </a:r>
            <a:r>
              <a:rPr lang="en-GB" sz="2400" dirty="0" err="1"/>
              <a:t>B</a:t>
            </a:r>
            <a:r>
              <a:rPr lang="en-GB" sz="2400" baseline="-25000" dirty="0" err="1"/>
              <a:t>m</a:t>
            </a:r>
            <a:r>
              <a:rPr lang="en-US" sz="2400" dirty="0"/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31463" y="4648963"/>
            <a:ext cx="12442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400" dirty="0"/>
              <a:t>D</a:t>
            </a:r>
            <a:r>
              <a:rPr lang="en-US" sz="2400" baseline="-25000" dirty="0"/>
              <a:t>2</a:t>
            </a:r>
            <a:r>
              <a:rPr lang="en-US" sz="2400" dirty="0"/>
              <a:t>(</a:t>
            </a:r>
            <a:r>
              <a:rPr lang="en-US" sz="2400" b="1" dirty="0">
                <a:solidFill>
                  <a:schemeClr val="accent6"/>
                </a:solidFill>
              </a:rPr>
              <a:t>A</a:t>
            </a:r>
            <a:r>
              <a:rPr lang="en-US" sz="2400" b="1" baseline="-25000" dirty="0">
                <a:solidFill>
                  <a:schemeClr val="accent6"/>
                </a:solidFill>
              </a:rPr>
              <a:t>2</a:t>
            </a:r>
            <a:r>
              <a:rPr lang="en-US" sz="2400" dirty="0"/>
              <a:t>,</a:t>
            </a:r>
            <a:r>
              <a:rPr lang="mr-IN" sz="2400" dirty="0"/>
              <a:t>…</a:t>
            </a:r>
            <a:r>
              <a:rPr lang="en-US" sz="2400" dirty="0"/>
              <a:t>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669" y="4645325"/>
            <a:ext cx="12442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400" dirty="0" err="1"/>
              <a:t>D</a:t>
            </a:r>
            <a:r>
              <a:rPr lang="en-US" sz="2400" baseline="-25000" dirty="0" err="1"/>
              <a:t>n</a:t>
            </a:r>
            <a:r>
              <a:rPr lang="en-US" sz="2400" dirty="0"/>
              <a:t>(</a:t>
            </a:r>
            <a:r>
              <a:rPr lang="en-US" sz="2400" b="1" dirty="0">
                <a:solidFill>
                  <a:schemeClr val="accent6"/>
                </a:solidFill>
              </a:rPr>
              <a:t>A</a:t>
            </a:r>
            <a:r>
              <a:rPr lang="en-US" sz="2400" b="1" baseline="-25000" dirty="0">
                <a:solidFill>
                  <a:schemeClr val="accent6"/>
                </a:solidFill>
              </a:rPr>
              <a:t>n</a:t>
            </a:r>
            <a:r>
              <a:rPr lang="en-US" sz="2400" dirty="0"/>
              <a:t>,</a:t>
            </a:r>
            <a:r>
              <a:rPr lang="mr-IN" sz="2400" dirty="0"/>
              <a:t>…</a:t>
            </a:r>
            <a:r>
              <a:rPr lang="en-US" sz="2400" dirty="0"/>
              <a:t>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06509" y="4648963"/>
            <a:ext cx="12442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400" dirty="0"/>
              <a:t>D</a:t>
            </a:r>
            <a:r>
              <a:rPr lang="en-US" sz="2400" baseline="-25000" dirty="0"/>
              <a:t>1</a:t>
            </a:r>
            <a:r>
              <a:rPr lang="en-US" sz="2400" dirty="0"/>
              <a:t>(</a:t>
            </a:r>
            <a:r>
              <a:rPr lang="en-US" sz="2400" b="1" dirty="0">
                <a:solidFill>
                  <a:schemeClr val="accent6"/>
                </a:solidFill>
              </a:rPr>
              <a:t>A</a:t>
            </a:r>
            <a:r>
              <a:rPr lang="en-US" sz="2400" b="1" baseline="-25000" dirty="0">
                <a:solidFill>
                  <a:schemeClr val="accent6"/>
                </a:solidFill>
              </a:rPr>
              <a:t>1</a:t>
            </a:r>
            <a:r>
              <a:rPr lang="en-US" sz="2400" dirty="0"/>
              <a:t>,</a:t>
            </a:r>
            <a:r>
              <a:rPr lang="mr-IN" sz="2400" dirty="0"/>
              <a:t>…</a:t>
            </a:r>
            <a:r>
              <a:rPr lang="en-US" sz="2400" dirty="0"/>
              <a:t>)</a:t>
            </a:r>
          </a:p>
        </p:txBody>
      </p:sp>
      <p:cxnSp>
        <p:nvCxnSpPr>
          <p:cNvPr id="17" name="Straight Arrow Connector 16"/>
          <p:cNvCxnSpPr>
            <a:endCxn id="29" idx="0"/>
          </p:cNvCxnSpPr>
          <p:nvPr/>
        </p:nvCxnSpPr>
        <p:spPr>
          <a:xfrm flipH="1">
            <a:off x="3928634" y="4311708"/>
            <a:ext cx="943588" cy="337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083192" y="4311709"/>
            <a:ext cx="69363" cy="333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5515239" y="4315805"/>
            <a:ext cx="2160240" cy="329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4" name="Rounded Rectangular Callout 53"/>
          <p:cNvSpPr/>
          <p:nvPr/>
        </p:nvSpPr>
        <p:spPr>
          <a:xfrm>
            <a:off x="5988168" y="2561723"/>
            <a:ext cx="1080120" cy="485525"/>
          </a:xfrm>
          <a:prstGeom prst="wedgeRoundRectCallout">
            <a:avLst>
              <a:gd name="adj1" fmla="val -43237"/>
              <a:gd name="adj2" fmla="val 7457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Key of D</a:t>
            </a:r>
            <a:r>
              <a:rPr lang="en-US" baseline="-25000" dirty="0"/>
              <a:t>i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379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FF606-E086-4575-A769-6D82C8D8B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Star Schemas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62B11-4E79-4C46-AF6F-FA224C929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feature: </a:t>
            </a:r>
            <a:r>
              <a:rPr lang="en-US" b="1" dirty="0" err="1"/>
              <a:t>denormalised</a:t>
            </a:r>
            <a:r>
              <a:rPr lang="en-US" b="1" dirty="0"/>
              <a:t> schema</a:t>
            </a:r>
          </a:p>
          <a:p>
            <a:pPr lvl="1"/>
            <a:r>
              <a:rPr lang="en-US" dirty="0"/>
              <a:t>Main data in one table (fact table)</a:t>
            </a:r>
          </a:p>
          <a:p>
            <a:pPr lvl="1"/>
            <a:r>
              <a:rPr lang="en-US" dirty="0"/>
              <a:t>Rest of the data can be joined with fact table very quickly</a:t>
            </a:r>
          </a:p>
          <a:p>
            <a:pPr>
              <a:spcBef>
                <a:spcPts val="2472"/>
              </a:spcBef>
            </a:pPr>
            <a:r>
              <a:rPr lang="en-US" dirty="0"/>
              <a:t>Gains:</a:t>
            </a:r>
          </a:p>
          <a:p>
            <a:pPr lvl="1"/>
            <a:r>
              <a:rPr lang="en-US" dirty="0"/>
              <a:t>Queries </a:t>
            </a:r>
            <a:r>
              <a:rPr lang="en-US" b="1" dirty="0"/>
              <a:t>don’t require many joins</a:t>
            </a:r>
          </a:p>
          <a:p>
            <a:pPr lvl="1"/>
            <a:r>
              <a:rPr lang="en-US" b="1" dirty="0"/>
              <a:t>Performance gains</a:t>
            </a:r>
            <a:r>
              <a:rPr lang="en-US" dirty="0"/>
              <a:t>, especially when processing queries</a:t>
            </a:r>
            <a:br>
              <a:rPr lang="en-US" dirty="0"/>
            </a:br>
            <a:r>
              <a:rPr lang="en-US" dirty="0"/>
              <a:t>that would require many joins in a </a:t>
            </a:r>
            <a:r>
              <a:rPr lang="en-US" dirty="0" err="1"/>
              <a:t>normalised</a:t>
            </a:r>
            <a:r>
              <a:rPr lang="en-US" dirty="0"/>
              <a:t> database</a:t>
            </a:r>
          </a:p>
          <a:p>
            <a:pPr lvl="1"/>
            <a:r>
              <a:rPr lang="en-US" b="1" dirty="0"/>
              <a:t>Faster and easier aggregation </a:t>
            </a:r>
            <a:r>
              <a:rPr lang="en-US" dirty="0"/>
              <a:t>of data</a:t>
            </a:r>
          </a:p>
          <a:p>
            <a:endParaRPr lang="en-GB" dirty="0"/>
          </a:p>
        </p:txBody>
      </p:sp>
      <p:sp>
        <p:nvSpPr>
          <p:cNvPr id="4" name="Rounded Rectangular Callout 4">
            <a:extLst>
              <a:ext uri="{FF2B5EF4-FFF2-40B4-BE49-F238E27FC236}">
                <a16:creationId xmlns:a16="http://schemas.microsoft.com/office/drawing/2014/main" id="{50FBD905-D423-4CC9-A913-B641237F679A}"/>
              </a:ext>
            </a:extLst>
          </p:cNvPr>
          <p:cNvSpPr/>
          <p:nvPr/>
        </p:nvSpPr>
        <p:spPr>
          <a:xfrm>
            <a:off x="5033746" y="1602971"/>
            <a:ext cx="2520280" cy="485525"/>
          </a:xfrm>
          <a:prstGeom prst="wedgeRoundRectCallout">
            <a:avLst>
              <a:gd name="adj1" fmla="val -56111"/>
              <a:gd name="adj2" fmla="val 2799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Unlike typical databases</a:t>
            </a:r>
            <a:endParaRPr lang="en-US" baseline="-2500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FBA5199-70CB-40F6-88AA-D36F3DB7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036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product type ‘X’ doesn’t sell too well</a:t>
            </a:r>
            <a:r>
              <a:rPr lang="mr-IN" dirty="0"/>
              <a:t>…</a:t>
            </a:r>
            <a:endParaRPr lang="en-GB" dirty="0"/>
          </a:p>
          <a:p>
            <a:r>
              <a:rPr lang="en-US" dirty="0"/>
              <a:t>Let’s try to find out which model doesn’t sell well</a:t>
            </a:r>
            <a:r>
              <a:rPr lang="mr-IN" dirty="0"/>
              <a:t>…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Refine by month: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744072" y="4486196"/>
            <a:ext cx="694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3206" y="5747913"/>
            <a:ext cx="10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6641" y="3238479"/>
            <a:ext cx="75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stores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7438942" y="3217499"/>
            <a:ext cx="2520280" cy="2520280"/>
            <a:chOff x="3203848" y="3861048"/>
            <a:chExt cx="2520280" cy="2520280"/>
          </a:xfrm>
          <a:solidFill>
            <a:srgbClr val="0070C0"/>
          </a:solidFill>
        </p:grpSpPr>
        <p:sp>
          <p:nvSpPr>
            <p:cNvPr id="10" name="Cube 9"/>
            <p:cNvSpPr/>
            <p:nvPr/>
          </p:nvSpPr>
          <p:spPr>
            <a:xfrm>
              <a:off x="3203848" y="3861048"/>
              <a:ext cx="2520280" cy="2520280"/>
            </a:xfrm>
            <a:prstGeom prst="cube">
              <a:avLst/>
            </a:prstGeom>
            <a:grpFill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3830719" y="3861048"/>
              <a:ext cx="0" cy="1872208"/>
            </a:xfrm>
            <a:prstGeom prst="line">
              <a:avLst/>
            </a:prstGeom>
            <a:grpFill/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3820184" y="5752831"/>
              <a:ext cx="1903944" cy="0"/>
            </a:xfrm>
            <a:prstGeom prst="line">
              <a:avLst/>
            </a:prstGeom>
            <a:grpFill/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3214383" y="5749733"/>
              <a:ext cx="616336" cy="616337"/>
            </a:xfrm>
            <a:prstGeom prst="line">
              <a:avLst/>
            </a:prstGeom>
            <a:grpFill/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2103842" y="2690898"/>
            <a:ext cx="4134465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SELECT model, SUM(price)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FROM Sales NATURAL JOIN Products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WHERE type=‘X’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GROUP BY model; </a:t>
            </a:r>
          </a:p>
        </p:txBody>
      </p:sp>
      <p:sp>
        <p:nvSpPr>
          <p:cNvPr id="17" name="Cube 16"/>
          <p:cNvSpPr/>
          <p:nvPr/>
        </p:nvSpPr>
        <p:spPr>
          <a:xfrm>
            <a:off x="8085479" y="3229507"/>
            <a:ext cx="1170097" cy="2484042"/>
          </a:xfrm>
          <a:prstGeom prst="cube">
            <a:avLst>
              <a:gd name="adj" fmla="val 5405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7449478" y="3847117"/>
            <a:ext cx="18868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8184232" y="3866849"/>
            <a:ext cx="0" cy="18467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8328248" y="3866849"/>
            <a:ext cx="0" cy="18467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8498904" y="3866849"/>
            <a:ext cx="0" cy="18467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8184233" y="3229507"/>
            <a:ext cx="634081" cy="6176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8328249" y="3215778"/>
            <a:ext cx="634081" cy="6176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8501273" y="3221221"/>
            <a:ext cx="634081" cy="6176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102406" y="5014988"/>
            <a:ext cx="4381328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SELECT model, month, SUM(price)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FROM (Sales NATURAL JOIN Products)</a:t>
            </a:r>
            <a:br>
              <a:rPr lang="en-US" sz="1600" dirty="0">
                <a:latin typeface="Courier" charset="0"/>
                <a:ea typeface="Courier" charset="0"/>
                <a:cs typeface="Courier" charset="0"/>
              </a:rPr>
            </a:b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     NATURAL JOIN Days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WHERE type=‘X’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GROUP BY model, month; 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8065813" y="3470986"/>
            <a:ext cx="1194396" cy="2056530"/>
            <a:chOff x="6541813" y="3470986"/>
            <a:chExt cx="1194396" cy="2056530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6541813" y="4077072"/>
              <a:ext cx="550467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541813" y="4365104"/>
              <a:ext cx="550467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6541813" y="4653136"/>
              <a:ext cx="550467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541813" y="4942979"/>
              <a:ext cx="550467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541813" y="5232822"/>
              <a:ext cx="550467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6541813" y="5522665"/>
              <a:ext cx="550467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7092280" y="3470986"/>
              <a:ext cx="634335" cy="60732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V="1">
              <a:off x="7087245" y="3760828"/>
              <a:ext cx="634335" cy="60732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V="1">
              <a:off x="7101874" y="4050670"/>
              <a:ext cx="634335" cy="60732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7087051" y="4350431"/>
              <a:ext cx="634335" cy="60732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7101874" y="4620435"/>
              <a:ext cx="634335" cy="60732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V="1">
              <a:off x="7087245" y="4920196"/>
              <a:ext cx="634335" cy="60732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3E8BF34-E023-49B3-90E5-D3CF11EE25CE}"/>
              </a:ext>
            </a:extLst>
          </p:cNvPr>
          <p:cNvSpPr txBox="1"/>
          <p:nvPr/>
        </p:nvSpPr>
        <p:spPr>
          <a:xfrm>
            <a:off x="3303221" y="162150"/>
            <a:ext cx="4606133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/>
              <a:t>Sales</a:t>
            </a:r>
            <a:r>
              <a:rPr lang="en-US" sz="2000" dirty="0"/>
              <a:t>(</a:t>
            </a:r>
            <a:r>
              <a:rPr lang="en-US" sz="2000" dirty="0" err="1"/>
              <a:t>productNo</a:t>
            </a:r>
            <a:r>
              <a:rPr lang="en-US" sz="2000" dirty="0"/>
              <a:t>, date, </a:t>
            </a:r>
            <a:r>
              <a:rPr lang="en-US" sz="2000" dirty="0" err="1"/>
              <a:t>store_name</a:t>
            </a:r>
            <a:r>
              <a:rPr lang="en-US" sz="2000" dirty="0"/>
              <a:t>, price)</a:t>
            </a:r>
          </a:p>
          <a:p>
            <a:r>
              <a:rPr lang="en-US" sz="2000" b="1" dirty="0"/>
              <a:t>Products</a:t>
            </a:r>
            <a:r>
              <a:rPr lang="en-US" sz="2000" dirty="0"/>
              <a:t>(</a:t>
            </a:r>
            <a:r>
              <a:rPr lang="en-US" sz="2000" dirty="0" err="1"/>
              <a:t>productNo</a:t>
            </a:r>
            <a:r>
              <a:rPr lang="en-US" sz="2000" dirty="0"/>
              <a:t>, type, model)</a:t>
            </a:r>
          </a:p>
          <a:p>
            <a:r>
              <a:rPr lang="en-US" sz="2000" b="1" dirty="0"/>
              <a:t>Stores</a:t>
            </a:r>
            <a:r>
              <a:rPr lang="en-US" sz="2000" dirty="0"/>
              <a:t>(name, city, country, phone)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823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14" grpId="0" animBg="1"/>
      <p:bldP spid="17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Say, product ‘X’ didn’t sell well recently</a:t>
            </a:r>
          </a:p>
          <a:p>
            <a:r>
              <a:rPr lang="en-GB" dirty="0"/>
              <a:t>Which models and in which stores?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Technique is called</a:t>
            </a:r>
          </a:p>
          <a:p>
            <a:pPr lvl="1"/>
            <a:r>
              <a:rPr lang="en-US" b="1" dirty="0"/>
              <a:t>Slicing</a:t>
            </a:r>
            <a:r>
              <a:rPr lang="en-US" dirty="0"/>
              <a:t> (done by the where clause) &amp;</a:t>
            </a:r>
          </a:p>
          <a:p>
            <a:pPr lvl="1"/>
            <a:r>
              <a:rPr lang="en-US" b="1" dirty="0"/>
              <a:t>Dicing</a:t>
            </a:r>
            <a:r>
              <a:rPr lang="en-US" dirty="0"/>
              <a:t> (done by the group by clause)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303221" y="162150"/>
            <a:ext cx="4606133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/>
              <a:t>Sales</a:t>
            </a:r>
            <a:r>
              <a:rPr lang="en-US" sz="2000" dirty="0"/>
              <a:t>(</a:t>
            </a:r>
            <a:r>
              <a:rPr lang="en-US" sz="2000" dirty="0" err="1"/>
              <a:t>productNo</a:t>
            </a:r>
            <a:r>
              <a:rPr lang="en-US" sz="2000" dirty="0"/>
              <a:t>, date, </a:t>
            </a:r>
            <a:r>
              <a:rPr lang="en-US" sz="2000" dirty="0" err="1"/>
              <a:t>store_name</a:t>
            </a:r>
            <a:r>
              <a:rPr lang="en-US" sz="2000" dirty="0"/>
              <a:t>, price)</a:t>
            </a:r>
          </a:p>
          <a:p>
            <a:r>
              <a:rPr lang="en-US" sz="2000" b="1" dirty="0"/>
              <a:t>Products</a:t>
            </a:r>
            <a:r>
              <a:rPr lang="en-US" sz="2000" dirty="0"/>
              <a:t>(</a:t>
            </a:r>
            <a:r>
              <a:rPr lang="en-US" sz="2000" dirty="0" err="1"/>
              <a:t>productNo</a:t>
            </a:r>
            <a:r>
              <a:rPr lang="en-US" sz="2000" dirty="0"/>
              <a:t>, type, model)</a:t>
            </a:r>
          </a:p>
          <a:p>
            <a:r>
              <a:rPr lang="en-US" sz="2000" b="1" dirty="0"/>
              <a:t>Stores</a:t>
            </a:r>
            <a:r>
              <a:rPr lang="en-US" sz="2000" dirty="0"/>
              <a:t>(name, city, country, phone)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88088" y="3952552"/>
            <a:ext cx="694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7222" y="5214269"/>
            <a:ext cx="10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0657" y="2704835"/>
            <a:ext cx="75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stores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7582958" y="2683855"/>
            <a:ext cx="2520280" cy="2520280"/>
            <a:chOff x="3203848" y="3861048"/>
            <a:chExt cx="2520280" cy="2520280"/>
          </a:xfrm>
          <a:solidFill>
            <a:srgbClr val="0070C0"/>
          </a:solidFill>
        </p:grpSpPr>
        <p:sp>
          <p:nvSpPr>
            <p:cNvPr id="10" name="Cube 9"/>
            <p:cNvSpPr/>
            <p:nvPr/>
          </p:nvSpPr>
          <p:spPr>
            <a:xfrm>
              <a:off x="3203848" y="3861048"/>
              <a:ext cx="2520280" cy="2520280"/>
            </a:xfrm>
            <a:prstGeom prst="cube">
              <a:avLst/>
            </a:prstGeom>
            <a:grpFill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3830719" y="3861048"/>
              <a:ext cx="0" cy="1872208"/>
            </a:xfrm>
            <a:prstGeom prst="line">
              <a:avLst/>
            </a:prstGeom>
            <a:grpFill/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3820184" y="5752831"/>
              <a:ext cx="1903944" cy="0"/>
            </a:xfrm>
            <a:prstGeom prst="line">
              <a:avLst/>
            </a:prstGeom>
            <a:grpFill/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3214383" y="5749733"/>
              <a:ext cx="616336" cy="616337"/>
            </a:xfrm>
            <a:prstGeom prst="line">
              <a:avLst/>
            </a:prstGeom>
            <a:grpFill/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ube 16"/>
          <p:cNvSpPr/>
          <p:nvPr/>
        </p:nvSpPr>
        <p:spPr>
          <a:xfrm>
            <a:off x="8229495" y="2695864"/>
            <a:ext cx="1170097" cy="1165185"/>
          </a:xfrm>
          <a:prstGeom prst="cube">
            <a:avLst>
              <a:gd name="adj" fmla="val 5405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7593494" y="3313473"/>
            <a:ext cx="18868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8328248" y="3333206"/>
            <a:ext cx="0" cy="52784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8472264" y="3333206"/>
            <a:ext cx="0" cy="52784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8642920" y="3333206"/>
            <a:ext cx="0" cy="52784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8328249" y="2695863"/>
            <a:ext cx="634081" cy="6176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988622" y="2889502"/>
            <a:ext cx="4381328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SELECT model, store, SUM(price)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FROM Sales NATURAL JOIN Products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WHERE type=‘X’ AND </a:t>
            </a:r>
            <a:br>
              <a:rPr lang="en-US" sz="1600" dirty="0">
                <a:latin typeface="Courier" charset="0"/>
                <a:ea typeface="Courier" charset="0"/>
                <a:cs typeface="Courier" charset="0"/>
              </a:rPr>
            </a:b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      (month=‘Nov’ OR month=‘Dec’)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GROUP BY model, store; </a:t>
            </a: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8472265" y="2682134"/>
            <a:ext cx="634081" cy="6176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8645289" y="2687577"/>
            <a:ext cx="634081" cy="6176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58" name="Group 57"/>
          <p:cNvGrpSpPr/>
          <p:nvPr/>
        </p:nvGrpSpPr>
        <p:grpSpPr>
          <a:xfrm>
            <a:off x="8397647" y="2767408"/>
            <a:ext cx="938170" cy="949624"/>
            <a:chOff x="6873647" y="2767408"/>
            <a:chExt cx="938170" cy="949624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6873647" y="3140968"/>
              <a:ext cx="535432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7022826" y="3004668"/>
              <a:ext cx="535432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141363" y="2889501"/>
              <a:ext cx="535432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7265304" y="2780928"/>
              <a:ext cx="535432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7409079" y="3140968"/>
              <a:ext cx="0" cy="57606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7543325" y="3016448"/>
              <a:ext cx="0" cy="55656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7677571" y="2891928"/>
              <a:ext cx="0" cy="537072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7811817" y="2767408"/>
              <a:ext cx="0" cy="54606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601413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17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5EEB-57DF-44D0-AA76-63866818E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32F5-8B5D-4F9A-BE8C-6EC6F90EB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saw briefly some more about data-analysis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CDE68-1C19-4BE8-ACE3-EE54B43AD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3131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7|12.1|13.1|17.4|9.8|6.9|8.9|7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5|7.1|14|9.6|13.9|66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4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5.5|3.8|34.3|47.6|9.1|36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|7.2|16|10.4|6.9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108</TotalTime>
  <Words>614</Words>
  <Application>Microsoft Office PowerPoint</Application>
  <PresentationFormat>Widescreen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Courier</vt:lpstr>
      <vt:lpstr>Retrospect</vt:lpstr>
      <vt:lpstr>More details about  data-analysis</vt:lpstr>
      <vt:lpstr>Overview over this video</vt:lpstr>
      <vt:lpstr>Fact Tables &amp; Data Cubes</vt:lpstr>
      <vt:lpstr>Star Schemas</vt:lpstr>
      <vt:lpstr>Star Schemas: More Precisely</vt:lpstr>
      <vt:lpstr>Characteristics of Star Schemas</vt:lpstr>
      <vt:lpstr>Example</vt:lpstr>
      <vt:lpstr>Example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details about data-analysis and -mining </dc:title>
  <dc:creator>Rasmus Ibsen-Jensen</dc:creator>
  <cp:lastModifiedBy>Rasmus Ibsen-Jensen</cp:lastModifiedBy>
  <cp:revision>9</cp:revision>
  <dcterms:created xsi:type="dcterms:W3CDTF">2021-01-03T18:49:20Z</dcterms:created>
  <dcterms:modified xsi:type="dcterms:W3CDTF">2021-01-05T17:14:50Z</dcterms:modified>
</cp:coreProperties>
</file>