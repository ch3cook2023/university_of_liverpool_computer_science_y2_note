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5"/>
  </p:notesMasterIdLst>
  <p:sldIdLst>
    <p:sldId id="256" r:id="rId2"/>
    <p:sldId id="592" r:id="rId3"/>
    <p:sldId id="588" r:id="rId4"/>
    <p:sldId id="598" r:id="rId5"/>
    <p:sldId id="373" r:id="rId6"/>
    <p:sldId id="377" r:id="rId7"/>
    <p:sldId id="593" r:id="rId8"/>
    <p:sldId id="586" r:id="rId9"/>
    <p:sldId id="587" r:id="rId10"/>
    <p:sldId id="590" r:id="rId11"/>
    <p:sldId id="591" r:id="rId12"/>
    <p:sldId id="596" r:id="rId13"/>
    <p:sldId id="59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86" d="100"/>
          <a:sy n="86" d="100"/>
        </p:scale>
        <p:origin x="10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577715-5AB9-483F-AD53-F3C4100D48BB}" type="datetimeFigureOut">
              <a:rPr lang="en-GB" smtClean="0"/>
              <a:t>09/11/2020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DB254-2B0A-40D3-94AC-311FC6FD97EA}" type="slidenum">
              <a:rPr lang="en-GB" smtClean="0"/>
              <a:t>‹#›</a:t>
            </a:fld>
            <a:endParaRPr lang="en-GB"/>
          </a:p>
        </p:txBody>
      </p:sp>
    </p:spTree>
    <p:extLst>
      <p:ext uri="{BB962C8B-B14F-4D97-AF65-F5344CB8AC3E}">
        <p14:creationId xmlns:p14="http://schemas.microsoft.com/office/powerpoint/2010/main" val="4021804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So far,</a:t>
            </a:r>
            <a:r>
              <a:rPr lang="en-US" baseline="0" dirty="0"/>
              <a:t> we have talked about </a:t>
            </a:r>
            <a:r>
              <a:rPr lang="mr-IN" baseline="0" dirty="0"/>
              <a:t>…</a:t>
            </a:r>
            <a:r>
              <a:rPr lang="en-GB" baseline="0" dirty="0"/>
              <a:t> and </a:t>
            </a:r>
            <a:r>
              <a:rPr lang="mr-IN" baseline="0" dirty="0"/>
              <a:t>…</a:t>
            </a:r>
            <a:r>
              <a:rPr lang="en-GB" baseline="0" dirty="0"/>
              <a:t> in isolation.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mr-IN" baseline="0" dirty="0"/>
              <a:t>…</a:t>
            </a: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However, when we try to combine these </a:t>
            </a:r>
            <a:r>
              <a:rPr lang="en-GB" baseline="0"/>
              <a:t>two, problems arise.</a:t>
            </a:r>
            <a:endParaRPr lang="en-US" dirty="0"/>
          </a:p>
        </p:txBody>
      </p:sp>
      <p:sp>
        <p:nvSpPr>
          <p:cNvPr id="4" name="Slide Number Placeholder 3"/>
          <p:cNvSpPr>
            <a:spLocks noGrp="1"/>
          </p:cNvSpPr>
          <p:nvPr>
            <p:ph type="sldNum" sz="quarter" idx="10"/>
          </p:nvPr>
        </p:nvSpPr>
        <p:spPr/>
        <p:txBody>
          <a:bodyPr/>
          <a:lstStyle/>
          <a:p>
            <a:fld id="{539E6BCE-8179-4218-A772-03A855E03F0D}" type="slidenum">
              <a:rPr lang="en-GB" smtClean="0"/>
              <a:pPr/>
              <a:t>3</a:t>
            </a:fld>
            <a:endParaRPr lang="en-GB"/>
          </a:p>
        </p:txBody>
      </p:sp>
    </p:spTree>
    <p:extLst>
      <p:ext uri="{BB962C8B-B14F-4D97-AF65-F5344CB8AC3E}">
        <p14:creationId xmlns:p14="http://schemas.microsoft.com/office/powerpoint/2010/main" val="2441308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E288DF-6551-494E-86F9-FECEECA2662A}" type="datetimeFigureOut">
              <a:rPr lang="en-GB" smtClean="0"/>
              <a:t>09/11/2020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A70E56E-1EDD-48FA-B07E-264839CCD637}"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374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E288DF-6551-494E-86F9-FECEECA2662A}" type="datetimeFigureOut">
              <a:rPr lang="en-GB" smtClean="0"/>
              <a:t>09/11/2020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609017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E288DF-6551-494E-86F9-FECEECA2662A}" type="datetimeFigureOut">
              <a:rPr lang="en-GB" smtClean="0"/>
              <a:t>09/11/2020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A70E56E-1EDD-48FA-B07E-264839CCD637}"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18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E288DF-6551-494E-86F9-FECEECA2662A}" type="datetimeFigureOut">
              <a:rPr lang="en-GB" smtClean="0"/>
              <a:t>09/11/2020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61833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E288DF-6551-494E-86F9-FECEECA2662A}" type="datetimeFigureOut">
              <a:rPr lang="en-GB" smtClean="0"/>
              <a:t>09/11/2020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92760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E288DF-6551-494E-86F9-FECEECA2662A}" type="datetimeFigureOut">
              <a:rPr lang="en-GB" smtClean="0"/>
              <a:t>09/11/2020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1510120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1E288DF-6551-494E-86F9-FECEECA2662A}" type="datetimeFigureOut">
              <a:rPr lang="en-GB" smtClean="0"/>
              <a:t>09/11/2020</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3375647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1E288DF-6551-494E-86F9-FECEECA2662A}" type="datetimeFigureOut">
              <a:rPr lang="en-GB" smtClean="0"/>
              <a:t>09/11/2020</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A70E56E-1EDD-48FA-B07E-264839CCD637}" type="slidenum">
              <a:rPr lang="en-GB" smtClean="0"/>
              <a:t>‹#›</a:t>
            </a:fld>
            <a:endParaRPr lang="en-GB"/>
          </a:p>
        </p:txBody>
      </p:sp>
    </p:spTree>
    <p:extLst>
      <p:ext uri="{BB962C8B-B14F-4D97-AF65-F5344CB8AC3E}">
        <p14:creationId xmlns:p14="http://schemas.microsoft.com/office/powerpoint/2010/main" val="168547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E288DF-6551-494E-86F9-FECEECA2662A}" type="datetimeFigureOut">
              <a:rPr lang="en-GB" smtClean="0"/>
              <a:t>09/11/2020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3020948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E288DF-6551-494E-86F9-FECEECA2662A}" type="datetimeFigureOut">
              <a:rPr lang="en-GB" smtClean="0"/>
              <a:t>09/11/2020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116587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E288DF-6551-494E-86F9-FECEECA2662A}" type="datetimeFigureOut">
              <a:rPr lang="en-GB" smtClean="0"/>
              <a:t>09/11/2020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A70E56E-1EDD-48FA-B07E-264839CCD637}" type="slidenum">
              <a:rPr lang="en-GB" smtClean="0"/>
              <a:t>‹#›</a:t>
            </a:fld>
            <a:endParaRPr lang="en-GB"/>
          </a:p>
        </p:txBody>
      </p:sp>
    </p:spTree>
    <p:extLst>
      <p:ext uri="{BB962C8B-B14F-4D97-AF65-F5344CB8AC3E}">
        <p14:creationId xmlns:p14="http://schemas.microsoft.com/office/powerpoint/2010/main" val="555310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1E288DF-6551-494E-86F9-FECEECA2662A}" type="datetimeFigureOut">
              <a:rPr lang="en-GB" smtClean="0"/>
              <a:t>09/11/2020</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A70E56E-1EDD-48FA-B07E-264839CCD637}"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91835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47DCE-94B6-4297-A270-41F92A49D263}"/>
              </a:ext>
            </a:extLst>
          </p:cNvPr>
          <p:cNvSpPr>
            <a:spLocks noGrp="1"/>
          </p:cNvSpPr>
          <p:nvPr>
            <p:ph type="ctrTitle"/>
          </p:nvPr>
        </p:nvSpPr>
        <p:spPr/>
        <p:txBody>
          <a:bodyPr/>
          <a:lstStyle/>
          <a:p>
            <a:r>
              <a:rPr lang="en-US" dirty="0"/>
              <a:t>Being able to recover</a:t>
            </a:r>
            <a:endParaRPr lang="en-GB" dirty="0"/>
          </a:p>
        </p:txBody>
      </p:sp>
      <p:sp>
        <p:nvSpPr>
          <p:cNvPr id="3" name="Subtitle 2">
            <a:extLst>
              <a:ext uri="{FF2B5EF4-FFF2-40B4-BE49-F238E27FC236}">
                <a16:creationId xmlns:a16="http://schemas.microsoft.com/office/drawing/2014/main" id="{54FCFCF1-16DC-4D5A-BEE5-2E2D42131A6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692681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C9699-3130-4981-AB67-E80735CCA51D}"/>
              </a:ext>
            </a:extLst>
          </p:cNvPr>
          <p:cNvSpPr>
            <a:spLocks noGrp="1"/>
          </p:cNvSpPr>
          <p:nvPr>
            <p:ph type="title"/>
          </p:nvPr>
        </p:nvSpPr>
        <p:spPr/>
        <p:txBody>
          <a:bodyPr/>
          <a:lstStyle/>
          <a:p>
            <a:r>
              <a:rPr lang="en-US" dirty="0"/>
              <a:t>Overview</a:t>
            </a:r>
            <a:endParaRPr lang="en-GB" dirty="0"/>
          </a:p>
        </p:txBody>
      </p:sp>
      <p:sp>
        <p:nvSpPr>
          <p:cNvPr id="3" name="Content Placeholder 2">
            <a:extLst>
              <a:ext uri="{FF2B5EF4-FFF2-40B4-BE49-F238E27FC236}">
                <a16:creationId xmlns:a16="http://schemas.microsoft.com/office/drawing/2014/main" id="{1E28FFEE-D5C7-4332-95DA-D90D35601F40}"/>
              </a:ext>
            </a:extLst>
          </p:cNvPr>
          <p:cNvSpPr>
            <a:spLocks noGrp="1"/>
          </p:cNvSpPr>
          <p:nvPr>
            <p:ph idx="1"/>
          </p:nvPr>
        </p:nvSpPr>
        <p:spPr/>
        <p:txBody>
          <a:bodyPr/>
          <a:lstStyle/>
          <a:p>
            <a:r>
              <a:rPr lang="en-US" dirty="0"/>
              <a:t>In this video, we will go back and look at one of the initial three problems we discussed when defining ACID and how to deal with it</a:t>
            </a:r>
            <a:endParaRPr lang="en-GB" dirty="0"/>
          </a:p>
        </p:txBody>
      </p:sp>
      <p:sp>
        <p:nvSpPr>
          <p:cNvPr id="4" name="Slide Number Placeholder 2">
            <a:extLst>
              <a:ext uri="{FF2B5EF4-FFF2-40B4-BE49-F238E27FC236}">
                <a16:creationId xmlns:a16="http://schemas.microsoft.com/office/drawing/2014/main" id="{C716336D-7B08-4D68-9EF5-78AB3F0DDFFE}"/>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2</a:t>
            </a:fld>
            <a:endParaRPr lang="en-GB" dirty="0"/>
          </a:p>
        </p:txBody>
      </p:sp>
    </p:spTree>
    <p:extLst>
      <p:ext uri="{BB962C8B-B14F-4D97-AF65-F5344CB8AC3E}">
        <p14:creationId xmlns:p14="http://schemas.microsoft.com/office/powerpoint/2010/main" val="2885794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Conflict-</a:t>
            </a:r>
            <a:r>
              <a:rPr lang="en-US" dirty="0" err="1"/>
              <a:t>Serialisability</a:t>
            </a:r>
            <a:r>
              <a:rPr lang="en-US" dirty="0"/>
              <a:t> vs Recovery</a:t>
            </a:r>
          </a:p>
        </p:txBody>
      </p:sp>
      <p:sp>
        <p:nvSpPr>
          <p:cNvPr id="7" name="Text Placeholder 6"/>
          <p:cNvSpPr>
            <a:spLocks noGrp="1"/>
          </p:cNvSpPr>
          <p:nvPr>
            <p:ph type="body" idx="1"/>
          </p:nvPr>
        </p:nvSpPr>
        <p:spPr/>
        <p:txBody>
          <a:bodyPr/>
          <a:lstStyle/>
          <a:p>
            <a:r>
              <a:rPr lang="en-US" dirty="0"/>
              <a:t>Conflict-</a:t>
            </a:r>
            <a:r>
              <a:rPr lang="en-US" dirty="0" err="1"/>
              <a:t>Serialisability</a:t>
            </a:r>
            <a:endParaRPr lang="en-US" dirty="0"/>
          </a:p>
        </p:txBody>
      </p:sp>
      <p:sp>
        <p:nvSpPr>
          <p:cNvPr id="8" name="Content Placeholder 7"/>
          <p:cNvSpPr>
            <a:spLocks noGrp="1"/>
          </p:cNvSpPr>
          <p:nvPr>
            <p:ph sz="half" idx="2"/>
          </p:nvPr>
        </p:nvSpPr>
        <p:spPr/>
        <p:txBody>
          <a:bodyPr/>
          <a:lstStyle/>
          <a:p>
            <a:r>
              <a:rPr lang="en-US" dirty="0"/>
              <a:t>Many nice properties:</a:t>
            </a:r>
          </a:p>
          <a:p>
            <a:pPr lvl="1"/>
            <a:r>
              <a:rPr lang="en-US" dirty="0"/>
              <a:t>Equivalent to </a:t>
            </a:r>
            <a:br>
              <a:rPr lang="en-US" dirty="0"/>
            </a:br>
            <a:r>
              <a:rPr lang="en-US" dirty="0"/>
              <a:t>serial schedules</a:t>
            </a:r>
          </a:p>
          <a:p>
            <a:pPr lvl="1"/>
            <a:r>
              <a:rPr lang="en-US" dirty="0"/>
              <a:t>Ensure consistency / </a:t>
            </a:r>
            <a:br>
              <a:rPr lang="en-US" dirty="0"/>
            </a:br>
            <a:r>
              <a:rPr lang="en-US" dirty="0"/>
              <a:t>correctness </a:t>
            </a:r>
          </a:p>
          <a:p>
            <a:r>
              <a:rPr lang="en-US" dirty="0"/>
              <a:t>Can be enforced by </a:t>
            </a:r>
            <a:br>
              <a:rPr lang="en-US" dirty="0"/>
            </a:br>
            <a:r>
              <a:rPr lang="en-US" dirty="0"/>
              <a:t>two-phase locking (2PL)</a:t>
            </a:r>
          </a:p>
          <a:p>
            <a:endParaRPr lang="en-US" dirty="0"/>
          </a:p>
        </p:txBody>
      </p:sp>
      <p:sp>
        <p:nvSpPr>
          <p:cNvPr id="9" name="Text Placeholder 8"/>
          <p:cNvSpPr>
            <a:spLocks noGrp="1"/>
          </p:cNvSpPr>
          <p:nvPr>
            <p:ph type="body" sz="quarter" idx="3"/>
          </p:nvPr>
        </p:nvSpPr>
        <p:spPr/>
        <p:txBody>
          <a:bodyPr/>
          <a:lstStyle/>
          <a:p>
            <a:r>
              <a:rPr lang="en-US" dirty="0"/>
              <a:t>Logging and Recovery</a:t>
            </a:r>
          </a:p>
        </p:txBody>
      </p:sp>
      <p:sp>
        <p:nvSpPr>
          <p:cNvPr id="10" name="Content Placeholder 9"/>
          <p:cNvSpPr>
            <a:spLocks noGrp="1"/>
          </p:cNvSpPr>
          <p:nvPr>
            <p:ph sz="quarter" idx="4"/>
          </p:nvPr>
        </p:nvSpPr>
        <p:spPr/>
        <p:txBody>
          <a:bodyPr/>
          <a:lstStyle/>
          <a:p>
            <a:r>
              <a:rPr lang="en-US" dirty="0"/>
              <a:t>Suitable logging techniques</a:t>
            </a:r>
            <a:br>
              <a:rPr lang="en-US" dirty="0"/>
            </a:br>
            <a:r>
              <a:rPr lang="en-US" dirty="0"/>
              <a:t>ensure that we can restore </a:t>
            </a:r>
            <a:br>
              <a:rPr lang="en-US" dirty="0"/>
            </a:br>
            <a:r>
              <a:rPr lang="en-US" dirty="0"/>
              <a:t>desired database states</a:t>
            </a:r>
          </a:p>
          <a:p>
            <a:pPr lvl="1"/>
            <a:r>
              <a:rPr lang="en-US" dirty="0"/>
              <a:t>Undo incomplete transactions</a:t>
            </a:r>
          </a:p>
          <a:p>
            <a:pPr lvl="1"/>
            <a:r>
              <a:rPr lang="en-US" dirty="0"/>
              <a:t>Redo committed transactions</a:t>
            </a:r>
          </a:p>
          <a:p>
            <a:pPr lvl="1"/>
            <a:r>
              <a:rPr lang="en-US" dirty="0"/>
              <a:t>Undo a single or a selected number of transactions</a:t>
            </a:r>
          </a:p>
          <a:p>
            <a:r>
              <a:rPr lang="en-US" dirty="0"/>
              <a:t>Robust: works even after system failures</a:t>
            </a:r>
          </a:p>
          <a:p>
            <a:pPr lvl="1"/>
            <a:endParaRPr lang="en-US" dirty="0"/>
          </a:p>
        </p:txBody>
      </p:sp>
      <p:sp>
        <p:nvSpPr>
          <p:cNvPr id="6" name="Freeform 5"/>
          <p:cNvSpPr/>
          <p:nvPr/>
        </p:nvSpPr>
        <p:spPr>
          <a:xfrm>
            <a:off x="5447928" y="1259632"/>
            <a:ext cx="648072" cy="5232608"/>
          </a:xfrm>
          <a:custGeom>
            <a:avLst/>
            <a:gdLst>
              <a:gd name="connsiteX0" fmla="*/ 455662 w 839205"/>
              <a:gd name="connsiteY0" fmla="*/ 0 h 5166360"/>
              <a:gd name="connsiteX1" fmla="*/ 7606 w 839205"/>
              <a:gd name="connsiteY1" fmla="*/ 1719072 h 5166360"/>
              <a:gd name="connsiteX2" fmla="*/ 784846 w 839205"/>
              <a:gd name="connsiteY2" fmla="*/ 3493008 h 5166360"/>
              <a:gd name="connsiteX3" fmla="*/ 711694 w 839205"/>
              <a:gd name="connsiteY3" fmla="*/ 5166360 h 5166360"/>
            </a:gdLst>
            <a:ahLst/>
            <a:cxnLst>
              <a:cxn ang="0">
                <a:pos x="connsiteX0" y="connsiteY0"/>
              </a:cxn>
              <a:cxn ang="0">
                <a:pos x="connsiteX1" y="connsiteY1"/>
              </a:cxn>
              <a:cxn ang="0">
                <a:pos x="connsiteX2" y="connsiteY2"/>
              </a:cxn>
              <a:cxn ang="0">
                <a:pos x="connsiteX3" y="connsiteY3"/>
              </a:cxn>
            </a:cxnLst>
            <a:rect l="l" t="t" r="r" b="b"/>
            <a:pathLst>
              <a:path w="839205" h="5166360">
                <a:moveTo>
                  <a:pt x="455662" y="0"/>
                </a:moveTo>
                <a:cubicBezTo>
                  <a:pt x="204202" y="568452"/>
                  <a:pt x="-47258" y="1136904"/>
                  <a:pt x="7606" y="1719072"/>
                </a:cubicBezTo>
                <a:cubicBezTo>
                  <a:pt x="62470" y="2301240"/>
                  <a:pt x="667498" y="2918460"/>
                  <a:pt x="784846" y="3493008"/>
                </a:cubicBezTo>
                <a:cubicBezTo>
                  <a:pt x="902194" y="4067556"/>
                  <a:pt x="806944" y="4616958"/>
                  <a:pt x="711694" y="5166360"/>
                </a:cubicBezTo>
              </a:path>
            </a:pathLst>
          </a:cu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4360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500"/>
                                        <p:tgtEl>
                                          <p:spTgt spid="8">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500"/>
                                        <p:tgtEl>
                                          <p:spTgt spid="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500"/>
                                        <p:tgtEl>
                                          <p:spTgt spid="8">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Effect transition="in" filter="fade">
                                      <p:cBhvr>
                                        <p:cTn id="26" dur="500"/>
                                        <p:tgtEl>
                                          <p:spTgt spid="9">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animEffect transition="in" filter="fade">
                                      <p:cBhvr>
                                        <p:cTn id="29" dur="500"/>
                                        <p:tgtEl>
                                          <p:spTgt spid="10">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xEl>
                                              <p:pRg st="1" end="1"/>
                                            </p:txEl>
                                          </p:spTgt>
                                        </p:tgtEl>
                                        <p:attrNameLst>
                                          <p:attrName>style.visibility</p:attrName>
                                        </p:attrNameLst>
                                      </p:cBhvr>
                                      <p:to>
                                        <p:strVal val="visible"/>
                                      </p:to>
                                    </p:set>
                                    <p:animEffect transition="in" filter="fade">
                                      <p:cBhvr>
                                        <p:cTn id="34" dur="500"/>
                                        <p:tgtEl>
                                          <p:spTgt spid="10">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animEffect transition="in" filter="fade">
                                      <p:cBhvr>
                                        <p:cTn id="39" dur="500"/>
                                        <p:tgtEl>
                                          <p:spTgt spid="10">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
                                            <p:txEl>
                                              <p:pRg st="3" end="3"/>
                                            </p:txEl>
                                          </p:spTgt>
                                        </p:tgtEl>
                                        <p:attrNameLst>
                                          <p:attrName>style.visibility</p:attrName>
                                        </p:attrNameLst>
                                      </p:cBhvr>
                                      <p:to>
                                        <p:strVal val="visible"/>
                                      </p:to>
                                    </p:set>
                                    <p:animEffect transition="in" filter="fade">
                                      <p:cBhvr>
                                        <p:cTn id="44" dur="500"/>
                                        <p:tgtEl>
                                          <p:spTgt spid="10">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500"/>
                                        <p:tgtEl>
                                          <p:spTgt spid="10">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uiExpand="1" build="p"/>
      <p:bldP spid="9" grpId="0" build="p"/>
      <p:bldP spid="10" grpId="0" uiExpand="1" build="p"/>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1A189-BE33-4236-AA04-EAD33BDACB25}"/>
              </a:ext>
            </a:extLst>
          </p:cNvPr>
          <p:cNvSpPr txBox="1">
            <a:spLocks/>
          </p:cNvSpPr>
          <p:nvPr/>
        </p:nvSpPr>
        <p:spPr>
          <a:xfrm>
            <a:off x="2209800" y="2564905"/>
            <a:ext cx="8134672" cy="1470025"/>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t>Problem: cascading rollbacks may be necessary!</a:t>
            </a:r>
            <a:endParaRPr lang="en-US" dirty="0"/>
          </a:p>
        </p:txBody>
      </p:sp>
      <p:sp>
        <p:nvSpPr>
          <p:cNvPr id="3" name="Slide Number Placeholder 2">
            <a:extLst>
              <a:ext uri="{FF2B5EF4-FFF2-40B4-BE49-F238E27FC236}">
                <a16:creationId xmlns:a16="http://schemas.microsoft.com/office/drawing/2014/main" id="{170A76E5-1E94-456D-AC5F-B621389A92DE}"/>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4</a:t>
            </a:fld>
            <a:endParaRPr lang="en-GB"/>
          </a:p>
        </p:txBody>
      </p:sp>
    </p:spTree>
    <p:extLst>
      <p:ext uri="{BB962C8B-B14F-4D97-AF65-F5344CB8AC3E}">
        <p14:creationId xmlns:p14="http://schemas.microsoft.com/office/powerpoint/2010/main" val="2070205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3: Currency &amp; Partial Execution</a:t>
            </a:r>
            <a:br>
              <a:rPr lang="en-US" dirty="0"/>
            </a:br>
            <a:r>
              <a:rPr lang="en-US" sz="2400" dirty="0"/>
              <a:t>(from the good schedules/transaction video)</a:t>
            </a:r>
          </a:p>
        </p:txBody>
      </p:sp>
      <p:sp>
        <p:nvSpPr>
          <p:cNvPr id="4" name="Slide Number Placeholder 3"/>
          <p:cNvSpPr>
            <a:spLocks noGrp="1"/>
          </p:cNvSpPr>
          <p:nvPr>
            <p:ph type="sldNum" sz="quarter" idx="12"/>
          </p:nvPr>
        </p:nvSpPr>
        <p:spPr/>
        <p:txBody>
          <a:bodyPr/>
          <a:lstStyle/>
          <a:p>
            <a:fld id="{C260D5AD-280D-4F23-8F09-5CDE2943111F}" type="slidenum">
              <a:rPr lang="en-GB" smtClean="0"/>
              <a:pPr/>
              <a:t>5</a:t>
            </a:fld>
            <a:endParaRPr lang="en-GB"/>
          </a:p>
        </p:txBody>
      </p:sp>
      <p:sp>
        <p:nvSpPr>
          <p:cNvPr id="47" name="TextBox 46"/>
          <p:cNvSpPr txBox="1"/>
          <p:nvPr/>
        </p:nvSpPr>
        <p:spPr>
          <a:xfrm>
            <a:off x="1767681" y="2552328"/>
            <a:ext cx="787395" cy="369332"/>
          </a:xfrm>
          <a:prstGeom prst="rect">
            <a:avLst/>
          </a:prstGeom>
          <a:noFill/>
        </p:spPr>
        <p:txBody>
          <a:bodyPr wrap="none" rtlCol="0">
            <a:spAutoFit/>
          </a:bodyPr>
          <a:lstStyle/>
          <a:p>
            <a:pPr algn="ctr"/>
            <a:r>
              <a:rPr lang="en-US" dirty="0">
                <a:solidFill>
                  <a:schemeClr val="tx2"/>
                </a:solidFill>
              </a:rPr>
              <a:t>User 1</a:t>
            </a:r>
          </a:p>
        </p:txBody>
      </p:sp>
      <p:sp>
        <p:nvSpPr>
          <p:cNvPr id="68" name="TextBox 67"/>
          <p:cNvSpPr txBox="1"/>
          <p:nvPr/>
        </p:nvSpPr>
        <p:spPr>
          <a:xfrm>
            <a:off x="1775521" y="3247608"/>
            <a:ext cx="787395" cy="369332"/>
          </a:xfrm>
          <a:prstGeom prst="rect">
            <a:avLst/>
          </a:prstGeom>
          <a:noFill/>
        </p:spPr>
        <p:txBody>
          <a:bodyPr wrap="none" rtlCol="0">
            <a:spAutoFit/>
          </a:bodyPr>
          <a:lstStyle/>
          <a:p>
            <a:pPr algn="ctr"/>
            <a:r>
              <a:rPr lang="en-US" dirty="0">
                <a:solidFill>
                  <a:schemeClr val="tx2"/>
                </a:solidFill>
              </a:rPr>
              <a:t>User 2</a:t>
            </a:r>
          </a:p>
        </p:txBody>
      </p:sp>
      <p:grpSp>
        <p:nvGrpSpPr>
          <p:cNvPr id="5" name="Group 4"/>
          <p:cNvGrpSpPr/>
          <p:nvPr/>
        </p:nvGrpSpPr>
        <p:grpSpPr>
          <a:xfrm>
            <a:off x="1981201" y="1904256"/>
            <a:ext cx="8463143" cy="369332"/>
            <a:chOff x="457200" y="2132856"/>
            <a:chExt cx="8463143" cy="369332"/>
          </a:xfrm>
        </p:grpSpPr>
        <p:cxnSp>
          <p:nvCxnSpPr>
            <p:cNvPr id="6" name="Straight Arrow Connector 5"/>
            <p:cNvCxnSpPr/>
            <p:nvPr/>
          </p:nvCxnSpPr>
          <p:spPr>
            <a:xfrm>
              <a:off x="457200" y="2324710"/>
              <a:ext cx="78488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306072" y="2132856"/>
              <a:ext cx="614271" cy="369332"/>
            </a:xfrm>
            <a:prstGeom prst="rect">
              <a:avLst/>
            </a:prstGeom>
            <a:noFill/>
          </p:spPr>
          <p:txBody>
            <a:bodyPr wrap="none" rtlCol="0">
              <a:spAutoFit/>
            </a:bodyPr>
            <a:lstStyle/>
            <a:p>
              <a:r>
                <a:rPr lang="en-US" dirty="0">
                  <a:solidFill>
                    <a:schemeClr val="tx2"/>
                  </a:solidFill>
                </a:rPr>
                <a:t>time</a:t>
              </a:r>
            </a:p>
          </p:txBody>
        </p:sp>
      </p:grpSp>
      <p:cxnSp>
        <p:nvCxnSpPr>
          <p:cNvPr id="14" name="Straight Connector 13"/>
          <p:cNvCxnSpPr/>
          <p:nvPr/>
        </p:nvCxnSpPr>
        <p:spPr>
          <a:xfrm>
            <a:off x="9593403" y="2016914"/>
            <a:ext cx="0" cy="144016"/>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8256179" y="2020624"/>
            <a:ext cx="1696555" cy="1239590"/>
            <a:chOff x="5513581" y="2249224"/>
            <a:chExt cx="1696555" cy="1239590"/>
          </a:xfrm>
        </p:grpSpPr>
        <p:sp>
          <p:nvSpPr>
            <p:cNvPr id="52" name="TextBox 51"/>
            <p:cNvSpPr txBox="1"/>
            <p:nvPr/>
          </p:nvSpPr>
          <p:spPr>
            <a:xfrm>
              <a:off x="5513581" y="2780928"/>
              <a:ext cx="1696555" cy="707886"/>
            </a:xfrm>
            <a:prstGeom prst="rect">
              <a:avLst/>
            </a:prstGeom>
            <a:noFill/>
          </p:spPr>
          <p:txBody>
            <a:bodyPr wrap="none" rtlCol="0">
              <a:spAutoFit/>
            </a:bodyPr>
            <a:lstStyle/>
            <a:p>
              <a:pPr algn="ctr"/>
              <a:r>
                <a:rPr lang="en-US" sz="2000" dirty="0">
                  <a:solidFill>
                    <a:srgbClr val="00B0F0"/>
                  </a:solidFill>
                </a:rPr>
                <a:t>Subtract £100 </a:t>
              </a:r>
              <a:br>
                <a:rPr lang="en-US" sz="2000" dirty="0">
                  <a:solidFill>
                    <a:srgbClr val="00B0F0"/>
                  </a:solidFill>
                </a:rPr>
              </a:br>
              <a:r>
                <a:rPr lang="en-US" sz="2000" dirty="0">
                  <a:solidFill>
                    <a:srgbClr val="00B0F0"/>
                  </a:solidFill>
                </a:rPr>
                <a:t>from ‘123’</a:t>
              </a:r>
            </a:p>
          </p:txBody>
        </p:sp>
        <p:cxnSp>
          <p:nvCxnSpPr>
            <p:cNvPr id="13" name="Straight Connector 12"/>
            <p:cNvCxnSpPr/>
            <p:nvPr/>
          </p:nvCxnSpPr>
          <p:spPr>
            <a:xfrm>
              <a:off x="6361856" y="224922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endCxn id="52" idx="0"/>
            </p:cNvCxnSpPr>
            <p:nvPr/>
          </p:nvCxnSpPr>
          <p:spPr>
            <a:xfrm>
              <a:off x="6361859" y="2400197"/>
              <a:ext cx="0" cy="380731"/>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p:nvGrpSpPr>
        <p:grpSpPr>
          <a:xfrm>
            <a:off x="7498861" y="1659796"/>
            <a:ext cx="899705" cy="1318980"/>
            <a:chOff x="6360258" y="1376998"/>
            <a:chExt cx="899705" cy="1318980"/>
          </a:xfrm>
        </p:grpSpPr>
        <p:sp>
          <p:nvSpPr>
            <p:cNvPr id="27" name="Lightning Bolt 26"/>
            <p:cNvSpPr/>
            <p:nvPr/>
          </p:nvSpPr>
          <p:spPr>
            <a:xfrm>
              <a:off x="6607852" y="2043867"/>
              <a:ext cx="652111" cy="652111"/>
            </a:xfrm>
            <a:prstGeom prst="lightningBolt">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cxnSp>
          <p:nvCxnSpPr>
            <p:cNvPr id="28" name="Straight Connector 27"/>
            <p:cNvCxnSpPr/>
            <p:nvPr/>
          </p:nvCxnSpPr>
          <p:spPr>
            <a:xfrm>
              <a:off x="6804248" y="1783933"/>
              <a:ext cx="0" cy="132899"/>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30" name="TextBox 29"/>
            <p:cNvSpPr txBox="1"/>
            <p:nvPr/>
          </p:nvSpPr>
          <p:spPr>
            <a:xfrm>
              <a:off x="6360258" y="1376998"/>
              <a:ext cx="888000" cy="400110"/>
            </a:xfrm>
            <a:prstGeom prst="rect">
              <a:avLst/>
            </a:prstGeom>
            <a:noFill/>
          </p:spPr>
          <p:txBody>
            <a:bodyPr wrap="none" rtlCol="0">
              <a:spAutoFit/>
            </a:bodyPr>
            <a:lstStyle/>
            <a:p>
              <a:pPr algn="ctr"/>
              <a:r>
                <a:rPr lang="en-US" sz="2000" dirty="0">
                  <a:solidFill>
                    <a:schemeClr val="accent2"/>
                  </a:solidFill>
                </a:rPr>
                <a:t>Failure</a:t>
              </a:r>
            </a:p>
          </p:txBody>
        </p:sp>
      </p:grpSp>
      <p:grpSp>
        <p:nvGrpSpPr>
          <p:cNvPr id="18" name="Group 17"/>
          <p:cNvGrpSpPr/>
          <p:nvPr/>
        </p:nvGrpSpPr>
        <p:grpSpPr>
          <a:xfrm>
            <a:off x="2783632" y="2032668"/>
            <a:ext cx="1237838" cy="1227547"/>
            <a:chOff x="2080879" y="2738389"/>
            <a:chExt cx="1237838" cy="1227547"/>
          </a:xfrm>
        </p:grpSpPr>
        <p:cxnSp>
          <p:nvCxnSpPr>
            <p:cNvPr id="34" name="Straight Connector 3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080879" y="3258050"/>
              <a:ext cx="1237838" cy="707886"/>
            </a:xfrm>
            <a:prstGeom prst="rect">
              <a:avLst/>
            </a:prstGeom>
            <a:noFill/>
          </p:spPr>
          <p:txBody>
            <a:bodyPr wrap="none" rtlCol="0">
              <a:spAutoFit/>
            </a:bodyPr>
            <a:lstStyle/>
            <a:p>
              <a:pPr algn="ctr"/>
              <a:r>
                <a:rPr lang="en-US" sz="2000" dirty="0">
                  <a:solidFill>
                    <a:schemeClr val="accent3">
                      <a:lumMod val="75000"/>
                    </a:schemeClr>
                  </a:solidFill>
                </a:rPr>
                <a:t>Add £</a:t>
              </a:r>
              <a:r>
                <a:rPr lang="en-US" sz="2000">
                  <a:solidFill>
                    <a:schemeClr val="accent3">
                      <a:lumMod val="75000"/>
                    </a:schemeClr>
                  </a:solidFill>
                </a:rPr>
                <a:t>100 </a:t>
              </a:r>
              <a:br>
                <a:rPr lang="en-US" sz="2000">
                  <a:solidFill>
                    <a:schemeClr val="accent3">
                      <a:lumMod val="75000"/>
                    </a:schemeClr>
                  </a:solidFill>
                </a:rPr>
              </a:br>
              <a:r>
                <a:rPr lang="en-US" sz="2000">
                  <a:solidFill>
                    <a:schemeClr val="accent3">
                      <a:lumMod val="75000"/>
                    </a:schemeClr>
                  </a:solidFill>
                </a:rPr>
                <a:t>to </a:t>
              </a:r>
              <a:r>
                <a:rPr lang="en-US" sz="2000" dirty="0">
                  <a:solidFill>
                    <a:schemeClr val="accent3">
                      <a:lumMod val="75000"/>
                    </a:schemeClr>
                  </a:solidFill>
                </a:rPr>
                <a:t>’456’</a:t>
              </a:r>
            </a:p>
          </p:txBody>
        </p:sp>
        <p:cxnSp>
          <p:nvCxnSpPr>
            <p:cNvPr id="36" name="Straight Connector 35"/>
            <p:cNvCxnSpPr>
              <a:stCxn id="35" idx="0"/>
            </p:cNvCxnSpPr>
            <p:nvPr/>
          </p:nvCxnSpPr>
          <p:spPr>
            <a:xfrm flipH="1" flipV="1">
              <a:off x="2699792" y="2882406"/>
              <a:ext cx="6" cy="375644"/>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3" name="Group 52"/>
          <p:cNvGrpSpPr/>
          <p:nvPr/>
        </p:nvGrpSpPr>
        <p:grpSpPr>
          <a:xfrm>
            <a:off x="5290210" y="2032668"/>
            <a:ext cx="1237838" cy="1892049"/>
            <a:chOff x="2080873" y="2738389"/>
            <a:chExt cx="1237838" cy="1892049"/>
          </a:xfrm>
        </p:grpSpPr>
        <p:cxnSp>
          <p:nvCxnSpPr>
            <p:cNvPr id="54" name="Straight Connector 5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080873" y="3922552"/>
              <a:ext cx="1237838" cy="707886"/>
            </a:xfrm>
            <a:prstGeom prst="rect">
              <a:avLst/>
            </a:prstGeom>
            <a:noFill/>
          </p:spPr>
          <p:txBody>
            <a:bodyPr wrap="none" rtlCol="0">
              <a:spAutoFit/>
            </a:bodyPr>
            <a:lstStyle/>
            <a:p>
              <a:pPr algn="ctr"/>
              <a:r>
                <a:rPr lang="en-US" sz="2000" dirty="0">
                  <a:solidFill>
                    <a:schemeClr val="accent3">
                      <a:lumMod val="75000"/>
                    </a:schemeClr>
                  </a:solidFill>
                </a:rPr>
                <a:t>Add £100 </a:t>
              </a:r>
              <a:br>
                <a:rPr lang="en-US" sz="2000" dirty="0">
                  <a:solidFill>
                    <a:schemeClr val="accent3">
                      <a:lumMod val="75000"/>
                    </a:schemeClr>
                  </a:solidFill>
                </a:rPr>
              </a:br>
              <a:r>
                <a:rPr lang="en-US" sz="2000" dirty="0">
                  <a:solidFill>
                    <a:schemeClr val="accent3">
                      <a:lumMod val="75000"/>
                    </a:schemeClr>
                  </a:solidFill>
                </a:rPr>
                <a:t>to ’789’</a:t>
              </a:r>
            </a:p>
          </p:txBody>
        </p:sp>
        <p:cxnSp>
          <p:nvCxnSpPr>
            <p:cNvPr id="57" name="Straight Connector 56"/>
            <p:cNvCxnSpPr>
              <a:stCxn id="55" idx="0"/>
            </p:cNvCxnSpPr>
            <p:nvPr/>
          </p:nvCxnSpPr>
          <p:spPr>
            <a:xfrm flipV="1">
              <a:off x="2699792" y="2882406"/>
              <a:ext cx="0" cy="1040146"/>
            </a:xfrm>
            <a:prstGeom prst="line">
              <a:avLst/>
            </a:prstGeom>
            <a:ln>
              <a:solidFill>
                <a:schemeClr val="accent3">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58" name="Group 57"/>
          <p:cNvGrpSpPr/>
          <p:nvPr/>
        </p:nvGrpSpPr>
        <p:grpSpPr>
          <a:xfrm>
            <a:off x="6559686" y="2020624"/>
            <a:ext cx="1696555" cy="1904092"/>
            <a:chOff x="5513578" y="2249224"/>
            <a:chExt cx="1696555" cy="1904092"/>
          </a:xfrm>
        </p:grpSpPr>
        <p:sp>
          <p:nvSpPr>
            <p:cNvPr id="59" name="TextBox 58"/>
            <p:cNvSpPr txBox="1"/>
            <p:nvPr/>
          </p:nvSpPr>
          <p:spPr>
            <a:xfrm>
              <a:off x="5513578" y="3445430"/>
              <a:ext cx="1696555" cy="707886"/>
            </a:xfrm>
            <a:prstGeom prst="rect">
              <a:avLst/>
            </a:prstGeom>
            <a:noFill/>
          </p:spPr>
          <p:txBody>
            <a:bodyPr wrap="none" rtlCol="0">
              <a:spAutoFit/>
            </a:bodyPr>
            <a:lstStyle/>
            <a:p>
              <a:pPr algn="ctr"/>
              <a:r>
                <a:rPr lang="en-US" sz="2000" dirty="0">
                  <a:solidFill>
                    <a:srgbClr val="00B0F0"/>
                  </a:solidFill>
                </a:rPr>
                <a:t>Subtract £100 </a:t>
              </a:r>
              <a:br>
                <a:rPr lang="en-US" sz="2000" dirty="0">
                  <a:solidFill>
                    <a:srgbClr val="00B0F0"/>
                  </a:solidFill>
                </a:rPr>
              </a:br>
              <a:r>
                <a:rPr lang="en-US" sz="2000" dirty="0">
                  <a:solidFill>
                    <a:srgbClr val="00B0F0"/>
                  </a:solidFill>
                </a:rPr>
                <a:t>from ‘456’</a:t>
              </a:r>
            </a:p>
          </p:txBody>
        </p:sp>
        <p:cxnSp>
          <p:nvCxnSpPr>
            <p:cNvPr id="61" name="Straight Connector 60"/>
            <p:cNvCxnSpPr/>
            <p:nvPr/>
          </p:nvCxnSpPr>
          <p:spPr>
            <a:xfrm>
              <a:off x="6361856" y="2249224"/>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59" idx="0"/>
            </p:cNvCxnSpPr>
            <p:nvPr/>
          </p:nvCxnSpPr>
          <p:spPr>
            <a:xfrm>
              <a:off x="6361856" y="2405283"/>
              <a:ext cx="0" cy="1040147"/>
            </a:xfrm>
            <a:prstGeom prst="line">
              <a:avLst/>
            </a:prstGeom>
            <a:ln>
              <a:solidFill>
                <a:schemeClr val="accent6"/>
              </a:solidFill>
              <a:prstDash val="sysDash"/>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3863752" y="2028432"/>
            <a:ext cx="1375698" cy="1892049"/>
            <a:chOff x="2011946" y="2738389"/>
            <a:chExt cx="1375698" cy="1892049"/>
          </a:xfrm>
        </p:grpSpPr>
        <p:cxnSp>
          <p:nvCxnSpPr>
            <p:cNvPr id="74" name="Straight Connector 73"/>
            <p:cNvCxnSpPr/>
            <p:nvPr/>
          </p:nvCxnSpPr>
          <p:spPr>
            <a:xfrm>
              <a:off x="2699792" y="2738389"/>
              <a:ext cx="0" cy="14401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2011946" y="3922552"/>
              <a:ext cx="1375698" cy="707886"/>
            </a:xfrm>
            <a:prstGeom prst="rect">
              <a:avLst/>
            </a:prstGeom>
            <a:noFill/>
          </p:spPr>
          <p:txBody>
            <a:bodyPr wrap="none" rtlCol="0">
              <a:spAutoFit/>
            </a:bodyPr>
            <a:lstStyle/>
            <a:p>
              <a:pPr algn="ctr"/>
              <a:r>
                <a:rPr lang="en-US" sz="2000" dirty="0">
                  <a:solidFill>
                    <a:schemeClr val="tx2">
                      <a:lumMod val="60000"/>
                      <a:lumOff val="40000"/>
                    </a:schemeClr>
                  </a:solidFill>
                </a:rPr>
                <a:t>Does ‘456’</a:t>
              </a:r>
              <a:br>
                <a:rPr lang="en-US" sz="2000" dirty="0">
                  <a:solidFill>
                    <a:schemeClr val="tx2">
                      <a:lumMod val="60000"/>
                      <a:lumOff val="40000"/>
                    </a:schemeClr>
                  </a:solidFill>
                </a:rPr>
              </a:br>
              <a:r>
                <a:rPr lang="en-US" sz="2000" dirty="0">
                  <a:solidFill>
                    <a:schemeClr val="tx2">
                      <a:lumMod val="60000"/>
                      <a:lumOff val="40000"/>
                    </a:schemeClr>
                  </a:solidFill>
                </a:rPr>
                <a:t>have £100?</a:t>
              </a:r>
            </a:p>
          </p:txBody>
        </p:sp>
        <p:cxnSp>
          <p:nvCxnSpPr>
            <p:cNvPr id="76" name="Straight Connector 75"/>
            <p:cNvCxnSpPr>
              <a:stCxn id="75" idx="0"/>
            </p:cNvCxnSpPr>
            <p:nvPr/>
          </p:nvCxnSpPr>
          <p:spPr>
            <a:xfrm flipV="1">
              <a:off x="2699795" y="2882406"/>
              <a:ext cx="0" cy="1040146"/>
            </a:xfrm>
            <a:prstGeom prst="line">
              <a:avLst/>
            </a:prstGeom>
            <a:ln>
              <a:solidFill>
                <a:schemeClr val="tx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8655575" y="2303596"/>
            <a:ext cx="961161" cy="969349"/>
            <a:chOff x="6922443" y="2636912"/>
            <a:chExt cx="1198419" cy="1208628"/>
          </a:xfrm>
        </p:grpSpPr>
        <p:cxnSp>
          <p:nvCxnSpPr>
            <p:cNvPr id="79" name="Straight Connector 78"/>
            <p:cNvCxnSpPr/>
            <p:nvPr/>
          </p:nvCxnSpPr>
          <p:spPr>
            <a:xfrm flipH="1">
              <a:off x="6937781"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80" name="Straight Connector 79"/>
            <p:cNvCxnSpPr/>
            <p:nvPr/>
          </p:nvCxnSpPr>
          <p:spPr>
            <a:xfrm>
              <a:off x="6922443" y="2636912"/>
              <a:ext cx="1183081" cy="1208628"/>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11" name="Rectangle 10">
            <a:extLst>
              <a:ext uri="{FF2B5EF4-FFF2-40B4-BE49-F238E27FC236}">
                <a16:creationId xmlns:a16="http://schemas.microsoft.com/office/drawing/2014/main" id="{A1597ADF-FD19-45EB-9DFD-F52DD721A295}"/>
              </a:ext>
            </a:extLst>
          </p:cNvPr>
          <p:cNvSpPr/>
          <p:nvPr/>
        </p:nvSpPr>
        <p:spPr>
          <a:xfrm>
            <a:off x="144983" y="3880627"/>
            <a:ext cx="5135309" cy="106401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
        <p:nvSpPr>
          <p:cNvPr id="12" name="Rectangle 11">
            <a:extLst>
              <a:ext uri="{FF2B5EF4-FFF2-40B4-BE49-F238E27FC236}">
                <a16:creationId xmlns:a16="http://schemas.microsoft.com/office/drawing/2014/main" id="{F37A68D8-A312-4326-99BC-70C240E09584}"/>
              </a:ext>
            </a:extLst>
          </p:cNvPr>
          <p:cNvSpPr/>
          <p:nvPr/>
        </p:nvSpPr>
        <p:spPr>
          <a:xfrm>
            <a:off x="1113817" y="5191724"/>
            <a:ext cx="5112568" cy="1087741"/>
          </a:xfrm>
          <a:prstGeom prst="rect">
            <a:avLst/>
          </a:prstGeom>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SELECT balance</a:t>
            </a:r>
          </a:p>
          <a:p>
            <a:r>
              <a:rPr lang="en-US" sz="2000" dirty="0">
                <a:latin typeface="Courier New" charset="0"/>
                <a:ea typeface="Courier New" charset="0"/>
                <a:cs typeface="Courier New" charset="0"/>
              </a:rPr>
              <a:t>FROM	 Accounts</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
        <p:nvSpPr>
          <p:cNvPr id="17" name="Rectangle 16">
            <a:extLst>
              <a:ext uri="{FF2B5EF4-FFF2-40B4-BE49-F238E27FC236}">
                <a16:creationId xmlns:a16="http://schemas.microsoft.com/office/drawing/2014/main" id="{44229FBB-F267-43A1-BF79-F688FB5542CA}"/>
              </a:ext>
            </a:extLst>
          </p:cNvPr>
          <p:cNvSpPr/>
          <p:nvPr/>
        </p:nvSpPr>
        <p:spPr>
          <a:xfrm>
            <a:off x="3528328" y="4806645"/>
            <a:ext cx="5135309" cy="1064010"/>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789;</a:t>
            </a:r>
          </a:p>
        </p:txBody>
      </p:sp>
      <p:sp>
        <p:nvSpPr>
          <p:cNvPr id="20" name="Rectangle 19">
            <a:extLst>
              <a:ext uri="{FF2B5EF4-FFF2-40B4-BE49-F238E27FC236}">
                <a16:creationId xmlns:a16="http://schemas.microsoft.com/office/drawing/2014/main" id="{455EBF32-15B5-4ED7-8B6B-DB3642CE8AA7}"/>
              </a:ext>
            </a:extLst>
          </p:cNvPr>
          <p:cNvSpPr/>
          <p:nvPr/>
        </p:nvSpPr>
        <p:spPr>
          <a:xfrm>
            <a:off x="7273789" y="5434202"/>
            <a:ext cx="4877521" cy="919455"/>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123;</a:t>
            </a:r>
          </a:p>
        </p:txBody>
      </p:sp>
      <p:sp>
        <p:nvSpPr>
          <p:cNvPr id="21" name="Rectangle 20">
            <a:extLst>
              <a:ext uri="{FF2B5EF4-FFF2-40B4-BE49-F238E27FC236}">
                <a16:creationId xmlns:a16="http://schemas.microsoft.com/office/drawing/2014/main" id="{87D0F67A-F060-4B0D-A9CA-2775E4F1726B}"/>
              </a:ext>
            </a:extLst>
          </p:cNvPr>
          <p:cNvSpPr/>
          <p:nvPr/>
        </p:nvSpPr>
        <p:spPr>
          <a:xfrm>
            <a:off x="6258753" y="4132601"/>
            <a:ext cx="4877521" cy="1059120"/>
          </a:xfrm>
          <a:prstGeom prst="rect">
            <a:avLst/>
          </a:prstGeom>
          <a:solidFill>
            <a:srgbClr val="002060"/>
          </a:solidFill>
        </p:spPr>
        <p:style>
          <a:lnRef idx="1">
            <a:schemeClr val="accent6"/>
          </a:lnRef>
          <a:fillRef idx="3">
            <a:schemeClr val="accent6"/>
          </a:fillRef>
          <a:effectRef idx="2">
            <a:schemeClr val="accent6"/>
          </a:effectRef>
          <a:fontRef idx="minor">
            <a:schemeClr val="lt1"/>
          </a:fontRef>
        </p:style>
        <p:txBody>
          <a:bodyPr rtlCol="0" anchor="t"/>
          <a:lstStyle/>
          <a:p>
            <a:r>
              <a:rPr lang="en-US" sz="2000" dirty="0">
                <a:latin typeface="Courier New" charset="0"/>
                <a:ea typeface="Courier New" charset="0"/>
                <a:cs typeface="Courier New" charset="0"/>
              </a:rPr>
              <a:t>UPDATE Accounts</a:t>
            </a:r>
          </a:p>
          <a:p>
            <a:r>
              <a:rPr lang="en-US" sz="2000" dirty="0">
                <a:latin typeface="Courier New" charset="0"/>
                <a:ea typeface="Courier New" charset="0"/>
                <a:cs typeface="Courier New" charset="0"/>
              </a:rPr>
              <a:t>SET    balance = balance - 100</a:t>
            </a:r>
          </a:p>
          <a:p>
            <a:r>
              <a:rPr lang="en-US" sz="2000" dirty="0">
                <a:latin typeface="Courier New" charset="0"/>
                <a:ea typeface="Courier New" charset="0"/>
                <a:cs typeface="Courier New" charset="0"/>
              </a:rPr>
              <a:t>WHERE  </a:t>
            </a:r>
            <a:r>
              <a:rPr lang="en-US" sz="2000" dirty="0" err="1">
                <a:latin typeface="Courier New" charset="0"/>
                <a:ea typeface="Courier New" charset="0"/>
                <a:cs typeface="Courier New" charset="0"/>
              </a:rPr>
              <a:t>accountNo</a:t>
            </a:r>
            <a:r>
              <a:rPr lang="en-US" sz="2000" dirty="0">
                <a:latin typeface="Courier New" charset="0"/>
                <a:ea typeface="Courier New" charset="0"/>
                <a:cs typeface="Courier New" charset="0"/>
              </a:rPr>
              <a:t> = 456;</a:t>
            </a:r>
          </a:p>
        </p:txBody>
      </p:sp>
      <p:sp>
        <p:nvSpPr>
          <p:cNvPr id="42" name="Rounded Rectangular Callout 7">
            <a:extLst>
              <a:ext uri="{FF2B5EF4-FFF2-40B4-BE49-F238E27FC236}">
                <a16:creationId xmlns:a16="http://schemas.microsoft.com/office/drawing/2014/main" id="{B8875E70-AB78-4627-918B-91BBE3655A1B}"/>
              </a:ext>
            </a:extLst>
          </p:cNvPr>
          <p:cNvSpPr/>
          <p:nvPr/>
        </p:nvSpPr>
        <p:spPr>
          <a:xfrm>
            <a:off x="10264327" y="2532519"/>
            <a:ext cx="1543040" cy="670575"/>
          </a:xfrm>
          <a:prstGeom prst="wedgeRoundRectCallout">
            <a:avLst>
              <a:gd name="adj1" fmla="val -75445"/>
              <a:gd name="adj2" fmla="val -41398"/>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Notice: Could satisfy 2PL!</a:t>
            </a:r>
          </a:p>
        </p:txBody>
      </p:sp>
    </p:spTree>
    <p:custDataLst>
      <p:tags r:id="rId1"/>
    </p:custDataLst>
    <p:extLst>
      <p:ext uri="{BB962C8B-B14F-4D97-AF65-F5344CB8AC3E}">
        <p14:creationId xmlns:p14="http://schemas.microsoft.com/office/powerpoint/2010/main" val="6816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7" grpId="0" animBg="1"/>
      <p:bldP spid="20" grpId="0" animBg="1"/>
      <p:bldP spid="21" grpId="0" animBg="1"/>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F9CA2-84DD-4C35-9285-E270298B0006}"/>
              </a:ext>
            </a:extLst>
          </p:cNvPr>
          <p:cNvSpPr>
            <a:spLocks noGrp="1"/>
          </p:cNvSpPr>
          <p:nvPr>
            <p:ph type="title"/>
          </p:nvPr>
        </p:nvSpPr>
        <p:spPr/>
        <p:txBody>
          <a:bodyPr>
            <a:normAutofit/>
          </a:bodyPr>
          <a:lstStyle/>
          <a:p>
            <a:r>
              <a:rPr lang="en-US" dirty="0"/>
              <a:t>No good solutions to the problem</a:t>
            </a:r>
            <a:br>
              <a:rPr lang="en-US" dirty="0"/>
            </a:br>
            <a:r>
              <a:rPr lang="en-US" sz="2400" dirty="0"/>
              <a:t>(adapted from the good schedules/transaction video)</a:t>
            </a:r>
            <a:endParaRPr lang="en-GB" sz="2400" dirty="0"/>
          </a:p>
        </p:txBody>
      </p:sp>
      <p:sp>
        <p:nvSpPr>
          <p:cNvPr id="3" name="Content Placeholder 2">
            <a:extLst>
              <a:ext uri="{FF2B5EF4-FFF2-40B4-BE49-F238E27FC236}">
                <a16:creationId xmlns:a16="http://schemas.microsoft.com/office/drawing/2014/main" id="{6C58B510-68F9-4C1B-9F44-564C6443A405}"/>
              </a:ext>
            </a:extLst>
          </p:cNvPr>
          <p:cNvSpPr>
            <a:spLocks noGrp="1"/>
          </p:cNvSpPr>
          <p:nvPr>
            <p:ph idx="1"/>
          </p:nvPr>
        </p:nvSpPr>
        <p:spPr/>
        <p:txBody>
          <a:bodyPr/>
          <a:lstStyle/>
          <a:p>
            <a:r>
              <a:rPr lang="en-US" dirty="0"/>
              <a:t>Let us look at some options:</a:t>
            </a:r>
          </a:p>
          <a:p>
            <a:pPr lvl="1"/>
            <a:r>
              <a:rPr lang="en-US" dirty="0"/>
              <a:t>We could do nothing, but then the bank lost money </a:t>
            </a:r>
          </a:p>
          <a:p>
            <a:pPr lvl="2"/>
            <a:r>
              <a:rPr lang="en-US" dirty="0"/>
              <a:t>This would break </a:t>
            </a:r>
            <a:r>
              <a:rPr lang="en-US" b="1" dirty="0"/>
              <a:t>Atomicity</a:t>
            </a:r>
            <a:endParaRPr lang="en-US" dirty="0"/>
          </a:p>
          <a:p>
            <a:pPr lvl="1"/>
            <a:r>
              <a:rPr lang="en-US" dirty="0"/>
              <a:t>We could undo the first transaction, but not the second, but then the second transaction might not be valid anymore, because there could be too little money on the account to transfer 100£</a:t>
            </a:r>
          </a:p>
          <a:p>
            <a:pPr lvl="2"/>
            <a:r>
              <a:rPr lang="en-US" dirty="0"/>
              <a:t>This would break </a:t>
            </a:r>
            <a:r>
              <a:rPr lang="en-US" b="1" dirty="0"/>
              <a:t>Consistency,</a:t>
            </a:r>
            <a:r>
              <a:rPr lang="en-US" dirty="0"/>
              <a:t> because we would break an integrity constraint</a:t>
            </a:r>
          </a:p>
          <a:p>
            <a:pPr lvl="2"/>
            <a:r>
              <a:rPr lang="en-US" dirty="0"/>
              <a:t>This would break </a:t>
            </a:r>
            <a:r>
              <a:rPr lang="en-US" b="1" dirty="0"/>
              <a:t>Isolation</a:t>
            </a:r>
            <a:r>
              <a:rPr lang="en-US" dirty="0"/>
              <a:t> as well (at least on some levels)</a:t>
            </a:r>
          </a:p>
          <a:p>
            <a:pPr lvl="2"/>
            <a:r>
              <a:rPr lang="en-US" dirty="0"/>
              <a:t>(it is also inconsistent – not the property - with what abort should do)</a:t>
            </a:r>
          </a:p>
          <a:p>
            <a:pPr lvl="1"/>
            <a:r>
              <a:rPr lang="en-US" dirty="0"/>
              <a:t>We could undo both transactions, but the second one have finished and the person doing it might have already gone away (because everything looked good when he finished)</a:t>
            </a:r>
          </a:p>
          <a:p>
            <a:pPr lvl="2"/>
            <a:r>
              <a:rPr lang="en-US" dirty="0"/>
              <a:t>This would break </a:t>
            </a:r>
            <a:r>
              <a:rPr lang="en-US" b="1" dirty="0"/>
              <a:t>Durability</a:t>
            </a:r>
          </a:p>
          <a:p>
            <a:pPr lvl="2"/>
            <a:endParaRPr lang="en-US" b="1" dirty="0"/>
          </a:p>
          <a:p>
            <a:endParaRPr lang="en-GB" dirty="0"/>
          </a:p>
        </p:txBody>
      </p:sp>
      <p:sp>
        <p:nvSpPr>
          <p:cNvPr id="4" name="Slide Number Placeholder 3">
            <a:extLst>
              <a:ext uri="{FF2B5EF4-FFF2-40B4-BE49-F238E27FC236}">
                <a16:creationId xmlns:a16="http://schemas.microsoft.com/office/drawing/2014/main" id="{3AE785EC-2F75-4F7D-92FA-C266617B7238}"/>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6</a:t>
            </a:fld>
            <a:endParaRPr lang="en-GB"/>
          </a:p>
        </p:txBody>
      </p:sp>
    </p:spTree>
    <p:custDataLst>
      <p:tags r:id="rId1"/>
    </p:custDataLst>
    <p:extLst>
      <p:ext uri="{BB962C8B-B14F-4D97-AF65-F5344CB8AC3E}">
        <p14:creationId xmlns:p14="http://schemas.microsoft.com/office/powerpoint/2010/main" val="331626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2146-59C7-4448-BC45-BF21C11549F7}"/>
              </a:ext>
            </a:extLst>
          </p:cNvPr>
          <p:cNvSpPr>
            <a:spLocks noGrp="1"/>
          </p:cNvSpPr>
          <p:nvPr>
            <p:ph type="title"/>
          </p:nvPr>
        </p:nvSpPr>
        <p:spPr/>
        <p:txBody>
          <a:bodyPr/>
          <a:lstStyle/>
          <a:p>
            <a:r>
              <a:rPr lang="en-US" dirty="0"/>
              <a:t>“Dirty Reads”</a:t>
            </a:r>
            <a:endParaRPr lang="en-GB" dirty="0"/>
          </a:p>
        </p:txBody>
      </p:sp>
      <p:sp>
        <p:nvSpPr>
          <p:cNvPr id="3" name="Content Placeholder 2">
            <a:extLst>
              <a:ext uri="{FF2B5EF4-FFF2-40B4-BE49-F238E27FC236}">
                <a16:creationId xmlns:a16="http://schemas.microsoft.com/office/drawing/2014/main" id="{21509243-C670-4663-BF56-D09DCD146D20}"/>
              </a:ext>
            </a:extLst>
          </p:cNvPr>
          <p:cNvSpPr>
            <a:spLocks noGrp="1"/>
          </p:cNvSpPr>
          <p:nvPr>
            <p:ph idx="1"/>
          </p:nvPr>
        </p:nvSpPr>
        <p:spPr/>
        <p:txBody>
          <a:bodyPr/>
          <a:lstStyle/>
          <a:p>
            <a:r>
              <a:rPr lang="en-US" dirty="0"/>
              <a:t>In practice, the isolation property is often not fully enforced (</a:t>
            </a:r>
            <a:r>
              <a:rPr lang="en-US" dirty="0">
                <a:sym typeface="Wingdings"/>
              </a:rPr>
              <a:t> </a:t>
            </a:r>
            <a:r>
              <a:rPr lang="en-US" dirty="0"/>
              <a:t>“dirty reads” may occur)</a:t>
            </a:r>
          </a:p>
          <a:p>
            <a:r>
              <a:rPr lang="en-US" dirty="0"/>
              <a:t>Reason: efficiency!</a:t>
            </a:r>
          </a:p>
          <a:p>
            <a:pPr lvl="1"/>
            <a:r>
              <a:rPr lang="en-US" dirty="0"/>
              <a:t>Spend less time on preventing ”dirty reads”</a:t>
            </a:r>
          </a:p>
          <a:p>
            <a:pPr lvl="1"/>
            <a:r>
              <a:rPr lang="en-US" dirty="0"/>
              <a:t>Gain ”more parallelism” by executing some transactions that would have to wait to prevent “dirty reads”</a:t>
            </a:r>
          </a:p>
          <a:p>
            <a:r>
              <a:rPr lang="en-US" dirty="0"/>
              <a:t>You can decide:</a:t>
            </a:r>
          </a:p>
          <a:p>
            <a:endParaRPr lang="en-US" dirty="0"/>
          </a:p>
          <a:p>
            <a:endParaRPr lang="en-US" dirty="0"/>
          </a:p>
          <a:p>
            <a:r>
              <a:rPr lang="en-GB" dirty="0"/>
              <a:t>“Dirty reads” can slow down the system when transactions have to abort</a:t>
            </a:r>
            <a:endParaRPr lang="en-US" dirty="0"/>
          </a:p>
          <a:p>
            <a:endParaRPr lang="en-GB" dirty="0"/>
          </a:p>
        </p:txBody>
      </p:sp>
      <p:sp>
        <p:nvSpPr>
          <p:cNvPr id="4" name="Rectangle 3">
            <a:extLst>
              <a:ext uri="{FF2B5EF4-FFF2-40B4-BE49-F238E27FC236}">
                <a16:creationId xmlns:a16="http://schemas.microsoft.com/office/drawing/2014/main" id="{02CC19A9-DD8B-4D67-A71B-EA5E4458F463}"/>
              </a:ext>
            </a:extLst>
          </p:cNvPr>
          <p:cNvSpPr/>
          <p:nvPr/>
        </p:nvSpPr>
        <p:spPr>
          <a:xfrm>
            <a:off x="2235154" y="3964834"/>
            <a:ext cx="5904656" cy="100811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000" dirty="0">
                <a:latin typeface="Courier New" charset="0"/>
                <a:ea typeface="Courier New" charset="0"/>
                <a:cs typeface="Courier New" charset="0"/>
              </a:rPr>
              <a:t>SET TRANSACTION READ WRITE</a:t>
            </a:r>
            <a:br>
              <a:rPr lang="en-US" sz="2000" dirty="0">
                <a:latin typeface="Courier New" charset="0"/>
                <a:ea typeface="Courier New" charset="0"/>
                <a:cs typeface="Courier New" charset="0"/>
              </a:rPr>
            </a:br>
            <a:r>
              <a:rPr lang="en-US" sz="2000" dirty="0">
                <a:latin typeface="Courier New" charset="0"/>
                <a:ea typeface="Courier New" charset="0"/>
                <a:cs typeface="Courier New" charset="0"/>
              </a:rPr>
              <a:t>    ISOLATION LEVEL READ UNCOMMITTED;</a:t>
            </a:r>
          </a:p>
        </p:txBody>
      </p:sp>
      <p:sp>
        <p:nvSpPr>
          <p:cNvPr id="5" name="Rounded Rectangular Callout 6">
            <a:extLst>
              <a:ext uri="{FF2B5EF4-FFF2-40B4-BE49-F238E27FC236}">
                <a16:creationId xmlns:a16="http://schemas.microsoft.com/office/drawing/2014/main" id="{2D1CAC4F-FAF1-4EBD-8484-43BE88365A2A}"/>
              </a:ext>
            </a:extLst>
          </p:cNvPr>
          <p:cNvSpPr/>
          <p:nvPr/>
        </p:nvSpPr>
        <p:spPr>
          <a:xfrm>
            <a:off x="7781988" y="3244754"/>
            <a:ext cx="2122615" cy="1197260"/>
          </a:xfrm>
          <a:prstGeom prst="wedgeRoundRectCallout">
            <a:avLst>
              <a:gd name="adj1" fmla="val -67967"/>
              <a:gd name="adj2" fmla="val 49892"/>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Other levels in SQL: </a:t>
            </a:r>
            <a:br>
              <a:rPr lang="en-US" dirty="0"/>
            </a:br>
            <a:r>
              <a:rPr lang="en-US" dirty="0"/>
              <a:t>READ COMMITTED,</a:t>
            </a:r>
            <a:br>
              <a:rPr lang="en-US" dirty="0"/>
            </a:br>
            <a:r>
              <a:rPr lang="en-US" dirty="0"/>
              <a:t>REPEATABLE  READ,</a:t>
            </a:r>
          </a:p>
          <a:p>
            <a:r>
              <a:rPr lang="en-US" dirty="0"/>
              <a:t>SERIALIZABLE </a:t>
            </a:r>
          </a:p>
        </p:txBody>
      </p:sp>
      <p:sp>
        <p:nvSpPr>
          <p:cNvPr id="6" name="Rounded Rectangular Callout 7">
            <a:extLst>
              <a:ext uri="{FF2B5EF4-FFF2-40B4-BE49-F238E27FC236}">
                <a16:creationId xmlns:a16="http://schemas.microsoft.com/office/drawing/2014/main" id="{0FFF2155-42B9-49C4-B6E1-2B2C80D4142E}"/>
              </a:ext>
            </a:extLst>
          </p:cNvPr>
          <p:cNvSpPr/>
          <p:nvPr/>
        </p:nvSpPr>
        <p:spPr>
          <a:xfrm>
            <a:off x="5547522" y="3253692"/>
            <a:ext cx="1543040" cy="670575"/>
          </a:xfrm>
          <a:prstGeom prst="wedgeRoundRectCallout">
            <a:avLst>
              <a:gd name="adj1" fmla="val -27473"/>
              <a:gd name="adj2" fmla="val 8846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Other option: READ ONLY</a:t>
            </a:r>
          </a:p>
        </p:txBody>
      </p:sp>
    </p:spTree>
    <p:custDataLst>
      <p:tags r:id="rId1"/>
    </p:custDataLst>
    <p:extLst>
      <p:ext uri="{BB962C8B-B14F-4D97-AF65-F5344CB8AC3E}">
        <p14:creationId xmlns:p14="http://schemas.microsoft.com/office/powerpoint/2010/main" val="222863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Cascading Rollback</a:t>
            </a:r>
          </a:p>
        </p:txBody>
      </p:sp>
      <p:sp>
        <p:nvSpPr>
          <p:cNvPr id="3" name="Content Placeholder 2"/>
          <p:cNvSpPr>
            <a:spLocks noGrp="1"/>
          </p:cNvSpPr>
          <p:nvPr>
            <p:ph idx="1"/>
          </p:nvPr>
        </p:nvSpPr>
        <p:spPr/>
        <p:txBody>
          <a:bodyPr/>
          <a:lstStyle/>
          <a:p>
            <a:pPr marL="0" indent="0">
              <a:buNone/>
            </a:pPr>
            <a:r>
              <a:rPr lang="en-US" dirty="0"/>
              <a:t>If a transaction T aborts:</a:t>
            </a:r>
          </a:p>
          <a:p>
            <a:pPr>
              <a:spcBef>
                <a:spcPts val="672"/>
              </a:spcBef>
            </a:pPr>
            <a:r>
              <a:rPr lang="en-US" sz="2400" dirty="0"/>
              <a:t>Find all transactions that have read items written by T.</a:t>
            </a:r>
          </a:p>
          <a:p>
            <a:pPr>
              <a:spcBef>
                <a:spcPts val="672"/>
              </a:spcBef>
            </a:pPr>
            <a:r>
              <a:rPr lang="en-US" sz="2400" dirty="0"/>
              <a:t>Recursively abort all transactions that have read items</a:t>
            </a:r>
            <a:br>
              <a:rPr lang="en-US" sz="2400" dirty="0"/>
            </a:br>
            <a:r>
              <a:rPr lang="en-US" sz="2400" dirty="0"/>
              <a:t>written by an aborted transaction.</a:t>
            </a:r>
          </a:p>
        </p:txBody>
      </p:sp>
      <p:sp>
        <p:nvSpPr>
          <p:cNvPr id="4" name="Slide Number Placeholder 3"/>
          <p:cNvSpPr>
            <a:spLocks noGrp="1"/>
          </p:cNvSpPr>
          <p:nvPr>
            <p:ph type="sldNum" sz="quarter" idx="12"/>
          </p:nvPr>
        </p:nvSpPr>
        <p:spPr/>
        <p:txBody>
          <a:bodyPr/>
          <a:lstStyle/>
          <a:p>
            <a:fld id="{C260D5AD-280D-4F23-8F09-5CDE2943111F}" type="slidenum">
              <a:rPr lang="en-GB" smtClean="0"/>
              <a:pPr/>
              <a:t>8</a:t>
            </a:fld>
            <a:endParaRPr lang="en-GB"/>
          </a:p>
        </p:txBody>
      </p:sp>
      <p:sp>
        <p:nvSpPr>
          <p:cNvPr id="5" name="Rectangle 4"/>
          <p:cNvSpPr/>
          <p:nvPr/>
        </p:nvSpPr>
        <p:spPr>
          <a:xfrm>
            <a:off x="6023992" y="3849368"/>
            <a:ext cx="720080" cy="504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T</a:t>
            </a:r>
            <a:r>
              <a:rPr lang="en-US" sz="2400" baseline="-25000" dirty="0"/>
              <a:t>1</a:t>
            </a:r>
          </a:p>
        </p:txBody>
      </p:sp>
      <p:sp>
        <p:nvSpPr>
          <p:cNvPr id="419" name="Rectangle 418"/>
          <p:cNvSpPr/>
          <p:nvPr/>
        </p:nvSpPr>
        <p:spPr>
          <a:xfrm>
            <a:off x="4799856" y="4508435"/>
            <a:ext cx="720080" cy="504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a:t>T</a:t>
            </a:r>
            <a:r>
              <a:rPr lang="en-US" sz="2400" baseline="-25000"/>
              <a:t>2</a:t>
            </a:r>
            <a:endParaRPr lang="en-US" sz="2400" baseline="-25000" dirty="0"/>
          </a:p>
        </p:txBody>
      </p:sp>
      <p:sp>
        <p:nvSpPr>
          <p:cNvPr id="420" name="Rectangle 419"/>
          <p:cNvSpPr/>
          <p:nvPr/>
        </p:nvSpPr>
        <p:spPr>
          <a:xfrm>
            <a:off x="7176120" y="4512993"/>
            <a:ext cx="720080" cy="504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T</a:t>
            </a:r>
            <a:r>
              <a:rPr lang="en-US" sz="2400" baseline="-25000" dirty="0"/>
              <a:t>3</a:t>
            </a:r>
          </a:p>
        </p:txBody>
      </p:sp>
      <p:sp>
        <p:nvSpPr>
          <p:cNvPr id="421" name="Rectangle 420"/>
          <p:cNvSpPr/>
          <p:nvPr/>
        </p:nvSpPr>
        <p:spPr>
          <a:xfrm>
            <a:off x="3937117" y="5365685"/>
            <a:ext cx="720080" cy="504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T</a:t>
            </a:r>
            <a:r>
              <a:rPr lang="en-US" sz="2400" baseline="-25000" dirty="0"/>
              <a:t>4</a:t>
            </a:r>
          </a:p>
        </p:txBody>
      </p:sp>
      <p:sp>
        <p:nvSpPr>
          <p:cNvPr id="422" name="Rectangle 421"/>
          <p:cNvSpPr/>
          <p:nvPr/>
        </p:nvSpPr>
        <p:spPr>
          <a:xfrm>
            <a:off x="5589333" y="5365685"/>
            <a:ext cx="720080" cy="5040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400" dirty="0"/>
              <a:t>T</a:t>
            </a:r>
            <a:r>
              <a:rPr lang="en-US" sz="2400" baseline="-25000" dirty="0"/>
              <a:t>5</a:t>
            </a:r>
          </a:p>
        </p:txBody>
      </p:sp>
      <p:cxnSp>
        <p:nvCxnSpPr>
          <p:cNvPr id="424" name="Straight Arrow Connector 423"/>
          <p:cNvCxnSpPr/>
          <p:nvPr/>
        </p:nvCxnSpPr>
        <p:spPr>
          <a:xfrm flipV="1">
            <a:off x="5519936" y="4282942"/>
            <a:ext cx="504056" cy="2300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5" name="Straight Arrow Connector 424"/>
          <p:cNvCxnSpPr/>
          <p:nvPr/>
        </p:nvCxnSpPr>
        <p:spPr>
          <a:xfrm flipH="1" flipV="1">
            <a:off x="6744072" y="4282942"/>
            <a:ext cx="432048" cy="2379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9" name="Straight Arrow Connector 428"/>
          <p:cNvCxnSpPr/>
          <p:nvPr/>
        </p:nvCxnSpPr>
        <p:spPr>
          <a:xfrm flipV="1">
            <a:off x="4529999" y="5020104"/>
            <a:ext cx="297308" cy="3414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3" name="Straight Arrow Connector 432"/>
          <p:cNvCxnSpPr/>
          <p:nvPr/>
        </p:nvCxnSpPr>
        <p:spPr>
          <a:xfrm flipH="1" flipV="1">
            <a:off x="5519937" y="5031869"/>
            <a:ext cx="268602" cy="3377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9" name="Straight Arrow Connector 438"/>
          <p:cNvCxnSpPr/>
          <p:nvPr/>
        </p:nvCxnSpPr>
        <p:spPr>
          <a:xfrm flipV="1">
            <a:off x="4009125" y="5863273"/>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2" name="Straight Arrow Connector 441"/>
          <p:cNvCxnSpPr/>
          <p:nvPr/>
        </p:nvCxnSpPr>
        <p:spPr>
          <a:xfrm flipV="1">
            <a:off x="5644523" y="5863274"/>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3" name="Straight Arrow Connector 442"/>
          <p:cNvCxnSpPr/>
          <p:nvPr/>
        </p:nvCxnSpPr>
        <p:spPr>
          <a:xfrm flipV="1">
            <a:off x="7248128" y="5025401"/>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4" name="Straight Arrow Connector 443"/>
          <p:cNvCxnSpPr/>
          <p:nvPr/>
        </p:nvCxnSpPr>
        <p:spPr>
          <a:xfrm flipH="1" flipV="1">
            <a:off x="7752184" y="5012492"/>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5" name="Straight Arrow Connector 444"/>
          <p:cNvCxnSpPr/>
          <p:nvPr/>
        </p:nvCxnSpPr>
        <p:spPr>
          <a:xfrm flipH="1" flipV="1">
            <a:off x="6165397" y="5863273"/>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6" name="Straight Arrow Connector 445"/>
          <p:cNvCxnSpPr/>
          <p:nvPr/>
        </p:nvCxnSpPr>
        <p:spPr>
          <a:xfrm flipH="1" flipV="1">
            <a:off x="4529999" y="5863273"/>
            <a:ext cx="144016" cy="44604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447" name="TextBox 446"/>
          <p:cNvSpPr txBox="1"/>
          <p:nvPr/>
        </p:nvSpPr>
        <p:spPr>
          <a:xfrm>
            <a:off x="6836403" y="3872845"/>
            <a:ext cx="896399" cy="461665"/>
          </a:xfrm>
          <a:prstGeom prst="rect">
            <a:avLst/>
          </a:prstGeom>
          <a:noFill/>
        </p:spPr>
        <p:txBody>
          <a:bodyPr wrap="none" rtlCol="0">
            <a:spAutoFit/>
          </a:bodyPr>
          <a:lstStyle/>
          <a:p>
            <a:r>
              <a:rPr lang="en-US" sz="2400" dirty="0">
                <a:solidFill>
                  <a:schemeClr val="accent2"/>
                </a:solidFill>
              </a:rPr>
              <a:t>Abort</a:t>
            </a:r>
          </a:p>
        </p:txBody>
      </p:sp>
      <p:sp>
        <p:nvSpPr>
          <p:cNvPr id="451" name="TextBox 450"/>
          <p:cNvSpPr txBox="1"/>
          <p:nvPr/>
        </p:nvSpPr>
        <p:spPr>
          <a:xfrm>
            <a:off x="3831450" y="4497441"/>
            <a:ext cx="896399" cy="461665"/>
          </a:xfrm>
          <a:prstGeom prst="rect">
            <a:avLst/>
          </a:prstGeom>
          <a:noFill/>
        </p:spPr>
        <p:txBody>
          <a:bodyPr wrap="none" rtlCol="0">
            <a:spAutoFit/>
          </a:bodyPr>
          <a:lstStyle/>
          <a:p>
            <a:r>
              <a:rPr lang="en-US" sz="2400">
                <a:solidFill>
                  <a:schemeClr val="accent2"/>
                </a:solidFill>
              </a:rPr>
              <a:t>Abort</a:t>
            </a:r>
            <a:endParaRPr lang="en-US" sz="2400" dirty="0">
              <a:solidFill>
                <a:schemeClr val="accent2"/>
              </a:solidFill>
            </a:endParaRPr>
          </a:p>
        </p:txBody>
      </p:sp>
      <p:sp>
        <p:nvSpPr>
          <p:cNvPr id="452" name="TextBox 451"/>
          <p:cNvSpPr txBox="1"/>
          <p:nvPr/>
        </p:nvSpPr>
        <p:spPr>
          <a:xfrm>
            <a:off x="7981395" y="4512994"/>
            <a:ext cx="896399" cy="461665"/>
          </a:xfrm>
          <a:prstGeom prst="rect">
            <a:avLst/>
          </a:prstGeom>
          <a:noFill/>
        </p:spPr>
        <p:txBody>
          <a:bodyPr wrap="none" rtlCol="0">
            <a:spAutoFit/>
          </a:bodyPr>
          <a:lstStyle/>
          <a:p>
            <a:r>
              <a:rPr lang="en-US" sz="2400" dirty="0">
                <a:solidFill>
                  <a:schemeClr val="accent2"/>
                </a:solidFill>
              </a:rPr>
              <a:t>Abort</a:t>
            </a:r>
          </a:p>
        </p:txBody>
      </p:sp>
      <p:sp>
        <p:nvSpPr>
          <p:cNvPr id="453" name="TextBox 452"/>
          <p:cNvSpPr txBox="1"/>
          <p:nvPr/>
        </p:nvSpPr>
        <p:spPr>
          <a:xfrm>
            <a:off x="2968711" y="5361537"/>
            <a:ext cx="896399" cy="461665"/>
          </a:xfrm>
          <a:prstGeom prst="rect">
            <a:avLst/>
          </a:prstGeom>
          <a:noFill/>
        </p:spPr>
        <p:txBody>
          <a:bodyPr wrap="none" rtlCol="0">
            <a:spAutoFit/>
          </a:bodyPr>
          <a:lstStyle/>
          <a:p>
            <a:r>
              <a:rPr lang="en-US" sz="2400">
                <a:solidFill>
                  <a:schemeClr val="accent2"/>
                </a:solidFill>
              </a:rPr>
              <a:t>Abort</a:t>
            </a:r>
            <a:endParaRPr lang="en-US" sz="2400" dirty="0">
              <a:solidFill>
                <a:schemeClr val="accent2"/>
              </a:solidFill>
            </a:endParaRPr>
          </a:p>
        </p:txBody>
      </p:sp>
      <p:sp>
        <p:nvSpPr>
          <p:cNvPr id="454" name="TextBox 453"/>
          <p:cNvSpPr txBox="1"/>
          <p:nvPr/>
        </p:nvSpPr>
        <p:spPr>
          <a:xfrm>
            <a:off x="6394394" y="5369648"/>
            <a:ext cx="896399" cy="461665"/>
          </a:xfrm>
          <a:prstGeom prst="rect">
            <a:avLst/>
          </a:prstGeom>
          <a:noFill/>
        </p:spPr>
        <p:txBody>
          <a:bodyPr wrap="none" rtlCol="0">
            <a:spAutoFit/>
          </a:bodyPr>
          <a:lstStyle/>
          <a:p>
            <a:r>
              <a:rPr lang="en-US" sz="2400" dirty="0">
                <a:solidFill>
                  <a:schemeClr val="accent2"/>
                </a:solidFill>
              </a:rPr>
              <a:t>Abort</a:t>
            </a:r>
          </a:p>
        </p:txBody>
      </p:sp>
      <p:sp>
        <p:nvSpPr>
          <p:cNvPr id="28" name="Rounded Rectangular Callout 27"/>
          <p:cNvSpPr/>
          <p:nvPr/>
        </p:nvSpPr>
        <p:spPr>
          <a:xfrm>
            <a:off x="8383340" y="1644358"/>
            <a:ext cx="2133736" cy="818577"/>
          </a:xfrm>
          <a:prstGeom prst="wedgeRoundRectCallout">
            <a:avLst>
              <a:gd name="adj1" fmla="val -71626"/>
              <a:gd name="adj2" fmla="val 4666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Very slow </a:t>
            </a:r>
            <a:r>
              <a:rPr lang="en-US" sz="2000" dirty="0">
                <a:sym typeface="Wingdings"/>
              </a:rPr>
              <a:t> </a:t>
            </a:r>
            <a:br>
              <a:rPr lang="en-US" sz="2000" dirty="0">
                <a:sym typeface="Wingdings"/>
              </a:rPr>
            </a:br>
            <a:r>
              <a:rPr lang="en-US" sz="2000" dirty="0">
                <a:sym typeface="Wingdings"/>
              </a:rPr>
              <a:t>want to avoid this</a:t>
            </a:r>
            <a:endParaRPr lang="en-US" sz="2000" dirty="0"/>
          </a:p>
        </p:txBody>
      </p:sp>
      <p:grpSp>
        <p:nvGrpSpPr>
          <p:cNvPr id="16" name="Group 15"/>
          <p:cNvGrpSpPr/>
          <p:nvPr/>
        </p:nvGrpSpPr>
        <p:grpSpPr>
          <a:xfrm>
            <a:off x="120693" y="1399461"/>
            <a:ext cx="8352928" cy="2510924"/>
            <a:chOff x="-371824" y="932688"/>
            <a:chExt cx="8352928" cy="2510924"/>
          </a:xfrm>
        </p:grpSpPr>
        <p:sp>
          <p:nvSpPr>
            <p:cNvPr id="14" name="Oval 13"/>
            <p:cNvSpPr/>
            <p:nvPr/>
          </p:nvSpPr>
          <p:spPr>
            <a:xfrm>
              <a:off x="-371824" y="975643"/>
              <a:ext cx="8352928" cy="246796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Freeform 14"/>
            <p:cNvSpPr/>
            <p:nvPr/>
          </p:nvSpPr>
          <p:spPr>
            <a:xfrm>
              <a:off x="5705856" y="932688"/>
              <a:ext cx="27432" cy="192024"/>
            </a:xfrm>
            <a:custGeom>
              <a:avLst/>
              <a:gdLst>
                <a:gd name="connsiteX0" fmla="*/ 0 w 27432"/>
                <a:gd name="connsiteY0" fmla="*/ 192024 h 192024"/>
                <a:gd name="connsiteX1" fmla="*/ 27432 w 27432"/>
                <a:gd name="connsiteY1" fmla="*/ 128016 h 192024"/>
                <a:gd name="connsiteX2" fmla="*/ 18288 w 27432"/>
                <a:gd name="connsiteY2" fmla="*/ 36576 h 192024"/>
                <a:gd name="connsiteX3" fmla="*/ 9144 w 27432"/>
                <a:gd name="connsiteY3" fmla="*/ 0 h 192024"/>
              </a:gdLst>
              <a:ahLst/>
              <a:cxnLst>
                <a:cxn ang="0">
                  <a:pos x="connsiteX0" y="connsiteY0"/>
                </a:cxn>
                <a:cxn ang="0">
                  <a:pos x="connsiteX1" y="connsiteY1"/>
                </a:cxn>
                <a:cxn ang="0">
                  <a:pos x="connsiteX2" y="connsiteY2"/>
                </a:cxn>
                <a:cxn ang="0">
                  <a:pos x="connsiteX3" y="connsiteY3"/>
                </a:cxn>
              </a:cxnLst>
              <a:rect l="l" t="t" r="r" b="b"/>
              <a:pathLst>
                <a:path w="27432" h="192024">
                  <a:moveTo>
                    <a:pt x="0" y="192024"/>
                  </a:moveTo>
                  <a:cubicBezTo>
                    <a:pt x="3571" y="184882"/>
                    <a:pt x="27432" y="141471"/>
                    <a:pt x="27432" y="128016"/>
                  </a:cubicBezTo>
                  <a:cubicBezTo>
                    <a:pt x="27432" y="97384"/>
                    <a:pt x="22946" y="66852"/>
                    <a:pt x="18288" y="36576"/>
                  </a:cubicBezTo>
                  <a:cubicBezTo>
                    <a:pt x="8180" y="-29125"/>
                    <a:pt x="9144" y="29970"/>
                    <a:pt x="9144" y="0"/>
                  </a:cubicBezTo>
                </a:path>
              </a:pathLst>
            </a:cu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grpSp>
      <p:sp>
        <p:nvSpPr>
          <p:cNvPr id="29" name="Rounded Rectangular Callout 28"/>
          <p:cNvSpPr/>
          <p:nvPr/>
        </p:nvSpPr>
        <p:spPr>
          <a:xfrm>
            <a:off x="7981395" y="2664878"/>
            <a:ext cx="4265042" cy="1738718"/>
          </a:xfrm>
          <a:prstGeom prst="wedgeRoundRectCallout">
            <a:avLst>
              <a:gd name="adj1" fmla="val -63231"/>
              <a:gd name="adj2" fmla="val -2890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If we do </a:t>
            </a:r>
            <a:r>
              <a:rPr lang="en-US" sz="2000" b="1" dirty="0"/>
              <a:t>not abort</a:t>
            </a:r>
            <a:r>
              <a:rPr lang="en-US" sz="2000" dirty="0"/>
              <a:t> all these: </a:t>
            </a:r>
            <a:br>
              <a:rPr lang="en-US" sz="2000" dirty="0"/>
            </a:br>
            <a:r>
              <a:rPr lang="en-US" sz="2000" dirty="0"/>
              <a:t>	Break Isolation</a:t>
            </a:r>
          </a:p>
          <a:p>
            <a:r>
              <a:rPr lang="en-US" sz="2000" dirty="0"/>
              <a:t>	(Inconsistent with what abort 	should do)</a:t>
            </a:r>
          </a:p>
          <a:p>
            <a:r>
              <a:rPr lang="en-US" sz="2000" dirty="0"/>
              <a:t>If we do </a:t>
            </a:r>
            <a:r>
              <a:rPr lang="en-US" sz="2000" b="1" dirty="0"/>
              <a:t>abort</a:t>
            </a:r>
            <a:r>
              <a:rPr lang="en-US" sz="2000" dirty="0"/>
              <a:t> them:</a:t>
            </a:r>
          </a:p>
          <a:p>
            <a:r>
              <a:rPr lang="en-US" sz="2000" dirty="0"/>
              <a:t>	Can break Durability</a:t>
            </a:r>
          </a:p>
        </p:txBody>
      </p:sp>
    </p:spTree>
    <p:custDataLst>
      <p:tags r:id="rId1"/>
    </p:custDataLst>
    <p:extLst>
      <p:ext uri="{BB962C8B-B14F-4D97-AF65-F5344CB8AC3E}">
        <p14:creationId xmlns:p14="http://schemas.microsoft.com/office/powerpoint/2010/main" val="66933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7"/>
                                        </p:tgtEl>
                                        <p:attrNameLst>
                                          <p:attrName>style.visibility</p:attrName>
                                        </p:attrNameLst>
                                      </p:cBhvr>
                                      <p:to>
                                        <p:strVal val="visible"/>
                                      </p:to>
                                    </p:set>
                                    <p:animEffect transition="in" filter="fade">
                                      <p:cBhvr>
                                        <p:cTn id="10" dur="500"/>
                                        <p:tgtEl>
                                          <p:spTgt spid="4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24"/>
                                        </p:tgtEl>
                                        <p:attrNameLst>
                                          <p:attrName>style.visibility</p:attrName>
                                        </p:attrNameLst>
                                      </p:cBhvr>
                                      <p:to>
                                        <p:strVal val="visible"/>
                                      </p:to>
                                    </p:set>
                                    <p:animEffect transition="in" filter="fade">
                                      <p:cBhvr>
                                        <p:cTn id="25" dur="500"/>
                                        <p:tgtEl>
                                          <p:spTgt spid="42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19"/>
                                        </p:tgtEl>
                                        <p:attrNameLst>
                                          <p:attrName>style.visibility</p:attrName>
                                        </p:attrNameLst>
                                      </p:cBhvr>
                                      <p:to>
                                        <p:strVal val="visible"/>
                                      </p:to>
                                    </p:set>
                                    <p:animEffect transition="in" filter="fade">
                                      <p:cBhvr>
                                        <p:cTn id="28" dur="500"/>
                                        <p:tgtEl>
                                          <p:spTgt spid="4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0"/>
                                        </p:tgtEl>
                                        <p:attrNameLst>
                                          <p:attrName>style.visibility</p:attrName>
                                        </p:attrNameLst>
                                      </p:cBhvr>
                                      <p:to>
                                        <p:strVal val="visible"/>
                                      </p:to>
                                    </p:set>
                                    <p:animEffect transition="in" filter="fade">
                                      <p:cBhvr>
                                        <p:cTn id="31" dur="500"/>
                                        <p:tgtEl>
                                          <p:spTgt spid="420"/>
                                        </p:tgtEl>
                                      </p:cBhvr>
                                    </p:animEffect>
                                  </p:childTnLst>
                                </p:cTn>
                              </p:par>
                              <p:par>
                                <p:cTn id="32" presetID="10" presetClass="entr" presetSubtype="0" fill="hold" nodeType="withEffect">
                                  <p:stCondLst>
                                    <p:cond delay="0"/>
                                  </p:stCondLst>
                                  <p:childTnLst>
                                    <p:set>
                                      <p:cBhvr>
                                        <p:cTn id="33" dur="1" fill="hold">
                                          <p:stCondLst>
                                            <p:cond delay="0"/>
                                          </p:stCondLst>
                                        </p:cTn>
                                        <p:tgtEl>
                                          <p:spTgt spid="425"/>
                                        </p:tgtEl>
                                        <p:attrNameLst>
                                          <p:attrName>style.visibility</p:attrName>
                                        </p:attrNameLst>
                                      </p:cBhvr>
                                      <p:to>
                                        <p:strVal val="visible"/>
                                      </p:to>
                                    </p:set>
                                    <p:animEffect transition="in" filter="fade">
                                      <p:cBhvr>
                                        <p:cTn id="34" dur="500"/>
                                        <p:tgtEl>
                                          <p:spTgt spid="4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51"/>
                                        </p:tgtEl>
                                        <p:attrNameLst>
                                          <p:attrName>style.visibility</p:attrName>
                                        </p:attrNameLst>
                                      </p:cBhvr>
                                      <p:to>
                                        <p:strVal val="visible"/>
                                      </p:to>
                                    </p:set>
                                    <p:animEffect transition="in" filter="fade">
                                      <p:cBhvr>
                                        <p:cTn id="39" dur="500"/>
                                        <p:tgtEl>
                                          <p:spTgt spid="45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52"/>
                                        </p:tgtEl>
                                        <p:attrNameLst>
                                          <p:attrName>style.visibility</p:attrName>
                                        </p:attrNameLst>
                                      </p:cBhvr>
                                      <p:to>
                                        <p:strVal val="visible"/>
                                      </p:to>
                                    </p:set>
                                    <p:animEffect transition="in" filter="fade">
                                      <p:cBhvr>
                                        <p:cTn id="42" dur="500"/>
                                        <p:tgtEl>
                                          <p:spTgt spid="45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29"/>
                                        </p:tgtEl>
                                        <p:attrNameLst>
                                          <p:attrName>style.visibility</p:attrName>
                                        </p:attrNameLst>
                                      </p:cBhvr>
                                      <p:to>
                                        <p:strVal val="visible"/>
                                      </p:to>
                                    </p:set>
                                    <p:animEffect transition="in" filter="fade">
                                      <p:cBhvr>
                                        <p:cTn id="52" dur="500"/>
                                        <p:tgtEl>
                                          <p:spTgt spid="429"/>
                                        </p:tgtEl>
                                      </p:cBhvr>
                                    </p:animEffect>
                                  </p:childTnLst>
                                </p:cTn>
                              </p:par>
                              <p:par>
                                <p:cTn id="53" presetID="10" presetClass="entr" presetSubtype="0" fill="hold" nodeType="withEffect">
                                  <p:stCondLst>
                                    <p:cond delay="0"/>
                                  </p:stCondLst>
                                  <p:childTnLst>
                                    <p:set>
                                      <p:cBhvr>
                                        <p:cTn id="54" dur="1" fill="hold">
                                          <p:stCondLst>
                                            <p:cond delay="0"/>
                                          </p:stCondLst>
                                        </p:cTn>
                                        <p:tgtEl>
                                          <p:spTgt spid="433"/>
                                        </p:tgtEl>
                                        <p:attrNameLst>
                                          <p:attrName>style.visibility</p:attrName>
                                        </p:attrNameLst>
                                      </p:cBhvr>
                                      <p:to>
                                        <p:strVal val="visible"/>
                                      </p:to>
                                    </p:set>
                                    <p:animEffect transition="in" filter="fade">
                                      <p:cBhvr>
                                        <p:cTn id="55" dur="500"/>
                                        <p:tgtEl>
                                          <p:spTgt spid="4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1"/>
                                        </p:tgtEl>
                                        <p:attrNameLst>
                                          <p:attrName>style.visibility</p:attrName>
                                        </p:attrNameLst>
                                      </p:cBhvr>
                                      <p:to>
                                        <p:strVal val="visible"/>
                                      </p:to>
                                    </p:set>
                                    <p:animEffect transition="in" filter="fade">
                                      <p:cBhvr>
                                        <p:cTn id="58" dur="500"/>
                                        <p:tgtEl>
                                          <p:spTgt spid="4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22"/>
                                        </p:tgtEl>
                                        <p:attrNameLst>
                                          <p:attrName>style.visibility</p:attrName>
                                        </p:attrNameLst>
                                      </p:cBhvr>
                                      <p:to>
                                        <p:strVal val="visible"/>
                                      </p:to>
                                    </p:set>
                                    <p:animEffect transition="in" filter="fade">
                                      <p:cBhvr>
                                        <p:cTn id="61" dur="500"/>
                                        <p:tgtEl>
                                          <p:spTgt spid="42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53"/>
                                        </p:tgtEl>
                                        <p:attrNameLst>
                                          <p:attrName>style.visibility</p:attrName>
                                        </p:attrNameLst>
                                      </p:cBhvr>
                                      <p:to>
                                        <p:strVal val="visible"/>
                                      </p:to>
                                    </p:set>
                                    <p:animEffect transition="in" filter="fade">
                                      <p:cBhvr>
                                        <p:cTn id="66" dur="500"/>
                                        <p:tgtEl>
                                          <p:spTgt spid="4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4"/>
                                        </p:tgtEl>
                                        <p:attrNameLst>
                                          <p:attrName>style.visibility</p:attrName>
                                        </p:attrNameLst>
                                      </p:cBhvr>
                                      <p:to>
                                        <p:strVal val="visible"/>
                                      </p:to>
                                    </p:set>
                                    <p:animEffect transition="in" filter="fade">
                                      <p:cBhvr>
                                        <p:cTn id="69" dur="500"/>
                                        <p:tgtEl>
                                          <p:spTgt spid="45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43"/>
                                        </p:tgtEl>
                                        <p:attrNameLst>
                                          <p:attrName>style.visibility</p:attrName>
                                        </p:attrNameLst>
                                      </p:cBhvr>
                                      <p:to>
                                        <p:strVal val="visible"/>
                                      </p:to>
                                    </p:set>
                                    <p:animEffect transition="in" filter="fade">
                                      <p:cBhvr>
                                        <p:cTn id="74" dur="500"/>
                                        <p:tgtEl>
                                          <p:spTgt spid="443"/>
                                        </p:tgtEl>
                                      </p:cBhvr>
                                    </p:animEffect>
                                  </p:childTnLst>
                                </p:cTn>
                              </p:par>
                              <p:par>
                                <p:cTn id="75" presetID="10" presetClass="entr" presetSubtype="0" fill="hold" nodeType="withEffect">
                                  <p:stCondLst>
                                    <p:cond delay="0"/>
                                  </p:stCondLst>
                                  <p:childTnLst>
                                    <p:set>
                                      <p:cBhvr>
                                        <p:cTn id="76" dur="1" fill="hold">
                                          <p:stCondLst>
                                            <p:cond delay="0"/>
                                          </p:stCondLst>
                                        </p:cTn>
                                        <p:tgtEl>
                                          <p:spTgt spid="444"/>
                                        </p:tgtEl>
                                        <p:attrNameLst>
                                          <p:attrName>style.visibility</p:attrName>
                                        </p:attrNameLst>
                                      </p:cBhvr>
                                      <p:to>
                                        <p:strVal val="visible"/>
                                      </p:to>
                                    </p:set>
                                    <p:animEffect transition="in" filter="fade">
                                      <p:cBhvr>
                                        <p:cTn id="77" dur="500"/>
                                        <p:tgtEl>
                                          <p:spTgt spid="444"/>
                                        </p:tgtEl>
                                      </p:cBhvr>
                                    </p:animEffect>
                                  </p:childTnLst>
                                </p:cTn>
                              </p:par>
                              <p:par>
                                <p:cTn id="78" presetID="10" presetClass="entr" presetSubtype="0" fill="hold" nodeType="withEffect">
                                  <p:stCondLst>
                                    <p:cond delay="0"/>
                                  </p:stCondLst>
                                  <p:childTnLst>
                                    <p:set>
                                      <p:cBhvr>
                                        <p:cTn id="79" dur="1" fill="hold">
                                          <p:stCondLst>
                                            <p:cond delay="0"/>
                                          </p:stCondLst>
                                        </p:cTn>
                                        <p:tgtEl>
                                          <p:spTgt spid="439"/>
                                        </p:tgtEl>
                                        <p:attrNameLst>
                                          <p:attrName>style.visibility</p:attrName>
                                        </p:attrNameLst>
                                      </p:cBhvr>
                                      <p:to>
                                        <p:strVal val="visible"/>
                                      </p:to>
                                    </p:set>
                                    <p:animEffect transition="in" filter="fade">
                                      <p:cBhvr>
                                        <p:cTn id="80" dur="500"/>
                                        <p:tgtEl>
                                          <p:spTgt spid="439"/>
                                        </p:tgtEl>
                                      </p:cBhvr>
                                    </p:animEffect>
                                  </p:childTnLst>
                                </p:cTn>
                              </p:par>
                              <p:par>
                                <p:cTn id="81" presetID="10" presetClass="entr" presetSubtype="0" fill="hold" nodeType="withEffect">
                                  <p:stCondLst>
                                    <p:cond delay="0"/>
                                  </p:stCondLst>
                                  <p:childTnLst>
                                    <p:set>
                                      <p:cBhvr>
                                        <p:cTn id="82" dur="1" fill="hold">
                                          <p:stCondLst>
                                            <p:cond delay="0"/>
                                          </p:stCondLst>
                                        </p:cTn>
                                        <p:tgtEl>
                                          <p:spTgt spid="442"/>
                                        </p:tgtEl>
                                        <p:attrNameLst>
                                          <p:attrName>style.visibility</p:attrName>
                                        </p:attrNameLst>
                                      </p:cBhvr>
                                      <p:to>
                                        <p:strVal val="visible"/>
                                      </p:to>
                                    </p:set>
                                    <p:animEffect transition="in" filter="fade">
                                      <p:cBhvr>
                                        <p:cTn id="83" dur="500"/>
                                        <p:tgtEl>
                                          <p:spTgt spid="442"/>
                                        </p:tgtEl>
                                      </p:cBhvr>
                                    </p:animEffect>
                                  </p:childTnLst>
                                </p:cTn>
                              </p:par>
                              <p:par>
                                <p:cTn id="84" presetID="10" presetClass="entr" presetSubtype="0" fill="hold" nodeType="withEffect">
                                  <p:stCondLst>
                                    <p:cond delay="0"/>
                                  </p:stCondLst>
                                  <p:childTnLst>
                                    <p:set>
                                      <p:cBhvr>
                                        <p:cTn id="85" dur="1" fill="hold">
                                          <p:stCondLst>
                                            <p:cond delay="0"/>
                                          </p:stCondLst>
                                        </p:cTn>
                                        <p:tgtEl>
                                          <p:spTgt spid="445"/>
                                        </p:tgtEl>
                                        <p:attrNameLst>
                                          <p:attrName>style.visibility</p:attrName>
                                        </p:attrNameLst>
                                      </p:cBhvr>
                                      <p:to>
                                        <p:strVal val="visible"/>
                                      </p:to>
                                    </p:set>
                                    <p:animEffect transition="in" filter="fade">
                                      <p:cBhvr>
                                        <p:cTn id="86" dur="500"/>
                                        <p:tgtEl>
                                          <p:spTgt spid="445"/>
                                        </p:tgtEl>
                                      </p:cBhvr>
                                    </p:animEffect>
                                  </p:childTnLst>
                                </p:cTn>
                              </p:par>
                              <p:par>
                                <p:cTn id="87" presetID="10" presetClass="entr" presetSubtype="0" fill="hold" nodeType="withEffect">
                                  <p:stCondLst>
                                    <p:cond delay="0"/>
                                  </p:stCondLst>
                                  <p:childTnLst>
                                    <p:set>
                                      <p:cBhvr>
                                        <p:cTn id="88" dur="1" fill="hold">
                                          <p:stCondLst>
                                            <p:cond delay="0"/>
                                          </p:stCondLst>
                                        </p:cTn>
                                        <p:tgtEl>
                                          <p:spTgt spid="446"/>
                                        </p:tgtEl>
                                        <p:attrNameLst>
                                          <p:attrName>style.visibility</p:attrName>
                                        </p:attrNameLst>
                                      </p:cBhvr>
                                      <p:to>
                                        <p:strVal val="visible"/>
                                      </p:to>
                                    </p:set>
                                    <p:animEffect transition="in" filter="fade">
                                      <p:cBhvr>
                                        <p:cTn id="89" dur="500"/>
                                        <p:tgtEl>
                                          <p:spTgt spid="44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500"/>
                                        <p:tgtEl>
                                          <p:spTgt spid="1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fade">
                                      <p:cBhvr>
                                        <p:cTn id="104" dur="500"/>
                                        <p:tgtEl>
                                          <p:spTgt spid="29"/>
                                        </p:tgtEl>
                                      </p:cBhvr>
                                    </p:animEffect>
                                  </p:childTnLst>
                                </p:cTn>
                              </p:par>
                              <p:par>
                                <p:cTn id="105" presetID="1" presetClass="entr" presetSubtype="0" fill="hold" nodeType="withEffect">
                                  <p:stCondLst>
                                    <p:cond delay="0"/>
                                  </p:stCondLst>
                                  <p:childTnLst>
                                    <p:set>
                                      <p:cBhvr>
                                        <p:cTn id="106" dur="1" fill="hold">
                                          <p:stCondLst>
                                            <p:cond delay="0"/>
                                          </p:stCondLst>
                                        </p:cTn>
                                        <p:tgtEl>
                                          <p:spTgt spid="29">
                                            <p:txEl>
                                              <p:pRg st="0" end="0"/>
                                            </p:txEl>
                                          </p:spTgt>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9">
                                            <p:txEl>
                                              <p:pRg st="2" end="2"/>
                                            </p:txEl>
                                          </p:spTgt>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419" grpId="0" uiExpand="1" animBg="1"/>
      <p:bldP spid="420" grpId="0" animBg="1"/>
      <p:bldP spid="421" grpId="0" animBg="1"/>
      <p:bldP spid="422" grpId="0" animBg="1"/>
      <p:bldP spid="447" grpId="0"/>
      <p:bldP spid="451" grpId="0"/>
      <p:bldP spid="452" grpId="0"/>
      <p:bldP spid="453" grpId="0"/>
      <p:bldP spid="454" grpId="0"/>
      <p:bldP spid="28"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Isolation vs Durability</a:t>
            </a:r>
          </a:p>
        </p:txBody>
      </p:sp>
      <p:sp>
        <p:nvSpPr>
          <p:cNvPr id="4" name="Slide Number Placeholder 3"/>
          <p:cNvSpPr>
            <a:spLocks noGrp="1"/>
          </p:cNvSpPr>
          <p:nvPr>
            <p:ph type="sldNum" sz="quarter" idx="12"/>
          </p:nvPr>
        </p:nvSpPr>
        <p:spPr/>
        <p:txBody>
          <a:bodyPr/>
          <a:lstStyle/>
          <a:p>
            <a:fld id="{C260D5AD-280D-4F23-8F09-5CDE2943111F}" type="slidenum">
              <a:rPr lang="en-GB" smtClean="0"/>
              <a:pPr/>
              <a:t>9</a:t>
            </a:fld>
            <a:endParaRPr lang="en-GB"/>
          </a:p>
        </p:txBody>
      </p:sp>
      <p:graphicFrame>
        <p:nvGraphicFramePr>
          <p:cNvPr id="5" name="Table 4"/>
          <p:cNvGraphicFramePr>
            <a:graphicFrameLocks noGrp="1"/>
          </p:cNvGraphicFramePr>
          <p:nvPr>
            <p:extLst>
              <p:ext uri="{D42A27DB-BD31-4B8C-83A1-F6EECF244321}">
                <p14:modId xmlns:p14="http://schemas.microsoft.com/office/powerpoint/2010/main" val="3760584977"/>
              </p:ext>
            </p:extLst>
          </p:nvPr>
        </p:nvGraphicFramePr>
        <p:xfrm>
          <a:off x="3322001" y="1815961"/>
          <a:ext cx="5112568" cy="4344480"/>
        </p:xfrm>
        <a:graphic>
          <a:graphicData uri="http://schemas.openxmlformats.org/drawingml/2006/table">
            <a:tbl>
              <a:tblPr firstRow="1" bandRow="1">
                <a:tableStyleId>{B301B821-A1FF-4177-AEE7-76D212191A09}</a:tableStyleId>
              </a:tblPr>
              <a:tblGrid>
                <a:gridCol w="648072">
                  <a:extLst>
                    <a:ext uri="{9D8B030D-6E8A-4147-A177-3AD203B41FA5}">
                      <a16:colId xmlns:a16="http://schemas.microsoft.com/office/drawing/2014/main" val="20000"/>
                    </a:ext>
                  </a:extLst>
                </a:gridCol>
                <a:gridCol w="1692188">
                  <a:extLst>
                    <a:ext uri="{9D8B030D-6E8A-4147-A177-3AD203B41FA5}">
                      <a16:colId xmlns:a16="http://schemas.microsoft.com/office/drawing/2014/main" val="20001"/>
                    </a:ext>
                  </a:extLst>
                </a:gridCol>
                <a:gridCol w="1692188">
                  <a:extLst>
                    <a:ext uri="{9D8B030D-6E8A-4147-A177-3AD203B41FA5}">
                      <a16:colId xmlns:a16="http://schemas.microsoft.com/office/drawing/2014/main" val="20002"/>
                    </a:ext>
                  </a:extLst>
                </a:gridCol>
                <a:gridCol w="540060">
                  <a:extLst>
                    <a:ext uri="{9D8B030D-6E8A-4147-A177-3AD203B41FA5}">
                      <a16:colId xmlns:a16="http://schemas.microsoft.com/office/drawing/2014/main" val="20003"/>
                    </a:ext>
                  </a:extLst>
                </a:gridCol>
                <a:gridCol w="540060">
                  <a:extLst>
                    <a:ext uri="{9D8B030D-6E8A-4147-A177-3AD203B41FA5}">
                      <a16:colId xmlns:a16="http://schemas.microsoft.com/office/drawing/2014/main" val="20004"/>
                    </a:ext>
                  </a:extLst>
                </a:gridCol>
              </a:tblGrid>
              <a:tr h="295200">
                <a:tc>
                  <a:txBody>
                    <a:bodyPr/>
                    <a:lstStyle/>
                    <a:p>
                      <a:r>
                        <a:rPr lang="en-US" sz="1800" dirty="0"/>
                        <a:t>Time</a:t>
                      </a:r>
                    </a:p>
                  </a:txBody>
                  <a:tcPr marL="45720" marR="45720" marT="18000" marB="18000"/>
                </a:tc>
                <a:tc>
                  <a:txBody>
                    <a:bodyPr/>
                    <a:lstStyle/>
                    <a:p>
                      <a:r>
                        <a:rPr lang="en-US" sz="1800" dirty="0"/>
                        <a:t>Transaction T</a:t>
                      </a:r>
                      <a:r>
                        <a:rPr lang="en-US" sz="1800" baseline="-25000" dirty="0"/>
                        <a:t>1</a:t>
                      </a:r>
                    </a:p>
                  </a:txBody>
                  <a:tcPr marL="45720" marR="45720" marT="18000" marB="18000"/>
                </a:tc>
                <a:tc>
                  <a:txBody>
                    <a:bodyPr/>
                    <a:lstStyle/>
                    <a:p>
                      <a:r>
                        <a:rPr lang="en-US" sz="1800" dirty="0"/>
                        <a:t>Transaction T</a:t>
                      </a:r>
                      <a:r>
                        <a:rPr lang="en-US" sz="1800" baseline="-25000" dirty="0"/>
                        <a:t>2</a:t>
                      </a:r>
                      <a:endParaRPr lang="en-US" sz="1800" dirty="0"/>
                    </a:p>
                  </a:txBody>
                  <a:tcPr marL="45720" marR="45720" marT="18000" marB="18000"/>
                </a:tc>
                <a:tc>
                  <a:txBody>
                    <a:bodyPr/>
                    <a:lstStyle/>
                    <a:p>
                      <a:r>
                        <a:rPr lang="en-US" sz="1800" dirty="0"/>
                        <a:t>X</a:t>
                      </a:r>
                    </a:p>
                  </a:txBody>
                  <a:tcPr marL="45720" marR="45720" marT="18000" marB="18000"/>
                </a:tc>
                <a:tc>
                  <a:txBody>
                    <a:bodyPr/>
                    <a:lstStyle/>
                    <a:p>
                      <a:r>
                        <a:rPr lang="en-US" sz="1800" dirty="0"/>
                        <a:t>Y</a:t>
                      </a:r>
                    </a:p>
                  </a:txBody>
                  <a:tcPr marL="45720" marR="45720" marT="18000" marB="18000"/>
                </a:tc>
                <a:extLst>
                  <a:ext uri="{0D108BD9-81ED-4DB2-BD59-A6C34878D82A}">
                    <a16:rowId xmlns:a16="http://schemas.microsoft.com/office/drawing/2014/main" val="10000"/>
                  </a:ext>
                </a:extLst>
              </a:tr>
              <a:tr h="295200">
                <a:tc>
                  <a:txBody>
                    <a:bodyPr/>
                    <a:lstStyle/>
                    <a:p>
                      <a:r>
                        <a:rPr lang="en-US" sz="1800" dirty="0"/>
                        <a:t>0</a:t>
                      </a:r>
                      <a:endParaRPr lang="en-US" sz="1800" baseline="-25000" dirty="0"/>
                    </a:p>
                  </a:txBody>
                  <a:tcPr marL="45720" marR="45720" marT="18000" marB="18000"/>
                </a:tc>
                <a:tc>
                  <a:txBody>
                    <a:bodyPr/>
                    <a:lstStyle/>
                    <a:p>
                      <a:r>
                        <a:rPr lang="en-US" sz="1800" dirty="0"/>
                        <a:t>lock(X)</a:t>
                      </a:r>
                    </a:p>
                  </a:txBody>
                  <a:tcPr marL="45720" marR="45720" marT="18000" marB="18000"/>
                </a:tc>
                <a:tc>
                  <a:txBody>
                    <a:bodyPr/>
                    <a:lstStyle/>
                    <a:p>
                      <a:endParaRPr lang="en-US" sz="1800" dirty="0"/>
                    </a:p>
                  </a:txBody>
                  <a:tcPr marL="45720" marR="45720" marT="18000" marB="18000"/>
                </a:tc>
                <a:tc>
                  <a:txBody>
                    <a:bodyPr/>
                    <a:lstStyle/>
                    <a:p>
                      <a:r>
                        <a:rPr lang="en-US" sz="1800" dirty="0"/>
                        <a:t>1</a:t>
                      </a:r>
                    </a:p>
                  </a:txBody>
                  <a:tcPr marL="45720" marR="45720" marT="18000" marB="18000"/>
                </a:tc>
                <a:tc>
                  <a:txBody>
                    <a:bodyPr/>
                    <a:lstStyle/>
                    <a:p>
                      <a:r>
                        <a:rPr lang="en-US" sz="1800" dirty="0"/>
                        <a:t>2</a:t>
                      </a:r>
                    </a:p>
                  </a:txBody>
                  <a:tcPr marL="45720" marR="45720" marT="18000" marB="18000"/>
                </a:tc>
                <a:extLst>
                  <a:ext uri="{0D108BD9-81ED-4DB2-BD59-A6C34878D82A}">
                    <a16:rowId xmlns:a16="http://schemas.microsoft.com/office/drawing/2014/main" val="10001"/>
                  </a:ext>
                </a:extLst>
              </a:tr>
              <a:tr h="295200">
                <a:tc>
                  <a:txBody>
                    <a:bodyPr/>
                    <a:lstStyle/>
                    <a:p>
                      <a:r>
                        <a:rPr lang="en-US" sz="1800" dirty="0"/>
                        <a:t>1</a:t>
                      </a:r>
                    </a:p>
                  </a:txBody>
                  <a:tcPr marL="45720" marR="45720" marT="18000" marB="18000"/>
                </a:tc>
                <a:tc>
                  <a:txBody>
                    <a:bodyPr/>
                    <a:lstStyle/>
                    <a:p>
                      <a:r>
                        <a:rPr lang="en-US" sz="1800" dirty="0" err="1"/>
                        <a:t>read_item</a:t>
                      </a:r>
                      <a:r>
                        <a:rPr lang="en-US" sz="1800" dirty="0"/>
                        <a:t>(X)</a:t>
                      </a:r>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02"/>
                  </a:ext>
                </a:extLst>
              </a:tr>
              <a:tr h="295200">
                <a:tc>
                  <a:txBody>
                    <a:bodyPr/>
                    <a:lstStyle/>
                    <a:p>
                      <a:r>
                        <a:rPr lang="en-US" sz="1800" dirty="0"/>
                        <a:t>2</a:t>
                      </a:r>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X := X +</a:t>
                      </a:r>
                      <a:r>
                        <a:rPr lang="en-US" sz="1800" baseline="0" dirty="0"/>
                        <a:t> 100</a:t>
                      </a:r>
                      <a:endParaRPr lang="en-US" sz="1800" i="1" dirty="0"/>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101</a:t>
                      </a:r>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45720" marR="45720" marT="18000" marB="18000"/>
                </a:tc>
                <a:extLst>
                  <a:ext uri="{0D108BD9-81ED-4DB2-BD59-A6C34878D82A}">
                    <a16:rowId xmlns:a16="http://schemas.microsoft.com/office/drawing/2014/main" val="10003"/>
                  </a:ext>
                </a:extLst>
              </a:tr>
              <a:tr h="295200">
                <a:tc>
                  <a:txBody>
                    <a:bodyPr/>
                    <a:lstStyle/>
                    <a:p>
                      <a:r>
                        <a:rPr lang="en-US" sz="1800" dirty="0"/>
                        <a:t>3</a:t>
                      </a:r>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dirty="0" err="1"/>
                        <a:t>write_item</a:t>
                      </a:r>
                      <a:r>
                        <a:rPr lang="en-GB" sz="1800" dirty="0"/>
                        <a:t>(X)</a:t>
                      </a:r>
                      <a:endParaRPr lang="en-US" sz="1800" dirty="0"/>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45720" marR="45720" marT="18000" marB="1800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marL="45720" marR="45720" marT="18000" marB="18000"/>
                </a:tc>
                <a:extLst>
                  <a:ext uri="{0D108BD9-81ED-4DB2-BD59-A6C34878D82A}">
                    <a16:rowId xmlns:a16="http://schemas.microsoft.com/office/drawing/2014/main" val="10004"/>
                  </a:ext>
                </a:extLst>
              </a:tr>
              <a:tr h="295200">
                <a:tc>
                  <a:txBody>
                    <a:bodyPr/>
                    <a:lstStyle/>
                    <a:p>
                      <a:r>
                        <a:rPr lang="en-US" sz="1800" dirty="0"/>
                        <a:t>4</a:t>
                      </a:r>
                    </a:p>
                  </a:txBody>
                  <a:tcPr marL="45720" marR="45720" marT="18000" marB="18000"/>
                </a:tc>
                <a:tc>
                  <a:txBody>
                    <a:bodyPr/>
                    <a:lstStyle/>
                    <a:p>
                      <a:r>
                        <a:rPr lang="en-US" sz="1800" dirty="0"/>
                        <a:t>lock(Y)</a:t>
                      </a:r>
                    </a:p>
                  </a:txBody>
                  <a:tcPr marL="45720" marR="45720" marT="18000" marB="18000"/>
                </a:tc>
                <a:tc>
                  <a:txBody>
                    <a:bodyPr/>
                    <a:lstStyle/>
                    <a:p>
                      <a:endParaRPr lang="en-US" sz="1800" i="1" dirty="0"/>
                    </a:p>
                  </a:txBody>
                  <a:tcPr marL="45720" marR="45720" marT="18000" marB="18000"/>
                </a:tc>
                <a:tc>
                  <a:txBody>
                    <a:bodyPr/>
                    <a:lstStyle/>
                    <a:p>
                      <a:endParaRPr lang="en-US" sz="1800" i="1" dirty="0"/>
                    </a:p>
                  </a:txBody>
                  <a:tcPr marL="45720" marR="45720" marT="18000" marB="18000"/>
                </a:tc>
                <a:tc>
                  <a:txBody>
                    <a:bodyPr/>
                    <a:lstStyle/>
                    <a:p>
                      <a:endParaRPr lang="en-US" sz="1800" i="1" dirty="0"/>
                    </a:p>
                  </a:txBody>
                  <a:tcPr marL="45720" marR="45720" marT="18000" marB="18000"/>
                </a:tc>
                <a:extLst>
                  <a:ext uri="{0D108BD9-81ED-4DB2-BD59-A6C34878D82A}">
                    <a16:rowId xmlns:a16="http://schemas.microsoft.com/office/drawing/2014/main" val="10005"/>
                  </a:ext>
                </a:extLst>
              </a:tr>
              <a:tr h="295200">
                <a:tc>
                  <a:txBody>
                    <a:bodyPr/>
                    <a:lstStyle/>
                    <a:p>
                      <a:r>
                        <a:rPr lang="en-US" sz="1800" dirty="0"/>
                        <a:t>5</a:t>
                      </a:r>
                    </a:p>
                  </a:txBody>
                  <a:tcPr marL="45720" marR="45720" marT="18000" marB="18000"/>
                </a:tc>
                <a:tc>
                  <a:txBody>
                    <a:bodyPr/>
                    <a:lstStyle/>
                    <a:p>
                      <a:r>
                        <a:rPr lang="en-US" sz="1800" dirty="0"/>
                        <a:t>unlock(X)</a:t>
                      </a:r>
                    </a:p>
                  </a:txBody>
                  <a:tcPr marL="45720" marR="45720" marT="18000" marB="18000"/>
                </a:tc>
                <a:tc>
                  <a:txBody>
                    <a:bodyPr/>
                    <a:lstStyle/>
                    <a:p>
                      <a:endParaRPr lang="en-US" sz="1800" i="1" dirty="0"/>
                    </a:p>
                  </a:txBody>
                  <a:tcPr marL="45720" marR="45720" marT="18000" marB="18000"/>
                </a:tc>
                <a:tc>
                  <a:txBody>
                    <a:bodyPr/>
                    <a:lstStyle/>
                    <a:p>
                      <a:endParaRPr lang="en-US" sz="1800" i="1" dirty="0"/>
                    </a:p>
                  </a:txBody>
                  <a:tcPr marL="45720" marR="45720" marT="18000" marB="18000"/>
                </a:tc>
                <a:tc>
                  <a:txBody>
                    <a:bodyPr/>
                    <a:lstStyle/>
                    <a:p>
                      <a:endParaRPr lang="en-US" sz="1800" i="1" dirty="0"/>
                    </a:p>
                  </a:txBody>
                  <a:tcPr marL="45720" marR="45720" marT="18000" marB="18000"/>
                </a:tc>
                <a:extLst>
                  <a:ext uri="{0D108BD9-81ED-4DB2-BD59-A6C34878D82A}">
                    <a16:rowId xmlns:a16="http://schemas.microsoft.com/office/drawing/2014/main" val="10006"/>
                  </a:ext>
                </a:extLst>
              </a:tr>
              <a:tr h="295200">
                <a:tc>
                  <a:txBody>
                    <a:bodyPr/>
                    <a:lstStyle/>
                    <a:p>
                      <a:r>
                        <a:rPr lang="en-US" sz="1800" dirty="0"/>
                        <a:t>6</a:t>
                      </a:r>
                    </a:p>
                  </a:txBody>
                  <a:tcPr marL="45720" marR="45720" marT="18000" marB="18000"/>
                </a:tc>
                <a:tc>
                  <a:txBody>
                    <a:bodyPr/>
                    <a:lstStyle/>
                    <a:p>
                      <a:endParaRPr lang="en-US" sz="1800" dirty="0"/>
                    </a:p>
                  </a:txBody>
                  <a:tcPr marL="45720" marR="45720" marT="18000" marB="18000"/>
                </a:tc>
                <a:tc>
                  <a:txBody>
                    <a:bodyPr/>
                    <a:lstStyle/>
                    <a:p>
                      <a:pPr algn="l"/>
                      <a:r>
                        <a:rPr lang="en-US" sz="1800" i="0" dirty="0"/>
                        <a:t>lock(X)</a:t>
                      </a:r>
                    </a:p>
                  </a:txBody>
                  <a:tcPr marL="45720" marR="45720" marT="18000" marB="18000"/>
                </a:tc>
                <a:tc>
                  <a:txBody>
                    <a:bodyPr/>
                    <a:lstStyle/>
                    <a:p>
                      <a:pPr algn="l"/>
                      <a:endParaRPr lang="en-US" sz="1800" i="0" dirty="0"/>
                    </a:p>
                  </a:txBody>
                  <a:tcPr marL="45720" marR="45720" marT="18000" marB="18000"/>
                </a:tc>
                <a:tc>
                  <a:txBody>
                    <a:bodyPr/>
                    <a:lstStyle/>
                    <a:p>
                      <a:pPr algn="l"/>
                      <a:endParaRPr lang="en-US" sz="1800" i="0" dirty="0"/>
                    </a:p>
                  </a:txBody>
                  <a:tcPr marL="45720" marR="45720" marT="18000" marB="18000"/>
                </a:tc>
                <a:extLst>
                  <a:ext uri="{0D108BD9-81ED-4DB2-BD59-A6C34878D82A}">
                    <a16:rowId xmlns:a16="http://schemas.microsoft.com/office/drawing/2014/main" val="10007"/>
                  </a:ext>
                </a:extLst>
              </a:tr>
              <a:tr h="295200">
                <a:tc>
                  <a:txBody>
                    <a:bodyPr/>
                    <a:lstStyle/>
                    <a:p>
                      <a:r>
                        <a:rPr lang="en-US" sz="1800" dirty="0"/>
                        <a:t>7</a:t>
                      </a:r>
                    </a:p>
                  </a:txBody>
                  <a:tcPr marL="45720" marR="45720" marT="18000" marB="18000"/>
                </a:tc>
                <a:tc>
                  <a:txBody>
                    <a:bodyPr/>
                    <a:lstStyle/>
                    <a:p>
                      <a:endParaRPr lang="en-US" sz="1800" dirty="0"/>
                    </a:p>
                  </a:txBody>
                  <a:tcPr marL="45720" marR="45720" marT="18000" marB="18000"/>
                </a:tc>
                <a:tc>
                  <a:txBody>
                    <a:bodyPr/>
                    <a:lstStyle/>
                    <a:p>
                      <a:r>
                        <a:rPr lang="en-GB" sz="1800" dirty="0" err="1"/>
                        <a:t>read_item</a:t>
                      </a:r>
                      <a:r>
                        <a:rPr lang="en-GB" sz="1800" dirty="0"/>
                        <a:t>(X)</a:t>
                      </a:r>
                      <a:endParaRPr lang="en-US" sz="1800" i="1" dirty="0"/>
                    </a:p>
                  </a:txBody>
                  <a:tcPr marL="45720" marR="45720" marT="18000" marB="18000"/>
                </a:tc>
                <a:tc>
                  <a:txBody>
                    <a:bodyPr/>
                    <a:lstStyle/>
                    <a:p>
                      <a:endParaRPr lang="en-US" sz="1800" i="1" dirty="0"/>
                    </a:p>
                  </a:txBody>
                  <a:tcPr marL="45720" marR="45720" marT="18000" marB="18000"/>
                </a:tc>
                <a:tc>
                  <a:txBody>
                    <a:bodyPr/>
                    <a:lstStyle/>
                    <a:p>
                      <a:endParaRPr lang="en-US" sz="1800" i="1" dirty="0"/>
                    </a:p>
                  </a:txBody>
                  <a:tcPr marL="45720" marR="45720" marT="18000" marB="18000"/>
                </a:tc>
                <a:extLst>
                  <a:ext uri="{0D108BD9-81ED-4DB2-BD59-A6C34878D82A}">
                    <a16:rowId xmlns:a16="http://schemas.microsoft.com/office/drawing/2014/main" val="10008"/>
                  </a:ext>
                </a:extLst>
              </a:tr>
              <a:tr h="295200">
                <a:tc>
                  <a:txBody>
                    <a:bodyPr/>
                    <a:lstStyle/>
                    <a:p>
                      <a:r>
                        <a:rPr lang="en-US" sz="1800" dirty="0"/>
                        <a:t>8</a:t>
                      </a:r>
                    </a:p>
                  </a:txBody>
                  <a:tcPr marL="45720" marR="45720" marT="18000" marB="18000"/>
                </a:tc>
                <a:tc>
                  <a:txBody>
                    <a:bodyPr/>
                    <a:lstStyle/>
                    <a:p>
                      <a:endParaRPr lang="en-US" sz="1800" dirty="0"/>
                    </a:p>
                  </a:txBody>
                  <a:tcPr marL="45720" marR="45720" marT="18000" marB="18000"/>
                </a:tc>
                <a:tc>
                  <a:txBody>
                    <a:bodyPr/>
                    <a:lstStyle/>
                    <a:p>
                      <a:r>
                        <a:rPr lang="en-GB" sz="1800" dirty="0"/>
                        <a:t>X := X *</a:t>
                      </a:r>
                      <a:r>
                        <a:rPr lang="en-GB" sz="1800" baseline="0" dirty="0"/>
                        <a:t> 2</a:t>
                      </a:r>
                      <a:endParaRPr lang="en-US" sz="1800" dirty="0"/>
                    </a:p>
                  </a:txBody>
                  <a:tcPr marL="45720" marR="45720" marT="18000" marB="18000"/>
                </a:tc>
                <a:tc>
                  <a:txBody>
                    <a:bodyPr/>
                    <a:lstStyle/>
                    <a:p>
                      <a:r>
                        <a:rPr lang="en-US" sz="1800" dirty="0"/>
                        <a:t>202</a:t>
                      </a:r>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09"/>
                  </a:ext>
                </a:extLst>
              </a:tr>
              <a:tr h="295200">
                <a:tc>
                  <a:txBody>
                    <a:bodyPr/>
                    <a:lstStyle/>
                    <a:p>
                      <a:r>
                        <a:rPr lang="en-US" sz="1800" dirty="0"/>
                        <a:t>9</a:t>
                      </a:r>
                    </a:p>
                  </a:txBody>
                  <a:tcPr marL="45720" marR="45720" marT="18000" marB="18000"/>
                </a:tc>
                <a:tc>
                  <a:txBody>
                    <a:bodyPr/>
                    <a:lstStyle/>
                    <a:p>
                      <a:endParaRPr lang="en-US" sz="1800" dirty="0"/>
                    </a:p>
                  </a:txBody>
                  <a:tcPr marL="45720" marR="45720" marT="18000" marB="18000"/>
                </a:tc>
                <a:tc>
                  <a:txBody>
                    <a:bodyPr/>
                    <a:lstStyle/>
                    <a:p>
                      <a:r>
                        <a:rPr lang="en-GB" sz="1800" dirty="0" err="1"/>
                        <a:t>write_item</a:t>
                      </a:r>
                      <a:r>
                        <a:rPr lang="en-GB" sz="1800" dirty="0"/>
                        <a:t>(X)</a:t>
                      </a:r>
                      <a:endParaRPr lang="en-US" sz="180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10"/>
                  </a:ext>
                </a:extLst>
              </a:tr>
              <a:tr h="295200">
                <a:tc>
                  <a:txBody>
                    <a:bodyPr/>
                    <a:lstStyle/>
                    <a:p>
                      <a:r>
                        <a:rPr lang="en-US" sz="1800" dirty="0"/>
                        <a:t>10</a:t>
                      </a:r>
                    </a:p>
                  </a:txBody>
                  <a:tcPr marL="45720" marR="45720" marT="18000" marB="18000"/>
                </a:tc>
                <a:tc>
                  <a:txBody>
                    <a:bodyPr/>
                    <a:lstStyle/>
                    <a:p>
                      <a:endParaRPr lang="en-US" sz="1800"/>
                    </a:p>
                  </a:txBody>
                  <a:tcPr marL="45720" marR="45720" marT="18000" marB="18000"/>
                </a:tc>
                <a:tc>
                  <a:txBody>
                    <a:bodyPr/>
                    <a:lstStyle/>
                    <a:p>
                      <a:r>
                        <a:rPr lang="en-US" sz="1800" b="1" dirty="0"/>
                        <a:t>commit</a:t>
                      </a:r>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11"/>
                  </a:ext>
                </a:extLst>
              </a:tr>
              <a:tr h="295200">
                <a:tc>
                  <a:txBody>
                    <a:bodyPr/>
                    <a:lstStyle/>
                    <a:p>
                      <a:r>
                        <a:rPr lang="en-US" sz="1800" dirty="0"/>
                        <a:t>11</a:t>
                      </a:r>
                    </a:p>
                  </a:txBody>
                  <a:tcPr marL="45720" marR="45720" marT="18000" marB="18000"/>
                </a:tc>
                <a:tc>
                  <a:txBody>
                    <a:bodyPr/>
                    <a:lstStyle/>
                    <a:p>
                      <a:r>
                        <a:rPr lang="en-GB" sz="1800" dirty="0" err="1"/>
                        <a:t>read_item</a:t>
                      </a:r>
                      <a:r>
                        <a:rPr lang="en-GB" sz="1800" dirty="0"/>
                        <a:t>(Y)</a:t>
                      </a:r>
                      <a:endParaRPr lang="en-US" sz="180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12"/>
                  </a:ext>
                </a:extLst>
              </a:tr>
              <a:tr h="295200">
                <a:tc>
                  <a:txBody>
                    <a:bodyPr/>
                    <a:lstStyle/>
                    <a:p>
                      <a:r>
                        <a:rPr lang="en-US" sz="1800" dirty="0"/>
                        <a:t>12</a:t>
                      </a:r>
                    </a:p>
                  </a:txBody>
                  <a:tcPr marL="45720" marR="45720" marT="18000" marB="18000"/>
                </a:tc>
                <a:tc>
                  <a:txBody>
                    <a:bodyPr/>
                    <a:lstStyle/>
                    <a:p>
                      <a:r>
                        <a:rPr lang="en-US" sz="1800" b="1" dirty="0"/>
                        <a:t>abort</a:t>
                      </a:r>
                      <a:endParaRPr lang="en-US" sz="1800" b="1" i="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tc>
                  <a:txBody>
                    <a:bodyPr/>
                    <a:lstStyle/>
                    <a:p>
                      <a:endParaRPr lang="en-US" sz="1800" dirty="0"/>
                    </a:p>
                  </a:txBody>
                  <a:tcPr marL="45720" marR="45720" marT="18000" marB="18000"/>
                </a:tc>
                <a:extLst>
                  <a:ext uri="{0D108BD9-81ED-4DB2-BD59-A6C34878D82A}">
                    <a16:rowId xmlns:a16="http://schemas.microsoft.com/office/drawing/2014/main" val="10013"/>
                  </a:ext>
                </a:extLst>
              </a:tr>
            </a:tbl>
          </a:graphicData>
        </a:graphic>
      </p:graphicFrame>
      <p:sp>
        <p:nvSpPr>
          <p:cNvPr id="6" name="Rounded Rectangular Callout 28">
            <a:extLst>
              <a:ext uri="{FF2B5EF4-FFF2-40B4-BE49-F238E27FC236}">
                <a16:creationId xmlns:a16="http://schemas.microsoft.com/office/drawing/2014/main" id="{37E9A666-0659-46AE-A5F4-284CD615EEA4}"/>
              </a:ext>
            </a:extLst>
          </p:cNvPr>
          <p:cNvSpPr/>
          <p:nvPr/>
        </p:nvSpPr>
        <p:spPr>
          <a:xfrm>
            <a:off x="7926958" y="2787542"/>
            <a:ext cx="4265042" cy="1738718"/>
          </a:xfrm>
          <a:prstGeom prst="wedgeRoundRectCallout">
            <a:avLst>
              <a:gd name="adj1" fmla="val -77088"/>
              <a:gd name="adj2" fmla="val 3138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If we do </a:t>
            </a:r>
            <a:r>
              <a:rPr lang="en-US" sz="2000" b="1" dirty="0"/>
              <a:t>not abort</a:t>
            </a:r>
            <a:r>
              <a:rPr lang="en-US" sz="2000" dirty="0"/>
              <a:t> T</a:t>
            </a:r>
            <a:r>
              <a:rPr lang="en-US" sz="2000" baseline="-25000" dirty="0"/>
              <a:t>2</a:t>
            </a:r>
            <a:r>
              <a:rPr lang="en-US" sz="2000" dirty="0"/>
              <a:t>: </a:t>
            </a:r>
            <a:br>
              <a:rPr lang="en-US" sz="2000" dirty="0"/>
            </a:br>
            <a:r>
              <a:rPr lang="en-US" sz="2000" dirty="0"/>
              <a:t>	Break Isolation</a:t>
            </a:r>
          </a:p>
          <a:p>
            <a:r>
              <a:rPr lang="en-US" sz="2000" dirty="0"/>
              <a:t>	(Inconsistent with what abort 	should do)</a:t>
            </a:r>
          </a:p>
          <a:p>
            <a:r>
              <a:rPr lang="en-US" sz="2000" dirty="0"/>
              <a:t>If we do </a:t>
            </a:r>
            <a:r>
              <a:rPr lang="en-US" sz="2000" b="1" dirty="0"/>
              <a:t>abort</a:t>
            </a:r>
            <a:r>
              <a:rPr lang="en-US" sz="2000" dirty="0"/>
              <a:t> T</a:t>
            </a:r>
            <a:r>
              <a:rPr lang="en-US" sz="2000" baseline="-25000" dirty="0"/>
              <a:t>2</a:t>
            </a:r>
            <a:r>
              <a:rPr lang="en-US" sz="2000" dirty="0"/>
              <a:t>:</a:t>
            </a:r>
          </a:p>
          <a:p>
            <a:r>
              <a:rPr lang="en-US" sz="2000" dirty="0"/>
              <a:t>	Can break Durability</a:t>
            </a:r>
          </a:p>
        </p:txBody>
      </p:sp>
    </p:spTree>
    <p:custDataLst>
      <p:tags r:id="rId1"/>
    </p:custDataLst>
    <p:extLst>
      <p:ext uri="{BB962C8B-B14F-4D97-AF65-F5344CB8AC3E}">
        <p14:creationId xmlns:p14="http://schemas.microsoft.com/office/powerpoint/2010/main" val="63329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 presetClass="entr" presetSubtype="0" fill="hold"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Recoverable Schedules</a:t>
            </a:r>
          </a:p>
        </p:txBody>
      </p:sp>
      <p:sp>
        <p:nvSpPr>
          <p:cNvPr id="3" name="Content Placeholder 2"/>
          <p:cNvSpPr>
            <a:spLocks noGrp="1"/>
          </p:cNvSpPr>
          <p:nvPr>
            <p:ph idx="1"/>
          </p:nvPr>
        </p:nvSpPr>
        <p:spPr/>
        <p:txBody>
          <a:bodyPr/>
          <a:lstStyle/>
          <a:p>
            <a:r>
              <a:rPr lang="en-US" dirty="0"/>
              <a:t>The problem for Durability in regards to cascading rollbacks occur because a transaction T</a:t>
            </a:r>
            <a:r>
              <a:rPr lang="en-US" baseline="-25000" dirty="0"/>
              <a:t>2</a:t>
            </a:r>
            <a:r>
              <a:rPr lang="en-US" dirty="0"/>
              <a:t> reads data from some transaction T</a:t>
            </a:r>
            <a:r>
              <a:rPr lang="en-US" baseline="-25000" dirty="0"/>
              <a:t>1</a:t>
            </a:r>
            <a:r>
              <a:rPr lang="en-US" dirty="0"/>
              <a:t>, then T</a:t>
            </a:r>
            <a:r>
              <a:rPr lang="en-US" baseline="-25000" dirty="0"/>
              <a:t>2</a:t>
            </a:r>
            <a:r>
              <a:rPr lang="en-US" dirty="0"/>
              <a:t> commits and afterwards T</a:t>
            </a:r>
            <a:r>
              <a:rPr lang="en-US" baseline="-25000" dirty="0"/>
              <a:t>1</a:t>
            </a:r>
            <a:r>
              <a:rPr lang="en-US" dirty="0"/>
              <a:t> aborts.</a:t>
            </a:r>
          </a:p>
          <a:p>
            <a:pPr>
              <a:spcBef>
                <a:spcPts val="1872"/>
              </a:spcBef>
            </a:pPr>
            <a:r>
              <a:rPr lang="en-US" dirty="0"/>
              <a:t>A schedule S is </a:t>
            </a:r>
            <a:r>
              <a:rPr lang="en-US" b="1" dirty="0">
                <a:solidFill>
                  <a:schemeClr val="accent2"/>
                </a:solidFill>
              </a:rPr>
              <a:t>recoverable</a:t>
            </a:r>
            <a:r>
              <a:rPr lang="en-US" dirty="0">
                <a:solidFill>
                  <a:schemeClr val="accent2"/>
                </a:solidFill>
              </a:rPr>
              <a:t> </a:t>
            </a:r>
            <a:r>
              <a:rPr lang="en-US" dirty="0"/>
              <a:t>if the following is true:</a:t>
            </a:r>
          </a:p>
          <a:p>
            <a:pPr lvl="1"/>
            <a:r>
              <a:rPr lang="en-US" dirty="0"/>
              <a:t>if a transaction T</a:t>
            </a:r>
            <a:r>
              <a:rPr lang="en-US" baseline="-25000" dirty="0"/>
              <a:t>1</a:t>
            </a:r>
            <a:r>
              <a:rPr lang="en-US" dirty="0"/>
              <a:t> </a:t>
            </a:r>
            <a:r>
              <a:rPr lang="en-GB" dirty="0"/>
              <a:t>commits and has </a:t>
            </a:r>
            <a:r>
              <a:rPr lang="en-US" dirty="0"/>
              <a:t>read an item X that was written before by a different transaction T</a:t>
            </a:r>
            <a:r>
              <a:rPr lang="en-US" baseline="-25000" dirty="0"/>
              <a:t>2</a:t>
            </a:r>
            <a:r>
              <a:rPr lang="en-GB" dirty="0"/>
              <a:t>, </a:t>
            </a:r>
            <a:r>
              <a:rPr lang="mr-IN" dirty="0"/>
              <a:t>…</a:t>
            </a:r>
            <a:endParaRPr lang="en-GB" dirty="0"/>
          </a:p>
          <a:p>
            <a:pPr lvl="1"/>
            <a:r>
              <a:rPr lang="en-GB" dirty="0"/>
              <a:t>then </a:t>
            </a:r>
            <a:r>
              <a:rPr lang="en-GB" b="1" dirty="0"/>
              <a:t>T</a:t>
            </a:r>
            <a:r>
              <a:rPr lang="en-US" b="1" baseline="-25000" dirty="0"/>
              <a:t>2</a:t>
            </a:r>
            <a:r>
              <a:rPr lang="en-US" b="1" dirty="0"/>
              <a:t> must commit before T</a:t>
            </a:r>
            <a:r>
              <a:rPr lang="en-US" b="1" baseline="-25000" dirty="0"/>
              <a:t>1</a:t>
            </a:r>
            <a:r>
              <a:rPr lang="en-US" b="1" dirty="0"/>
              <a:t> commits</a:t>
            </a:r>
            <a:r>
              <a:rPr lang="en-US" dirty="0"/>
              <a:t>.</a:t>
            </a:r>
          </a:p>
        </p:txBody>
      </p:sp>
      <p:sp>
        <p:nvSpPr>
          <p:cNvPr id="4" name="Slide Number Placeholder 3"/>
          <p:cNvSpPr>
            <a:spLocks noGrp="1"/>
          </p:cNvSpPr>
          <p:nvPr>
            <p:ph type="sldNum" sz="quarter" idx="12"/>
          </p:nvPr>
        </p:nvSpPr>
        <p:spPr/>
        <p:txBody>
          <a:bodyPr/>
          <a:lstStyle/>
          <a:p>
            <a:fld id="{C260D5AD-280D-4F23-8F09-5CDE2943111F}" type="slidenum">
              <a:rPr lang="en-GB" smtClean="0"/>
              <a:pPr/>
              <a:t>10</a:t>
            </a:fld>
            <a:endParaRPr lang="en-GB"/>
          </a:p>
        </p:txBody>
      </p:sp>
      <p:cxnSp>
        <p:nvCxnSpPr>
          <p:cNvPr id="8" name="Straight Arrow Connector 7"/>
          <p:cNvCxnSpPr/>
          <p:nvPr/>
        </p:nvCxnSpPr>
        <p:spPr>
          <a:xfrm>
            <a:off x="2930219" y="5403616"/>
            <a:ext cx="640871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8870879" y="5403616"/>
            <a:ext cx="0" cy="36004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34455" y="5787827"/>
            <a:ext cx="1272849" cy="369332"/>
          </a:xfrm>
          <a:prstGeom prst="rect">
            <a:avLst/>
          </a:prstGeom>
          <a:noFill/>
        </p:spPr>
        <p:txBody>
          <a:bodyPr wrap="none" rtlCol="0">
            <a:spAutoFit/>
          </a:bodyPr>
          <a:lstStyle/>
          <a:p>
            <a:r>
              <a:rPr lang="en-US" dirty="0"/>
              <a:t>T</a:t>
            </a:r>
            <a:r>
              <a:rPr lang="en-US" baseline="-25000" dirty="0"/>
              <a:t>1</a:t>
            </a:r>
            <a:r>
              <a:rPr lang="en-US" dirty="0"/>
              <a:t> commits</a:t>
            </a:r>
          </a:p>
        </p:txBody>
      </p:sp>
      <p:cxnSp>
        <p:nvCxnSpPr>
          <p:cNvPr id="12" name="Straight Connector 11"/>
          <p:cNvCxnSpPr/>
          <p:nvPr/>
        </p:nvCxnSpPr>
        <p:spPr>
          <a:xfrm>
            <a:off x="6626984" y="5403616"/>
            <a:ext cx="0" cy="36004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93725" y="5792143"/>
            <a:ext cx="1272849" cy="369332"/>
          </a:xfrm>
          <a:prstGeom prst="rect">
            <a:avLst/>
          </a:prstGeom>
          <a:noFill/>
        </p:spPr>
        <p:txBody>
          <a:bodyPr wrap="none" rtlCol="0">
            <a:spAutoFit/>
          </a:bodyPr>
          <a:lstStyle/>
          <a:p>
            <a:r>
              <a:rPr lang="en-US" b="1" dirty="0"/>
              <a:t>T</a:t>
            </a:r>
            <a:r>
              <a:rPr lang="en-US" b="1" baseline="-25000" dirty="0"/>
              <a:t>2</a:t>
            </a:r>
            <a:r>
              <a:rPr lang="en-US" b="1" dirty="0"/>
              <a:t> commits</a:t>
            </a:r>
          </a:p>
        </p:txBody>
      </p:sp>
      <p:cxnSp>
        <p:nvCxnSpPr>
          <p:cNvPr id="14" name="Straight Connector 13"/>
          <p:cNvCxnSpPr/>
          <p:nvPr/>
        </p:nvCxnSpPr>
        <p:spPr>
          <a:xfrm>
            <a:off x="5330840" y="5416180"/>
            <a:ext cx="0" cy="36004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772739" y="5792143"/>
            <a:ext cx="1116203" cy="369332"/>
          </a:xfrm>
          <a:prstGeom prst="rect">
            <a:avLst/>
          </a:prstGeom>
          <a:noFill/>
        </p:spPr>
        <p:txBody>
          <a:bodyPr wrap="none" rtlCol="0">
            <a:spAutoFit/>
          </a:bodyPr>
          <a:lstStyle/>
          <a:p>
            <a:r>
              <a:rPr lang="en-US" dirty="0"/>
              <a:t>T</a:t>
            </a:r>
            <a:r>
              <a:rPr lang="en-US" baseline="-25000" dirty="0"/>
              <a:t>1</a:t>
            </a:r>
            <a:r>
              <a:rPr lang="en-US" dirty="0"/>
              <a:t> reads X</a:t>
            </a:r>
          </a:p>
        </p:txBody>
      </p:sp>
      <p:cxnSp>
        <p:nvCxnSpPr>
          <p:cNvPr id="16" name="Straight Connector 15"/>
          <p:cNvCxnSpPr/>
          <p:nvPr/>
        </p:nvCxnSpPr>
        <p:spPr>
          <a:xfrm>
            <a:off x="3847805" y="5438035"/>
            <a:ext cx="0" cy="36004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58093" y="5795972"/>
            <a:ext cx="1179425" cy="369332"/>
          </a:xfrm>
          <a:prstGeom prst="rect">
            <a:avLst/>
          </a:prstGeom>
          <a:noFill/>
        </p:spPr>
        <p:txBody>
          <a:bodyPr wrap="none" rtlCol="0">
            <a:spAutoFit/>
          </a:bodyPr>
          <a:lstStyle/>
          <a:p>
            <a:r>
              <a:rPr lang="en-US" dirty="0"/>
              <a:t>T</a:t>
            </a:r>
            <a:r>
              <a:rPr lang="en-US" baseline="-25000" dirty="0"/>
              <a:t>2</a:t>
            </a:r>
            <a:r>
              <a:rPr lang="en-US" dirty="0"/>
              <a:t> writes X</a:t>
            </a:r>
          </a:p>
        </p:txBody>
      </p:sp>
      <p:sp>
        <p:nvSpPr>
          <p:cNvPr id="18" name="Rectangle 17"/>
          <p:cNvSpPr/>
          <p:nvPr/>
        </p:nvSpPr>
        <p:spPr>
          <a:xfrm>
            <a:off x="2483719" y="5203561"/>
            <a:ext cx="303288" cy="400110"/>
          </a:xfrm>
          <a:prstGeom prst="rect">
            <a:avLst/>
          </a:prstGeom>
        </p:spPr>
        <p:txBody>
          <a:bodyPr wrap="none">
            <a:spAutoFit/>
          </a:bodyPr>
          <a:lstStyle/>
          <a:p>
            <a:r>
              <a:rPr lang="en-GB" sz="2000" dirty="0">
                <a:solidFill>
                  <a:schemeClr val="accent1"/>
                </a:solidFill>
              </a:rPr>
              <a:t>S</a:t>
            </a:r>
            <a:endParaRPr lang="en-US" sz="2000" dirty="0">
              <a:solidFill>
                <a:schemeClr val="accent1"/>
              </a:solidFill>
            </a:endParaRPr>
          </a:p>
        </p:txBody>
      </p:sp>
      <p:sp>
        <p:nvSpPr>
          <p:cNvPr id="19" name="Rounded Rectangular Callout 18"/>
          <p:cNvSpPr/>
          <p:nvPr/>
        </p:nvSpPr>
        <p:spPr>
          <a:xfrm>
            <a:off x="7207062" y="593753"/>
            <a:ext cx="3754760" cy="1001182"/>
          </a:xfrm>
          <a:prstGeom prst="wedgeRoundRectCallout">
            <a:avLst>
              <a:gd name="adj1" fmla="val -64836"/>
              <a:gd name="adj2" fmla="val 32931"/>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t>Can still do cascading rollbacks, but only active transactions can be forced to abort</a:t>
            </a:r>
          </a:p>
        </p:txBody>
      </p:sp>
    </p:spTree>
    <p:custDataLst>
      <p:tags r:id="rId1"/>
    </p:custDataLst>
    <p:extLst>
      <p:ext uri="{BB962C8B-B14F-4D97-AF65-F5344CB8AC3E}">
        <p14:creationId xmlns:p14="http://schemas.microsoft.com/office/powerpoint/2010/main" val="64177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p:bldP spid="13" grpId="0"/>
      <p:bldP spid="15" grpId="0"/>
      <p:bldP spid="17" grpId="0"/>
      <p:bldP spid="18" grpId="0"/>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r>
              <a:rPr lang="en-US" dirty="0"/>
              <a:t>A </a:t>
            </a:r>
            <a:r>
              <a:rPr lang="en-US" b="1" dirty="0"/>
              <a:t>recoverable </a:t>
            </a:r>
            <a:r>
              <a:rPr lang="en-US" dirty="0"/>
              <a:t>schedule:</a:t>
            </a:r>
          </a:p>
          <a:p>
            <a:endParaRPr lang="en-US" dirty="0"/>
          </a:p>
          <a:p>
            <a:endParaRPr lang="en-US" dirty="0"/>
          </a:p>
          <a:p>
            <a:r>
              <a:rPr lang="en-US" dirty="0"/>
              <a:t>A </a:t>
            </a:r>
            <a:r>
              <a:rPr lang="en-US" b="1" dirty="0"/>
              <a:t>non-recoverable</a:t>
            </a:r>
            <a:r>
              <a:rPr lang="en-US" dirty="0"/>
              <a:t> schedule:</a:t>
            </a:r>
          </a:p>
          <a:p>
            <a:endParaRPr lang="en-US" dirty="0"/>
          </a:p>
          <a:p>
            <a:endParaRPr lang="en-US" dirty="0"/>
          </a:p>
          <a:p>
            <a:r>
              <a:rPr lang="en-US" dirty="0"/>
              <a:t>Note: </a:t>
            </a:r>
          </a:p>
          <a:p>
            <a:pPr lvl="1"/>
            <a:r>
              <a:rPr lang="en-US" dirty="0"/>
              <a:t>S</a:t>
            </a:r>
            <a:r>
              <a:rPr lang="en-US" baseline="-25000" dirty="0"/>
              <a:t>1</a:t>
            </a:r>
            <a:r>
              <a:rPr lang="en-US" dirty="0"/>
              <a:t> is </a:t>
            </a:r>
            <a:r>
              <a:rPr lang="en-US" i="1" dirty="0"/>
              <a:t>not</a:t>
            </a:r>
            <a:r>
              <a:rPr lang="en-US" b="1" dirty="0"/>
              <a:t> </a:t>
            </a:r>
            <a:r>
              <a:rPr lang="en-US" dirty="0" err="1"/>
              <a:t>serialisable</a:t>
            </a:r>
            <a:r>
              <a:rPr lang="en-US" dirty="0"/>
              <a:t>.</a:t>
            </a:r>
          </a:p>
          <a:p>
            <a:pPr lvl="1"/>
            <a:r>
              <a:rPr lang="en-US" dirty="0"/>
              <a:t>S</a:t>
            </a:r>
            <a:r>
              <a:rPr lang="en-US" baseline="-25000" dirty="0"/>
              <a:t>2</a:t>
            </a:r>
            <a:r>
              <a:rPr lang="en-US" dirty="0"/>
              <a:t> is </a:t>
            </a:r>
            <a:r>
              <a:rPr lang="en-US" dirty="0" err="1"/>
              <a:t>serialisable</a:t>
            </a:r>
            <a:r>
              <a:rPr lang="en-US" dirty="0"/>
              <a:t>.</a:t>
            </a:r>
          </a:p>
        </p:txBody>
      </p:sp>
      <p:sp>
        <p:nvSpPr>
          <p:cNvPr id="4" name="Slide Number Placeholder 3"/>
          <p:cNvSpPr>
            <a:spLocks noGrp="1"/>
          </p:cNvSpPr>
          <p:nvPr>
            <p:ph type="sldNum" sz="quarter" idx="12"/>
          </p:nvPr>
        </p:nvSpPr>
        <p:spPr/>
        <p:txBody>
          <a:bodyPr/>
          <a:lstStyle/>
          <a:p>
            <a:fld id="{C260D5AD-280D-4F23-8F09-5CDE2943111F}" type="slidenum">
              <a:rPr lang="en-GB" smtClean="0"/>
              <a:pPr/>
              <a:t>11</a:t>
            </a:fld>
            <a:endParaRPr lang="en-GB"/>
          </a:p>
        </p:txBody>
      </p:sp>
      <p:sp>
        <p:nvSpPr>
          <p:cNvPr id="5" name="TextBox 4"/>
          <p:cNvSpPr txBox="1"/>
          <p:nvPr/>
        </p:nvSpPr>
        <p:spPr>
          <a:xfrm>
            <a:off x="3215681" y="2117585"/>
            <a:ext cx="5161991" cy="461665"/>
          </a:xfrm>
          <a:prstGeom prst="rect">
            <a:avLst/>
          </a:prstGeom>
          <a:noFill/>
        </p:spPr>
        <p:txBody>
          <a:bodyPr wrap="none" rtlCol="0">
            <a:spAutoFit/>
          </a:bodyPr>
          <a:lstStyle/>
          <a:p>
            <a:r>
              <a:rPr lang="en-US" sz="2400" dirty="0"/>
              <a:t>S</a:t>
            </a:r>
            <a:r>
              <a:rPr lang="en-US" sz="2400" baseline="-25000" dirty="0"/>
              <a:t>1</a:t>
            </a:r>
            <a:r>
              <a:rPr lang="en-US" sz="2400" dirty="0"/>
              <a:t>: w</a:t>
            </a:r>
            <a:r>
              <a:rPr lang="en-US" sz="2400" baseline="-25000" dirty="0"/>
              <a:t>2</a:t>
            </a:r>
            <a:r>
              <a:rPr lang="en-US" sz="2400" dirty="0"/>
              <a:t>(X); w</a:t>
            </a:r>
            <a:r>
              <a:rPr lang="en-US" sz="2400" baseline="-25000" dirty="0"/>
              <a:t>1</a:t>
            </a:r>
            <a:r>
              <a:rPr lang="en-US" sz="2400" dirty="0"/>
              <a:t>(Y); w</a:t>
            </a:r>
            <a:r>
              <a:rPr lang="en-US" sz="2400" baseline="-25000" dirty="0"/>
              <a:t>1</a:t>
            </a:r>
            <a:r>
              <a:rPr lang="en-US" sz="2400" dirty="0"/>
              <a:t>(X); r</a:t>
            </a:r>
            <a:r>
              <a:rPr lang="en-US" sz="2400" baseline="-25000" dirty="0"/>
              <a:t>2</a:t>
            </a:r>
            <a:r>
              <a:rPr lang="en-US" sz="2400" dirty="0"/>
              <a:t>(Y); w</a:t>
            </a:r>
            <a:r>
              <a:rPr lang="en-US" sz="2400" baseline="-25000" dirty="0"/>
              <a:t>2</a:t>
            </a:r>
            <a:r>
              <a:rPr lang="en-US" sz="2400" dirty="0"/>
              <a:t>(Y); c</a:t>
            </a:r>
            <a:r>
              <a:rPr lang="en-US" sz="2400" baseline="-25000" dirty="0"/>
              <a:t>1</a:t>
            </a:r>
            <a:r>
              <a:rPr lang="en-US" sz="2400" dirty="0"/>
              <a:t>; c</a:t>
            </a:r>
            <a:r>
              <a:rPr lang="en-US" sz="2400" baseline="-25000" dirty="0"/>
              <a:t>2</a:t>
            </a:r>
          </a:p>
        </p:txBody>
      </p:sp>
      <p:cxnSp>
        <p:nvCxnSpPr>
          <p:cNvPr id="7" name="Straight Arrow Connector 6"/>
          <p:cNvCxnSpPr>
            <a:cxnSpLocks/>
          </p:cNvCxnSpPr>
          <p:nvPr/>
        </p:nvCxnSpPr>
        <p:spPr>
          <a:xfrm flipV="1">
            <a:off x="6151464" y="2578299"/>
            <a:ext cx="151365" cy="30384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9" name="TextBox 8"/>
          <p:cNvSpPr txBox="1"/>
          <p:nvPr/>
        </p:nvSpPr>
        <p:spPr>
          <a:xfrm>
            <a:off x="5884652" y="2871808"/>
            <a:ext cx="1721433" cy="923330"/>
          </a:xfrm>
          <a:prstGeom prst="rect">
            <a:avLst/>
          </a:prstGeom>
          <a:noFill/>
        </p:spPr>
        <p:txBody>
          <a:bodyPr wrap="none" rtlCol="0">
            <a:spAutoFit/>
          </a:bodyPr>
          <a:lstStyle/>
          <a:p>
            <a:r>
              <a:rPr lang="en-US" dirty="0">
                <a:solidFill>
                  <a:schemeClr val="accent2"/>
                </a:solidFill>
              </a:rPr>
              <a:t>T</a:t>
            </a:r>
            <a:r>
              <a:rPr lang="en-US" baseline="-25000" dirty="0">
                <a:solidFill>
                  <a:schemeClr val="accent2"/>
                </a:solidFill>
              </a:rPr>
              <a:t>2</a:t>
            </a:r>
            <a:r>
              <a:rPr lang="en-US" dirty="0">
                <a:solidFill>
                  <a:schemeClr val="accent2"/>
                </a:solidFill>
              </a:rPr>
              <a:t> reads data </a:t>
            </a:r>
            <a:br>
              <a:rPr lang="en-US" dirty="0">
                <a:solidFill>
                  <a:schemeClr val="accent2"/>
                </a:solidFill>
              </a:rPr>
            </a:br>
            <a:r>
              <a:rPr lang="en-US" dirty="0">
                <a:solidFill>
                  <a:schemeClr val="accent2"/>
                </a:solidFill>
              </a:rPr>
              <a:t>that was written</a:t>
            </a:r>
            <a:br>
              <a:rPr lang="en-US" dirty="0">
                <a:solidFill>
                  <a:schemeClr val="accent2"/>
                </a:solidFill>
              </a:rPr>
            </a:br>
            <a:r>
              <a:rPr lang="en-US" dirty="0">
                <a:solidFill>
                  <a:schemeClr val="accent2"/>
                </a:solidFill>
              </a:rPr>
              <a:t>before by T</a:t>
            </a:r>
            <a:r>
              <a:rPr lang="en-US" baseline="-25000" dirty="0">
                <a:solidFill>
                  <a:schemeClr val="accent2"/>
                </a:solidFill>
              </a:rPr>
              <a:t>1</a:t>
            </a:r>
          </a:p>
        </p:txBody>
      </p:sp>
      <p:cxnSp>
        <p:nvCxnSpPr>
          <p:cNvPr id="11" name="Straight Arrow Connector 10"/>
          <p:cNvCxnSpPr>
            <a:stCxn id="13" idx="1"/>
          </p:cNvCxnSpPr>
          <p:nvPr/>
        </p:nvCxnSpPr>
        <p:spPr>
          <a:xfrm flipH="1" flipV="1">
            <a:off x="7684851" y="2578299"/>
            <a:ext cx="304430" cy="4052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3" name="TextBox 12"/>
          <p:cNvSpPr txBox="1"/>
          <p:nvPr/>
        </p:nvSpPr>
        <p:spPr>
          <a:xfrm>
            <a:off x="7989282" y="2660386"/>
            <a:ext cx="2232919" cy="646331"/>
          </a:xfrm>
          <a:prstGeom prst="rect">
            <a:avLst/>
          </a:prstGeom>
          <a:noFill/>
        </p:spPr>
        <p:txBody>
          <a:bodyPr wrap="none" rtlCol="0">
            <a:spAutoFit/>
          </a:bodyPr>
          <a:lstStyle/>
          <a:p>
            <a:r>
              <a:rPr lang="en-US" dirty="0">
                <a:solidFill>
                  <a:schemeClr val="accent2"/>
                </a:solidFill>
              </a:rPr>
              <a:t>T</a:t>
            </a:r>
            <a:r>
              <a:rPr lang="en-US" baseline="-25000" dirty="0">
                <a:solidFill>
                  <a:schemeClr val="accent2"/>
                </a:solidFill>
              </a:rPr>
              <a:t>1</a:t>
            </a:r>
            <a:r>
              <a:rPr lang="en-US" dirty="0">
                <a:solidFill>
                  <a:schemeClr val="accent2"/>
                </a:solidFill>
              </a:rPr>
              <a:t> must commit</a:t>
            </a:r>
            <a:br>
              <a:rPr lang="en-US" dirty="0">
                <a:solidFill>
                  <a:schemeClr val="accent2"/>
                </a:solidFill>
              </a:rPr>
            </a:br>
            <a:r>
              <a:rPr lang="en-US" dirty="0">
                <a:solidFill>
                  <a:schemeClr val="accent2"/>
                </a:solidFill>
              </a:rPr>
              <a:t>before T</a:t>
            </a:r>
            <a:r>
              <a:rPr lang="en-US" baseline="-25000" dirty="0">
                <a:solidFill>
                  <a:schemeClr val="accent2"/>
                </a:solidFill>
              </a:rPr>
              <a:t>2</a:t>
            </a:r>
            <a:r>
              <a:rPr lang="en-US" dirty="0">
                <a:solidFill>
                  <a:schemeClr val="accent2"/>
                </a:solidFill>
              </a:rPr>
              <a:t> can commit</a:t>
            </a:r>
          </a:p>
        </p:txBody>
      </p:sp>
      <p:sp>
        <p:nvSpPr>
          <p:cNvPr id="18" name="TextBox 17"/>
          <p:cNvSpPr txBox="1"/>
          <p:nvPr/>
        </p:nvSpPr>
        <p:spPr>
          <a:xfrm>
            <a:off x="3261973" y="3805659"/>
            <a:ext cx="5161991" cy="461665"/>
          </a:xfrm>
          <a:prstGeom prst="rect">
            <a:avLst/>
          </a:prstGeom>
          <a:noFill/>
        </p:spPr>
        <p:txBody>
          <a:bodyPr wrap="none" rtlCol="0">
            <a:spAutoFit/>
          </a:bodyPr>
          <a:lstStyle/>
          <a:p>
            <a:r>
              <a:rPr lang="en-US" sz="2400" dirty="0"/>
              <a:t>S</a:t>
            </a:r>
            <a:r>
              <a:rPr lang="en-US" sz="2400" baseline="-25000" dirty="0"/>
              <a:t>2</a:t>
            </a:r>
            <a:r>
              <a:rPr lang="en-US" sz="2400" dirty="0"/>
              <a:t>: w</a:t>
            </a:r>
            <a:r>
              <a:rPr lang="en-US" sz="2400" baseline="-25000" dirty="0"/>
              <a:t>1</a:t>
            </a:r>
            <a:r>
              <a:rPr lang="en-US" sz="2400" dirty="0"/>
              <a:t>(X); w</a:t>
            </a:r>
            <a:r>
              <a:rPr lang="en-US" sz="2400" baseline="-25000" dirty="0"/>
              <a:t>1</a:t>
            </a:r>
            <a:r>
              <a:rPr lang="en-US" sz="2400" dirty="0"/>
              <a:t>(Y); w</a:t>
            </a:r>
            <a:r>
              <a:rPr lang="en-US" sz="2400" baseline="-25000" dirty="0"/>
              <a:t>2</a:t>
            </a:r>
            <a:r>
              <a:rPr lang="en-US" sz="2400" dirty="0"/>
              <a:t>(X); r</a:t>
            </a:r>
            <a:r>
              <a:rPr lang="en-US" sz="2400" baseline="-25000" dirty="0"/>
              <a:t>2</a:t>
            </a:r>
            <a:r>
              <a:rPr lang="en-US" sz="2400" dirty="0"/>
              <a:t>(Y); w</a:t>
            </a:r>
            <a:r>
              <a:rPr lang="en-US" sz="2400" baseline="-25000" dirty="0"/>
              <a:t>2</a:t>
            </a:r>
            <a:r>
              <a:rPr lang="en-US" sz="2400" dirty="0"/>
              <a:t>(Y); c</a:t>
            </a:r>
            <a:r>
              <a:rPr lang="en-US" sz="2400" baseline="-25000" dirty="0"/>
              <a:t>2</a:t>
            </a:r>
            <a:r>
              <a:rPr lang="en-US" sz="2400" dirty="0"/>
              <a:t>; c</a:t>
            </a:r>
            <a:r>
              <a:rPr lang="en-US" sz="2400" baseline="-25000" dirty="0"/>
              <a:t>1</a:t>
            </a:r>
          </a:p>
        </p:txBody>
      </p:sp>
      <p:cxnSp>
        <p:nvCxnSpPr>
          <p:cNvPr id="19" name="Straight Arrow Connector 18"/>
          <p:cNvCxnSpPr/>
          <p:nvPr/>
        </p:nvCxnSpPr>
        <p:spPr>
          <a:xfrm flipH="1" flipV="1">
            <a:off x="6388707" y="4267325"/>
            <a:ext cx="87380" cy="31354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5884652" y="4521894"/>
            <a:ext cx="1721433" cy="923330"/>
          </a:xfrm>
          <a:prstGeom prst="rect">
            <a:avLst/>
          </a:prstGeom>
          <a:noFill/>
        </p:spPr>
        <p:txBody>
          <a:bodyPr wrap="none" rtlCol="0">
            <a:spAutoFit/>
          </a:bodyPr>
          <a:lstStyle/>
          <a:p>
            <a:r>
              <a:rPr lang="en-US" dirty="0">
                <a:solidFill>
                  <a:schemeClr val="accent2"/>
                </a:solidFill>
              </a:rPr>
              <a:t>T</a:t>
            </a:r>
            <a:r>
              <a:rPr lang="en-US" baseline="-25000" dirty="0">
                <a:solidFill>
                  <a:schemeClr val="accent2"/>
                </a:solidFill>
              </a:rPr>
              <a:t>2</a:t>
            </a:r>
            <a:r>
              <a:rPr lang="en-US" dirty="0">
                <a:solidFill>
                  <a:schemeClr val="accent2"/>
                </a:solidFill>
              </a:rPr>
              <a:t> reads data </a:t>
            </a:r>
            <a:br>
              <a:rPr lang="en-US" dirty="0">
                <a:solidFill>
                  <a:schemeClr val="accent2"/>
                </a:solidFill>
              </a:rPr>
            </a:br>
            <a:r>
              <a:rPr lang="en-US" dirty="0">
                <a:solidFill>
                  <a:schemeClr val="accent2"/>
                </a:solidFill>
              </a:rPr>
              <a:t>that was written</a:t>
            </a:r>
            <a:br>
              <a:rPr lang="en-US" dirty="0">
                <a:solidFill>
                  <a:schemeClr val="accent2"/>
                </a:solidFill>
              </a:rPr>
            </a:br>
            <a:r>
              <a:rPr lang="en-US" dirty="0">
                <a:solidFill>
                  <a:schemeClr val="accent2"/>
                </a:solidFill>
              </a:rPr>
              <a:t>before by T</a:t>
            </a:r>
            <a:r>
              <a:rPr lang="en-US" baseline="-25000" dirty="0">
                <a:solidFill>
                  <a:schemeClr val="accent2"/>
                </a:solidFill>
              </a:rPr>
              <a:t>1</a:t>
            </a:r>
          </a:p>
        </p:txBody>
      </p:sp>
      <p:cxnSp>
        <p:nvCxnSpPr>
          <p:cNvPr id="21" name="Straight Arrow Connector 20"/>
          <p:cNvCxnSpPr>
            <a:stCxn id="22" idx="1"/>
          </p:cNvCxnSpPr>
          <p:nvPr/>
        </p:nvCxnSpPr>
        <p:spPr>
          <a:xfrm flipH="1" flipV="1">
            <a:off x="7756860" y="4237599"/>
            <a:ext cx="375025" cy="38106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2" name="TextBox 21"/>
          <p:cNvSpPr txBox="1"/>
          <p:nvPr/>
        </p:nvSpPr>
        <p:spPr>
          <a:xfrm>
            <a:off x="8131884" y="4433995"/>
            <a:ext cx="2090316" cy="369332"/>
          </a:xfrm>
          <a:prstGeom prst="rect">
            <a:avLst/>
          </a:prstGeom>
          <a:noFill/>
        </p:spPr>
        <p:txBody>
          <a:bodyPr wrap="none" rtlCol="0">
            <a:spAutoFit/>
          </a:bodyPr>
          <a:lstStyle/>
          <a:p>
            <a:r>
              <a:rPr lang="en-US" dirty="0">
                <a:solidFill>
                  <a:schemeClr val="accent2"/>
                </a:solidFill>
              </a:rPr>
              <a:t>But: T</a:t>
            </a:r>
            <a:r>
              <a:rPr lang="en-US" baseline="-25000" dirty="0">
                <a:solidFill>
                  <a:schemeClr val="accent2"/>
                </a:solidFill>
              </a:rPr>
              <a:t>2</a:t>
            </a:r>
            <a:r>
              <a:rPr lang="en-US" dirty="0">
                <a:solidFill>
                  <a:schemeClr val="accent2"/>
                </a:solidFill>
              </a:rPr>
              <a:t> commits first</a:t>
            </a:r>
          </a:p>
        </p:txBody>
      </p:sp>
    </p:spTree>
    <p:custDataLst>
      <p:tags r:id="rId1"/>
    </p:custDataLst>
    <p:extLst>
      <p:ext uri="{BB962C8B-B14F-4D97-AF65-F5344CB8AC3E}">
        <p14:creationId xmlns:p14="http://schemas.microsoft.com/office/powerpoint/2010/main" val="66872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9" grpId="0"/>
      <p:bldP spid="13" grpId="0"/>
      <p:bldP spid="18" grpId="0"/>
      <p:bldP spid="20"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1094720" cy="1450757"/>
          </a:xfrm>
        </p:spPr>
        <p:txBody>
          <a:bodyPr/>
          <a:lstStyle/>
          <a:p>
            <a:r>
              <a:rPr lang="en-US" dirty="0"/>
              <a:t>Recoverable Schedules – implicit assumption</a:t>
            </a:r>
          </a:p>
        </p:txBody>
      </p:sp>
      <p:sp>
        <p:nvSpPr>
          <p:cNvPr id="3" name="Content Placeholder 2"/>
          <p:cNvSpPr>
            <a:spLocks noGrp="1"/>
          </p:cNvSpPr>
          <p:nvPr>
            <p:ph idx="1"/>
          </p:nvPr>
        </p:nvSpPr>
        <p:spPr/>
        <p:txBody>
          <a:bodyPr/>
          <a:lstStyle/>
          <a:p>
            <a:r>
              <a:rPr lang="en-US" dirty="0"/>
              <a:t>Additional implicit requirement:</a:t>
            </a:r>
            <a:br>
              <a:rPr lang="en-US" dirty="0"/>
            </a:br>
            <a:r>
              <a:rPr lang="en-US" dirty="0">
                <a:solidFill>
                  <a:schemeClr val="accent2"/>
                </a:solidFill>
              </a:rPr>
              <a:t>All log records have to reach disk in the order </a:t>
            </a:r>
            <a:br>
              <a:rPr lang="en-US" dirty="0">
                <a:solidFill>
                  <a:schemeClr val="accent2"/>
                </a:solidFill>
              </a:rPr>
            </a:br>
            <a:r>
              <a:rPr lang="en-US" dirty="0">
                <a:solidFill>
                  <a:schemeClr val="accent2"/>
                </a:solidFill>
              </a:rPr>
              <a:t>in which they are written.</a:t>
            </a:r>
          </a:p>
          <a:p>
            <a:r>
              <a:rPr lang="en-US" dirty="0"/>
              <a:t>Compare:</a:t>
            </a:r>
          </a:p>
          <a:p>
            <a:pPr lvl="1"/>
            <a:r>
              <a:rPr lang="en-US" dirty="0"/>
              <a:t>Recoverable:  </a:t>
            </a:r>
          </a:p>
          <a:p>
            <a:pPr lvl="1"/>
            <a:r>
              <a:rPr lang="en-US" dirty="0"/>
              <a:t>Not recoverable: </a:t>
            </a:r>
          </a:p>
        </p:txBody>
      </p:sp>
      <p:sp>
        <p:nvSpPr>
          <p:cNvPr id="4" name="Slide Number Placeholder 3"/>
          <p:cNvSpPr>
            <a:spLocks noGrp="1"/>
          </p:cNvSpPr>
          <p:nvPr>
            <p:ph type="sldNum" sz="quarter" idx="12"/>
          </p:nvPr>
        </p:nvSpPr>
        <p:spPr/>
        <p:txBody>
          <a:bodyPr/>
          <a:lstStyle/>
          <a:p>
            <a:fld id="{C260D5AD-280D-4F23-8F09-5CDE2943111F}" type="slidenum">
              <a:rPr lang="en-GB" smtClean="0"/>
              <a:pPr/>
              <a:t>12</a:t>
            </a:fld>
            <a:endParaRPr lang="en-GB"/>
          </a:p>
        </p:txBody>
      </p:sp>
      <p:sp>
        <p:nvSpPr>
          <p:cNvPr id="7" name="TextBox 6"/>
          <p:cNvSpPr txBox="1"/>
          <p:nvPr/>
        </p:nvSpPr>
        <p:spPr>
          <a:xfrm>
            <a:off x="4863349" y="2967335"/>
            <a:ext cx="5161991" cy="461665"/>
          </a:xfrm>
          <a:prstGeom prst="rect">
            <a:avLst/>
          </a:prstGeom>
          <a:noFill/>
        </p:spPr>
        <p:txBody>
          <a:bodyPr wrap="none" rtlCol="0">
            <a:spAutoFit/>
          </a:bodyPr>
          <a:lstStyle/>
          <a:p>
            <a:r>
              <a:rPr lang="en-US" sz="2400" dirty="0"/>
              <a:t>S</a:t>
            </a:r>
            <a:r>
              <a:rPr lang="en-US" sz="2400" baseline="-25000" dirty="0"/>
              <a:t>1</a:t>
            </a:r>
            <a:r>
              <a:rPr lang="en-US" sz="2400" dirty="0"/>
              <a:t>: w</a:t>
            </a:r>
            <a:r>
              <a:rPr lang="en-US" sz="2400" baseline="-25000" dirty="0"/>
              <a:t>2</a:t>
            </a:r>
            <a:r>
              <a:rPr lang="en-US" sz="2400" dirty="0"/>
              <a:t>(X); w</a:t>
            </a:r>
            <a:r>
              <a:rPr lang="en-US" sz="2400" baseline="-25000" dirty="0"/>
              <a:t>1</a:t>
            </a:r>
            <a:r>
              <a:rPr lang="en-US" sz="2400" dirty="0"/>
              <a:t>(Y); w</a:t>
            </a:r>
            <a:r>
              <a:rPr lang="en-US" sz="2400" baseline="-25000" dirty="0"/>
              <a:t>1</a:t>
            </a:r>
            <a:r>
              <a:rPr lang="en-US" sz="2400" dirty="0"/>
              <a:t>(X); r</a:t>
            </a:r>
            <a:r>
              <a:rPr lang="en-US" sz="2400" baseline="-25000" dirty="0"/>
              <a:t>2</a:t>
            </a:r>
            <a:r>
              <a:rPr lang="en-US" sz="2400" dirty="0"/>
              <a:t>(Y); w</a:t>
            </a:r>
            <a:r>
              <a:rPr lang="en-US" sz="2400" baseline="-25000" dirty="0"/>
              <a:t>2</a:t>
            </a:r>
            <a:r>
              <a:rPr lang="en-US" sz="2400" dirty="0"/>
              <a:t>(Y); c</a:t>
            </a:r>
            <a:r>
              <a:rPr lang="en-US" sz="2400" baseline="-25000" dirty="0"/>
              <a:t>1</a:t>
            </a:r>
            <a:r>
              <a:rPr lang="en-US" sz="2400" dirty="0"/>
              <a:t>; c</a:t>
            </a:r>
            <a:r>
              <a:rPr lang="en-US" sz="2400" baseline="-25000" dirty="0"/>
              <a:t>2</a:t>
            </a:r>
          </a:p>
        </p:txBody>
      </p:sp>
      <p:sp>
        <p:nvSpPr>
          <p:cNvPr id="8" name="TextBox 7"/>
          <p:cNvSpPr txBox="1"/>
          <p:nvPr/>
        </p:nvSpPr>
        <p:spPr>
          <a:xfrm>
            <a:off x="4863348" y="3429000"/>
            <a:ext cx="5161991" cy="461665"/>
          </a:xfrm>
          <a:prstGeom prst="rect">
            <a:avLst/>
          </a:prstGeom>
          <a:noFill/>
        </p:spPr>
        <p:txBody>
          <a:bodyPr wrap="none" rtlCol="0">
            <a:spAutoFit/>
          </a:bodyPr>
          <a:lstStyle/>
          <a:p>
            <a:r>
              <a:rPr lang="en-US" sz="2400" dirty="0"/>
              <a:t>S</a:t>
            </a:r>
            <a:r>
              <a:rPr lang="en-US" sz="2400" baseline="-25000" dirty="0"/>
              <a:t>3</a:t>
            </a:r>
            <a:r>
              <a:rPr lang="en-US" sz="2400" dirty="0"/>
              <a:t>: w</a:t>
            </a:r>
            <a:r>
              <a:rPr lang="en-US" sz="2400" baseline="-25000" dirty="0"/>
              <a:t>2</a:t>
            </a:r>
            <a:r>
              <a:rPr lang="en-US" sz="2400" dirty="0"/>
              <a:t>(X); w</a:t>
            </a:r>
            <a:r>
              <a:rPr lang="en-US" sz="2400" baseline="-25000" dirty="0"/>
              <a:t>1</a:t>
            </a:r>
            <a:r>
              <a:rPr lang="en-US" sz="2400" dirty="0"/>
              <a:t>(Y); w</a:t>
            </a:r>
            <a:r>
              <a:rPr lang="en-US" sz="2400" baseline="-25000" dirty="0"/>
              <a:t>1</a:t>
            </a:r>
            <a:r>
              <a:rPr lang="en-US" sz="2400" dirty="0"/>
              <a:t>(X); r</a:t>
            </a:r>
            <a:r>
              <a:rPr lang="en-US" sz="2400" baseline="-25000" dirty="0"/>
              <a:t>2</a:t>
            </a:r>
            <a:r>
              <a:rPr lang="en-US" sz="2400" dirty="0"/>
              <a:t>(Y); w</a:t>
            </a:r>
            <a:r>
              <a:rPr lang="en-US" sz="2400" baseline="-25000" dirty="0"/>
              <a:t>2</a:t>
            </a:r>
            <a:r>
              <a:rPr lang="en-US" sz="2400" dirty="0"/>
              <a:t>(Y); c</a:t>
            </a:r>
            <a:r>
              <a:rPr lang="en-US" sz="2400" baseline="-25000" dirty="0"/>
              <a:t>2</a:t>
            </a:r>
            <a:r>
              <a:rPr lang="en-US" sz="2400" dirty="0"/>
              <a:t>; c</a:t>
            </a:r>
            <a:r>
              <a:rPr lang="en-US" sz="2400" baseline="-25000" dirty="0"/>
              <a:t>1</a:t>
            </a:r>
          </a:p>
        </p:txBody>
      </p:sp>
      <p:cxnSp>
        <p:nvCxnSpPr>
          <p:cNvPr id="11" name="Straight Arrow Connector 10"/>
          <p:cNvCxnSpPr/>
          <p:nvPr/>
        </p:nvCxnSpPr>
        <p:spPr>
          <a:xfrm flipH="1">
            <a:off x="9451368" y="3309453"/>
            <a:ext cx="251521" cy="28365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p:cNvCxnSpPr/>
          <p:nvPr/>
        </p:nvCxnSpPr>
        <p:spPr>
          <a:xfrm>
            <a:off x="9493427" y="3316404"/>
            <a:ext cx="251521" cy="28365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4" name="Rounded Rectangular Callout 13"/>
          <p:cNvSpPr/>
          <p:nvPr/>
        </p:nvSpPr>
        <p:spPr>
          <a:xfrm>
            <a:off x="2598643" y="4411827"/>
            <a:ext cx="5976664" cy="936104"/>
          </a:xfrm>
          <a:prstGeom prst="wedgeRoundRectCallout">
            <a:avLst>
              <a:gd name="adj1" fmla="val -12657"/>
              <a:gd name="adj2" fmla="val -77276"/>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t>If in S</a:t>
            </a:r>
            <a:r>
              <a:rPr lang="en-US" baseline="-25000" dirty="0"/>
              <a:t>1</a:t>
            </a:r>
            <a:r>
              <a:rPr lang="en-US" dirty="0"/>
              <a:t> the commit record for T</a:t>
            </a:r>
            <a:r>
              <a:rPr lang="en-US" baseline="-25000" dirty="0"/>
              <a:t>2</a:t>
            </a:r>
            <a:r>
              <a:rPr lang="en-US" dirty="0"/>
              <a:t> would reach disk earlier than the commit record for T</a:t>
            </a:r>
            <a:r>
              <a:rPr lang="en-US" baseline="-25000" dirty="0"/>
              <a:t>1</a:t>
            </a:r>
            <a:r>
              <a:rPr lang="en-US" dirty="0"/>
              <a:t>, then T</a:t>
            </a:r>
            <a:r>
              <a:rPr lang="en-US" baseline="-25000" dirty="0"/>
              <a:t>1</a:t>
            </a:r>
            <a:r>
              <a:rPr lang="en-US" dirty="0"/>
              <a:t> could in principle abort </a:t>
            </a:r>
            <a:r>
              <a:rPr lang="en-US" dirty="0">
                <a:sym typeface="Wingdings"/>
              </a:rPr>
              <a:t> </a:t>
            </a:r>
            <a:br>
              <a:rPr lang="en-US" dirty="0">
                <a:sym typeface="Wingdings"/>
              </a:rPr>
            </a:br>
            <a:r>
              <a:rPr lang="en-US" dirty="0">
                <a:sym typeface="Wingdings"/>
              </a:rPr>
              <a:t>cascading rollback</a:t>
            </a:r>
            <a:r>
              <a:rPr lang="en-US" dirty="0"/>
              <a:t> </a:t>
            </a:r>
          </a:p>
        </p:txBody>
      </p:sp>
    </p:spTree>
    <p:custDataLst>
      <p:tags r:id="rId1"/>
    </p:custDataLst>
    <p:extLst>
      <p:ext uri="{BB962C8B-B14F-4D97-AF65-F5344CB8AC3E}">
        <p14:creationId xmlns:p14="http://schemas.microsoft.com/office/powerpoint/2010/main" val="162412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dirty="0"/>
              <a:t>Reconciliation of conflict-</a:t>
            </a:r>
            <a:r>
              <a:rPr lang="en-US" dirty="0" err="1"/>
              <a:t>serialisability</a:t>
            </a:r>
            <a:r>
              <a:rPr lang="en-US" dirty="0"/>
              <a:t> and recovery</a:t>
            </a:r>
          </a:p>
          <a:p>
            <a:pPr lvl="1"/>
            <a:r>
              <a:rPr lang="en-US" dirty="0"/>
              <a:t>Can lead to problems (</a:t>
            </a:r>
            <a:r>
              <a:rPr lang="en-US" b="1" dirty="0"/>
              <a:t>cascading rollbacks</a:t>
            </a:r>
            <a:r>
              <a:rPr lang="en-US" dirty="0"/>
              <a:t>) if done naively</a:t>
            </a:r>
          </a:p>
          <a:p>
            <a:pPr lvl="1"/>
            <a:r>
              <a:rPr lang="en-US" dirty="0"/>
              <a:t>Avoiding cascading rollbacks requires a smarter way</a:t>
            </a:r>
            <a:br>
              <a:rPr lang="en-US" dirty="0"/>
            </a:br>
            <a:r>
              <a:rPr lang="en-US" dirty="0"/>
              <a:t>of scheduling transactions</a:t>
            </a:r>
          </a:p>
          <a:p>
            <a:r>
              <a:rPr lang="en-US" dirty="0"/>
              <a:t>Ideas: </a:t>
            </a:r>
          </a:p>
          <a:p>
            <a:pPr lvl="1"/>
            <a:r>
              <a:rPr lang="en-US" b="1" dirty="0"/>
              <a:t>Recoverable schedules</a:t>
            </a:r>
            <a:r>
              <a:rPr lang="en-US" dirty="0"/>
              <a:t>: T commits only if all transactions that T has read from have committed</a:t>
            </a:r>
          </a:p>
        </p:txBody>
      </p:sp>
      <p:sp>
        <p:nvSpPr>
          <p:cNvPr id="4" name="Slide Number Placeholder 3"/>
          <p:cNvSpPr>
            <a:spLocks noGrp="1"/>
          </p:cNvSpPr>
          <p:nvPr>
            <p:ph type="sldNum" sz="quarter" idx="12"/>
          </p:nvPr>
        </p:nvSpPr>
        <p:spPr/>
        <p:txBody>
          <a:bodyPr/>
          <a:lstStyle/>
          <a:p>
            <a:fld id="{C260D5AD-280D-4F23-8F09-5CDE2943111F}" type="slidenum">
              <a:rPr lang="en-GB" smtClean="0"/>
              <a:pPr/>
              <a:t>13</a:t>
            </a:fld>
            <a:endParaRPr lang="en-GB"/>
          </a:p>
        </p:txBody>
      </p:sp>
    </p:spTree>
    <p:extLst>
      <p:ext uri="{BB962C8B-B14F-4D97-AF65-F5344CB8AC3E}">
        <p14:creationId xmlns:p14="http://schemas.microsoft.com/office/powerpoint/2010/main" val="1105265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2|24.8|4.5|17.2|3.5|3|8.2|6.7"/>
</p:tagLst>
</file>

<file path=ppt/tags/tag2.xml><?xml version="1.0" encoding="utf-8"?>
<p:tagLst xmlns:a="http://schemas.openxmlformats.org/drawingml/2006/main" xmlns:r="http://schemas.openxmlformats.org/officeDocument/2006/relationships" xmlns:p="http://schemas.openxmlformats.org/presentationml/2006/main">
  <p:tag name="TIMING" val="|37.6|15.5|11.7|16.5"/>
</p:tagLst>
</file>

<file path=ppt/tags/tag3.xml><?xml version="1.0" encoding="utf-8"?>
<p:tagLst xmlns:a="http://schemas.openxmlformats.org/drawingml/2006/main" xmlns:r="http://schemas.openxmlformats.org/officeDocument/2006/relationships" xmlns:p="http://schemas.openxmlformats.org/presentationml/2006/main">
  <p:tag name="TIMING" val="|11.8|13.5|22.7|29.5|5.5|10.3|35.8|12"/>
</p:tagLst>
</file>

<file path=ppt/tags/tag4.xml><?xml version="1.0" encoding="utf-8"?>
<p:tagLst xmlns:a="http://schemas.openxmlformats.org/drawingml/2006/main" xmlns:r="http://schemas.openxmlformats.org/officeDocument/2006/relationships" xmlns:p="http://schemas.openxmlformats.org/presentationml/2006/main">
  <p:tag name="TIMING" val="|13|21|19.1|8.3|14.6"/>
</p:tagLst>
</file>

<file path=ppt/tags/tag5.xml><?xml version="1.0" encoding="utf-8"?>
<p:tagLst xmlns:a="http://schemas.openxmlformats.org/drawingml/2006/main" xmlns:r="http://schemas.openxmlformats.org/officeDocument/2006/relationships" xmlns:p="http://schemas.openxmlformats.org/presentationml/2006/main">
  <p:tag name="TIMING" val="|7.9|4.9|1.1|6.4|4.1|14.8|10.8|7.9|2.6|8.6|4.5|7|20.5"/>
</p:tagLst>
</file>

<file path=ppt/tags/tag6.xml><?xml version="1.0" encoding="utf-8"?>
<p:tagLst xmlns:a="http://schemas.openxmlformats.org/drawingml/2006/main" xmlns:r="http://schemas.openxmlformats.org/officeDocument/2006/relationships" xmlns:p="http://schemas.openxmlformats.org/presentationml/2006/main">
  <p:tag name="TIMING" val="|37.7|15.4"/>
</p:tagLst>
</file>

<file path=ppt/tags/tag7.xml><?xml version="1.0" encoding="utf-8"?>
<p:tagLst xmlns:a="http://schemas.openxmlformats.org/drawingml/2006/main" xmlns:r="http://schemas.openxmlformats.org/officeDocument/2006/relationships" xmlns:p="http://schemas.openxmlformats.org/presentationml/2006/main">
  <p:tag name="TIMING" val="|21.4|26|4.5|8.6|5.6|19.3"/>
</p:tagLst>
</file>

<file path=ppt/tags/tag8.xml><?xml version="1.0" encoding="utf-8"?>
<p:tagLst xmlns:a="http://schemas.openxmlformats.org/drawingml/2006/main" xmlns:r="http://schemas.openxmlformats.org/officeDocument/2006/relationships" xmlns:p="http://schemas.openxmlformats.org/presentationml/2006/main">
  <p:tag name="TIMING" val="|2.7|7.3|5.9|10.2|5.2|4.8|21.2|39.6"/>
</p:tagLst>
</file>

<file path=ppt/tags/tag9.xml><?xml version="1.0" encoding="utf-8"?>
<p:tagLst xmlns:a="http://schemas.openxmlformats.org/drawingml/2006/main" xmlns:r="http://schemas.openxmlformats.org/officeDocument/2006/relationships" xmlns:p="http://schemas.openxmlformats.org/presentationml/2006/main">
  <p:tag name="TIMING" val="|14.6|6.1|7.7"/>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187</TotalTime>
  <Words>1098</Words>
  <Application>Microsoft Office PowerPoint</Application>
  <PresentationFormat>Widescreen</PresentationFormat>
  <Paragraphs>181</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Calibri Light</vt:lpstr>
      <vt:lpstr>Courier New</vt:lpstr>
      <vt:lpstr>Retrospect</vt:lpstr>
      <vt:lpstr>Being able to recover</vt:lpstr>
      <vt:lpstr>Overview</vt:lpstr>
      <vt:lpstr>Conflict-Serialisability vs Recovery</vt:lpstr>
      <vt:lpstr>PowerPoint Presentation</vt:lpstr>
      <vt:lpstr>Problem 3: Currency &amp; Partial Execution (from the good schedules/transaction video)</vt:lpstr>
      <vt:lpstr>No good solutions to the problem (adapted from the good schedules/transaction video)</vt:lpstr>
      <vt:lpstr>“Dirty Reads”</vt:lpstr>
      <vt:lpstr>Cascading Rollback</vt:lpstr>
      <vt:lpstr>Isolation vs Durability</vt:lpstr>
      <vt:lpstr>Recoverable Schedules</vt:lpstr>
      <vt:lpstr>Example</vt:lpstr>
      <vt:lpstr>Recoverable Schedules – implicit assumption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Being able to recover</dc:title>
  <dc:creator>Rasmus Ibsen-Jensen</dc:creator>
  <cp:lastModifiedBy>Rasmus Ibsen-Jensen</cp:lastModifiedBy>
  <cp:revision>10</cp:revision>
  <dcterms:created xsi:type="dcterms:W3CDTF">2020-11-06T19:42:24Z</dcterms:created>
  <dcterms:modified xsi:type="dcterms:W3CDTF">2020-11-09T15:22:57Z</dcterms:modified>
</cp:coreProperties>
</file>