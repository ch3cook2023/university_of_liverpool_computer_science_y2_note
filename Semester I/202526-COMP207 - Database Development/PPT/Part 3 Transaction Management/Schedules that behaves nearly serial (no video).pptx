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256" r:id="rId2"/>
    <p:sldId id="354" r:id="rId3"/>
    <p:sldId id="458" r:id="rId4"/>
    <p:sldId id="338" r:id="rId5"/>
    <p:sldId id="340" r:id="rId6"/>
    <p:sldId id="461" r:id="rId7"/>
    <p:sldId id="462" r:id="rId8"/>
    <p:sldId id="460" r:id="rId9"/>
    <p:sldId id="311" r:id="rId10"/>
    <p:sldId id="397" r:id="rId11"/>
    <p:sldId id="373" r:id="rId12"/>
    <p:sldId id="374" r:id="rId13"/>
    <p:sldId id="398" r:id="rId14"/>
    <p:sldId id="399" r:id="rId15"/>
    <p:sldId id="377" r:id="rId16"/>
    <p:sldId id="378" r:id="rId17"/>
    <p:sldId id="379" r:id="rId18"/>
    <p:sldId id="400" r:id="rId19"/>
    <p:sldId id="401" r:id="rId20"/>
    <p:sldId id="382" r:id="rId21"/>
    <p:sldId id="402" r:id="rId22"/>
    <p:sldId id="403" r:id="rId23"/>
    <p:sldId id="385" r:id="rId24"/>
    <p:sldId id="465" r:id="rId25"/>
    <p:sldId id="459" r:id="rId26"/>
    <p:sldId id="466" r:id="rId27"/>
    <p:sldId id="469" r:id="rId28"/>
    <p:sldId id="483"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26" autoAdjust="0"/>
    <p:restoredTop sz="94660"/>
  </p:normalViewPr>
  <p:slideViewPr>
    <p:cSldViewPr snapToGrid="0">
      <p:cViewPr varScale="1">
        <p:scale>
          <a:sx n="127" d="100"/>
          <a:sy n="127" d="100"/>
        </p:scale>
        <p:origin x="15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1B709E-1460-46D6-859F-54002868838B}" type="datetimeFigureOut">
              <a:rPr lang="en-GB" smtClean="0"/>
              <a:t>19/11/2021</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8CE104-AED2-435F-A5F3-C7AE7078950D}" type="slidenum">
              <a:rPr lang="en-GB" smtClean="0"/>
              <a:t>‹#›</a:t>
            </a:fld>
            <a:endParaRPr lang="en-GB"/>
          </a:p>
        </p:txBody>
      </p:sp>
    </p:spTree>
    <p:extLst>
      <p:ext uri="{BB962C8B-B14F-4D97-AF65-F5344CB8AC3E}">
        <p14:creationId xmlns:p14="http://schemas.microsoft.com/office/powerpoint/2010/main" val="2117055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FCAC73F-9C4A-4C25-AFE7-937C526E372C}" type="datetimeFigureOut">
              <a:rPr lang="en-GB" smtClean="0"/>
              <a:t>19/11/2021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A7510702-92DB-447D-8424-E4361F1E750B}" type="slidenum">
              <a:rPr lang="en-GB" smtClean="0"/>
              <a:t>‹#›</a:t>
            </a:fld>
            <a:endParaRPr lang="en-GB"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7308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CAC73F-9C4A-4C25-AFE7-937C526E372C}" type="datetimeFigureOut">
              <a:rPr lang="en-GB" smtClean="0"/>
              <a:t>19/11/2021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A7510702-92DB-447D-8424-E4361F1E750B}" type="slidenum">
              <a:rPr lang="en-GB" smtClean="0"/>
              <a:t>‹#›</a:t>
            </a:fld>
            <a:endParaRPr lang="en-GB" dirty="0"/>
          </a:p>
        </p:txBody>
      </p:sp>
    </p:spTree>
    <p:extLst>
      <p:ext uri="{BB962C8B-B14F-4D97-AF65-F5344CB8AC3E}">
        <p14:creationId xmlns:p14="http://schemas.microsoft.com/office/powerpoint/2010/main" val="5913772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CAC73F-9C4A-4C25-AFE7-937C526E372C}" type="datetimeFigureOut">
              <a:rPr lang="en-GB" smtClean="0"/>
              <a:t>19/11/2021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A7510702-92DB-447D-8424-E4361F1E750B}" type="slidenum">
              <a:rPr lang="en-GB" smtClean="0"/>
              <a:t>‹#›</a:t>
            </a:fld>
            <a:endParaRPr lang="en-GB"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27497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FCAC73F-9C4A-4C25-AFE7-937C526E372C}" type="datetimeFigureOut">
              <a:rPr lang="en-GB" smtClean="0"/>
              <a:t>19/11/2021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A7510702-92DB-447D-8424-E4361F1E750B}" type="slidenum">
              <a:rPr lang="en-GB" smtClean="0"/>
              <a:t>‹#›</a:t>
            </a:fld>
            <a:endParaRPr lang="en-GB" dirty="0"/>
          </a:p>
        </p:txBody>
      </p:sp>
    </p:spTree>
    <p:extLst>
      <p:ext uri="{BB962C8B-B14F-4D97-AF65-F5344CB8AC3E}">
        <p14:creationId xmlns:p14="http://schemas.microsoft.com/office/powerpoint/2010/main" val="1173989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FCAC73F-9C4A-4C25-AFE7-937C526E372C}" type="datetimeFigureOut">
              <a:rPr lang="en-GB" smtClean="0"/>
              <a:t>19/11/2021</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A7510702-92DB-447D-8424-E4361F1E750B}" type="slidenum">
              <a:rPr lang="en-GB" smtClean="0"/>
              <a:t>‹#›</a:t>
            </a:fld>
            <a:endParaRPr lang="en-GB" dirty="0"/>
          </a:p>
        </p:txBody>
      </p:sp>
    </p:spTree>
    <p:extLst>
      <p:ext uri="{BB962C8B-B14F-4D97-AF65-F5344CB8AC3E}">
        <p14:creationId xmlns:p14="http://schemas.microsoft.com/office/powerpoint/2010/main" val="42411596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FCAC73F-9C4A-4C25-AFE7-937C526E372C}" type="datetimeFigureOut">
              <a:rPr lang="en-GB" smtClean="0"/>
              <a:t>19/11/2021</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A7510702-92DB-447D-8424-E4361F1E750B}" type="slidenum">
              <a:rPr lang="en-GB" smtClean="0"/>
              <a:t>‹#›</a:t>
            </a:fld>
            <a:endParaRPr lang="en-GB" dirty="0"/>
          </a:p>
        </p:txBody>
      </p:sp>
    </p:spTree>
    <p:extLst>
      <p:ext uri="{BB962C8B-B14F-4D97-AF65-F5344CB8AC3E}">
        <p14:creationId xmlns:p14="http://schemas.microsoft.com/office/powerpoint/2010/main" val="3916088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FCAC73F-9C4A-4C25-AFE7-937C526E372C}" type="datetimeFigureOut">
              <a:rPr lang="en-GB" smtClean="0"/>
              <a:t>19/11/2021</a:t>
            </a:fld>
            <a:endParaRPr lang="en-GB"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GB" dirty="0"/>
          </a:p>
        </p:txBody>
      </p:sp>
      <p:sp>
        <p:nvSpPr>
          <p:cNvPr id="9" name="Slide Number Placeholder 8"/>
          <p:cNvSpPr>
            <a:spLocks noGrp="1"/>
          </p:cNvSpPr>
          <p:nvPr>
            <p:ph type="sldNum" sz="quarter" idx="12"/>
          </p:nvPr>
        </p:nvSpPr>
        <p:spPr/>
        <p:txBody>
          <a:bodyPr/>
          <a:lstStyle/>
          <a:p>
            <a:fld id="{A7510702-92DB-447D-8424-E4361F1E750B}" type="slidenum">
              <a:rPr lang="en-GB" smtClean="0"/>
              <a:t>‹#›</a:t>
            </a:fld>
            <a:endParaRPr lang="en-GB" dirty="0"/>
          </a:p>
        </p:txBody>
      </p:sp>
    </p:spTree>
    <p:extLst>
      <p:ext uri="{BB962C8B-B14F-4D97-AF65-F5344CB8AC3E}">
        <p14:creationId xmlns:p14="http://schemas.microsoft.com/office/powerpoint/2010/main" val="2137760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7FCAC73F-9C4A-4C25-AFE7-937C526E372C}" type="datetimeFigureOut">
              <a:rPr lang="en-GB" smtClean="0"/>
              <a:t>19/11/2021</a:t>
            </a:fld>
            <a:endParaRPr lang="en-GB"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GB"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7510702-92DB-447D-8424-E4361F1E750B}" type="slidenum">
              <a:rPr lang="en-GB" smtClean="0"/>
              <a:t>‹#›</a:t>
            </a:fld>
            <a:endParaRPr lang="en-GB" dirty="0"/>
          </a:p>
        </p:txBody>
      </p:sp>
    </p:spTree>
    <p:extLst>
      <p:ext uri="{BB962C8B-B14F-4D97-AF65-F5344CB8AC3E}">
        <p14:creationId xmlns:p14="http://schemas.microsoft.com/office/powerpoint/2010/main" val="15661949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FCAC73F-9C4A-4C25-AFE7-937C526E372C}" type="datetimeFigureOut">
              <a:rPr lang="en-GB" smtClean="0"/>
              <a:t>19/11/2021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A7510702-92DB-447D-8424-E4361F1E750B}" type="slidenum">
              <a:rPr lang="en-GB" smtClean="0"/>
              <a:t>‹#›</a:t>
            </a:fld>
            <a:endParaRPr lang="en-GB" dirty="0"/>
          </a:p>
        </p:txBody>
      </p:sp>
    </p:spTree>
    <p:extLst>
      <p:ext uri="{BB962C8B-B14F-4D97-AF65-F5344CB8AC3E}">
        <p14:creationId xmlns:p14="http://schemas.microsoft.com/office/powerpoint/2010/main" val="1564441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CAC73F-9C4A-4C25-AFE7-937C526E372C}" type="datetimeFigureOut">
              <a:rPr lang="en-GB" smtClean="0"/>
              <a:t>19/11/2021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A7510702-92DB-447D-8424-E4361F1E750B}" type="slidenum">
              <a:rPr lang="en-GB" smtClean="0"/>
              <a:t>‹#›</a:t>
            </a:fld>
            <a:endParaRPr lang="en-GB" dirty="0"/>
          </a:p>
        </p:txBody>
      </p:sp>
    </p:spTree>
    <p:extLst>
      <p:ext uri="{BB962C8B-B14F-4D97-AF65-F5344CB8AC3E}">
        <p14:creationId xmlns:p14="http://schemas.microsoft.com/office/powerpoint/2010/main" val="6296875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CAC73F-9C4A-4C25-AFE7-937C526E372C}" type="datetimeFigureOut">
              <a:rPr lang="en-GB" smtClean="0"/>
              <a:t>19/11/2021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A7510702-92DB-447D-8424-E4361F1E750B}" type="slidenum">
              <a:rPr lang="en-GB" smtClean="0"/>
              <a:t>‹#›</a:t>
            </a:fld>
            <a:endParaRPr lang="en-GB" dirty="0"/>
          </a:p>
        </p:txBody>
      </p:sp>
    </p:spTree>
    <p:extLst>
      <p:ext uri="{BB962C8B-B14F-4D97-AF65-F5344CB8AC3E}">
        <p14:creationId xmlns:p14="http://schemas.microsoft.com/office/powerpoint/2010/main" val="3155456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7FCAC73F-9C4A-4C25-AFE7-937C526E372C}" type="datetimeFigureOut">
              <a:rPr lang="en-GB" smtClean="0"/>
              <a:t>19/11/2021</a:t>
            </a:fld>
            <a:endParaRPr lang="en-GB"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GB"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A7510702-92DB-447D-8424-E4361F1E750B}" type="slidenum">
              <a:rPr lang="en-GB" smtClean="0"/>
              <a:t>‹#›</a:t>
            </a:fld>
            <a:endParaRPr lang="en-GB"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92304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61541-256F-49EC-AABC-EDEDFF2D2557}"/>
              </a:ext>
            </a:extLst>
          </p:cNvPr>
          <p:cNvSpPr>
            <a:spLocks noGrp="1"/>
          </p:cNvSpPr>
          <p:nvPr>
            <p:ph type="ctrTitle"/>
          </p:nvPr>
        </p:nvSpPr>
        <p:spPr/>
        <p:txBody>
          <a:bodyPr/>
          <a:lstStyle/>
          <a:p>
            <a:r>
              <a:rPr lang="en-US" dirty="0"/>
              <a:t>Schedules that behaves nearly serial</a:t>
            </a:r>
            <a:endParaRPr lang="en-GB" dirty="0"/>
          </a:p>
        </p:txBody>
      </p:sp>
      <p:sp>
        <p:nvSpPr>
          <p:cNvPr id="3" name="Subtitle 2">
            <a:extLst>
              <a:ext uri="{FF2B5EF4-FFF2-40B4-BE49-F238E27FC236}">
                <a16:creationId xmlns:a16="http://schemas.microsoft.com/office/drawing/2014/main" id="{4153686C-B8C2-4263-8EB5-584F19CC3E06}"/>
              </a:ext>
            </a:extLst>
          </p:cNvPr>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2980108088"/>
      </p:ext>
    </p:extLst>
  </p:cSld>
  <p:clrMapOvr>
    <a:masterClrMapping/>
  </p:clrMapOvr>
  <mc:AlternateContent xmlns:mc="http://schemas.openxmlformats.org/markup-compatibility/2006" xmlns:p14="http://schemas.microsoft.com/office/powerpoint/2010/main">
    <mc:Choice Requires="p14">
      <p:transition spd="slow" p14:dur="2000" advTm="27825"/>
    </mc:Choice>
    <mc:Fallback xmlns="">
      <p:transition spd="slow" advTm="2782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087AB-00C3-4F0C-ABD5-3827C0525711}"/>
              </a:ext>
            </a:extLst>
          </p:cNvPr>
          <p:cNvSpPr>
            <a:spLocks noGrp="1"/>
          </p:cNvSpPr>
          <p:nvPr>
            <p:ph type="title"/>
          </p:nvPr>
        </p:nvSpPr>
        <p:spPr/>
        <p:txBody>
          <a:bodyPr/>
          <a:lstStyle/>
          <a:p>
            <a:r>
              <a:rPr lang="en-US" dirty="0"/>
              <a:t>Overview of this video</a:t>
            </a:r>
            <a:endParaRPr lang="en-GB" dirty="0"/>
          </a:p>
        </p:txBody>
      </p:sp>
      <p:sp>
        <p:nvSpPr>
          <p:cNvPr id="3" name="Content Placeholder 2">
            <a:extLst>
              <a:ext uri="{FF2B5EF4-FFF2-40B4-BE49-F238E27FC236}">
                <a16:creationId xmlns:a16="http://schemas.microsoft.com/office/drawing/2014/main" id="{B640F842-B16B-4A9E-872B-51714976B919}"/>
              </a:ext>
            </a:extLst>
          </p:cNvPr>
          <p:cNvSpPr>
            <a:spLocks noGrp="1"/>
          </p:cNvSpPr>
          <p:nvPr>
            <p:ph idx="1"/>
          </p:nvPr>
        </p:nvSpPr>
        <p:spPr/>
        <p:txBody>
          <a:bodyPr>
            <a:normAutofit/>
          </a:bodyPr>
          <a:lstStyle/>
          <a:p>
            <a:pPr marL="0" indent="0">
              <a:buNone/>
            </a:pPr>
            <a:r>
              <a:rPr lang="en-US" sz="3000" dirty="0"/>
              <a:t>This video is about how much concurrency can be allowed while still being close enough to a serial schedule</a:t>
            </a:r>
            <a:endParaRPr lang="en-US" sz="2600" dirty="0"/>
          </a:p>
        </p:txBody>
      </p:sp>
      <p:sp>
        <p:nvSpPr>
          <p:cNvPr id="4" name="Slide Number Placeholder 2">
            <a:extLst>
              <a:ext uri="{FF2B5EF4-FFF2-40B4-BE49-F238E27FC236}">
                <a16:creationId xmlns:a16="http://schemas.microsoft.com/office/drawing/2014/main" id="{69FEF2EB-739F-4A39-9129-CE882C363B64}"/>
              </a:ext>
            </a:extLst>
          </p:cNvPr>
          <p:cNvSpPr>
            <a:spLocks noGrp="1"/>
          </p:cNvSpPr>
          <p:nvPr>
            <p:ph type="sldNum" sz="quarter" idx="12"/>
          </p:nvPr>
        </p:nvSpPr>
        <p:spPr>
          <a:xfrm>
            <a:off x="9900458" y="6445271"/>
            <a:ext cx="1312025" cy="365125"/>
          </a:xfrm>
        </p:spPr>
        <p:txBody>
          <a:bodyPr/>
          <a:lstStyle/>
          <a:p>
            <a:fld id="{C260D5AD-280D-4F23-8F09-5CDE2943111F}" type="slidenum">
              <a:rPr lang="en-GB" smtClean="0"/>
              <a:pPr/>
              <a:t>2</a:t>
            </a:fld>
            <a:endParaRPr lang="en-GB"/>
          </a:p>
        </p:txBody>
      </p:sp>
    </p:spTree>
    <p:extLst>
      <p:ext uri="{BB962C8B-B14F-4D97-AF65-F5344CB8AC3E}">
        <p14:creationId xmlns:p14="http://schemas.microsoft.com/office/powerpoint/2010/main" val="1919403635"/>
      </p:ext>
    </p:extLst>
  </p:cSld>
  <p:clrMapOvr>
    <a:masterClrMapping/>
  </p:clrMapOvr>
  <mc:AlternateContent xmlns:mc="http://schemas.openxmlformats.org/markup-compatibility/2006" xmlns:p14="http://schemas.microsoft.com/office/powerpoint/2010/main">
    <mc:Choice Requires="p14">
      <p:transition spd="slow" p14:dur="2000" advTm="15027"/>
    </mc:Choice>
    <mc:Fallback xmlns="">
      <p:transition spd="slow" advTm="15027"/>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Schedules </a:t>
            </a:r>
            <a:r>
              <a:rPr lang="mr-IN" dirty="0"/>
              <a:t>–</a:t>
            </a:r>
            <a:r>
              <a:rPr lang="en-GB" dirty="0"/>
              <a:t> Two Extremes</a:t>
            </a:r>
          </a:p>
        </p:txBody>
      </p:sp>
      <p:sp>
        <p:nvSpPr>
          <p:cNvPr id="3" name="Content Placeholder 2"/>
          <p:cNvSpPr>
            <a:spLocks noGrp="1"/>
          </p:cNvSpPr>
          <p:nvPr>
            <p:ph idx="1"/>
          </p:nvPr>
        </p:nvSpPr>
        <p:spPr>
          <a:xfrm>
            <a:off x="1981200" y="1340769"/>
            <a:ext cx="8229600" cy="4824536"/>
          </a:xfrm>
        </p:spPr>
        <p:txBody>
          <a:bodyPr anchor="ctr">
            <a:normAutofit/>
          </a:bodyPr>
          <a:lstStyle/>
          <a:p>
            <a:r>
              <a:rPr lang="en-GB" b="1" dirty="0"/>
              <a:t>Serial Schedules </a:t>
            </a:r>
          </a:p>
          <a:p>
            <a:pPr lvl="1"/>
            <a:r>
              <a:rPr lang="en-GB" dirty="0"/>
              <a:t>execute correctly</a:t>
            </a:r>
          </a:p>
          <a:p>
            <a:pPr lvl="1"/>
            <a:r>
              <a:rPr lang="en-GB" dirty="0"/>
              <a:t>maintain consistency of the database</a:t>
            </a:r>
          </a:p>
          <a:p>
            <a:pPr lvl="1"/>
            <a:r>
              <a:rPr lang="en-GB" i="1" dirty="0"/>
              <a:t>inefficient</a:t>
            </a:r>
            <a:r>
              <a:rPr lang="en-GB" dirty="0"/>
              <a:t> in multi-user environments (because transactions have to wait until others are finished)</a:t>
            </a:r>
            <a:br>
              <a:rPr lang="en-GB" dirty="0"/>
            </a:br>
            <a:endParaRPr lang="en-GB" dirty="0"/>
          </a:p>
          <a:p>
            <a:r>
              <a:rPr lang="en-GB" b="1" dirty="0"/>
              <a:t>Concurrent Schedules </a:t>
            </a:r>
            <a:r>
              <a:rPr lang="en-GB" dirty="0"/>
              <a:t>(‘non-serial’)</a:t>
            </a:r>
          </a:p>
          <a:p>
            <a:pPr lvl="1"/>
            <a:r>
              <a:rPr lang="en-GB" dirty="0"/>
              <a:t>may not execute correctly</a:t>
            </a:r>
          </a:p>
          <a:p>
            <a:pPr lvl="1"/>
            <a:r>
              <a:rPr lang="en-GB" dirty="0"/>
              <a:t>may not guarantee consistency of the database or isolation</a:t>
            </a:r>
          </a:p>
          <a:p>
            <a:pPr lvl="1"/>
            <a:r>
              <a:rPr lang="en-GB" i="1" dirty="0"/>
              <a:t>efficient</a:t>
            </a:r>
            <a:r>
              <a:rPr lang="en-GB" dirty="0"/>
              <a:t> in multi-user environments (if you get asked to do something, just do it!)</a:t>
            </a:r>
          </a:p>
        </p:txBody>
      </p:sp>
      <p:sp>
        <p:nvSpPr>
          <p:cNvPr id="4" name="Slide Number Placeholder 3"/>
          <p:cNvSpPr>
            <a:spLocks noGrp="1"/>
          </p:cNvSpPr>
          <p:nvPr>
            <p:ph type="sldNum" sz="quarter" idx="12"/>
          </p:nvPr>
        </p:nvSpPr>
        <p:spPr/>
        <p:txBody>
          <a:bodyPr/>
          <a:lstStyle/>
          <a:p>
            <a:fld id="{C0181BF7-113E-47C0-B7D5-DBF92A432A5D}" type="slidenum">
              <a:rPr lang="en-GB" smtClean="0"/>
              <a:pPr/>
              <a:t>3</a:t>
            </a:fld>
            <a:endParaRPr lang="en-GB" dirty="0"/>
          </a:p>
        </p:txBody>
      </p:sp>
      <p:sp>
        <p:nvSpPr>
          <p:cNvPr id="5" name="Rounded Rectangular Callout 7">
            <a:extLst>
              <a:ext uri="{FF2B5EF4-FFF2-40B4-BE49-F238E27FC236}">
                <a16:creationId xmlns:a16="http://schemas.microsoft.com/office/drawing/2014/main" id="{C3E43A17-5544-4F37-B051-F87D0770856A}"/>
              </a:ext>
            </a:extLst>
          </p:cNvPr>
          <p:cNvSpPr/>
          <p:nvPr/>
        </p:nvSpPr>
        <p:spPr>
          <a:xfrm>
            <a:off x="5740729" y="3911689"/>
            <a:ext cx="4087907" cy="365125"/>
          </a:xfrm>
          <a:prstGeom prst="wedgeRoundRectCallout">
            <a:avLst>
              <a:gd name="adj1" fmla="val -72639"/>
              <a:gd name="adj2" fmla="val 135745"/>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r>
              <a:rPr lang="en-US" dirty="0" err="1"/>
              <a:t>Havn’t</a:t>
            </a:r>
            <a:r>
              <a:rPr lang="en-US" dirty="0"/>
              <a:t> actually shown this yet directly! </a:t>
            </a:r>
          </a:p>
        </p:txBody>
      </p:sp>
      <p:sp>
        <p:nvSpPr>
          <p:cNvPr id="6" name="Rounded Rectangular Callout 7">
            <a:extLst>
              <a:ext uri="{FF2B5EF4-FFF2-40B4-BE49-F238E27FC236}">
                <a16:creationId xmlns:a16="http://schemas.microsoft.com/office/drawing/2014/main" id="{771898CA-4B75-4FF8-B67F-390E04DFC056}"/>
              </a:ext>
            </a:extLst>
          </p:cNvPr>
          <p:cNvSpPr/>
          <p:nvPr/>
        </p:nvSpPr>
        <p:spPr>
          <a:xfrm>
            <a:off x="2702439" y="5603937"/>
            <a:ext cx="1461025" cy="561368"/>
          </a:xfrm>
          <a:prstGeom prst="wedgeRoundRectCallout">
            <a:avLst>
              <a:gd name="adj1" fmla="val -38019"/>
              <a:gd name="adj2" fmla="val -98276"/>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r>
              <a:rPr lang="en-US" dirty="0"/>
              <a:t>… or this</a:t>
            </a:r>
          </a:p>
        </p:txBody>
      </p:sp>
      <p:sp>
        <p:nvSpPr>
          <p:cNvPr id="8" name="Rounded Rectangular Callout 7">
            <a:extLst>
              <a:ext uri="{FF2B5EF4-FFF2-40B4-BE49-F238E27FC236}">
                <a16:creationId xmlns:a16="http://schemas.microsoft.com/office/drawing/2014/main" id="{8CA279C1-BF52-43A4-B8F7-14486D2142A7}"/>
              </a:ext>
            </a:extLst>
          </p:cNvPr>
          <p:cNvSpPr/>
          <p:nvPr/>
        </p:nvSpPr>
        <p:spPr>
          <a:xfrm>
            <a:off x="8199766" y="4476334"/>
            <a:ext cx="1461025" cy="561368"/>
          </a:xfrm>
          <a:prstGeom prst="wedgeRoundRectCallout">
            <a:avLst>
              <a:gd name="adj1" fmla="val -71640"/>
              <a:gd name="adj2" fmla="val 17495"/>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r>
              <a:rPr lang="en-US" dirty="0"/>
              <a:t>… or this</a:t>
            </a:r>
          </a:p>
        </p:txBody>
      </p:sp>
    </p:spTree>
    <p:custDataLst>
      <p:tags r:id="rId1"/>
    </p:custDataLst>
    <p:extLst>
      <p:ext uri="{BB962C8B-B14F-4D97-AF65-F5344CB8AC3E}">
        <p14:creationId xmlns:p14="http://schemas.microsoft.com/office/powerpoint/2010/main" val="1986811214"/>
      </p:ext>
    </p:extLst>
  </p:cSld>
  <p:clrMapOvr>
    <a:masterClrMapping/>
  </p:clrMapOvr>
  <mc:AlternateContent xmlns:mc="http://schemas.openxmlformats.org/markup-compatibility/2006" xmlns:p14="http://schemas.microsoft.com/office/powerpoint/2010/main">
    <mc:Choice Requires="p14">
      <p:transition spd="slow" p14:dur="2000" advTm="106154"/>
    </mc:Choice>
    <mc:Fallback xmlns="">
      <p:transition spd="slow" advTm="10615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fade">
                                      <p:cBhvr>
                                        <p:cTn id="4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animBg="1"/>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A Serial Schedule</a:t>
            </a:r>
            <a:endParaRPr lang="en-GB" sz="3100" dirty="0"/>
          </a:p>
        </p:txBody>
      </p:sp>
      <p:sp>
        <p:nvSpPr>
          <p:cNvPr id="7" name="Slide Number Placeholder 6"/>
          <p:cNvSpPr>
            <a:spLocks noGrp="1"/>
          </p:cNvSpPr>
          <p:nvPr>
            <p:ph type="sldNum" sz="quarter" idx="12"/>
          </p:nvPr>
        </p:nvSpPr>
        <p:spPr/>
        <p:txBody>
          <a:bodyPr/>
          <a:lstStyle/>
          <a:p>
            <a:fld id="{26F23E55-D42A-41AF-9F6E-8A8A2E703B49}" type="slidenum">
              <a:rPr lang="en-GB" smtClean="0"/>
              <a:pPr/>
              <a:t>4</a:t>
            </a:fld>
            <a:endParaRPr lang="en-GB"/>
          </a:p>
        </p:txBody>
      </p:sp>
      <p:sp>
        <p:nvSpPr>
          <p:cNvPr id="9" name="Rectangle 8"/>
          <p:cNvSpPr/>
          <p:nvPr/>
        </p:nvSpPr>
        <p:spPr>
          <a:xfrm>
            <a:off x="5884927" y="798173"/>
            <a:ext cx="5616624" cy="461665"/>
          </a:xfrm>
          <a:prstGeom prst="rect">
            <a:avLst/>
          </a:prstGeom>
        </p:spPr>
        <p:txBody>
          <a:bodyPr wrap="square">
            <a:spAutoFit/>
          </a:bodyPr>
          <a:lstStyle/>
          <a:p>
            <a:pPr algn="ctr"/>
            <a:r>
              <a:rPr lang="en-GB" sz="2400" dirty="0">
                <a:solidFill>
                  <a:srgbClr val="C00000"/>
                </a:solidFill>
              </a:rPr>
              <a:t>r</a:t>
            </a:r>
            <a:r>
              <a:rPr lang="en-GB" sz="2400" baseline="-25000" dirty="0">
                <a:solidFill>
                  <a:srgbClr val="C00000"/>
                </a:solidFill>
              </a:rPr>
              <a:t>1</a:t>
            </a:r>
            <a:r>
              <a:rPr lang="en-GB" sz="2400" dirty="0">
                <a:solidFill>
                  <a:srgbClr val="C00000"/>
                </a:solidFill>
              </a:rPr>
              <a:t>(x); w</a:t>
            </a:r>
            <a:r>
              <a:rPr lang="en-GB" sz="2400" baseline="-25000" dirty="0">
                <a:solidFill>
                  <a:srgbClr val="C00000"/>
                </a:solidFill>
              </a:rPr>
              <a:t>1</a:t>
            </a:r>
            <a:r>
              <a:rPr lang="en-GB" sz="2400" dirty="0">
                <a:solidFill>
                  <a:srgbClr val="C00000"/>
                </a:solidFill>
              </a:rPr>
              <a:t>(x); r</a:t>
            </a:r>
            <a:r>
              <a:rPr lang="en-GB" sz="2400" baseline="-25000" dirty="0">
                <a:solidFill>
                  <a:srgbClr val="C00000"/>
                </a:solidFill>
              </a:rPr>
              <a:t>1</a:t>
            </a:r>
            <a:r>
              <a:rPr lang="en-GB" sz="2400" dirty="0">
                <a:solidFill>
                  <a:srgbClr val="C00000"/>
                </a:solidFill>
              </a:rPr>
              <a:t>(y); w</a:t>
            </a:r>
            <a:r>
              <a:rPr lang="en-GB" sz="2400" baseline="-25000" dirty="0">
                <a:solidFill>
                  <a:srgbClr val="C00000"/>
                </a:solidFill>
              </a:rPr>
              <a:t>1</a:t>
            </a:r>
            <a:r>
              <a:rPr lang="en-GB" sz="2400" dirty="0">
                <a:solidFill>
                  <a:srgbClr val="C00000"/>
                </a:solidFill>
              </a:rPr>
              <a:t>(y); c</a:t>
            </a:r>
            <a:r>
              <a:rPr lang="en-GB" sz="2400" baseline="-25000" dirty="0">
                <a:solidFill>
                  <a:srgbClr val="C00000"/>
                </a:solidFill>
              </a:rPr>
              <a:t>1</a:t>
            </a:r>
            <a:r>
              <a:rPr lang="en-GB" sz="2400" dirty="0">
                <a:solidFill>
                  <a:srgbClr val="002060"/>
                </a:solidFill>
              </a:rPr>
              <a:t>; r</a:t>
            </a:r>
            <a:r>
              <a:rPr lang="en-GB" sz="2400" baseline="-25000" dirty="0">
                <a:solidFill>
                  <a:srgbClr val="002060"/>
                </a:solidFill>
              </a:rPr>
              <a:t>2</a:t>
            </a:r>
            <a:r>
              <a:rPr lang="en-GB" sz="2400" dirty="0">
                <a:solidFill>
                  <a:srgbClr val="002060"/>
                </a:solidFill>
              </a:rPr>
              <a:t>(x); w</a:t>
            </a:r>
            <a:r>
              <a:rPr lang="en-GB" sz="2400" baseline="-25000" dirty="0">
                <a:solidFill>
                  <a:srgbClr val="002060"/>
                </a:solidFill>
              </a:rPr>
              <a:t>2</a:t>
            </a:r>
            <a:r>
              <a:rPr lang="en-GB" sz="2400" dirty="0">
                <a:solidFill>
                  <a:srgbClr val="002060"/>
                </a:solidFill>
              </a:rPr>
              <a:t>(x); c</a:t>
            </a:r>
            <a:r>
              <a:rPr lang="en-GB" sz="2400" baseline="-25000" dirty="0">
                <a:solidFill>
                  <a:srgbClr val="002060"/>
                </a:solidFill>
              </a:rPr>
              <a:t>2</a:t>
            </a:r>
            <a:endParaRPr lang="en-US" sz="2400" dirty="0"/>
          </a:p>
        </p:txBody>
      </p:sp>
      <p:graphicFrame>
        <p:nvGraphicFramePr>
          <p:cNvPr id="5" name="Table 4"/>
          <p:cNvGraphicFramePr>
            <a:graphicFrameLocks noGrp="1"/>
          </p:cNvGraphicFramePr>
          <p:nvPr>
            <p:extLst>
              <p:ext uri="{D42A27DB-BD31-4B8C-83A1-F6EECF244321}">
                <p14:modId xmlns:p14="http://schemas.microsoft.com/office/powerpoint/2010/main" val="3490922868"/>
              </p:ext>
            </p:extLst>
          </p:nvPr>
        </p:nvGraphicFramePr>
        <p:xfrm>
          <a:off x="6161127" y="1446244"/>
          <a:ext cx="5064224" cy="482092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2028056">
                  <a:extLst>
                    <a:ext uri="{9D8B030D-6E8A-4147-A177-3AD203B41FA5}">
                      <a16:colId xmlns:a16="http://schemas.microsoft.com/office/drawing/2014/main" val="20001"/>
                    </a:ext>
                  </a:extLst>
                </a:gridCol>
                <a:gridCol w="1512168">
                  <a:extLst>
                    <a:ext uri="{9D8B030D-6E8A-4147-A177-3AD203B41FA5}">
                      <a16:colId xmlns:a16="http://schemas.microsoft.com/office/drawing/2014/main" val="20002"/>
                    </a:ext>
                  </a:extLst>
                </a:gridCol>
              </a:tblGrid>
              <a:tr h="370840">
                <a:tc>
                  <a:txBody>
                    <a:bodyPr/>
                    <a:lstStyle/>
                    <a:p>
                      <a:r>
                        <a:rPr lang="en-US" dirty="0"/>
                        <a:t>Time</a:t>
                      </a:r>
                    </a:p>
                  </a:txBody>
                  <a:tcPr/>
                </a:tc>
                <a:tc gridSpan="2">
                  <a:txBody>
                    <a:bodyPr/>
                    <a:lstStyle/>
                    <a:p>
                      <a:r>
                        <a:rPr lang="en-US" sz="1800" b="1" baseline="0" dirty="0"/>
                        <a:t>Schedule</a:t>
                      </a:r>
                      <a:endParaRPr lang="en-US" sz="1600" b="1" baseline="-25000"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r>
                        <a:rPr lang="en-US" dirty="0"/>
                        <a:t>t0</a:t>
                      </a:r>
                    </a:p>
                  </a:txBody>
                  <a:tcPr/>
                </a:tc>
                <a:tc>
                  <a:txBody>
                    <a:bodyPr/>
                    <a:lstStyle/>
                    <a:p>
                      <a:endParaRPr lang="en-US" dirty="0"/>
                    </a:p>
                  </a:txBody>
                  <a:tcPr/>
                </a:tc>
                <a:tc>
                  <a:txBody>
                    <a:bodyPr/>
                    <a:lstStyle/>
                    <a:p>
                      <a:endParaRPr lang="en-US"/>
                    </a:p>
                  </a:txBody>
                  <a:tcPr/>
                </a:tc>
                <a:extLst>
                  <a:ext uri="{0D108BD9-81ED-4DB2-BD59-A6C34878D82A}">
                    <a16:rowId xmlns:a16="http://schemas.microsoft.com/office/drawing/2014/main" val="10001"/>
                  </a:ext>
                </a:extLst>
              </a:tr>
              <a:tr h="370840">
                <a:tc>
                  <a:txBody>
                    <a:bodyPr/>
                    <a:lstStyle/>
                    <a:p>
                      <a:r>
                        <a:rPr lang="en-US" dirty="0"/>
                        <a:t>t1</a:t>
                      </a:r>
                    </a:p>
                  </a:txBody>
                  <a:tcPr/>
                </a:tc>
                <a:tc>
                  <a:txBody>
                    <a:bodyPr/>
                    <a:lstStyle/>
                    <a:p>
                      <a:r>
                        <a:rPr lang="en-US" dirty="0">
                          <a:solidFill>
                            <a:srgbClr val="C00000"/>
                          </a:solidFill>
                        </a:rPr>
                        <a:t>read(X)</a:t>
                      </a:r>
                    </a:p>
                  </a:txBody>
                  <a:tcPr/>
                </a:tc>
                <a:tc>
                  <a:txBody>
                    <a:bodyPr/>
                    <a:lstStyle/>
                    <a:p>
                      <a:endParaRPr lang="en-US"/>
                    </a:p>
                  </a:txBody>
                  <a:tcPr/>
                </a:tc>
                <a:extLst>
                  <a:ext uri="{0D108BD9-81ED-4DB2-BD59-A6C34878D82A}">
                    <a16:rowId xmlns:a16="http://schemas.microsoft.com/office/drawing/2014/main" val="10002"/>
                  </a:ext>
                </a:extLst>
              </a:tr>
              <a:tr h="370840">
                <a:tc>
                  <a:txBody>
                    <a:bodyPr/>
                    <a:lstStyle/>
                    <a:p>
                      <a:r>
                        <a:rPr lang="en-US" dirty="0"/>
                        <a:t>t2</a:t>
                      </a:r>
                    </a:p>
                  </a:txBody>
                  <a:tcPr/>
                </a:tc>
                <a:tc>
                  <a:txBody>
                    <a:bodyPr/>
                    <a:lstStyle/>
                    <a:p>
                      <a:r>
                        <a:rPr lang="en-GB" sz="1800" dirty="0">
                          <a:solidFill>
                            <a:srgbClr val="C00000"/>
                          </a:solidFill>
                        </a:rPr>
                        <a:t>X := X + N</a:t>
                      </a:r>
                      <a:endParaRPr lang="en-US" dirty="0">
                        <a:solidFill>
                          <a:srgbClr val="C00000"/>
                        </a:solidFill>
                      </a:endParaRPr>
                    </a:p>
                  </a:txBody>
                  <a:tcPr/>
                </a:tc>
                <a:tc>
                  <a:txBody>
                    <a:bodyPr/>
                    <a:lstStyle/>
                    <a:p>
                      <a:endParaRPr lang="en-US"/>
                    </a:p>
                  </a:txBody>
                  <a:tcPr/>
                </a:tc>
                <a:extLst>
                  <a:ext uri="{0D108BD9-81ED-4DB2-BD59-A6C34878D82A}">
                    <a16:rowId xmlns:a16="http://schemas.microsoft.com/office/drawing/2014/main" val="10003"/>
                  </a:ext>
                </a:extLst>
              </a:tr>
              <a:tr h="370840">
                <a:tc>
                  <a:txBody>
                    <a:bodyPr/>
                    <a:lstStyle/>
                    <a:p>
                      <a:r>
                        <a:rPr lang="en-US" dirty="0"/>
                        <a:t>t3</a:t>
                      </a:r>
                    </a:p>
                  </a:txBody>
                  <a:tcPr/>
                </a:tc>
                <a:tc>
                  <a:txBody>
                    <a:bodyPr/>
                    <a:lstStyle/>
                    <a:p>
                      <a:r>
                        <a:rPr lang="en-GB" sz="1800" dirty="0">
                          <a:solidFill>
                            <a:srgbClr val="C00000"/>
                          </a:solidFill>
                        </a:rPr>
                        <a:t>write(X)</a:t>
                      </a:r>
                      <a:endParaRPr lang="en-US" dirty="0">
                        <a:solidFill>
                          <a:srgbClr val="C00000"/>
                        </a:solidFill>
                      </a:endParaRPr>
                    </a:p>
                  </a:txBody>
                  <a:tcPr/>
                </a:tc>
                <a:tc>
                  <a:txBody>
                    <a:bodyPr/>
                    <a:lstStyle/>
                    <a:p>
                      <a:endParaRPr lang="en-US"/>
                    </a:p>
                  </a:txBody>
                  <a:tcPr/>
                </a:tc>
                <a:extLst>
                  <a:ext uri="{0D108BD9-81ED-4DB2-BD59-A6C34878D82A}">
                    <a16:rowId xmlns:a16="http://schemas.microsoft.com/office/drawing/2014/main" val="10004"/>
                  </a:ext>
                </a:extLst>
              </a:tr>
              <a:tr h="370840">
                <a:tc>
                  <a:txBody>
                    <a:bodyPr/>
                    <a:lstStyle/>
                    <a:p>
                      <a:r>
                        <a:rPr lang="en-US" dirty="0"/>
                        <a:t>t4</a:t>
                      </a:r>
                    </a:p>
                  </a:txBody>
                  <a:tcPr/>
                </a:tc>
                <a:tc>
                  <a:txBody>
                    <a:bodyPr/>
                    <a:lstStyle/>
                    <a:p>
                      <a:r>
                        <a:rPr lang="en-US" dirty="0">
                          <a:solidFill>
                            <a:srgbClr val="C00000"/>
                          </a:solidFill>
                        </a:rPr>
                        <a:t>read(Y)</a:t>
                      </a:r>
                    </a:p>
                  </a:txBody>
                  <a:tcPr/>
                </a:tc>
                <a:tc>
                  <a:txBody>
                    <a:bodyPr/>
                    <a:lstStyle/>
                    <a:p>
                      <a:endParaRPr lang="en-US" dirty="0"/>
                    </a:p>
                  </a:txBody>
                  <a:tcPr/>
                </a:tc>
                <a:extLst>
                  <a:ext uri="{0D108BD9-81ED-4DB2-BD59-A6C34878D82A}">
                    <a16:rowId xmlns:a16="http://schemas.microsoft.com/office/drawing/2014/main" val="10005"/>
                  </a:ext>
                </a:extLst>
              </a:tr>
              <a:tr h="370840">
                <a:tc>
                  <a:txBody>
                    <a:bodyPr/>
                    <a:lstStyle/>
                    <a:p>
                      <a:r>
                        <a:rPr lang="en-US" dirty="0"/>
                        <a:t>t5</a:t>
                      </a:r>
                    </a:p>
                  </a:txBody>
                  <a:tcPr/>
                </a:tc>
                <a:tc>
                  <a:txBody>
                    <a:bodyPr/>
                    <a:lstStyle/>
                    <a:p>
                      <a:r>
                        <a:rPr lang="en-GB" sz="1800" dirty="0">
                          <a:solidFill>
                            <a:srgbClr val="C00000"/>
                          </a:solidFill>
                        </a:rPr>
                        <a:t>Y := Y +</a:t>
                      </a:r>
                      <a:r>
                        <a:rPr lang="en-GB" sz="1800" baseline="0" dirty="0">
                          <a:solidFill>
                            <a:srgbClr val="C00000"/>
                          </a:solidFill>
                        </a:rPr>
                        <a:t> N</a:t>
                      </a:r>
                      <a:endParaRPr lang="en-US" dirty="0">
                        <a:solidFill>
                          <a:srgbClr val="C00000"/>
                        </a:solidFill>
                      </a:endParaRPr>
                    </a:p>
                  </a:txBody>
                  <a:tcPr/>
                </a:tc>
                <a:tc>
                  <a:txBody>
                    <a:bodyPr/>
                    <a:lstStyle/>
                    <a:p>
                      <a:endParaRPr lang="en-US" dirty="0"/>
                    </a:p>
                  </a:txBody>
                  <a:tcPr/>
                </a:tc>
                <a:extLst>
                  <a:ext uri="{0D108BD9-81ED-4DB2-BD59-A6C34878D82A}">
                    <a16:rowId xmlns:a16="http://schemas.microsoft.com/office/drawing/2014/main" val="10006"/>
                  </a:ext>
                </a:extLst>
              </a:tr>
              <a:tr h="370840">
                <a:tc>
                  <a:txBody>
                    <a:bodyPr/>
                    <a:lstStyle/>
                    <a:p>
                      <a:r>
                        <a:rPr lang="en-US" dirty="0"/>
                        <a:t>t6</a:t>
                      </a:r>
                    </a:p>
                  </a:txBody>
                  <a:tcPr/>
                </a:tc>
                <a:tc>
                  <a:txBody>
                    <a:bodyPr/>
                    <a:lstStyle/>
                    <a:p>
                      <a:r>
                        <a:rPr lang="en-US" dirty="0">
                          <a:solidFill>
                            <a:srgbClr val="C00000"/>
                          </a:solidFill>
                        </a:rPr>
                        <a:t>write(Y)</a:t>
                      </a:r>
                    </a:p>
                  </a:txBody>
                  <a:tcPr/>
                </a:tc>
                <a:tc>
                  <a:txBody>
                    <a:bodyPr/>
                    <a:lstStyle/>
                    <a:p>
                      <a:endParaRPr lang="en-US" dirty="0"/>
                    </a:p>
                  </a:txBody>
                  <a:tcPr/>
                </a:tc>
                <a:extLst>
                  <a:ext uri="{0D108BD9-81ED-4DB2-BD59-A6C34878D82A}">
                    <a16:rowId xmlns:a16="http://schemas.microsoft.com/office/drawing/2014/main" val="10007"/>
                  </a:ext>
                </a:extLst>
              </a:tr>
              <a:tr h="370840">
                <a:tc>
                  <a:txBody>
                    <a:bodyPr/>
                    <a:lstStyle/>
                    <a:p>
                      <a:r>
                        <a:rPr lang="en-US" dirty="0"/>
                        <a:t>t7</a:t>
                      </a:r>
                    </a:p>
                  </a:txBody>
                  <a:tcPr/>
                </a:tc>
                <a:tc>
                  <a:txBody>
                    <a:bodyPr/>
                    <a:lstStyle/>
                    <a:p>
                      <a:r>
                        <a:rPr lang="en-US" dirty="0">
                          <a:solidFill>
                            <a:srgbClr val="C00000"/>
                          </a:solidFill>
                        </a:rPr>
                        <a:t>commit</a:t>
                      </a:r>
                    </a:p>
                  </a:txBody>
                  <a:tcPr/>
                </a:tc>
                <a:tc>
                  <a:txBody>
                    <a:bodyPr/>
                    <a:lstStyle/>
                    <a:p>
                      <a:endParaRPr lang="en-US" dirty="0"/>
                    </a:p>
                  </a:txBody>
                  <a:tcPr/>
                </a:tc>
                <a:extLst>
                  <a:ext uri="{0D108BD9-81ED-4DB2-BD59-A6C34878D82A}">
                    <a16:rowId xmlns:a16="http://schemas.microsoft.com/office/drawing/2014/main" val="10008"/>
                  </a:ext>
                </a:extLst>
              </a:tr>
              <a:tr h="370840">
                <a:tc>
                  <a:txBody>
                    <a:bodyPr/>
                    <a:lstStyle/>
                    <a:p>
                      <a:r>
                        <a:rPr lang="en-US" dirty="0"/>
                        <a:t>t8</a:t>
                      </a:r>
                    </a:p>
                  </a:txBody>
                  <a:tcPr/>
                </a:tc>
                <a:tc>
                  <a:txBody>
                    <a:bodyPr/>
                    <a:lstStyle/>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rPr>
                        <a:t>read(X)</a:t>
                      </a:r>
                    </a:p>
                  </a:txBody>
                  <a:tcPr/>
                </a:tc>
                <a:extLst>
                  <a:ext uri="{0D108BD9-81ED-4DB2-BD59-A6C34878D82A}">
                    <a16:rowId xmlns:a16="http://schemas.microsoft.com/office/drawing/2014/main" val="10009"/>
                  </a:ext>
                </a:extLst>
              </a:tr>
              <a:tr h="370840">
                <a:tc>
                  <a:txBody>
                    <a:bodyPr/>
                    <a:lstStyle/>
                    <a:p>
                      <a:r>
                        <a:rPr lang="en-US" dirty="0"/>
                        <a:t>t9</a:t>
                      </a:r>
                    </a:p>
                  </a:txBody>
                  <a:tcPr/>
                </a:tc>
                <a:tc>
                  <a:txBody>
                    <a:bodyPr/>
                    <a:lstStyle/>
                    <a:p>
                      <a:endParaRPr lang="en-US" dirty="0"/>
                    </a:p>
                  </a:txBody>
                  <a:tcPr/>
                </a:tc>
                <a:tc>
                  <a:txBody>
                    <a:bodyPr/>
                    <a:lstStyle/>
                    <a:p>
                      <a:r>
                        <a:rPr lang="en-US" dirty="0">
                          <a:solidFill>
                            <a:schemeClr val="tx2"/>
                          </a:solidFill>
                        </a:rPr>
                        <a:t>X := X + M</a:t>
                      </a:r>
                    </a:p>
                  </a:txBody>
                  <a:tcPr/>
                </a:tc>
                <a:extLst>
                  <a:ext uri="{0D108BD9-81ED-4DB2-BD59-A6C34878D82A}">
                    <a16:rowId xmlns:a16="http://schemas.microsoft.com/office/drawing/2014/main" val="10010"/>
                  </a:ext>
                </a:extLst>
              </a:tr>
              <a:tr h="370840">
                <a:tc>
                  <a:txBody>
                    <a:bodyPr/>
                    <a:lstStyle/>
                    <a:p>
                      <a:r>
                        <a:rPr lang="en-US" dirty="0"/>
                        <a:t>t10</a:t>
                      </a:r>
                    </a:p>
                  </a:txBody>
                  <a:tcPr/>
                </a:tc>
                <a:tc>
                  <a:txBody>
                    <a:bodyPr/>
                    <a:lstStyle/>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rPr>
                        <a:t>write(X)</a:t>
                      </a:r>
                    </a:p>
                  </a:txBody>
                  <a:tcPr/>
                </a:tc>
                <a:extLst>
                  <a:ext uri="{0D108BD9-81ED-4DB2-BD59-A6C34878D82A}">
                    <a16:rowId xmlns:a16="http://schemas.microsoft.com/office/drawing/2014/main" val="10011"/>
                  </a:ext>
                </a:extLst>
              </a:tr>
              <a:tr h="370840">
                <a:tc>
                  <a:txBody>
                    <a:bodyPr/>
                    <a:lstStyle/>
                    <a:p>
                      <a:r>
                        <a:rPr lang="en-US" dirty="0"/>
                        <a:t>t11</a:t>
                      </a:r>
                    </a:p>
                  </a:txBody>
                  <a:tcPr/>
                </a:tc>
                <a:tc>
                  <a:txBody>
                    <a:bodyPr/>
                    <a:lstStyle/>
                    <a:p>
                      <a:endParaRPr lang="en-US"/>
                    </a:p>
                  </a:txBody>
                  <a:tcPr/>
                </a:tc>
                <a:tc>
                  <a:txBody>
                    <a:bodyPr/>
                    <a:lstStyle/>
                    <a:p>
                      <a:r>
                        <a:rPr lang="en-US" dirty="0">
                          <a:solidFill>
                            <a:schemeClr val="tx2"/>
                          </a:solidFill>
                        </a:rPr>
                        <a:t>commit</a:t>
                      </a:r>
                    </a:p>
                  </a:txBody>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22372518"/>
      </p:ext>
    </p:extLst>
  </p:cSld>
  <p:clrMapOvr>
    <a:masterClrMapping/>
  </p:clrMapOvr>
  <mc:AlternateContent xmlns:mc="http://schemas.openxmlformats.org/markup-compatibility/2006" xmlns:p14="http://schemas.microsoft.com/office/powerpoint/2010/main">
    <mc:Choice Requires="p14">
      <p:transition spd="slow" p14:dur="2000" advTm="44422"/>
    </mc:Choice>
    <mc:Fallback xmlns="">
      <p:transition spd="slow" advTm="44422"/>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A Concurrent Schedule</a:t>
            </a:r>
            <a:endParaRPr lang="en-GB" sz="3100" dirty="0"/>
          </a:p>
        </p:txBody>
      </p:sp>
      <p:sp>
        <p:nvSpPr>
          <p:cNvPr id="7" name="Slide Number Placeholder 6"/>
          <p:cNvSpPr>
            <a:spLocks noGrp="1"/>
          </p:cNvSpPr>
          <p:nvPr>
            <p:ph type="sldNum" sz="quarter" idx="12"/>
          </p:nvPr>
        </p:nvSpPr>
        <p:spPr/>
        <p:txBody>
          <a:bodyPr/>
          <a:lstStyle/>
          <a:p>
            <a:fld id="{26F23E55-D42A-41AF-9F6E-8A8A2E703B49}" type="slidenum">
              <a:rPr lang="en-GB" smtClean="0"/>
              <a:pPr/>
              <a:t>5</a:t>
            </a:fld>
            <a:endParaRPr lang="en-GB"/>
          </a:p>
        </p:txBody>
      </p:sp>
      <p:graphicFrame>
        <p:nvGraphicFramePr>
          <p:cNvPr id="5" name="Table 4"/>
          <p:cNvGraphicFramePr>
            <a:graphicFrameLocks noGrp="1"/>
          </p:cNvGraphicFramePr>
          <p:nvPr>
            <p:extLst>
              <p:ext uri="{D42A27DB-BD31-4B8C-83A1-F6EECF244321}">
                <p14:modId xmlns:p14="http://schemas.microsoft.com/office/powerpoint/2010/main" val="2148197509"/>
              </p:ext>
            </p:extLst>
          </p:nvPr>
        </p:nvGraphicFramePr>
        <p:xfrm>
          <a:off x="6905802" y="1364077"/>
          <a:ext cx="5064224" cy="482092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2028056">
                  <a:extLst>
                    <a:ext uri="{9D8B030D-6E8A-4147-A177-3AD203B41FA5}">
                      <a16:colId xmlns:a16="http://schemas.microsoft.com/office/drawing/2014/main" val="20001"/>
                    </a:ext>
                  </a:extLst>
                </a:gridCol>
                <a:gridCol w="1512168">
                  <a:extLst>
                    <a:ext uri="{9D8B030D-6E8A-4147-A177-3AD203B41FA5}">
                      <a16:colId xmlns:a16="http://schemas.microsoft.com/office/drawing/2014/main" val="20002"/>
                    </a:ext>
                  </a:extLst>
                </a:gridCol>
              </a:tblGrid>
              <a:tr h="370840">
                <a:tc>
                  <a:txBody>
                    <a:bodyPr/>
                    <a:lstStyle/>
                    <a:p>
                      <a:r>
                        <a:rPr lang="en-US" dirty="0"/>
                        <a:t>Time</a:t>
                      </a:r>
                    </a:p>
                  </a:txBody>
                  <a:tcPr/>
                </a:tc>
                <a:tc gridSpan="2">
                  <a:txBody>
                    <a:bodyPr/>
                    <a:lstStyle/>
                    <a:p>
                      <a:r>
                        <a:rPr lang="en-US" sz="1800" b="1" baseline="0" dirty="0"/>
                        <a:t>Schedule</a:t>
                      </a:r>
                      <a:endParaRPr lang="en-US" sz="1600" b="1" baseline="-25000"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r>
                        <a:rPr lang="en-US" dirty="0"/>
                        <a:t>t0</a:t>
                      </a:r>
                    </a:p>
                  </a:txBody>
                  <a:tcPr/>
                </a:tc>
                <a:tc>
                  <a:txBody>
                    <a:bodyPr/>
                    <a:lstStyle/>
                    <a:p>
                      <a:endParaRPr lang="en-US" dirty="0"/>
                    </a:p>
                  </a:txBody>
                  <a:tcPr/>
                </a:tc>
                <a:tc>
                  <a:txBody>
                    <a:bodyPr/>
                    <a:lstStyle/>
                    <a:p>
                      <a:endParaRPr lang="en-US"/>
                    </a:p>
                  </a:txBody>
                  <a:tcPr/>
                </a:tc>
                <a:extLst>
                  <a:ext uri="{0D108BD9-81ED-4DB2-BD59-A6C34878D82A}">
                    <a16:rowId xmlns:a16="http://schemas.microsoft.com/office/drawing/2014/main" val="10001"/>
                  </a:ext>
                </a:extLst>
              </a:tr>
              <a:tr h="370840">
                <a:tc>
                  <a:txBody>
                    <a:bodyPr/>
                    <a:lstStyle/>
                    <a:p>
                      <a:r>
                        <a:rPr lang="en-US" dirty="0"/>
                        <a:t>t1</a:t>
                      </a:r>
                    </a:p>
                  </a:txBody>
                  <a:tcPr/>
                </a:tc>
                <a:tc>
                  <a:txBody>
                    <a:bodyPr/>
                    <a:lstStyle/>
                    <a:p>
                      <a:r>
                        <a:rPr lang="en-US" dirty="0">
                          <a:solidFill>
                            <a:srgbClr val="C00000"/>
                          </a:solidFill>
                        </a:rPr>
                        <a:t>read(X)</a:t>
                      </a:r>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t2</a:t>
                      </a:r>
                    </a:p>
                  </a:txBody>
                  <a:tcPr/>
                </a:tc>
                <a:tc>
                  <a:txBody>
                    <a:bodyPr/>
                    <a:lstStyle/>
                    <a:p>
                      <a:endParaRPr lang="en-US"/>
                    </a:p>
                  </a:txBody>
                  <a:tcPr/>
                </a:tc>
                <a:tc>
                  <a:txBody>
                    <a:bodyPr/>
                    <a:lstStyle/>
                    <a:p>
                      <a:r>
                        <a:rPr lang="en-US" dirty="0">
                          <a:solidFill>
                            <a:schemeClr val="tx2"/>
                          </a:solidFill>
                        </a:rPr>
                        <a:t>read(X)</a:t>
                      </a:r>
                      <a:endParaRPr lang="en-US" dirty="0"/>
                    </a:p>
                  </a:txBody>
                  <a:tcPr/>
                </a:tc>
                <a:extLst>
                  <a:ext uri="{0D108BD9-81ED-4DB2-BD59-A6C34878D82A}">
                    <a16:rowId xmlns:a16="http://schemas.microsoft.com/office/drawing/2014/main" val="10003"/>
                  </a:ext>
                </a:extLst>
              </a:tr>
              <a:tr h="370840">
                <a:tc>
                  <a:txBody>
                    <a:bodyPr/>
                    <a:lstStyle/>
                    <a:p>
                      <a:r>
                        <a:rPr lang="en-US" dirty="0"/>
                        <a:t>t3</a:t>
                      </a:r>
                    </a:p>
                  </a:txBody>
                  <a:tcPr/>
                </a:tc>
                <a:tc>
                  <a:txBody>
                    <a:bodyPr/>
                    <a:lstStyle/>
                    <a:p>
                      <a:endParaRPr lang="en-US" dirty="0"/>
                    </a:p>
                  </a:txBody>
                  <a:tcPr/>
                </a:tc>
                <a:tc>
                  <a:txBody>
                    <a:bodyPr/>
                    <a:lstStyle/>
                    <a:p>
                      <a:r>
                        <a:rPr lang="en-US" dirty="0">
                          <a:solidFill>
                            <a:schemeClr val="tx2"/>
                          </a:solidFill>
                        </a:rPr>
                        <a:t>X := X + M</a:t>
                      </a:r>
                      <a:endParaRPr lang="en-US" dirty="0"/>
                    </a:p>
                  </a:txBody>
                  <a:tcPr/>
                </a:tc>
                <a:extLst>
                  <a:ext uri="{0D108BD9-81ED-4DB2-BD59-A6C34878D82A}">
                    <a16:rowId xmlns:a16="http://schemas.microsoft.com/office/drawing/2014/main" val="10004"/>
                  </a:ext>
                </a:extLst>
              </a:tr>
              <a:tr h="370840">
                <a:tc>
                  <a:txBody>
                    <a:bodyPr/>
                    <a:lstStyle/>
                    <a:p>
                      <a:r>
                        <a:rPr lang="en-US" dirty="0"/>
                        <a:t>t4</a:t>
                      </a:r>
                    </a:p>
                  </a:txBody>
                  <a:tcPr/>
                </a:tc>
                <a:tc>
                  <a:txBody>
                    <a:bodyPr/>
                    <a:lstStyle/>
                    <a:p>
                      <a:r>
                        <a:rPr lang="en-GB" sz="1800" dirty="0">
                          <a:solidFill>
                            <a:srgbClr val="C00000"/>
                          </a:solidFill>
                        </a:rPr>
                        <a:t>X := X + N</a:t>
                      </a:r>
                      <a:endParaRPr lang="en-US" dirty="0">
                        <a:solidFill>
                          <a:srgbClr val="C00000"/>
                        </a:solidFill>
                      </a:endParaRPr>
                    </a:p>
                  </a:txBody>
                  <a:tcPr/>
                </a:tc>
                <a:tc>
                  <a:txBody>
                    <a:bodyPr/>
                    <a:lstStyle/>
                    <a:p>
                      <a:endParaRPr lang="en-US" dirty="0"/>
                    </a:p>
                  </a:txBody>
                  <a:tcPr/>
                </a:tc>
                <a:extLst>
                  <a:ext uri="{0D108BD9-81ED-4DB2-BD59-A6C34878D82A}">
                    <a16:rowId xmlns:a16="http://schemas.microsoft.com/office/drawing/2014/main" val="10005"/>
                  </a:ext>
                </a:extLst>
              </a:tr>
              <a:tr h="370840">
                <a:tc>
                  <a:txBody>
                    <a:bodyPr/>
                    <a:lstStyle/>
                    <a:p>
                      <a:r>
                        <a:rPr lang="en-US" dirty="0"/>
                        <a:t>t5</a:t>
                      </a:r>
                    </a:p>
                  </a:txBody>
                  <a:tcPr/>
                </a:tc>
                <a:tc>
                  <a:txBody>
                    <a:bodyPr/>
                    <a:lstStyle/>
                    <a:p>
                      <a:r>
                        <a:rPr lang="en-GB" sz="1800" dirty="0">
                          <a:solidFill>
                            <a:srgbClr val="C00000"/>
                          </a:solidFill>
                        </a:rPr>
                        <a:t>write(X)</a:t>
                      </a:r>
                      <a:endParaRPr lang="en-US" dirty="0">
                        <a:solidFill>
                          <a:srgbClr val="C00000"/>
                        </a:solidFill>
                      </a:endParaRPr>
                    </a:p>
                  </a:txBody>
                  <a:tcPr/>
                </a:tc>
                <a:tc>
                  <a:txBody>
                    <a:bodyPr/>
                    <a:lstStyle/>
                    <a:p>
                      <a:endParaRPr lang="en-US" dirty="0"/>
                    </a:p>
                  </a:txBody>
                  <a:tcPr/>
                </a:tc>
                <a:extLst>
                  <a:ext uri="{0D108BD9-81ED-4DB2-BD59-A6C34878D82A}">
                    <a16:rowId xmlns:a16="http://schemas.microsoft.com/office/drawing/2014/main" val="10006"/>
                  </a:ext>
                </a:extLst>
              </a:tr>
              <a:tr h="370840">
                <a:tc>
                  <a:txBody>
                    <a:bodyPr/>
                    <a:lstStyle/>
                    <a:p>
                      <a:r>
                        <a:rPr lang="en-US" dirty="0"/>
                        <a:t>t6</a:t>
                      </a:r>
                    </a:p>
                  </a:txBody>
                  <a:tcPr/>
                </a:tc>
                <a:tc>
                  <a:txBody>
                    <a:bodyPr/>
                    <a:lstStyle/>
                    <a:p>
                      <a:r>
                        <a:rPr lang="en-US" dirty="0">
                          <a:solidFill>
                            <a:srgbClr val="C00000"/>
                          </a:solidFill>
                        </a:rPr>
                        <a:t>read(Y)</a:t>
                      </a:r>
                    </a:p>
                  </a:txBody>
                  <a:tcPr/>
                </a:tc>
                <a:tc>
                  <a:txBody>
                    <a:bodyPr/>
                    <a:lstStyle/>
                    <a:p>
                      <a:endParaRPr lang="en-US" dirty="0"/>
                    </a:p>
                  </a:txBody>
                  <a:tcPr/>
                </a:tc>
                <a:extLst>
                  <a:ext uri="{0D108BD9-81ED-4DB2-BD59-A6C34878D82A}">
                    <a16:rowId xmlns:a16="http://schemas.microsoft.com/office/drawing/2014/main" val="10007"/>
                  </a:ext>
                </a:extLst>
              </a:tr>
              <a:tr h="370840">
                <a:tc>
                  <a:txBody>
                    <a:bodyPr/>
                    <a:lstStyle/>
                    <a:p>
                      <a:r>
                        <a:rPr lang="en-US" dirty="0"/>
                        <a:t>t7</a:t>
                      </a:r>
                    </a:p>
                  </a:txBody>
                  <a:tcPr/>
                </a:tc>
                <a:tc>
                  <a:txBody>
                    <a:bodyPr/>
                    <a:lstStyle/>
                    <a:p>
                      <a:endParaRPr lang="en-US" dirty="0"/>
                    </a:p>
                  </a:txBody>
                  <a:tcPr/>
                </a:tc>
                <a:tc>
                  <a:txBody>
                    <a:bodyPr/>
                    <a:lstStyle/>
                    <a:p>
                      <a:r>
                        <a:rPr lang="en-US" dirty="0">
                          <a:solidFill>
                            <a:schemeClr val="tx2"/>
                          </a:solidFill>
                        </a:rPr>
                        <a:t>write(X)</a:t>
                      </a:r>
                      <a:endParaRPr lang="en-US" dirty="0"/>
                    </a:p>
                  </a:txBody>
                  <a:tcPr/>
                </a:tc>
                <a:extLst>
                  <a:ext uri="{0D108BD9-81ED-4DB2-BD59-A6C34878D82A}">
                    <a16:rowId xmlns:a16="http://schemas.microsoft.com/office/drawing/2014/main" val="10008"/>
                  </a:ext>
                </a:extLst>
              </a:tr>
              <a:tr h="370840">
                <a:tc>
                  <a:txBody>
                    <a:bodyPr/>
                    <a:lstStyle/>
                    <a:p>
                      <a:r>
                        <a:rPr lang="en-US" dirty="0"/>
                        <a:t>t8</a:t>
                      </a:r>
                    </a:p>
                  </a:txBody>
                  <a:tcPr/>
                </a:tc>
                <a:tc>
                  <a:txBody>
                    <a:bodyPr/>
                    <a:lstStyle/>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rPr>
                        <a:t>commit</a:t>
                      </a:r>
                    </a:p>
                  </a:txBody>
                  <a:tcPr/>
                </a:tc>
                <a:extLst>
                  <a:ext uri="{0D108BD9-81ED-4DB2-BD59-A6C34878D82A}">
                    <a16:rowId xmlns:a16="http://schemas.microsoft.com/office/drawing/2014/main" val="10009"/>
                  </a:ext>
                </a:extLst>
              </a:tr>
              <a:tr h="370840">
                <a:tc>
                  <a:txBody>
                    <a:bodyPr/>
                    <a:lstStyle/>
                    <a:p>
                      <a:r>
                        <a:rPr lang="en-US" dirty="0"/>
                        <a:t>t9</a:t>
                      </a:r>
                    </a:p>
                  </a:txBody>
                  <a:tcPr/>
                </a:tc>
                <a:tc>
                  <a:txBody>
                    <a:bodyPr/>
                    <a:lstStyle/>
                    <a:p>
                      <a:r>
                        <a:rPr lang="en-GB" sz="1800" dirty="0">
                          <a:solidFill>
                            <a:srgbClr val="C00000"/>
                          </a:solidFill>
                        </a:rPr>
                        <a:t>Y := Y +</a:t>
                      </a:r>
                      <a:r>
                        <a:rPr lang="en-GB" sz="1800" baseline="0" dirty="0">
                          <a:solidFill>
                            <a:srgbClr val="C00000"/>
                          </a:solidFill>
                        </a:rPr>
                        <a:t> N</a:t>
                      </a:r>
                      <a:endParaRPr lang="en-US" dirty="0">
                        <a:solidFill>
                          <a:srgbClr val="C00000"/>
                        </a:solidFill>
                      </a:endParaRPr>
                    </a:p>
                  </a:txBody>
                  <a:tcPr/>
                </a:tc>
                <a:tc>
                  <a:txBody>
                    <a:bodyPr/>
                    <a:lstStyle/>
                    <a:p>
                      <a:endParaRPr lang="en-US" dirty="0">
                        <a:solidFill>
                          <a:schemeClr val="tx2"/>
                        </a:solidFill>
                      </a:endParaRPr>
                    </a:p>
                  </a:txBody>
                  <a:tcPr/>
                </a:tc>
                <a:extLst>
                  <a:ext uri="{0D108BD9-81ED-4DB2-BD59-A6C34878D82A}">
                    <a16:rowId xmlns:a16="http://schemas.microsoft.com/office/drawing/2014/main" val="10010"/>
                  </a:ext>
                </a:extLst>
              </a:tr>
              <a:tr h="370840">
                <a:tc>
                  <a:txBody>
                    <a:bodyPr/>
                    <a:lstStyle/>
                    <a:p>
                      <a:r>
                        <a:rPr lang="en-US" dirty="0"/>
                        <a:t>t10</a:t>
                      </a:r>
                    </a:p>
                  </a:txBody>
                  <a:tcPr/>
                </a:tc>
                <a:tc>
                  <a:txBody>
                    <a:bodyPr/>
                    <a:lstStyle/>
                    <a:p>
                      <a:r>
                        <a:rPr lang="en-US" dirty="0">
                          <a:solidFill>
                            <a:srgbClr val="C00000"/>
                          </a:solidFill>
                        </a:rPr>
                        <a:t>write(Y)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2"/>
                        </a:solidFill>
                      </a:endParaRPr>
                    </a:p>
                  </a:txBody>
                  <a:tcPr/>
                </a:tc>
                <a:extLst>
                  <a:ext uri="{0D108BD9-81ED-4DB2-BD59-A6C34878D82A}">
                    <a16:rowId xmlns:a16="http://schemas.microsoft.com/office/drawing/2014/main" val="10011"/>
                  </a:ext>
                </a:extLst>
              </a:tr>
              <a:tr h="370840">
                <a:tc>
                  <a:txBody>
                    <a:bodyPr/>
                    <a:lstStyle/>
                    <a:p>
                      <a:r>
                        <a:rPr lang="en-US" dirty="0"/>
                        <a:t>t11</a:t>
                      </a:r>
                    </a:p>
                  </a:txBody>
                  <a:tcPr/>
                </a:tc>
                <a:tc>
                  <a:txBody>
                    <a:bodyPr/>
                    <a:lstStyle/>
                    <a:p>
                      <a:r>
                        <a:rPr lang="en-US" dirty="0">
                          <a:solidFill>
                            <a:srgbClr val="C00000"/>
                          </a:solidFill>
                        </a:rPr>
                        <a:t>commit</a:t>
                      </a:r>
                    </a:p>
                  </a:txBody>
                  <a:tcPr/>
                </a:tc>
                <a:tc>
                  <a:txBody>
                    <a:bodyPr/>
                    <a:lstStyle/>
                    <a:p>
                      <a:endParaRPr lang="en-US" dirty="0">
                        <a:solidFill>
                          <a:schemeClr val="tx2"/>
                        </a:solidFill>
                      </a:endParaRPr>
                    </a:p>
                  </a:txBody>
                  <a:tcPr/>
                </a:tc>
                <a:extLst>
                  <a:ext uri="{0D108BD9-81ED-4DB2-BD59-A6C34878D82A}">
                    <a16:rowId xmlns:a16="http://schemas.microsoft.com/office/drawing/2014/main" val="10012"/>
                  </a:ext>
                </a:extLst>
              </a:tr>
            </a:tbl>
          </a:graphicData>
        </a:graphic>
      </p:graphicFrame>
      <p:sp>
        <p:nvSpPr>
          <p:cNvPr id="14" name="Rectangle 13"/>
          <p:cNvSpPr/>
          <p:nvPr/>
        </p:nvSpPr>
        <p:spPr>
          <a:xfrm>
            <a:off x="6629602" y="716006"/>
            <a:ext cx="5616624" cy="461665"/>
          </a:xfrm>
          <a:prstGeom prst="rect">
            <a:avLst/>
          </a:prstGeom>
        </p:spPr>
        <p:txBody>
          <a:bodyPr wrap="square">
            <a:spAutoFit/>
          </a:bodyPr>
          <a:lstStyle/>
          <a:p>
            <a:pPr algn="ctr"/>
            <a:r>
              <a:rPr lang="en-GB" sz="2400" dirty="0">
                <a:solidFill>
                  <a:srgbClr val="C00000"/>
                </a:solidFill>
              </a:rPr>
              <a:t>r</a:t>
            </a:r>
            <a:r>
              <a:rPr lang="en-GB" sz="2400" baseline="-25000" dirty="0">
                <a:solidFill>
                  <a:srgbClr val="C00000"/>
                </a:solidFill>
              </a:rPr>
              <a:t>1</a:t>
            </a:r>
            <a:r>
              <a:rPr lang="en-GB" sz="2400" dirty="0">
                <a:solidFill>
                  <a:srgbClr val="C00000"/>
                </a:solidFill>
              </a:rPr>
              <a:t>(x); </a:t>
            </a:r>
            <a:r>
              <a:rPr lang="en-GB" sz="2400" dirty="0">
                <a:solidFill>
                  <a:srgbClr val="002060"/>
                </a:solidFill>
              </a:rPr>
              <a:t>r</a:t>
            </a:r>
            <a:r>
              <a:rPr lang="en-GB" sz="2400" baseline="-25000" dirty="0">
                <a:solidFill>
                  <a:srgbClr val="002060"/>
                </a:solidFill>
              </a:rPr>
              <a:t>2</a:t>
            </a:r>
            <a:r>
              <a:rPr lang="en-GB" sz="2400" dirty="0">
                <a:solidFill>
                  <a:srgbClr val="002060"/>
                </a:solidFill>
              </a:rPr>
              <a:t>(x); </a:t>
            </a:r>
            <a:r>
              <a:rPr lang="en-GB" sz="2400" dirty="0">
                <a:solidFill>
                  <a:srgbClr val="C00000"/>
                </a:solidFill>
              </a:rPr>
              <a:t>w</a:t>
            </a:r>
            <a:r>
              <a:rPr lang="en-GB" sz="2400" baseline="-25000" dirty="0">
                <a:solidFill>
                  <a:srgbClr val="C00000"/>
                </a:solidFill>
              </a:rPr>
              <a:t>1</a:t>
            </a:r>
            <a:r>
              <a:rPr lang="en-GB" sz="2400" dirty="0">
                <a:solidFill>
                  <a:srgbClr val="C00000"/>
                </a:solidFill>
              </a:rPr>
              <a:t>(x); r</a:t>
            </a:r>
            <a:r>
              <a:rPr lang="en-GB" sz="2400" baseline="-25000" dirty="0">
                <a:solidFill>
                  <a:srgbClr val="C00000"/>
                </a:solidFill>
              </a:rPr>
              <a:t>1</a:t>
            </a:r>
            <a:r>
              <a:rPr lang="en-GB" sz="2400" dirty="0">
                <a:solidFill>
                  <a:srgbClr val="C00000"/>
                </a:solidFill>
              </a:rPr>
              <a:t>(y); </a:t>
            </a:r>
            <a:r>
              <a:rPr lang="en-GB" sz="2400" dirty="0">
                <a:solidFill>
                  <a:srgbClr val="002060"/>
                </a:solidFill>
              </a:rPr>
              <a:t>w</a:t>
            </a:r>
            <a:r>
              <a:rPr lang="en-GB" sz="2400" baseline="-25000" dirty="0">
                <a:solidFill>
                  <a:srgbClr val="002060"/>
                </a:solidFill>
              </a:rPr>
              <a:t>2</a:t>
            </a:r>
            <a:r>
              <a:rPr lang="en-GB" sz="2400" dirty="0">
                <a:solidFill>
                  <a:srgbClr val="002060"/>
                </a:solidFill>
              </a:rPr>
              <a:t>(x); c</a:t>
            </a:r>
            <a:r>
              <a:rPr lang="en-GB" sz="2400" baseline="-25000" dirty="0">
                <a:solidFill>
                  <a:srgbClr val="002060"/>
                </a:solidFill>
              </a:rPr>
              <a:t>2</a:t>
            </a:r>
            <a:r>
              <a:rPr lang="en-GB" sz="2400" dirty="0">
                <a:solidFill>
                  <a:srgbClr val="002060"/>
                </a:solidFill>
              </a:rPr>
              <a:t>; </a:t>
            </a:r>
            <a:r>
              <a:rPr lang="en-GB" sz="2400" dirty="0">
                <a:solidFill>
                  <a:srgbClr val="C00000"/>
                </a:solidFill>
              </a:rPr>
              <a:t>w</a:t>
            </a:r>
            <a:r>
              <a:rPr lang="en-GB" sz="2400" baseline="-25000" dirty="0">
                <a:solidFill>
                  <a:srgbClr val="C00000"/>
                </a:solidFill>
              </a:rPr>
              <a:t>1</a:t>
            </a:r>
            <a:r>
              <a:rPr lang="en-GB" sz="2400" dirty="0">
                <a:solidFill>
                  <a:srgbClr val="C00000"/>
                </a:solidFill>
              </a:rPr>
              <a:t>(y); c</a:t>
            </a:r>
            <a:r>
              <a:rPr lang="en-GB" sz="2400" baseline="-25000" dirty="0">
                <a:solidFill>
                  <a:srgbClr val="C00000"/>
                </a:solidFill>
              </a:rPr>
              <a:t>1</a:t>
            </a:r>
            <a:endParaRPr lang="en-US" sz="2400" dirty="0"/>
          </a:p>
        </p:txBody>
      </p:sp>
    </p:spTree>
    <p:extLst>
      <p:ext uri="{BB962C8B-B14F-4D97-AF65-F5344CB8AC3E}">
        <p14:creationId xmlns:p14="http://schemas.microsoft.com/office/powerpoint/2010/main" val="836518360"/>
      </p:ext>
    </p:extLst>
  </p:cSld>
  <p:clrMapOvr>
    <a:masterClrMapping/>
  </p:clrMapOvr>
  <mc:AlternateContent xmlns:mc="http://schemas.openxmlformats.org/markup-compatibility/2006" xmlns:p14="http://schemas.microsoft.com/office/powerpoint/2010/main">
    <mc:Choice Requires="p14">
      <p:transition spd="slow" p14:dur="2000" advTm="51802"/>
    </mc:Choice>
    <mc:Fallback xmlns="">
      <p:transition spd="slow" advTm="51802"/>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B2DF3-4C36-4A94-8D49-B175A9FFF064}"/>
              </a:ext>
            </a:extLst>
          </p:cNvPr>
          <p:cNvSpPr>
            <a:spLocks noGrp="1"/>
          </p:cNvSpPr>
          <p:nvPr>
            <p:ph type="title"/>
          </p:nvPr>
        </p:nvSpPr>
        <p:spPr/>
        <p:txBody>
          <a:bodyPr/>
          <a:lstStyle/>
          <a:p>
            <a:r>
              <a:rPr lang="en-GB" dirty="0"/>
              <a:t>A Concurrent Schedule</a:t>
            </a:r>
          </a:p>
        </p:txBody>
      </p:sp>
      <p:sp>
        <p:nvSpPr>
          <p:cNvPr id="3" name="Content Placeholder 2">
            <a:extLst>
              <a:ext uri="{FF2B5EF4-FFF2-40B4-BE49-F238E27FC236}">
                <a16:creationId xmlns:a16="http://schemas.microsoft.com/office/drawing/2014/main" id="{300405C5-44D5-43B6-A2F0-F2C267E23276}"/>
              </a:ext>
            </a:extLst>
          </p:cNvPr>
          <p:cNvSpPr>
            <a:spLocks noGrp="1"/>
          </p:cNvSpPr>
          <p:nvPr>
            <p:ph idx="1"/>
          </p:nvPr>
        </p:nvSpPr>
        <p:spPr>
          <a:xfrm>
            <a:off x="1097280" y="1845734"/>
            <a:ext cx="5706291" cy="4023360"/>
          </a:xfrm>
        </p:spPr>
        <p:txBody>
          <a:bodyPr/>
          <a:lstStyle/>
          <a:p>
            <a:pPr algn="just"/>
            <a:r>
              <a:rPr lang="en-US" i="1" dirty="0"/>
              <a:t>Efficiency</a:t>
            </a:r>
            <a:r>
              <a:rPr lang="en-US" dirty="0"/>
              <a:t>: Say that this table denotes arrival time of the commands (and that each commands takes 1 time unit)</a:t>
            </a:r>
          </a:p>
          <a:p>
            <a:pPr algn="just"/>
            <a:r>
              <a:rPr lang="en-US" dirty="0"/>
              <a:t>If you execute a command when you got it (giving you this concurrent schedule), then you finish at time 11</a:t>
            </a:r>
          </a:p>
          <a:p>
            <a:pPr algn="just"/>
            <a:r>
              <a:rPr lang="en-US" dirty="0"/>
              <a:t>On the other hand, if you did it serially and did the first operation when you received it, the second transaction would have to wait until time 12 to start (i.e. it can first start after we committed the other) and thus finish at time 15… </a:t>
            </a:r>
          </a:p>
          <a:p>
            <a:pPr lvl="1" algn="just"/>
            <a:r>
              <a:rPr lang="en-US" dirty="0"/>
              <a:t>Doing the second and then the first transaction would let you finish at time 15 also</a:t>
            </a:r>
          </a:p>
        </p:txBody>
      </p:sp>
      <p:graphicFrame>
        <p:nvGraphicFramePr>
          <p:cNvPr id="5" name="Table 4">
            <a:extLst>
              <a:ext uri="{FF2B5EF4-FFF2-40B4-BE49-F238E27FC236}">
                <a16:creationId xmlns:a16="http://schemas.microsoft.com/office/drawing/2014/main" id="{E748C20D-1313-486B-8447-B7DE15E8140D}"/>
              </a:ext>
            </a:extLst>
          </p:cNvPr>
          <p:cNvGraphicFramePr>
            <a:graphicFrameLocks noGrp="1"/>
          </p:cNvGraphicFramePr>
          <p:nvPr>
            <p:extLst>
              <p:ext uri="{D42A27DB-BD31-4B8C-83A1-F6EECF244321}">
                <p14:modId xmlns:p14="http://schemas.microsoft.com/office/powerpoint/2010/main" val="3070486626"/>
              </p:ext>
            </p:extLst>
          </p:nvPr>
        </p:nvGraphicFramePr>
        <p:xfrm>
          <a:off x="6905802" y="1364077"/>
          <a:ext cx="5064224" cy="482092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2028056">
                  <a:extLst>
                    <a:ext uri="{9D8B030D-6E8A-4147-A177-3AD203B41FA5}">
                      <a16:colId xmlns:a16="http://schemas.microsoft.com/office/drawing/2014/main" val="20001"/>
                    </a:ext>
                  </a:extLst>
                </a:gridCol>
                <a:gridCol w="1512168">
                  <a:extLst>
                    <a:ext uri="{9D8B030D-6E8A-4147-A177-3AD203B41FA5}">
                      <a16:colId xmlns:a16="http://schemas.microsoft.com/office/drawing/2014/main" val="20002"/>
                    </a:ext>
                  </a:extLst>
                </a:gridCol>
              </a:tblGrid>
              <a:tr h="370840">
                <a:tc>
                  <a:txBody>
                    <a:bodyPr/>
                    <a:lstStyle/>
                    <a:p>
                      <a:r>
                        <a:rPr lang="en-US" dirty="0"/>
                        <a:t>Time</a:t>
                      </a:r>
                    </a:p>
                  </a:txBody>
                  <a:tcPr/>
                </a:tc>
                <a:tc gridSpan="2">
                  <a:txBody>
                    <a:bodyPr/>
                    <a:lstStyle/>
                    <a:p>
                      <a:r>
                        <a:rPr lang="en-US" sz="1800" b="1" baseline="0" dirty="0"/>
                        <a:t>Schedule</a:t>
                      </a:r>
                      <a:endParaRPr lang="en-US" sz="1600" b="1" baseline="-25000"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r>
                        <a:rPr lang="en-US" dirty="0"/>
                        <a:t>t0</a:t>
                      </a:r>
                    </a:p>
                  </a:txBody>
                  <a:tcPr/>
                </a:tc>
                <a:tc>
                  <a:txBody>
                    <a:bodyPr/>
                    <a:lstStyle/>
                    <a:p>
                      <a:endParaRPr lang="en-US" dirty="0"/>
                    </a:p>
                  </a:txBody>
                  <a:tcPr/>
                </a:tc>
                <a:tc>
                  <a:txBody>
                    <a:bodyPr/>
                    <a:lstStyle/>
                    <a:p>
                      <a:endParaRPr lang="en-US"/>
                    </a:p>
                  </a:txBody>
                  <a:tcPr/>
                </a:tc>
                <a:extLst>
                  <a:ext uri="{0D108BD9-81ED-4DB2-BD59-A6C34878D82A}">
                    <a16:rowId xmlns:a16="http://schemas.microsoft.com/office/drawing/2014/main" val="10001"/>
                  </a:ext>
                </a:extLst>
              </a:tr>
              <a:tr h="370840">
                <a:tc>
                  <a:txBody>
                    <a:bodyPr/>
                    <a:lstStyle/>
                    <a:p>
                      <a:r>
                        <a:rPr lang="en-US" dirty="0"/>
                        <a:t>t1</a:t>
                      </a:r>
                    </a:p>
                  </a:txBody>
                  <a:tcPr/>
                </a:tc>
                <a:tc>
                  <a:txBody>
                    <a:bodyPr/>
                    <a:lstStyle/>
                    <a:p>
                      <a:r>
                        <a:rPr lang="en-US" dirty="0">
                          <a:solidFill>
                            <a:srgbClr val="C00000"/>
                          </a:solidFill>
                        </a:rPr>
                        <a:t>read(X)</a:t>
                      </a:r>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t2</a:t>
                      </a:r>
                    </a:p>
                  </a:txBody>
                  <a:tcPr/>
                </a:tc>
                <a:tc>
                  <a:txBody>
                    <a:bodyPr/>
                    <a:lstStyle/>
                    <a:p>
                      <a:endParaRPr lang="en-US"/>
                    </a:p>
                  </a:txBody>
                  <a:tcPr/>
                </a:tc>
                <a:tc>
                  <a:txBody>
                    <a:bodyPr/>
                    <a:lstStyle/>
                    <a:p>
                      <a:r>
                        <a:rPr lang="en-US" dirty="0">
                          <a:solidFill>
                            <a:schemeClr val="tx2"/>
                          </a:solidFill>
                        </a:rPr>
                        <a:t>read(X)</a:t>
                      </a:r>
                      <a:endParaRPr lang="en-US" dirty="0"/>
                    </a:p>
                  </a:txBody>
                  <a:tcPr/>
                </a:tc>
                <a:extLst>
                  <a:ext uri="{0D108BD9-81ED-4DB2-BD59-A6C34878D82A}">
                    <a16:rowId xmlns:a16="http://schemas.microsoft.com/office/drawing/2014/main" val="10003"/>
                  </a:ext>
                </a:extLst>
              </a:tr>
              <a:tr h="370840">
                <a:tc>
                  <a:txBody>
                    <a:bodyPr/>
                    <a:lstStyle/>
                    <a:p>
                      <a:r>
                        <a:rPr lang="en-US" dirty="0"/>
                        <a:t>t3</a:t>
                      </a:r>
                    </a:p>
                  </a:txBody>
                  <a:tcPr/>
                </a:tc>
                <a:tc>
                  <a:txBody>
                    <a:bodyPr/>
                    <a:lstStyle/>
                    <a:p>
                      <a:endParaRPr lang="en-US" dirty="0"/>
                    </a:p>
                  </a:txBody>
                  <a:tcPr/>
                </a:tc>
                <a:tc>
                  <a:txBody>
                    <a:bodyPr/>
                    <a:lstStyle/>
                    <a:p>
                      <a:r>
                        <a:rPr lang="en-US" dirty="0">
                          <a:solidFill>
                            <a:schemeClr val="tx2"/>
                          </a:solidFill>
                        </a:rPr>
                        <a:t>X := X + M</a:t>
                      </a:r>
                      <a:endParaRPr lang="en-US" dirty="0"/>
                    </a:p>
                  </a:txBody>
                  <a:tcPr/>
                </a:tc>
                <a:extLst>
                  <a:ext uri="{0D108BD9-81ED-4DB2-BD59-A6C34878D82A}">
                    <a16:rowId xmlns:a16="http://schemas.microsoft.com/office/drawing/2014/main" val="10004"/>
                  </a:ext>
                </a:extLst>
              </a:tr>
              <a:tr h="370840">
                <a:tc>
                  <a:txBody>
                    <a:bodyPr/>
                    <a:lstStyle/>
                    <a:p>
                      <a:r>
                        <a:rPr lang="en-US" dirty="0"/>
                        <a:t>t4</a:t>
                      </a:r>
                    </a:p>
                  </a:txBody>
                  <a:tcPr/>
                </a:tc>
                <a:tc>
                  <a:txBody>
                    <a:bodyPr/>
                    <a:lstStyle/>
                    <a:p>
                      <a:r>
                        <a:rPr lang="en-GB" sz="1800" dirty="0">
                          <a:solidFill>
                            <a:srgbClr val="C00000"/>
                          </a:solidFill>
                        </a:rPr>
                        <a:t>X := X + N</a:t>
                      </a:r>
                      <a:endParaRPr lang="en-US" dirty="0">
                        <a:solidFill>
                          <a:srgbClr val="C00000"/>
                        </a:solidFill>
                      </a:endParaRPr>
                    </a:p>
                  </a:txBody>
                  <a:tcPr/>
                </a:tc>
                <a:tc>
                  <a:txBody>
                    <a:bodyPr/>
                    <a:lstStyle/>
                    <a:p>
                      <a:endParaRPr lang="en-US" dirty="0"/>
                    </a:p>
                  </a:txBody>
                  <a:tcPr/>
                </a:tc>
                <a:extLst>
                  <a:ext uri="{0D108BD9-81ED-4DB2-BD59-A6C34878D82A}">
                    <a16:rowId xmlns:a16="http://schemas.microsoft.com/office/drawing/2014/main" val="10005"/>
                  </a:ext>
                </a:extLst>
              </a:tr>
              <a:tr h="370840">
                <a:tc>
                  <a:txBody>
                    <a:bodyPr/>
                    <a:lstStyle/>
                    <a:p>
                      <a:r>
                        <a:rPr lang="en-US" dirty="0"/>
                        <a:t>t5</a:t>
                      </a:r>
                    </a:p>
                  </a:txBody>
                  <a:tcPr/>
                </a:tc>
                <a:tc>
                  <a:txBody>
                    <a:bodyPr/>
                    <a:lstStyle/>
                    <a:p>
                      <a:r>
                        <a:rPr lang="en-GB" sz="1800" dirty="0">
                          <a:solidFill>
                            <a:srgbClr val="C00000"/>
                          </a:solidFill>
                        </a:rPr>
                        <a:t>write(X)</a:t>
                      </a:r>
                      <a:endParaRPr lang="en-US" dirty="0">
                        <a:solidFill>
                          <a:srgbClr val="C00000"/>
                        </a:solidFill>
                      </a:endParaRPr>
                    </a:p>
                  </a:txBody>
                  <a:tcPr/>
                </a:tc>
                <a:tc>
                  <a:txBody>
                    <a:bodyPr/>
                    <a:lstStyle/>
                    <a:p>
                      <a:endParaRPr lang="en-US" dirty="0"/>
                    </a:p>
                  </a:txBody>
                  <a:tcPr/>
                </a:tc>
                <a:extLst>
                  <a:ext uri="{0D108BD9-81ED-4DB2-BD59-A6C34878D82A}">
                    <a16:rowId xmlns:a16="http://schemas.microsoft.com/office/drawing/2014/main" val="10006"/>
                  </a:ext>
                </a:extLst>
              </a:tr>
              <a:tr h="370840">
                <a:tc>
                  <a:txBody>
                    <a:bodyPr/>
                    <a:lstStyle/>
                    <a:p>
                      <a:r>
                        <a:rPr lang="en-US" dirty="0"/>
                        <a:t>t6</a:t>
                      </a:r>
                    </a:p>
                  </a:txBody>
                  <a:tcPr/>
                </a:tc>
                <a:tc>
                  <a:txBody>
                    <a:bodyPr/>
                    <a:lstStyle/>
                    <a:p>
                      <a:r>
                        <a:rPr lang="en-US" dirty="0">
                          <a:solidFill>
                            <a:srgbClr val="C00000"/>
                          </a:solidFill>
                        </a:rPr>
                        <a:t>read(Y)</a:t>
                      </a:r>
                    </a:p>
                  </a:txBody>
                  <a:tcPr/>
                </a:tc>
                <a:tc>
                  <a:txBody>
                    <a:bodyPr/>
                    <a:lstStyle/>
                    <a:p>
                      <a:endParaRPr lang="en-US" dirty="0"/>
                    </a:p>
                  </a:txBody>
                  <a:tcPr/>
                </a:tc>
                <a:extLst>
                  <a:ext uri="{0D108BD9-81ED-4DB2-BD59-A6C34878D82A}">
                    <a16:rowId xmlns:a16="http://schemas.microsoft.com/office/drawing/2014/main" val="10007"/>
                  </a:ext>
                </a:extLst>
              </a:tr>
              <a:tr h="370840">
                <a:tc>
                  <a:txBody>
                    <a:bodyPr/>
                    <a:lstStyle/>
                    <a:p>
                      <a:r>
                        <a:rPr lang="en-US" dirty="0"/>
                        <a:t>t7</a:t>
                      </a:r>
                    </a:p>
                  </a:txBody>
                  <a:tcPr/>
                </a:tc>
                <a:tc>
                  <a:txBody>
                    <a:bodyPr/>
                    <a:lstStyle/>
                    <a:p>
                      <a:endParaRPr lang="en-US" dirty="0"/>
                    </a:p>
                  </a:txBody>
                  <a:tcPr/>
                </a:tc>
                <a:tc>
                  <a:txBody>
                    <a:bodyPr/>
                    <a:lstStyle/>
                    <a:p>
                      <a:r>
                        <a:rPr lang="en-US" dirty="0">
                          <a:solidFill>
                            <a:schemeClr val="tx2"/>
                          </a:solidFill>
                        </a:rPr>
                        <a:t>write(X)</a:t>
                      </a:r>
                      <a:endParaRPr lang="en-US" dirty="0"/>
                    </a:p>
                  </a:txBody>
                  <a:tcPr/>
                </a:tc>
                <a:extLst>
                  <a:ext uri="{0D108BD9-81ED-4DB2-BD59-A6C34878D82A}">
                    <a16:rowId xmlns:a16="http://schemas.microsoft.com/office/drawing/2014/main" val="10008"/>
                  </a:ext>
                </a:extLst>
              </a:tr>
              <a:tr h="370840">
                <a:tc>
                  <a:txBody>
                    <a:bodyPr/>
                    <a:lstStyle/>
                    <a:p>
                      <a:r>
                        <a:rPr lang="en-US" dirty="0"/>
                        <a:t>t8</a:t>
                      </a:r>
                    </a:p>
                  </a:txBody>
                  <a:tcPr/>
                </a:tc>
                <a:tc>
                  <a:txBody>
                    <a:bodyPr/>
                    <a:lstStyle/>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rPr>
                        <a:t>commit</a:t>
                      </a:r>
                    </a:p>
                  </a:txBody>
                  <a:tcPr/>
                </a:tc>
                <a:extLst>
                  <a:ext uri="{0D108BD9-81ED-4DB2-BD59-A6C34878D82A}">
                    <a16:rowId xmlns:a16="http://schemas.microsoft.com/office/drawing/2014/main" val="10009"/>
                  </a:ext>
                </a:extLst>
              </a:tr>
              <a:tr h="370840">
                <a:tc>
                  <a:txBody>
                    <a:bodyPr/>
                    <a:lstStyle/>
                    <a:p>
                      <a:r>
                        <a:rPr lang="en-US" dirty="0"/>
                        <a:t>t9</a:t>
                      </a:r>
                    </a:p>
                  </a:txBody>
                  <a:tcPr/>
                </a:tc>
                <a:tc>
                  <a:txBody>
                    <a:bodyPr/>
                    <a:lstStyle/>
                    <a:p>
                      <a:r>
                        <a:rPr lang="en-GB" sz="1800" dirty="0">
                          <a:solidFill>
                            <a:srgbClr val="C00000"/>
                          </a:solidFill>
                        </a:rPr>
                        <a:t>Y := Y +</a:t>
                      </a:r>
                      <a:r>
                        <a:rPr lang="en-GB" sz="1800" baseline="0" dirty="0">
                          <a:solidFill>
                            <a:srgbClr val="C00000"/>
                          </a:solidFill>
                        </a:rPr>
                        <a:t> N</a:t>
                      </a:r>
                      <a:endParaRPr lang="en-US" dirty="0">
                        <a:solidFill>
                          <a:srgbClr val="C00000"/>
                        </a:solidFill>
                      </a:endParaRPr>
                    </a:p>
                  </a:txBody>
                  <a:tcPr/>
                </a:tc>
                <a:tc>
                  <a:txBody>
                    <a:bodyPr/>
                    <a:lstStyle/>
                    <a:p>
                      <a:endParaRPr lang="en-US" dirty="0">
                        <a:solidFill>
                          <a:schemeClr val="tx2"/>
                        </a:solidFill>
                      </a:endParaRPr>
                    </a:p>
                  </a:txBody>
                  <a:tcPr/>
                </a:tc>
                <a:extLst>
                  <a:ext uri="{0D108BD9-81ED-4DB2-BD59-A6C34878D82A}">
                    <a16:rowId xmlns:a16="http://schemas.microsoft.com/office/drawing/2014/main" val="10010"/>
                  </a:ext>
                </a:extLst>
              </a:tr>
              <a:tr h="370840">
                <a:tc>
                  <a:txBody>
                    <a:bodyPr/>
                    <a:lstStyle/>
                    <a:p>
                      <a:r>
                        <a:rPr lang="en-US" dirty="0"/>
                        <a:t>t10</a:t>
                      </a:r>
                    </a:p>
                  </a:txBody>
                  <a:tcPr/>
                </a:tc>
                <a:tc>
                  <a:txBody>
                    <a:bodyPr/>
                    <a:lstStyle/>
                    <a:p>
                      <a:r>
                        <a:rPr lang="en-US" dirty="0">
                          <a:solidFill>
                            <a:srgbClr val="C00000"/>
                          </a:solidFill>
                        </a:rPr>
                        <a:t>write(Y)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2"/>
                        </a:solidFill>
                      </a:endParaRPr>
                    </a:p>
                  </a:txBody>
                  <a:tcPr/>
                </a:tc>
                <a:extLst>
                  <a:ext uri="{0D108BD9-81ED-4DB2-BD59-A6C34878D82A}">
                    <a16:rowId xmlns:a16="http://schemas.microsoft.com/office/drawing/2014/main" val="10011"/>
                  </a:ext>
                </a:extLst>
              </a:tr>
              <a:tr h="370840">
                <a:tc>
                  <a:txBody>
                    <a:bodyPr/>
                    <a:lstStyle/>
                    <a:p>
                      <a:r>
                        <a:rPr lang="en-US" dirty="0"/>
                        <a:t>t11</a:t>
                      </a:r>
                    </a:p>
                  </a:txBody>
                  <a:tcPr/>
                </a:tc>
                <a:tc>
                  <a:txBody>
                    <a:bodyPr/>
                    <a:lstStyle/>
                    <a:p>
                      <a:r>
                        <a:rPr lang="en-US" dirty="0">
                          <a:solidFill>
                            <a:srgbClr val="C00000"/>
                          </a:solidFill>
                        </a:rPr>
                        <a:t>commit</a:t>
                      </a:r>
                    </a:p>
                  </a:txBody>
                  <a:tcPr/>
                </a:tc>
                <a:tc>
                  <a:txBody>
                    <a:bodyPr/>
                    <a:lstStyle/>
                    <a:p>
                      <a:endParaRPr lang="en-US" dirty="0">
                        <a:solidFill>
                          <a:schemeClr val="tx2"/>
                        </a:solidFill>
                      </a:endParaRPr>
                    </a:p>
                  </a:txBody>
                  <a:tcPr/>
                </a:tc>
                <a:extLst>
                  <a:ext uri="{0D108BD9-81ED-4DB2-BD59-A6C34878D82A}">
                    <a16:rowId xmlns:a16="http://schemas.microsoft.com/office/drawing/2014/main" val="10012"/>
                  </a:ext>
                </a:extLst>
              </a:tr>
            </a:tbl>
          </a:graphicData>
        </a:graphic>
      </p:graphicFrame>
      <p:sp>
        <p:nvSpPr>
          <p:cNvPr id="7" name="Rectangle 6">
            <a:extLst>
              <a:ext uri="{FF2B5EF4-FFF2-40B4-BE49-F238E27FC236}">
                <a16:creationId xmlns:a16="http://schemas.microsoft.com/office/drawing/2014/main" id="{BA4B27EE-4255-4D13-B631-35080B7BCEB1}"/>
              </a:ext>
            </a:extLst>
          </p:cNvPr>
          <p:cNvSpPr/>
          <p:nvPr/>
        </p:nvSpPr>
        <p:spPr>
          <a:xfrm>
            <a:off x="6629602" y="716006"/>
            <a:ext cx="5616624" cy="461665"/>
          </a:xfrm>
          <a:prstGeom prst="rect">
            <a:avLst/>
          </a:prstGeom>
        </p:spPr>
        <p:txBody>
          <a:bodyPr wrap="square">
            <a:spAutoFit/>
          </a:bodyPr>
          <a:lstStyle/>
          <a:p>
            <a:pPr algn="ctr"/>
            <a:r>
              <a:rPr lang="en-GB" sz="2400" dirty="0">
                <a:solidFill>
                  <a:srgbClr val="C00000"/>
                </a:solidFill>
              </a:rPr>
              <a:t>r</a:t>
            </a:r>
            <a:r>
              <a:rPr lang="en-GB" sz="2400" baseline="-25000" dirty="0">
                <a:solidFill>
                  <a:srgbClr val="C00000"/>
                </a:solidFill>
              </a:rPr>
              <a:t>1</a:t>
            </a:r>
            <a:r>
              <a:rPr lang="en-GB" sz="2400" dirty="0">
                <a:solidFill>
                  <a:srgbClr val="C00000"/>
                </a:solidFill>
              </a:rPr>
              <a:t>(x); </a:t>
            </a:r>
            <a:r>
              <a:rPr lang="en-GB" sz="2400" dirty="0">
                <a:solidFill>
                  <a:srgbClr val="002060"/>
                </a:solidFill>
              </a:rPr>
              <a:t>r</a:t>
            </a:r>
            <a:r>
              <a:rPr lang="en-GB" sz="2400" baseline="-25000" dirty="0">
                <a:solidFill>
                  <a:srgbClr val="002060"/>
                </a:solidFill>
              </a:rPr>
              <a:t>2</a:t>
            </a:r>
            <a:r>
              <a:rPr lang="en-GB" sz="2400" dirty="0">
                <a:solidFill>
                  <a:srgbClr val="002060"/>
                </a:solidFill>
              </a:rPr>
              <a:t>(x); </a:t>
            </a:r>
            <a:r>
              <a:rPr lang="en-GB" sz="2400" dirty="0">
                <a:solidFill>
                  <a:srgbClr val="C00000"/>
                </a:solidFill>
              </a:rPr>
              <a:t>w</a:t>
            </a:r>
            <a:r>
              <a:rPr lang="en-GB" sz="2400" baseline="-25000" dirty="0">
                <a:solidFill>
                  <a:srgbClr val="C00000"/>
                </a:solidFill>
              </a:rPr>
              <a:t>1</a:t>
            </a:r>
            <a:r>
              <a:rPr lang="en-GB" sz="2400" dirty="0">
                <a:solidFill>
                  <a:srgbClr val="C00000"/>
                </a:solidFill>
              </a:rPr>
              <a:t>(x); r</a:t>
            </a:r>
            <a:r>
              <a:rPr lang="en-GB" sz="2400" baseline="-25000" dirty="0">
                <a:solidFill>
                  <a:srgbClr val="C00000"/>
                </a:solidFill>
              </a:rPr>
              <a:t>1</a:t>
            </a:r>
            <a:r>
              <a:rPr lang="en-GB" sz="2400" dirty="0">
                <a:solidFill>
                  <a:srgbClr val="C00000"/>
                </a:solidFill>
              </a:rPr>
              <a:t>(y); </a:t>
            </a:r>
            <a:r>
              <a:rPr lang="en-GB" sz="2400" dirty="0">
                <a:solidFill>
                  <a:srgbClr val="002060"/>
                </a:solidFill>
              </a:rPr>
              <a:t>w</a:t>
            </a:r>
            <a:r>
              <a:rPr lang="en-GB" sz="2400" baseline="-25000" dirty="0">
                <a:solidFill>
                  <a:srgbClr val="002060"/>
                </a:solidFill>
              </a:rPr>
              <a:t>2</a:t>
            </a:r>
            <a:r>
              <a:rPr lang="en-GB" sz="2400" dirty="0">
                <a:solidFill>
                  <a:srgbClr val="002060"/>
                </a:solidFill>
              </a:rPr>
              <a:t>(x); c</a:t>
            </a:r>
            <a:r>
              <a:rPr lang="en-GB" sz="2400" baseline="-25000" dirty="0">
                <a:solidFill>
                  <a:srgbClr val="002060"/>
                </a:solidFill>
              </a:rPr>
              <a:t>2</a:t>
            </a:r>
            <a:r>
              <a:rPr lang="en-GB" sz="2400" dirty="0">
                <a:solidFill>
                  <a:srgbClr val="002060"/>
                </a:solidFill>
              </a:rPr>
              <a:t>; </a:t>
            </a:r>
            <a:r>
              <a:rPr lang="en-GB" sz="2400" dirty="0">
                <a:solidFill>
                  <a:srgbClr val="C00000"/>
                </a:solidFill>
              </a:rPr>
              <a:t>w</a:t>
            </a:r>
            <a:r>
              <a:rPr lang="en-GB" sz="2400" baseline="-25000" dirty="0">
                <a:solidFill>
                  <a:srgbClr val="C00000"/>
                </a:solidFill>
              </a:rPr>
              <a:t>1</a:t>
            </a:r>
            <a:r>
              <a:rPr lang="en-GB" sz="2400" dirty="0">
                <a:solidFill>
                  <a:srgbClr val="C00000"/>
                </a:solidFill>
              </a:rPr>
              <a:t>(y); c</a:t>
            </a:r>
            <a:r>
              <a:rPr lang="en-GB" sz="2400" baseline="-25000" dirty="0">
                <a:solidFill>
                  <a:srgbClr val="C00000"/>
                </a:solidFill>
              </a:rPr>
              <a:t>1</a:t>
            </a:r>
            <a:endParaRPr lang="en-US" sz="2400" dirty="0"/>
          </a:p>
        </p:txBody>
      </p:sp>
      <p:sp>
        <p:nvSpPr>
          <p:cNvPr id="12" name="Slide Number Placeholder 2">
            <a:extLst>
              <a:ext uri="{FF2B5EF4-FFF2-40B4-BE49-F238E27FC236}">
                <a16:creationId xmlns:a16="http://schemas.microsoft.com/office/drawing/2014/main" id="{FAE04B1B-893D-4E62-8616-8B5E09ADBC3C}"/>
              </a:ext>
            </a:extLst>
          </p:cNvPr>
          <p:cNvSpPr>
            <a:spLocks noGrp="1"/>
          </p:cNvSpPr>
          <p:nvPr>
            <p:ph type="sldNum" sz="quarter" idx="12"/>
          </p:nvPr>
        </p:nvSpPr>
        <p:spPr>
          <a:xfrm>
            <a:off x="9900458" y="6459785"/>
            <a:ext cx="1312025" cy="365125"/>
          </a:xfrm>
        </p:spPr>
        <p:txBody>
          <a:bodyPr/>
          <a:lstStyle/>
          <a:p>
            <a:fld id="{C260D5AD-280D-4F23-8F09-5CDE2943111F}" type="slidenum">
              <a:rPr lang="en-GB" smtClean="0"/>
              <a:pPr/>
              <a:t>6</a:t>
            </a:fld>
            <a:endParaRPr lang="en-GB"/>
          </a:p>
        </p:txBody>
      </p:sp>
    </p:spTree>
    <p:custDataLst>
      <p:tags r:id="rId1"/>
    </p:custDataLst>
    <p:extLst>
      <p:ext uri="{BB962C8B-B14F-4D97-AF65-F5344CB8AC3E}">
        <p14:creationId xmlns:p14="http://schemas.microsoft.com/office/powerpoint/2010/main" val="4113129355"/>
      </p:ext>
    </p:extLst>
  </p:cSld>
  <p:clrMapOvr>
    <a:masterClrMapping/>
  </p:clrMapOvr>
  <mc:AlternateContent xmlns:mc="http://schemas.openxmlformats.org/markup-compatibility/2006" xmlns:p14="http://schemas.microsoft.com/office/powerpoint/2010/main">
    <mc:Choice Requires="p14">
      <p:transition spd="slow" p14:dur="2000" advTm="149096"/>
    </mc:Choice>
    <mc:Fallback xmlns="">
      <p:transition spd="slow" advTm="14909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A Concurrent Schedule</a:t>
            </a:r>
            <a:endParaRPr lang="en-GB" sz="3100" dirty="0"/>
          </a:p>
        </p:txBody>
      </p:sp>
      <p:sp>
        <p:nvSpPr>
          <p:cNvPr id="7" name="Slide Number Placeholder 6"/>
          <p:cNvSpPr>
            <a:spLocks noGrp="1"/>
          </p:cNvSpPr>
          <p:nvPr>
            <p:ph type="sldNum" sz="quarter" idx="12"/>
          </p:nvPr>
        </p:nvSpPr>
        <p:spPr/>
        <p:txBody>
          <a:bodyPr/>
          <a:lstStyle/>
          <a:p>
            <a:fld id="{26F23E55-D42A-41AF-9F6E-8A8A2E703B49}" type="slidenum">
              <a:rPr lang="en-GB" smtClean="0"/>
              <a:pPr/>
              <a:t>7</a:t>
            </a:fld>
            <a:endParaRPr lang="en-GB"/>
          </a:p>
        </p:txBody>
      </p:sp>
      <p:graphicFrame>
        <p:nvGraphicFramePr>
          <p:cNvPr id="5" name="Table 4"/>
          <p:cNvGraphicFramePr>
            <a:graphicFrameLocks noGrp="1"/>
          </p:cNvGraphicFramePr>
          <p:nvPr>
            <p:extLst>
              <p:ext uri="{D42A27DB-BD31-4B8C-83A1-F6EECF244321}">
                <p14:modId xmlns:p14="http://schemas.microsoft.com/office/powerpoint/2010/main" val="2766077942"/>
              </p:ext>
            </p:extLst>
          </p:nvPr>
        </p:nvGraphicFramePr>
        <p:xfrm>
          <a:off x="6905802" y="1364077"/>
          <a:ext cx="5064224" cy="482092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2028056">
                  <a:extLst>
                    <a:ext uri="{9D8B030D-6E8A-4147-A177-3AD203B41FA5}">
                      <a16:colId xmlns:a16="http://schemas.microsoft.com/office/drawing/2014/main" val="20001"/>
                    </a:ext>
                  </a:extLst>
                </a:gridCol>
                <a:gridCol w="1512168">
                  <a:extLst>
                    <a:ext uri="{9D8B030D-6E8A-4147-A177-3AD203B41FA5}">
                      <a16:colId xmlns:a16="http://schemas.microsoft.com/office/drawing/2014/main" val="20002"/>
                    </a:ext>
                  </a:extLst>
                </a:gridCol>
              </a:tblGrid>
              <a:tr h="370840">
                <a:tc>
                  <a:txBody>
                    <a:bodyPr/>
                    <a:lstStyle/>
                    <a:p>
                      <a:r>
                        <a:rPr lang="en-US" dirty="0"/>
                        <a:t>Time</a:t>
                      </a:r>
                    </a:p>
                  </a:txBody>
                  <a:tcPr/>
                </a:tc>
                <a:tc gridSpan="2">
                  <a:txBody>
                    <a:bodyPr/>
                    <a:lstStyle/>
                    <a:p>
                      <a:r>
                        <a:rPr lang="en-US" sz="1800" b="1" baseline="0" dirty="0"/>
                        <a:t>Schedule</a:t>
                      </a:r>
                      <a:endParaRPr lang="en-US" sz="1600" b="1" baseline="-25000"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r>
                        <a:rPr lang="en-US" dirty="0"/>
                        <a:t>t0</a:t>
                      </a:r>
                    </a:p>
                  </a:txBody>
                  <a:tcPr/>
                </a:tc>
                <a:tc>
                  <a:txBody>
                    <a:bodyPr/>
                    <a:lstStyle/>
                    <a:p>
                      <a:endParaRPr lang="en-US" dirty="0"/>
                    </a:p>
                  </a:txBody>
                  <a:tcPr/>
                </a:tc>
                <a:tc>
                  <a:txBody>
                    <a:bodyPr/>
                    <a:lstStyle/>
                    <a:p>
                      <a:endParaRPr lang="en-US"/>
                    </a:p>
                  </a:txBody>
                  <a:tcPr/>
                </a:tc>
                <a:extLst>
                  <a:ext uri="{0D108BD9-81ED-4DB2-BD59-A6C34878D82A}">
                    <a16:rowId xmlns:a16="http://schemas.microsoft.com/office/drawing/2014/main" val="10001"/>
                  </a:ext>
                </a:extLst>
              </a:tr>
              <a:tr h="370840">
                <a:tc>
                  <a:txBody>
                    <a:bodyPr/>
                    <a:lstStyle/>
                    <a:p>
                      <a:r>
                        <a:rPr lang="en-US" dirty="0"/>
                        <a:t>t1</a:t>
                      </a:r>
                    </a:p>
                  </a:txBody>
                  <a:tcPr/>
                </a:tc>
                <a:tc>
                  <a:txBody>
                    <a:bodyPr/>
                    <a:lstStyle/>
                    <a:p>
                      <a:r>
                        <a:rPr lang="en-US" dirty="0">
                          <a:solidFill>
                            <a:srgbClr val="C00000"/>
                          </a:solidFill>
                        </a:rPr>
                        <a:t>read(X)</a:t>
                      </a:r>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t2</a:t>
                      </a:r>
                    </a:p>
                  </a:txBody>
                  <a:tcPr/>
                </a:tc>
                <a:tc>
                  <a:txBody>
                    <a:bodyPr/>
                    <a:lstStyle/>
                    <a:p>
                      <a:endParaRPr lang="en-US"/>
                    </a:p>
                  </a:txBody>
                  <a:tcPr/>
                </a:tc>
                <a:tc>
                  <a:txBody>
                    <a:bodyPr/>
                    <a:lstStyle/>
                    <a:p>
                      <a:r>
                        <a:rPr lang="en-US" dirty="0">
                          <a:solidFill>
                            <a:schemeClr val="tx2"/>
                          </a:solidFill>
                        </a:rPr>
                        <a:t>read(X)</a:t>
                      </a:r>
                      <a:endParaRPr lang="en-US" dirty="0"/>
                    </a:p>
                  </a:txBody>
                  <a:tcPr/>
                </a:tc>
                <a:extLst>
                  <a:ext uri="{0D108BD9-81ED-4DB2-BD59-A6C34878D82A}">
                    <a16:rowId xmlns:a16="http://schemas.microsoft.com/office/drawing/2014/main" val="10003"/>
                  </a:ext>
                </a:extLst>
              </a:tr>
              <a:tr h="370840">
                <a:tc>
                  <a:txBody>
                    <a:bodyPr/>
                    <a:lstStyle/>
                    <a:p>
                      <a:r>
                        <a:rPr lang="en-US" dirty="0"/>
                        <a:t>t3</a:t>
                      </a:r>
                    </a:p>
                  </a:txBody>
                  <a:tcPr/>
                </a:tc>
                <a:tc>
                  <a:txBody>
                    <a:bodyPr/>
                    <a:lstStyle/>
                    <a:p>
                      <a:endParaRPr lang="en-US" dirty="0"/>
                    </a:p>
                  </a:txBody>
                  <a:tcPr/>
                </a:tc>
                <a:tc>
                  <a:txBody>
                    <a:bodyPr/>
                    <a:lstStyle/>
                    <a:p>
                      <a:r>
                        <a:rPr lang="en-US" dirty="0">
                          <a:solidFill>
                            <a:schemeClr val="tx2"/>
                          </a:solidFill>
                        </a:rPr>
                        <a:t>X := X + M</a:t>
                      </a:r>
                      <a:endParaRPr lang="en-US" dirty="0"/>
                    </a:p>
                  </a:txBody>
                  <a:tcPr/>
                </a:tc>
                <a:extLst>
                  <a:ext uri="{0D108BD9-81ED-4DB2-BD59-A6C34878D82A}">
                    <a16:rowId xmlns:a16="http://schemas.microsoft.com/office/drawing/2014/main" val="10004"/>
                  </a:ext>
                </a:extLst>
              </a:tr>
              <a:tr h="370840">
                <a:tc>
                  <a:txBody>
                    <a:bodyPr/>
                    <a:lstStyle/>
                    <a:p>
                      <a:r>
                        <a:rPr lang="en-US" dirty="0"/>
                        <a:t>t4</a:t>
                      </a:r>
                    </a:p>
                  </a:txBody>
                  <a:tcPr/>
                </a:tc>
                <a:tc>
                  <a:txBody>
                    <a:bodyPr/>
                    <a:lstStyle/>
                    <a:p>
                      <a:r>
                        <a:rPr lang="en-GB" sz="1800" dirty="0">
                          <a:solidFill>
                            <a:srgbClr val="C00000"/>
                          </a:solidFill>
                        </a:rPr>
                        <a:t>X := X + N</a:t>
                      </a:r>
                      <a:endParaRPr lang="en-US" dirty="0">
                        <a:solidFill>
                          <a:srgbClr val="C00000"/>
                        </a:solidFill>
                      </a:endParaRPr>
                    </a:p>
                  </a:txBody>
                  <a:tcPr/>
                </a:tc>
                <a:tc>
                  <a:txBody>
                    <a:bodyPr/>
                    <a:lstStyle/>
                    <a:p>
                      <a:endParaRPr lang="en-US" dirty="0"/>
                    </a:p>
                  </a:txBody>
                  <a:tcPr/>
                </a:tc>
                <a:extLst>
                  <a:ext uri="{0D108BD9-81ED-4DB2-BD59-A6C34878D82A}">
                    <a16:rowId xmlns:a16="http://schemas.microsoft.com/office/drawing/2014/main" val="10005"/>
                  </a:ext>
                </a:extLst>
              </a:tr>
              <a:tr h="370840">
                <a:tc>
                  <a:txBody>
                    <a:bodyPr/>
                    <a:lstStyle/>
                    <a:p>
                      <a:r>
                        <a:rPr lang="en-US" dirty="0"/>
                        <a:t>t5</a:t>
                      </a:r>
                    </a:p>
                  </a:txBody>
                  <a:tcPr/>
                </a:tc>
                <a:tc>
                  <a:txBody>
                    <a:bodyPr/>
                    <a:lstStyle/>
                    <a:p>
                      <a:r>
                        <a:rPr lang="en-GB" sz="1800" dirty="0">
                          <a:solidFill>
                            <a:srgbClr val="C00000"/>
                          </a:solidFill>
                        </a:rPr>
                        <a:t>write(X)</a:t>
                      </a:r>
                      <a:endParaRPr lang="en-US" dirty="0">
                        <a:solidFill>
                          <a:srgbClr val="C00000"/>
                        </a:solidFill>
                      </a:endParaRPr>
                    </a:p>
                  </a:txBody>
                  <a:tcPr/>
                </a:tc>
                <a:tc>
                  <a:txBody>
                    <a:bodyPr/>
                    <a:lstStyle/>
                    <a:p>
                      <a:endParaRPr lang="en-US" dirty="0"/>
                    </a:p>
                  </a:txBody>
                  <a:tcPr/>
                </a:tc>
                <a:extLst>
                  <a:ext uri="{0D108BD9-81ED-4DB2-BD59-A6C34878D82A}">
                    <a16:rowId xmlns:a16="http://schemas.microsoft.com/office/drawing/2014/main" val="10006"/>
                  </a:ext>
                </a:extLst>
              </a:tr>
              <a:tr h="370840">
                <a:tc>
                  <a:txBody>
                    <a:bodyPr/>
                    <a:lstStyle/>
                    <a:p>
                      <a:r>
                        <a:rPr lang="en-US" dirty="0"/>
                        <a:t>t6</a:t>
                      </a:r>
                    </a:p>
                  </a:txBody>
                  <a:tcPr/>
                </a:tc>
                <a:tc>
                  <a:txBody>
                    <a:bodyPr/>
                    <a:lstStyle/>
                    <a:p>
                      <a:r>
                        <a:rPr lang="en-US" dirty="0">
                          <a:solidFill>
                            <a:srgbClr val="C00000"/>
                          </a:solidFill>
                        </a:rPr>
                        <a:t>read(Y)</a:t>
                      </a:r>
                    </a:p>
                  </a:txBody>
                  <a:tcPr/>
                </a:tc>
                <a:tc>
                  <a:txBody>
                    <a:bodyPr/>
                    <a:lstStyle/>
                    <a:p>
                      <a:endParaRPr lang="en-US" dirty="0"/>
                    </a:p>
                  </a:txBody>
                  <a:tcPr/>
                </a:tc>
                <a:extLst>
                  <a:ext uri="{0D108BD9-81ED-4DB2-BD59-A6C34878D82A}">
                    <a16:rowId xmlns:a16="http://schemas.microsoft.com/office/drawing/2014/main" val="10007"/>
                  </a:ext>
                </a:extLst>
              </a:tr>
              <a:tr h="370840">
                <a:tc>
                  <a:txBody>
                    <a:bodyPr/>
                    <a:lstStyle/>
                    <a:p>
                      <a:r>
                        <a:rPr lang="en-US" dirty="0"/>
                        <a:t>t7</a:t>
                      </a:r>
                    </a:p>
                  </a:txBody>
                  <a:tcPr/>
                </a:tc>
                <a:tc>
                  <a:txBody>
                    <a:bodyPr/>
                    <a:lstStyle/>
                    <a:p>
                      <a:endParaRPr lang="en-US" dirty="0"/>
                    </a:p>
                  </a:txBody>
                  <a:tcPr/>
                </a:tc>
                <a:tc>
                  <a:txBody>
                    <a:bodyPr/>
                    <a:lstStyle/>
                    <a:p>
                      <a:r>
                        <a:rPr lang="en-US" dirty="0">
                          <a:solidFill>
                            <a:schemeClr val="tx2"/>
                          </a:solidFill>
                        </a:rPr>
                        <a:t>write(X)</a:t>
                      </a:r>
                      <a:endParaRPr lang="en-US" dirty="0"/>
                    </a:p>
                  </a:txBody>
                  <a:tcPr/>
                </a:tc>
                <a:extLst>
                  <a:ext uri="{0D108BD9-81ED-4DB2-BD59-A6C34878D82A}">
                    <a16:rowId xmlns:a16="http://schemas.microsoft.com/office/drawing/2014/main" val="10008"/>
                  </a:ext>
                </a:extLst>
              </a:tr>
              <a:tr h="370840">
                <a:tc>
                  <a:txBody>
                    <a:bodyPr/>
                    <a:lstStyle/>
                    <a:p>
                      <a:r>
                        <a:rPr lang="en-US" dirty="0"/>
                        <a:t>t8</a:t>
                      </a:r>
                    </a:p>
                  </a:txBody>
                  <a:tcPr/>
                </a:tc>
                <a:tc>
                  <a:txBody>
                    <a:bodyPr/>
                    <a:lstStyle/>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rPr>
                        <a:t>commit</a:t>
                      </a:r>
                    </a:p>
                  </a:txBody>
                  <a:tcPr/>
                </a:tc>
                <a:extLst>
                  <a:ext uri="{0D108BD9-81ED-4DB2-BD59-A6C34878D82A}">
                    <a16:rowId xmlns:a16="http://schemas.microsoft.com/office/drawing/2014/main" val="10009"/>
                  </a:ext>
                </a:extLst>
              </a:tr>
              <a:tr h="370840">
                <a:tc>
                  <a:txBody>
                    <a:bodyPr/>
                    <a:lstStyle/>
                    <a:p>
                      <a:r>
                        <a:rPr lang="en-US" dirty="0"/>
                        <a:t>t9</a:t>
                      </a:r>
                    </a:p>
                  </a:txBody>
                  <a:tcPr/>
                </a:tc>
                <a:tc>
                  <a:txBody>
                    <a:bodyPr/>
                    <a:lstStyle/>
                    <a:p>
                      <a:r>
                        <a:rPr lang="en-GB" sz="1800" dirty="0">
                          <a:solidFill>
                            <a:srgbClr val="C00000"/>
                          </a:solidFill>
                        </a:rPr>
                        <a:t>Y := Y +</a:t>
                      </a:r>
                      <a:r>
                        <a:rPr lang="en-GB" sz="1800" baseline="0" dirty="0">
                          <a:solidFill>
                            <a:srgbClr val="C00000"/>
                          </a:solidFill>
                        </a:rPr>
                        <a:t> N</a:t>
                      </a:r>
                      <a:endParaRPr lang="en-US" dirty="0">
                        <a:solidFill>
                          <a:srgbClr val="C00000"/>
                        </a:solidFill>
                      </a:endParaRPr>
                    </a:p>
                  </a:txBody>
                  <a:tcPr/>
                </a:tc>
                <a:tc>
                  <a:txBody>
                    <a:bodyPr/>
                    <a:lstStyle/>
                    <a:p>
                      <a:endParaRPr lang="en-US" dirty="0">
                        <a:solidFill>
                          <a:schemeClr val="tx2"/>
                        </a:solidFill>
                      </a:endParaRPr>
                    </a:p>
                  </a:txBody>
                  <a:tcPr/>
                </a:tc>
                <a:extLst>
                  <a:ext uri="{0D108BD9-81ED-4DB2-BD59-A6C34878D82A}">
                    <a16:rowId xmlns:a16="http://schemas.microsoft.com/office/drawing/2014/main" val="10010"/>
                  </a:ext>
                </a:extLst>
              </a:tr>
              <a:tr h="370840">
                <a:tc>
                  <a:txBody>
                    <a:bodyPr/>
                    <a:lstStyle/>
                    <a:p>
                      <a:r>
                        <a:rPr lang="en-US" dirty="0"/>
                        <a:t>t10</a:t>
                      </a:r>
                    </a:p>
                  </a:txBody>
                  <a:tcPr/>
                </a:tc>
                <a:tc>
                  <a:txBody>
                    <a:bodyPr/>
                    <a:lstStyle/>
                    <a:p>
                      <a:r>
                        <a:rPr lang="en-US" dirty="0">
                          <a:solidFill>
                            <a:srgbClr val="C00000"/>
                          </a:solidFill>
                        </a:rPr>
                        <a:t>write(Y)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2"/>
                        </a:solidFill>
                      </a:endParaRPr>
                    </a:p>
                  </a:txBody>
                  <a:tcPr/>
                </a:tc>
                <a:extLst>
                  <a:ext uri="{0D108BD9-81ED-4DB2-BD59-A6C34878D82A}">
                    <a16:rowId xmlns:a16="http://schemas.microsoft.com/office/drawing/2014/main" val="10011"/>
                  </a:ext>
                </a:extLst>
              </a:tr>
              <a:tr h="370840">
                <a:tc>
                  <a:txBody>
                    <a:bodyPr/>
                    <a:lstStyle/>
                    <a:p>
                      <a:r>
                        <a:rPr lang="en-US" dirty="0"/>
                        <a:t>t11</a:t>
                      </a:r>
                    </a:p>
                  </a:txBody>
                  <a:tcPr/>
                </a:tc>
                <a:tc>
                  <a:txBody>
                    <a:bodyPr/>
                    <a:lstStyle/>
                    <a:p>
                      <a:r>
                        <a:rPr lang="en-US" dirty="0">
                          <a:solidFill>
                            <a:srgbClr val="C00000"/>
                          </a:solidFill>
                        </a:rPr>
                        <a:t>commit</a:t>
                      </a:r>
                    </a:p>
                  </a:txBody>
                  <a:tcPr/>
                </a:tc>
                <a:tc>
                  <a:txBody>
                    <a:bodyPr/>
                    <a:lstStyle/>
                    <a:p>
                      <a:endParaRPr lang="en-US" dirty="0">
                        <a:solidFill>
                          <a:schemeClr val="tx2"/>
                        </a:solidFill>
                      </a:endParaRPr>
                    </a:p>
                  </a:txBody>
                  <a:tcPr/>
                </a:tc>
                <a:extLst>
                  <a:ext uri="{0D108BD9-81ED-4DB2-BD59-A6C34878D82A}">
                    <a16:rowId xmlns:a16="http://schemas.microsoft.com/office/drawing/2014/main" val="10012"/>
                  </a:ext>
                </a:extLst>
              </a:tr>
            </a:tbl>
          </a:graphicData>
        </a:graphic>
      </p:graphicFrame>
      <p:sp>
        <p:nvSpPr>
          <p:cNvPr id="14" name="Rectangle 13"/>
          <p:cNvSpPr/>
          <p:nvPr/>
        </p:nvSpPr>
        <p:spPr>
          <a:xfrm>
            <a:off x="6629602" y="716006"/>
            <a:ext cx="5616624" cy="461665"/>
          </a:xfrm>
          <a:prstGeom prst="rect">
            <a:avLst/>
          </a:prstGeom>
        </p:spPr>
        <p:txBody>
          <a:bodyPr wrap="square">
            <a:spAutoFit/>
          </a:bodyPr>
          <a:lstStyle/>
          <a:p>
            <a:pPr algn="ctr"/>
            <a:r>
              <a:rPr lang="en-GB" sz="2400" dirty="0">
                <a:solidFill>
                  <a:srgbClr val="C00000"/>
                </a:solidFill>
              </a:rPr>
              <a:t>r</a:t>
            </a:r>
            <a:r>
              <a:rPr lang="en-GB" sz="2400" baseline="-25000" dirty="0">
                <a:solidFill>
                  <a:srgbClr val="C00000"/>
                </a:solidFill>
              </a:rPr>
              <a:t>1</a:t>
            </a:r>
            <a:r>
              <a:rPr lang="en-GB" sz="2400" dirty="0">
                <a:solidFill>
                  <a:srgbClr val="C00000"/>
                </a:solidFill>
              </a:rPr>
              <a:t>(x); </a:t>
            </a:r>
            <a:r>
              <a:rPr lang="en-GB" sz="2400" dirty="0">
                <a:solidFill>
                  <a:srgbClr val="002060"/>
                </a:solidFill>
              </a:rPr>
              <a:t>r</a:t>
            </a:r>
            <a:r>
              <a:rPr lang="en-GB" sz="2400" baseline="-25000" dirty="0">
                <a:solidFill>
                  <a:srgbClr val="002060"/>
                </a:solidFill>
              </a:rPr>
              <a:t>2</a:t>
            </a:r>
            <a:r>
              <a:rPr lang="en-GB" sz="2400" dirty="0">
                <a:solidFill>
                  <a:srgbClr val="002060"/>
                </a:solidFill>
              </a:rPr>
              <a:t>(x); </a:t>
            </a:r>
            <a:r>
              <a:rPr lang="en-GB" sz="2400" dirty="0">
                <a:solidFill>
                  <a:srgbClr val="C00000"/>
                </a:solidFill>
              </a:rPr>
              <a:t>w</a:t>
            </a:r>
            <a:r>
              <a:rPr lang="en-GB" sz="2400" baseline="-25000" dirty="0">
                <a:solidFill>
                  <a:srgbClr val="C00000"/>
                </a:solidFill>
              </a:rPr>
              <a:t>1</a:t>
            </a:r>
            <a:r>
              <a:rPr lang="en-GB" sz="2400" dirty="0">
                <a:solidFill>
                  <a:srgbClr val="C00000"/>
                </a:solidFill>
              </a:rPr>
              <a:t>(x); r</a:t>
            </a:r>
            <a:r>
              <a:rPr lang="en-GB" sz="2400" baseline="-25000" dirty="0">
                <a:solidFill>
                  <a:srgbClr val="C00000"/>
                </a:solidFill>
              </a:rPr>
              <a:t>1</a:t>
            </a:r>
            <a:r>
              <a:rPr lang="en-GB" sz="2400" dirty="0">
                <a:solidFill>
                  <a:srgbClr val="C00000"/>
                </a:solidFill>
              </a:rPr>
              <a:t>(y); </a:t>
            </a:r>
            <a:r>
              <a:rPr lang="en-GB" sz="2400" dirty="0">
                <a:solidFill>
                  <a:srgbClr val="002060"/>
                </a:solidFill>
              </a:rPr>
              <a:t>w</a:t>
            </a:r>
            <a:r>
              <a:rPr lang="en-GB" sz="2400" baseline="-25000" dirty="0">
                <a:solidFill>
                  <a:srgbClr val="002060"/>
                </a:solidFill>
              </a:rPr>
              <a:t>2</a:t>
            </a:r>
            <a:r>
              <a:rPr lang="en-GB" sz="2400" dirty="0">
                <a:solidFill>
                  <a:srgbClr val="002060"/>
                </a:solidFill>
              </a:rPr>
              <a:t>(x); c</a:t>
            </a:r>
            <a:r>
              <a:rPr lang="en-GB" sz="2400" baseline="-25000" dirty="0">
                <a:solidFill>
                  <a:srgbClr val="002060"/>
                </a:solidFill>
              </a:rPr>
              <a:t>2</a:t>
            </a:r>
            <a:r>
              <a:rPr lang="en-GB" sz="2400" dirty="0">
                <a:solidFill>
                  <a:srgbClr val="002060"/>
                </a:solidFill>
              </a:rPr>
              <a:t>; </a:t>
            </a:r>
            <a:r>
              <a:rPr lang="en-GB" sz="2400" dirty="0">
                <a:solidFill>
                  <a:srgbClr val="C00000"/>
                </a:solidFill>
              </a:rPr>
              <a:t>w</a:t>
            </a:r>
            <a:r>
              <a:rPr lang="en-GB" sz="2400" baseline="-25000" dirty="0">
                <a:solidFill>
                  <a:srgbClr val="C00000"/>
                </a:solidFill>
              </a:rPr>
              <a:t>1</a:t>
            </a:r>
            <a:r>
              <a:rPr lang="en-GB" sz="2400" dirty="0">
                <a:solidFill>
                  <a:srgbClr val="C00000"/>
                </a:solidFill>
              </a:rPr>
              <a:t>(y); c</a:t>
            </a:r>
            <a:r>
              <a:rPr lang="en-GB" sz="2400" baseline="-25000" dirty="0">
                <a:solidFill>
                  <a:srgbClr val="C00000"/>
                </a:solidFill>
              </a:rPr>
              <a:t>1</a:t>
            </a:r>
            <a:endParaRPr lang="en-US" sz="2400" dirty="0"/>
          </a:p>
        </p:txBody>
      </p:sp>
      <p:sp>
        <p:nvSpPr>
          <p:cNvPr id="9" name="TextBox 8"/>
          <p:cNvSpPr txBox="1"/>
          <p:nvPr/>
        </p:nvSpPr>
        <p:spPr>
          <a:xfrm>
            <a:off x="1737801" y="3130181"/>
            <a:ext cx="4176464" cy="830997"/>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r>
              <a:rPr lang="en-US" sz="2400" dirty="0"/>
              <a:t>Is this schedule always equivalent to a serial one?</a:t>
            </a:r>
          </a:p>
        </p:txBody>
      </p:sp>
    </p:spTree>
    <p:extLst>
      <p:ext uri="{BB962C8B-B14F-4D97-AF65-F5344CB8AC3E}">
        <p14:creationId xmlns:p14="http://schemas.microsoft.com/office/powerpoint/2010/main" val="345879705"/>
      </p:ext>
    </p:extLst>
  </p:cSld>
  <p:clrMapOvr>
    <a:masterClrMapping/>
  </p:clrMapOvr>
  <mc:AlternateContent xmlns:mc="http://schemas.openxmlformats.org/markup-compatibility/2006" xmlns:p14="http://schemas.microsoft.com/office/powerpoint/2010/main">
    <mc:Choice Requires="p14">
      <p:transition spd="slow" p14:dur="2000" advTm="19650"/>
    </mc:Choice>
    <mc:Fallback xmlns="">
      <p:transition spd="slow" advTm="1965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A Concurrent Schedule</a:t>
            </a:r>
            <a:endParaRPr lang="en-GB" sz="3100" dirty="0"/>
          </a:p>
        </p:txBody>
      </p:sp>
      <p:sp>
        <p:nvSpPr>
          <p:cNvPr id="7" name="Slide Number Placeholder 6"/>
          <p:cNvSpPr>
            <a:spLocks noGrp="1"/>
          </p:cNvSpPr>
          <p:nvPr>
            <p:ph type="sldNum" sz="quarter" idx="12"/>
          </p:nvPr>
        </p:nvSpPr>
        <p:spPr/>
        <p:txBody>
          <a:bodyPr/>
          <a:lstStyle/>
          <a:p>
            <a:fld id="{26F23E55-D42A-41AF-9F6E-8A8A2E703B49}" type="slidenum">
              <a:rPr lang="en-GB" smtClean="0"/>
              <a:pPr/>
              <a:t>8</a:t>
            </a:fld>
            <a:endParaRPr lang="en-GB"/>
          </a:p>
        </p:txBody>
      </p:sp>
      <p:graphicFrame>
        <p:nvGraphicFramePr>
          <p:cNvPr id="5" name="Table 4"/>
          <p:cNvGraphicFramePr>
            <a:graphicFrameLocks noGrp="1"/>
          </p:cNvGraphicFramePr>
          <p:nvPr>
            <p:extLst>
              <p:ext uri="{D42A27DB-BD31-4B8C-83A1-F6EECF244321}">
                <p14:modId xmlns:p14="http://schemas.microsoft.com/office/powerpoint/2010/main" val="501604788"/>
              </p:ext>
            </p:extLst>
          </p:nvPr>
        </p:nvGraphicFramePr>
        <p:xfrm>
          <a:off x="6905802" y="1364077"/>
          <a:ext cx="5064224" cy="482092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2028056">
                  <a:extLst>
                    <a:ext uri="{9D8B030D-6E8A-4147-A177-3AD203B41FA5}">
                      <a16:colId xmlns:a16="http://schemas.microsoft.com/office/drawing/2014/main" val="20001"/>
                    </a:ext>
                  </a:extLst>
                </a:gridCol>
                <a:gridCol w="1512168">
                  <a:extLst>
                    <a:ext uri="{9D8B030D-6E8A-4147-A177-3AD203B41FA5}">
                      <a16:colId xmlns:a16="http://schemas.microsoft.com/office/drawing/2014/main" val="20002"/>
                    </a:ext>
                  </a:extLst>
                </a:gridCol>
              </a:tblGrid>
              <a:tr h="370840">
                <a:tc>
                  <a:txBody>
                    <a:bodyPr/>
                    <a:lstStyle/>
                    <a:p>
                      <a:r>
                        <a:rPr lang="en-US" dirty="0"/>
                        <a:t>Time</a:t>
                      </a:r>
                    </a:p>
                  </a:txBody>
                  <a:tcPr/>
                </a:tc>
                <a:tc gridSpan="2">
                  <a:txBody>
                    <a:bodyPr/>
                    <a:lstStyle/>
                    <a:p>
                      <a:r>
                        <a:rPr lang="en-US" sz="1800" b="1" baseline="0" dirty="0"/>
                        <a:t>Schedule</a:t>
                      </a:r>
                      <a:endParaRPr lang="en-US" sz="1600" b="1" baseline="-25000"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r>
                        <a:rPr lang="en-US" dirty="0"/>
                        <a:t>t0</a:t>
                      </a:r>
                    </a:p>
                  </a:txBody>
                  <a:tcPr/>
                </a:tc>
                <a:tc>
                  <a:txBody>
                    <a:bodyPr/>
                    <a:lstStyle/>
                    <a:p>
                      <a:endParaRPr lang="en-US" dirty="0"/>
                    </a:p>
                  </a:txBody>
                  <a:tcPr/>
                </a:tc>
                <a:tc>
                  <a:txBody>
                    <a:bodyPr/>
                    <a:lstStyle/>
                    <a:p>
                      <a:endParaRPr lang="en-US"/>
                    </a:p>
                  </a:txBody>
                  <a:tcPr/>
                </a:tc>
                <a:extLst>
                  <a:ext uri="{0D108BD9-81ED-4DB2-BD59-A6C34878D82A}">
                    <a16:rowId xmlns:a16="http://schemas.microsoft.com/office/drawing/2014/main" val="10001"/>
                  </a:ext>
                </a:extLst>
              </a:tr>
              <a:tr h="370840">
                <a:tc>
                  <a:txBody>
                    <a:bodyPr/>
                    <a:lstStyle/>
                    <a:p>
                      <a:r>
                        <a:rPr lang="en-US" dirty="0"/>
                        <a:t>t1</a:t>
                      </a:r>
                    </a:p>
                  </a:txBody>
                  <a:tcPr/>
                </a:tc>
                <a:tc>
                  <a:txBody>
                    <a:bodyPr/>
                    <a:lstStyle/>
                    <a:p>
                      <a:r>
                        <a:rPr lang="en-US" dirty="0">
                          <a:solidFill>
                            <a:srgbClr val="C00000"/>
                          </a:solidFill>
                        </a:rPr>
                        <a:t>read(X)</a:t>
                      </a:r>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t2</a:t>
                      </a:r>
                    </a:p>
                  </a:txBody>
                  <a:tcPr/>
                </a:tc>
                <a:tc>
                  <a:txBody>
                    <a:bodyPr/>
                    <a:lstStyle/>
                    <a:p>
                      <a:endParaRPr lang="en-US"/>
                    </a:p>
                  </a:txBody>
                  <a:tcPr/>
                </a:tc>
                <a:tc>
                  <a:txBody>
                    <a:bodyPr/>
                    <a:lstStyle/>
                    <a:p>
                      <a:r>
                        <a:rPr lang="en-US" dirty="0">
                          <a:solidFill>
                            <a:schemeClr val="tx2"/>
                          </a:solidFill>
                        </a:rPr>
                        <a:t>read(X)</a:t>
                      </a:r>
                      <a:endParaRPr lang="en-US" dirty="0"/>
                    </a:p>
                  </a:txBody>
                  <a:tcPr/>
                </a:tc>
                <a:extLst>
                  <a:ext uri="{0D108BD9-81ED-4DB2-BD59-A6C34878D82A}">
                    <a16:rowId xmlns:a16="http://schemas.microsoft.com/office/drawing/2014/main" val="10003"/>
                  </a:ext>
                </a:extLst>
              </a:tr>
              <a:tr h="370840">
                <a:tc>
                  <a:txBody>
                    <a:bodyPr/>
                    <a:lstStyle/>
                    <a:p>
                      <a:r>
                        <a:rPr lang="en-US" dirty="0"/>
                        <a:t>t3</a:t>
                      </a:r>
                    </a:p>
                  </a:txBody>
                  <a:tcPr/>
                </a:tc>
                <a:tc>
                  <a:txBody>
                    <a:bodyPr/>
                    <a:lstStyle/>
                    <a:p>
                      <a:endParaRPr lang="en-US" dirty="0"/>
                    </a:p>
                  </a:txBody>
                  <a:tcPr/>
                </a:tc>
                <a:tc>
                  <a:txBody>
                    <a:bodyPr/>
                    <a:lstStyle/>
                    <a:p>
                      <a:r>
                        <a:rPr lang="en-US" dirty="0">
                          <a:solidFill>
                            <a:schemeClr val="tx2"/>
                          </a:solidFill>
                        </a:rPr>
                        <a:t>X := X + M</a:t>
                      </a:r>
                      <a:endParaRPr lang="en-US" dirty="0"/>
                    </a:p>
                  </a:txBody>
                  <a:tcPr/>
                </a:tc>
                <a:extLst>
                  <a:ext uri="{0D108BD9-81ED-4DB2-BD59-A6C34878D82A}">
                    <a16:rowId xmlns:a16="http://schemas.microsoft.com/office/drawing/2014/main" val="10004"/>
                  </a:ext>
                </a:extLst>
              </a:tr>
              <a:tr h="370840">
                <a:tc>
                  <a:txBody>
                    <a:bodyPr/>
                    <a:lstStyle/>
                    <a:p>
                      <a:r>
                        <a:rPr lang="en-US" dirty="0"/>
                        <a:t>t4</a:t>
                      </a:r>
                    </a:p>
                  </a:txBody>
                  <a:tcPr/>
                </a:tc>
                <a:tc>
                  <a:txBody>
                    <a:bodyPr/>
                    <a:lstStyle/>
                    <a:p>
                      <a:r>
                        <a:rPr lang="en-GB" sz="1800" dirty="0">
                          <a:solidFill>
                            <a:srgbClr val="C00000"/>
                          </a:solidFill>
                        </a:rPr>
                        <a:t>X := X + N</a:t>
                      </a:r>
                      <a:endParaRPr lang="en-US" dirty="0">
                        <a:solidFill>
                          <a:srgbClr val="C00000"/>
                        </a:solidFill>
                      </a:endParaRPr>
                    </a:p>
                  </a:txBody>
                  <a:tcPr/>
                </a:tc>
                <a:tc>
                  <a:txBody>
                    <a:bodyPr/>
                    <a:lstStyle/>
                    <a:p>
                      <a:endParaRPr lang="en-US" dirty="0"/>
                    </a:p>
                  </a:txBody>
                  <a:tcPr/>
                </a:tc>
                <a:extLst>
                  <a:ext uri="{0D108BD9-81ED-4DB2-BD59-A6C34878D82A}">
                    <a16:rowId xmlns:a16="http://schemas.microsoft.com/office/drawing/2014/main" val="10005"/>
                  </a:ext>
                </a:extLst>
              </a:tr>
              <a:tr h="370840">
                <a:tc>
                  <a:txBody>
                    <a:bodyPr/>
                    <a:lstStyle/>
                    <a:p>
                      <a:r>
                        <a:rPr lang="en-US" dirty="0"/>
                        <a:t>t5</a:t>
                      </a:r>
                    </a:p>
                  </a:txBody>
                  <a:tcPr/>
                </a:tc>
                <a:tc>
                  <a:txBody>
                    <a:bodyPr/>
                    <a:lstStyle/>
                    <a:p>
                      <a:r>
                        <a:rPr lang="en-GB" sz="1800" dirty="0">
                          <a:solidFill>
                            <a:srgbClr val="C00000"/>
                          </a:solidFill>
                        </a:rPr>
                        <a:t>write(X)</a:t>
                      </a:r>
                      <a:endParaRPr lang="en-US" dirty="0">
                        <a:solidFill>
                          <a:srgbClr val="C00000"/>
                        </a:solidFill>
                      </a:endParaRPr>
                    </a:p>
                  </a:txBody>
                  <a:tcPr/>
                </a:tc>
                <a:tc>
                  <a:txBody>
                    <a:bodyPr/>
                    <a:lstStyle/>
                    <a:p>
                      <a:endParaRPr lang="en-US" dirty="0"/>
                    </a:p>
                  </a:txBody>
                  <a:tcPr/>
                </a:tc>
                <a:extLst>
                  <a:ext uri="{0D108BD9-81ED-4DB2-BD59-A6C34878D82A}">
                    <a16:rowId xmlns:a16="http://schemas.microsoft.com/office/drawing/2014/main" val="10006"/>
                  </a:ext>
                </a:extLst>
              </a:tr>
              <a:tr h="370840">
                <a:tc>
                  <a:txBody>
                    <a:bodyPr/>
                    <a:lstStyle/>
                    <a:p>
                      <a:r>
                        <a:rPr lang="en-US" dirty="0"/>
                        <a:t>t6</a:t>
                      </a:r>
                    </a:p>
                  </a:txBody>
                  <a:tcPr/>
                </a:tc>
                <a:tc>
                  <a:txBody>
                    <a:bodyPr/>
                    <a:lstStyle/>
                    <a:p>
                      <a:r>
                        <a:rPr lang="en-US" dirty="0">
                          <a:solidFill>
                            <a:srgbClr val="C00000"/>
                          </a:solidFill>
                        </a:rPr>
                        <a:t>read(Y)</a:t>
                      </a:r>
                    </a:p>
                  </a:txBody>
                  <a:tcPr/>
                </a:tc>
                <a:tc>
                  <a:txBody>
                    <a:bodyPr/>
                    <a:lstStyle/>
                    <a:p>
                      <a:endParaRPr lang="en-US" dirty="0"/>
                    </a:p>
                  </a:txBody>
                  <a:tcPr/>
                </a:tc>
                <a:extLst>
                  <a:ext uri="{0D108BD9-81ED-4DB2-BD59-A6C34878D82A}">
                    <a16:rowId xmlns:a16="http://schemas.microsoft.com/office/drawing/2014/main" val="10007"/>
                  </a:ext>
                </a:extLst>
              </a:tr>
              <a:tr h="370840">
                <a:tc>
                  <a:txBody>
                    <a:bodyPr/>
                    <a:lstStyle/>
                    <a:p>
                      <a:r>
                        <a:rPr lang="en-US" dirty="0"/>
                        <a:t>t7</a:t>
                      </a:r>
                    </a:p>
                  </a:txBody>
                  <a:tcPr/>
                </a:tc>
                <a:tc>
                  <a:txBody>
                    <a:bodyPr/>
                    <a:lstStyle/>
                    <a:p>
                      <a:endParaRPr lang="en-US" dirty="0"/>
                    </a:p>
                  </a:txBody>
                  <a:tcPr/>
                </a:tc>
                <a:tc>
                  <a:txBody>
                    <a:bodyPr/>
                    <a:lstStyle/>
                    <a:p>
                      <a:r>
                        <a:rPr lang="en-US" dirty="0">
                          <a:solidFill>
                            <a:schemeClr val="tx2"/>
                          </a:solidFill>
                        </a:rPr>
                        <a:t>write(X)</a:t>
                      </a:r>
                      <a:endParaRPr lang="en-US" dirty="0"/>
                    </a:p>
                  </a:txBody>
                  <a:tcPr/>
                </a:tc>
                <a:extLst>
                  <a:ext uri="{0D108BD9-81ED-4DB2-BD59-A6C34878D82A}">
                    <a16:rowId xmlns:a16="http://schemas.microsoft.com/office/drawing/2014/main" val="10008"/>
                  </a:ext>
                </a:extLst>
              </a:tr>
              <a:tr h="370840">
                <a:tc>
                  <a:txBody>
                    <a:bodyPr/>
                    <a:lstStyle/>
                    <a:p>
                      <a:r>
                        <a:rPr lang="en-US" dirty="0"/>
                        <a:t>t8</a:t>
                      </a:r>
                    </a:p>
                  </a:txBody>
                  <a:tcPr/>
                </a:tc>
                <a:tc>
                  <a:txBody>
                    <a:bodyPr/>
                    <a:lstStyle/>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rPr>
                        <a:t>commit</a:t>
                      </a:r>
                    </a:p>
                  </a:txBody>
                  <a:tcPr/>
                </a:tc>
                <a:extLst>
                  <a:ext uri="{0D108BD9-81ED-4DB2-BD59-A6C34878D82A}">
                    <a16:rowId xmlns:a16="http://schemas.microsoft.com/office/drawing/2014/main" val="10009"/>
                  </a:ext>
                </a:extLst>
              </a:tr>
              <a:tr h="370840">
                <a:tc>
                  <a:txBody>
                    <a:bodyPr/>
                    <a:lstStyle/>
                    <a:p>
                      <a:r>
                        <a:rPr lang="en-US" dirty="0"/>
                        <a:t>t9</a:t>
                      </a:r>
                    </a:p>
                  </a:txBody>
                  <a:tcPr/>
                </a:tc>
                <a:tc>
                  <a:txBody>
                    <a:bodyPr/>
                    <a:lstStyle/>
                    <a:p>
                      <a:r>
                        <a:rPr lang="en-GB" sz="1800" dirty="0">
                          <a:solidFill>
                            <a:srgbClr val="C00000"/>
                          </a:solidFill>
                        </a:rPr>
                        <a:t>Y := Y +</a:t>
                      </a:r>
                      <a:r>
                        <a:rPr lang="en-GB" sz="1800" baseline="0" dirty="0">
                          <a:solidFill>
                            <a:srgbClr val="C00000"/>
                          </a:solidFill>
                        </a:rPr>
                        <a:t> N</a:t>
                      </a:r>
                      <a:endParaRPr lang="en-US" dirty="0">
                        <a:solidFill>
                          <a:srgbClr val="C00000"/>
                        </a:solidFill>
                      </a:endParaRPr>
                    </a:p>
                  </a:txBody>
                  <a:tcPr/>
                </a:tc>
                <a:tc>
                  <a:txBody>
                    <a:bodyPr/>
                    <a:lstStyle/>
                    <a:p>
                      <a:endParaRPr lang="en-US" dirty="0">
                        <a:solidFill>
                          <a:schemeClr val="tx2"/>
                        </a:solidFill>
                      </a:endParaRPr>
                    </a:p>
                  </a:txBody>
                  <a:tcPr/>
                </a:tc>
                <a:extLst>
                  <a:ext uri="{0D108BD9-81ED-4DB2-BD59-A6C34878D82A}">
                    <a16:rowId xmlns:a16="http://schemas.microsoft.com/office/drawing/2014/main" val="10010"/>
                  </a:ext>
                </a:extLst>
              </a:tr>
              <a:tr h="370840">
                <a:tc>
                  <a:txBody>
                    <a:bodyPr/>
                    <a:lstStyle/>
                    <a:p>
                      <a:r>
                        <a:rPr lang="en-US" dirty="0"/>
                        <a:t>t10</a:t>
                      </a:r>
                    </a:p>
                  </a:txBody>
                  <a:tcPr/>
                </a:tc>
                <a:tc>
                  <a:txBody>
                    <a:bodyPr/>
                    <a:lstStyle/>
                    <a:p>
                      <a:r>
                        <a:rPr lang="en-US" dirty="0">
                          <a:solidFill>
                            <a:srgbClr val="C00000"/>
                          </a:solidFill>
                        </a:rPr>
                        <a:t>write(Y)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2"/>
                        </a:solidFill>
                      </a:endParaRPr>
                    </a:p>
                  </a:txBody>
                  <a:tcPr/>
                </a:tc>
                <a:extLst>
                  <a:ext uri="{0D108BD9-81ED-4DB2-BD59-A6C34878D82A}">
                    <a16:rowId xmlns:a16="http://schemas.microsoft.com/office/drawing/2014/main" val="10011"/>
                  </a:ext>
                </a:extLst>
              </a:tr>
              <a:tr h="370840">
                <a:tc>
                  <a:txBody>
                    <a:bodyPr/>
                    <a:lstStyle/>
                    <a:p>
                      <a:r>
                        <a:rPr lang="en-US" dirty="0"/>
                        <a:t>t11</a:t>
                      </a:r>
                    </a:p>
                  </a:txBody>
                  <a:tcPr/>
                </a:tc>
                <a:tc>
                  <a:txBody>
                    <a:bodyPr/>
                    <a:lstStyle/>
                    <a:p>
                      <a:r>
                        <a:rPr lang="en-US" dirty="0">
                          <a:solidFill>
                            <a:srgbClr val="C00000"/>
                          </a:solidFill>
                        </a:rPr>
                        <a:t>commit</a:t>
                      </a:r>
                    </a:p>
                  </a:txBody>
                  <a:tcPr/>
                </a:tc>
                <a:tc>
                  <a:txBody>
                    <a:bodyPr/>
                    <a:lstStyle/>
                    <a:p>
                      <a:endParaRPr lang="en-US" dirty="0">
                        <a:solidFill>
                          <a:schemeClr val="tx2"/>
                        </a:solidFill>
                      </a:endParaRPr>
                    </a:p>
                  </a:txBody>
                  <a:tcPr/>
                </a:tc>
                <a:extLst>
                  <a:ext uri="{0D108BD9-81ED-4DB2-BD59-A6C34878D82A}">
                    <a16:rowId xmlns:a16="http://schemas.microsoft.com/office/drawing/2014/main" val="10012"/>
                  </a:ext>
                </a:extLst>
              </a:tr>
            </a:tbl>
          </a:graphicData>
        </a:graphic>
      </p:graphicFrame>
      <p:sp>
        <p:nvSpPr>
          <p:cNvPr id="14" name="Rectangle 13"/>
          <p:cNvSpPr/>
          <p:nvPr/>
        </p:nvSpPr>
        <p:spPr>
          <a:xfrm>
            <a:off x="6629602" y="716006"/>
            <a:ext cx="5616624" cy="461665"/>
          </a:xfrm>
          <a:prstGeom prst="rect">
            <a:avLst/>
          </a:prstGeom>
        </p:spPr>
        <p:txBody>
          <a:bodyPr wrap="square">
            <a:spAutoFit/>
          </a:bodyPr>
          <a:lstStyle/>
          <a:p>
            <a:pPr algn="ctr"/>
            <a:r>
              <a:rPr lang="en-GB" sz="2400" dirty="0">
                <a:solidFill>
                  <a:srgbClr val="C00000"/>
                </a:solidFill>
              </a:rPr>
              <a:t>r</a:t>
            </a:r>
            <a:r>
              <a:rPr lang="en-GB" sz="2400" baseline="-25000" dirty="0">
                <a:solidFill>
                  <a:srgbClr val="C00000"/>
                </a:solidFill>
              </a:rPr>
              <a:t>1</a:t>
            </a:r>
            <a:r>
              <a:rPr lang="en-GB" sz="2400" dirty="0">
                <a:solidFill>
                  <a:srgbClr val="C00000"/>
                </a:solidFill>
              </a:rPr>
              <a:t>(x); </a:t>
            </a:r>
            <a:r>
              <a:rPr lang="en-GB" sz="2400" dirty="0">
                <a:solidFill>
                  <a:srgbClr val="002060"/>
                </a:solidFill>
              </a:rPr>
              <a:t>r</a:t>
            </a:r>
            <a:r>
              <a:rPr lang="en-GB" sz="2400" baseline="-25000" dirty="0">
                <a:solidFill>
                  <a:srgbClr val="002060"/>
                </a:solidFill>
              </a:rPr>
              <a:t>2</a:t>
            </a:r>
            <a:r>
              <a:rPr lang="en-GB" sz="2400" dirty="0">
                <a:solidFill>
                  <a:srgbClr val="002060"/>
                </a:solidFill>
              </a:rPr>
              <a:t>(x); </a:t>
            </a:r>
            <a:r>
              <a:rPr lang="en-GB" sz="2400" dirty="0">
                <a:solidFill>
                  <a:srgbClr val="C00000"/>
                </a:solidFill>
              </a:rPr>
              <a:t>w</a:t>
            </a:r>
            <a:r>
              <a:rPr lang="en-GB" sz="2400" baseline="-25000" dirty="0">
                <a:solidFill>
                  <a:srgbClr val="C00000"/>
                </a:solidFill>
              </a:rPr>
              <a:t>1</a:t>
            </a:r>
            <a:r>
              <a:rPr lang="en-GB" sz="2400" dirty="0">
                <a:solidFill>
                  <a:srgbClr val="C00000"/>
                </a:solidFill>
              </a:rPr>
              <a:t>(x); r</a:t>
            </a:r>
            <a:r>
              <a:rPr lang="en-GB" sz="2400" baseline="-25000" dirty="0">
                <a:solidFill>
                  <a:srgbClr val="C00000"/>
                </a:solidFill>
              </a:rPr>
              <a:t>1</a:t>
            </a:r>
            <a:r>
              <a:rPr lang="en-GB" sz="2400" dirty="0">
                <a:solidFill>
                  <a:srgbClr val="C00000"/>
                </a:solidFill>
              </a:rPr>
              <a:t>(y); </a:t>
            </a:r>
            <a:r>
              <a:rPr lang="en-GB" sz="2400" dirty="0">
                <a:solidFill>
                  <a:srgbClr val="002060"/>
                </a:solidFill>
              </a:rPr>
              <a:t>w</a:t>
            </a:r>
            <a:r>
              <a:rPr lang="en-GB" sz="2400" baseline="-25000" dirty="0">
                <a:solidFill>
                  <a:srgbClr val="002060"/>
                </a:solidFill>
              </a:rPr>
              <a:t>2</a:t>
            </a:r>
            <a:r>
              <a:rPr lang="en-GB" sz="2400" dirty="0">
                <a:solidFill>
                  <a:srgbClr val="002060"/>
                </a:solidFill>
              </a:rPr>
              <a:t>(x); c</a:t>
            </a:r>
            <a:r>
              <a:rPr lang="en-GB" sz="2400" baseline="-25000" dirty="0">
                <a:solidFill>
                  <a:srgbClr val="002060"/>
                </a:solidFill>
              </a:rPr>
              <a:t>2</a:t>
            </a:r>
            <a:r>
              <a:rPr lang="en-GB" sz="2400" dirty="0">
                <a:solidFill>
                  <a:srgbClr val="002060"/>
                </a:solidFill>
              </a:rPr>
              <a:t>; </a:t>
            </a:r>
            <a:r>
              <a:rPr lang="en-GB" sz="2400" dirty="0">
                <a:solidFill>
                  <a:srgbClr val="C00000"/>
                </a:solidFill>
              </a:rPr>
              <a:t>w</a:t>
            </a:r>
            <a:r>
              <a:rPr lang="en-GB" sz="2400" baseline="-25000" dirty="0">
                <a:solidFill>
                  <a:srgbClr val="C00000"/>
                </a:solidFill>
              </a:rPr>
              <a:t>1</a:t>
            </a:r>
            <a:r>
              <a:rPr lang="en-GB" sz="2400" dirty="0">
                <a:solidFill>
                  <a:srgbClr val="C00000"/>
                </a:solidFill>
              </a:rPr>
              <a:t>(y); c</a:t>
            </a:r>
            <a:r>
              <a:rPr lang="en-GB" sz="2400" baseline="-25000" dirty="0">
                <a:solidFill>
                  <a:srgbClr val="C00000"/>
                </a:solidFill>
              </a:rPr>
              <a:t>1</a:t>
            </a:r>
            <a:endParaRPr lang="en-US" sz="2400" dirty="0"/>
          </a:p>
        </p:txBody>
      </p:sp>
      <p:sp>
        <p:nvSpPr>
          <p:cNvPr id="9" name="TextBox 8"/>
          <p:cNvSpPr txBox="1"/>
          <p:nvPr/>
        </p:nvSpPr>
        <p:spPr>
          <a:xfrm>
            <a:off x="1737801" y="3130181"/>
            <a:ext cx="4176464" cy="830997"/>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r>
              <a:rPr lang="en-US" sz="2400" dirty="0"/>
              <a:t>Is this schedule always equivalent to a serial one?</a:t>
            </a:r>
          </a:p>
        </p:txBody>
      </p:sp>
      <p:sp>
        <p:nvSpPr>
          <p:cNvPr id="8" name="Oval Callout 15">
            <a:extLst>
              <a:ext uri="{FF2B5EF4-FFF2-40B4-BE49-F238E27FC236}">
                <a16:creationId xmlns:a16="http://schemas.microsoft.com/office/drawing/2014/main" id="{71B4B37F-DBEE-4615-BFA9-8E9A16989709}"/>
              </a:ext>
            </a:extLst>
          </p:cNvPr>
          <p:cNvSpPr/>
          <p:nvPr/>
        </p:nvSpPr>
        <p:spPr>
          <a:xfrm>
            <a:off x="4119947" y="4330458"/>
            <a:ext cx="914400" cy="612648"/>
          </a:xfrm>
          <a:prstGeom prst="wedgeEllipseCallout">
            <a:avLst>
              <a:gd name="adj1" fmla="val -8928"/>
              <a:gd name="adj2" fmla="val -8497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No!</a:t>
            </a:r>
          </a:p>
        </p:txBody>
      </p:sp>
    </p:spTree>
    <p:extLst>
      <p:ext uri="{BB962C8B-B14F-4D97-AF65-F5344CB8AC3E}">
        <p14:creationId xmlns:p14="http://schemas.microsoft.com/office/powerpoint/2010/main" val="3052995320"/>
      </p:ext>
    </p:extLst>
  </p:cSld>
  <p:clrMapOvr>
    <a:masterClrMapping/>
  </p:clrMapOvr>
  <mc:AlternateContent xmlns:mc="http://schemas.openxmlformats.org/markup-compatibility/2006" xmlns:p14="http://schemas.microsoft.com/office/powerpoint/2010/main">
    <mc:Choice Requires="p14">
      <p:transition spd="slow" p14:dur="2000" advTm="25108"/>
    </mc:Choice>
    <mc:Fallback xmlns="">
      <p:transition spd="slow" advTm="25108"/>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dirty="0"/>
            </a:br>
            <a:r>
              <a:rPr lang="en-GB" dirty="0"/>
              <a:t>Basic Operations of Transactions</a:t>
            </a:r>
            <a:br>
              <a:rPr lang="en-GB" dirty="0"/>
            </a:br>
            <a:r>
              <a:rPr lang="en-GB" sz="2700" dirty="0"/>
              <a:t>(slide from video on schedules)</a:t>
            </a:r>
          </a:p>
        </p:txBody>
      </p:sp>
      <p:sp>
        <p:nvSpPr>
          <p:cNvPr id="3" name="Content Placeholder 2"/>
          <p:cNvSpPr>
            <a:spLocks noGrp="1"/>
          </p:cNvSpPr>
          <p:nvPr>
            <p:ph idx="1"/>
          </p:nvPr>
        </p:nvSpPr>
        <p:spPr/>
        <p:txBody>
          <a:bodyPr>
            <a:normAutofit/>
          </a:bodyPr>
          <a:lstStyle/>
          <a:p>
            <a:r>
              <a:rPr lang="en-GB" b="1" dirty="0"/>
              <a:t>read(X): </a:t>
            </a:r>
            <a:r>
              <a:rPr lang="en-GB" dirty="0"/>
              <a:t>Reads a database item X into a program variable (also named X, for simplicity)</a:t>
            </a:r>
          </a:p>
          <a:p>
            <a:pPr lvl="1"/>
            <a:r>
              <a:rPr lang="en-GB" dirty="0"/>
              <a:t>Find the address of the disk block (page) that contains item X</a:t>
            </a:r>
          </a:p>
          <a:p>
            <a:pPr lvl="1"/>
            <a:r>
              <a:rPr lang="en-GB" dirty="0"/>
              <a:t>Copy that disk block into a buffer in main memory</a:t>
            </a:r>
          </a:p>
          <a:p>
            <a:pPr lvl="2"/>
            <a:r>
              <a:rPr lang="en-GB" dirty="0"/>
              <a:t>if that disk block is not already in some main memory buffer</a:t>
            </a:r>
          </a:p>
          <a:p>
            <a:pPr lvl="1"/>
            <a:r>
              <a:rPr lang="en-GB" dirty="0"/>
              <a:t>Copy item X from the buffer to the program variable X</a:t>
            </a:r>
          </a:p>
          <a:p>
            <a:pPr lvl="1"/>
            <a:endParaRPr lang="en-GB" dirty="0"/>
          </a:p>
          <a:p>
            <a:r>
              <a:rPr lang="en-GB" b="1" dirty="0"/>
              <a:t>write(X): </a:t>
            </a:r>
            <a:r>
              <a:rPr lang="en-GB" dirty="0"/>
              <a:t>Writes the value of program variable</a:t>
            </a:r>
            <a:r>
              <a:rPr lang="en-GB" b="1" dirty="0"/>
              <a:t> </a:t>
            </a:r>
            <a:r>
              <a:rPr lang="en-GB" dirty="0"/>
              <a:t>X into the database item named X</a:t>
            </a:r>
          </a:p>
          <a:p>
            <a:pPr lvl="1"/>
            <a:r>
              <a:rPr lang="en-GB" dirty="0"/>
              <a:t>Find the address of the disk block (page) that contains item X.</a:t>
            </a:r>
          </a:p>
          <a:p>
            <a:pPr lvl="1"/>
            <a:r>
              <a:rPr lang="en-GB" dirty="0"/>
              <a:t>Copy that disk block into a buffer in main memory</a:t>
            </a:r>
          </a:p>
          <a:p>
            <a:pPr lvl="2"/>
            <a:r>
              <a:rPr lang="en-GB" dirty="0"/>
              <a:t>if that disk block is not already in some main memory buffer.</a:t>
            </a:r>
          </a:p>
          <a:p>
            <a:pPr lvl="2"/>
            <a:r>
              <a:rPr lang="en-GB" dirty="0"/>
              <a:t>Copy item X from the program variable X into its correct location in the buffer</a:t>
            </a:r>
          </a:p>
          <a:p>
            <a:pPr lvl="2"/>
            <a:r>
              <a:rPr lang="en-GB" dirty="0"/>
              <a:t>Store the updated block from the buffer back to disk either immediately or at some later point in time.</a:t>
            </a:r>
          </a:p>
        </p:txBody>
      </p:sp>
      <p:sp>
        <p:nvSpPr>
          <p:cNvPr id="4" name="Slide Number Placeholder 3"/>
          <p:cNvSpPr>
            <a:spLocks noGrp="1"/>
          </p:cNvSpPr>
          <p:nvPr>
            <p:ph type="sldNum" sz="quarter" idx="12"/>
          </p:nvPr>
        </p:nvSpPr>
        <p:spPr/>
        <p:txBody>
          <a:bodyPr/>
          <a:lstStyle/>
          <a:p>
            <a:fld id="{C260D5AD-280D-4F23-8F09-5CDE2943111F}" type="slidenum">
              <a:rPr lang="en-GB" smtClean="0"/>
              <a:pPr/>
              <a:t>9</a:t>
            </a:fld>
            <a:endParaRPr lang="en-GB"/>
          </a:p>
        </p:txBody>
      </p:sp>
    </p:spTree>
    <p:extLst>
      <p:ext uri="{BB962C8B-B14F-4D97-AF65-F5344CB8AC3E}">
        <p14:creationId xmlns:p14="http://schemas.microsoft.com/office/powerpoint/2010/main" val="1449012543"/>
      </p:ext>
    </p:extLst>
  </p:cSld>
  <p:clrMapOvr>
    <a:masterClrMapping/>
  </p:clrMapOvr>
  <mc:AlternateContent xmlns:mc="http://schemas.openxmlformats.org/markup-compatibility/2006" xmlns:p14="http://schemas.microsoft.com/office/powerpoint/2010/main">
    <mc:Choice Requires="p14">
      <p:transition spd="slow" p14:dur="2000" advTm="90461"/>
    </mc:Choice>
    <mc:Fallback xmlns="">
      <p:transition spd="slow" advTm="90461"/>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Concurrent Schedules Do Not Guarantee Consistency or Isolation</a:t>
            </a:r>
            <a:endParaRPr lang="en-GB" sz="3100" dirty="0"/>
          </a:p>
        </p:txBody>
      </p:sp>
      <p:sp>
        <p:nvSpPr>
          <p:cNvPr id="7" name="Slide Number Placeholder 6"/>
          <p:cNvSpPr>
            <a:spLocks noGrp="1"/>
          </p:cNvSpPr>
          <p:nvPr>
            <p:ph type="sldNum" sz="quarter" idx="12"/>
          </p:nvPr>
        </p:nvSpPr>
        <p:spPr/>
        <p:txBody>
          <a:bodyPr/>
          <a:lstStyle/>
          <a:p>
            <a:fld id="{26F23E55-D42A-41AF-9F6E-8A8A2E703B49}" type="slidenum">
              <a:rPr lang="en-GB" smtClean="0"/>
              <a:pPr/>
              <a:t>10</a:t>
            </a:fld>
            <a:endParaRPr lang="en-GB"/>
          </a:p>
        </p:txBody>
      </p:sp>
      <p:graphicFrame>
        <p:nvGraphicFramePr>
          <p:cNvPr id="9" name="Table 8"/>
          <p:cNvGraphicFramePr>
            <a:graphicFrameLocks noGrp="1"/>
          </p:cNvGraphicFramePr>
          <p:nvPr>
            <p:extLst>
              <p:ext uri="{D42A27DB-BD31-4B8C-83A1-F6EECF244321}">
                <p14:modId xmlns:p14="http://schemas.microsoft.com/office/powerpoint/2010/main" val="2656759483"/>
              </p:ext>
            </p:extLst>
          </p:nvPr>
        </p:nvGraphicFramePr>
        <p:xfrm>
          <a:off x="1919536" y="1632416"/>
          <a:ext cx="3960440" cy="4820920"/>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1620180">
                  <a:extLst>
                    <a:ext uri="{9D8B030D-6E8A-4147-A177-3AD203B41FA5}">
                      <a16:colId xmlns:a16="http://schemas.microsoft.com/office/drawing/2014/main" val="20001"/>
                    </a:ext>
                  </a:extLst>
                </a:gridCol>
                <a:gridCol w="1620180">
                  <a:extLst>
                    <a:ext uri="{9D8B030D-6E8A-4147-A177-3AD203B41FA5}">
                      <a16:colId xmlns:a16="http://schemas.microsoft.com/office/drawing/2014/main" val="20002"/>
                    </a:ext>
                  </a:extLst>
                </a:gridCol>
              </a:tblGrid>
              <a:tr h="370840">
                <a:tc>
                  <a:txBody>
                    <a:bodyPr/>
                    <a:lstStyle/>
                    <a:p>
                      <a:r>
                        <a:rPr lang="en-US" dirty="0"/>
                        <a:t>Time</a:t>
                      </a:r>
                    </a:p>
                  </a:txBody>
                  <a:tcPr/>
                </a:tc>
                <a:tc gridSpan="2">
                  <a:txBody>
                    <a:bodyPr/>
                    <a:lstStyle/>
                    <a:p>
                      <a:r>
                        <a:rPr lang="en-US" sz="1800" b="1" baseline="0" dirty="0"/>
                        <a:t>Schedule</a:t>
                      </a:r>
                      <a:endParaRPr lang="en-US" sz="1600" b="1" baseline="-25000"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r>
                        <a:rPr lang="en-US" dirty="0"/>
                        <a:t>t0</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r>
                        <a:rPr lang="en-US" dirty="0"/>
                        <a:t>t1</a:t>
                      </a:r>
                    </a:p>
                  </a:txBody>
                  <a:tcPr/>
                </a:tc>
                <a:tc>
                  <a:txBody>
                    <a:bodyPr/>
                    <a:lstStyle/>
                    <a:p>
                      <a:r>
                        <a:rPr lang="en-US" dirty="0">
                          <a:solidFill>
                            <a:srgbClr val="C00000"/>
                          </a:solidFill>
                        </a:rPr>
                        <a:t>read(X)</a:t>
                      </a:r>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t2</a:t>
                      </a:r>
                    </a:p>
                  </a:txBody>
                  <a:tcPr/>
                </a:tc>
                <a:tc>
                  <a:txBody>
                    <a:bodyPr/>
                    <a:lstStyle/>
                    <a:p>
                      <a:endParaRPr lang="en-US"/>
                    </a:p>
                  </a:txBody>
                  <a:tcPr/>
                </a:tc>
                <a:tc>
                  <a:txBody>
                    <a:bodyPr/>
                    <a:lstStyle/>
                    <a:p>
                      <a:r>
                        <a:rPr lang="en-US" dirty="0">
                          <a:solidFill>
                            <a:schemeClr val="tx2"/>
                          </a:solidFill>
                        </a:rPr>
                        <a:t>read(X)</a:t>
                      </a:r>
                      <a:endParaRPr lang="en-US" dirty="0"/>
                    </a:p>
                  </a:txBody>
                  <a:tcPr/>
                </a:tc>
                <a:extLst>
                  <a:ext uri="{0D108BD9-81ED-4DB2-BD59-A6C34878D82A}">
                    <a16:rowId xmlns:a16="http://schemas.microsoft.com/office/drawing/2014/main" val="10003"/>
                  </a:ext>
                </a:extLst>
              </a:tr>
              <a:tr h="370840">
                <a:tc>
                  <a:txBody>
                    <a:bodyPr/>
                    <a:lstStyle/>
                    <a:p>
                      <a:r>
                        <a:rPr lang="en-US" dirty="0"/>
                        <a:t>t3</a:t>
                      </a:r>
                    </a:p>
                  </a:txBody>
                  <a:tcPr/>
                </a:tc>
                <a:tc>
                  <a:txBody>
                    <a:bodyPr/>
                    <a:lstStyle/>
                    <a:p>
                      <a:endParaRPr lang="en-US" dirty="0"/>
                    </a:p>
                  </a:txBody>
                  <a:tcPr/>
                </a:tc>
                <a:tc>
                  <a:txBody>
                    <a:bodyPr/>
                    <a:lstStyle/>
                    <a:p>
                      <a:r>
                        <a:rPr lang="en-US" dirty="0">
                          <a:solidFill>
                            <a:schemeClr val="tx2"/>
                          </a:solidFill>
                        </a:rPr>
                        <a:t>X := X + M</a:t>
                      </a:r>
                      <a:endParaRPr lang="en-US" dirty="0"/>
                    </a:p>
                  </a:txBody>
                  <a:tcPr/>
                </a:tc>
                <a:extLst>
                  <a:ext uri="{0D108BD9-81ED-4DB2-BD59-A6C34878D82A}">
                    <a16:rowId xmlns:a16="http://schemas.microsoft.com/office/drawing/2014/main" val="10004"/>
                  </a:ext>
                </a:extLst>
              </a:tr>
              <a:tr h="370840">
                <a:tc>
                  <a:txBody>
                    <a:bodyPr/>
                    <a:lstStyle/>
                    <a:p>
                      <a:r>
                        <a:rPr lang="en-US" dirty="0"/>
                        <a:t>t4</a:t>
                      </a:r>
                    </a:p>
                  </a:txBody>
                  <a:tcPr/>
                </a:tc>
                <a:tc>
                  <a:txBody>
                    <a:bodyPr/>
                    <a:lstStyle/>
                    <a:p>
                      <a:r>
                        <a:rPr lang="en-GB" sz="1800" dirty="0">
                          <a:solidFill>
                            <a:srgbClr val="C00000"/>
                          </a:solidFill>
                        </a:rPr>
                        <a:t>X := X + N</a:t>
                      </a:r>
                      <a:endParaRPr lang="en-US" dirty="0">
                        <a:solidFill>
                          <a:srgbClr val="C00000"/>
                        </a:solidFill>
                      </a:endParaRPr>
                    </a:p>
                  </a:txBody>
                  <a:tcPr/>
                </a:tc>
                <a:tc>
                  <a:txBody>
                    <a:bodyPr/>
                    <a:lstStyle/>
                    <a:p>
                      <a:endParaRPr lang="en-US" dirty="0"/>
                    </a:p>
                  </a:txBody>
                  <a:tcPr/>
                </a:tc>
                <a:extLst>
                  <a:ext uri="{0D108BD9-81ED-4DB2-BD59-A6C34878D82A}">
                    <a16:rowId xmlns:a16="http://schemas.microsoft.com/office/drawing/2014/main" val="10005"/>
                  </a:ext>
                </a:extLst>
              </a:tr>
              <a:tr h="370840">
                <a:tc>
                  <a:txBody>
                    <a:bodyPr/>
                    <a:lstStyle/>
                    <a:p>
                      <a:r>
                        <a:rPr lang="en-US" dirty="0"/>
                        <a:t>t5</a:t>
                      </a:r>
                    </a:p>
                  </a:txBody>
                  <a:tcPr/>
                </a:tc>
                <a:tc>
                  <a:txBody>
                    <a:bodyPr/>
                    <a:lstStyle/>
                    <a:p>
                      <a:r>
                        <a:rPr lang="en-GB" sz="1800" dirty="0">
                          <a:solidFill>
                            <a:srgbClr val="C00000"/>
                          </a:solidFill>
                        </a:rPr>
                        <a:t>write(X)</a:t>
                      </a:r>
                      <a:endParaRPr lang="en-US" dirty="0">
                        <a:solidFill>
                          <a:srgbClr val="C00000"/>
                        </a:solidFill>
                      </a:endParaRPr>
                    </a:p>
                  </a:txBody>
                  <a:tcPr/>
                </a:tc>
                <a:tc>
                  <a:txBody>
                    <a:bodyPr/>
                    <a:lstStyle/>
                    <a:p>
                      <a:endParaRPr lang="en-US" dirty="0"/>
                    </a:p>
                  </a:txBody>
                  <a:tcPr/>
                </a:tc>
                <a:extLst>
                  <a:ext uri="{0D108BD9-81ED-4DB2-BD59-A6C34878D82A}">
                    <a16:rowId xmlns:a16="http://schemas.microsoft.com/office/drawing/2014/main" val="10006"/>
                  </a:ext>
                </a:extLst>
              </a:tr>
              <a:tr h="370840">
                <a:tc>
                  <a:txBody>
                    <a:bodyPr/>
                    <a:lstStyle/>
                    <a:p>
                      <a:r>
                        <a:rPr lang="en-US" dirty="0"/>
                        <a:t>t6</a:t>
                      </a:r>
                    </a:p>
                  </a:txBody>
                  <a:tcPr/>
                </a:tc>
                <a:tc>
                  <a:txBody>
                    <a:bodyPr/>
                    <a:lstStyle/>
                    <a:p>
                      <a:r>
                        <a:rPr lang="en-US" dirty="0">
                          <a:solidFill>
                            <a:srgbClr val="C00000"/>
                          </a:solidFill>
                        </a:rPr>
                        <a:t>read(Y)</a:t>
                      </a:r>
                    </a:p>
                  </a:txBody>
                  <a:tcPr/>
                </a:tc>
                <a:tc>
                  <a:txBody>
                    <a:bodyPr/>
                    <a:lstStyle/>
                    <a:p>
                      <a:endParaRPr lang="en-US" dirty="0"/>
                    </a:p>
                  </a:txBody>
                  <a:tcPr/>
                </a:tc>
                <a:extLst>
                  <a:ext uri="{0D108BD9-81ED-4DB2-BD59-A6C34878D82A}">
                    <a16:rowId xmlns:a16="http://schemas.microsoft.com/office/drawing/2014/main" val="10007"/>
                  </a:ext>
                </a:extLst>
              </a:tr>
              <a:tr h="370840">
                <a:tc>
                  <a:txBody>
                    <a:bodyPr/>
                    <a:lstStyle/>
                    <a:p>
                      <a:r>
                        <a:rPr lang="en-US" dirty="0"/>
                        <a:t>t7</a:t>
                      </a:r>
                    </a:p>
                  </a:txBody>
                  <a:tcPr/>
                </a:tc>
                <a:tc>
                  <a:txBody>
                    <a:bodyPr/>
                    <a:lstStyle/>
                    <a:p>
                      <a:endParaRPr lang="en-US" dirty="0"/>
                    </a:p>
                  </a:txBody>
                  <a:tcPr/>
                </a:tc>
                <a:tc>
                  <a:txBody>
                    <a:bodyPr/>
                    <a:lstStyle/>
                    <a:p>
                      <a:r>
                        <a:rPr lang="en-US" dirty="0">
                          <a:solidFill>
                            <a:schemeClr val="tx2"/>
                          </a:solidFill>
                        </a:rPr>
                        <a:t>write(X)</a:t>
                      </a:r>
                      <a:endParaRPr lang="en-US" dirty="0"/>
                    </a:p>
                  </a:txBody>
                  <a:tcPr/>
                </a:tc>
                <a:extLst>
                  <a:ext uri="{0D108BD9-81ED-4DB2-BD59-A6C34878D82A}">
                    <a16:rowId xmlns:a16="http://schemas.microsoft.com/office/drawing/2014/main" val="10008"/>
                  </a:ext>
                </a:extLst>
              </a:tr>
              <a:tr h="370840">
                <a:tc>
                  <a:txBody>
                    <a:bodyPr/>
                    <a:lstStyle/>
                    <a:p>
                      <a:r>
                        <a:rPr lang="en-US" dirty="0"/>
                        <a:t>t8</a:t>
                      </a:r>
                    </a:p>
                  </a:txBody>
                  <a:tcPr/>
                </a:tc>
                <a:tc>
                  <a:txBody>
                    <a:bodyPr/>
                    <a:lstStyle/>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rPr>
                        <a:t>commit</a:t>
                      </a:r>
                    </a:p>
                  </a:txBody>
                  <a:tcPr/>
                </a:tc>
                <a:extLst>
                  <a:ext uri="{0D108BD9-81ED-4DB2-BD59-A6C34878D82A}">
                    <a16:rowId xmlns:a16="http://schemas.microsoft.com/office/drawing/2014/main" val="10009"/>
                  </a:ext>
                </a:extLst>
              </a:tr>
              <a:tr h="370840">
                <a:tc>
                  <a:txBody>
                    <a:bodyPr/>
                    <a:lstStyle/>
                    <a:p>
                      <a:r>
                        <a:rPr lang="en-US" dirty="0"/>
                        <a:t>t9</a:t>
                      </a:r>
                    </a:p>
                  </a:txBody>
                  <a:tcPr/>
                </a:tc>
                <a:tc>
                  <a:txBody>
                    <a:bodyPr/>
                    <a:lstStyle/>
                    <a:p>
                      <a:r>
                        <a:rPr lang="en-GB" sz="1800" dirty="0">
                          <a:solidFill>
                            <a:srgbClr val="C00000"/>
                          </a:solidFill>
                        </a:rPr>
                        <a:t>Y := Y +</a:t>
                      </a:r>
                      <a:r>
                        <a:rPr lang="en-GB" sz="1800" baseline="0" dirty="0">
                          <a:solidFill>
                            <a:srgbClr val="C00000"/>
                          </a:solidFill>
                        </a:rPr>
                        <a:t> N</a:t>
                      </a:r>
                      <a:endParaRPr lang="en-US" dirty="0">
                        <a:solidFill>
                          <a:srgbClr val="C00000"/>
                        </a:solidFill>
                      </a:endParaRPr>
                    </a:p>
                  </a:txBody>
                  <a:tcPr/>
                </a:tc>
                <a:tc>
                  <a:txBody>
                    <a:bodyPr/>
                    <a:lstStyle/>
                    <a:p>
                      <a:endParaRPr lang="en-US" dirty="0">
                        <a:solidFill>
                          <a:schemeClr val="tx2"/>
                        </a:solidFill>
                      </a:endParaRPr>
                    </a:p>
                  </a:txBody>
                  <a:tcPr/>
                </a:tc>
                <a:extLst>
                  <a:ext uri="{0D108BD9-81ED-4DB2-BD59-A6C34878D82A}">
                    <a16:rowId xmlns:a16="http://schemas.microsoft.com/office/drawing/2014/main" val="10010"/>
                  </a:ext>
                </a:extLst>
              </a:tr>
              <a:tr h="370840">
                <a:tc>
                  <a:txBody>
                    <a:bodyPr/>
                    <a:lstStyle/>
                    <a:p>
                      <a:r>
                        <a:rPr lang="en-US" dirty="0"/>
                        <a:t>t10</a:t>
                      </a:r>
                    </a:p>
                  </a:txBody>
                  <a:tcPr/>
                </a:tc>
                <a:tc>
                  <a:txBody>
                    <a:bodyPr/>
                    <a:lstStyle/>
                    <a:p>
                      <a:r>
                        <a:rPr lang="en-US" dirty="0">
                          <a:solidFill>
                            <a:srgbClr val="C00000"/>
                          </a:solidFill>
                        </a:rPr>
                        <a:t>write(Y)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2"/>
                        </a:solidFill>
                      </a:endParaRPr>
                    </a:p>
                  </a:txBody>
                  <a:tcPr/>
                </a:tc>
                <a:extLst>
                  <a:ext uri="{0D108BD9-81ED-4DB2-BD59-A6C34878D82A}">
                    <a16:rowId xmlns:a16="http://schemas.microsoft.com/office/drawing/2014/main" val="10011"/>
                  </a:ext>
                </a:extLst>
              </a:tr>
              <a:tr h="370840">
                <a:tc>
                  <a:txBody>
                    <a:bodyPr/>
                    <a:lstStyle/>
                    <a:p>
                      <a:r>
                        <a:rPr lang="en-US" dirty="0"/>
                        <a:t>t11</a:t>
                      </a:r>
                    </a:p>
                  </a:txBody>
                  <a:tcPr/>
                </a:tc>
                <a:tc>
                  <a:txBody>
                    <a:bodyPr/>
                    <a:lstStyle/>
                    <a:p>
                      <a:r>
                        <a:rPr lang="en-US" dirty="0">
                          <a:solidFill>
                            <a:srgbClr val="C00000"/>
                          </a:solidFill>
                        </a:rPr>
                        <a:t>commit</a:t>
                      </a:r>
                    </a:p>
                  </a:txBody>
                  <a:tcPr/>
                </a:tc>
                <a:tc>
                  <a:txBody>
                    <a:bodyPr/>
                    <a:lstStyle/>
                    <a:p>
                      <a:endParaRPr lang="en-US" dirty="0">
                        <a:solidFill>
                          <a:schemeClr val="tx2"/>
                        </a:solidFill>
                      </a:endParaRPr>
                    </a:p>
                  </a:txBody>
                  <a:tcPr/>
                </a:tc>
                <a:extLst>
                  <a:ext uri="{0D108BD9-81ED-4DB2-BD59-A6C34878D82A}">
                    <a16:rowId xmlns:a16="http://schemas.microsoft.com/office/drawing/2014/main" val="10012"/>
                  </a:ext>
                </a:extLst>
              </a:tr>
            </a:tbl>
          </a:graphicData>
        </a:graphic>
      </p:graphicFrame>
      <p:sp>
        <p:nvSpPr>
          <p:cNvPr id="25" name="Can 37">
            <a:extLst>
              <a:ext uri="{FF2B5EF4-FFF2-40B4-BE49-F238E27FC236}">
                <a16:creationId xmlns:a16="http://schemas.microsoft.com/office/drawing/2014/main" id="{A44F2ED7-BCE6-4264-ADBB-709390168C36}"/>
              </a:ext>
            </a:extLst>
          </p:cNvPr>
          <p:cNvSpPr/>
          <p:nvPr/>
        </p:nvSpPr>
        <p:spPr>
          <a:xfrm>
            <a:off x="6600056" y="4941168"/>
            <a:ext cx="1656184" cy="1224136"/>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760AD8A8-D311-4DA2-B601-B7965EEB9E53}"/>
              </a:ext>
            </a:extLst>
          </p:cNvPr>
          <p:cNvSpPr/>
          <p:nvPr/>
        </p:nvSpPr>
        <p:spPr>
          <a:xfrm>
            <a:off x="6888088" y="3529111"/>
            <a:ext cx="108012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6106D315-A446-406A-987F-C94E4473B9E3}"/>
              </a:ext>
            </a:extLst>
          </p:cNvPr>
          <p:cNvSpPr/>
          <p:nvPr/>
        </p:nvSpPr>
        <p:spPr>
          <a:xfrm>
            <a:off x="6816081" y="2081439"/>
            <a:ext cx="1224357"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21C6EBE0-4960-4BF0-842D-1ABD0FBD625E}"/>
              </a:ext>
            </a:extLst>
          </p:cNvPr>
          <p:cNvSpPr/>
          <p:nvPr/>
        </p:nvSpPr>
        <p:spPr>
          <a:xfrm>
            <a:off x="7155256" y="2216437"/>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7FE784C1-4DB3-4CC3-9E9C-3BF59EA4238B}"/>
              </a:ext>
            </a:extLst>
          </p:cNvPr>
          <p:cNvSpPr/>
          <p:nvPr/>
        </p:nvSpPr>
        <p:spPr>
          <a:xfrm>
            <a:off x="7155256" y="2585384"/>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920A5163-1085-478E-96E0-401BFA95B396}"/>
              </a:ext>
            </a:extLst>
          </p:cNvPr>
          <p:cNvSpPr/>
          <p:nvPr/>
        </p:nvSpPr>
        <p:spPr>
          <a:xfrm>
            <a:off x="6831220" y="2216437"/>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53" name="Rectangle 52">
            <a:extLst>
              <a:ext uri="{FF2B5EF4-FFF2-40B4-BE49-F238E27FC236}">
                <a16:creationId xmlns:a16="http://schemas.microsoft.com/office/drawing/2014/main" id="{636C3903-AE6E-464B-9BF2-2E850D7136CB}"/>
              </a:ext>
            </a:extLst>
          </p:cNvPr>
          <p:cNvSpPr/>
          <p:nvPr/>
        </p:nvSpPr>
        <p:spPr>
          <a:xfrm>
            <a:off x="6831220" y="2576477"/>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bg1"/>
                </a:solidFill>
              </a:rPr>
              <a:t>Y</a:t>
            </a:r>
            <a:endParaRPr lang="en-US" dirty="0">
              <a:solidFill>
                <a:schemeClr val="bg1"/>
              </a:solidFill>
            </a:endParaRPr>
          </a:p>
        </p:txBody>
      </p:sp>
      <p:sp>
        <p:nvSpPr>
          <p:cNvPr id="54" name="Rectangle 53">
            <a:extLst>
              <a:ext uri="{FF2B5EF4-FFF2-40B4-BE49-F238E27FC236}">
                <a16:creationId xmlns:a16="http://schemas.microsoft.com/office/drawing/2014/main" id="{D4FBE478-9934-4D57-A8C8-2F3E00DBCCA1}"/>
              </a:ext>
            </a:extLst>
          </p:cNvPr>
          <p:cNvSpPr/>
          <p:nvPr/>
        </p:nvSpPr>
        <p:spPr>
          <a:xfrm>
            <a:off x="8832304" y="2082552"/>
            <a:ext cx="1224136"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95206CE1-216E-4BFB-9743-8E279F8C29CA}"/>
              </a:ext>
            </a:extLst>
          </p:cNvPr>
          <p:cNvSpPr/>
          <p:nvPr/>
        </p:nvSpPr>
        <p:spPr>
          <a:xfrm>
            <a:off x="9171479" y="2217550"/>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4A1D96F6-15D8-4FD9-B688-5B41555CAE5F}"/>
              </a:ext>
            </a:extLst>
          </p:cNvPr>
          <p:cNvSpPr/>
          <p:nvPr/>
        </p:nvSpPr>
        <p:spPr>
          <a:xfrm>
            <a:off x="8847443" y="2217550"/>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57" name="TextBox 56">
            <a:extLst>
              <a:ext uri="{FF2B5EF4-FFF2-40B4-BE49-F238E27FC236}">
                <a16:creationId xmlns:a16="http://schemas.microsoft.com/office/drawing/2014/main" id="{3EC227B2-3FCF-42E2-9CD1-34AEAEC7A827}"/>
              </a:ext>
            </a:extLst>
          </p:cNvPr>
          <p:cNvSpPr txBox="1"/>
          <p:nvPr/>
        </p:nvSpPr>
        <p:spPr>
          <a:xfrm>
            <a:off x="8003671" y="3786901"/>
            <a:ext cx="846450" cy="369332"/>
          </a:xfrm>
          <a:prstGeom prst="rect">
            <a:avLst/>
          </a:prstGeom>
          <a:noFill/>
        </p:spPr>
        <p:txBody>
          <a:bodyPr wrap="none" rtlCol="0">
            <a:spAutoFit/>
          </a:bodyPr>
          <a:lstStyle/>
          <a:p>
            <a:r>
              <a:rPr lang="en-US" dirty="0">
                <a:solidFill>
                  <a:schemeClr val="tx2"/>
                </a:solidFill>
              </a:rPr>
              <a:t>Buffers</a:t>
            </a:r>
          </a:p>
        </p:txBody>
      </p:sp>
      <p:sp>
        <p:nvSpPr>
          <p:cNvPr id="58" name="TextBox 57">
            <a:extLst>
              <a:ext uri="{FF2B5EF4-FFF2-40B4-BE49-F238E27FC236}">
                <a16:creationId xmlns:a16="http://schemas.microsoft.com/office/drawing/2014/main" id="{F3BA8AC9-E11E-45BC-9230-AB022B463DFD}"/>
              </a:ext>
            </a:extLst>
          </p:cNvPr>
          <p:cNvSpPr txBox="1"/>
          <p:nvPr/>
        </p:nvSpPr>
        <p:spPr>
          <a:xfrm>
            <a:off x="8292245" y="5368570"/>
            <a:ext cx="1058303" cy="369332"/>
          </a:xfrm>
          <a:prstGeom prst="rect">
            <a:avLst/>
          </a:prstGeom>
          <a:noFill/>
        </p:spPr>
        <p:txBody>
          <a:bodyPr wrap="none" rtlCol="0">
            <a:spAutoFit/>
          </a:bodyPr>
          <a:lstStyle/>
          <a:p>
            <a:r>
              <a:rPr lang="en-US">
                <a:solidFill>
                  <a:schemeClr val="tx2"/>
                </a:solidFill>
              </a:rPr>
              <a:t>Database</a:t>
            </a:r>
            <a:endParaRPr lang="en-US" dirty="0">
              <a:solidFill>
                <a:schemeClr val="tx2"/>
              </a:solidFill>
            </a:endParaRPr>
          </a:p>
        </p:txBody>
      </p:sp>
      <p:sp>
        <p:nvSpPr>
          <p:cNvPr id="59" name="TextBox 58">
            <a:extLst>
              <a:ext uri="{FF2B5EF4-FFF2-40B4-BE49-F238E27FC236}">
                <a16:creationId xmlns:a16="http://schemas.microsoft.com/office/drawing/2014/main" id="{D6039423-2D14-4877-821E-5B9D99ECABC5}"/>
              </a:ext>
            </a:extLst>
          </p:cNvPr>
          <p:cNvSpPr txBox="1"/>
          <p:nvPr/>
        </p:nvSpPr>
        <p:spPr>
          <a:xfrm>
            <a:off x="6709022" y="1709488"/>
            <a:ext cx="1432123" cy="369332"/>
          </a:xfrm>
          <a:prstGeom prst="rect">
            <a:avLst/>
          </a:prstGeom>
          <a:noFill/>
        </p:spPr>
        <p:txBody>
          <a:bodyPr wrap="none" rtlCol="0">
            <a:spAutoFit/>
          </a:bodyPr>
          <a:lstStyle/>
          <a:p>
            <a:r>
              <a:rPr lang="en-US" dirty="0">
                <a:solidFill>
                  <a:schemeClr val="tx2"/>
                </a:solidFill>
              </a:rPr>
              <a:t>Transaction 1</a:t>
            </a:r>
          </a:p>
        </p:txBody>
      </p:sp>
      <p:sp>
        <p:nvSpPr>
          <p:cNvPr id="60" name="TextBox 59">
            <a:extLst>
              <a:ext uri="{FF2B5EF4-FFF2-40B4-BE49-F238E27FC236}">
                <a16:creationId xmlns:a16="http://schemas.microsoft.com/office/drawing/2014/main" id="{E5352F80-9FDA-457D-A82A-FE4961A6E2E0}"/>
              </a:ext>
            </a:extLst>
          </p:cNvPr>
          <p:cNvSpPr txBox="1"/>
          <p:nvPr/>
        </p:nvSpPr>
        <p:spPr>
          <a:xfrm>
            <a:off x="8706494" y="1697358"/>
            <a:ext cx="1432123" cy="369332"/>
          </a:xfrm>
          <a:prstGeom prst="rect">
            <a:avLst/>
          </a:prstGeom>
          <a:noFill/>
        </p:spPr>
        <p:txBody>
          <a:bodyPr wrap="none" rtlCol="0">
            <a:spAutoFit/>
          </a:bodyPr>
          <a:lstStyle/>
          <a:p>
            <a:r>
              <a:rPr lang="en-US" dirty="0">
                <a:solidFill>
                  <a:schemeClr val="tx2"/>
                </a:solidFill>
              </a:rPr>
              <a:t>Transaction 2</a:t>
            </a:r>
          </a:p>
        </p:txBody>
      </p:sp>
      <p:cxnSp>
        <p:nvCxnSpPr>
          <p:cNvPr id="61" name="Straight Arrow Connector 60">
            <a:extLst>
              <a:ext uri="{FF2B5EF4-FFF2-40B4-BE49-F238E27FC236}">
                <a16:creationId xmlns:a16="http://schemas.microsoft.com/office/drawing/2014/main" id="{C8B8B66A-C895-4FD1-AF2A-19F043945A30}"/>
              </a:ext>
            </a:extLst>
          </p:cNvPr>
          <p:cNvCxnSpPr>
            <a:cxnSpLocks/>
          </p:cNvCxnSpPr>
          <p:nvPr/>
        </p:nvCxnSpPr>
        <p:spPr>
          <a:xfrm>
            <a:off x="7428148" y="4443512"/>
            <a:ext cx="0" cy="49765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69DF92ED-F3E9-4BC5-B67A-21DEB8D60295}"/>
              </a:ext>
            </a:extLst>
          </p:cNvPr>
          <p:cNvCxnSpPr>
            <a:cxnSpLocks/>
            <a:stCxn id="57" idx="2"/>
          </p:cNvCxnSpPr>
          <p:nvPr/>
        </p:nvCxnSpPr>
        <p:spPr>
          <a:xfrm flipH="1">
            <a:off x="7428149" y="2995839"/>
            <a:ext cx="111" cy="53327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804BE16C-C085-4AD9-9176-E7895DD33FD5}"/>
              </a:ext>
            </a:extLst>
          </p:cNvPr>
          <p:cNvCxnSpPr/>
          <p:nvPr/>
        </p:nvCxnSpPr>
        <p:spPr>
          <a:xfrm flipH="1">
            <a:off x="8003671" y="2995839"/>
            <a:ext cx="828634" cy="53327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28962072"/>
      </p:ext>
    </p:extLst>
  </p:cSld>
  <p:clrMapOvr>
    <a:masterClrMapping/>
  </p:clrMapOvr>
  <mc:AlternateContent xmlns:mc="http://schemas.openxmlformats.org/markup-compatibility/2006" xmlns:p14="http://schemas.microsoft.com/office/powerpoint/2010/main">
    <mc:Choice Requires="p14">
      <p:transition spd="slow" p14:dur="2000" advTm="49166"/>
    </mc:Choice>
    <mc:Fallback xmlns="">
      <p:transition spd="slow" advTm="49166"/>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Concurrent Schedules Do Not Guarantee Consistency or Isolation</a:t>
            </a:r>
            <a:endParaRPr lang="en-GB" sz="3100" dirty="0"/>
          </a:p>
        </p:txBody>
      </p:sp>
      <p:sp>
        <p:nvSpPr>
          <p:cNvPr id="7" name="Slide Number Placeholder 6"/>
          <p:cNvSpPr>
            <a:spLocks noGrp="1"/>
          </p:cNvSpPr>
          <p:nvPr>
            <p:ph type="sldNum" sz="quarter" idx="12"/>
          </p:nvPr>
        </p:nvSpPr>
        <p:spPr/>
        <p:txBody>
          <a:bodyPr/>
          <a:lstStyle/>
          <a:p>
            <a:fld id="{26F23E55-D42A-41AF-9F6E-8A8A2E703B49}" type="slidenum">
              <a:rPr lang="en-GB" smtClean="0"/>
              <a:pPr/>
              <a:t>11</a:t>
            </a:fld>
            <a:endParaRPr lang="en-GB"/>
          </a:p>
        </p:txBody>
      </p:sp>
      <p:graphicFrame>
        <p:nvGraphicFramePr>
          <p:cNvPr id="9" name="Table 8"/>
          <p:cNvGraphicFramePr>
            <a:graphicFrameLocks noGrp="1"/>
          </p:cNvGraphicFramePr>
          <p:nvPr/>
        </p:nvGraphicFramePr>
        <p:xfrm>
          <a:off x="1919536" y="1632416"/>
          <a:ext cx="3960440" cy="4820920"/>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1620180">
                  <a:extLst>
                    <a:ext uri="{9D8B030D-6E8A-4147-A177-3AD203B41FA5}">
                      <a16:colId xmlns:a16="http://schemas.microsoft.com/office/drawing/2014/main" val="20001"/>
                    </a:ext>
                  </a:extLst>
                </a:gridCol>
                <a:gridCol w="1620180">
                  <a:extLst>
                    <a:ext uri="{9D8B030D-6E8A-4147-A177-3AD203B41FA5}">
                      <a16:colId xmlns:a16="http://schemas.microsoft.com/office/drawing/2014/main" val="20002"/>
                    </a:ext>
                  </a:extLst>
                </a:gridCol>
              </a:tblGrid>
              <a:tr h="370840">
                <a:tc>
                  <a:txBody>
                    <a:bodyPr/>
                    <a:lstStyle/>
                    <a:p>
                      <a:r>
                        <a:rPr lang="en-US" dirty="0"/>
                        <a:t>Time</a:t>
                      </a:r>
                    </a:p>
                  </a:txBody>
                  <a:tcPr/>
                </a:tc>
                <a:tc gridSpan="2">
                  <a:txBody>
                    <a:bodyPr/>
                    <a:lstStyle/>
                    <a:p>
                      <a:r>
                        <a:rPr lang="en-US" sz="1800" b="1" baseline="0" dirty="0"/>
                        <a:t>Schedule</a:t>
                      </a:r>
                      <a:endParaRPr lang="en-US" sz="1600" b="1" baseline="-25000"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r>
                        <a:rPr lang="en-US" dirty="0"/>
                        <a:t>t0</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r>
                        <a:rPr lang="en-US" dirty="0"/>
                        <a:t>t1</a:t>
                      </a:r>
                    </a:p>
                  </a:txBody>
                  <a:tcPr/>
                </a:tc>
                <a:tc>
                  <a:txBody>
                    <a:bodyPr/>
                    <a:lstStyle/>
                    <a:p>
                      <a:r>
                        <a:rPr lang="en-US" dirty="0">
                          <a:solidFill>
                            <a:srgbClr val="C00000"/>
                          </a:solidFill>
                        </a:rPr>
                        <a:t>read(X)</a:t>
                      </a:r>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t2</a:t>
                      </a:r>
                    </a:p>
                  </a:txBody>
                  <a:tcPr/>
                </a:tc>
                <a:tc>
                  <a:txBody>
                    <a:bodyPr/>
                    <a:lstStyle/>
                    <a:p>
                      <a:endParaRPr lang="en-US"/>
                    </a:p>
                  </a:txBody>
                  <a:tcPr/>
                </a:tc>
                <a:tc>
                  <a:txBody>
                    <a:bodyPr/>
                    <a:lstStyle/>
                    <a:p>
                      <a:r>
                        <a:rPr lang="en-US" dirty="0">
                          <a:solidFill>
                            <a:schemeClr val="tx2"/>
                          </a:solidFill>
                        </a:rPr>
                        <a:t>read(X)</a:t>
                      </a:r>
                      <a:endParaRPr lang="en-US" dirty="0"/>
                    </a:p>
                  </a:txBody>
                  <a:tcPr/>
                </a:tc>
                <a:extLst>
                  <a:ext uri="{0D108BD9-81ED-4DB2-BD59-A6C34878D82A}">
                    <a16:rowId xmlns:a16="http://schemas.microsoft.com/office/drawing/2014/main" val="10003"/>
                  </a:ext>
                </a:extLst>
              </a:tr>
              <a:tr h="370840">
                <a:tc>
                  <a:txBody>
                    <a:bodyPr/>
                    <a:lstStyle/>
                    <a:p>
                      <a:r>
                        <a:rPr lang="en-US" dirty="0"/>
                        <a:t>t3</a:t>
                      </a:r>
                    </a:p>
                  </a:txBody>
                  <a:tcPr/>
                </a:tc>
                <a:tc>
                  <a:txBody>
                    <a:bodyPr/>
                    <a:lstStyle/>
                    <a:p>
                      <a:endParaRPr lang="en-US" dirty="0"/>
                    </a:p>
                  </a:txBody>
                  <a:tcPr/>
                </a:tc>
                <a:tc>
                  <a:txBody>
                    <a:bodyPr/>
                    <a:lstStyle/>
                    <a:p>
                      <a:r>
                        <a:rPr lang="en-US" dirty="0">
                          <a:solidFill>
                            <a:schemeClr val="tx2"/>
                          </a:solidFill>
                        </a:rPr>
                        <a:t>X := X + M</a:t>
                      </a:r>
                      <a:endParaRPr lang="en-US" dirty="0"/>
                    </a:p>
                  </a:txBody>
                  <a:tcPr/>
                </a:tc>
                <a:extLst>
                  <a:ext uri="{0D108BD9-81ED-4DB2-BD59-A6C34878D82A}">
                    <a16:rowId xmlns:a16="http://schemas.microsoft.com/office/drawing/2014/main" val="10004"/>
                  </a:ext>
                </a:extLst>
              </a:tr>
              <a:tr h="370840">
                <a:tc>
                  <a:txBody>
                    <a:bodyPr/>
                    <a:lstStyle/>
                    <a:p>
                      <a:r>
                        <a:rPr lang="en-US" dirty="0"/>
                        <a:t>t4</a:t>
                      </a:r>
                    </a:p>
                  </a:txBody>
                  <a:tcPr/>
                </a:tc>
                <a:tc>
                  <a:txBody>
                    <a:bodyPr/>
                    <a:lstStyle/>
                    <a:p>
                      <a:r>
                        <a:rPr lang="en-GB" sz="1800" dirty="0">
                          <a:solidFill>
                            <a:srgbClr val="C00000"/>
                          </a:solidFill>
                        </a:rPr>
                        <a:t>X := X + N</a:t>
                      </a:r>
                      <a:endParaRPr lang="en-US" dirty="0">
                        <a:solidFill>
                          <a:srgbClr val="C00000"/>
                        </a:solidFill>
                      </a:endParaRPr>
                    </a:p>
                  </a:txBody>
                  <a:tcPr/>
                </a:tc>
                <a:tc>
                  <a:txBody>
                    <a:bodyPr/>
                    <a:lstStyle/>
                    <a:p>
                      <a:endParaRPr lang="en-US" dirty="0"/>
                    </a:p>
                  </a:txBody>
                  <a:tcPr/>
                </a:tc>
                <a:extLst>
                  <a:ext uri="{0D108BD9-81ED-4DB2-BD59-A6C34878D82A}">
                    <a16:rowId xmlns:a16="http://schemas.microsoft.com/office/drawing/2014/main" val="10005"/>
                  </a:ext>
                </a:extLst>
              </a:tr>
              <a:tr h="370840">
                <a:tc>
                  <a:txBody>
                    <a:bodyPr/>
                    <a:lstStyle/>
                    <a:p>
                      <a:r>
                        <a:rPr lang="en-US" dirty="0"/>
                        <a:t>t5</a:t>
                      </a:r>
                    </a:p>
                  </a:txBody>
                  <a:tcPr/>
                </a:tc>
                <a:tc>
                  <a:txBody>
                    <a:bodyPr/>
                    <a:lstStyle/>
                    <a:p>
                      <a:r>
                        <a:rPr lang="en-GB" sz="1800" dirty="0">
                          <a:solidFill>
                            <a:srgbClr val="C00000"/>
                          </a:solidFill>
                        </a:rPr>
                        <a:t>write(X)</a:t>
                      </a:r>
                      <a:endParaRPr lang="en-US" dirty="0">
                        <a:solidFill>
                          <a:srgbClr val="C00000"/>
                        </a:solidFill>
                      </a:endParaRPr>
                    </a:p>
                  </a:txBody>
                  <a:tcPr/>
                </a:tc>
                <a:tc>
                  <a:txBody>
                    <a:bodyPr/>
                    <a:lstStyle/>
                    <a:p>
                      <a:endParaRPr lang="en-US" dirty="0"/>
                    </a:p>
                  </a:txBody>
                  <a:tcPr/>
                </a:tc>
                <a:extLst>
                  <a:ext uri="{0D108BD9-81ED-4DB2-BD59-A6C34878D82A}">
                    <a16:rowId xmlns:a16="http://schemas.microsoft.com/office/drawing/2014/main" val="10006"/>
                  </a:ext>
                </a:extLst>
              </a:tr>
              <a:tr h="370840">
                <a:tc>
                  <a:txBody>
                    <a:bodyPr/>
                    <a:lstStyle/>
                    <a:p>
                      <a:r>
                        <a:rPr lang="en-US" dirty="0"/>
                        <a:t>t6</a:t>
                      </a:r>
                    </a:p>
                  </a:txBody>
                  <a:tcPr/>
                </a:tc>
                <a:tc>
                  <a:txBody>
                    <a:bodyPr/>
                    <a:lstStyle/>
                    <a:p>
                      <a:r>
                        <a:rPr lang="en-US" dirty="0">
                          <a:solidFill>
                            <a:srgbClr val="C00000"/>
                          </a:solidFill>
                        </a:rPr>
                        <a:t>read(Y)</a:t>
                      </a:r>
                    </a:p>
                  </a:txBody>
                  <a:tcPr/>
                </a:tc>
                <a:tc>
                  <a:txBody>
                    <a:bodyPr/>
                    <a:lstStyle/>
                    <a:p>
                      <a:endParaRPr lang="en-US" dirty="0"/>
                    </a:p>
                  </a:txBody>
                  <a:tcPr/>
                </a:tc>
                <a:extLst>
                  <a:ext uri="{0D108BD9-81ED-4DB2-BD59-A6C34878D82A}">
                    <a16:rowId xmlns:a16="http://schemas.microsoft.com/office/drawing/2014/main" val="10007"/>
                  </a:ext>
                </a:extLst>
              </a:tr>
              <a:tr h="370840">
                <a:tc>
                  <a:txBody>
                    <a:bodyPr/>
                    <a:lstStyle/>
                    <a:p>
                      <a:r>
                        <a:rPr lang="en-US" dirty="0"/>
                        <a:t>t7</a:t>
                      </a:r>
                    </a:p>
                  </a:txBody>
                  <a:tcPr/>
                </a:tc>
                <a:tc>
                  <a:txBody>
                    <a:bodyPr/>
                    <a:lstStyle/>
                    <a:p>
                      <a:endParaRPr lang="en-US" dirty="0"/>
                    </a:p>
                  </a:txBody>
                  <a:tcPr/>
                </a:tc>
                <a:tc>
                  <a:txBody>
                    <a:bodyPr/>
                    <a:lstStyle/>
                    <a:p>
                      <a:r>
                        <a:rPr lang="en-US" dirty="0">
                          <a:solidFill>
                            <a:schemeClr val="tx2"/>
                          </a:solidFill>
                        </a:rPr>
                        <a:t>write(X)</a:t>
                      </a:r>
                      <a:endParaRPr lang="en-US" dirty="0"/>
                    </a:p>
                  </a:txBody>
                  <a:tcPr/>
                </a:tc>
                <a:extLst>
                  <a:ext uri="{0D108BD9-81ED-4DB2-BD59-A6C34878D82A}">
                    <a16:rowId xmlns:a16="http://schemas.microsoft.com/office/drawing/2014/main" val="10008"/>
                  </a:ext>
                </a:extLst>
              </a:tr>
              <a:tr h="370840">
                <a:tc>
                  <a:txBody>
                    <a:bodyPr/>
                    <a:lstStyle/>
                    <a:p>
                      <a:r>
                        <a:rPr lang="en-US" dirty="0"/>
                        <a:t>t8</a:t>
                      </a:r>
                    </a:p>
                  </a:txBody>
                  <a:tcPr/>
                </a:tc>
                <a:tc>
                  <a:txBody>
                    <a:bodyPr/>
                    <a:lstStyle/>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rPr>
                        <a:t>commit</a:t>
                      </a:r>
                    </a:p>
                  </a:txBody>
                  <a:tcPr/>
                </a:tc>
                <a:extLst>
                  <a:ext uri="{0D108BD9-81ED-4DB2-BD59-A6C34878D82A}">
                    <a16:rowId xmlns:a16="http://schemas.microsoft.com/office/drawing/2014/main" val="10009"/>
                  </a:ext>
                </a:extLst>
              </a:tr>
              <a:tr h="370840">
                <a:tc>
                  <a:txBody>
                    <a:bodyPr/>
                    <a:lstStyle/>
                    <a:p>
                      <a:r>
                        <a:rPr lang="en-US" dirty="0"/>
                        <a:t>t9</a:t>
                      </a:r>
                    </a:p>
                  </a:txBody>
                  <a:tcPr/>
                </a:tc>
                <a:tc>
                  <a:txBody>
                    <a:bodyPr/>
                    <a:lstStyle/>
                    <a:p>
                      <a:r>
                        <a:rPr lang="en-GB" sz="1800" dirty="0">
                          <a:solidFill>
                            <a:srgbClr val="C00000"/>
                          </a:solidFill>
                        </a:rPr>
                        <a:t>Y := Y +</a:t>
                      </a:r>
                      <a:r>
                        <a:rPr lang="en-GB" sz="1800" baseline="0" dirty="0">
                          <a:solidFill>
                            <a:srgbClr val="C00000"/>
                          </a:solidFill>
                        </a:rPr>
                        <a:t> N</a:t>
                      </a:r>
                      <a:endParaRPr lang="en-US" dirty="0">
                        <a:solidFill>
                          <a:srgbClr val="C00000"/>
                        </a:solidFill>
                      </a:endParaRPr>
                    </a:p>
                  </a:txBody>
                  <a:tcPr/>
                </a:tc>
                <a:tc>
                  <a:txBody>
                    <a:bodyPr/>
                    <a:lstStyle/>
                    <a:p>
                      <a:endParaRPr lang="en-US" dirty="0">
                        <a:solidFill>
                          <a:schemeClr val="tx2"/>
                        </a:solidFill>
                      </a:endParaRPr>
                    </a:p>
                  </a:txBody>
                  <a:tcPr/>
                </a:tc>
                <a:extLst>
                  <a:ext uri="{0D108BD9-81ED-4DB2-BD59-A6C34878D82A}">
                    <a16:rowId xmlns:a16="http://schemas.microsoft.com/office/drawing/2014/main" val="10010"/>
                  </a:ext>
                </a:extLst>
              </a:tr>
              <a:tr h="370840">
                <a:tc>
                  <a:txBody>
                    <a:bodyPr/>
                    <a:lstStyle/>
                    <a:p>
                      <a:r>
                        <a:rPr lang="en-US" dirty="0"/>
                        <a:t>t10</a:t>
                      </a:r>
                    </a:p>
                  </a:txBody>
                  <a:tcPr/>
                </a:tc>
                <a:tc>
                  <a:txBody>
                    <a:bodyPr/>
                    <a:lstStyle/>
                    <a:p>
                      <a:r>
                        <a:rPr lang="en-US" dirty="0">
                          <a:solidFill>
                            <a:srgbClr val="C00000"/>
                          </a:solidFill>
                        </a:rPr>
                        <a:t>write(Y)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2"/>
                        </a:solidFill>
                      </a:endParaRPr>
                    </a:p>
                  </a:txBody>
                  <a:tcPr/>
                </a:tc>
                <a:extLst>
                  <a:ext uri="{0D108BD9-81ED-4DB2-BD59-A6C34878D82A}">
                    <a16:rowId xmlns:a16="http://schemas.microsoft.com/office/drawing/2014/main" val="10011"/>
                  </a:ext>
                </a:extLst>
              </a:tr>
              <a:tr h="370840">
                <a:tc>
                  <a:txBody>
                    <a:bodyPr/>
                    <a:lstStyle/>
                    <a:p>
                      <a:r>
                        <a:rPr lang="en-US" dirty="0"/>
                        <a:t>t11</a:t>
                      </a:r>
                    </a:p>
                  </a:txBody>
                  <a:tcPr/>
                </a:tc>
                <a:tc>
                  <a:txBody>
                    <a:bodyPr/>
                    <a:lstStyle/>
                    <a:p>
                      <a:r>
                        <a:rPr lang="en-US" dirty="0">
                          <a:solidFill>
                            <a:srgbClr val="C00000"/>
                          </a:solidFill>
                        </a:rPr>
                        <a:t>commit</a:t>
                      </a:r>
                    </a:p>
                  </a:txBody>
                  <a:tcPr/>
                </a:tc>
                <a:tc>
                  <a:txBody>
                    <a:bodyPr/>
                    <a:lstStyle/>
                    <a:p>
                      <a:endParaRPr lang="en-US" dirty="0">
                        <a:solidFill>
                          <a:schemeClr val="tx2"/>
                        </a:solidFill>
                      </a:endParaRPr>
                    </a:p>
                  </a:txBody>
                  <a:tcPr/>
                </a:tc>
                <a:extLst>
                  <a:ext uri="{0D108BD9-81ED-4DB2-BD59-A6C34878D82A}">
                    <a16:rowId xmlns:a16="http://schemas.microsoft.com/office/drawing/2014/main" val="10012"/>
                  </a:ext>
                </a:extLst>
              </a:tr>
            </a:tbl>
          </a:graphicData>
        </a:graphic>
      </p:graphicFrame>
      <p:sp>
        <p:nvSpPr>
          <p:cNvPr id="3" name="Rectangle 2"/>
          <p:cNvSpPr/>
          <p:nvPr/>
        </p:nvSpPr>
        <p:spPr>
          <a:xfrm>
            <a:off x="1775520" y="1988840"/>
            <a:ext cx="4248472" cy="360040"/>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 name="Can 37"/>
          <p:cNvSpPr/>
          <p:nvPr/>
        </p:nvSpPr>
        <p:spPr>
          <a:xfrm>
            <a:off x="6600056" y="4941168"/>
            <a:ext cx="1656184" cy="1224136"/>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p:cNvSpPr/>
          <p:nvPr/>
        </p:nvSpPr>
        <p:spPr>
          <a:xfrm>
            <a:off x="7140116" y="5364309"/>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40" name="Rectangle 39"/>
          <p:cNvSpPr/>
          <p:nvPr/>
        </p:nvSpPr>
        <p:spPr>
          <a:xfrm>
            <a:off x="7140116" y="5733256"/>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a:t>
            </a:r>
          </a:p>
        </p:txBody>
      </p:sp>
      <p:sp>
        <p:nvSpPr>
          <p:cNvPr id="41" name="Rectangle 40"/>
          <p:cNvSpPr/>
          <p:nvPr/>
        </p:nvSpPr>
        <p:spPr>
          <a:xfrm>
            <a:off x="6816080" y="536430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42" name="Rectangle 41"/>
          <p:cNvSpPr/>
          <p:nvPr/>
        </p:nvSpPr>
        <p:spPr>
          <a:xfrm>
            <a:off x="6816080" y="572434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Y</a:t>
            </a:r>
          </a:p>
        </p:txBody>
      </p:sp>
      <p:sp>
        <p:nvSpPr>
          <p:cNvPr id="43" name="Rectangle 42"/>
          <p:cNvSpPr/>
          <p:nvPr/>
        </p:nvSpPr>
        <p:spPr>
          <a:xfrm>
            <a:off x="6888088" y="3529111"/>
            <a:ext cx="108012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6816081" y="2081439"/>
            <a:ext cx="1224357"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p:cNvSpPr/>
          <p:nvPr/>
        </p:nvSpPr>
        <p:spPr>
          <a:xfrm>
            <a:off x="7155256" y="2216437"/>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46" name="Rectangle 45"/>
          <p:cNvSpPr/>
          <p:nvPr/>
        </p:nvSpPr>
        <p:spPr>
          <a:xfrm>
            <a:off x="7155256" y="2585384"/>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47" name="Rectangle 46"/>
          <p:cNvSpPr/>
          <p:nvPr/>
        </p:nvSpPr>
        <p:spPr>
          <a:xfrm>
            <a:off x="6831220" y="2216437"/>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48" name="Rectangle 47"/>
          <p:cNvSpPr/>
          <p:nvPr/>
        </p:nvSpPr>
        <p:spPr>
          <a:xfrm>
            <a:off x="6831220" y="2576477"/>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bg1"/>
                </a:solidFill>
              </a:rPr>
              <a:t>Y</a:t>
            </a:r>
            <a:endParaRPr lang="en-US" dirty="0">
              <a:solidFill>
                <a:schemeClr val="bg1"/>
              </a:solidFill>
            </a:endParaRPr>
          </a:p>
        </p:txBody>
      </p:sp>
      <p:sp>
        <p:nvSpPr>
          <p:cNvPr id="49" name="Rectangle 48"/>
          <p:cNvSpPr/>
          <p:nvPr/>
        </p:nvSpPr>
        <p:spPr>
          <a:xfrm>
            <a:off x="8832304" y="2082552"/>
            <a:ext cx="1224136"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p:cNvSpPr/>
          <p:nvPr/>
        </p:nvSpPr>
        <p:spPr>
          <a:xfrm>
            <a:off x="9171479" y="2217550"/>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51" name="Rectangle 50"/>
          <p:cNvSpPr/>
          <p:nvPr/>
        </p:nvSpPr>
        <p:spPr>
          <a:xfrm>
            <a:off x="8847443" y="2217550"/>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52" name="TextBox 51"/>
          <p:cNvSpPr txBox="1"/>
          <p:nvPr/>
        </p:nvSpPr>
        <p:spPr>
          <a:xfrm>
            <a:off x="8003671" y="3786901"/>
            <a:ext cx="846450" cy="369332"/>
          </a:xfrm>
          <a:prstGeom prst="rect">
            <a:avLst/>
          </a:prstGeom>
          <a:noFill/>
        </p:spPr>
        <p:txBody>
          <a:bodyPr wrap="none" rtlCol="0">
            <a:spAutoFit/>
          </a:bodyPr>
          <a:lstStyle/>
          <a:p>
            <a:r>
              <a:rPr lang="en-US" dirty="0">
                <a:solidFill>
                  <a:schemeClr val="tx2"/>
                </a:solidFill>
              </a:rPr>
              <a:t>Buffers</a:t>
            </a:r>
          </a:p>
        </p:txBody>
      </p:sp>
      <p:sp>
        <p:nvSpPr>
          <p:cNvPr id="53" name="TextBox 52"/>
          <p:cNvSpPr txBox="1"/>
          <p:nvPr/>
        </p:nvSpPr>
        <p:spPr>
          <a:xfrm>
            <a:off x="8292245" y="5368570"/>
            <a:ext cx="1058303" cy="369332"/>
          </a:xfrm>
          <a:prstGeom prst="rect">
            <a:avLst/>
          </a:prstGeom>
          <a:noFill/>
        </p:spPr>
        <p:txBody>
          <a:bodyPr wrap="none" rtlCol="0">
            <a:spAutoFit/>
          </a:bodyPr>
          <a:lstStyle/>
          <a:p>
            <a:r>
              <a:rPr lang="en-US">
                <a:solidFill>
                  <a:schemeClr val="tx2"/>
                </a:solidFill>
              </a:rPr>
              <a:t>Database</a:t>
            </a:r>
            <a:endParaRPr lang="en-US" dirty="0">
              <a:solidFill>
                <a:schemeClr val="tx2"/>
              </a:solidFill>
            </a:endParaRPr>
          </a:p>
        </p:txBody>
      </p:sp>
      <p:sp>
        <p:nvSpPr>
          <p:cNvPr id="54" name="TextBox 53"/>
          <p:cNvSpPr txBox="1"/>
          <p:nvPr/>
        </p:nvSpPr>
        <p:spPr>
          <a:xfrm>
            <a:off x="6709022" y="1709488"/>
            <a:ext cx="1432123" cy="369332"/>
          </a:xfrm>
          <a:prstGeom prst="rect">
            <a:avLst/>
          </a:prstGeom>
          <a:noFill/>
        </p:spPr>
        <p:txBody>
          <a:bodyPr wrap="none" rtlCol="0">
            <a:spAutoFit/>
          </a:bodyPr>
          <a:lstStyle/>
          <a:p>
            <a:r>
              <a:rPr lang="en-US" dirty="0">
                <a:solidFill>
                  <a:schemeClr val="tx2"/>
                </a:solidFill>
              </a:rPr>
              <a:t>Transaction 1</a:t>
            </a:r>
          </a:p>
        </p:txBody>
      </p:sp>
      <p:sp>
        <p:nvSpPr>
          <p:cNvPr id="55" name="TextBox 54"/>
          <p:cNvSpPr txBox="1"/>
          <p:nvPr/>
        </p:nvSpPr>
        <p:spPr>
          <a:xfrm>
            <a:off x="8706494" y="1697358"/>
            <a:ext cx="1432123" cy="369332"/>
          </a:xfrm>
          <a:prstGeom prst="rect">
            <a:avLst/>
          </a:prstGeom>
          <a:noFill/>
        </p:spPr>
        <p:txBody>
          <a:bodyPr wrap="none" rtlCol="0">
            <a:spAutoFit/>
          </a:bodyPr>
          <a:lstStyle/>
          <a:p>
            <a:r>
              <a:rPr lang="en-US" dirty="0">
                <a:solidFill>
                  <a:schemeClr val="tx2"/>
                </a:solidFill>
              </a:rPr>
              <a:t>Transaction 2</a:t>
            </a:r>
          </a:p>
        </p:txBody>
      </p:sp>
      <p:cxnSp>
        <p:nvCxnSpPr>
          <p:cNvPr id="56" name="Straight Arrow Connector 55"/>
          <p:cNvCxnSpPr>
            <a:stCxn id="39" idx="2"/>
            <a:endCxn id="41" idx="1"/>
          </p:cNvCxnSpPr>
          <p:nvPr/>
        </p:nvCxnSpPr>
        <p:spPr>
          <a:xfrm>
            <a:off x="7428148" y="4443512"/>
            <a:ext cx="0" cy="49765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7" name="Straight Arrow Connector 56"/>
          <p:cNvCxnSpPr>
            <a:stCxn id="52" idx="2"/>
            <a:endCxn id="39" idx="0"/>
          </p:cNvCxnSpPr>
          <p:nvPr/>
        </p:nvCxnSpPr>
        <p:spPr>
          <a:xfrm flipH="1">
            <a:off x="7428149" y="2995839"/>
            <a:ext cx="111" cy="53327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flipH="1">
            <a:off x="8003671" y="2995839"/>
            <a:ext cx="828634" cy="53327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4144429"/>
      </p:ext>
    </p:extLst>
  </p:cSld>
  <p:clrMapOvr>
    <a:masterClrMapping/>
  </p:clrMapOvr>
  <mc:AlternateContent xmlns:mc="http://schemas.openxmlformats.org/markup-compatibility/2006" xmlns:p14="http://schemas.microsoft.com/office/powerpoint/2010/main">
    <mc:Choice Requires="p14">
      <p:transition spd="slow" p14:dur="2000" advTm="15931"/>
    </mc:Choice>
    <mc:Fallback xmlns="">
      <p:transition spd="slow" advTm="1593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fade">
                                      <p:cBhvr>
                                        <p:cTn id="10" dur="500"/>
                                        <p:tgtEl>
                                          <p:spTgt spid="3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fade">
                                      <p:cBhvr>
                                        <p:cTn id="13" dur="500"/>
                                        <p:tgtEl>
                                          <p:spTgt spid="4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2"/>
                                        </p:tgtEl>
                                        <p:attrNameLst>
                                          <p:attrName>style.visibility</p:attrName>
                                        </p:attrNameLst>
                                      </p:cBhvr>
                                      <p:to>
                                        <p:strVal val="visible"/>
                                      </p:to>
                                    </p:set>
                                    <p:animEffect transition="in" filter="fade">
                                      <p:cBhvr>
                                        <p:cTn id="16" dur="500"/>
                                        <p:tgtEl>
                                          <p:spTgt spid="4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fade">
                                      <p:cBhvr>
                                        <p:cTn id="19"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9" grpId="0" animBg="1"/>
      <p:bldP spid="40" grpId="0" animBg="1"/>
      <p:bldP spid="41" grpId="0"/>
      <p:bldP spid="4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Concurrent Schedules Do Not Guarantee Consistency or Isolation</a:t>
            </a:r>
            <a:endParaRPr lang="en-GB" sz="3100" dirty="0"/>
          </a:p>
        </p:txBody>
      </p:sp>
      <p:sp>
        <p:nvSpPr>
          <p:cNvPr id="7" name="Slide Number Placeholder 6"/>
          <p:cNvSpPr>
            <a:spLocks noGrp="1"/>
          </p:cNvSpPr>
          <p:nvPr>
            <p:ph type="sldNum" sz="quarter" idx="12"/>
          </p:nvPr>
        </p:nvSpPr>
        <p:spPr/>
        <p:txBody>
          <a:bodyPr/>
          <a:lstStyle/>
          <a:p>
            <a:fld id="{26F23E55-D42A-41AF-9F6E-8A8A2E703B49}" type="slidenum">
              <a:rPr lang="en-GB" smtClean="0"/>
              <a:pPr/>
              <a:t>12</a:t>
            </a:fld>
            <a:endParaRPr lang="en-GB"/>
          </a:p>
        </p:txBody>
      </p:sp>
      <p:graphicFrame>
        <p:nvGraphicFramePr>
          <p:cNvPr id="9" name="Table 8"/>
          <p:cNvGraphicFramePr>
            <a:graphicFrameLocks noGrp="1"/>
          </p:cNvGraphicFramePr>
          <p:nvPr/>
        </p:nvGraphicFramePr>
        <p:xfrm>
          <a:off x="1919536" y="1632416"/>
          <a:ext cx="3960440" cy="4820920"/>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1620180">
                  <a:extLst>
                    <a:ext uri="{9D8B030D-6E8A-4147-A177-3AD203B41FA5}">
                      <a16:colId xmlns:a16="http://schemas.microsoft.com/office/drawing/2014/main" val="20001"/>
                    </a:ext>
                  </a:extLst>
                </a:gridCol>
                <a:gridCol w="1620180">
                  <a:extLst>
                    <a:ext uri="{9D8B030D-6E8A-4147-A177-3AD203B41FA5}">
                      <a16:colId xmlns:a16="http://schemas.microsoft.com/office/drawing/2014/main" val="20002"/>
                    </a:ext>
                  </a:extLst>
                </a:gridCol>
              </a:tblGrid>
              <a:tr h="370840">
                <a:tc>
                  <a:txBody>
                    <a:bodyPr/>
                    <a:lstStyle/>
                    <a:p>
                      <a:r>
                        <a:rPr lang="en-US" dirty="0"/>
                        <a:t>Time</a:t>
                      </a:r>
                    </a:p>
                  </a:txBody>
                  <a:tcPr/>
                </a:tc>
                <a:tc gridSpan="2">
                  <a:txBody>
                    <a:bodyPr/>
                    <a:lstStyle/>
                    <a:p>
                      <a:r>
                        <a:rPr lang="en-US" sz="1800" b="1" baseline="0" dirty="0"/>
                        <a:t>Schedule</a:t>
                      </a:r>
                      <a:endParaRPr lang="en-US" sz="1600" b="1" baseline="-25000"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r>
                        <a:rPr lang="en-US" dirty="0"/>
                        <a:t>t0</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r>
                        <a:rPr lang="en-US" dirty="0"/>
                        <a:t>t1</a:t>
                      </a:r>
                    </a:p>
                  </a:txBody>
                  <a:tcPr/>
                </a:tc>
                <a:tc>
                  <a:txBody>
                    <a:bodyPr/>
                    <a:lstStyle/>
                    <a:p>
                      <a:r>
                        <a:rPr lang="en-US" dirty="0">
                          <a:solidFill>
                            <a:srgbClr val="C00000"/>
                          </a:solidFill>
                        </a:rPr>
                        <a:t>read(X)</a:t>
                      </a:r>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t2</a:t>
                      </a:r>
                    </a:p>
                  </a:txBody>
                  <a:tcPr/>
                </a:tc>
                <a:tc>
                  <a:txBody>
                    <a:bodyPr/>
                    <a:lstStyle/>
                    <a:p>
                      <a:endParaRPr lang="en-US"/>
                    </a:p>
                  </a:txBody>
                  <a:tcPr/>
                </a:tc>
                <a:tc>
                  <a:txBody>
                    <a:bodyPr/>
                    <a:lstStyle/>
                    <a:p>
                      <a:r>
                        <a:rPr lang="en-US" dirty="0">
                          <a:solidFill>
                            <a:schemeClr val="tx2"/>
                          </a:solidFill>
                        </a:rPr>
                        <a:t>read(X)</a:t>
                      </a:r>
                      <a:endParaRPr lang="en-US" dirty="0"/>
                    </a:p>
                  </a:txBody>
                  <a:tcPr/>
                </a:tc>
                <a:extLst>
                  <a:ext uri="{0D108BD9-81ED-4DB2-BD59-A6C34878D82A}">
                    <a16:rowId xmlns:a16="http://schemas.microsoft.com/office/drawing/2014/main" val="10003"/>
                  </a:ext>
                </a:extLst>
              </a:tr>
              <a:tr h="370840">
                <a:tc>
                  <a:txBody>
                    <a:bodyPr/>
                    <a:lstStyle/>
                    <a:p>
                      <a:r>
                        <a:rPr lang="en-US" dirty="0"/>
                        <a:t>t3</a:t>
                      </a:r>
                    </a:p>
                  </a:txBody>
                  <a:tcPr/>
                </a:tc>
                <a:tc>
                  <a:txBody>
                    <a:bodyPr/>
                    <a:lstStyle/>
                    <a:p>
                      <a:endParaRPr lang="en-US" dirty="0"/>
                    </a:p>
                  </a:txBody>
                  <a:tcPr/>
                </a:tc>
                <a:tc>
                  <a:txBody>
                    <a:bodyPr/>
                    <a:lstStyle/>
                    <a:p>
                      <a:r>
                        <a:rPr lang="en-US" dirty="0">
                          <a:solidFill>
                            <a:schemeClr val="tx2"/>
                          </a:solidFill>
                        </a:rPr>
                        <a:t>X := X + M</a:t>
                      </a:r>
                      <a:endParaRPr lang="en-US" dirty="0"/>
                    </a:p>
                  </a:txBody>
                  <a:tcPr/>
                </a:tc>
                <a:extLst>
                  <a:ext uri="{0D108BD9-81ED-4DB2-BD59-A6C34878D82A}">
                    <a16:rowId xmlns:a16="http://schemas.microsoft.com/office/drawing/2014/main" val="10004"/>
                  </a:ext>
                </a:extLst>
              </a:tr>
              <a:tr h="370840">
                <a:tc>
                  <a:txBody>
                    <a:bodyPr/>
                    <a:lstStyle/>
                    <a:p>
                      <a:r>
                        <a:rPr lang="en-US" dirty="0"/>
                        <a:t>t4</a:t>
                      </a:r>
                    </a:p>
                  </a:txBody>
                  <a:tcPr/>
                </a:tc>
                <a:tc>
                  <a:txBody>
                    <a:bodyPr/>
                    <a:lstStyle/>
                    <a:p>
                      <a:r>
                        <a:rPr lang="en-GB" sz="1800" dirty="0">
                          <a:solidFill>
                            <a:srgbClr val="C00000"/>
                          </a:solidFill>
                        </a:rPr>
                        <a:t>X := X + N</a:t>
                      </a:r>
                      <a:endParaRPr lang="en-US" dirty="0">
                        <a:solidFill>
                          <a:srgbClr val="C00000"/>
                        </a:solidFill>
                      </a:endParaRPr>
                    </a:p>
                  </a:txBody>
                  <a:tcPr/>
                </a:tc>
                <a:tc>
                  <a:txBody>
                    <a:bodyPr/>
                    <a:lstStyle/>
                    <a:p>
                      <a:endParaRPr lang="en-US" dirty="0"/>
                    </a:p>
                  </a:txBody>
                  <a:tcPr/>
                </a:tc>
                <a:extLst>
                  <a:ext uri="{0D108BD9-81ED-4DB2-BD59-A6C34878D82A}">
                    <a16:rowId xmlns:a16="http://schemas.microsoft.com/office/drawing/2014/main" val="10005"/>
                  </a:ext>
                </a:extLst>
              </a:tr>
              <a:tr h="370840">
                <a:tc>
                  <a:txBody>
                    <a:bodyPr/>
                    <a:lstStyle/>
                    <a:p>
                      <a:r>
                        <a:rPr lang="en-US" dirty="0"/>
                        <a:t>t5</a:t>
                      </a:r>
                    </a:p>
                  </a:txBody>
                  <a:tcPr/>
                </a:tc>
                <a:tc>
                  <a:txBody>
                    <a:bodyPr/>
                    <a:lstStyle/>
                    <a:p>
                      <a:r>
                        <a:rPr lang="en-GB" sz="1800" dirty="0">
                          <a:solidFill>
                            <a:srgbClr val="C00000"/>
                          </a:solidFill>
                        </a:rPr>
                        <a:t>write(X)</a:t>
                      </a:r>
                      <a:endParaRPr lang="en-US" dirty="0">
                        <a:solidFill>
                          <a:srgbClr val="C00000"/>
                        </a:solidFill>
                      </a:endParaRPr>
                    </a:p>
                  </a:txBody>
                  <a:tcPr/>
                </a:tc>
                <a:tc>
                  <a:txBody>
                    <a:bodyPr/>
                    <a:lstStyle/>
                    <a:p>
                      <a:endParaRPr lang="en-US" dirty="0"/>
                    </a:p>
                  </a:txBody>
                  <a:tcPr/>
                </a:tc>
                <a:extLst>
                  <a:ext uri="{0D108BD9-81ED-4DB2-BD59-A6C34878D82A}">
                    <a16:rowId xmlns:a16="http://schemas.microsoft.com/office/drawing/2014/main" val="10006"/>
                  </a:ext>
                </a:extLst>
              </a:tr>
              <a:tr h="370840">
                <a:tc>
                  <a:txBody>
                    <a:bodyPr/>
                    <a:lstStyle/>
                    <a:p>
                      <a:r>
                        <a:rPr lang="en-US" dirty="0"/>
                        <a:t>t6</a:t>
                      </a:r>
                    </a:p>
                  </a:txBody>
                  <a:tcPr/>
                </a:tc>
                <a:tc>
                  <a:txBody>
                    <a:bodyPr/>
                    <a:lstStyle/>
                    <a:p>
                      <a:r>
                        <a:rPr lang="en-US" dirty="0">
                          <a:solidFill>
                            <a:srgbClr val="C00000"/>
                          </a:solidFill>
                        </a:rPr>
                        <a:t>read(Y)</a:t>
                      </a:r>
                    </a:p>
                  </a:txBody>
                  <a:tcPr/>
                </a:tc>
                <a:tc>
                  <a:txBody>
                    <a:bodyPr/>
                    <a:lstStyle/>
                    <a:p>
                      <a:endParaRPr lang="en-US" dirty="0"/>
                    </a:p>
                  </a:txBody>
                  <a:tcPr/>
                </a:tc>
                <a:extLst>
                  <a:ext uri="{0D108BD9-81ED-4DB2-BD59-A6C34878D82A}">
                    <a16:rowId xmlns:a16="http://schemas.microsoft.com/office/drawing/2014/main" val="10007"/>
                  </a:ext>
                </a:extLst>
              </a:tr>
              <a:tr h="370840">
                <a:tc>
                  <a:txBody>
                    <a:bodyPr/>
                    <a:lstStyle/>
                    <a:p>
                      <a:r>
                        <a:rPr lang="en-US" dirty="0"/>
                        <a:t>t7</a:t>
                      </a:r>
                    </a:p>
                  </a:txBody>
                  <a:tcPr/>
                </a:tc>
                <a:tc>
                  <a:txBody>
                    <a:bodyPr/>
                    <a:lstStyle/>
                    <a:p>
                      <a:endParaRPr lang="en-US" dirty="0"/>
                    </a:p>
                  </a:txBody>
                  <a:tcPr/>
                </a:tc>
                <a:tc>
                  <a:txBody>
                    <a:bodyPr/>
                    <a:lstStyle/>
                    <a:p>
                      <a:r>
                        <a:rPr lang="en-US" dirty="0">
                          <a:solidFill>
                            <a:schemeClr val="tx2"/>
                          </a:solidFill>
                        </a:rPr>
                        <a:t>write(X)</a:t>
                      </a:r>
                      <a:endParaRPr lang="en-US" dirty="0"/>
                    </a:p>
                  </a:txBody>
                  <a:tcPr/>
                </a:tc>
                <a:extLst>
                  <a:ext uri="{0D108BD9-81ED-4DB2-BD59-A6C34878D82A}">
                    <a16:rowId xmlns:a16="http://schemas.microsoft.com/office/drawing/2014/main" val="10008"/>
                  </a:ext>
                </a:extLst>
              </a:tr>
              <a:tr h="370840">
                <a:tc>
                  <a:txBody>
                    <a:bodyPr/>
                    <a:lstStyle/>
                    <a:p>
                      <a:r>
                        <a:rPr lang="en-US" dirty="0"/>
                        <a:t>t8</a:t>
                      </a:r>
                    </a:p>
                  </a:txBody>
                  <a:tcPr/>
                </a:tc>
                <a:tc>
                  <a:txBody>
                    <a:bodyPr/>
                    <a:lstStyle/>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rPr>
                        <a:t>commit</a:t>
                      </a:r>
                    </a:p>
                  </a:txBody>
                  <a:tcPr/>
                </a:tc>
                <a:extLst>
                  <a:ext uri="{0D108BD9-81ED-4DB2-BD59-A6C34878D82A}">
                    <a16:rowId xmlns:a16="http://schemas.microsoft.com/office/drawing/2014/main" val="10009"/>
                  </a:ext>
                </a:extLst>
              </a:tr>
              <a:tr h="370840">
                <a:tc>
                  <a:txBody>
                    <a:bodyPr/>
                    <a:lstStyle/>
                    <a:p>
                      <a:r>
                        <a:rPr lang="en-US" dirty="0"/>
                        <a:t>t9</a:t>
                      </a:r>
                    </a:p>
                  </a:txBody>
                  <a:tcPr/>
                </a:tc>
                <a:tc>
                  <a:txBody>
                    <a:bodyPr/>
                    <a:lstStyle/>
                    <a:p>
                      <a:r>
                        <a:rPr lang="en-GB" sz="1800" dirty="0">
                          <a:solidFill>
                            <a:srgbClr val="C00000"/>
                          </a:solidFill>
                        </a:rPr>
                        <a:t>Y := Y +</a:t>
                      </a:r>
                      <a:r>
                        <a:rPr lang="en-GB" sz="1800" baseline="0" dirty="0">
                          <a:solidFill>
                            <a:srgbClr val="C00000"/>
                          </a:solidFill>
                        </a:rPr>
                        <a:t> N</a:t>
                      </a:r>
                      <a:endParaRPr lang="en-US" dirty="0">
                        <a:solidFill>
                          <a:srgbClr val="C00000"/>
                        </a:solidFill>
                      </a:endParaRPr>
                    </a:p>
                  </a:txBody>
                  <a:tcPr/>
                </a:tc>
                <a:tc>
                  <a:txBody>
                    <a:bodyPr/>
                    <a:lstStyle/>
                    <a:p>
                      <a:endParaRPr lang="en-US" dirty="0">
                        <a:solidFill>
                          <a:schemeClr val="tx2"/>
                        </a:solidFill>
                      </a:endParaRPr>
                    </a:p>
                  </a:txBody>
                  <a:tcPr/>
                </a:tc>
                <a:extLst>
                  <a:ext uri="{0D108BD9-81ED-4DB2-BD59-A6C34878D82A}">
                    <a16:rowId xmlns:a16="http://schemas.microsoft.com/office/drawing/2014/main" val="10010"/>
                  </a:ext>
                </a:extLst>
              </a:tr>
              <a:tr h="370840">
                <a:tc>
                  <a:txBody>
                    <a:bodyPr/>
                    <a:lstStyle/>
                    <a:p>
                      <a:r>
                        <a:rPr lang="en-US" dirty="0"/>
                        <a:t>t10</a:t>
                      </a:r>
                    </a:p>
                  </a:txBody>
                  <a:tcPr/>
                </a:tc>
                <a:tc>
                  <a:txBody>
                    <a:bodyPr/>
                    <a:lstStyle/>
                    <a:p>
                      <a:r>
                        <a:rPr lang="en-US" dirty="0">
                          <a:solidFill>
                            <a:srgbClr val="C00000"/>
                          </a:solidFill>
                        </a:rPr>
                        <a:t>write(Y)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2"/>
                        </a:solidFill>
                      </a:endParaRPr>
                    </a:p>
                  </a:txBody>
                  <a:tcPr/>
                </a:tc>
                <a:extLst>
                  <a:ext uri="{0D108BD9-81ED-4DB2-BD59-A6C34878D82A}">
                    <a16:rowId xmlns:a16="http://schemas.microsoft.com/office/drawing/2014/main" val="10011"/>
                  </a:ext>
                </a:extLst>
              </a:tr>
              <a:tr h="370840">
                <a:tc>
                  <a:txBody>
                    <a:bodyPr/>
                    <a:lstStyle/>
                    <a:p>
                      <a:r>
                        <a:rPr lang="en-US" dirty="0"/>
                        <a:t>t11</a:t>
                      </a:r>
                    </a:p>
                  </a:txBody>
                  <a:tcPr/>
                </a:tc>
                <a:tc>
                  <a:txBody>
                    <a:bodyPr/>
                    <a:lstStyle/>
                    <a:p>
                      <a:r>
                        <a:rPr lang="en-US" dirty="0">
                          <a:solidFill>
                            <a:srgbClr val="C00000"/>
                          </a:solidFill>
                        </a:rPr>
                        <a:t>commit</a:t>
                      </a:r>
                    </a:p>
                  </a:txBody>
                  <a:tcPr/>
                </a:tc>
                <a:tc>
                  <a:txBody>
                    <a:bodyPr/>
                    <a:lstStyle/>
                    <a:p>
                      <a:endParaRPr lang="en-US" dirty="0">
                        <a:solidFill>
                          <a:schemeClr val="tx2"/>
                        </a:solidFill>
                      </a:endParaRPr>
                    </a:p>
                  </a:txBody>
                  <a:tcPr/>
                </a:tc>
                <a:extLst>
                  <a:ext uri="{0D108BD9-81ED-4DB2-BD59-A6C34878D82A}">
                    <a16:rowId xmlns:a16="http://schemas.microsoft.com/office/drawing/2014/main" val="10012"/>
                  </a:ext>
                </a:extLst>
              </a:tr>
            </a:tbl>
          </a:graphicData>
        </a:graphic>
      </p:graphicFrame>
      <p:grpSp>
        <p:nvGrpSpPr>
          <p:cNvPr id="45" name="Group 44"/>
          <p:cNvGrpSpPr/>
          <p:nvPr/>
        </p:nvGrpSpPr>
        <p:grpSpPr>
          <a:xfrm>
            <a:off x="6600056" y="1697358"/>
            <a:ext cx="3538560" cy="4467946"/>
            <a:chOff x="5076056" y="1697358"/>
            <a:chExt cx="3538560" cy="4467946"/>
          </a:xfrm>
        </p:grpSpPr>
        <p:sp>
          <p:nvSpPr>
            <p:cNvPr id="6" name="Can 5"/>
            <p:cNvSpPr/>
            <p:nvPr/>
          </p:nvSpPr>
          <p:spPr>
            <a:xfrm>
              <a:off x="5076056" y="4941168"/>
              <a:ext cx="1656184" cy="1224136"/>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5616116" y="5364309"/>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10" name="Rectangle 9"/>
            <p:cNvSpPr/>
            <p:nvPr/>
          </p:nvSpPr>
          <p:spPr>
            <a:xfrm>
              <a:off x="5616116" y="5733256"/>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a:t>
              </a:r>
            </a:p>
          </p:txBody>
        </p:sp>
        <p:sp>
          <p:nvSpPr>
            <p:cNvPr id="11" name="Rectangle 10"/>
            <p:cNvSpPr/>
            <p:nvPr/>
          </p:nvSpPr>
          <p:spPr>
            <a:xfrm>
              <a:off x="5292080" y="536430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12" name="Rectangle 11"/>
            <p:cNvSpPr/>
            <p:nvPr/>
          </p:nvSpPr>
          <p:spPr>
            <a:xfrm>
              <a:off x="5292080" y="572434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bg1"/>
                  </a:solidFill>
                </a:rPr>
                <a:t>Y</a:t>
              </a:r>
              <a:endParaRPr lang="en-US" dirty="0">
                <a:solidFill>
                  <a:schemeClr val="bg1"/>
                </a:solidFill>
              </a:endParaRPr>
            </a:p>
          </p:txBody>
        </p:sp>
        <p:sp>
          <p:nvSpPr>
            <p:cNvPr id="4" name="Rectangle 3"/>
            <p:cNvSpPr/>
            <p:nvPr/>
          </p:nvSpPr>
          <p:spPr>
            <a:xfrm>
              <a:off x="5364088" y="3529111"/>
              <a:ext cx="108012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5292080" y="2081439"/>
              <a:ext cx="1224357"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5631256" y="2216437"/>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19" name="Rectangle 18"/>
            <p:cNvSpPr/>
            <p:nvPr/>
          </p:nvSpPr>
          <p:spPr>
            <a:xfrm>
              <a:off x="5631256" y="2585384"/>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0" name="Rectangle 19"/>
            <p:cNvSpPr/>
            <p:nvPr/>
          </p:nvSpPr>
          <p:spPr>
            <a:xfrm>
              <a:off x="5307220" y="2216437"/>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21" name="Rectangle 20"/>
            <p:cNvSpPr/>
            <p:nvPr/>
          </p:nvSpPr>
          <p:spPr>
            <a:xfrm>
              <a:off x="5307220" y="2576477"/>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bg1"/>
                  </a:solidFill>
                </a:rPr>
                <a:t>Y</a:t>
              </a:r>
              <a:endParaRPr lang="en-US" dirty="0">
                <a:solidFill>
                  <a:schemeClr val="bg1"/>
                </a:solidFill>
              </a:endParaRPr>
            </a:p>
          </p:txBody>
        </p:sp>
        <p:sp>
          <p:nvSpPr>
            <p:cNvPr id="22" name="Rectangle 21"/>
            <p:cNvSpPr/>
            <p:nvPr/>
          </p:nvSpPr>
          <p:spPr>
            <a:xfrm>
              <a:off x="7308304" y="2082552"/>
              <a:ext cx="1224136"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7647479" y="2217550"/>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5" name="Rectangle 24"/>
            <p:cNvSpPr/>
            <p:nvPr/>
          </p:nvSpPr>
          <p:spPr>
            <a:xfrm>
              <a:off x="7323443" y="2217550"/>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5" name="TextBox 4"/>
            <p:cNvSpPr txBox="1"/>
            <p:nvPr/>
          </p:nvSpPr>
          <p:spPr>
            <a:xfrm>
              <a:off x="6479671" y="3786901"/>
              <a:ext cx="846450" cy="369332"/>
            </a:xfrm>
            <a:prstGeom prst="rect">
              <a:avLst/>
            </a:prstGeom>
            <a:noFill/>
          </p:spPr>
          <p:txBody>
            <a:bodyPr wrap="none" rtlCol="0">
              <a:spAutoFit/>
            </a:bodyPr>
            <a:lstStyle/>
            <a:p>
              <a:r>
                <a:rPr lang="en-US" dirty="0">
                  <a:solidFill>
                    <a:schemeClr val="tx2"/>
                  </a:solidFill>
                </a:rPr>
                <a:t>Buffers</a:t>
              </a:r>
            </a:p>
          </p:txBody>
        </p:sp>
        <p:sp>
          <p:nvSpPr>
            <p:cNvPr id="27" name="TextBox 26"/>
            <p:cNvSpPr txBox="1"/>
            <p:nvPr/>
          </p:nvSpPr>
          <p:spPr>
            <a:xfrm>
              <a:off x="6768244" y="5368570"/>
              <a:ext cx="1058303" cy="369332"/>
            </a:xfrm>
            <a:prstGeom prst="rect">
              <a:avLst/>
            </a:prstGeom>
            <a:noFill/>
          </p:spPr>
          <p:txBody>
            <a:bodyPr wrap="none" rtlCol="0">
              <a:spAutoFit/>
            </a:bodyPr>
            <a:lstStyle/>
            <a:p>
              <a:r>
                <a:rPr lang="en-US">
                  <a:solidFill>
                    <a:schemeClr val="tx2"/>
                  </a:solidFill>
                </a:rPr>
                <a:t>Database</a:t>
              </a:r>
              <a:endParaRPr lang="en-US" dirty="0">
                <a:solidFill>
                  <a:schemeClr val="tx2"/>
                </a:solidFill>
              </a:endParaRPr>
            </a:p>
          </p:txBody>
        </p:sp>
        <p:sp>
          <p:nvSpPr>
            <p:cNvPr id="28" name="TextBox 27"/>
            <p:cNvSpPr txBox="1"/>
            <p:nvPr/>
          </p:nvSpPr>
          <p:spPr>
            <a:xfrm>
              <a:off x="5185021" y="1709488"/>
              <a:ext cx="1432123" cy="369332"/>
            </a:xfrm>
            <a:prstGeom prst="rect">
              <a:avLst/>
            </a:prstGeom>
            <a:noFill/>
          </p:spPr>
          <p:txBody>
            <a:bodyPr wrap="none" rtlCol="0">
              <a:spAutoFit/>
            </a:bodyPr>
            <a:lstStyle/>
            <a:p>
              <a:r>
                <a:rPr lang="en-US">
                  <a:solidFill>
                    <a:schemeClr val="tx2"/>
                  </a:solidFill>
                </a:rPr>
                <a:t>Transaction 1</a:t>
              </a:r>
              <a:endParaRPr lang="en-US" dirty="0">
                <a:solidFill>
                  <a:schemeClr val="tx2"/>
                </a:solidFill>
              </a:endParaRPr>
            </a:p>
          </p:txBody>
        </p:sp>
        <p:sp>
          <p:nvSpPr>
            <p:cNvPr id="29" name="TextBox 28"/>
            <p:cNvSpPr txBox="1"/>
            <p:nvPr/>
          </p:nvSpPr>
          <p:spPr>
            <a:xfrm>
              <a:off x="7182493" y="1697358"/>
              <a:ext cx="1432123" cy="369332"/>
            </a:xfrm>
            <a:prstGeom prst="rect">
              <a:avLst/>
            </a:prstGeom>
            <a:noFill/>
          </p:spPr>
          <p:txBody>
            <a:bodyPr wrap="none" rtlCol="0">
              <a:spAutoFit/>
            </a:bodyPr>
            <a:lstStyle/>
            <a:p>
              <a:r>
                <a:rPr lang="en-US" dirty="0">
                  <a:solidFill>
                    <a:schemeClr val="tx2"/>
                  </a:solidFill>
                </a:rPr>
                <a:t>Transaction 2</a:t>
              </a:r>
            </a:p>
          </p:txBody>
        </p:sp>
        <p:cxnSp>
          <p:nvCxnSpPr>
            <p:cNvPr id="30" name="Straight Arrow Connector 29"/>
            <p:cNvCxnSpPr>
              <a:stCxn id="4" idx="2"/>
              <a:endCxn id="6" idx="1"/>
            </p:cNvCxnSpPr>
            <p:nvPr/>
          </p:nvCxnSpPr>
          <p:spPr>
            <a:xfrm>
              <a:off x="5904148" y="4443511"/>
              <a:ext cx="0" cy="49765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17" idx="2"/>
              <a:endCxn id="4" idx="0"/>
            </p:cNvCxnSpPr>
            <p:nvPr/>
          </p:nvCxnSpPr>
          <p:spPr>
            <a:xfrm flipH="1">
              <a:off x="5904148" y="2995839"/>
              <a:ext cx="111" cy="53327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H="1">
              <a:off x="6479671" y="2995839"/>
              <a:ext cx="828634" cy="53327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grpSp>
      <p:sp>
        <p:nvSpPr>
          <p:cNvPr id="46" name="Rectangle 45"/>
          <p:cNvSpPr/>
          <p:nvPr/>
        </p:nvSpPr>
        <p:spPr>
          <a:xfrm>
            <a:off x="6903227" y="366410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47" name="Rectangle 46"/>
          <p:cNvSpPr/>
          <p:nvPr/>
        </p:nvSpPr>
        <p:spPr>
          <a:xfrm>
            <a:off x="7227263" y="3676451"/>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cxnSp>
        <p:nvCxnSpPr>
          <p:cNvPr id="48" name="Curved Connector 47"/>
          <p:cNvCxnSpPr/>
          <p:nvPr/>
        </p:nvCxnSpPr>
        <p:spPr>
          <a:xfrm rot="5400000" flipH="1" flipV="1">
            <a:off x="6791242" y="4619391"/>
            <a:ext cx="1399826" cy="90010"/>
          </a:xfrm>
          <a:prstGeom prst="curved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49" name="Curved Connector 48"/>
          <p:cNvCxnSpPr>
            <a:stCxn id="47" idx="0"/>
            <a:endCxn id="18" idx="2"/>
          </p:cNvCxnSpPr>
          <p:nvPr/>
        </p:nvCxnSpPr>
        <p:spPr>
          <a:xfrm rot="16200000" flipV="1">
            <a:off x="6911303" y="3054457"/>
            <a:ext cx="1171982" cy="72007"/>
          </a:xfrm>
          <a:prstGeom prst="curved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sp>
        <p:nvSpPr>
          <p:cNvPr id="52" name="Rectangle 51"/>
          <p:cNvSpPr/>
          <p:nvPr/>
        </p:nvSpPr>
        <p:spPr>
          <a:xfrm>
            <a:off x="7155256" y="2213818"/>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53" name="Rectangle 52"/>
          <p:cNvSpPr/>
          <p:nvPr/>
        </p:nvSpPr>
        <p:spPr>
          <a:xfrm>
            <a:off x="1775520" y="2369360"/>
            <a:ext cx="4248472" cy="360040"/>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751701660"/>
      </p:ext>
    </p:extLst>
  </p:cSld>
  <p:clrMapOvr>
    <a:masterClrMapping/>
  </p:clrMapOvr>
  <mc:AlternateContent xmlns:mc="http://schemas.openxmlformats.org/markup-compatibility/2006" xmlns:p14="http://schemas.microsoft.com/office/powerpoint/2010/main">
    <mc:Choice Requires="p14">
      <p:transition spd="slow" p14:dur="2000" advTm="15242"/>
    </mc:Choice>
    <mc:Fallback xmlns="">
      <p:transition spd="slow" advTm="1524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down)">
                                      <p:cBhvr>
                                        <p:cTn id="7" dur="250"/>
                                        <p:tgtEl>
                                          <p:spTgt spid="48"/>
                                        </p:tgtEl>
                                      </p:cBhvr>
                                    </p:animEffect>
                                  </p:childTnLst>
                                </p:cTn>
                              </p:par>
                            </p:childTnLst>
                          </p:cTn>
                        </p:par>
                        <p:par>
                          <p:cTn id="8" fill="hold">
                            <p:stCondLst>
                              <p:cond delay="250"/>
                            </p:stCondLst>
                            <p:childTnLst>
                              <p:par>
                                <p:cTn id="9" presetID="1" presetClass="entr" presetSubtype="0" fill="hold" grpId="0" nodeType="after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childTnLst>
                          </p:cTn>
                        </p:par>
                        <p:par>
                          <p:cTn id="13" fill="hold">
                            <p:stCondLst>
                              <p:cond delay="250"/>
                            </p:stCondLst>
                            <p:childTnLst>
                              <p:par>
                                <p:cTn id="14" presetID="22" presetClass="exit" presetSubtype="4" fill="hold" nodeType="afterEffect">
                                  <p:stCondLst>
                                    <p:cond delay="0"/>
                                  </p:stCondLst>
                                  <p:childTnLst>
                                    <p:animEffect transition="out" filter="wipe(down)">
                                      <p:cBhvr>
                                        <p:cTn id="15" dur="250"/>
                                        <p:tgtEl>
                                          <p:spTgt spid="48"/>
                                        </p:tgtEl>
                                      </p:cBhvr>
                                    </p:animEffect>
                                    <p:set>
                                      <p:cBhvr>
                                        <p:cTn id="16" dur="1" fill="hold">
                                          <p:stCondLst>
                                            <p:cond delay="249"/>
                                          </p:stCondLst>
                                        </p:cTn>
                                        <p:tgtEl>
                                          <p:spTgt spid="48"/>
                                        </p:tgtEl>
                                        <p:attrNameLst>
                                          <p:attrName>style.visibility</p:attrName>
                                        </p:attrNameLst>
                                      </p:cBhvr>
                                      <p:to>
                                        <p:strVal val="hidden"/>
                                      </p:to>
                                    </p:set>
                                  </p:childTnLst>
                                </p:cTn>
                              </p:par>
                            </p:childTnLst>
                          </p:cTn>
                        </p:par>
                        <p:par>
                          <p:cTn id="17" fill="hold">
                            <p:stCondLst>
                              <p:cond delay="500"/>
                            </p:stCondLst>
                            <p:childTnLst>
                              <p:par>
                                <p:cTn id="18" presetID="22" presetClass="entr" presetSubtype="4" fill="hold" nodeType="afterEffect">
                                  <p:stCondLst>
                                    <p:cond delay="0"/>
                                  </p:stCondLst>
                                  <p:childTnLst>
                                    <p:set>
                                      <p:cBhvr>
                                        <p:cTn id="19" dur="1" fill="hold">
                                          <p:stCondLst>
                                            <p:cond delay="0"/>
                                          </p:stCondLst>
                                        </p:cTn>
                                        <p:tgtEl>
                                          <p:spTgt spid="49"/>
                                        </p:tgtEl>
                                        <p:attrNameLst>
                                          <p:attrName>style.visibility</p:attrName>
                                        </p:attrNameLst>
                                      </p:cBhvr>
                                      <p:to>
                                        <p:strVal val="visible"/>
                                      </p:to>
                                    </p:set>
                                    <p:animEffect transition="in" filter="wipe(down)">
                                      <p:cBhvr>
                                        <p:cTn id="20" dur="250"/>
                                        <p:tgtEl>
                                          <p:spTgt spid="49"/>
                                        </p:tgtEl>
                                      </p:cBhvr>
                                    </p:animEffect>
                                  </p:childTnLst>
                                </p:cTn>
                              </p:par>
                            </p:childTnLst>
                          </p:cTn>
                        </p:par>
                        <p:par>
                          <p:cTn id="21" fill="hold">
                            <p:stCondLst>
                              <p:cond delay="750"/>
                            </p:stCondLst>
                            <p:childTnLst>
                              <p:par>
                                <p:cTn id="22" presetID="1" presetClass="entr" presetSubtype="0" fill="hold" grpId="0" nodeType="afterEffect">
                                  <p:stCondLst>
                                    <p:cond delay="0"/>
                                  </p:stCondLst>
                                  <p:childTnLst>
                                    <p:set>
                                      <p:cBhvr>
                                        <p:cTn id="23" dur="1" fill="hold">
                                          <p:stCondLst>
                                            <p:cond delay="0"/>
                                          </p:stCondLst>
                                        </p:cTn>
                                        <p:tgtEl>
                                          <p:spTgt spid="52"/>
                                        </p:tgtEl>
                                        <p:attrNameLst>
                                          <p:attrName>style.visibility</p:attrName>
                                        </p:attrNameLst>
                                      </p:cBhvr>
                                      <p:to>
                                        <p:strVal val="visible"/>
                                      </p:to>
                                    </p:set>
                                  </p:childTnLst>
                                </p:cTn>
                              </p:par>
                            </p:childTnLst>
                          </p:cTn>
                        </p:par>
                        <p:par>
                          <p:cTn id="24" fill="hold">
                            <p:stCondLst>
                              <p:cond delay="750"/>
                            </p:stCondLst>
                            <p:childTnLst>
                              <p:par>
                                <p:cTn id="25" presetID="22" presetClass="exit" presetSubtype="4" fill="hold" nodeType="afterEffect">
                                  <p:stCondLst>
                                    <p:cond delay="0"/>
                                  </p:stCondLst>
                                  <p:childTnLst>
                                    <p:animEffect transition="out" filter="wipe(down)">
                                      <p:cBhvr>
                                        <p:cTn id="26" dur="250"/>
                                        <p:tgtEl>
                                          <p:spTgt spid="49"/>
                                        </p:tgtEl>
                                      </p:cBhvr>
                                    </p:animEffect>
                                    <p:set>
                                      <p:cBhvr>
                                        <p:cTn id="27" dur="1" fill="hold">
                                          <p:stCondLst>
                                            <p:cond delay="249"/>
                                          </p:stCondLst>
                                        </p:cTn>
                                        <p:tgtEl>
                                          <p:spTgt spid="4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animBg="1"/>
      <p:bldP spid="5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Concurrent Schedules Do Not Guarantee Consistency or Isolation</a:t>
            </a:r>
            <a:endParaRPr lang="en-GB" sz="3100" dirty="0"/>
          </a:p>
        </p:txBody>
      </p:sp>
      <p:sp>
        <p:nvSpPr>
          <p:cNvPr id="7" name="Slide Number Placeholder 6"/>
          <p:cNvSpPr>
            <a:spLocks noGrp="1"/>
          </p:cNvSpPr>
          <p:nvPr>
            <p:ph type="sldNum" sz="quarter" idx="12"/>
          </p:nvPr>
        </p:nvSpPr>
        <p:spPr/>
        <p:txBody>
          <a:bodyPr/>
          <a:lstStyle/>
          <a:p>
            <a:fld id="{26F23E55-D42A-41AF-9F6E-8A8A2E703B49}" type="slidenum">
              <a:rPr lang="en-GB" smtClean="0"/>
              <a:pPr/>
              <a:t>13</a:t>
            </a:fld>
            <a:endParaRPr lang="en-GB"/>
          </a:p>
        </p:txBody>
      </p:sp>
      <p:graphicFrame>
        <p:nvGraphicFramePr>
          <p:cNvPr id="9" name="Table 8"/>
          <p:cNvGraphicFramePr>
            <a:graphicFrameLocks noGrp="1"/>
          </p:cNvGraphicFramePr>
          <p:nvPr/>
        </p:nvGraphicFramePr>
        <p:xfrm>
          <a:off x="1919536" y="1632416"/>
          <a:ext cx="3960440" cy="4820920"/>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1620180">
                  <a:extLst>
                    <a:ext uri="{9D8B030D-6E8A-4147-A177-3AD203B41FA5}">
                      <a16:colId xmlns:a16="http://schemas.microsoft.com/office/drawing/2014/main" val="20001"/>
                    </a:ext>
                  </a:extLst>
                </a:gridCol>
                <a:gridCol w="1620180">
                  <a:extLst>
                    <a:ext uri="{9D8B030D-6E8A-4147-A177-3AD203B41FA5}">
                      <a16:colId xmlns:a16="http://schemas.microsoft.com/office/drawing/2014/main" val="20002"/>
                    </a:ext>
                  </a:extLst>
                </a:gridCol>
              </a:tblGrid>
              <a:tr h="370840">
                <a:tc>
                  <a:txBody>
                    <a:bodyPr/>
                    <a:lstStyle/>
                    <a:p>
                      <a:r>
                        <a:rPr lang="en-US" dirty="0"/>
                        <a:t>Time</a:t>
                      </a:r>
                    </a:p>
                  </a:txBody>
                  <a:tcPr/>
                </a:tc>
                <a:tc gridSpan="2">
                  <a:txBody>
                    <a:bodyPr/>
                    <a:lstStyle/>
                    <a:p>
                      <a:r>
                        <a:rPr lang="en-US" sz="1800" b="1" baseline="0" dirty="0"/>
                        <a:t>Schedule</a:t>
                      </a:r>
                      <a:endParaRPr lang="en-US" sz="1600" b="1" baseline="-25000"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r>
                        <a:rPr lang="en-US" dirty="0"/>
                        <a:t>t0</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r>
                        <a:rPr lang="en-US" dirty="0"/>
                        <a:t>t1</a:t>
                      </a:r>
                    </a:p>
                  </a:txBody>
                  <a:tcPr/>
                </a:tc>
                <a:tc>
                  <a:txBody>
                    <a:bodyPr/>
                    <a:lstStyle/>
                    <a:p>
                      <a:r>
                        <a:rPr lang="en-US" dirty="0">
                          <a:solidFill>
                            <a:srgbClr val="C00000"/>
                          </a:solidFill>
                        </a:rPr>
                        <a:t>read(X)</a:t>
                      </a:r>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t2</a:t>
                      </a:r>
                    </a:p>
                  </a:txBody>
                  <a:tcPr/>
                </a:tc>
                <a:tc>
                  <a:txBody>
                    <a:bodyPr/>
                    <a:lstStyle/>
                    <a:p>
                      <a:endParaRPr lang="en-US"/>
                    </a:p>
                  </a:txBody>
                  <a:tcPr/>
                </a:tc>
                <a:tc>
                  <a:txBody>
                    <a:bodyPr/>
                    <a:lstStyle/>
                    <a:p>
                      <a:r>
                        <a:rPr lang="en-US" dirty="0">
                          <a:solidFill>
                            <a:schemeClr val="tx2"/>
                          </a:solidFill>
                        </a:rPr>
                        <a:t>read(X)</a:t>
                      </a:r>
                      <a:endParaRPr lang="en-US" dirty="0"/>
                    </a:p>
                  </a:txBody>
                  <a:tcPr/>
                </a:tc>
                <a:extLst>
                  <a:ext uri="{0D108BD9-81ED-4DB2-BD59-A6C34878D82A}">
                    <a16:rowId xmlns:a16="http://schemas.microsoft.com/office/drawing/2014/main" val="10003"/>
                  </a:ext>
                </a:extLst>
              </a:tr>
              <a:tr h="370840">
                <a:tc>
                  <a:txBody>
                    <a:bodyPr/>
                    <a:lstStyle/>
                    <a:p>
                      <a:r>
                        <a:rPr lang="en-US" dirty="0"/>
                        <a:t>t3</a:t>
                      </a:r>
                    </a:p>
                  </a:txBody>
                  <a:tcPr/>
                </a:tc>
                <a:tc>
                  <a:txBody>
                    <a:bodyPr/>
                    <a:lstStyle/>
                    <a:p>
                      <a:endParaRPr lang="en-US" dirty="0"/>
                    </a:p>
                  </a:txBody>
                  <a:tcPr/>
                </a:tc>
                <a:tc>
                  <a:txBody>
                    <a:bodyPr/>
                    <a:lstStyle/>
                    <a:p>
                      <a:r>
                        <a:rPr lang="en-US" dirty="0">
                          <a:solidFill>
                            <a:schemeClr val="tx2"/>
                          </a:solidFill>
                        </a:rPr>
                        <a:t>X := X + M</a:t>
                      </a:r>
                      <a:endParaRPr lang="en-US" dirty="0"/>
                    </a:p>
                  </a:txBody>
                  <a:tcPr/>
                </a:tc>
                <a:extLst>
                  <a:ext uri="{0D108BD9-81ED-4DB2-BD59-A6C34878D82A}">
                    <a16:rowId xmlns:a16="http://schemas.microsoft.com/office/drawing/2014/main" val="10004"/>
                  </a:ext>
                </a:extLst>
              </a:tr>
              <a:tr h="370840">
                <a:tc>
                  <a:txBody>
                    <a:bodyPr/>
                    <a:lstStyle/>
                    <a:p>
                      <a:r>
                        <a:rPr lang="en-US" dirty="0"/>
                        <a:t>t4</a:t>
                      </a:r>
                    </a:p>
                  </a:txBody>
                  <a:tcPr/>
                </a:tc>
                <a:tc>
                  <a:txBody>
                    <a:bodyPr/>
                    <a:lstStyle/>
                    <a:p>
                      <a:r>
                        <a:rPr lang="en-GB" sz="1800" dirty="0">
                          <a:solidFill>
                            <a:srgbClr val="C00000"/>
                          </a:solidFill>
                        </a:rPr>
                        <a:t>X := X + N</a:t>
                      </a:r>
                      <a:endParaRPr lang="en-US" dirty="0">
                        <a:solidFill>
                          <a:srgbClr val="C00000"/>
                        </a:solidFill>
                      </a:endParaRPr>
                    </a:p>
                  </a:txBody>
                  <a:tcPr/>
                </a:tc>
                <a:tc>
                  <a:txBody>
                    <a:bodyPr/>
                    <a:lstStyle/>
                    <a:p>
                      <a:endParaRPr lang="en-US" dirty="0"/>
                    </a:p>
                  </a:txBody>
                  <a:tcPr/>
                </a:tc>
                <a:extLst>
                  <a:ext uri="{0D108BD9-81ED-4DB2-BD59-A6C34878D82A}">
                    <a16:rowId xmlns:a16="http://schemas.microsoft.com/office/drawing/2014/main" val="10005"/>
                  </a:ext>
                </a:extLst>
              </a:tr>
              <a:tr h="370840">
                <a:tc>
                  <a:txBody>
                    <a:bodyPr/>
                    <a:lstStyle/>
                    <a:p>
                      <a:r>
                        <a:rPr lang="en-US" dirty="0"/>
                        <a:t>t5</a:t>
                      </a:r>
                    </a:p>
                  </a:txBody>
                  <a:tcPr/>
                </a:tc>
                <a:tc>
                  <a:txBody>
                    <a:bodyPr/>
                    <a:lstStyle/>
                    <a:p>
                      <a:r>
                        <a:rPr lang="en-GB" sz="1800" dirty="0">
                          <a:solidFill>
                            <a:srgbClr val="C00000"/>
                          </a:solidFill>
                        </a:rPr>
                        <a:t>write(X)</a:t>
                      </a:r>
                      <a:endParaRPr lang="en-US" dirty="0">
                        <a:solidFill>
                          <a:srgbClr val="C00000"/>
                        </a:solidFill>
                      </a:endParaRPr>
                    </a:p>
                  </a:txBody>
                  <a:tcPr/>
                </a:tc>
                <a:tc>
                  <a:txBody>
                    <a:bodyPr/>
                    <a:lstStyle/>
                    <a:p>
                      <a:endParaRPr lang="en-US" dirty="0"/>
                    </a:p>
                  </a:txBody>
                  <a:tcPr/>
                </a:tc>
                <a:extLst>
                  <a:ext uri="{0D108BD9-81ED-4DB2-BD59-A6C34878D82A}">
                    <a16:rowId xmlns:a16="http://schemas.microsoft.com/office/drawing/2014/main" val="10006"/>
                  </a:ext>
                </a:extLst>
              </a:tr>
              <a:tr h="370840">
                <a:tc>
                  <a:txBody>
                    <a:bodyPr/>
                    <a:lstStyle/>
                    <a:p>
                      <a:r>
                        <a:rPr lang="en-US" dirty="0"/>
                        <a:t>t6</a:t>
                      </a:r>
                    </a:p>
                  </a:txBody>
                  <a:tcPr/>
                </a:tc>
                <a:tc>
                  <a:txBody>
                    <a:bodyPr/>
                    <a:lstStyle/>
                    <a:p>
                      <a:r>
                        <a:rPr lang="en-US" dirty="0">
                          <a:solidFill>
                            <a:srgbClr val="C00000"/>
                          </a:solidFill>
                        </a:rPr>
                        <a:t>read(Y)</a:t>
                      </a:r>
                    </a:p>
                  </a:txBody>
                  <a:tcPr/>
                </a:tc>
                <a:tc>
                  <a:txBody>
                    <a:bodyPr/>
                    <a:lstStyle/>
                    <a:p>
                      <a:endParaRPr lang="en-US" dirty="0"/>
                    </a:p>
                  </a:txBody>
                  <a:tcPr/>
                </a:tc>
                <a:extLst>
                  <a:ext uri="{0D108BD9-81ED-4DB2-BD59-A6C34878D82A}">
                    <a16:rowId xmlns:a16="http://schemas.microsoft.com/office/drawing/2014/main" val="10007"/>
                  </a:ext>
                </a:extLst>
              </a:tr>
              <a:tr h="370840">
                <a:tc>
                  <a:txBody>
                    <a:bodyPr/>
                    <a:lstStyle/>
                    <a:p>
                      <a:r>
                        <a:rPr lang="en-US" dirty="0"/>
                        <a:t>t7</a:t>
                      </a:r>
                    </a:p>
                  </a:txBody>
                  <a:tcPr/>
                </a:tc>
                <a:tc>
                  <a:txBody>
                    <a:bodyPr/>
                    <a:lstStyle/>
                    <a:p>
                      <a:endParaRPr lang="en-US" dirty="0"/>
                    </a:p>
                  </a:txBody>
                  <a:tcPr/>
                </a:tc>
                <a:tc>
                  <a:txBody>
                    <a:bodyPr/>
                    <a:lstStyle/>
                    <a:p>
                      <a:r>
                        <a:rPr lang="en-US" dirty="0">
                          <a:solidFill>
                            <a:schemeClr val="tx2"/>
                          </a:solidFill>
                        </a:rPr>
                        <a:t>write(X)</a:t>
                      </a:r>
                      <a:endParaRPr lang="en-US" dirty="0"/>
                    </a:p>
                  </a:txBody>
                  <a:tcPr/>
                </a:tc>
                <a:extLst>
                  <a:ext uri="{0D108BD9-81ED-4DB2-BD59-A6C34878D82A}">
                    <a16:rowId xmlns:a16="http://schemas.microsoft.com/office/drawing/2014/main" val="10008"/>
                  </a:ext>
                </a:extLst>
              </a:tr>
              <a:tr h="370840">
                <a:tc>
                  <a:txBody>
                    <a:bodyPr/>
                    <a:lstStyle/>
                    <a:p>
                      <a:r>
                        <a:rPr lang="en-US" dirty="0"/>
                        <a:t>t8</a:t>
                      </a:r>
                    </a:p>
                  </a:txBody>
                  <a:tcPr/>
                </a:tc>
                <a:tc>
                  <a:txBody>
                    <a:bodyPr/>
                    <a:lstStyle/>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rPr>
                        <a:t>commit</a:t>
                      </a:r>
                    </a:p>
                  </a:txBody>
                  <a:tcPr/>
                </a:tc>
                <a:extLst>
                  <a:ext uri="{0D108BD9-81ED-4DB2-BD59-A6C34878D82A}">
                    <a16:rowId xmlns:a16="http://schemas.microsoft.com/office/drawing/2014/main" val="10009"/>
                  </a:ext>
                </a:extLst>
              </a:tr>
              <a:tr h="370840">
                <a:tc>
                  <a:txBody>
                    <a:bodyPr/>
                    <a:lstStyle/>
                    <a:p>
                      <a:r>
                        <a:rPr lang="en-US" dirty="0"/>
                        <a:t>t9</a:t>
                      </a:r>
                    </a:p>
                  </a:txBody>
                  <a:tcPr/>
                </a:tc>
                <a:tc>
                  <a:txBody>
                    <a:bodyPr/>
                    <a:lstStyle/>
                    <a:p>
                      <a:r>
                        <a:rPr lang="en-GB" sz="1800" dirty="0">
                          <a:solidFill>
                            <a:srgbClr val="C00000"/>
                          </a:solidFill>
                        </a:rPr>
                        <a:t>Y := Y +</a:t>
                      </a:r>
                      <a:r>
                        <a:rPr lang="en-GB" sz="1800" baseline="0" dirty="0">
                          <a:solidFill>
                            <a:srgbClr val="C00000"/>
                          </a:solidFill>
                        </a:rPr>
                        <a:t> N</a:t>
                      </a:r>
                      <a:endParaRPr lang="en-US" dirty="0">
                        <a:solidFill>
                          <a:srgbClr val="C00000"/>
                        </a:solidFill>
                      </a:endParaRPr>
                    </a:p>
                  </a:txBody>
                  <a:tcPr/>
                </a:tc>
                <a:tc>
                  <a:txBody>
                    <a:bodyPr/>
                    <a:lstStyle/>
                    <a:p>
                      <a:endParaRPr lang="en-US" dirty="0">
                        <a:solidFill>
                          <a:schemeClr val="tx2"/>
                        </a:solidFill>
                      </a:endParaRPr>
                    </a:p>
                  </a:txBody>
                  <a:tcPr/>
                </a:tc>
                <a:extLst>
                  <a:ext uri="{0D108BD9-81ED-4DB2-BD59-A6C34878D82A}">
                    <a16:rowId xmlns:a16="http://schemas.microsoft.com/office/drawing/2014/main" val="10010"/>
                  </a:ext>
                </a:extLst>
              </a:tr>
              <a:tr h="370840">
                <a:tc>
                  <a:txBody>
                    <a:bodyPr/>
                    <a:lstStyle/>
                    <a:p>
                      <a:r>
                        <a:rPr lang="en-US" dirty="0"/>
                        <a:t>t10</a:t>
                      </a:r>
                    </a:p>
                  </a:txBody>
                  <a:tcPr/>
                </a:tc>
                <a:tc>
                  <a:txBody>
                    <a:bodyPr/>
                    <a:lstStyle/>
                    <a:p>
                      <a:r>
                        <a:rPr lang="en-US" dirty="0">
                          <a:solidFill>
                            <a:srgbClr val="C00000"/>
                          </a:solidFill>
                        </a:rPr>
                        <a:t>write(Y)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2"/>
                        </a:solidFill>
                      </a:endParaRPr>
                    </a:p>
                  </a:txBody>
                  <a:tcPr/>
                </a:tc>
                <a:extLst>
                  <a:ext uri="{0D108BD9-81ED-4DB2-BD59-A6C34878D82A}">
                    <a16:rowId xmlns:a16="http://schemas.microsoft.com/office/drawing/2014/main" val="10011"/>
                  </a:ext>
                </a:extLst>
              </a:tr>
              <a:tr h="370840">
                <a:tc>
                  <a:txBody>
                    <a:bodyPr/>
                    <a:lstStyle/>
                    <a:p>
                      <a:r>
                        <a:rPr lang="en-US" dirty="0"/>
                        <a:t>t11</a:t>
                      </a:r>
                    </a:p>
                  </a:txBody>
                  <a:tcPr/>
                </a:tc>
                <a:tc>
                  <a:txBody>
                    <a:bodyPr/>
                    <a:lstStyle/>
                    <a:p>
                      <a:r>
                        <a:rPr lang="en-US" dirty="0">
                          <a:solidFill>
                            <a:srgbClr val="C00000"/>
                          </a:solidFill>
                        </a:rPr>
                        <a:t>commit</a:t>
                      </a:r>
                    </a:p>
                  </a:txBody>
                  <a:tcPr/>
                </a:tc>
                <a:tc>
                  <a:txBody>
                    <a:bodyPr/>
                    <a:lstStyle/>
                    <a:p>
                      <a:endParaRPr lang="en-US" dirty="0">
                        <a:solidFill>
                          <a:schemeClr val="tx2"/>
                        </a:solidFill>
                      </a:endParaRPr>
                    </a:p>
                  </a:txBody>
                  <a:tcPr/>
                </a:tc>
                <a:extLst>
                  <a:ext uri="{0D108BD9-81ED-4DB2-BD59-A6C34878D82A}">
                    <a16:rowId xmlns:a16="http://schemas.microsoft.com/office/drawing/2014/main" val="10012"/>
                  </a:ext>
                </a:extLst>
              </a:tr>
            </a:tbl>
          </a:graphicData>
        </a:graphic>
      </p:graphicFrame>
      <p:grpSp>
        <p:nvGrpSpPr>
          <p:cNvPr id="45" name="Group 44"/>
          <p:cNvGrpSpPr/>
          <p:nvPr/>
        </p:nvGrpSpPr>
        <p:grpSpPr>
          <a:xfrm>
            <a:off x="6600056" y="1697358"/>
            <a:ext cx="3538560" cy="4467946"/>
            <a:chOff x="5076056" y="1697358"/>
            <a:chExt cx="3538560" cy="4467946"/>
          </a:xfrm>
        </p:grpSpPr>
        <p:sp>
          <p:nvSpPr>
            <p:cNvPr id="6" name="Can 5"/>
            <p:cNvSpPr/>
            <p:nvPr/>
          </p:nvSpPr>
          <p:spPr>
            <a:xfrm>
              <a:off x="5076056" y="4941168"/>
              <a:ext cx="1656184" cy="1224136"/>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5616116" y="5364309"/>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10" name="Rectangle 9"/>
            <p:cNvSpPr/>
            <p:nvPr/>
          </p:nvSpPr>
          <p:spPr>
            <a:xfrm>
              <a:off x="5616116" y="5733256"/>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a:t>
              </a:r>
            </a:p>
          </p:txBody>
        </p:sp>
        <p:sp>
          <p:nvSpPr>
            <p:cNvPr id="11" name="Rectangle 10"/>
            <p:cNvSpPr/>
            <p:nvPr/>
          </p:nvSpPr>
          <p:spPr>
            <a:xfrm>
              <a:off x="5292080" y="536430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12" name="Rectangle 11"/>
            <p:cNvSpPr/>
            <p:nvPr/>
          </p:nvSpPr>
          <p:spPr>
            <a:xfrm>
              <a:off x="5292080" y="572434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bg1"/>
                  </a:solidFill>
                </a:rPr>
                <a:t>Y</a:t>
              </a:r>
              <a:endParaRPr lang="en-US" dirty="0">
                <a:solidFill>
                  <a:schemeClr val="bg1"/>
                </a:solidFill>
              </a:endParaRPr>
            </a:p>
          </p:txBody>
        </p:sp>
        <p:sp>
          <p:nvSpPr>
            <p:cNvPr id="4" name="Rectangle 3"/>
            <p:cNvSpPr/>
            <p:nvPr/>
          </p:nvSpPr>
          <p:spPr>
            <a:xfrm>
              <a:off x="5364088" y="3529111"/>
              <a:ext cx="108012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5292080" y="2081439"/>
              <a:ext cx="1224357"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5631256" y="2216437"/>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19" name="Rectangle 18"/>
            <p:cNvSpPr/>
            <p:nvPr/>
          </p:nvSpPr>
          <p:spPr>
            <a:xfrm>
              <a:off x="5631256" y="2585384"/>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0" name="Rectangle 19"/>
            <p:cNvSpPr/>
            <p:nvPr/>
          </p:nvSpPr>
          <p:spPr>
            <a:xfrm>
              <a:off x="5307220" y="2216437"/>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21" name="Rectangle 20"/>
            <p:cNvSpPr/>
            <p:nvPr/>
          </p:nvSpPr>
          <p:spPr>
            <a:xfrm>
              <a:off x="5307220" y="2576477"/>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bg1"/>
                  </a:solidFill>
                </a:rPr>
                <a:t>Y</a:t>
              </a:r>
              <a:endParaRPr lang="en-US" dirty="0">
                <a:solidFill>
                  <a:schemeClr val="bg1"/>
                </a:solidFill>
              </a:endParaRPr>
            </a:p>
          </p:txBody>
        </p:sp>
        <p:sp>
          <p:nvSpPr>
            <p:cNvPr id="22" name="Rectangle 21"/>
            <p:cNvSpPr/>
            <p:nvPr/>
          </p:nvSpPr>
          <p:spPr>
            <a:xfrm>
              <a:off x="7308304" y="2082552"/>
              <a:ext cx="1224136"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7647479" y="2217550"/>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5" name="Rectangle 24"/>
            <p:cNvSpPr/>
            <p:nvPr/>
          </p:nvSpPr>
          <p:spPr>
            <a:xfrm>
              <a:off x="7323443" y="2217550"/>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5" name="TextBox 4"/>
            <p:cNvSpPr txBox="1"/>
            <p:nvPr/>
          </p:nvSpPr>
          <p:spPr>
            <a:xfrm>
              <a:off x="6479671" y="3786901"/>
              <a:ext cx="846450" cy="369332"/>
            </a:xfrm>
            <a:prstGeom prst="rect">
              <a:avLst/>
            </a:prstGeom>
            <a:noFill/>
          </p:spPr>
          <p:txBody>
            <a:bodyPr wrap="none" rtlCol="0">
              <a:spAutoFit/>
            </a:bodyPr>
            <a:lstStyle/>
            <a:p>
              <a:r>
                <a:rPr lang="en-US" dirty="0">
                  <a:solidFill>
                    <a:schemeClr val="tx2"/>
                  </a:solidFill>
                </a:rPr>
                <a:t>Buffers</a:t>
              </a:r>
            </a:p>
          </p:txBody>
        </p:sp>
        <p:sp>
          <p:nvSpPr>
            <p:cNvPr id="27" name="TextBox 26"/>
            <p:cNvSpPr txBox="1"/>
            <p:nvPr/>
          </p:nvSpPr>
          <p:spPr>
            <a:xfrm>
              <a:off x="6768244" y="5368570"/>
              <a:ext cx="1058303" cy="369332"/>
            </a:xfrm>
            <a:prstGeom prst="rect">
              <a:avLst/>
            </a:prstGeom>
            <a:noFill/>
          </p:spPr>
          <p:txBody>
            <a:bodyPr wrap="none" rtlCol="0">
              <a:spAutoFit/>
            </a:bodyPr>
            <a:lstStyle/>
            <a:p>
              <a:r>
                <a:rPr lang="en-US">
                  <a:solidFill>
                    <a:schemeClr val="tx2"/>
                  </a:solidFill>
                </a:rPr>
                <a:t>Database</a:t>
              </a:r>
              <a:endParaRPr lang="en-US" dirty="0">
                <a:solidFill>
                  <a:schemeClr val="tx2"/>
                </a:solidFill>
              </a:endParaRPr>
            </a:p>
          </p:txBody>
        </p:sp>
        <p:sp>
          <p:nvSpPr>
            <p:cNvPr id="28" name="TextBox 27"/>
            <p:cNvSpPr txBox="1"/>
            <p:nvPr/>
          </p:nvSpPr>
          <p:spPr>
            <a:xfrm>
              <a:off x="5185021" y="1709488"/>
              <a:ext cx="1432123" cy="369332"/>
            </a:xfrm>
            <a:prstGeom prst="rect">
              <a:avLst/>
            </a:prstGeom>
            <a:noFill/>
          </p:spPr>
          <p:txBody>
            <a:bodyPr wrap="none" rtlCol="0">
              <a:spAutoFit/>
            </a:bodyPr>
            <a:lstStyle/>
            <a:p>
              <a:r>
                <a:rPr lang="en-US">
                  <a:solidFill>
                    <a:schemeClr val="tx2"/>
                  </a:solidFill>
                </a:rPr>
                <a:t>Transaction 1</a:t>
              </a:r>
              <a:endParaRPr lang="en-US" dirty="0">
                <a:solidFill>
                  <a:schemeClr val="tx2"/>
                </a:solidFill>
              </a:endParaRPr>
            </a:p>
          </p:txBody>
        </p:sp>
        <p:sp>
          <p:nvSpPr>
            <p:cNvPr id="29" name="TextBox 28"/>
            <p:cNvSpPr txBox="1"/>
            <p:nvPr/>
          </p:nvSpPr>
          <p:spPr>
            <a:xfrm>
              <a:off x="7182493" y="1697358"/>
              <a:ext cx="1432123" cy="369332"/>
            </a:xfrm>
            <a:prstGeom prst="rect">
              <a:avLst/>
            </a:prstGeom>
            <a:noFill/>
          </p:spPr>
          <p:txBody>
            <a:bodyPr wrap="none" rtlCol="0">
              <a:spAutoFit/>
            </a:bodyPr>
            <a:lstStyle/>
            <a:p>
              <a:r>
                <a:rPr lang="en-US" dirty="0">
                  <a:solidFill>
                    <a:schemeClr val="tx2"/>
                  </a:solidFill>
                </a:rPr>
                <a:t>Transaction 2</a:t>
              </a:r>
            </a:p>
          </p:txBody>
        </p:sp>
        <p:cxnSp>
          <p:nvCxnSpPr>
            <p:cNvPr id="30" name="Straight Arrow Connector 29"/>
            <p:cNvCxnSpPr>
              <a:stCxn id="4" idx="2"/>
              <a:endCxn id="6" idx="1"/>
            </p:cNvCxnSpPr>
            <p:nvPr/>
          </p:nvCxnSpPr>
          <p:spPr>
            <a:xfrm>
              <a:off x="5904148" y="4443511"/>
              <a:ext cx="0" cy="49765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17" idx="2"/>
              <a:endCxn id="4" idx="0"/>
            </p:cNvCxnSpPr>
            <p:nvPr/>
          </p:nvCxnSpPr>
          <p:spPr>
            <a:xfrm flipH="1">
              <a:off x="5904148" y="2995839"/>
              <a:ext cx="111" cy="53327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H="1">
              <a:off x="6479671" y="2995839"/>
              <a:ext cx="828634" cy="53327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grpSp>
      <p:sp>
        <p:nvSpPr>
          <p:cNvPr id="46" name="Rectangle 45"/>
          <p:cNvSpPr/>
          <p:nvPr/>
        </p:nvSpPr>
        <p:spPr>
          <a:xfrm>
            <a:off x="6903227" y="366410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47" name="Rectangle 46"/>
          <p:cNvSpPr/>
          <p:nvPr/>
        </p:nvSpPr>
        <p:spPr>
          <a:xfrm>
            <a:off x="7227263" y="3676451"/>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cxnSp>
        <p:nvCxnSpPr>
          <p:cNvPr id="49" name="Curved Connector 48"/>
          <p:cNvCxnSpPr>
            <a:stCxn id="47" idx="0"/>
            <a:endCxn id="23" idx="2"/>
          </p:cNvCxnSpPr>
          <p:nvPr/>
        </p:nvCxnSpPr>
        <p:spPr>
          <a:xfrm rot="5400000" flipH="1" flipV="1">
            <a:off x="7919972" y="2118909"/>
            <a:ext cx="1170869" cy="1944216"/>
          </a:xfrm>
          <a:prstGeom prst="curved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sp>
        <p:nvSpPr>
          <p:cNvPr id="52" name="Rectangle 51"/>
          <p:cNvSpPr/>
          <p:nvPr/>
        </p:nvSpPr>
        <p:spPr>
          <a:xfrm>
            <a:off x="9163191" y="2213483"/>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53" name="Rectangle 52"/>
          <p:cNvSpPr/>
          <p:nvPr/>
        </p:nvSpPr>
        <p:spPr>
          <a:xfrm>
            <a:off x="1775520" y="2740360"/>
            <a:ext cx="4248472" cy="360040"/>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927000743"/>
      </p:ext>
    </p:extLst>
  </p:cSld>
  <p:clrMapOvr>
    <a:masterClrMapping/>
  </p:clrMapOvr>
  <mc:AlternateContent xmlns:mc="http://schemas.openxmlformats.org/markup-compatibility/2006" xmlns:p14="http://schemas.microsoft.com/office/powerpoint/2010/main">
    <mc:Choice Requires="p14">
      <p:transition spd="slow" p14:dur="2000" advTm="10784"/>
    </mc:Choice>
    <mc:Fallback xmlns="">
      <p:transition spd="slow" advTm="1078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down)">
                                      <p:cBhvr>
                                        <p:cTn id="7" dur="500"/>
                                        <p:tgtEl>
                                          <p:spTgt spid="49"/>
                                        </p:tgtEl>
                                      </p:cBhvr>
                                    </p:animEffect>
                                  </p:childTnLst>
                                </p:cTn>
                              </p:par>
                              <p:par>
                                <p:cTn id="8" presetID="1" presetClass="entr" presetSubtype="0" fill="hold" grpId="0" nodeType="withEffect">
                                  <p:stCondLst>
                                    <p:cond delay="0"/>
                                  </p:stCondLst>
                                  <p:childTnLst>
                                    <p:set>
                                      <p:cBhvr>
                                        <p:cTn id="9" dur="1" fill="hold">
                                          <p:stCondLst>
                                            <p:cond delay="0"/>
                                          </p:stCondLst>
                                        </p:cTn>
                                        <p:tgtEl>
                                          <p:spTgt spid="52"/>
                                        </p:tgtEl>
                                        <p:attrNameLst>
                                          <p:attrName>style.visibility</p:attrName>
                                        </p:attrNameLst>
                                      </p:cBhvr>
                                      <p:to>
                                        <p:strVal val="visible"/>
                                      </p:to>
                                    </p:set>
                                  </p:childTnLst>
                                </p:cTn>
                              </p:par>
                            </p:childTnLst>
                          </p:cTn>
                        </p:par>
                        <p:par>
                          <p:cTn id="10" fill="hold">
                            <p:stCondLst>
                              <p:cond delay="500"/>
                            </p:stCondLst>
                            <p:childTnLst>
                              <p:par>
                                <p:cTn id="11" presetID="22" presetClass="exit" presetSubtype="4" fill="hold" nodeType="afterEffect">
                                  <p:stCondLst>
                                    <p:cond delay="0"/>
                                  </p:stCondLst>
                                  <p:childTnLst>
                                    <p:animEffect transition="out" filter="wipe(down)">
                                      <p:cBhvr>
                                        <p:cTn id="12" dur="500"/>
                                        <p:tgtEl>
                                          <p:spTgt spid="49"/>
                                        </p:tgtEl>
                                      </p:cBhvr>
                                    </p:animEffect>
                                    <p:set>
                                      <p:cBhvr>
                                        <p:cTn id="13" dur="1" fill="hold">
                                          <p:stCondLst>
                                            <p:cond delay="499"/>
                                          </p:stCondLst>
                                        </p:cTn>
                                        <p:tgtEl>
                                          <p:spTgt spid="4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Concurrent Schedules Do Not Guarantee Consistency or Isolation</a:t>
            </a:r>
            <a:endParaRPr lang="en-GB" sz="3100" dirty="0"/>
          </a:p>
        </p:txBody>
      </p:sp>
      <p:sp>
        <p:nvSpPr>
          <p:cNvPr id="7" name="Slide Number Placeholder 6"/>
          <p:cNvSpPr>
            <a:spLocks noGrp="1"/>
          </p:cNvSpPr>
          <p:nvPr>
            <p:ph type="sldNum" sz="quarter" idx="12"/>
          </p:nvPr>
        </p:nvSpPr>
        <p:spPr/>
        <p:txBody>
          <a:bodyPr/>
          <a:lstStyle/>
          <a:p>
            <a:fld id="{26F23E55-D42A-41AF-9F6E-8A8A2E703B49}" type="slidenum">
              <a:rPr lang="en-GB" smtClean="0"/>
              <a:pPr/>
              <a:t>14</a:t>
            </a:fld>
            <a:endParaRPr lang="en-GB"/>
          </a:p>
        </p:txBody>
      </p:sp>
      <p:graphicFrame>
        <p:nvGraphicFramePr>
          <p:cNvPr id="9" name="Table 8"/>
          <p:cNvGraphicFramePr>
            <a:graphicFrameLocks noGrp="1"/>
          </p:cNvGraphicFramePr>
          <p:nvPr/>
        </p:nvGraphicFramePr>
        <p:xfrm>
          <a:off x="1919536" y="1632416"/>
          <a:ext cx="3960440" cy="4820920"/>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1620180">
                  <a:extLst>
                    <a:ext uri="{9D8B030D-6E8A-4147-A177-3AD203B41FA5}">
                      <a16:colId xmlns:a16="http://schemas.microsoft.com/office/drawing/2014/main" val="20001"/>
                    </a:ext>
                  </a:extLst>
                </a:gridCol>
                <a:gridCol w="1620180">
                  <a:extLst>
                    <a:ext uri="{9D8B030D-6E8A-4147-A177-3AD203B41FA5}">
                      <a16:colId xmlns:a16="http://schemas.microsoft.com/office/drawing/2014/main" val="20002"/>
                    </a:ext>
                  </a:extLst>
                </a:gridCol>
              </a:tblGrid>
              <a:tr h="370840">
                <a:tc>
                  <a:txBody>
                    <a:bodyPr/>
                    <a:lstStyle/>
                    <a:p>
                      <a:r>
                        <a:rPr lang="en-US" dirty="0"/>
                        <a:t>Time</a:t>
                      </a:r>
                    </a:p>
                  </a:txBody>
                  <a:tcPr/>
                </a:tc>
                <a:tc gridSpan="2">
                  <a:txBody>
                    <a:bodyPr/>
                    <a:lstStyle/>
                    <a:p>
                      <a:r>
                        <a:rPr lang="en-US" sz="1800" b="1" baseline="0" dirty="0"/>
                        <a:t>Schedule</a:t>
                      </a:r>
                      <a:endParaRPr lang="en-US" sz="1600" b="1" baseline="-25000"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r>
                        <a:rPr lang="en-US" dirty="0"/>
                        <a:t>t0</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r>
                        <a:rPr lang="en-US" dirty="0"/>
                        <a:t>t1</a:t>
                      </a:r>
                    </a:p>
                  </a:txBody>
                  <a:tcPr/>
                </a:tc>
                <a:tc>
                  <a:txBody>
                    <a:bodyPr/>
                    <a:lstStyle/>
                    <a:p>
                      <a:r>
                        <a:rPr lang="en-US" dirty="0">
                          <a:solidFill>
                            <a:srgbClr val="C00000"/>
                          </a:solidFill>
                        </a:rPr>
                        <a:t>read(X)</a:t>
                      </a:r>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t2</a:t>
                      </a:r>
                    </a:p>
                  </a:txBody>
                  <a:tcPr/>
                </a:tc>
                <a:tc>
                  <a:txBody>
                    <a:bodyPr/>
                    <a:lstStyle/>
                    <a:p>
                      <a:endParaRPr lang="en-US"/>
                    </a:p>
                  </a:txBody>
                  <a:tcPr/>
                </a:tc>
                <a:tc>
                  <a:txBody>
                    <a:bodyPr/>
                    <a:lstStyle/>
                    <a:p>
                      <a:r>
                        <a:rPr lang="en-US" dirty="0">
                          <a:solidFill>
                            <a:schemeClr val="tx2"/>
                          </a:solidFill>
                        </a:rPr>
                        <a:t>read(X)</a:t>
                      </a:r>
                      <a:endParaRPr lang="en-US" dirty="0"/>
                    </a:p>
                  </a:txBody>
                  <a:tcPr/>
                </a:tc>
                <a:extLst>
                  <a:ext uri="{0D108BD9-81ED-4DB2-BD59-A6C34878D82A}">
                    <a16:rowId xmlns:a16="http://schemas.microsoft.com/office/drawing/2014/main" val="10003"/>
                  </a:ext>
                </a:extLst>
              </a:tr>
              <a:tr h="370840">
                <a:tc>
                  <a:txBody>
                    <a:bodyPr/>
                    <a:lstStyle/>
                    <a:p>
                      <a:r>
                        <a:rPr lang="en-US" dirty="0"/>
                        <a:t>t3</a:t>
                      </a:r>
                    </a:p>
                  </a:txBody>
                  <a:tcPr/>
                </a:tc>
                <a:tc>
                  <a:txBody>
                    <a:bodyPr/>
                    <a:lstStyle/>
                    <a:p>
                      <a:endParaRPr lang="en-US" dirty="0"/>
                    </a:p>
                  </a:txBody>
                  <a:tcPr/>
                </a:tc>
                <a:tc>
                  <a:txBody>
                    <a:bodyPr/>
                    <a:lstStyle/>
                    <a:p>
                      <a:r>
                        <a:rPr lang="en-US" dirty="0">
                          <a:solidFill>
                            <a:schemeClr val="tx2"/>
                          </a:solidFill>
                        </a:rPr>
                        <a:t>X := X + M</a:t>
                      </a:r>
                      <a:endParaRPr lang="en-US" dirty="0"/>
                    </a:p>
                  </a:txBody>
                  <a:tcPr/>
                </a:tc>
                <a:extLst>
                  <a:ext uri="{0D108BD9-81ED-4DB2-BD59-A6C34878D82A}">
                    <a16:rowId xmlns:a16="http://schemas.microsoft.com/office/drawing/2014/main" val="10004"/>
                  </a:ext>
                </a:extLst>
              </a:tr>
              <a:tr h="370840">
                <a:tc>
                  <a:txBody>
                    <a:bodyPr/>
                    <a:lstStyle/>
                    <a:p>
                      <a:r>
                        <a:rPr lang="en-US" dirty="0"/>
                        <a:t>t4</a:t>
                      </a:r>
                    </a:p>
                  </a:txBody>
                  <a:tcPr/>
                </a:tc>
                <a:tc>
                  <a:txBody>
                    <a:bodyPr/>
                    <a:lstStyle/>
                    <a:p>
                      <a:r>
                        <a:rPr lang="en-GB" sz="1800" dirty="0">
                          <a:solidFill>
                            <a:srgbClr val="C00000"/>
                          </a:solidFill>
                        </a:rPr>
                        <a:t>X := X + N</a:t>
                      </a:r>
                      <a:endParaRPr lang="en-US" dirty="0">
                        <a:solidFill>
                          <a:srgbClr val="C00000"/>
                        </a:solidFill>
                      </a:endParaRPr>
                    </a:p>
                  </a:txBody>
                  <a:tcPr/>
                </a:tc>
                <a:tc>
                  <a:txBody>
                    <a:bodyPr/>
                    <a:lstStyle/>
                    <a:p>
                      <a:endParaRPr lang="en-US" dirty="0"/>
                    </a:p>
                  </a:txBody>
                  <a:tcPr/>
                </a:tc>
                <a:extLst>
                  <a:ext uri="{0D108BD9-81ED-4DB2-BD59-A6C34878D82A}">
                    <a16:rowId xmlns:a16="http://schemas.microsoft.com/office/drawing/2014/main" val="10005"/>
                  </a:ext>
                </a:extLst>
              </a:tr>
              <a:tr h="370840">
                <a:tc>
                  <a:txBody>
                    <a:bodyPr/>
                    <a:lstStyle/>
                    <a:p>
                      <a:r>
                        <a:rPr lang="en-US" dirty="0"/>
                        <a:t>t5</a:t>
                      </a:r>
                    </a:p>
                  </a:txBody>
                  <a:tcPr/>
                </a:tc>
                <a:tc>
                  <a:txBody>
                    <a:bodyPr/>
                    <a:lstStyle/>
                    <a:p>
                      <a:r>
                        <a:rPr lang="en-GB" sz="1800" dirty="0">
                          <a:solidFill>
                            <a:srgbClr val="C00000"/>
                          </a:solidFill>
                        </a:rPr>
                        <a:t>write(X)</a:t>
                      </a:r>
                      <a:endParaRPr lang="en-US" dirty="0">
                        <a:solidFill>
                          <a:srgbClr val="C00000"/>
                        </a:solidFill>
                      </a:endParaRPr>
                    </a:p>
                  </a:txBody>
                  <a:tcPr/>
                </a:tc>
                <a:tc>
                  <a:txBody>
                    <a:bodyPr/>
                    <a:lstStyle/>
                    <a:p>
                      <a:endParaRPr lang="en-US" dirty="0"/>
                    </a:p>
                  </a:txBody>
                  <a:tcPr/>
                </a:tc>
                <a:extLst>
                  <a:ext uri="{0D108BD9-81ED-4DB2-BD59-A6C34878D82A}">
                    <a16:rowId xmlns:a16="http://schemas.microsoft.com/office/drawing/2014/main" val="10006"/>
                  </a:ext>
                </a:extLst>
              </a:tr>
              <a:tr h="370840">
                <a:tc>
                  <a:txBody>
                    <a:bodyPr/>
                    <a:lstStyle/>
                    <a:p>
                      <a:r>
                        <a:rPr lang="en-US" dirty="0"/>
                        <a:t>t6</a:t>
                      </a:r>
                    </a:p>
                  </a:txBody>
                  <a:tcPr/>
                </a:tc>
                <a:tc>
                  <a:txBody>
                    <a:bodyPr/>
                    <a:lstStyle/>
                    <a:p>
                      <a:r>
                        <a:rPr lang="en-US" dirty="0">
                          <a:solidFill>
                            <a:srgbClr val="C00000"/>
                          </a:solidFill>
                        </a:rPr>
                        <a:t>read(Y)</a:t>
                      </a:r>
                    </a:p>
                  </a:txBody>
                  <a:tcPr/>
                </a:tc>
                <a:tc>
                  <a:txBody>
                    <a:bodyPr/>
                    <a:lstStyle/>
                    <a:p>
                      <a:endParaRPr lang="en-US" dirty="0"/>
                    </a:p>
                  </a:txBody>
                  <a:tcPr/>
                </a:tc>
                <a:extLst>
                  <a:ext uri="{0D108BD9-81ED-4DB2-BD59-A6C34878D82A}">
                    <a16:rowId xmlns:a16="http://schemas.microsoft.com/office/drawing/2014/main" val="10007"/>
                  </a:ext>
                </a:extLst>
              </a:tr>
              <a:tr h="370840">
                <a:tc>
                  <a:txBody>
                    <a:bodyPr/>
                    <a:lstStyle/>
                    <a:p>
                      <a:r>
                        <a:rPr lang="en-US" dirty="0"/>
                        <a:t>t7</a:t>
                      </a:r>
                    </a:p>
                  </a:txBody>
                  <a:tcPr/>
                </a:tc>
                <a:tc>
                  <a:txBody>
                    <a:bodyPr/>
                    <a:lstStyle/>
                    <a:p>
                      <a:endParaRPr lang="en-US" dirty="0"/>
                    </a:p>
                  </a:txBody>
                  <a:tcPr/>
                </a:tc>
                <a:tc>
                  <a:txBody>
                    <a:bodyPr/>
                    <a:lstStyle/>
                    <a:p>
                      <a:r>
                        <a:rPr lang="en-US" dirty="0">
                          <a:solidFill>
                            <a:schemeClr val="tx2"/>
                          </a:solidFill>
                        </a:rPr>
                        <a:t>write(X)</a:t>
                      </a:r>
                      <a:endParaRPr lang="en-US" dirty="0"/>
                    </a:p>
                  </a:txBody>
                  <a:tcPr/>
                </a:tc>
                <a:extLst>
                  <a:ext uri="{0D108BD9-81ED-4DB2-BD59-A6C34878D82A}">
                    <a16:rowId xmlns:a16="http://schemas.microsoft.com/office/drawing/2014/main" val="10008"/>
                  </a:ext>
                </a:extLst>
              </a:tr>
              <a:tr h="370840">
                <a:tc>
                  <a:txBody>
                    <a:bodyPr/>
                    <a:lstStyle/>
                    <a:p>
                      <a:r>
                        <a:rPr lang="en-US" dirty="0"/>
                        <a:t>t8</a:t>
                      </a:r>
                    </a:p>
                  </a:txBody>
                  <a:tcPr/>
                </a:tc>
                <a:tc>
                  <a:txBody>
                    <a:bodyPr/>
                    <a:lstStyle/>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rPr>
                        <a:t>commit</a:t>
                      </a:r>
                    </a:p>
                  </a:txBody>
                  <a:tcPr/>
                </a:tc>
                <a:extLst>
                  <a:ext uri="{0D108BD9-81ED-4DB2-BD59-A6C34878D82A}">
                    <a16:rowId xmlns:a16="http://schemas.microsoft.com/office/drawing/2014/main" val="10009"/>
                  </a:ext>
                </a:extLst>
              </a:tr>
              <a:tr h="370840">
                <a:tc>
                  <a:txBody>
                    <a:bodyPr/>
                    <a:lstStyle/>
                    <a:p>
                      <a:r>
                        <a:rPr lang="en-US" dirty="0"/>
                        <a:t>t9</a:t>
                      </a:r>
                    </a:p>
                  </a:txBody>
                  <a:tcPr/>
                </a:tc>
                <a:tc>
                  <a:txBody>
                    <a:bodyPr/>
                    <a:lstStyle/>
                    <a:p>
                      <a:r>
                        <a:rPr lang="en-GB" sz="1800" dirty="0">
                          <a:solidFill>
                            <a:srgbClr val="C00000"/>
                          </a:solidFill>
                        </a:rPr>
                        <a:t>Y := Y +</a:t>
                      </a:r>
                      <a:r>
                        <a:rPr lang="en-GB" sz="1800" baseline="0" dirty="0">
                          <a:solidFill>
                            <a:srgbClr val="C00000"/>
                          </a:solidFill>
                        </a:rPr>
                        <a:t> N</a:t>
                      </a:r>
                      <a:endParaRPr lang="en-US" dirty="0">
                        <a:solidFill>
                          <a:srgbClr val="C00000"/>
                        </a:solidFill>
                      </a:endParaRPr>
                    </a:p>
                  </a:txBody>
                  <a:tcPr/>
                </a:tc>
                <a:tc>
                  <a:txBody>
                    <a:bodyPr/>
                    <a:lstStyle/>
                    <a:p>
                      <a:endParaRPr lang="en-US" dirty="0">
                        <a:solidFill>
                          <a:schemeClr val="tx2"/>
                        </a:solidFill>
                      </a:endParaRPr>
                    </a:p>
                  </a:txBody>
                  <a:tcPr/>
                </a:tc>
                <a:extLst>
                  <a:ext uri="{0D108BD9-81ED-4DB2-BD59-A6C34878D82A}">
                    <a16:rowId xmlns:a16="http://schemas.microsoft.com/office/drawing/2014/main" val="10010"/>
                  </a:ext>
                </a:extLst>
              </a:tr>
              <a:tr h="370840">
                <a:tc>
                  <a:txBody>
                    <a:bodyPr/>
                    <a:lstStyle/>
                    <a:p>
                      <a:r>
                        <a:rPr lang="en-US" dirty="0"/>
                        <a:t>t10</a:t>
                      </a:r>
                    </a:p>
                  </a:txBody>
                  <a:tcPr/>
                </a:tc>
                <a:tc>
                  <a:txBody>
                    <a:bodyPr/>
                    <a:lstStyle/>
                    <a:p>
                      <a:r>
                        <a:rPr lang="en-US" dirty="0">
                          <a:solidFill>
                            <a:srgbClr val="C00000"/>
                          </a:solidFill>
                        </a:rPr>
                        <a:t>write(Y)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2"/>
                        </a:solidFill>
                      </a:endParaRPr>
                    </a:p>
                  </a:txBody>
                  <a:tcPr/>
                </a:tc>
                <a:extLst>
                  <a:ext uri="{0D108BD9-81ED-4DB2-BD59-A6C34878D82A}">
                    <a16:rowId xmlns:a16="http://schemas.microsoft.com/office/drawing/2014/main" val="10011"/>
                  </a:ext>
                </a:extLst>
              </a:tr>
              <a:tr h="370840">
                <a:tc>
                  <a:txBody>
                    <a:bodyPr/>
                    <a:lstStyle/>
                    <a:p>
                      <a:r>
                        <a:rPr lang="en-US" dirty="0"/>
                        <a:t>t11</a:t>
                      </a:r>
                    </a:p>
                  </a:txBody>
                  <a:tcPr/>
                </a:tc>
                <a:tc>
                  <a:txBody>
                    <a:bodyPr/>
                    <a:lstStyle/>
                    <a:p>
                      <a:r>
                        <a:rPr lang="en-US" dirty="0">
                          <a:solidFill>
                            <a:srgbClr val="C00000"/>
                          </a:solidFill>
                        </a:rPr>
                        <a:t>commit</a:t>
                      </a:r>
                    </a:p>
                  </a:txBody>
                  <a:tcPr/>
                </a:tc>
                <a:tc>
                  <a:txBody>
                    <a:bodyPr/>
                    <a:lstStyle/>
                    <a:p>
                      <a:endParaRPr lang="en-US" dirty="0">
                        <a:solidFill>
                          <a:schemeClr val="tx2"/>
                        </a:solidFill>
                      </a:endParaRPr>
                    </a:p>
                  </a:txBody>
                  <a:tcPr/>
                </a:tc>
                <a:extLst>
                  <a:ext uri="{0D108BD9-81ED-4DB2-BD59-A6C34878D82A}">
                    <a16:rowId xmlns:a16="http://schemas.microsoft.com/office/drawing/2014/main" val="10012"/>
                  </a:ext>
                </a:extLst>
              </a:tr>
            </a:tbl>
          </a:graphicData>
        </a:graphic>
      </p:graphicFrame>
      <p:grpSp>
        <p:nvGrpSpPr>
          <p:cNvPr id="45" name="Group 44"/>
          <p:cNvGrpSpPr/>
          <p:nvPr/>
        </p:nvGrpSpPr>
        <p:grpSpPr>
          <a:xfrm>
            <a:off x="6600056" y="1697358"/>
            <a:ext cx="3538560" cy="4467946"/>
            <a:chOff x="5076056" y="1697358"/>
            <a:chExt cx="3538560" cy="4467946"/>
          </a:xfrm>
        </p:grpSpPr>
        <p:sp>
          <p:nvSpPr>
            <p:cNvPr id="6" name="Can 5"/>
            <p:cNvSpPr/>
            <p:nvPr/>
          </p:nvSpPr>
          <p:spPr>
            <a:xfrm>
              <a:off x="5076056" y="4941168"/>
              <a:ext cx="1656184" cy="1224136"/>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5616116" y="5364309"/>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10" name="Rectangle 9"/>
            <p:cNvSpPr/>
            <p:nvPr/>
          </p:nvSpPr>
          <p:spPr>
            <a:xfrm>
              <a:off x="5616116" y="5733256"/>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a:t>
              </a:r>
            </a:p>
          </p:txBody>
        </p:sp>
        <p:sp>
          <p:nvSpPr>
            <p:cNvPr id="11" name="Rectangle 10"/>
            <p:cNvSpPr/>
            <p:nvPr/>
          </p:nvSpPr>
          <p:spPr>
            <a:xfrm>
              <a:off x="5292080" y="536430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12" name="Rectangle 11"/>
            <p:cNvSpPr/>
            <p:nvPr/>
          </p:nvSpPr>
          <p:spPr>
            <a:xfrm>
              <a:off x="5292080" y="572434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bg1"/>
                  </a:solidFill>
                </a:rPr>
                <a:t>Y</a:t>
              </a:r>
              <a:endParaRPr lang="en-US" dirty="0">
                <a:solidFill>
                  <a:schemeClr val="bg1"/>
                </a:solidFill>
              </a:endParaRPr>
            </a:p>
          </p:txBody>
        </p:sp>
        <p:sp>
          <p:nvSpPr>
            <p:cNvPr id="4" name="Rectangle 3"/>
            <p:cNvSpPr/>
            <p:nvPr/>
          </p:nvSpPr>
          <p:spPr>
            <a:xfrm>
              <a:off x="5364088" y="3529111"/>
              <a:ext cx="108012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5292080" y="2081439"/>
              <a:ext cx="1224357"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5631256" y="2216437"/>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19" name="Rectangle 18"/>
            <p:cNvSpPr/>
            <p:nvPr/>
          </p:nvSpPr>
          <p:spPr>
            <a:xfrm>
              <a:off x="5631256" y="2585384"/>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0" name="Rectangle 19"/>
            <p:cNvSpPr/>
            <p:nvPr/>
          </p:nvSpPr>
          <p:spPr>
            <a:xfrm>
              <a:off x="5307220" y="2216437"/>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21" name="Rectangle 20"/>
            <p:cNvSpPr/>
            <p:nvPr/>
          </p:nvSpPr>
          <p:spPr>
            <a:xfrm>
              <a:off x="5307220" y="2576477"/>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bg1"/>
                  </a:solidFill>
                </a:rPr>
                <a:t>Y</a:t>
              </a:r>
              <a:endParaRPr lang="en-US" dirty="0">
                <a:solidFill>
                  <a:schemeClr val="bg1"/>
                </a:solidFill>
              </a:endParaRPr>
            </a:p>
          </p:txBody>
        </p:sp>
        <p:sp>
          <p:nvSpPr>
            <p:cNvPr id="22" name="Rectangle 21"/>
            <p:cNvSpPr/>
            <p:nvPr/>
          </p:nvSpPr>
          <p:spPr>
            <a:xfrm>
              <a:off x="7308304" y="2082552"/>
              <a:ext cx="1224136"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7647479" y="2217550"/>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25" name="Rectangle 24"/>
            <p:cNvSpPr/>
            <p:nvPr/>
          </p:nvSpPr>
          <p:spPr>
            <a:xfrm>
              <a:off x="7323443" y="2217550"/>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5" name="TextBox 4"/>
            <p:cNvSpPr txBox="1"/>
            <p:nvPr/>
          </p:nvSpPr>
          <p:spPr>
            <a:xfrm>
              <a:off x="6479671" y="3786901"/>
              <a:ext cx="846450" cy="369332"/>
            </a:xfrm>
            <a:prstGeom prst="rect">
              <a:avLst/>
            </a:prstGeom>
            <a:noFill/>
          </p:spPr>
          <p:txBody>
            <a:bodyPr wrap="none" rtlCol="0">
              <a:spAutoFit/>
            </a:bodyPr>
            <a:lstStyle/>
            <a:p>
              <a:r>
                <a:rPr lang="en-US" dirty="0">
                  <a:solidFill>
                    <a:schemeClr val="tx2"/>
                  </a:solidFill>
                </a:rPr>
                <a:t>Buffers</a:t>
              </a:r>
            </a:p>
          </p:txBody>
        </p:sp>
        <p:sp>
          <p:nvSpPr>
            <p:cNvPr id="27" name="TextBox 26"/>
            <p:cNvSpPr txBox="1"/>
            <p:nvPr/>
          </p:nvSpPr>
          <p:spPr>
            <a:xfrm>
              <a:off x="6768244" y="5368570"/>
              <a:ext cx="1058303" cy="369332"/>
            </a:xfrm>
            <a:prstGeom prst="rect">
              <a:avLst/>
            </a:prstGeom>
            <a:noFill/>
          </p:spPr>
          <p:txBody>
            <a:bodyPr wrap="none" rtlCol="0">
              <a:spAutoFit/>
            </a:bodyPr>
            <a:lstStyle/>
            <a:p>
              <a:r>
                <a:rPr lang="en-US">
                  <a:solidFill>
                    <a:schemeClr val="tx2"/>
                  </a:solidFill>
                </a:rPr>
                <a:t>Database</a:t>
              </a:r>
              <a:endParaRPr lang="en-US" dirty="0">
                <a:solidFill>
                  <a:schemeClr val="tx2"/>
                </a:solidFill>
              </a:endParaRPr>
            </a:p>
          </p:txBody>
        </p:sp>
        <p:sp>
          <p:nvSpPr>
            <p:cNvPr id="28" name="TextBox 27"/>
            <p:cNvSpPr txBox="1"/>
            <p:nvPr/>
          </p:nvSpPr>
          <p:spPr>
            <a:xfrm>
              <a:off x="5185021" y="1709488"/>
              <a:ext cx="1432123" cy="369332"/>
            </a:xfrm>
            <a:prstGeom prst="rect">
              <a:avLst/>
            </a:prstGeom>
            <a:noFill/>
          </p:spPr>
          <p:txBody>
            <a:bodyPr wrap="none" rtlCol="0">
              <a:spAutoFit/>
            </a:bodyPr>
            <a:lstStyle/>
            <a:p>
              <a:r>
                <a:rPr lang="en-US">
                  <a:solidFill>
                    <a:schemeClr val="tx2"/>
                  </a:solidFill>
                </a:rPr>
                <a:t>Transaction 1</a:t>
              </a:r>
              <a:endParaRPr lang="en-US" dirty="0">
                <a:solidFill>
                  <a:schemeClr val="tx2"/>
                </a:solidFill>
              </a:endParaRPr>
            </a:p>
          </p:txBody>
        </p:sp>
        <p:sp>
          <p:nvSpPr>
            <p:cNvPr id="29" name="TextBox 28"/>
            <p:cNvSpPr txBox="1"/>
            <p:nvPr/>
          </p:nvSpPr>
          <p:spPr>
            <a:xfrm>
              <a:off x="7182493" y="1697358"/>
              <a:ext cx="1432123" cy="369332"/>
            </a:xfrm>
            <a:prstGeom prst="rect">
              <a:avLst/>
            </a:prstGeom>
            <a:noFill/>
          </p:spPr>
          <p:txBody>
            <a:bodyPr wrap="none" rtlCol="0">
              <a:spAutoFit/>
            </a:bodyPr>
            <a:lstStyle/>
            <a:p>
              <a:r>
                <a:rPr lang="en-US" dirty="0">
                  <a:solidFill>
                    <a:schemeClr val="tx2"/>
                  </a:solidFill>
                </a:rPr>
                <a:t>Transaction 2</a:t>
              </a:r>
            </a:p>
          </p:txBody>
        </p:sp>
        <p:cxnSp>
          <p:nvCxnSpPr>
            <p:cNvPr id="30" name="Straight Arrow Connector 29"/>
            <p:cNvCxnSpPr>
              <a:stCxn id="4" idx="2"/>
              <a:endCxn id="6" idx="1"/>
            </p:cNvCxnSpPr>
            <p:nvPr/>
          </p:nvCxnSpPr>
          <p:spPr>
            <a:xfrm>
              <a:off x="5904148" y="4443511"/>
              <a:ext cx="0" cy="49765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17" idx="2"/>
              <a:endCxn id="4" idx="0"/>
            </p:cNvCxnSpPr>
            <p:nvPr/>
          </p:nvCxnSpPr>
          <p:spPr>
            <a:xfrm flipH="1">
              <a:off x="5904148" y="2995839"/>
              <a:ext cx="111" cy="53327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H="1">
              <a:off x="6479671" y="2995839"/>
              <a:ext cx="828634" cy="53327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grpSp>
      <p:sp>
        <p:nvSpPr>
          <p:cNvPr id="52" name="Rectangle 51"/>
          <p:cNvSpPr/>
          <p:nvPr/>
        </p:nvSpPr>
        <p:spPr>
          <a:xfrm>
            <a:off x="9163191" y="2213483"/>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1+M</a:t>
            </a:r>
          </a:p>
        </p:txBody>
      </p:sp>
      <p:sp>
        <p:nvSpPr>
          <p:cNvPr id="46" name="Rectangle 45"/>
          <p:cNvSpPr/>
          <p:nvPr/>
        </p:nvSpPr>
        <p:spPr>
          <a:xfrm>
            <a:off x="6903227" y="366410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47" name="Rectangle 46"/>
          <p:cNvSpPr/>
          <p:nvPr/>
        </p:nvSpPr>
        <p:spPr>
          <a:xfrm>
            <a:off x="7227263" y="3676451"/>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53" name="Rectangle 52"/>
          <p:cNvSpPr/>
          <p:nvPr/>
        </p:nvSpPr>
        <p:spPr>
          <a:xfrm>
            <a:off x="1775520" y="3122016"/>
            <a:ext cx="4248472" cy="360040"/>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66506827"/>
      </p:ext>
    </p:extLst>
  </p:cSld>
  <p:clrMapOvr>
    <a:masterClrMapping/>
  </p:clrMapOvr>
  <mc:AlternateContent xmlns:mc="http://schemas.openxmlformats.org/markup-compatibility/2006" xmlns:p14="http://schemas.microsoft.com/office/powerpoint/2010/main">
    <mc:Choice Requires="p14">
      <p:transition spd="slow" p14:dur="2000" advTm="13988"/>
    </mc:Choice>
    <mc:Fallback xmlns="">
      <p:transition spd="slow" advTm="1398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Concurrent Schedules Do Not Guarantee Consistency or Isolation</a:t>
            </a:r>
            <a:endParaRPr lang="en-GB" sz="3100" dirty="0"/>
          </a:p>
        </p:txBody>
      </p:sp>
      <p:sp>
        <p:nvSpPr>
          <p:cNvPr id="7" name="Slide Number Placeholder 6"/>
          <p:cNvSpPr>
            <a:spLocks noGrp="1"/>
          </p:cNvSpPr>
          <p:nvPr>
            <p:ph type="sldNum" sz="quarter" idx="12"/>
          </p:nvPr>
        </p:nvSpPr>
        <p:spPr/>
        <p:txBody>
          <a:bodyPr/>
          <a:lstStyle/>
          <a:p>
            <a:fld id="{26F23E55-D42A-41AF-9F6E-8A8A2E703B49}" type="slidenum">
              <a:rPr lang="en-GB" smtClean="0"/>
              <a:pPr/>
              <a:t>15</a:t>
            </a:fld>
            <a:endParaRPr lang="en-GB"/>
          </a:p>
        </p:txBody>
      </p:sp>
      <p:graphicFrame>
        <p:nvGraphicFramePr>
          <p:cNvPr id="9" name="Table 8"/>
          <p:cNvGraphicFramePr>
            <a:graphicFrameLocks noGrp="1"/>
          </p:cNvGraphicFramePr>
          <p:nvPr/>
        </p:nvGraphicFramePr>
        <p:xfrm>
          <a:off x="1919536" y="1632416"/>
          <a:ext cx="3960440" cy="4820920"/>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1620180">
                  <a:extLst>
                    <a:ext uri="{9D8B030D-6E8A-4147-A177-3AD203B41FA5}">
                      <a16:colId xmlns:a16="http://schemas.microsoft.com/office/drawing/2014/main" val="20001"/>
                    </a:ext>
                  </a:extLst>
                </a:gridCol>
                <a:gridCol w="1620180">
                  <a:extLst>
                    <a:ext uri="{9D8B030D-6E8A-4147-A177-3AD203B41FA5}">
                      <a16:colId xmlns:a16="http://schemas.microsoft.com/office/drawing/2014/main" val="20002"/>
                    </a:ext>
                  </a:extLst>
                </a:gridCol>
              </a:tblGrid>
              <a:tr h="370840">
                <a:tc>
                  <a:txBody>
                    <a:bodyPr/>
                    <a:lstStyle/>
                    <a:p>
                      <a:r>
                        <a:rPr lang="en-US" dirty="0"/>
                        <a:t>Time</a:t>
                      </a:r>
                    </a:p>
                  </a:txBody>
                  <a:tcPr/>
                </a:tc>
                <a:tc gridSpan="2">
                  <a:txBody>
                    <a:bodyPr/>
                    <a:lstStyle/>
                    <a:p>
                      <a:r>
                        <a:rPr lang="en-US" sz="1800" b="1" baseline="0" dirty="0"/>
                        <a:t>Schedule</a:t>
                      </a:r>
                      <a:endParaRPr lang="en-US" sz="1600" b="1" baseline="-25000"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r>
                        <a:rPr lang="en-US" dirty="0"/>
                        <a:t>t0</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r>
                        <a:rPr lang="en-US" dirty="0"/>
                        <a:t>t1</a:t>
                      </a:r>
                    </a:p>
                  </a:txBody>
                  <a:tcPr/>
                </a:tc>
                <a:tc>
                  <a:txBody>
                    <a:bodyPr/>
                    <a:lstStyle/>
                    <a:p>
                      <a:r>
                        <a:rPr lang="en-US" dirty="0">
                          <a:solidFill>
                            <a:srgbClr val="C00000"/>
                          </a:solidFill>
                        </a:rPr>
                        <a:t>read(X)</a:t>
                      </a:r>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t2</a:t>
                      </a:r>
                    </a:p>
                  </a:txBody>
                  <a:tcPr/>
                </a:tc>
                <a:tc>
                  <a:txBody>
                    <a:bodyPr/>
                    <a:lstStyle/>
                    <a:p>
                      <a:endParaRPr lang="en-US"/>
                    </a:p>
                  </a:txBody>
                  <a:tcPr/>
                </a:tc>
                <a:tc>
                  <a:txBody>
                    <a:bodyPr/>
                    <a:lstStyle/>
                    <a:p>
                      <a:r>
                        <a:rPr lang="en-US" dirty="0">
                          <a:solidFill>
                            <a:schemeClr val="tx2"/>
                          </a:solidFill>
                        </a:rPr>
                        <a:t>read(X)</a:t>
                      </a:r>
                      <a:endParaRPr lang="en-US" dirty="0"/>
                    </a:p>
                  </a:txBody>
                  <a:tcPr/>
                </a:tc>
                <a:extLst>
                  <a:ext uri="{0D108BD9-81ED-4DB2-BD59-A6C34878D82A}">
                    <a16:rowId xmlns:a16="http://schemas.microsoft.com/office/drawing/2014/main" val="10003"/>
                  </a:ext>
                </a:extLst>
              </a:tr>
              <a:tr h="370840">
                <a:tc>
                  <a:txBody>
                    <a:bodyPr/>
                    <a:lstStyle/>
                    <a:p>
                      <a:r>
                        <a:rPr lang="en-US" dirty="0"/>
                        <a:t>t3</a:t>
                      </a:r>
                    </a:p>
                  </a:txBody>
                  <a:tcPr/>
                </a:tc>
                <a:tc>
                  <a:txBody>
                    <a:bodyPr/>
                    <a:lstStyle/>
                    <a:p>
                      <a:endParaRPr lang="en-US" dirty="0"/>
                    </a:p>
                  </a:txBody>
                  <a:tcPr/>
                </a:tc>
                <a:tc>
                  <a:txBody>
                    <a:bodyPr/>
                    <a:lstStyle/>
                    <a:p>
                      <a:r>
                        <a:rPr lang="en-US" dirty="0">
                          <a:solidFill>
                            <a:schemeClr val="tx2"/>
                          </a:solidFill>
                        </a:rPr>
                        <a:t>X := X + M</a:t>
                      </a:r>
                      <a:endParaRPr lang="en-US" dirty="0"/>
                    </a:p>
                  </a:txBody>
                  <a:tcPr/>
                </a:tc>
                <a:extLst>
                  <a:ext uri="{0D108BD9-81ED-4DB2-BD59-A6C34878D82A}">
                    <a16:rowId xmlns:a16="http://schemas.microsoft.com/office/drawing/2014/main" val="10004"/>
                  </a:ext>
                </a:extLst>
              </a:tr>
              <a:tr h="370840">
                <a:tc>
                  <a:txBody>
                    <a:bodyPr/>
                    <a:lstStyle/>
                    <a:p>
                      <a:r>
                        <a:rPr lang="en-US" dirty="0"/>
                        <a:t>t4</a:t>
                      </a:r>
                    </a:p>
                  </a:txBody>
                  <a:tcPr/>
                </a:tc>
                <a:tc>
                  <a:txBody>
                    <a:bodyPr/>
                    <a:lstStyle/>
                    <a:p>
                      <a:r>
                        <a:rPr lang="en-GB" sz="1800" dirty="0">
                          <a:solidFill>
                            <a:srgbClr val="C00000"/>
                          </a:solidFill>
                        </a:rPr>
                        <a:t>X := X + N</a:t>
                      </a:r>
                      <a:endParaRPr lang="en-US" dirty="0">
                        <a:solidFill>
                          <a:srgbClr val="C00000"/>
                        </a:solidFill>
                      </a:endParaRPr>
                    </a:p>
                  </a:txBody>
                  <a:tcPr/>
                </a:tc>
                <a:tc>
                  <a:txBody>
                    <a:bodyPr/>
                    <a:lstStyle/>
                    <a:p>
                      <a:endParaRPr lang="en-US" dirty="0"/>
                    </a:p>
                  </a:txBody>
                  <a:tcPr/>
                </a:tc>
                <a:extLst>
                  <a:ext uri="{0D108BD9-81ED-4DB2-BD59-A6C34878D82A}">
                    <a16:rowId xmlns:a16="http://schemas.microsoft.com/office/drawing/2014/main" val="10005"/>
                  </a:ext>
                </a:extLst>
              </a:tr>
              <a:tr h="370840">
                <a:tc>
                  <a:txBody>
                    <a:bodyPr/>
                    <a:lstStyle/>
                    <a:p>
                      <a:r>
                        <a:rPr lang="en-US" dirty="0"/>
                        <a:t>t5</a:t>
                      </a:r>
                    </a:p>
                  </a:txBody>
                  <a:tcPr/>
                </a:tc>
                <a:tc>
                  <a:txBody>
                    <a:bodyPr/>
                    <a:lstStyle/>
                    <a:p>
                      <a:r>
                        <a:rPr lang="en-GB" sz="1800" dirty="0">
                          <a:solidFill>
                            <a:srgbClr val="C00000"/>
                          </a:solidFill>
                        </a:rPr>
                        <a:t>write(X)</a:t>
                      </a:r>
                      <a:endParaRPr lang="en-US" dirty="0">
                        <a:solidFill>
                          <a:srgbClr val="C00000"/>
                        </a:solidFill>
                      </a:endParaRPr>
                    </a:p>
                  </a:txBody>
                  <a:tcPr/>
                </a:tc>
                <a:tc>
                  <a:txBody>
                    <a:bodyPr/>
                    <a:lstStyle/>
                    <a:p>
                      <a:endParaRPr lang="en-US" dirty="0"/>
                    </a:p>
                  </a:txBody>
                  <a:tcPr/>
                </a:tc>
                <a:extLst>
                  <a:ext uri="{0D108BD9-81ED-4DB2-BD59-A6C34878D82A}">
                    <a16:rowId xmlns:a16="http://schemas.microsoft.com/office/drawing/2014/main" val="10006"/>
                  </a:ext>
                </a:extLst>
              </a:tr>
              <a:tr h="370840">
                <a:tc>
                  <a:txBody>
                    <a:bodyPr/>
                    <a:lstStyle/>
                    <a:p>
                      <a:r>
                        <a:rPr lang="en-US" dirty="0"/>
                        <a:t>t6</a:t>
                      </a:r>
                    </a:p>
                  </a:txBody>
                  <a:tcPr/>
                </a:tc>
                <a:tc>
                  <a:txBody>
                    <a:bodyPr/>
                    <a:lstStyle/>
                    <a:p>
                      <a:r>
                        <a:rPr lang="en-US" dirty="0">
                          <a:solidFill>
                            <a:srgbClr val="C00000"/>
                          </a:solidFill>
                        </a:rPr>
                        <a:t>read(Y)</a:t>
                      </a:r>
                    </a:p>
                  </a:txBody>
                  <a:tcPr/>
                </a:tc>
                <a:tc>
                  <a:txBody>
                    <a:bodyPr/>
                    <a:lstStyle/>
                    <a:p>
                      <a:endParaRPr lang="en-US" dirty="0"/>
                    </a:p>
                  </a:txBody>
                  <a:tcPr/>
                </a:tc>
                <a:extLst>
                  <a:ext uri="{0D108BD9-81ED-4DB2-BD59-A6C34878D82A}">
                    <a16:rowId xmlns:a16="http://schemas.microsoft.com/office/drawing/2014/main" val="10007"/>
                  </a:ext>
                </a:extLst>
              </a:tr>
              <a:tr h="370840">
                <a:tc>
                  <a:txBody>
                    <a:bodyPr/>
                    <a:lstStyle/>
                    <a:p>
                      <a:r>
                        <a:rPr lang="en-US" dirty="0"/>
                        <a:t>t7</a:t>
                      </a:r>
                    </a:p>
                  </a:txBody>
                  <a:tcPr/>
                </a:tc>
                <a:tc>
                  <a:txBody>
                    <a:bodyPr/>
                    <a:lstStyle/>
                    <a:p>
                      <a:endParaRPr lang="en-US" dirty="0"/>
                    </a:p>
                  </a:txBody>
                  <a:tcPr/>
                </a:tc>
                <a:tc>
                  <a:txBody>
                    <a:bodyPr/>
                    <a:lstStyle/>
                    <a:p>
                      <a:r>
                        <a:rPr lang="en-US" dirty="0">
                          <a:solidFill>
                            <a:schemeClr val="tx2"/>
                          </a:solidFill>
                        </a:rPr>
                        <a:t>write(X)</a:t>
                      </a:r>
                      <a:endParaRPr lang="en-US" dirty="0"/>
                    </a:p>
                  </a:txBody>
                  <a:tcPr/>
                </a:tc>
                <a:extLst>
                  <a:ext uri="{0D108BD9-81ED-4DB2-BD59-A6C34878D82A}">
                    <a16:rowId xmlns:a16="http://schemas.microsoft.com/office/drawing/2014/main" val="10008"/>
                  </a:ext>
                </a:extLst>
              </a:tr>
              <a:tr h="370840">
                <a:tc>
                  <a:txBody>
                    <a:bodyPr/>
                    <a:lstStyle/>
                    <a:p>
                      <a:r>
                        <a:rPr lang="en-US" dirty="0"/>
                        <a:t>t8</a:t>
                      </a:r>
                    </a:p>
                  </a:txBody>
                  <a:tcPr/>
                </a:tc>
                <a:tc>
                  <a:txBody>
                    <a:bodyPr/>
                    <a:lstStyle/>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rPr>
                        <a:t>commit</a:t>
                      </a:r>
                    </a:p>
                  </a:txBody>
                  <a:tcPr/>
                </a:tc>
                <a:extLst>
                  <a:ext uri="{0D108BD9-81ED-4DB2-BD59-A6C34878D82A}">
                    <a16:rowId xmlns:a16="http://schemas.microsoft.com/office/drawing/2014/main" val="10009"/>
                  </a:ext>
                </a:extLst>
              </a:tr>
              <a:tr h="370840">
                <a:tc>
                  <a:txBody>
                    <a:bodyPr/>
                    <a:lstStyle/>
                    <a:p>
                      <a:r>
                        <a:rPr lang="en-US" dirty="0"/>
                        <a:t>t9</a:t>
                      </a:r>
                    </a:p>
                  </a:txBody>
                  <a:tcPr/>
                </a:tc>
                <a:tc>
                  <a:txBody>
                    <a:bodyPr/>
                    <a:lstStyle/>
                    <a:p>
                      <a:r>
                        <a:rPr lang="en-GB" sz="1800" dirty="0">
                          <a:solidFill>
                            <a:srgbClr val="C00000"/>
                          </a:solidFill>
                        </a:rPr>
                        <a:t>Y := Y +</a:t>
                      </a:r>
                      <a:r>
                        <a:rPr lang="en-GB" sz="1800" baseline="0" dirty="0">
                          <a:solidFill>
                            <a:srgbClr val="C00000"/>
                          </a:solidFill>
                        </a:rPr>
                        <a:t> N</a:t>
                      </a:r>
                      <a:endParaRPr lang="en-US" dirty="0">
                        <a:solidFill>
                          <a:srgbClr val="C00000"/>
                        </a:solidFill>
                      </a:endParaRPr>
                    </a:p>
                  </a:txBody>
                  <a:tcPr/>
                </a:tc>
                <a:tc>
                  <a:txBody>
                    <a:bodyPr/>
                    <a:lstStyle/>
                    <a:p>
                      <a:endParaRPr lang="en-US" dirty="0">
                        <a:solidFill>
                          <a:schemeClr val="tx2"/>
                        </a:solidFill>
                      </a:endParaRPr>
                    </a:p>
                  </a:txBody>
                  <a:tcPr/>
                </a:tc>
                <a:extLst>
                  <a:ext uri="{0D108BD9-81ED-4DB2-BD59-A6C34878D82A}">
                    <a16:rowId xmlns:a16="http://schemas.microsoft.com/office/drawing/2014/main" val="10010"/>
                  </a:ext>
                </a:extLst>
              </a:tr>
              <a:tr h="370840">
                <a:tc>
                  <a:txBody>
                    <a:bodyPr/>
                    <a:lstStyle/>
                    <a:p>
                      <a:r>
                        <a:rPr lang="en-US" dirty="0"/>
                        <a:t>t10</a:t>
                      </a:r>
                    </a:p>
                  </a:txBody>
                  <a:tcPr/>
                </a:tc>
                <a:tc>
                  <a:txBody>
                    <a:bodyPr/>
                    <a:lstStyle/>
                    <a:p>
                      <a:r>
                        <a:rPr lang="en-US" dirty="0">
                          <a:solidFill>
                            <a:srgbClr val="C00000"/>
                          </a:solidFill>
                        </a:rPr>
                        <a:t>write(Y)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2"/>
                        </a:solidFill>
                      </a:endParaRPr>
                    </a:p>
                  </a:txBody>
                  <a:tcPr/>
                </a:tc>
                <a:extLst>
                  <a:ext uri="{0D108BD9-81ED-4DB2-BD59-A6C34878D82A}">
                    <a16:rowId xmlns:a16="http://schemas.microsoft.com/office/drawing/2014/main" val="10011"/>
                  </a:ext>
                </a:extLst>
              </a:tr>
              <a:tr h="370840">
                <a:tc>
                  <a:txBody>
                    <a:bodyPr/>
                    <a:lstStyle/>
                    <a:p>
                      <a:r>
                        <a:rPr lang="en-US" dirty="0"/>
                        <a:t>t11</a:t>
                      </a:r>
                    </a:p>
                  </a:txBody>
                  <a:tcPr/>
                </a:tc>
                <a:tc>
                  <a:txBody>
                    <a:bodyPr/>
                    <a:lstStyle/>
                    <a:p>
                      <a:r>
                        <a:rPr lang="en-US" dirty="0">
                          <a:solidFill>
                            <a:srgbClr val="C00000"/>
                          </a:solidFill>
                        </a:rPr>
                        <a:t>commit</a:t>
                      </a:r>
                    </a:p>
                  </a:txBody>
                  <a:tcPr/>
                </a:tc>
                <a:tc>
                  <a:txBody>
                    <a:bodyPr/>
                    <a:lstStyle/>
                    <a:p>
                      <a:endParaRPr lang="en-US" dirty="0">
                        <a:solidFill>
                          <a:schemeClr val="tx2"/>
                        </a:solidFill>
                      </a:endParaRPr>
                    </a:p>
                  </a:txBody>
                  <a:tcPr/>
                </a:tc>
                <a:extLst>
                  <a:ext uri="{0D108BD9-81ED-4DB2-BD59-A6C34878D82A}">
                    <a16:rowId xmlns:a16="http://schemas.microsoft.com/office/drawing/2014/main" val="10012"/>
                  </a:ext>
                </a:extLst>
              </a:tr>
            </a:tbl>
          </a:graphicData>
        </a:graphic>
      </p:graphicFrame>
      <p:grpSp>
        <p:nvGrpSpPr>
          <p:cNvPr id="45" name="Group 44"/>
          <p:cNvGrpSpPr/>
          <p:nvPr/>
        </p:nvGrpSpPr>
        <p:grpSpPr>
          <a:xfrm>
            <a:off x="6600056" y="1697358"/>
            <a:ext cx="3538560" cy="4467946"/>
            <a:chOff x="5076056" y="1697358"/>
            <a:chExt cx="3538560" cy="4467946"/>
          </a:xfrm>
        </p:grpSpPr>
        <p:sp>
          <p:nvSpPr>
            <p:cNvPr id="6" name="Can 5"/>
            <p:cNvSpPr/>
            <p:nvPr/>
          </p:nvSpPr>
          <p:spPr>
            <a:xfrm>
              <a:off x="5076056" y="4941168"/>
              <a:ext cx="1656184" cy="1224136"/>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5616116" y="5364309"/>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10" name="Rectangle 9"/>
            <p:cNvSpPr/>
            <p:nvPr/>
          </p:nvSpPr>
          <p:spPr>
            <a:xfrm>
              <a:off x="5616116" y="5733256"/>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a:t>
              </a:r>
            </a:p>
          </p:txBody>
        </p:sp>
        <p:sp>
          <p:nvSpPr>
            <p:cNvPr id="11" name="Rectangle 10"/>
            <p:cNvSpPr/>
            <p:nvPr/>
          </p:nvSpPr>
          <p:spPr>
            <a:xfrm>
              <a:off x="5292080" y="536430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12" name="Rectangle 11"/>
            <p:cNvSpPr/>
            <p:nvPr/>
          </p:nvSpPr>
          <p:spPr>
            <a:xfrm>
              <a:off x="5292080" y="572434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bg1"/>
                  </a:solidFill>
                </a:rPr>
                <a:t>Y</a:t>
              </a:r>
              <a:endParaRPr lang="en-US" dirty="0">
                <a:solidFill>
                  <a:schemeClr val="bg1"/>
                </a:solidFill>
              </a:endParaRPr>
            </a:p>
          </p:txBody>
        </p:sp>
        <p:sp>
          <p:nvSpPr>
            <p:cNvPr id="4" name="Rectangle 3"/>
            <p:cNvSpPr/>
            <p:nvPr/>
          </p:nvSpPr>
          <p:spPr>
            <a:xfrm>
              <a:off x="5364088" y="3529111"/>
              <a:ext cx="108012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5292080" y="2081439"/>
              <a:ext cx="1224357"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5631256" y="2216437"/>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19" name="Rectangle 18"/>
            <p:cNvSpPr/>
            <p:nvPr/>
          </p:nvSpPr>
          <p:spPr>
            <a:xfrm>
              <a:off x="5631256" y="2585384"/>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0" name="Rectangle 19"/>
            <p:cNvSpPr/>
            <p:nvPr/>
          </p:nvSpPr>
          <p:spPr>
            <a:xfrm>
              <a:off x="5307220" y="2216437"/>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21" name="Rectangle 20"/>
            <p:cNvSpPr/>
            <p:nvPr/>
          </p:nvSpPr>
          <p:spPr>
            <a:xfrm>
              <a:off x="5307220" y="2576477"/>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bg1"/>
                  </a:solidFill>
                </a:rPr>
                <a:t>Y</a:t>
              </a:r>
              <a:endParaRPr lang="en-US" dirty="0">
                <a:solidFill>
                  <a:schemeClr val="bg1"/>
                </a:solidFill>
              </a:endParaRPr>
            </a:p>
          </p:txBody>
        </p:sp>
        <p:sp>
          <p:nvSpPr>
            <p:cNvPr id="22" name="Rectangle 21"/>
            <p:cNvSpPr/>
            <p:nvPr/>
          </p:nvSpPr>
          <p:spPr>
            <a:xfrm>
              <a:off x="7308304" y="2082552"/>
              <a:ext cx="1224136"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7647479" y="2217550"/>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25" name="Rectangle 24"/>
            <p:cNvSpPr/>
            <p:nvPr/>
          </p:nvSpPr>
          <p:spPr>
            <a:xfrm>
              <a:off x="7323443" y="2217550"/>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5" name="TextBox 4"/>
            <p:cNvSpPr txBox="1"/>
            <p:nvPr/>
          </p:nvSpPr>
          <p:spPr>
            <a:xfrm>
              <a:off x="6479671" y="3786901"/>
              <a:ext cx="846450" cy="369332"/>
            </a:xfrm>
            <a:prstGeom prst="rect">
              <a:avLst/>
            </a:prstGeom>
            <a:noFill/>
          </p:spPr>
          <p:txBody>
            <a:bodyPr wrap="none" rtlCol="0">
              <a:spAutoFit/>
            </a:bodyPr>
            <a:lstStyle/>
            <a:p>
              <a:r>
                <a:rPr lang="en-US" dirty="0">
                  <a:solidFill>
                    <a:schemeClr val="tx2"/>
                  </a:solidFill>
                </a:rPr>
                <a:t>Buffers</a:t>
              </a:r>
            </a:p>
          </p:txBody>
        </p:sp>
        <p:sp>
          <p:nvSpPr>
            <p:cNvPr id="27" name="TextBox 26"/>
            <p:cNvSpPr txBox="1"/>
            <p:nvPr/>
          </p:nvSpPr>
          <p:spPr>
            <a:xfrm>
              <a:off x="6768244" y="5368570"/>
              <a:ext cx="1058303" cy="369332"/>
            </a:xfrm>
            <a:prstGeom prst="rect">
              <a:avLst/>
            </a:prstGeom>
            <a:noFill/>
          </p:spPr>
          <p:txBody>
            <a:bodyPr wrap="none" rtlCol="0">
              <a:spAutoFit/>
            </a:bodyPr>
            <a:lstStyle/>
            <a:p>
              <a:r>
                <a:rPr lang="en-US">
                  <a:solidFill>
                    <a:schemeClr val="tx2"/>
                  </a:solidFill>
                </a:rPr>
                <a:t>Database</a:t>
              </a:r>
              <a:endParaRPr lang="en-US" dirty="0">
                <a:solidFill>
                  <a:schemeClr val="tx2"/>
                </a:solidFill>
              </a:endParaRPr>
            </a:p>
          </p:txBody>
        </p:sp>
        <p:sp>
          <p:nvSpPr>
            <p:cNvPr id="28" name="TextBox 27"/>
            <p:cNvSpPr txBox="1"/>
            <p:nvPr/>
          </p:nvSpPr>
          <p:spPr>
            <a:xfrm>
              <a:off x="5185021" y="1709488"/>
              <a:ext cx="1432123" cy="369332"/>
            </a:xfrm>
            <a:prstGeom prst="rect">
              <a:avLst/>
            </a:prstGeom>
            <a:noFill/>
          </p:spPr>
          <p:txBody>
            <a:bodyPr wrap="none" rtlCol="0">
              <a:spAutoFit/>
            </a:bodyPr>
            <a:lstStyle/>
            <a:p>
              <a:r>
                <a:rPr lang="en-US">
                  <a:solidFill>
                    <a:schemeClr val="tx2"/>
                  </a:solidFill>
                </a:rPr>
                <a:t>Transaction 1</a:t>
              </a:r>
              <a:endParaRPr lang="en-US" dirty="0">
                <a:solidFill>
                  <a:schemeClr val="tx2"/>
                </a:solidFill>
              </a:endParaRPr>
            </a:p>
          </p:txBody>
        </p:sp>
        <p:sp>
          <p:nvSpPr>
            <p:cNvPr id="29" name="TextBox 28"/>
            <p:cNvSpPr txBox="1"/>
            <p:nvPr/>
          </p:nvSpPr>
          <p:spPr>
            <a:xfrm>
              <a:off x="7182493" y="1697358"/>
              <a:ext cx="1432123" cy="369332"/>
            </a:xfrm>
            <a:prstGeom prst="rect">
              <a:avLst/>
            </a:prstGeom>
            <a:noFill/>
          </p:spPr>
          <p:txBody>
            <a:bodyPr wrap="none" rtlCol="0">
              <a:spAutoFit/>
            </a:bodyPr>
            <a:lstStyle/>
            <a:p>
              <a:r>
                <a:rPr lang="en-US" dirty="0">
                  <a:solidFill>
                    <a:schemeClr val="tx2"/>
                  </a:solidFill>
                </a:rPr>
                <a:t>Transaction 2</a:t>
              </a:r>
            </a:p>
          </p:txBody>
        </p:sp>
        <p:cxnSp>
          <p:nvCxnSpPr>
            <p:cNvPr id="30" name="Straight Arrow Connector 29"/>
            <p:cNvCxnSpPr>
              <a:stCxn id="4" idx="2"/>
              <a:endCxn id="6" idx="1"/>
            </p:cNvCxnSpPr>
            <p:nvPr/>
          </p:nvCxnSpPr>
          <p:spPr>
            <a:xfrm>
              <a:off x="5904148" y="4443511"/>
              <a:ext cx="0" cy="49765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17" idx="2"/>
              <a:endCxn id="4" idx="0"/>
            </p:cNvCxnSpPr>
            <p:nvPr/>
          </p:nvCxnSpPr>
          <p:spPr>
            <a:xfrm flipH="1">
              <a:off x="5904148" y="2995839"/>
              <a:ext cx="111" cy="53327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H="1">
              <a:off x="6479671" y="2995839"/>
              <a:ext cx="828634" cy="53327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grpSp>
      <p:sp>
        <p:nvSpPr>
          <p:cNvPr id="52" name="Rectangle 51"/>
          <p:cNvSpPr/>
          <p:nvPr/>
        </p:nvSpPr>
        <p:spPr>
          <a:xfrm>
            <a:off x="9163191" y="2213483"/>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1+M</a:t>
            </a:r>
          </a:p>
        </p:txBody>
      </p:sp>
      <p:sp>
        <p:nvSpPr>
          <p:cNvPr id="46" name="Rectangle 45"/>
          <p:cNvSpPr/>
          <p:nvPr/>
        </p:nvSpPr>
        <p:spPr>
          <a:xfrm>
            <a:off x="6903227" y="366410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47" name="Rectangle 46"/>
          <p:cNvSpPr/>
          <p:nvPr/>
        </p:nvSpPr>
        <p:spPr>
          <a:xfrm>
            <a:off x="7227263" y="3676451"/>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53" name="Rectangle 52"/>
          <p:cNvSpPr/>
          <p:nvPr/>
        </p:nvSpPr>
        <p:spPr>
          <a:xfrm>
            <a:off x="1775520" y="3501008"/>
            <a:ext cx="4248472" cy="360040"/>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 name="Rectangle 30"/>
          <p:cNvSpPr/>
          <p:nvPr/>
        </p:nvSpPr>
        <p:spPr>
          <a:xfrm>
            <a:off x="7155256" y="2213929"/>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1+N</a:t>
            </a:r>
          </a:p>
        </p:txBody>
      </p:sp>
    </p:spTree>
    <p:extLst>
      <p:ext uri="{BB962C8B-B14F-4D97-AF65-F5344CB8AC3E}">
        <p14:creationId xmlns:p14="http://schemas.microsoft.com/office/powerpoint/2010/main" val="218820429"/>
      </p:ext>
    </p:extLst>
  </p:cSld>
  <p:clrMapOvr>
    <a:masterClrMapping/>
  </p:clrMapOvr>
  <mc:AlternateContent xmlns:mc="http://schemas.openxmlformats.org/markup-compatibility/2006" xmlns:p14="http://schemas.microsoft.com/office/powerpoint/2010/main">
    <mc:Choice Requires="p14">
      <p:transition spd="slow" p14:dur="2000" advTm="9603"/>
    </mc:Choice>
    <mc:Fallback xmlns="">
      <p:transition spd="slow" advTm="960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Concurrent Schedules Do Not Guarantee Consistency or Isolation</a:t>
            </a:r>
            <a:endParaRPr lang="en-GB" sz="3100" dirty="0"/>
          </a:p>
        </p:txBody>
      </p:sp>
      <p:sp>
        <p:nvSpPr>
          <p:cNvPr id="7" name="Slide Number Placeholder 6"/>
          <p:cNvSpPr>
            <a:spLocks noGrp="1"/>
          </p:cNvSpPr>
          <p:nvPr>
            <p:ph type="sldNum" sz="quarter" idx="12"/>
          </p:nvPr>
        </p:nvSpPr>
        <p:spPr/>
        <p:txBody>
          <a:bodyPr/>
          <a:lstStyle/>
          <a:p>
            <a:fld id="{26F23E55-D42A-41AF-9F6E-8A8A2E703B49}" type="slidenum">
              <a:rPr lang="en-GB" smtClean="0"/>
              <a:pPr/>
              <a:t>16</a:t>
            </a:fld>
            <a:endParaRPr lang="en-GB"/>
          </a:p>
        </p:txBody>
      </p:sp>
      <p:graphicFrame>
        <p:nvGraphicFramePr>
          <p:cNvPr id="9" name="Table 8"/>
          <p:cNvGraphicFramePr>
            <a:graphicFrameLocks noGrp="1"/>
          </p:cNvGraphicFramePr>
          <p:nvPr/>
        </p:nvGraphicFramePr>
        <p:xfrm>
          <a:off x="1919536" y="1632416"/>
          <a:ext cx="3960440" cy="4820920"/>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1620180">
                  <a:extLst>
                    <a:ext uri="{9D8B030D-6E8A-4147-A177-3AD203B41FA5}">
                      <a16:colId xmlns:a16="http://schemas.microsoft.com/office/drawing/2014/main" val="20001"/>
                    </a:ext>
                  </a:extLst>
                </a:gridCol>
                <a:gridCol w="1620180">
                  <a:extLst>
                    <a:ext uri="{9D8B030D-6E8A-4147-A177-3AD203B41FA5}">
                      <a16:colId xmlns:a16="http://schemas.microsoft.com/office/drawing/2014/main" val="20002"/>
                    </a:ext>
                  </a:extLst>
                </a:gridCol>
              </a:tblGrid>
              <a:tr h="370840">
                <a:tc>
                  <a:txBody>
                    <a:bodyPr/>
                    <a:lstStyle/>
                    <a:p>
                      <a:r>
                        <a:rPr lang="en-US" dirty="0"/>
                        <a:t>Time</a:t>
                      </a:r>
                    </a:p>
                  </a:txBody>
                  <a:tcPr/>
                </a:tc>
                <a:tc gridSpan="2">
                  <a:txBody>
                    <a:bodyPr/>
                    <a:lstStyle/>
                    <a:p>
                      <a:r>
                        <a:rPr lang="en-US" sz="1800" b="1" baseline="0" dirty="0"/>
                        <a:t>Schedule</a:t>
                      </a:r>
                      <a:endParaRPr lang="en-US" sz="1600" b="1" baseline="-25000"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r>
                        <a:rPr lang="en-US" dirty="0"/>
                        <a:t>t0</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r>
                        <a:rPr lang="en-US" dirty="0"/>
                        <a:t>t1</a:t>
                      </a:r>
                    </a:p>
                  </a:txBody>
                  <a:tcPr/>
                </a:tc>
                <a:tc>
                  <a:txBody>
                    <a:bodyPr/>
                    <a:lstStyle/>
                    <a:p>
                      <a:r>
                        <a:rPr lang="en-US" dirty="0">
                          <a:solidFill>
                            <a:srgbClr val="C00000"/>
                          </a:solidFill>
                        </a:rPr>
                        <a:t>read(X)</a:t>
                      </a:r>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t2</a:t>
                      </a:r>
                    </a:p>
                  </a:txBody>
                  <a:tcPr/>
                </a:tc>
                <a:tc>
                  <a:txBody>
                    <a:bodyPr/>
                    <a:lstStyle/>
                    <a:p>
                      <a:endParaRPr lang="en-US"/>
                    </a:p>
                  </a:txBody>
                  <a:tcPr/>
                </a:tc>
                <a:tc>
                  <a:txBody>
                    <a:bodyPr/>
                    <a:lstStyle/>
                    <a:p>
                      <a:r>
                        <a:rPr lang="en-US" dirty="0">
                          <a:solidFill>
                            <a:schemeClr val="tx2"/>
                          </a:solidFill>
                        </a:rPr>
                        <a:t>read(X)</a:t>
                      </a:r>
                      <a:endParaRPr lang="en-US" dirty="0"/>
                    </a:p>
                  </a:txBody>
                  <a:tcPr/>
                </a:tc>
                <a:extLst>
                  <a:ext uri="{0D108BD9-81ED-4DB2-BD59-A6C34878D82A}">
                    <a16:rowId xmlns:a16="http://schemas.microsoft.com/office/drawing/2014/main" val="10003"/>
                  </a:ext>
                </a:extLst>
              </a:tr>
              <a:tr h="370840">
                <a:tc>
                  <a:txBody>
                    <a:bodyPr/>
                    <a:lstStyle/>
                    <a:p>
                      <a:r>
                        <a:rPr lang="en-US" dirty="0"/>
                        <a:t>t3</a:t>
                      </a:r>
                    </a:p>
                  </a:txBody>
                  <a:tcPr/>
                </a:tc>
                <a:tc>
                  <a:txBody>
                    <a:bodyPr/>
                    <a:lstStyle/>
                    <a:p>
                      <a:endParaRPr lang="en-US" dirty="0"/>
                    </a:p>
                  </a:txBody>
                  <a:tcPr/>
                </a:tc>
                <a:tc>
                  <a:txBody>
                    <a:bodyPr/>
                    <a:lstStyle/>
                    <a:p>
                      <a:r>
                        <a:rPr lang="en-US" dirty="0">
                          <a:solidFill>
                            <a:schemeClr val="tx2"/>
                          </a:solidFill>
                        </a:rPr>
                        <a:t>X := X + M</a:t>
                      </a:r>
                      <a:endParaRPr lang="en-US" dirty="0"/>
                    </a:p>
                  </a:txBody>
                  <a:tcPr/>
                </a:tc>
                <a:extLst>
                  <a:ext uri="{0D108BD9-81ED-4DB2-BD59-A6C34878D82A}">
                    <a16:rowId xmlns:a16="http://schemas.microsoft.com/office/drawing/2014/main" val="10004"/>
                  </a:ext>
                </a:extLst>
              </a:tr>
              <a:tr h="370840">
                <a:tc>
                  <a:txBody>
                    <a:bodyPr/>
                    <a:lstStyle/>
                    <a:p>
                      <a:r>
                        <a:rPr lang="en-US" dirty="0"/>
                        <a:t>t4</a:t>
                      </a:r>
                    </a:p>
                  </a:txBody>
                  <a:tcPr/>
                </a:tc>
                <a:tc>
                  <a:txBody>
                    <a:bodyPr/>
                    <a:lstStyle/>
                    <a:p>
                      <a:r>
                        <a:rPr lang="en-GB" sz="1800" dirty="0">
                          <a:solidFill>
                            <a:srgbClr val="C00000"/>
                          </a:solidFill>
                        </a:rPr>
                        <a:t>X := X + N</a:t>
                      </a:r>
                      <a:endParaRPr lang="en-US" dirty="0">
                        <a:solidFill>
                          <a:srgbClr val="C00000"/>
                        </a:solidFill>
                      </a:endParaRPr>
                    </a:p>
                  </a:txBody>
                  <a:tcPr/>
                </a:tc>
                <a:tc>
                  <a:txBody>
                    <a:bodyPr/>
                    <a:lstStyle/>
                    <a:p>
                      <a:endParaRPr lang="en-US" dirty="0"/>
                    </a:p>
                  </a:txBody>
                  <a:tcPr/>
                </a:tc>
                <a:extLst>
                  <a:ext uri="{0D108BD9-81ED-4DB2-BD59-A6C34878D82A}">
                    <a16:rowId xmlns:a16="http://schemas.microsoft.com/office/drawing/2014/main" val="10005"/>
                  </a:ext>
                </a:extLst>
              </a:tr>
              <a:tr h="370840">
                <a:tc>
                  <a:txBody>
                    <a:bodyPr/>
                    <a:lstStyle/>
                    <a:p>
                      <a:r>
                        <a:rPr lang="en-US" dirty="0"/>
                        <a:t>t5</a:t>
                      </a:r>
                    </a:p>
                  </a:txBody>
                  <a:tcPr/>
                </a:tc>
                <a:tc>
                  <a:txBody>
                    <a:bodyPr/>
                    <a:lstStyle/>
                    <a:p>
                      <a:r>
                        <a:rPr lang="en-GB" sz="1800" dirty="0">
                          <a:solidFill>
                            <a:srgbClr val="C00000"/>
                          </a:solidFill>
                        </a:rPr>
                        <a:t>write(X)</a:t>
                      </a:r>
                      <a:endParaRPr lang="en-US" dirty="0">
                        <a:solidFill>
                          <a:srgbClr val="C00000"/>
                        </a:solidFill>
                      </a:endParaRPr>
                    </a:p>
                  </a:txBody>
                  <a:tcPr/>
                </a:tc>
                <a:tc>
                  <a:txBody>
                    <a:bodyPr/>
                    <a:lstStyle/>
                    <a:p>
                      <a:endParaRPr lang="en-US" dirty="0"/>
                    </a:p>
                  </a:txBody>
                  <a:tcPr/>
                </a:tc>
                <a:extLst>
                  <a:ext uri="{0D108BD9-81ED-4DB2-BD59-A6C34878D82A}">
                    <a16:rowId xmlns:a16="http://schemas.microsoft.com/office/drawing/2014/main" val="10006"/>
                  </a:ext>
                </a:extLst>
              </a:tr>
              <a:tr h="370840">
                <a:tc>
                  <a:txBody>
                    <a:bodyPr/>
                    <a:lstStyle/>
                    <a:p>
                      <a:r>
                        <a:rPr lang="en-US" dirty="0"/>
                        <a:t>t6</a:t>
                      </a:r>
                    </a:p>
                  </a:txBody>
                  <a:tcPr/>
                </a:tc>
                <a:tc>
                  <a:txBody>
                    <a:bodyPr/>
                    <a:lstStyle/>
                    <a:p>
                      <a:r>
                        <a:rPr lang="en-US" dirty="0">
                          <a:solidFill>
                            <a:srgbClr val="C00000"/>
                          </a:solidFill>
                        </a:rPr>
                        <a:t>read(Y)</a:t>
                      </a:r>
                    </a:p>
                  </a:txBody>
                  <a:tcPr/>
                </a:tc>
                <a:tc>
                  <a:txBody>
                    <a:bodyPr/>
                    <a:lstStyle/>
                    <a:p>
                      <a:endParaRPr lang="en-US" dirty="0"/>
                    </a:p>
                  </a:txBody>
                  <a:tcPr/>
                </a:tc>
                <a:extLst>
                  <a:ext uri="{0D108BD9-81ED-4DB2-BD59-A6C34878D82A}">
                    <a16:rowId xmlns:a16="http://schemas.microsoft.com/office/drawing/2014/main" val="10007"/>
                  </a:ext>
                </a:extLst>
              </a:tr>
              <a:tr h="370840">
                <a:tc>
                  <a:txBody>
                    <a:bodyPr/>
                    <a:lstStyle/>
                    <a:p>
                      <a:r>
                        <a:rPr lang="en-US" dirty="0"/>
                        <a:t>t7</a:t>
                      </a:r>
                    </a:p>
                  </a:txBody>
                  <a:tcPr/>
                </a:tc>
                <a:tc>
                  <a:txBody>
                    <a:bodyPr/>
                    <a:lstStyle/>
                    <a:p>
                      <a:endParaRPr lang="en-US" dirty="0"/>
                    </a:p>
                  </a:txBody>
                  <a:tcPr/>
                </a:tc>
                <a:tc>
                  <a:txBody>
                    <a:bodyPr/>
                    <a:lstStyle/>
                    <a:p>
                      <a:r>
                        <a:rPr lang="en-US" dirty="0">
                          <a:solidFill>
                            <a:schemeClr val="tx2"/>
                          </a:solidFill>
                        </a:rPr>
                        <a:t>write(X)</a:t>
                      </a:r>
                      <a:endParaRPr lang="en-US" dirty="0"/>
                    </a:p>
                  </a:txBody>
                  <a:tcPr/>
                </a:tc>
                <a:extLst>
                  <a:ext uri="{0D108BD9-81ED-4DB2-BD59-A6C34878D82A}">
                    <a16:rowId xmlns:a16="http://schemas.microsoft.com/office/drawing/2014/main" val="10008"/>
                  </a:ext>
                </a:extLst>
              </a:tr>
              <a:tr h="370840">
                <a:tc>
                  <a:txBody>
                    <a:bodyPr/>
                    <a:lstStyle/>
                    <a:p>
                      <a:r>
                        <a:rPr lang="en-US" dirty="0"/>
                        <a:t>t8</a:t>
                      </a:r>
                    </a:p>
                  </a:txBody>
                  <a:tcPr/>
                </a:tc>
                <a:tc>
                  <a:txBody>
                    <a:bodyPr/>
                    <a:lstStyle/>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rPr>
                        <a:t>commit</a:t>
                      </a:r>
                    </a:p>
                  </a:txBody>
                  <a:tcPr/>
                </a:tc>
                <a:extLst>
                  <a:ext uri="{0D108BD9-81ED-4DB2-BD59-A6C34878D82A}">
                    <a16:rowId xmlns:a16="http://schemas.microsoft.com/office/drawing/2014/main" val="10009"/>
                  </a:ext>
                </a:extLst>
              </a:tr>
              <a:tr h="370840">
                <a:tc>
                  <a:txBody>
                    <a:bodyPr/>
                    <a:lstStyle/>
                    <a:p>
                      <a:r>
                        <a:rPr lang="en-US" dirty="0"/>
                        <a:t>t9</a:t>
                      </a:r>
                    </a:p>
                  </a:txBody>
                  <a:tcPr/>
                </a:tc>
                <a:tc>
                  <a:txBody>
                    <a:bodyPr/>
                    <a:lstStyle/>
                    <a:p>
                      <a:r>
                        <a:rPr lang="en-GB" sz="1800" dirty="0">
                          <a:solidFill>
                            <a:srgbClr val="C00000"/>
                          </a:solidFill>
                        </a:rPr>
                        <a:t>Y := Y +</a:t>
                      </a:r>
                      <a:r>
                        <a:rPr lang="en-GB" sz="1800" baseline="0" dirty="0">
                          <a:solidFill>
                            <a:srgbClr val="C00000"/>
                          </a:solidFill>
                        </a:rPr>
                        <a:t> N</a:t>
                      </a:r>
                      <a:endParaRPr lang="en-US" dirty="0">
                        <a:solidFill>
                          <a:srgbClr val="C00000"/>
                        </a:solidFill>
                      </a:endParaRPr>
                    </a:p>
                  </a:txBody>
                  <a:tcPr/>
                </a:tc>
                <a:tc>
                  <a:txBody>
                    <a:bodyPr/>
                    <a:lstStyle/>
                    <a:p>
                      <a:endParaRPr lang="en-US" dirty="0">
                        <a:solidFill>
                          <a:schemeClr val="tx2"/>
                        </a:solidFill>
                      </a:endParaRPr>
                    </a:p>
                  </a:txBody>
                  <a:tcPr/>
                </a:tc>
                <a:extLst>
                  <a:ext uri="{0D108BD9-81ED-4DB2-BD59-A6C34878D82A}">
                    <a16:rowId xmlns:a16="http://schemas.microsoft.com/office/drawing/2014/main" val="10010"/>
                  </a:ext>
                </a:extLst>
              </a:tr>
              <a:tr h="370840">
                <a:tc>
                  <a:txBody>
                    <a:bodyPr/>
                    <a:lstStyle/>
                    <a:p>
                      <a:r>
                        <a:rPr lang="en-US" dirty="0"/>
                        <a:t>t10</a:t>
                      </a:r>
                    </a:p>
                  </a:txBody>
                  <a:tcPr/>
                </a:tc>
                <a:tc>
                  <a:txBody>
                    <a:bodyPr/>
                    <a:lstStyle/>
                    <a:p>
                      <a:r>
                        <a:rPr lang="en-US" dirty="0">
                          <a:solidFill>
                            <a:srgbClr val="C00000"/>
                          </a:solidFill>
                        </a:rPr>
                        <a:t>write(Y)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2"/>
                        </a:solidFill>
                      </a:endParaRPr>
                    </a:p>
                  </a:txBody>
                  <a:tcPr/>
                </a:tc>
                <a:extLst>
                  <a:ext uri="{0D108BD9-81ED-4DB2-BD59-A6C34878D82A}">
                    <a16:rowId xmlns:a16="http://schemas.microsoft.com/office/drawing/2014/main" val="10011"/>
                  </a:ext>
                </a:extLst>
              </a:tr>
              <a:tr h="370840">
                <a:tc>
                  <a:txBody>
                    <a:bodyPr/>
                    <a:lstStyle/>
                    <a:p>
                      <a:r>
                        <a:rPr lang="en-US" dirty="0"/>
                        <a:t>t11</a:t>
                      </a:r>
                    </a:p>
                  </a:txBody>
                  <a:tcPr/>
                </a:tc>
                <a:tc>
                  <a:txBody>
                    <a:bodyPr/>
                    <a:lstStyle/>
                    <a:p>
                      <a:r>
                        <a:rPr lang="en-US" dirty="0">
                          <a:solidFill>
                            <a:srgbClr val="C00000"/>
                          </a:solidFill>
                        </a:rPr>
                        <a:t>commit</a:t>
                      </a:r>
                    </a:p>
                  </a:txBody>
                  <a:tcPr/>
                </a:tc>
                <a:tc>
                  <a:txBody>
                    <a:bodyPr/>
                    <a:lstStyle/>
                    <a:p>
                      <a:endParaRPr lang="en-US" dirty="0">
                        <a:solidFill>
                          <a:schemeClr val="tx2"/>
                        </a:solidFill>
                      </a:endParaRPr>
                    </a:p>
                  </a:txBody>
                  <a:tcPr/>
                </a:tc>
                <a:extLst>
                  <a:ext uri="{0D108BD9-81ED-4DB2-BD59-A6C34878D82A}">
                    <a16:rowId xmlns:a16="http://schemas.microsoft.com/office/drawing/2014/main" val="10012"/>
                  </a:ext>
                </a:extLst>
              </a:tr>
            </a:tbl>
          </a:graphicData>
        </a:graphic>
      </p:graphicFrame>
      <p:grpSp>
        <p:nvGrpSpPr>
          <p:cNvPr id="45" name="Group 44"/>
          <p:cNvGrpSpPr/>
          <p:nvPr/>
        </p:nvGrpSpPr>
        <p:grpSpPr>
          <a:xfrm>
            <a:off x="6600056" y="1697358"/>
            <a:ext cx="3538560" cy="4467946"/>
            <a:chOff x="5076056" y="1697358"/>
            <a:chExt cx="3538560" cy="4467946"/>
          </a:xfrm>
        </p:grpSpPr>
        <p:sp>
          <p:nvSpPr>
            <p:cNvPr id="6" name="Can 5"/>
            <p:cNvSpPr/>
            <p:nvPr/>
          </p:nvSpPr>
          <p:spPr>
            <a:xfrm>
              <a:off x="5076056" y="4941168"/>
              <a:ext cx="1656184" cy="1224136"/>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5616116" y="5364309"/>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10" name="Rectangle 9"/>
            <p:cNvSpPr/>
            <p:nvPr/>
          </p:nvSpPr>
          <p:spPr>
            <a:xfrm>
              <a:off x="5616116" y="5733256"/>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a:t>
              </a:r>
            </a:p>
          </p:txBody>
        </p:sp>
        <p:sp>
          <p:nvSpPr>
            <p:cNvPr id="11" name="Rectangle 10"/>
            <p:cNvSpPr/>
            <p:nvPr/>
          </p:nvSpPr>
          <p:spPr>
            <a:xfrm>
              <a:off x="5292080" y="536430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12" name="Rectangle 11"/>
            <p:cNvSpPr/>
            <p:nvPr/>
          </p:nvSpPr>
          <p:spPr>
            <a:xfrm>
              <a:off x="5292080" y="572434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bg1"/>
                  </a:solidFill>
                </a:rPr>
                <a:t>Y</a:t>
              </a:r>
              <a:endParaRPr lang="en-US" dirty="0">
                <a:solidFill>
                  <a:schemeClr val="bg1"/>
                </a:solidFill>
              </a:endParaRPr>
            </a:p>
          </p:txBody>
        </p:sp>
        <p:sp>
          <p:nvSpPr>
            <p:cNvPr id="4" name="Rectangle 3"/>
            <p:cNvSpPr/>
            <p:nvPr/>
          </p:nvSpPr>
          <p:spPr>
            <a:xfrm>
              <a:off x="5364088" y="3529111"/>
              <a:ext cx="108012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5292080" y="2081439"/>
              <a:ext cx="1224357"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5631256" y="2216437"/>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19" name="Rectangle 18"/>
            <p:cNvSpPr/>
            <p:nvPr/>
          </p:nvSpPr>
          <p:spPr>
            <a:xfrm>
              <a:off x="5631256" y="2585384"/>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0" name="Rectangle 19"/>
            <p:cNvSpPr/>
            <p:nvPr/>
          </p:nvSpPr>
          <p:spPr>
            <a:xfrm>
              <a:off x="5307220" y="2216437"/>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21" name="Rectangle 20"/>
            <p:cNvSpPr/>
            <p:nvPr/>
          </p:nvSpPr>
          <p:spPr>
            <a:xfrm>
              <a:off x="5307220" y="2576477"/>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bg1"/>
                  </a:solidFill>
                </a:rPr>
                <a:t>Y</a:t>
              </a:r>
              <a:endParaRPr lang="en-US" dirty="0">
                <a:solidFill>
                  <a:schemeClr val="bg1"/>
                </a:solidFill>
              </a:endParaRPr>
            </a:p>
          </p:txBody>
        </p:sp>
        <p:sp>
          <p:nvSpPr>
            <p:cNvPr id="22" name="Rectangle 21"/>
            <p:cNvSpPr/>
            <p:nvPr/>
          </p:nvSpPr>
          <p:spPr>
            <a:xfrm>
              <a:off x="7308304" y="2082552"/>
              <a:ext cx="1224136"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7647479" y="2217550"/>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25" name="Rectangle 24"/>
            <p:cNvSpPr/>
            <p:nvPr/>
          </p:nvSpPr>
          <p:spPr>
            <a:xfrm>
              <a:off x="7323443" y="2217550"/>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5" name="TextBox 4"/>
            <p:cNvSpPr txBox="1"/>
            <p:nvPr/>
          </p:nvSpPr>
          <p:spPr>
            <a:xfrm>
              <a:off x="6479671" y="3786901"/>
              <a:ext cx="846450" cy="369332"/>
            </a:xfrm>
            <a:prstGeom prst="rect">
              <a:avLst/>
            </a:prstGeom>
            <a:noFill/>
          </p:spPr>
          <p:txBody>
            <a:bodyPr wrap="none" rtlCol="0">
              <a:spAutoFit/>
            </a:bodyPr>
            <a:lstStyle/>
            <a:p>
              <a:r>
                <a:rPr lang="en-US" dirty="0">
                  <a:solidFill>
                    <a:schemeClr val="tx2"/>
                  </a:solidFill>
                </a:rPr>
                <a:t>Buffers</a:t>
              </a:r>
            </a:p>
          </p:txBody>
        </p:sp>
        <p:sp>
          <p:nvSpPr>
            <p:cNvPr id="27" name="TextBox 26"/>
            <p:cNvSpPr txBox="1"/>
            <p:nvPr/>
          </p:nvSpPr>
          <p:spPr>
            <a:xfrm>
              <a:off x="6768244" y="5368570"/>
              <a:ext cx="1058303" cy="369332"/>
            </a:xfrm>
            <a:prstGeom prst="rect">
              <a:avLst/>
            </a:prstGeom>
            <a:noFill/>
          </p:spPr>
          <p:txBody>
            <a:bodyPr wrap="none" rtlCol="0">
              <a:spAutoFit/>
            </a:bodyPr>
            <a:lstStyle/>
            <a:p>
              <a:r>
                <a:rPr lang="en-US">
                  <a:solidFill>
                    <a:schemeClr val="tx2"/>
                  </a:solidFill>
                </a:rPr>
                <a:t>Database</a:t>
              </a:r>
              <a:endParaRPr lang="en-US" dirty="0">
                <a:solidFill>
                  <a:schemeClr val="tx2"/>
                </a:solidFill>
              </a:endParaRPr>
            </a:p>
          </p:txBody>
        </p:sp>
        <p:sp>
          <p:nvSpPr>
            <p:cNvPr id="28" name="TextBox 27"/>
            <p:cNvSpPr txBox="1"/>
            <p:nvPr/>
          </p:nvSpPr>
          <p:spPr>
            <a:xfrm>
              <a:off x="5185021" y="1709488"/>
              <a:ext cx="1432123" cy="369332"/>
            </a:xfrm>
            <a:prstGeom prst="rect">
              <a:avLst/>
            </a:prstGeom>
            <a:noFill/>
          </p:spPr>
          <p:txBody>
            <a:bodyPr wrap="none" rtlCol="0">
              <a:spAutoFit/>
            </a:bodyPr>
            <a:lstStyle/>
            <a:p>
              <a:r>
                <a:rPr lang="en-US">
                  <a:solidFill>
                    <a:schemeClr val="tx2"/>
                  </a:solidFill>
                </a:rPr>
                <a:t>Transaction 1</a:t>
              </a:r>
              <a:endParaRPr lang="en-US" dirty="0">
                <a:solidFill>
                  <a:schemeClr val="tx2"/>
                </a:solidFill>
              </a:endParaRPr>
            </a:p>
          </p:txBody>
        </p:sp>
        <p:sp>
          <p:nvSpPr>
            <p:cNvPr id="29" name="TextBox 28"/>
            <p:cNvSpPr txBox="1"/>
            <p:nvPr/>
          </p:nvSpPr>
          <p:spPr>
            <a:xfrm>
              <a:off x="7182493" y="1697358"/>
              <a:ext cx="1432123" cy="369332"/>
            </a:xfrm>
            <a:prstGeom prst="rect">
              <a:avLst/>
            </a:prstGeom>
            <a:noFill/>
          </p:spPr>
          <p:txBody>
            <a:bodyPr wrap="none" rtlCol="0">
              <a:spAutoFit/>
            </a:bodyPr>
            <a:lstStyle/>
            <a:p>
              <a:r>
                <a:rPr lang="en-US" dirty="0">
                  <a:solidFill>
                    <a:schemeClr val="tx2"/>
                  </a:solidFill>
                </a:rPr>
                <a:t>Transaction 2</a:t>
              </a:r>
            </a:p>
          </p:txBody>
        </p:sp>
        <p:cxnSp>
          <p:nvCxnSpPr>
            <p:cNvPr id="30" name="Straight Arrow Connector 29"/>
            <p:cNvCxnSpPr>
              <a:stCxn id="4" idx="2"/>
              <a:endCxn id="6" idx="1"/>
            </p:cNvCxnSpPr>
            <p:nvPr/>
          </p:nvCxnSpPr>
          <p:spPr>
            <a:xfrm>
              <a:off x="5904148" y="4443511"/>
              <a:ext cx="0" cy="49765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17" idx="2"/>
              <a:endCxn id="4" idx="0"/>
            </p:cNvCxnSpPr>
            <p:nvPr/>
          </p:nvCxnSpPr>
          <p:spPr>
            <a:xfrm flipH="1">
              <a:off x="5904148" y="2995839"/>
              <a:ext cx="111" cy="53327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H="1">
              <a:off x="6479671" y="2995839"/>
              <a:ext cx="828634" cy="53327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grpSp>
      <p:sp>
        <p:nvSpPr>
          <p:cNvPr id="52" name="Rectangle 51"/>
          <p:cNvSpPr/>
          <p:nvPr/>
        </p:nvSpPr>
        <p:spPr>
          <a:xfrm>
            <a:off x="9163191" y="2213483"/>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1+M</a:t>
            </a:r>
          </a:p>
        </p:txBody>
      </p:sp>
      <p:sp>
        <p:nvSpPr>
          <p:cNvPr id="46" name="Rectangle 45"/>
          <p:cNvSpPr/>
          <p:nvPr/>
        </p:nvSpPr>
        <p:spPr>
          <a:xfrm>
            <a:off x="6903227" y="366410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47" name="Rectangle 46"/>
          <p:cNvSpPr/>
          <p:nvPr/>
        </p:nvSpPr>
        <p:spPr>
          <a:xfrm>
            <a:off x="7227263" y="3676451"/>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53" name="Rectangle 52"/>
          <p:cNvSpPr/>
          <p:nvPr/>
        </p:nvSpPr>
        <p:spPr>
          <a:xfrm>
            <a:off x="1775520" y="3861048"/>
            <a:ext cx="4248472" cy="360040"/>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 name="Rectangle 30"/>
          <p:cNvSpPr/>
          <p:nvPr/>
        </p:nvSpPr>
        <p:spPr>
          <a:xfrm>
            <a:off x="7155256" y="2213929"/>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1+N</a:t>
            </a:r>
          </a:p>
        </p:txBody>
      </p:sp>
      <p:cxnSp>
        <p:nvCxnSpPr>
          <p:cNvPr id="32" name="Curved Connector 31"/>
          <p:cNvCxnSpPr/>
          <p:nvPr/>
        </p:nvCxnSpPr>
        <p:spPr>
          <a:xfrm rot="16200000" flipH="1">
            <a:off x="6900857" y="3028806"/>
            <a:ext cx="1162594" cy="108012"/>
          </a:xfrm>
          <a:prstGeom prst="curved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sp>
        <p:nvSpPr>
          <p:cNvPr id="35" name="Rectangle 34"/>
          <p:cNvSpPr/>
          <p:nvPr/>
        </p:nvSpPr>
        <p:spPr>
          <a:xfrm>
            <a:off x="7223525" y="3673016"/>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1+N</a:t>
            </a:r>
          </a:p>
        </p:txBody>
      </p:sp>
    </p:spTree>
    <p:extLst>
      <p:ext uri="{BB962C8B-B14F-4D97-AF65-F5344CB8AC3E}">
        <p14:creationId xmlns:p14="http://schemas.microsoft.com/office/powerpoint/2010/main" val="878847301"/>
      </p:ext>
    </p:extLst>
  </p:cSld>
  <p:clrMapOvr>
    <a:masterClrMapping/>
  </p:clrMapOvr>
  <mc:AlternateContent xmlns:mc="http://schemas.openxmlformats.org/markup-compatibility/2006" xmlns:p14="http://schemas.microsoft.com/office/powerpoint/2010/main">
    <mc:Choice Requires="p14">
      <p:transition spd="slow" p14:dur="2000" advTm="20211"/>
    </mc:Choice>
    <mc:Fallback xmlns="">
      <p:transition spd="slow" advTm="2021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up)">
                                      <p:cBhvr>
                                        <p:cTn id="7" dur="500"/>
                                        <p:tgtEl>
                                          <p:spTgt spid="32"/>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par>
                          <p:cTn id="11" fill="hold">
                            <p:stCondLst>
                              <p:cond delay="500"/>
                            </p:stCondLst>
                            <p:childTnLst>
                              <p:par>
                                <p:cTn id="12" presetID="22" presetClass="exit" presetSubtype="1" fill="hold" nodeType="afterEffect">
                                  <p:stCondLst>
                                    <p:cond delay="0"/>
                                  </p:stCondLst>
                                  <p:childTnLst>
                                    <p:animEffect transition="out" filter="wipe(up)">
                                      <p:cBhvr>
                                        <p:cTn id="13" dur="500"/>
                                        <p:tgtEl>
                                          <p:spTgt spid="32"/>
                                        </p:tgtEl>
                                      </p:cBhvr>
                                    </p:animEffect>
                                    <p:set>
                                      <p:cBhvr>
                                        <p:cTn id="14" dur="1" fill="hold">
                                          <p:stCondLst>
                                            <p:cond delay="499"/>
                                          </p:stCondLst>
                                        </p:cTn>
                                        <p:tgtEl>
                                          <p:spTgt spid="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Concurrent Schedules Do Not Guarantee Consistency or Isolation</a:t>
            </a:r>
            <a:endParaRPr lang="en-GB" sz="3100" dirty="0"/>
          </a:p>
        </p:txBody>
      </p:sp>
      <p:sp>
        <p:nvSpPr>
          <p:cNvPr id="7" name="Slide Number Placeholder 6"/>
          <p:cNvSpPr>
            <a:spLocks noGrp="1"/>
          </p:cNvSpPr>
          <p:nvPr>
            <p:ph type="sldNum" sz="quarter" idx="12"/>
          </p:nvPr>
        </p:nvSpPr>
        <p:spPr/>
        <p:txBody>
          <a:bodyPr/>
          <a:lstStyle/>
          <a:p>
            <a:fld id="{26F23E55-D42A-41AF-9F6E-8A8A2E703B49}" type="slidenum">
              <a:rPr lang="en-GB" smtClean="0"/>
              <a:pPr/>
              <a:t>17</a:t>
            </a:fld>
            <a:endParaRPr lang="en-GB"/>
          </a:p>
        </p:txBody>
      </p:sp>
      <p:graphicFrame>
        <p:nvGraphicFramePr>
          <p:cNvPr id="9" name="Table 8"/>
          <p:cNvGraphicFramePr>
            <a:graphicFrameLocks noGrp="1"/>
          </p:cNvGraphicFramePr>
          <p:nvPr/>
        </p:nvGraphicFramePr>
        <p:xfrm>
          <a:off x="1919536" y="1632416"/>
          <a:ext cx="3960440" cy="4820920"/>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1620180">
                  <a:extLst>
                    <a:ext uri="{9D8B030D-6E8A-4147-A177-3AD203B41FA5}">
                      <a16:colId xmlns:a16="http://schemas.microsoft.com/office/drawing/2014/main" val="20001"/>
                    </a:ext>
                  </a:extLst>
                </a:gridCol>
                <a:gridCol w="1620180">
                  <a:extLst>
                    <a:ext uri="{9D8B030D-6E8A-4147-A177-3AD203B41FA5}">
                      <a16:colId xmlns:a16="http://schemas.microsoft.com/office/drawing/2014/main" val="20002"/>
                    </a:ext>
                  </a:extLst>
                </a:gridCol>
              </a:tblGrid>
              <a:tr h="370840">
                <a:tc>
                  <a:txBody>
                    <a:bodyPr/>
                    <a:lstStyle/>
                    <a:p>
                      <a:r>
                        <a:rPr lang="en-US" dirty="0"/>
                        <a:t>Time</a:t>
                      </a:r>
                    </a:p>
                  </a:txBody>
                  <a:tcPr/>
                </a:tc>
                <a:tc gridSpan="2">
                  <a:txBody>
                    <a:bodyPr/>
                    <a:lstStyle/>
                    <a:p>
                      <a:r>
                        <a:rPr lang="en-US" sz="1800" b="1" baseline="0" dirty="0"/>
                        <a:t>Schedule</a:t>
                      </a:r>
                      <a:endParaRPr lang="en-US" sz="1600" b="1" baseline="-25000"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r>
                        <a:rPr lang="en-US" dirty="0"/>
                        <a:t>t0</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r>
                        <a:rPr lang="en-US" dirty="0"/>
                        <a:t>t1</a:t>
                      </a:r>
                    </a:p>
                  </a:txBody>
                  <a:tcPr/>
                </a:tc>
                <a:tc>
                  <a:txBody>
                    <a:bodyPr/>
                    <a:lstStyle/>
                    <a:p>
                      <a:r>
                        <a:rPr lang="en-US" dirty="0">
                          <a:solidFill>
                            <a:srgbClr val="C00000"/>
                          </a:solidFill>
                        </a:rPr>
                        <a:t>read(X)</a:t>
                      </a:r>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t2</a:t>
                      </a:r>
                    </a:p>
                  </a:txBody>
                  <a:tcPr/>
                </a:tc>
                <a:tc>
                  <a:txBody>
                    <a:bodyPr/>
                    <a:lstStyle/>
                    <a:p>
                      <a:endParaRPr lang="en-US"/>
                    </a:p>
                  </a:txBody>
                  <a:tcPr/>
                </a:tc>
                <a:tc>
                  <a:txBody>
                    <a:bodyPr/>
                    <a:lstStyle/>
                    <a:p>
                      <a:r>
                        <a:rPr lang="en-US" dirty="0">
                          <a:solidFill>
                            <a:schemeClr val="tx2"/>
                          </a:solidFill>
                        </a:rPr>
                        <a:t>read(X)</a:t>
                      </a:r>
                      <a:endParaRPr lang="en-US" dirty="0"/>
                    </a:p>
                  </a:txBody>
                  <a:tcPr/>
                </a:tc>
                <a:extLst>
                  <a:ext uri="{0D108BD9-81ED-4DB2-BD59-A6C34878D82A}">
                    <a16:rowId xmlns:a16="http://schemas.microsoft.com/office/drawing/2014/main" val="10003"/>
                  </a:ext>
                </a:extLst>
              </a:tr>
              <a:tr h="370840">
                <a:tc>
                  <a:txBody>
                    <a:bodyPr/>
                    <a:lstStyle/>
                    <a:p>
                      <a:r>
                        <a:rPr lang="en-US" dirty="0"/>
                        <a:t>t3</a:t>
                      </a:r>
                    </a:p>
                  </a:txBody>
                  <a:tcPr/>
                </a:tc>
                <a:tc>
                  <a:txBody>
                    <a:bodyPr/>
                    <a:lstStyle/>
                    <a:p>
                      <a:endParaRPr lang="en-US" dirty="0"/>
                    </a:p>
                  </a:txBody>
                  <a:tcPr/>
                </a:tc>
                <a:tc>
                  <a:txBody>
                    <a:bodyPr/>
                    <a:lstStyle/>
                    <a:p>
                      <a:r>
                        <a:rPr lang="en-US" dirty="0">
                          <a:solidFill>
                            <a:schemeClr val="tx2"/>
                          </a:solidFill>
                        </a:rPr>
                        <a:t>X := X + M</a:t>
                      </a:r>
                      <a:endParaRPr lang="en-US" dirty="0"/>
                    </a:p>
                  </a:txBody>
                  <a:tcPr/>
                </a:tc>
                <a:extLst>
                  <a:ext uri="{0D108BD9-81ED-4DB2-BD59-A6C34878D82A}">
                    <a16:rowId xmlns:a16="http://schemas.microsoft.com/office/drawing/2014/main" val="10004"/>
                  </a:ext>
                </a:extLst>
              </a:tr>
              <a:tr h="370840">
                <a:tc>
                  <a:txBody>
                    <a:bodyPr/>
                    <a:lstStyle/>
                    <a:p>
                      <a:r>
                        <a:rPr lang="en-US" dirty="0"/>
                        <a:t>t4</a:t>
                      </a:r>
                    </a:p>
                  </a:txBody>
                  <a:tcPr/>
                </a:tc>
                <a:tc>
                  <a:txBody>
                    <a:bodyPr/>
                    <a:lstStyle/>
                    <a:p>
                      <a:r>
                        <a:rPr lang="en-GB" sz="1800" dirty="0">
                          <a:solidFill>
                            <a:srgbClr val="C00000"/>
                          </a:solidFill>
                        </a:rPr>
                        <a:t>X := X + N</a:t>
                      </a:r>
                      <a:endParaRPr lang="en-US" dirty="0">
                        <a:solidFill>
                          <a:srgbClr val="C00000"/>
                        </a:solidFill>
                      </a:endParaRPr>
                    </a:p>
                  </a:txBody>
                  <a:tcPr/>
                </a:tc>
                <a:tc>
                  <a:txBody>
                    <a:bodyPr/>
                    <a:lstStyle/>
                    <a:p>
                      <a:endParaRPr lang="en-US" dirty="0"/>
                    </a:p>
                  </a:txBody>
                  <a:tcPr/>
                </a:tc>
                <a:extLst>
                  <a:ext uri="{0D108BD9-81ED-4DB2-BD59-A6C34878D82A}">
                    <a16:rowId xmlns:a16="http://schemas.microsoft.com/office/drawing/2014/main" val="10005"/>
                  </a:ext>
                </a:extLst>
              </a:tr>
              <a:tr h="370840">
                <a:tc>
                  <a:txBody>
                    <a:bodyPr/>
                    <a:lstStyle/>
                    <a:p>
                      <a:r>
                        <a:rPr lang="en-US" dirty="0"/>
                        <a:t>t5</a:t>
                      </a:r>
                    </a:p>
                  </a:txBody>
                  <a:tcPr/>
                </a:tc>
                <a:tc>
                  <a:txBody>
                    <a:bodyPr/>
                    <a:lstStyle/>
                    <a:p>
                      <a:r>
                        <a:rPr lang="en-GB" sz="1800" dirty="0">
                          <a:solidFill>
                            <a:srgbClr val="C00000"/>
                          </a:solidFill>
                        </a:rPr>
                        <a:t>write(X)</a:t>
                      </a:r>
                      <a:endParaRPr lang="en-US" dirty="0">
                        <a:solidFill>
                          <a:srgbClr val="C00000"/>
                        </a:solidFill>
                      </a:endParaRPr>
                    </a:p>
                  </a:txBody>
                  <a:tcPr/>
                </a:tc>
                <a:tc>
                  <a:txBody>
                    <a:bodyPr/>
                    <a:lstStyle/>
                    <a:p>
                      <a:endParaRPr lang="en-US" dirty="0"/>
                    </a:p>
                  </a:txBody>
                  <a:tcPr/>
                </a:tc>
                <a:extLst>
                  <a:ext uri="{0D108BD9-81ED-4DB2-BD59-A6C34878D82A}">
                    <a16:rowId xmlns:a16="http://schemas.microsoft.com/office/drawing/2014/main" val="10006"/>
                  </a:ext>
                </a:extLst>
              </a:tr>
              <a:tr h="370840">
                <a:tc>
                  <a:txBody>
                    <a:bodyPr/>
                    <a:lstStyle/>
                    <a:p>
                      <a:r>
                        <a:rPr lang="en-US" dirty="0"/>
                        <a:t>t6</a:t>
                      </a:r>
                    </a:p>
                  </a:txBody>
                  <a:tcPr/>
                </a:tc>
                <a:tc>
                  <a:txBody>
                    <a:bodyPr/>
                    <a:lstStyle/>
                    <a:p>
                      <a:r>
                        <a:rPr lang="en-US" dirty="0">
                          <a:solidFill>
                            <a:srgbClr val="C00000"/>
                          </a:solidFill>
                        </a:rPr>
                        <a:t>read(Y)</a:t>
                      </a:r>
                    </a:p>
                  </a:txBody>
                  <a:tcPr/>
                </a:tc>
                <a:tc>
                  <a:txBody>
                    <a:bodyPr/>
                    <a:lstStyle/>
                    <a:p>
                      <a:endParaRPr lang="en-US" dirty="0"/>
                    </a:p>
                  </a:txBody>
                  <a:tcPr/>
                </a:tc>
                <a:extLst>
                  <a:ext uri="{0D108BD9-81ED-4DB2-BD59-A6C34878D82A}">
                    <a16:rowId xmlns:a16="http://schemas.microsoft.com/office/drawing/2014/main" val="10007"/>
                  </a:ext>
                </a:extLst>
              </a:tr>
              <a:tr h="370840">
                <a:tc>
                  <a:txBody>
                    <a:bodyPr/>
                    <a:lstStyle/>
                    <a:p>
                      <a:r>
                        <a:rPr lang="en-US" dirty="0"/>
                        <a:t>t7</a:t>
                      </a:r>
                    </a:p>
                  </a:txBody>
                  <a:tcPr/>
                </a:tc>
                <a:tc>
                  <a:txBody>
                    <a:bodyPr/>
                    <a:lstStyle/>
                    <a:p>
                      <a:endParaRPr lang="en-US" dirty="0"/>
                    </a:p>
                  </a:txBody>
                  <a:tcPr/>
                </a:tc>
                <a:tc>
                  <a:txBody>
                    <a:bodyPr/>
                    <a:lstStyle/>
                    <a:p>
                      <a:r>
                        <a:rPr lang="en-US" dirty="0">
                          <a:solidFill>
                            <a:schemeClr val="tx2"/>
                          </a:solidFill>
                        </a:rPr>
                        <a:t>write(X)</a:t>
                      </a:r>
                      <a:endParaRPr lang="en-US" dirty="0"/>
                    </a:p>
                  </a:txBody>
                  <a:tcPr/>
                </a:tc>
                <a:extLst>
                  <a:ext uri="{0D108BD9-81ED-4DB2-BD59-A6C34878D82A}">
                    <a16:rowId xmlns:a16="http://schemas.microsoft.com/office/drawing/2014/main" val="10008"/>
                  </a:ext>
                </a:extLst>
              </a:tr>
              <a:tr h="370840">
                <a:tc>
                  <a:txBody>
                    <a:bodyPr/>
                    <a:lstStyle/>
                    <a:p>
                      <a:r>
                        <a:rPr lang="en-US" dirty="0"/>
                        <a:t>t8</a:t>
                      </a:r>
                    </a:p>
                  </a:txBody>
                  <a:tcPr/>
                </a:tc>
                <a:tc>
                  <a:txBody>
                    <a:bodyPr/>
                    <a:lstStyle/>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rPr>
                        <a:t>commit</a:t>
                      </a:r>
                    </a:p>
                  </a:txBody>
                  <a:tcPr/>
                </a:tc>
                <a:extLst>
                  <a:ext uri="{0D108BD9-81ED-4DB2-BD59-A6C34878D82A}">
                    <a16:rowId xmlns:a16="http://schemas.microsoft.com/office/drawing/2014/main" val="10009"/>
                  </a:ext>
                </a:extLst>
              </a:tr>
              <a:tr h="370840">
                <a:tc>
                  <a:txBody>
                    <a:bodyPr/>
                    <a:lstStyle/>
                    <a:p>
                      <a:r>
                        <a:rPr lang="en-US" dirty="0"/>
                        <a:t>t9</a:t>
                      </a:r>
                    </a:p>
                  </a:txBody>
                  <a:tcPr/>
                </a:tc>
                <a:tc>
                  <a:txBody>
                    <a:bodyPr/>
                    <a:lstStyle/>
                    <a:p>
                      <a:r>
                        <a:rPr lang="en-GB" sz="1800" dirty="0">
                          <a:solidFill>
                            <a:srgbClr val="C00000"/>
                          </a:solidFill>
                        </a:rPr>
                        <a:t>Y := Y +</a:t>
                      </a:r>
                      <a:r>
                        <a:rPr lang="en-GB" sz="1800" baseline="0" dirty="0">
                          <a:solidFill>
                            <a:srgbClr val="C00000"/>
                          </a:solidFill>
                        </a:rPr>
                        <a:t> N</a:t>
                      </a:r>
                      <a:endParaRPr lang="en-US" dirty="0">
                        <a:solidFill>
                          <a:srgbClr val="C00000"/>
                        </a:solidFill>
                      </a:endParaRPr>
                    </a:p>
                  </a:txBody>
                  <a:tcPr/>
                </a:tc>
                <a:tc>
                  <a:txBody>
                    <a:bodyPr/>
                    <a:lstStyle/>
                    <a:p>
                      <a:endParaRPr lang="en-US" dirty="0">
                        <a:solidFill>
                          <a:schemeClr val="tx2"/>
                        </a:solidFill>
                      </a:endParaRPr>
                    </a:p>
                  </a:txBody>
                  <a:tcPr/>
                </a:tc>
                <a:extLst>
                  <a:ext uri="{0D108BD9-81ED-4DB2-BD59-A6C34878D82A}">
                    <a16:rowId xmlns:a16="http://schemas.microsoft.com/office/drawing/2014/main" val="10010"/>
                  </a:ext>
                </a:extLst>
              </a:tr>
              <a:tr h="370840">
                <a:tc>
                  <a:txBody>
                    <a:bodyPr/>
                    <a:lstStyle/>
                    <a:p>
                      <a:r>
                        <a:rPr lang="en-US" dirty="0"/>
                        <a:t>t10</a:t>
                      </a:r>
                    </a:p>
                  </a:txBody>
                  <a:tcPr/>
                </a:tc>
                <a:tc>
                  <a:txBody>
                    <a:bodyPr/>
                    <a:lstStyle/>
                    <a:p>
                      <a:r>
                        <a:rPr lang="en-US" dirty="0">
                          <a:solidFill>
                            <a:srgbClr val="C00000"/>
                          </a:solidFill>
                        </a:rPr>
                        <a:t>write(Y)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2"/>
                        </a:solidFill>
                      </a:endParaRPr>
                    </a:p>
                  </a:txBody>
                  <a:tcPr/>
                </a:tc>
                <a:extLst>
                  <a:ext uri="{0D108BD9-81ED-4DB2-BD59-A6C34878D82A}">
                    <a16:rowId xmlns:a16="http://schemas.microsoft.com/office/drawing/2014/main" val="10011"/>
                  </a:ext>
                </a:extLst>
              </a:tr>
              <a:tr h="370840">
                <a:tc>
                  <a:txBody>
                    <a:bodyPr/>
                    <a:lstStyle/>
                    <a:p>
                      <a:r>
                        <a:rPr lang="en-US" dirty="0"/>
                        <a:t>t11</a:t>
                      </a:r>
                    </a:p>
                  </a:txBody>
                  <a:tcPr/>
                </a:tc>
                <a:tc>
                  <a:txBody>
                    <a:bodyPr/>
                    <a:lstStyle/>
                    <a:p>
                      <a:r>
                        <a:rPr lang="en-US" dirty="0">
                          <a:solidFill>
                            <a:srgbClr val="C00000"/>
                          </a:solidFill>
                        </a:rPr>
                        <a:t>commit</a:t>
                      </a:r>
                    </a:p>
                  </a:txBody>
                  <a:tcPr/>
                </a:tc>
                <a:tc>
                  <a:txBody>
                    <a:bodyPr/>
                    <a:lstStyle/>
                    <a:p>
                      <a:endParaRPr lang="en-US" dirty="0">
                        <a:solidFill>
                          <a:schemeClr val="tx2"/>
                        </a:solidFill>
                      </a:endParaRPr>
                    </a:p>
                  </a:txBody>
                  <a:tcPr/>
                </a:tc>
                <a:extLst>
                  <a:ext uri="{0D108BD9-81ED-4DB2-BD59-A6C34878D82A}">
                    <a16:rowId xmlns:a16="http://schemas.microsoft.com/office/drawing/2014/main" val="10012"/>
                  </a:ext>
                </a:extLst>
              </a:tr>
            </a:tbl>
          </a:graphicData>
        </a:graphic>
      </p:graphicFrame>
      <p:grpSp>
        <p:nvGrpSpPr>
          <p:cNvPr id="45" name="Group 44"/>
          <p:cNvGrpSpPr/>
          <p:nvPr/>
        </p:nvGrpSpPr>
        <p:grpSpPr>
          <a:xfrm>
            <a:off x="6600056" y="1697358"/>
            <a:ext cx="3538560" cy="4467946"/>
            <a:chOff x="5076056" y="1697358"/>
            <a:chExt cx="3538560" cy="4467946"/>
          </a:xfrm>
        </p:grpSpPr>
        <p:sp>
          <p:nvSpPr>
            <p:cNvPr id="6" name="Can 5"/>
            <p:cNvSpPr/>
            <p:nvPr/>
          </p:nvSpPr>
          <p:spPr>
            <a:xfrm>
              <a:off x="5076056" y="4941168"/>
              <a:ext cx="1656184" cy="1224136"/>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5616116" y="5364309"/>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10" name="Rectangle 9"/>
            <p:cNvSpPr/>
            <p:nvPr/>
          </p:nvSpPr>
          <p:spPr>
            <a:xfrm>
              <a:off x="5616116" y="5733256"/>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a:t>
              </a:r>
            </a:p>
          </p:txBody>
        </p:sp>
        <p:sp>
          <p:nvSpPr>
            <p:cNvPr id="11" name="Rectangle 10"/>
            <p:cNvSpPr/>
            <p:nvPr/>
          </p:nvSpPr>
          <p:spPr>
            <a:xfrm>
              <a:off x="5292080" y="536430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12" name="Rectangle 11"/>
            <p:cNvSpPr/>
            <p:nvPr/>
          </p:nvSpPr>
          <p:spPr>
            <a:xfrm>
              <a:off x="5292080" y="572434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bg1"/>
                  </a:solidFill>
                </a:rPr>
                <a:t>Y</a:t>
              </a:r>
              <a:endParaRPr lang="en-US" dirty="0">
                <a:solidFill>
                  <a:schemeClr val="bg1"/>
                </a:solidFill>
              </a:endParaRPr>
            </a:p>
          </p:txBody>
        </p:sp>
        <p:sp>
          <p:nvSpPr>
            <p:cNvPr id="4" name="Rectangle 3"/>
            <p:cNvSpPr/>
            <p:nvPr/>
          </p:nvSpPr>
          <p:spPr>
            <a:xfrm>
              <a:off x="5364088" y="3529111"/>
              <a:ext cx="108012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5292080" y="2081439"/>
              <a:ext cx="1224357"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5631256" y="2216437"/>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19" name="Rectangle 18"/>
            <p:cNvSpPr/>
            <p:nvPr/>
          </p:nvSpPr>
          <p:spPr>
            <a:xfrm>
              <a:off x="5631256" y="2585384"/>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0" name="Rectangle 19"/>
            <p:cNvSpPr/>
            <p:nvPr/>
          </p:nvSpPr>
          <p:spPr>
            <a:xfrm>
              <a:off x="5307220" y="2216437"/>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21" name="Rectangle 20"/>
            <p:cNvSpPr/>
            <p:nvPr/>
          </p:nvSpPr>
          <p:spPr>
            <a:xfrm>
              <a:off x="5307220" y="2576477"/>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bg1"/>
                  </a:solidFill>
                </a:rPr>
                <a:t>Y</a:t>
              </a:r>
              <a:endParaRPr lang="en-US" dirty="0">
                <a:solidFill>
                  <a:schemeClr val="bg1"/>
                </a:solidFill>
              </a:endParaRPr>
            </a:p>
          </p:txBody>
        </p:sp>
        <p:sp>
          <p:nvSpPr>
            <p:cNvPr id="22" name="Rectangle 21"/>
            <p:cNvSpPr/>
            <p:nvPr/>
          </p:nvSpPr>
          <p:spPr>
            <a:xfrm>
              <a:off x="7308304" y="2082552"/>
              <a:ext cx="1224136"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7647479" y="2217550"/>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25" name="Rectangle 24"/>
            <p:cNvSpPr/>
            <p:nvPr/>
          </p:nvSpPr>
          <p:spPr>
            <a:xfrm>
              <a:off x="7323443" y="2217550"/>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5" name="TextBox 4"/>
            <p:cNvSpPr txBox="1"/>
            <p:nvPr/>
          </p:nvSpPr>
          <p:spPr>
            <a:xfrm>
              <a:off x="6479671" y="3786901"/>
              <a:ext cx="846450" cy="369332"/>
            </a:xfrm>
            <a:prstGeom prst="rect">
              <a:avLst/>
            </a:prstGeom>
            <a:noFill/>
          </p:spPr>
          <p:txBody>
            <a:bodyPr wrap="none" rtlCol="0">
              <a:spAutoFit/>
            </a:bodyPr>
            <a:lstStyle/>
            <a:p>
              <a:r>
                <a:rPr lang="en-US" dirty="0">
                  <a:solidFill>
                    <a:schemeClr val="tx2"/>
                  </a:solidFill>
                </a:rPr>
                <a:t>Buffers</a:t>
              </a:r>
            </a:p>
          </p:txBody>
        </p:sp>
        <p:sp>
          <p:nvSpPr>
            <p:cNvPr id="27" name="TextBox 26"/>
            <p:cNvSpPr txBox="1"/>
            <p:nvPr/>
          </p:nvSpPr>
          <p:spPr>
            <a:xfrm>
              <a:off x="6768244" y="5368570"/>
              <a:ext cx="1058303" cy="369332"/>
            </a:xfrm>
            <a:prstGeom prst="rect">
              <a:avLst/>
            </a:prstGeom>
            <a:noFill/>
          </p:spPr>
          <p:txBody>
            <a:bodyPr wrap="none" rtlCol="0">
              <a:spAutoFit/>
            </a:bodyPr>
            <a:lstStyle/>
            <a:p>
              <a:r>
                <a:rPr lang="en-US">
                  <a:solidFill>
                    <a:schemeClr val="tx2"/>
                  </a:solidFill>
                </a:rPr>
                <a:t>Database</a:t>
              </a:r>
              <a:endParaRPr lang="en-US" dirty="0">
                <a:solidFill>
                  <a:schemeClr val="tx2"/>
                </a:solidFill>
              </a:endParaRPr>
            </a:p>
          </p:txBody>
        </p:sp>
        <p:sp>
          <p:nvSpPr>
            <p:cNvPr id="28" name="TextBox 27"/>
            <p:cNvSpPr txBox="1"/>
            <p:nvPr/>
          </p:nvSpPr>
          <p:spPr>
            <a:xfrm>
              <a:off x="5185021" y="1709488"/>
              <a:ext cx="1432123" cy="369332"/>
            </a:xfrm>
            <a:prstGeom prst="rect">
              <a:avLst/>
            </a:prstGeom>
            <a:noFill/>
          </p:spPr>
          <p:txBody>
            <a:bodyPr wrap="none" rtlCol="0">
              <a:spAutoFit/>
            </a:bodyPr>
            <a:lstStyle/>
            <a:p>
              <a:r>
                <a:rPr lang="en-US">
                  <a:solidFill>
                    <a:schemeClr val="tx2"/>
                  </a:solidFill>
                </a:rPr>
                <a:t>Transaction 1</a:t>
              </a:r>
              <a:endParaRPr lang="en-US" dirty="0">
                <a:solidFill>
                  <a:schemeClr val="tx2"/>
                </a:solidFill>
              </a:endParaRPr>
            </a:p>
          </p:txBody>
        </p:sp>
        <p:sp>
          <p:nvSpPr>
            <p:cNvPr id="29" name="TextBox 28"/>
            <p:cNvSpPr txBox="1"/>
            <p:nvPr/>
          </p:nvSpPr>
          <p:spPr>
            <a:xfrm>
              <a:off x="7182493" y="1697358"/>
              <a:ext cx="1432123" cy="369332"/>
            </a:xfrm>
            <a:prstGeom prst="rect">
              <a:avLst/>
            </a:prstGeom>
            <a:noFill/>
          </p:spPr>
          <p:txBody>
            <a:bodyPr wrap="none" rtlCol="0">
              <a:spAutoFit/>
            </a:bodyPr>
            <a:lstStyle/>
            <a:p>
              <a:r>
                <a:rPr lang="en-US" dirty="0">
                  <a:solidFill>
                    <a:schemeClr val="tx2"/>
                  </a:solidFill>
                </a:rPr>
                <a:t>Transaction 2</a:t>
              </a:r>
            </a:p>
          </p:txBody>
        </p:sp>
        <p:cxnSp>
          <p:nvCxnSpPr>
            <p:cNvPr id="30" name="Straight Arrow Connector 29"/>
            <p:cNvCxnSpPr>
              <a:stCxn id="4" idx="2"/>
              <a:endCxn id="6" idx="1"/>
            </p:cNvCxnSpPr>
            <p:nvPr/>
          </p:nvCxnSpPr>
          <p:spPr>
            <a:xfrm>
              <a:off x="5904148" y="4443511"/>
              <a:ext cx="0" cy="49765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17" idx="2"/>
              <a:endCxn id="4" idx="0"/>
            </p:cNvCxnSpPr>
            <p:nvPr/>
          </p:nvCxnSpPr>
          <p:spPr>
            <a:xfrm flipH="1">
              <a:off x="5904148" y="2995839"/>
              <a:ext cx="111" cy="53327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H="1">
              <a:off x="6479671" y="2995839"/>
              <a:ext cx="828634" cy="53327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grpSp>
      <p:sp>
        <p:nvSpPr>
          <p:cNvPr id="52" name="Rectangle 51"/>
          <p:cNvSpPr/>
          <p:nvPr/>
        </p:nvSpPr>
        <p:spPr>
          <a:xfrm>
            <a:off x="9163191" y="2213483"/>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1+M</a:t>
            </a:r>
          </a:p>
        </p:txBody>
      </p:sp>
      <p:sp>
        <p:nvSpPr>
          <p:cNvPr id="46" name="Rectangle 45"/>
          <p:cNvSpPr/>
          <p:nvPr/>
        </p:nvSpPr>
        <p:spPr>
          <a:xfrm>
            <a:off x="6903227" y="366410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47" name="Rectangle 46"/>
          <p:cNvSpPr/>
          <p:nvPr/>
        </p:nvSpPr>
        <p:spPr>
          <a:xfrm>
            <a:off x="7227263" y="3676451"/>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53" name="Rectangle 52"/>
          <p:cNvSpPr/>
          <p:nvPr/>
        </p:nvSpPr>
        <p:spPr>
          <a:xfrm>
            <a:off x="1775520" y="4221088"/>
            <a:ext cx="4248472" cy="360040"/>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 name="Rectangle 30"/>
          <p:cNvSpPr/>
          <p:nvPr/>
        </p:nvSpPr>
        <p:spPr>
          <a:xfrm>
            <a:off x="7155256" y="2213929"/>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1+N</a:t>
            </a:r>
          </a:p>
        </p:txBody>
      </p:sp>
      <p:sp>
        <p:nvSpPr>
          <p:cNvPr id="35" name="Rectangle 34"/>
          <p:cNvSpPr/>
          <p:nvPr/>
        </p:nvSpPr>
        <p:spPr>
          <a:xfrm>
            <a:off x="7223525" y="3673016"/>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1+N</a:t>
            </a:r>
          </a:p>
        </p:txBody>
      </p:sp>
      <p:sp>
        <p:nvSpPr>
          <p:cNvPr id="34" name="Rectangle 33"/>
          <p:cNvSpPr/>
          <p:nvPr/>
        </p:nvSpPr>
        <p:spPr>
          <a:xfrm>
            <a:off x="7227263" y="4033056"/>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a:t>
            </a:r>
          </a:p>
        </p:txBody>
      </p:sp>
      <p:sp>
        <p:nvSpPr>
          <p:cNvPr id="36" name="Rectangle 35"/>
          <p:cNvSpPr/>
          <p:nvPr/>
        </p:nvSpPr>
        <p:spPr>
          <a:xfrm>
            <a:off x="6903227" y="402414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Y</a:t>
            </a:r>
          </a:p>
        </p:txBody>
      </p:sp>
      <p:cxnSp>
        <p:nvCxnSpPr>
          <p:cNvPr id="38" name="Curved Connector 37"/>
          <p:cNvCxnSpPr>
            <a:endCxn id="34" idx="2"/>
          </p:cNvCxnSpPr>
          <p:nvPr/>
        </p:nvCxnSpPr>
        <p:spPr>
          <a:xfrm rot="5400000" flipH="1" flipV="1">
            <a:off x="6779093" y="4970146"/>
            <a:ext cx="1403261" cy="105149"/>
          </a:xfrm>
          <a:prstGeom prst="curved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39" name="Curved Connector 38"/>
          <p:cNvCxnSpPr>
            <a:stCxn id="34" idx="0"/>
            <a:endCxn id="19" idx="2"/>
          </p:cNvCxnSpPr>
          <p:nvPr/>
        </p:nvCxnSpPr>
        <p:spPr>
          <a:xfrm rot="16200000" flipV="1">
            <a:off x="6917474" y="3417233"/>
            <a:ext cx="1159640" cy="72007"/>
          </a:xfrm>
          <a:prstGeom prst="curved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sp>
        <p:nvSpPr>
          <p:cNvPr id="42" name="Rectangle 41"/>
          <p:cNvSpPr/>
          <p:nvPr/>
        </p:nvSpPr>
        <p:spPr>
          <a:xfrm>
            <a:off x="7155256" y="2580232"/>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a:t>
            </a:r>
          </a:p>
        </p:txBody>
      </p:sp>
    </p:spTree>
    <p:extLst>
      <p:ext uri="{BB962C8B-B14F-4D97-AF65-F5344CB8AC3E}">
        <p14:creationId xmlns:p14="http://schemas.microsoft.com/office/powerpoint/2010/main" val="1776179417"/>
      </p:ext>
    </p:extLst>
  </p:cSld>
  <p:clrMapOvr>
    <a:masterClrMapping/>
  </p:clrMapOvr>
  <mc:AlternateContent xmlns:mc="http://schemas.openxmlformats.org/markup-compatibility/2006" xmlns:p14="http://schemas.microsoft.com/office/powerpoint/2010/main">
    <mc:Choice Requires="p14">
      <p:transition spd="slow" p14:dur="2000" advTm="20072"/>
    </mc:Choice>
    <mc:Fallback xmlns="">
      <p:transition spd="slow" advTm="2007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down)">
                                      <p:cBhvr>
                                        <p:cTn id="7" dur="250"/>
                                        <p:tgtEl>
                                          <p:spTgt spid="38"/>
                                        </p:tgtEl>
                                      </p:cBhvr>
                                    </p:animEffect>
                                  </p:childTnLst>
                                </p:cTn>
                              </p:par>
                            </p:childTnLst>
                          </p:cTn>
                        </p:par>
                        <p:par>
                          <p:cTn id="8" fill="hold">
                            <p:stCondLst>
                              <p:cond delay="250"/>
                            </p:stCondLst>
                            <p:childTnLst>
                              <p:par>
                                <p:cTn id="9" presetID="1" presetClass="entr" presetSubtype="0"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childTnLst>
                          </p:cTn>
                        </p:par>
                        <p:par>
                          <p:cTn id="13" fill="hold">
                            <p:stCondLst>
                              <p:cond delay="250"/>
                            </p:stCondLst>
                            <p:childTnLst>
                              <p:par>
                                <p:cTn id="14" presetID="22" presetClass="exit" presetSubtype="4" fill="hold" nodeType="afterEffect">
                                  <p:stCondLst>
                                    <p:cond delay="0"/>
                                  </p:stCondLst>
                                  <p:childTnLst>
                                    <p:animEffect transition="out" filter="wipe(down)">
                                      <p:cBhvr>
                                        <p:cTn id="15" dur="250"/>
                                        <p:tgtEl>
                                          <p:spTgt spid="38"/>
                                        </p:tgtEl>
                                      </p:cBhvr>
                                    </p:animEffect>
                                    <p:set>
                                      <p:cBhvr>
                                        <p:cTn id="16" dur="1" fill="hold">
                                          <p:stCondLst>
                                            <p:cond delay="249"/>
                                          </p:stCondLst>
                                        </p:cTn>
                                        <p:tgtEl>
                                          <p:spTgt spid="38"/>
                                        </p:tgtEl>
                                        <p:attrNameLst>
                                          <p:attrName>style.visibility</p:attrName>
                                        </p:attrNameLst>
                                      </p:cBhvr>
                                      <p:to>
                                        <p:strVal val="hidden"/>
                                      </p:to>
                                    </p:set>
                                  </p:childTnLst>
                                </p:cTn>
                              </p:par>
                            </p:childTnLst>
                          </p:cTn>
                        </p:par>
                        <p:par>
                          <p:cTn id="17" fill="hold">
                            <p:stCondLst>
                              <p:cond delay="500"/>
                            </p:stCondLst>
                            <p:childTnLst>
                              <p:par>
                                <p:cTn id="18" presetID="22" presetClass="entr" presetSubtype="4" fill="hold" nodeType="after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wipe(down)">
                                      <p:cBhvr>
                                        <p:cTn id="20" dur="250"/>
                                        <p:tgtEl>
                                          <p:spTgt spid="39"/>
                                        </p:tgtEl>
                                      </p:cBhvr>
                                    </p:animEffect>
                                  </p:childTnLst>
                                </p:cTn>
                              </p:par>
                            </p:childTnLst>
                          </p:cTn>
                        </p:par>
                        <p:par>
                          <p:cTn id="21" fill="hold">
                            <p:stCondLst>
                              <p:cond delay="750"/>
                            </p:stCondLst>
                            <p:childTnLst>
                              <p:par>
                                <p:cTn id="22" presetID="1" presetClass="entr" presetSubtype="0" fill="hold" grpId="0" nodeType="afterEffect">
                                  <p:stCondLst>
                                    <p:cond delay="0"/>
                                  </p:stCondLst>
                                  <p:childTnLst>
                                    <p:set>
                                      <p:cBhvr>
                                        <p:cTn id="23" dur="1" fill="hold">
                                          <p:stCondLst>
                                            <p:cond delay="0"/>
                                          </p:stCondLst>
                                        </p:cTn>
                                        <p:tgtEl>
                                          <p:spTgt spid="42"/>
                                        </p:tgtEl>
                                        <p:attrNameLst>
                                          <p:attrName>style.visibility</p:attrName>
                                        </p:attrNameLst>
                                      </p:cBhvr>
                                      <p:to>
                                        <p:strVal val="visible"/>
                                      </p:to>
                                    </p:set>
                                  </p:childTnLst>
                                </p:cTn>
                              </p:par>
                            </p:childTnLst>
                          </p:cTn>
                        </p:par>
                        <p:par>
                          <p:cTn id="24" fill="hold">
                            <p:stCondLst>
                              <p:cond delay="750"/>
                            </p:stCondLst>
                            <p:childTnLst>
                              <p:par>
                                <p:cTn id="25" presetID="22" presetClass="exit" presetSubtype="4" fill="hold" nodeType="afterEffect">
                                  <p:stCondLst>
                                    <p:cond delay="0"/>
                                  </p:stCondLst>
                                  <p:childTnLst>
                                    <p:animEffect transition="out" filter="wipe(down)">
                                      <p:cBhvr>
                                        <p:cTn id="26" dur="250"/>
                                        <p:tgtEl>
                                          <p:spTgt spid="39"/>
                                        </p:tgtEl>
                                      </p:cBhvr>
                                    </p:animEffect>
                                    <p:set>
                                      <p:cBhvr>
                                        <p:cTn id="27" dur="1" fill="hold">
                                          <p:stCondLst>
                                            <p:cond delay="249"/>
                                          </p:stCondLst>
                                        </p:cTn>
                                        <p:tgtEl>
                                          <p:spTgt spid="3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6" grpId="0"/>
      <p:bldP spid="4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Concurrent Schedules Do Not Guarantee Consistency or Isolation</a:t>
            </a:r>
            <a:endParaRPr lang="en-GB" sz="3100" dirty="0"/>
          </a:p>
        </p:txBody>
      </p:sp>
      <p:sp>
        <p:nvSpPr>
          <p:cNvPr id="7" name="Slide Number Placeholder 6"/>
          <p:cNvSpPr>
            <a:spLocks noGrp="1"/>
          </p:cNvSpPr>
          <p:nvPr>
            <p:ph type="sldNum" sz="quarter" idx="12"/>
          </p:nvPr>
        </p:nvSpPr>
        <p:spPr/>
        <p:txBody>
          <a:bodyPr/>
          <a:lstStyle/>
          <a:p>
            <a:fld id="{26F23E55-D42A-41AF-9F6E-8A8A2E703B49}" type="slidenum">
              <a:rPr lang="en-GB" smtClean="0"/>
              <a:pPr/>
              <a:t>18</a:t>
            </a:fld>
            <a:endParaRPr lang="en-GB"/>
          </a:p>
        </p:txBody>
      </p:sp>
      <p:graphicFrame>
        <p:nvGraphicFramePr>
          <p:cNvPr id="9" name="Table 8"/>
          <p:cNvGraphicFramePr>
            <a:graphicFrameLocks noGrp="1"/>
          </p:cNvGraphicFramePr>
          <p:nvPr/>
        </p:nvGraphicFramePr>
        <p:xfrm>
          <a:off x="1919536" y="1632416"/>
          <a:ext cx="3960440" cy="4820920"/>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1620180">
                  <a:extLst>
                    <a:ext uri="{9D8B030D-6E8A-4147-A177-3AD203B41FA5}">
                      <a16:colId xmlns:a16="http://schemas.microsoft.com/office/drawing/2014/main" val="20001"/>
                    </a:ext>
                  </a:extLst>
                </a:gridCol>
                <a:gridCol w="1620180">
                  <a:extLst>
                    <a:ext uri="{9D8B030D-6E8A-4147-A177-3AD203B41FA5}">
                      <a16:colId xmlns:a16="http://schemas.microsoft.com/office/drawing/2014/main" val="20002"/>
                    </a:ext>
                  </a:extLst>
                </a:gridCol>
              </a:tblGrid>
              <a:tr h="370840">
                <a:tc>
                  <a:txBody>
                    <a:bodyPr/>
                    <a:lstStyle/>
                    <a:p>
                      <a:r>
                        <a:rPr lang="en-US" dirty="0"/>
                        <a:t>Time</a:t>
                      </a:r>
                    </a:p>
                  </a:txBody>
                  <a:tcPr/>
                </a:tc>
                <a:tc gridSpan="2">
                  <a:txBody>
                    <a:bodyPr/>
                    <a:lstStyle/>
                    <a:p>
                      <a:r>
                        <a:rPr lang="en-US" sz="1800" b="1" baseline="0" dirty="0"/>
                        <a:t>Schedule</a:t>
                      </a:r>
                      <a:endParaRPr lang="en-US" sz="1600" b="1" baseline="-25000"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r>
                        <a:rPr lang="en-US" dirty="0"/>
                        <a:t>t0</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r>
                        <a:rPr lang="en-US" dirty="0"/>
                        <a:t>t1</a:t>
                      </a:r>
                    </a:p>
                  </a:txBody>
                  <a:tcPr/>
                </a:tc>
                <a:tc>
                  <a:txBody>
                    <a:bodyPr/>
                    <a:lstStyle/>
                    <a:p>
                      <a:r>
                        <a:rPr lang="en-US" dirty="0">
                          <a:solidFill>
                            <a:srgbClr val="C00000"/>
                          </a:solidFill>
                        </a:rPr>
                        <a:t>read(X)</a:t>
                      </a:r>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t2</a:t>
                      </a:r>
                    </a:p>
                  </a:txBody>
                  <a:tcPr/>
                </a:tc>
                <a:tc>
                  <a:txBody>
                    <a:bodyPr/>
                    <a:lstStyle/>
                    <a:p>
                      <a:endParaRPr lang="en-US"/>
                    </a:p>
                  </a:txBody>
                  <a:tcPr/>
                </a:tc>
                <a:tc>
                  <a:txBody>
                    <a:bodyPr/>
                    <a:lstStyle/>
                    <a:p>
                      <a:r>
                        <a:rPr lang="en-US" dirty="0">
                          <a:solidFill>
                            <a:schemeClr val="tx2"/>
                          </a:solidFill>
                        </a:rPr>
                        <a:t>read(X)</a:t>
                      </a:r>
                      <a:endParaRPr lang="en-US" dirty="0"/>
                    </a:p>
                  </a:txBody>
                  <a:tcPr/>
                </a:tc>
                <a:extLst>
                  <a:ext uri="{0D108BD9-81ED-4DB2-BD59-A6C34878D82A}">
                    <a16:rowId xmlns:a16="http://schemas.microsoft.com/office/drawing/2014/main" val="10003"/>
                  </a:ext>
                </a:extLst>
              </a:tr>
              <a:tr h="370840">
                <a:tc>
                  <a:txBody>
                    <a:bodyPr/>
                    <a:lstStyle/>
                    <a:p>
                      <a:r>
                        <a:rPr lang="en-US" dirty="0"/>
                        <a:t>t3</a:t>
                      </a:r>
                    </a:p>
                  </a:txBody>
                  <a:tcPr/>
                </a:tc>
                <a:tc>
                  <a:txBody>
                    <a:bodyPr/>
                    <a:lstStyle/>
                    <a:p>
                      <a:endParaRPr lang="en-US" dirty="0"/>
                    </a:p>
                  </a:txBody>
                  <a:tcPr/>
                </a:tc>
                <a:tc>
                  <a:txBody>
                    <a:bodyPr/>
                    <a:lstStyle/>
                    <a:p>
                      <a:r>
                        <a:rPr lang="en-US" dirty="0">
                          <a:solidFill>
                            <a:schemeClr val="tx2"/>
                          </a:solidFill>
                        </a:rPr>
                        <a:t>X := X + M</a:t>
                      </a:r>
                      <a:endParaRPr lang="en-US" dirty="0"/>
                    </a:p>
                  </a:txBody>
                  <a:tcPr/>
                </a:tc>
                <a:extLst>
                  <a:ext uri="{0D108BD9-81ED-4DB2-BD59-A6C34878D82A}">
                    <a16:rowId xmlns:a16="http://schemas.microsoft.com/office/drawing/2014/main" val="10004"/>
                  </a:ext>
                </a:extLst>
              </a:tr>
              <a:tr h="370840">
                <a:tc>
                  <a:txBody>
                    <a:bodyPr/>
                    <a:lstStyle/>
                    <a:p>
                      <a:r>
                        <a:rPr lang="en-US" dirty="0"/>
                        <a:t>t4</a:t>
                      </a:r>
                    </a:p>
                  </a:txBody>
                  <a:tcPr/>
                </a:tc>
                <a:tc>
                  <a:txBody>
                    <a:bodyPr/>
                    <a:lstStyle/>
                    <a:p>
                      <a:r>
                        <a:rPr lang="en-GB" sz="1800" dirty="0">
                          <a:solidFill>
                            <a:srgbClr val="C00000"/>
                          </a:solidFill>
                        </a:rPr>
                        <a:t>X := X + N</a:t>
                      </a:r>
                      <a:endParaRPr lang="en-US" dirty="0">
                        <a:solidFill>
                          <a:srgbClr val="C00000"/>
                        </a:solidFill>
                      </a:endParaRPr>
                    </a:p>
                  </a:txBody>
                  <a:tcPr/>
                </a:tc>
                <a:tc>
                  <a:txBody>
                    <a:bodyPr/>
                    <a:lstStyle/>
                    <a:p>
                      <a:endParaRPr lang="en-US" dirty="0"/>
                    </a:p>
                  </a:txBody>
                  <a:tcPr/>
                </a:tc>
                <a:extLst>
                  <a:ext uri="{0D108BD9-81ED-4DB2-BD59-A6C34878D82A}">
                    <a16:rowId xmlns:a16="http://schemas.microsoft.com/office/drawing/2014/main" val="10005"/>
                  </a:ext>
                </a:extLst>
              </a:tr>
              <a:tr h="370840">
                <a:tc>
                  <a:txBody>
                    <a:bodyPr/>
                    <a:lstStyle/>
                    <a:p>
                      <a:r>
                        <a:rPr lang="en-US" dirty="0"/>
                        <a:t>t5</a:t>
                      </a:r>
                    </a:p>
                  </a:txBody>
                  <a:tcPr/>
                </a:tc>
                <a:tc>
                  <a:txBody>
                    <a:bodyPr/>
                    <a:lstStyle/>
                    <a:p>
                      <a:r>
                        <a:rPr lang="en-GB" sz="1800" dirty="0">
                          <a:solidFill>
                            <a:srgbClr val="C00000"/>
                          </a:solidFill>
                        </a:rPr>
                        <a:t>write(X)</a:t>
                      </a:r>
                      <a:endParaRPr lang="en-US" dirty="0">
                        <a:solidFill>
                          <a:srgbClr val="C00000"/>
                        </a:solidFill>
                      </a:endParaRPr>
                    </a:p>
                  </a:txBody>
                  <a:tcPr/>
                </a:tc>
                <a:tc>
                  <a:txBody>
                    <a:bodyPr/>
                    <a:lstStyle/>
                    <a:p>
                      <a:endParaRPr lang="en-US" dirty="0"/>
                    </a:p>
                  </a:txBody>
                  <a:tcPr/>
                </a:tc>
                <a:extLst>
                  <a:ext uri="{0D108BD9-81ED-4DB2-BD59-A6C34878D82A}">
                    <a16:rowId xmlns:a16="http://schemas.microsoft.com/office/drawing/2014/main" val="10006"/>
                  </a:ext>
                </a:extLst>
              </a:tr>
              <a:tr h="370840">
                <a:tc>
                  <a:txBody>
                    <a:bodyPr/>
                    <a:lstStyle/>
                    <a:p>
                      <a:r>
                        <a:rPr lang="en-US" dirty="0"/>
                        <a:t>t6</a:t>
                      </a:r>
                    </a:p>
                  </a:txBody>
                  <a:tcPr/>
                </a:tc>
                <a:tc>
                  <a:txBody>
                    <a:bodyPr/>
                    <a:lstStyle/>
                    <a:p>
                      <a:r>
                        <a:rPr lang="en-US" dirty="0">
                          <a:solidFill>
                            <a:srgbClr val="C00000"/>
                          </a:solidFill>
                        </a:rPr>
                        <a:t>read(Y)</a:t>
                      </a:r>
                    </a:p>
                  </a:txBody>
                  <a:tcPr/>
                </a:tc>
                <a:tc>
                  <a:txBody>
                    <a:bodyPr/>
                    <a:lstStyle/>
                    <a:p>
                      <a:endParaRPr lang="en-US" dirty="0"/>
                    </a:p>
                  </a:txBody>
                  <a:tcPr/>
                </a:tc>
                <a:extLst>
                  <a:ext uri="{0D108BD9-81ED-4DB2-BD59-A6C34878D82A}">
                    <a16:rowId xmlns:a16="http://schemas.microsoft.com/office/drawing/2014/main" val="10007"/>
                  </a:ext>
                </a:extLst>
              </a:tr>
              <a:tr h="370840">
                <a:tc>
                  <a:txBody>
                    <a:bodyPr/>
                    <a:lstStyle/>
                    <a:p>
                      <a:r>
                        <a:rPr lang="en-US" dirty="0"/>
                        <a:t>t7</a:t>
                      </a:r>
                    </a:p>
                  </a:txBody>
                  <a:tcPr/>
                </a:tc>
                <a:tc>
                  <a:txBody>
                    <a:bodyPr/>
                    <a:lstStyle/>
                    <a:p>
                      <a:endParaRPr lang="en-US" dirty="0"/>
                    </a:p>
                  </a:txBody>
                  <a:tcPr/>
                </a:tc>
                <a:tc>
                  <a:txBody>
                    <a:bodyPr/>
                    <a:lstStyle/>
                    <a:p>
                      <a:r>
                        <a:rPr lang="en-US" dirty="0">
                          <a:solidFill>
                            <a:schemeClr val="tx2"/>
                          </a:solidFill>
                        </a:rPr>
                        <a:t>write(X)</a:t>
                      </a:r>
                      <a:endParaRPr lang="en-US" dirty="0"/>
                    </a:p>
                  </a:txBody>
                  <a:tcPr/>
                </a:tc>
                <a:extLst>
                  <a:ext uri="{0D108BD9-81ED-4DB2-BD59-A6C34878D82A}">
                    <a16:rowId xmlns:a16="http://schemas.microsoft.com/office/drawing/2014/main" val="10008"/>
                  </a:ext>
                </a:extLst>
              </a:tr>
              <a:tr h="370840">
                <a:tc>
                  <a:txBody>
                    <a:bodyPr/>
                    <a:lstStyle/>
                    <a:p>
                      <a:r>
                        <a:rPr lang="en-US" dirty="0"/>
                        <a:t>t8</a:t>
                      </a:r>
                    </a:p>
                  </a:txBody>
                  <a:tcPr/>
                </a:tc>
                <a:tc>
                  <a:txBody>
                    <a:bodyPr/>
                    <a:lstStyle/>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rPr>
                        <a:t>commit</a:t>
                      </a:r>
                    </a:p>
                  </a:txBody>
                  <a:tcPr/>
                </a:tc>
                <a:extLst>
                  <a:ext uri="{0D108BD9-81ED-4DB2-BD59-A6C34878D82A}">
                    <a16:rowId xmlns:a16="http://schemas.microsoft.com/office/drawing/2014/main" val="10009"/>
                  </a:ext>
                </a:extLst>
              </a:tr>
              <a:tr h="370840">
                <a:tc>
                  <a:txBody>
                    <a:bodyPr/>
                    <a:lstStyle/>
                    <a:p>
                      <a:r>
                        <a:rPr lang="en-US" dirty="0"/>
                        <a:t>t9</a:t>
                      </a:r>
                    </a:p>
                  </a:txBody>
                  <a:tcPr/>
                </a:tc>
                <a:tc>
                  <a:txBody>
                    <a:bodyPr/>
                    <a:lstStyle/>
                    <a:p>
                      <a:r>
                        <a:rPr lang="en-GB" sz="1800" dirty="0">
                          <a:solidFill>
                            <a:srgbClr val="C00000"/>
                          </a:solidFill>
                        </a:rPr>
                        <a:t>Y := Y +</a:t>
                      </a:r>
                      <a:r>
                        <a:rPr lang="en-GB" sz="1800" baseline="0" dirty="0">
                          <a:solidFill>
                            <a:srgbClr val="C00000"/>
                          </a:solidFill>
                        </a:rPr>
                        <a:t> N</a:t>
                      </a:r>
                      <a:endParaRPr lang="en-US" dirty="0">
                        <a:solidFill>
                          <a:srgbClr val="C00000"/>
                        </a:solidFill>
                      </a:endParaRPr>
                    </a:p>
                  </a:txBody>
                  <a:tcPr/>
                </a:tc>
                <a:tc>
                  <a:txBody>
                    <a:bodyPr/>
                    <a:lstStyle/>
                    <a:p>
                      <a:endParaRPr lang="en-US" dirty="0">
                        <a:solidFill>
                          <a:schemeClr val="tx2"/>
                        </a:solidFill>
                      </a:endParaRPr>
                    </a:p>
                  </a:txBody>
                  <a:tcPr/>
                </a:tc>
                <a:extLst>
                  <a:ext uri="{0D108BD9-81ED-4DB2-BD59-A6C34878D82A}">
                    <a16:rowId xmlns:a16="http://schemas.microsoft.com/office/drawing/2014/main" val="10010"/>
                  </a:ext>
                </a:extLst>
              </a:tr>
              <a:tr h="370840">
                <a:tc>
                  <a:txBody>
                    <a:bodyPr/>
                    <a:lstStyle/>
                    <a:p>
                      <a:r>
                        <a:rPr lang="en-US" dirty="0"/>
                        <a:t>t10</a:t>
                      </a:r>
                    </a:p>
                  </a:txBody>
                  <a:tcPr/>
                </a:tc>
                <a:tc>
                  <a:txBody>
                    <a:bodyPr/>
                    <a:lstStyle/>
                    <a:p>
                      <a:r>
                        <a:rPr lang="en-US" dirty="0">
                          <a:solidFill>
                            <a:srgbClr val="C00000"/>
                          </a:solidFill>
                        </a:rPr>
                        <a:t>write(Y)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2"/>
                        </a:solidFill>
                      </a:endParaRPr>
                    </a:p>
                  </a:txBody>
                  <a:tcPr/>
                </a:tc>
                <a:extLst>
                  <a:ext uri="{0D108BD9-81ED-4DB2-BD59-A6C34878D82A}">
                    <a16:rowId xmlns:a16="http://schemas.microsoft.com/office/drawing/2014/main" val="10011"/>
                  </a:ext>
                </a:extLst>
              </a:tr>
              <a:tr h="370840">
                <a:tc>
                  <a:txBody>
                    <a:bodyPr/>
                    <a:lstStyle/>
                    <a:p>
                      <a:r>
                        <a:rPr lang="en-US" dirty="0"/>
                        <a:t>t11</a:t>
                      </a:r>
                    </a:p>
                  </a:txBody>
                  <a:tcPr/>
                </a:tc>
                <a:tc>
                  <a:txBody>
                    <a:bodyPr/>
                    <a:lstStyle/>
                    <a:p>
                      <a:r>
                        <a:rPr lang="en-US" dirty="0">
                          <a:solidFill>
                            <a:srgbClr val="C00000"/>
                          </a:solidFill>
                        </a:rPr>
                        <a:t>commit</a:t>
                      </a:r>
                    </a:p>
                  </a:txBody>
                  <a:tcPr/>
                </a:tc>
                <a:tc>
                  <a:txBody>
                    <a:bodyPr/>
                    <a:lstStyle/>
                    <a:p>
                      <a:endParaRPr lang="en-US" dirty="0">
                        <a:solidFill>
                          <a:schemeClr val="tx2"/>
                        </a:solidFill>
                      </a:endParaRPr>
                    </a:p>
                  </a:txBody>
                  <a:tcPr/>
                </a:tc>
                <a:extLst>
                  <a:ext uri="{0D108BD9-81ED-4DB2-BD59-A6C34878D82A}">
                    <a16:rowId xmlns:a16="http://schemas.microsoft.com/office/drawing/2014/main" val="10012"/>
                  </a:ext>
                </a:extLst>
              </a:tr>
            </a:tbl>
          </a:graphicData>
        </a:graphic>
      </p:graphicFrame>
      <p:grpSp>
        <p:nvGrpSpPr>
          <p:cNvPr id="45" name="Group 44"/>
          <p:cNvGrpSpPr/>
          <p:nvPr/>
        </p:nvGrpSpPr>
        <p:grpSpPr>
          <a:xfrm>
            <a:off x="6600056" y="1697358"/>
            <a:ext cx="3538560" cy="4467946"/>
            <a:chOff x="5076056" y="1697358"/>
            <a:chExt cx="3538560" cy="4467946"/>
          </a:xfrm>
        </p:grpSpPr>
        <p:sp>
          <p:nvSpPr>
            <p:cNvPr id="6" name="Can 5"/>
            <p:cNvSpPr/>
            <p:nvPr/>
          </p:nvSpPr>
          <p:spPr>
            <a:xfrm>
              <a:off x="5076056" y="4941168"/>
              <a:ext cx="1656184" cy="1224136"/>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5616116" y="5364309"/>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10" name="Rectangle 9"/>
            <p:cNvSpPr/>
            <p:nvPr/>
          </p:nvSpPr>
          <p:spPr>
            <a:xfrm>
              <a:off x="5616116" y="5733256"/>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a:t>
              </a:r>
            </a:p>
          </p:txBody>
        </p:sp>
        <p:sp>
          <p:nvSpPr>
            <p:cNvPr id="11" name="Rectangle 10"/>
            <p:cNvSpPr/>
            <p:nvPr/>
          </p:nvSpPr>
          <p:spPr>
            <a:xfrm>
              <a:off x="5292080" y="536430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12" name="Rectangle 11"/>
            <p:cNvSpPr/>
            <p:nvPr/>
          </p:nvSpPr>
          <p:spPr>
            <a:xfrm>
              <a:off x="5292080" y="572434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bg1"/>
                  </a:solidFill>
                </a:rPr>
                <a:t>Y</a:t>
              </a:r>
              <a:endParaRPr lang="en-US" dirty="0">
                <a:solidFill>
                  <a:schemeClr val="bg1"/>
                </a:solidFill>
              </a:endParaRPr>
            </a:p>
          </p:txBody>
        </p:sp>
        <p:sp>
          <p:nvSpPr>
            <p:cNvPr id="4" name="Rectangle 3"/>
            <p:cNvSpPr/>
            <p:nvPr/>
          </p:nvSpPr>
          <p:spPr>
            <a:xfrm>
              <a:off x="5364088" y="3529111"/>
              <a:ext cx="108012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5292080" y="2081439"/>
              <a:ext cx="1224357"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5631256" y="2216437"/>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19" name="Rectangle 18"/>
            <p:cNvSpPr/>
            <p:nvPr/>
          </p:nvSpPr>
          <p:spPr>
            <a:xfrm>
              <a:off x="5631256" y="2585384"/>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0" name="Rectangle 19"/>
            <p:cNvSpPr/>
            <p:nvPr/>
          </p:nvSpPr>
          <p:spPr>
            <a:xfrm>
              <a:off x="5307220" y="2216437"/>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21" name="Rectangle 20"/>
            <p:cNvSpPr/>
            <p:nvPr/>
          </p:nvSpPr>
          <p:spPr>
            <a:xfrm>
              <a:off x="5307220" y="2576477"/>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bg1"/>
                  </a:solidFill>
                </a:rPr>
                <a:t>Y</a:t>
              </a:r>
              <a:endParaRPr lang="en-US" dirty="0">
                <a:solidFill>
                  <a:schemeClr val="bg1"/>
                </a:solidFill>
              </a:endParaRPr>
            </a:p>
          </p:txBody>
        </p:sp>
        <p:sp>
          <p:nvSpPr>
            <p:cNvPr id="22" name="Rectangle 21"/>
            <p:cNvSpPr/>
            <p:nvPr/>
          </p:nvSpPr>
          <p:spPr>
            <a:xfrm>
              <a:off x="7308304" y="2082552"/>
              <a:ext cx="1224136"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7647479" y="2217550"/>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25" name="Rectangle 24"/>
            <p:cNvSpPr/>
            <p:nvPr/>
          </p:nvSpPr>
          <p:spPr>
            <a:xfrm>
              <a:off x="7323443" y="2217550"/>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5" name="TextBox 4"/>
            <p:cNvSpPr txBox="1"/>
            <p:nvPr/>
          </p:nvSpPr>
          <p:spPr>
            <a:xfrm>
              <a:off x="6479671" y="3786901"/>
              <a:ext cx="846450" cy="369332"/>
            </a:xfrm>
            <a:prstGeom prst="rect">
              <a:avLst/>
            </a:prstGeom>
            <a:noFill/>
          </p:spPr>
          <p:txBody>
            <a:bodyPr wrap="none" rtlCol="0">
              <a:spAutoFit/>
            </a:bodyPr>
            <a:lstStyle/>
            <a:p>
              <a:r>
                <a:rPr lang="en-US" dirty="0">
                  <a:solidFill>
                    <a:schemeClr val="tx2"/>
                  </a:solidFill>
                </a:rPr>
                <a:t>Buffers</a:t>
              </a:r>
            </a:p>
          </p:txBody>
        </p:sp>
        <p:sp>
          <p:nvSpPr>
            <p:cNvPr id="27" name="TextBox 26"/>
            <p:cNvSpPr txBox="1"/>
            <p:nvPr/>
          </p:nvSpPr>
          <p:spPr>
            <a:xfrm>
              <a:off x="6768244" y="5368570"/>
              <a:ext cx="1058303" cy="369332"/>
            </a:xfrm>
            <a:prstGeom prst="rect">
              <a:avLst/>
            </a:prstGeom>
            <a:noFill/>
          </p:spPr>
          <p:txBody>
            <a:bodyPr wrap="none" rtlCol="0">
              <a:spAutoFit/>
            </a:bodyPr>
            <a:lstStyle/>
            <a:p>
              <a:r>
                <a:rPr lang="en-US">
                  <a:solidFill>
                    <a:schemeClr val="tx2"/>
                  </a:solidFill>
                </a:rPr>
                <a:t>Database</a:t>
              </a:r>
              <a:endParaRPr lang="en-US" dirty="0">
                <a:solidFill>
                  <a:schemeClr val="tx2"/>
                </a:solidFill>
              </a:endParaRPr>
            </a:p>
          </p:txBody>
        </p:sp>
        <p:sp>
          <p:nvSpPr>
            <p:cNvPr id="28" name="TextBox 27"/>
            <p:cNvSpPr txBox="1"/>
            <p:nvPr/>
          </p:nvSpPr>
          <p:spPr>
            <a:xfrm>
              <a:off x="5185021" y="1709488"/>
              <a:ext cx="1432123" cy="369332"/>
            </a:xfrm>
            <a:prstGeom prst="rect">
              <a:avLst/>
            </a:prstGeom>
            <a:noFill/>
          </p:spPr>
          <p:txBody>
            <a:bodyPr wrap="none" rtlCol="0">
              <a:spAutoFit/>
            </a:bodyPr>
            <a:lstStyle/>
            <a:p>
              <a:r>
                <a:rPr lang="en-US">
                  <a:solidFill>
                    <a:schemeClr val="tx2"/>
                  </a:solidFill>
                </a:rPr>
                <a:t>Transaction 1</a:t>
              </a:r>
              <a:endParaRPr lang="en-US" dirty="0">
                <a:solidFill>
                  <a:schemeClr val="tx2"/>
                </a:solidFill>
              </a:endParaRPr>
            </a:p>
          </p:txBody>
        </p:sp>
        <p:sp>
          <p:nvSpPr>
            <p:cNvPr id="29" name="TextBox 28"/>
            <p:cNvSpPr txBox="1"/>
            <p:nvPr/>
          </p:nvSpPr>
          <p:spPr>
            <a:xfrm>
              <a:off x="7182493" y="1697358"/>
              <a:ext cx="1432123" cy="369332"/>
            </a:xfrm>
            <a:prstGeom prst="rect">
              <a:avLst/>
            </a:prstGeom>
            <a:noFill/>
          </p:spPr>
          <p:txBody>
            <a:bodyPr wrap="none" rtlCol="0">
              <a:spAutoFit/>
            </a:bodyPr>
            <a:lstStyle/>
            <a:p>
              <a:r>
                <a:rPr lang="en-US" dirty="0">
                  <a:solidFill>
                    <a:schemeClr val="tx2"/>
                  </a:solidFill>
                </a:rPr>
                <a:t>Transaction 2</a:t>
              </a:r>
            </a:p>
          </p:txBody>
        </p:sp>
        <p:cxnSp>
          <p:nvCxnSpPr>
            <p:cNvPr id="30" name="Straight Arrow Connector 29"/>
            <p:cNvCxnSpPr>
              <a:stCxn id="4" idx="2"/>
              <a:endCxn id="6" idx="1"/>
            </p:cNvCxnSpPr>
            <p:nvPr/>
          </p:nvCxnSpPr>
          <p:spPr>
            <a:xfrm>
              <a:off x="5904148" y="4443511"/>
              <a:ext cx="0" cy="49765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17" idx="2"/>
              <a:endCxn id="4" idx="0"/>
            </p:cNvCxnSpPr>
            <p:nvPr/>
          </p:nvCxnSpPr>
          <p:spPr>
            <a:xfrm flipH="1">
              <a:off x="5904148" y="2995839"/>
              <a:ext cx="111" cy="53327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H="1">
              <a:off x="6479671" y="2995839"/>
              <a:ext cx="828634" cy="53327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grpSp>
      <p:sp>
        <p:nvSpPr>
          <p:cNvPr id="52" name="Rectangle 51"/>
          <p:cNvSpPr/>
          <p:nvPr/>
        </p:nvSpPr>
        <p:spPr>
          <a:xfrm>
            <a:off x="9163191" y="2213483"/>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1+M</a:t>
            </a:r>
          </a:p>
        </p:txBody>
      </p:sp>
      <p:sp>
        <p:nvSpPr>
          <p:cNvPr id="46" name="Rectangle 45"/>
          <p:cNvSpPr/>
          <p:nvPr/>
        </p:nvSpPr>
        <p:spPr>
          <a:xfrm>
            <a:off x="6903227" y="366410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47" name="Rectangle 46"/>
          <p:cNvSpPr/>
          <p:nvPr/>
        </p:nvSpPr>
        <p:spPr>
          <a:xfrm>
            <a:off x="7227263" y="3676451"/>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53" name="Rectangle 52"/>
          <p:cNvSpPr/>
          <p:nvPr/>
        </p:nvSpPr>
        <p:spPr>
          <a:xfrm>
            <a:off x="1775520" y="4588789"/>
            <a:ext cx="4248472" cy="360040"/>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 name="Rectangle 30"/>
          <p:cNvSpPr/>
          <p:nvPr/>
        </p:nvSpPr>
        <p:spPr>
          <a:xfrm>
            <a:off x="7155256" y="2213929"/>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1+N</a:t>
            </a:r>
          </a:p>
        </p:txBody>
      </p:sp>
      <p:sp>
        <p:nvSpPr>
          <p:cNvPr id="35" name="Rectangle 34"/>
          <p:cNvSpPr/>
          <p:nvPr/>
        </p:nvSpPr>
        <p:spPr>
          <a:xfrm>
            <a:off x="7223525" y="3673016"/>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1+N</a:t>
            </a:r>
            <a:endParaRPr lang="en-US" dirty="0"/>
          </a:p>
        </p:txBody>
      </p:sp>
      <p:sp>
        <p:nvSpPr>
          <p:cNvPr id="40" name="Rectangle 39"/>
          <p:cNvSpPr/>
          <p:nvPr/>
        </p:nvSpPr>
        <p:spPr>
          <a:xfrm>
            <a:off x="7219787" y="3673280"/>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1+M</a:t>
            </a:r>
          </a:p>
        </p:txBody>
      </p:sp>
      <p:sp>
        <p:nvSpPr>
          <p:cNvPr id="34" name="Rectangle 33"/>
          <p:cNvSpPr/>
          <p:nvPr/>
        </p:nvSpPr>
        <p:spPr>
          <a:xfrm>
            <a:off x="7227263" y="4033056"/>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a:t>
            </a:r>
          </a:p>
        </p:txBody>
      </p:sp>
      <p:sp>
        <p:nvSpPr>
          <p:cNvPr id="36" name="Rectangle 35"/>
          <p:cNvSpPr/>
          <p:nvPr/>
        </p:nvSpPr>
        <p:spPr>
          <a:xfrm>
            <a:off x="6903227" y="402414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Y</a:t>
            </a:r>
          </a:p>
        </p:txBody>
      </p:sp>
      <p:sp>
        <p:nvSpPr>
          <p:cNvPr id="42" name="Rectangle 41"/>
          <p:cNvSpPr/>
          <p:nvPr/>
        </p:nvSpPr>
        <p:spPr>
          <a:xfrm>
            <a:off x="7155256" y="2580232"/>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a:t>
            </a:r>
          </a:p>
        </p:txBody>
      </p:sp>
      <p:cxnSp>
        <p:nvCxnSpPr>
          <p:cNvPr id="41" name="Curved Connector 40"/>
          <p:cNvCxnSpPr>
            <a:stCxn id="23" idx="2"/>
            <a:endCxn id="40" idx="0"/>
          </p:cNvCxnSpPr>
          <p:nvPr/>
        </p:nvCxnSpPr>
        <p:spPr>
          <a:xfrm rot="5400000">
            <a:off x="7917818" y="2113585"/>
            <a:ext cx="1167698" cy="1951692"/>
          </a:xfrm>
          <a:prstGeom prst="curved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643365194"/>
      </p:ext>
    </p:extLst>
  </p:cSld>
  <p:clrMapOvr>
    <a:masterClrMapping/>
  </p:clrMapOvr>
  <mc:AlternateContent xmlns:mc="http://schemas.openxmlformats.org/markup-compatibility/2006" xmlns:p14="http://schemas.microsoft.com/office/powerpoint/2010/main">
    <mc:Choice Requires="p14">
      <p:transition spd="slow" p14:dur="2000" advTm="14429"/>
    </mc:Choice>
    <mc:Fallback xmlns="">
      <p:transition spd="slow" advTm="1442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up)">
                                      <p:cBhvr>
                                        <p:cTn id="7" dur="500"/>
                                        <p:tgtEl>
                                          <p:spTgt spid="41"/>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par>
                          <p:cTn id="11" fill="hold">
                            <p:stCondLst>
                              <p:cond delay="500"/>
                            </p:stCondLst>
                            <p:childTnLst>
                              <p:par>
                                <p:cTn id="12" presetID="22" presetClass="exit" presetSubtype="1" fill="hold" nodeType="afterEffect">
                                  <p:stCondLst>
                                    <p:cond delay="0"/>
                                  </p:stCondLst>
                                  <p:childTnLst>
                                    <p:animEffect transition="out" filter="wipe(up)">
                                      <p:cBhvr>
                                        <p:cTn id="13" dur="500"/>
                                        <p:tgtEl>
                                          <p:spTgt spid="41"/>
                                        </p:tgtEl>
                                      </p:cBhvr>
                                    </p:animEffect>
                                    <p:set>
                                      <p:cBhvr>
                                        <p:cTn id="14" dur="1" fill="hold">
                                          <p:stCondLst>
                                            <p:cond delay="499"/>
                                          </p:stCondLst>
                                        </p:cTn>
                                        <p:tgtEl>
                                          <p:spTgt spid="4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Concurrent Schedules Do Not Guarantee Consistency or Isolation</a:t>
            </a:r>
            <a:endParaRPr lang="en-GB" sz="3100" dirty="0"/>
          </a:p>
        </p:txBody>
      </p:sp>
      <p:sp>
        <p:nvSpPr>
          <p:cNvPr id="7" name="Slide Number Placeholder 6"/>
          <p:cNvSpPr>
            <a:spLocks noGrp="1"/>
          </p:cNvSpPr>
          <p:nvPr>
            <p:ph type="sldNum" sz="quarter" idx="12"/>
          </p:nvPr>
        </p:nvSpPr>
        <p:spPr/>
        <p:txBody>
          <a:bodyPr/>
          <a:lstStyle/>
          <a:p>
            <a:fld id="{26F23E55-D42A-41AF-9F6E-8A8A2E703B49}" type="slidenum">
              <a:rPr lang="en-GB" smtClean="0"/>
              <a:pPr/>
              <a:t>19</a:t>
            </a:fld>
            <a:endParaRPr lang="en-GB"/>
          </a:p>
        </p:txBody>
      </p:sp>
      <p:graphicFrame>
        <p:nvGraphicFramePr>
          <p:cNvPr id="9" name="Table 8"/>
          <p:cNvGraphicFramePr>
            <a:graphicFrameLocks noGrp="1"/>
          </p:cNvGraphicFramePr>
          <p:nvPr/>
        </p:nvGraphicFramePr>
        <p:xfrm>
          <a:off x="1919536" y="1632416"/>
          <a:ext cx="3960440" cy="4820920"/>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1620180">
                  <a:extLst>
                    <a:ext uri="{9D8B030D-6E8A-4147-A177-3AD203B41FA5}">
                      <a16:colId xmlns:a16="http://schemas.microsoft.com/office/drawing/2014/main" val="20001"/>
                    </a:ext>
                  </a:extLst>
                </a:gridCol>
                <a:gridCol w="1620180">
                  <a:extLst>
                    <a:ext uri="{9D8B030D-6E8A-4147-A177-3AD203B41FA5}">
                      <a16:colId xmlns:a16="http://schemas.microsoft.com/office/drawing/2014/main" val="20002"/>
                    </a:ext>
                  </a:extLst>
                </a:gridCol>
              </a:tblGrid>
              <a:tr h="370840">
                <a:tc>
                  <a:txBody>
                    <a:bodyPr/>
                    <a:lstStyle/>
                    <a:p>
                      <a:r>
                        <a:rPr lang="en-US" dirty="0"/>
                        <a:t>Time</a:t>
                      </a:r>
                    </a:p>
                  </a:txBody>
                  <a:tcPr/>
                </a:tc>
                <a:tc gridSpan="2">
                  <a:txBody>
                    <a:bodyPr/>
                    <a:lstStyle/>
                    <a:p>
                      <a:r>
                        <a:rPr lang="en-US" sz="1800" b="1" baseline="0" dirty="0"/>
                        <a:t>Schedule</a:t>
                      </a:r>
                      <a:endParaRPr lang="en-US" sz="1600" b="1" baseline="-25000"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r>
                        <a:rPr lang="en-US" dirty="0"/>
                        <a:t>t0</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r>
                        <a:rPr lang="en-US" dirty="0"/>
                        <a:t>t1</a:t>
                      </a:r>
                    </a:p>
                  </a:txBody>
                  <a:tcPr/>
                </a:tc>
                <a:tc>
                  <a:txBody>
                    <a:bodyPr/>
                    <a:lstStyle/>
                    <a:p>
                      <a:r>
                        <a:rPr lang="en-US" dirty="0">
                          <a:solidFill>
                            <a:srgbClr val="C00000"/>
                          </a:solidFill>
                        </a:rPr>
                        <a:t>read(X)</a:t>
                      </a:r>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t2</a:t>
                      </a:r>
                    </a:p>
                  </a:txBody>
                  <a:tcPr/>
                </a:tc>
                <a:tc>
                  <a:txBody>
                    <a:bodyPr/>
                    <a:lstStyle/>
                    <a:p>
                      <a:endParaRPr lang="en-US"/>
                    </a:p>
                  </a:txBody>
                  <a:tcPr/>
                </a:tc>
                <a:tc>
                  <a:txBody>
                    <a:bodyPr/>
                    <a:lstStyle/>
                    <a:p>
                      <a:r>
                        <a:rPr lang="en-US" dirty="0">
                          <a:solidFill>
                            <a:schemeClr val="tx2"/>
                          </a:solidFill>
                        </a:rPr>
                        <a:t>read(X)</a:t>
                      </a:r>
                      <a:endParaRPr lang="en-US" dirty="0"/>
                    </a:p>
                  </a:txBody>
                  <a:tcPr/>
                </a:tc>
                <a:extLst>
                  <a:ext uri="{0D108BD9-81ED-4DB2-BD59-A6C34878D82A}">
                    <a16:rowId xmlns:a16="http://schemas.microsoft.com/office/drawing/2014/main" val="10003"/>
                  </a:ext>
                </a:extLst>
              </a:tr>
              <a:tr h="370840">
                <a:tc>
                  <a:txBody>
                    <a:bodyPr/>
                    <a:lstStyle/>
                    <a:p>
                      <a:r>
                        <a:rPr lang="en-US" dirty="0"/>
                        <a:t>t3</a:t>
                      </a:r>
                    </a:p>
                  </a:txBody>
                  <a:tcPr/>
                </a:tc>
                <a:tc>
                  <a:txBody>
                    <a:bodyPr/>
                    <a:lstStyle/>
                    <a:p>
                      <a:endParaRPr lang="en-US" dirty="0"/>
                    </a:p>
                  </a:txBody>
                  <a:tcPr/>
                </a:tc>
                <a:tc>
                  <a:txBody>
                    <a:bodyPr/>
                    <a:lstStyle/>
                    <a:p>
                      <a:r>
                        <a:rPr lang="en-US" dirty="0">
                          <a:solidFill>
                            <a:schemeClr val="tx2"/>
                          </a:solidFill>
                        </a:rPr>
                        <a:t>X := X + M</a:t>
                      </a:r>
                      <a:endParaRPr lang="en-US" dirty="0"/>
                    </a:p>
                  </a:txBody>
                  <a:tcPr/>
                </a:tc>
                <a:extLst>
                  <a:ext uri="{0D108BD9-81ED-4DB2-BD59-A6C34878D82A}">
                    <a16:rowId xmlns:a16="http://schemas.microsoft.com/office/drawing/2014/main" val="10004"/>
                  </a:ext>
                </a:extLst>
              </a:tr>
              <a:tr h="370840">
                <a:tc>
                  <a:txBody>
                    <a:bodyPr/>
                    <a:lstStyle/>
                    <a:p>
                      <a:r>
                        <a:rPr lang="en-US" dirty="0"/>
                        <a:t>t4</a:t>
                      </a:r>
                    </a:p>
                  </a:txBody>
                  <a:tcPr/>
                </a:tc>
                <a:tc>
                  <a:txBody>
                    <a:bodyPr/>
                    <a:lstStyle/>
                    <a:p>
                      <a:r>
                        <a:rPr lang="en-GB" sz="1800" dirty="0">
                          <a:solidFill>
                            <a:srgbClr val="C00000"/>
                          </a:solidFill>
                        </a:rPr>
                        <a:t>X := X + N</a:t>
                      </a:r>
                      <a:endParaRPr lang="en-US" dirty="0">
                        <a:solidFill>
                          <a:srgbClr val="C00000"/>
                        </a:solidFill>
                      </a:endParaRPr>
                    </a:p>
                  </a:txBody>
                  <a:tcPr/>
                </a:tc>
                <a:tc>
                  <a:txBody>
                    <a:bodyPr/>
                    <a:lstStyle/>
                    <a:p>
                      <a:endParaRPr lang="en-US" dirty="0"/>
                    </a:p>
                  </a:txBody>
                  <a:tcPr/>
                </a:tc>
                <a:extLst>
                  <a:ext uri="{0D108BD9-81ED-4DB2-BD59-A6C34878D82A}">
                    <a16:rowId xmlns:a16="http://schemas.microsoft.com/office/drawing/2014/main" val="10005"/>
                  </a:ext>
                </a:extLst>
              </a:tr>
              <a:tr h="370840">
                <a:tc>
                  <a:txBody>
                    <a:bodyPr/>
                    <a:lstStyle/>
                    <a:p>
                      <a:r>
                        <a:rPr lang="en-US" dirty="0"/>
                        <a:t>t5</a:t>
                      </a:r>
                    </a:p>
                  </a:txBody>
                  <a:tcPr/>
                </a:tc>
                <a:tc>
                  <a:txBody>
                    <a:bodyPr/>
                    <a:lstStyle/>
                    <a:p>
                      <a:r>
                        <a:rPr lang="en-GB" sz="1800" dirty="0">
                          <a:solidFill>
                            <a:srgbClr val="C00000"/>
                          </a:solidFill>
                        </a:rPr>
                        <a:t>write(X)</a:t>
                      </a:r>
                      <a:endParaRPr lang="en-US" dirty="0">
                        <a:solidFill>
                          <a:srgbClr val="C00000"/>
                        </a:solidFill>
                      </a:endParaRPr>
                    </a:p>
                  </a:txBody>
                  <a:tcPr/>
                </a:tc>
                <a:tc>
                  <a:txBody>
                    <a:bodyPr/>
                    <a:lstStyle/>
                    <a:p>
                      <a:endParaRPr lang="en-US" dirty="0"/>
                    </a:p>
                  </a:txBody>
                  <a:tcPr/>
                </a:tc>
                <a:extLst>
                  <a:ext uri="{0D108BD9-81ED-4DB2-BD59-A6C34878D82A}">
                    <a16:rowId xmlns:a16="http://schemas.microsoft.com/office/drawing/2014/main" val="10006"/>
                  </a:ext>
                </a:extLst>
              </a:tr>
              <a:tr h="370840">
                <a:tc>
                  <a:txBody>
                    <a:bodyPr/>
                    <a:lstStyle/>
                    <a:p>
                      <a:r>
                        <a:rPr lang="en-US" dirty="0"/>
                        <a:t>t6</a:t>
                      </a:r>
                    </a:p>
                  </a:txBody>
                  <a:tcPr/>
                </a:tc>
                <a:tc>
                  <a:txBody>
                    <a:bodyPr/>
                    <a:lstStyle/>
                    <a:p>
                      <a:r>
                        <a:rPr lang="en-US" dirty="0">
                          <a:solidFill>
                            <a:srgbClr val="C00000"/>
                          </a:solidFill>
                        </a:rPr>
                        <a:t>read(Y)</a:t>
                      </a:r>
                    </a:p>
                  </a:txBody>
                  <a:tcPr/>
                </a:tc>
                <a:tc>
                  <a:txBody>
                    <a:bodyPr/>
                    <a:lstStyle/>
                    <a:p>
                      <a:endParaRPr lang="en-US" dirty="0"/>
                    </a:p>
                  </a:txBody>
                  <a:tcPr/>
                </a:tc>
                <a:extLst>
                  <a:ext uri="{0D108BD9-81ED-4DB2-BD59-A6C34878D82A}">
                    <a16:rowId xmlns:a16="http://schemas.microsoft.com/office/drawing/2014/main" val="10007"/>
                  </a:ext>
                </a:extLst>
              </a:tr>
              <a:tr h="370840">
                <a:tc>
                  <a:txBody>
                    <a:bodyPr/>
                    <a:lstStyle/>
                    <a:p>
                      <a:r>
                        <a:rPr lang="en-US" dirty="0"/>
                        <a:t>t7</a:t>
                      </a:r>
                    </a:p>
                  </a:txBody>
                  <a:tcPr/>
                </a:tc>
                <a:tc>
                  <a:txBody>
                    <a:bodyPr/>
                    <a:lstStyle/>
                    <a:p>
                      <a:endParaRPr lang="en-US" dirty="0"/>
                    </a:p>
                  </a:txBody>
                  <a:tcPr/>
                </a:tc>
                <a:tc>
                  <a:txBody>
                    <a:bodyPr/>
                    <a:lstStyle/>
                    <a:p>
                      <a:r>
                        <a:rPr lang="en-US" dirty="0">
                          <a:solidFill>
                            <a:schemeClr val="tx2"/>
                          </a:solidFill>
                        </a:rPr>
                        <a:t>write(X)</a:t>
                      </a:r>
                      <a:endParaRPr lang="en-US" dirty="0"/>
                    </a:p>
                  </a:txBody>
                  <a:tcPr/>
                </a:tc>
                <a:extLst>
                  <a:ext uri="{0D108BD9-81ED-4DB2-BD59-A6C34878D82A}">
                    <a16:rowId xmlns:a16="http://schemas.microsoft.com/office/drawing/2014/main" val="10008"/>
                  </a:ext>
                </a:extLst>
              </a:tr>
              <a:tr h="370840">
                <a:tc>
                  <a:txBody>
                    <a:bodyPr/>
                    <a:lstStyle/>
                    <a:p>
                      <a:r>
                        <a:rPr lang="en-US" dirty="0"/>
                        <a:t>t8</a:t>
                      </a:r>
                    </a:p>
                  </a:txBody>
                  <a:tcPr/>
                </a:tc>
                <a:tc>
                  <a:txBody>
                    <a:bodyPr/>
                    <a:lstStyle/>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rPr>
                        <a:t>commit</a:t>
                      </a:r>
                    </a:p>
                  </a:txBody>
                  <a:tcPr/>
                </a:tc>
                <a:extLst>
                  <a:ext uri="{0D108BD9-81ED-4DB2-BD59-A6C34878D82A}">
                    <a16:rowId xmlns:a16="http://schemas.microsoft.com/office/drawing/2014/main" val="10009"/>
                  </a:ext>
                </a:extLst>
              </a:tr>
              <a:tr h="370840">
                <a:tc>
                  <a:txBody>
                    <a:bodyPr/>
                    <a:lstStyle/>
                    <a:p>
                      <a:r>
                        <a:rPr lang="en-US" dirty="0"/>
                        <a:t>t9</a:t>
                      </a:r>
                    </a:p>
                  </a:txBody>
                  <a:tcPr/>
                </a:tc>
                <a:tc>
                  <a:txBody>
                    <a:bodyPr/>
                    <a:lstStyle/>
                    <a:p>
                      <a:r>
                        <a:rPr lang="en-GB" sz="1800" dirty="0">
                          <a:solidFill>
                            <a:srgbClr val="C00000"/>
                          </a:solidFill>
                        </a:rPr>
                        <a:t>Y := Y +</a:t>
                      </a:r>
                      <a:r>
                        <a:rPr lang="en-GB" sz="1800" baseline="0" dirty="0">
                          <a:solidFill>
                            <a:srgbClr val="C00000"/>
                          </a:solidFill>
                        </a:rPr>
                        <a:t> N</a:t>
                      </a:r>
                      <a:endParaRPr lang="en-US" dirty="0">
                        <a:solidFill>
                          <a:srgbClr val="C00000"/>
                        </a:solidFill>
                      </a:endParaRPr>
                    </a:p>
                  </a:txBody>
                  <a:tcPr/>
                </a:tc>
                <a:tc>
                  <a:txBody>
                    <a:bodyPr/>
                    <a:lstStyle/>
                    <a:p>
                      <a:endParaRPr lang="en-US" dirty="0">
                        <a:solidFill>
                          <a:schemeClr val="tx2"/>
                        </a:solidFill>
                      </a:endParaRPr>
                    </a:p>
                  </a:txBody>
                  <a:tcPr/>
                </a:tc>
                <a:extLst>
                  <a:ext uri="{0D108BD9-81ED-4DB2-BD59-A6C34878D82A}">
                    <a16:rowId xmlns:a16="http://schemas.microsoft.com/office/drawing/2014/main" val="10010"/>
                  </a:ext>
                </a:extLst>
              </a:tr>
              <a:tr h="370840">
                <a:tc>
                  <a:txBody>
                    <a:bodyPr/>
                    <a:lstStyle/>
                    <a:p>
                      <a:r>
                        <a:rPr lang="en-US" dirty="0"/>
                        <a:t>t10</a:t>
                      </a:r>
                    </a:p>
                  </a:txBody>
                  <a:tcPr/>
                </a:tc>
                <a:tc>
                  <a:txBody>
                    <a:bodyPr/>
                    <a:lstStyle/>
                    <a:p>
                      <a:r>
                        <a:rPr lang="en-US" dirty="0">
                          <a:solidFill>
                            <a:srgbClr val="C00000"/>
                          </a:solidFill>
                        </a:rPr>
                        <a:t>write(Y)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2"/>
                        </a:solidFill>
                      </a:endParaRPr>
                    </a:p>
                  </a:txBody>
                  <a:tcPr/>
                </a:tc>
                <a:extLst>
                  <a:ext uri="{0D108BD9-81ED-4DB2-BD59-A6C34878D82A}">
                    <a16:rowId xmlns:a16="http://schemas.microsoft.com/office/drawing/2014/main" val="10011"/>
                  </a:ext>
                </a:extLst>
              </a:tr>
              <a:tr h="370840">
                <a:tc>
                  <a:txBody>
                    <a:bodyPr/>
                    <a:lstStyle/>
                    <a:p>
                      <a:r>
                        <a:rPr lang="en-US" dirty="0"/>
                        <a:t>t11</a:t>
                      </a:r>
                    </a:p>
                  </a:txBody>
                  <a:tcPr/>
                </a:tc>
                <a:tc>
                  <a:txBody>
                    <a:bodyPr/>
                    <a:lstStyle/>
                    <a:p>
                      <a:r>
                        <a:rPr lang="en-US" dirty="0">
                          <a:solidFill>
                            <a:srgbClr val="C00000"/>
                          </a:solidFill>
                        </a:rPr>
                        <a:t>commit</a:t>
                      </a:r>
                    </a:p>
                  </a:txBody>
                  <a:tcPr/>
                </a:tc>
                <a:tc>
                  <a:txBody>
                    <a:bodyPr/>
                    <a:lstStyle/>
                    <a:p>
                      <a:endParaRPr lang="en-US" dirty="0">
                        <a:solidFill>
                          <a:schemeClr val="tx2"/>
                        </a:solidFill>
                      </a:endParaRPr>
                    </a:p>
                  </a:txBody>
                  <a:tcPr/>
                </a:tc>
                <a:extLst>
                  <a:ext uri="{0D108BD9-81ED-4DB2-BD59-A6C34878D82A}">
                    <a16:rowId xmlns:a16="http://schemas.microsoft.com/office/drawing/2014/main" val="10012"/>
                  </a:ext>
                </a:extLst>
              </a:tr>
            </a:tbl>
          </a:graphicData>
        </a:graphic>
      </p:graphicFrame>
      <p:grpSp>
        <p:nvGrpSpPr>
          <p:cNvPr id="45" name="Group 44"/>
          <p:cNvGrpSpPr/>
          <p:nvPr/>
        </p:nvGrpSpPr>
        <p:grpSpPr>
          <a:xfrm>
            <a:off x="6600056" y="1697358"/>
            <a:ext cx="3538560" cy="4467946"/>
            <a:chOff x="5076056" y="1697358"/>
            <a:chExt cx="3538560" cy="4467946"/>
          </a:xfrm>
        </p:grpSpPr>
        <p:sp>
          <p:nvSpPr>
            <p:cNvPr id="6" name="Can 5"/>
            <p:cNvSpPr/>
            <p:nvPr/>
          </p:nvSpPr>
          <p:spPr>
            <a:xfrm>
              <a:off x="5076056" y="4941168"/>
              <a:ext cx="1656184" cy="1224136"/>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5616116" y="5364309"/>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10" name="Rectangle 9"/>
            <p:cNvSpPr/>
            <p:nvPr/>
          </p:nvSpPr>
          <p:spPr>
            <a:xfrm>
              <a:off x="5616116" y="5733256"/>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a:t>
              </a:r>
            </a:p>
          </p:txBody>
        </p:sp>
        <p:sp>
          <p:nvSpPr>
            <p:cNvPr id="11" name="Rectangle 10"/>
            <p:cNvSpPr/>
            <p:nvPr/>
          </p:nvSpPr>
          <p:spPr>
            <a:xfrm>
              <a:off x="5292080" y="536430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12" name="Rectangle 11"/>
            <p:cNvSpPr/>
            <p:nvPr/>
          </p:nvSpPr>
          <p:spPr>
            <a:xfrm>
              <a:off x="5292080" y="572434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bg1"/>
                  </a:solidFill>
                </a:rPr>
                <a:t>Y</a:t>
              </a:r>
              <a:endParaRPr lang="en-US" dirty="0">
                <a:solidFill>
                  <a:schemeClr val="bg1"/>
                </a:solidFill>
              </a:endParaRPr>
            </a:p>
          </p:txBody>
        </p:sp>
        <p:sp>
          <p:nvSpPr>
            <p:cNvPr id="4" name="Rectangle 3"/>
            <p:cNvSpPr/>
            <p:nvPr/>
          </p:nvSpPr>
          <p:spPr>
            <a:xfrm>
              <a:off x="5364088" y="3529111"/>
              <a:ext cx="108012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5292080" y="2081439"/>
              <a:ext cx="1224357"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5631256" y="2216437"/>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19" name="Rectangle 18"/>
            <p:cNvSpPr/>
            <p:nvPr/>
          </p:nvSpPr>
          <p:spPr>
            <a:xfrm>
              <a:off x="5631256" y="2585384"/>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0" name="Rectangle 19"/>
            <p:cNvSpPr/>
            <p:nvPr/>
          </p:nvSpPr>
          <p:spPr>
            <a:xfrm>
              <a:off x="5307220" y="2216437"/>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21" name="Rectangle 20"/>
            <p:cNvSpPr/>
            <p:nvPr/>
          </p:nvSpPr>
          <p:spPr>
            <a:xfrm>
              <a:off x="5307220" y="2576477"/>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bg1"/>
                  </a:solidFill>
                </a:rPr>
                <a:t>Y</a:t>
              </a:r>
              <a:endParaRPr lang="en-US" dirty="0">
                <a:solidFill>
                  <a:schemeClr val="bg1"/>
                </a:solidFill>
              </a:endParaRPr>
            </a:p>
          </p:txBody>
        </p:sp>
        <p:sp>
          <p:nvSpPr>
            <p:cNvPr id="22" name="Rectangle 21"/>
            <p:cNvSpPr/>
            <p:nvPr/>
          </p:nvSpPr>
          <p:spPr>
            <a:xfrm>
              <a:off x="7308304" y="2082552"/>
              <a:ext cx="1224136"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7647479" y="2217550"/>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25" name="Rectangle 24"/>
            <p:cNvSpPr/>
            <p:nvPr/>
          </p:nvSpPr>
          <p:spPr>
            <a:xfrm>
              <a:off x="7323443" y="2217550"/>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5" name="TextBox 4"/>
            <p:cNvSpPr txBox="1"/>
            <p:nvPr/>
          </p:nvSpPr>
          <p:spPr>
            <a:xfrm>
              <a:off x="6479671" y="3786901"/>
              <a:ext cx="846450" cy="369332"/>
            </a:xfrm>
            <a:prstGeom prst="rect">
              <a:avLst/>
            </a:prstGeom>
            <a:noFill/>
          </p:spPr>
          <p:txBody>
            <a:bodyPr wrap="none" rtlCol="0">
              <a:spAutoFit/>
            </a:bodyPr>
            <a:lstStyle/>
            <a:p>
              <a:r>
                <a:rPr lang="en-US" dirty="0">
                  <a:solidFill>
                    <a:schemeClr val="tx2"/>
                  </a:solidFill>
                </a:rPr>
                <a:t>Buffers</a:t>
              </a:r>
            </a:p>
          </p:txBody>
        </p:sp>
        <p:sp>
          <p:nvSpPr>
            <p:cNvPr id="27" name="TextBox 26"/>
            <p:cNvSpPr txBox="1"/>
            <p:nvPr/>
          </p:nvSpPr>
          <p:spPr>
            <a:xfrm>
              <a:off x="6768244" y="5368570"/>
              <a:ext cx="1058303" cy="369332"/>
            </a:xfrm>
            <a:prstGeom prst="rect">
              <a:avLst/>
            </a:prstGeom>
            <a:noFill/>
          </p:spPr>
          <p:txBody>
            <a:bodyPr wrap="none" rtlCol="0">
              <a:spAutoFit/>
            </a:bodyPr>
            <a:lstStyle/>
            <a:p>
              <a:r>
                <a:rPr lang="en-US">
                  <a:solidFill>
                    <a:schemeClr val="tx2"/>
                  </a:solidFill>
                </a:rPr>
                <a:t>Database</a:t>
              </a:r>
              <a:endParaRPr lang="en-US" dirty="0">
                <a:solidFill>
                  <a:schemeClr val="tx2"/>
                </a:solidFill>
              </a:endParaRPr>
            </a:p>
          </p:txBody>
        </p:sp>
        <p:sp>
          <p:nvSpPr>
            <p:cNvPr id="28" name="TextBox 27"/>
            <p:cNvSpPr txBox="1"/>
            <p:nvPr/>
          </p:nvSpPr>
          <p:spPr>
            <a:xfrm>
              <a:off x="5185021" y="1709488"/>
              <a:ext cx="1432123" cy="369332"/>
            </a:xfrm>
            <a:prstGeom prst="rect">
              <a:avLst/>
            </a:prstGeom>
            <a:noFill/>
          </p:spPr>
          <p:txBody>
            <a:bodyPr wrap="none" rtlCol="0">
              <a:spAutoFit/>
            </a:bodyPr>
            <a:lstStyle/>
            <a:p>
              <a:r>
                <a:rPr lang="en-US">
                  <a:solidFill>
                    <a:schemeClr val="tx2"/>
                  </a:solidFill>
                </a:rPr>
                <a:t>Transaction 1</a:t>
              </a:r>
              <a:endParaRPr lang="en-US" dirty="0">
                <a:solidFill>
                  <a:schemeClr val="tx2"/>
                </a:solidFill>
              </a:endParaRPr>
            </a:p>
          </p:txBody>
        </p:sp>
        <p:sp>
          <p:nvSpPr>
            <p:cNvPr id="29" name="TextBox 28"/>
            <p:cNvSpPr txBox="1"/>
            <p:nvPr/>
          </p:nvSpPr>
          <p:spPr>
            <a:xfrm>
              <a:off x="7182493" y="1697358"/>
              <a:ext cx="1432123" cy="369332"/>
            </a:xfrm>
            <a:prstGeom prst="rect">
              <a:avLst/>
            </a:prstGeom>
            <a:noFill/>
          </p:spPr>
          <p:txBody>
            <a:bodyPr wrap="none" rtlCol="0">
              <a:spAutoFit/>
            </a:bodyPr>
            <a:lstStyle/>
            <a:p>
              <a:r>
                <a:rPr lang="en-US" dirty="0">
                  <a:solidFill>
                    <a:schemeClr val="tx2"/>
                  </a:solidFill>
                </a:rPr>
                <a:t>Transaction 2</a:t>
              </a:r>
            </a:p>
          </p:txBody>
        </p:sp>
        <p:cxnSp>
          <p:nvCxnSpPr>
            <p:cNvPr id="30" name="Straight Arrow Connector 29"/>
            <p:cNvCxnSpPr>
              <a:stCxn id="4" idx="2"/>
              <a:endCxn id="6" idx="1"/>
            </p:cNvCxnSpPr>
            <p:nvPr/>
          </p:nvCxnSpPr>
          <p:spPr>
            <a:xfrm>
              <a:off x="5904148" y="4443511"/>
              <a:ext cx="0" cy="49765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17" idx="2"/>
              <a:endCxn id="4" idx="0"/>
            </p:cNvCxnSpPr>
            <p:nvPr/>
          </p:nvCxnSpPr>
          <p:spPr>
            <a:xfrm flipH="1">
              <a:off x="5904148" y="2995839"/>
              <a:ext cx="111" cy="53327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H="1">
              <a:off x="6479671" y="2995839"/>
              <a:ext cx="828634" cy="53327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grpSp>
      <p:sp>
        <p:nvSpPr>
          <p:cNvPr id="52" name="Rectangle 51"/>
          <p:cNvSpPr/>
          <p:nvPr/>
        </p:nvSpPr>
        <p:spPr>
          <a:xfrm>
            <a:off x="9163191" y="2213483"/>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1+M</a:t>
            </a:r>
          </a:p>
        </p:txBody>
      </p:sp>
      <p:sp>
        <p:nvSpPr>
          <p:cNvPr id="46" name="Rectangle 45"/>
          <p:cNvSpPr/>
          <p:nvPr/>
        </p:nvSpPr>
        <p:spPr>
          <a:xfrm>
            <a:off x="6903227" y="366410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47" name="Rectangle 46"/>
          <p:cNvSpPr/>
          <p:nvPr/>
        </p:nvSpPr>
        <p:spPr>
          <a:xfrm>
            <a:off x="7227263" y="3676451"/>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53" name="Rectangle 52"/>
          <p:cNvSpPr/>
          <p:nvPr/>
        </p:nvSpPr>
        <p:spPr>
          <a:xfrm>
            <a:off x="1775520" y="4941168"/>
            <a:ext cx="4248472" cy="360040"/>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 name="Rectangle 30"/>
          <p:cNvSpPr/>
          <p:nvPr/>
        </p:nvSpPr>
        <p:spPr>
          <a:xfrm>
            <a:off x="7155256" y="2213929"/>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1+N</a:t>
            </a:r>
          </a:p>
        </p:txBody>
      </p:sp>
      <p:sp>
        <p:nvSpPr>
          <p:cNvPr id="35" name="Rectangle 34"/>
          <p:cNvSpPr/>
          <p:nvPr/>
        </p:nvSpPr>
        <p:spPr>
          <a:xfrm>
            <a:off x="7223525" y="3673016"/>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1-N</a:t>
            </a:r>
          </a:p>
        </p:txBody>
      </p:sp>
      <p:sp>
        <p:nvSpPr>
          <p:cNvPr id="34" name="Rectangle 33"/>
          <p:cNvSpPr/>
          <p:nvPr/>
        </p:nvSpPr>
        <p:spPr>
          <a:xfrm>
            <a:off x="7227263" y="4033056"/>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a:t>
            </a:r>
          </a:p>
        </p:txBody>
      </p:sp>
      <p:sp>
        <p:nvSpPr>
          <p:cNvPr id="36" name="Rectangle 35"/>
          <p:cNvSpPr/>
          <p:nvPr/>
        </p:nvSpPr>
        <p:spPr>
          <a:xfrm>
            <a:off x="6903227" y="402414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Y</a:t>
            </a:r>
          </a:p>
        </p:txBody>
      </p:sp>
      <p:sp>
        <p:nvSpPr>
          <p:cNvPr id="42" name="Rectangle 41"/>
          <p:cNvSpPr/>
          <p:nvPr/>
        </p:nvSpPr>
        <p:spPr>
          <a:xfrm>
            <a:off x="7155256" y="2580232"/>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a:t>
            </a:r>
          </a:p>
        </p:txBody>
      </p:sp>
      <p:sp>
        <p:nvSpPr>
          <p:cNvPr id="40" name="Rectangle 39"/>
          <p:cNvSpPr/>
          <p:nvPr/>
        </p:nvSpPr>
        <p:spPr>
          <a:xfrm>
            <a:off x="7140116" y="5373216"/>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1+M</a:t>
            </a:r>
          </a:p>
        </p:txBody>
      </p:sp>
      <p:cxnSp>
        <p:nvCxnSpPr>
          <p:cNvPr id="41" name="Curved Connector 40"/>
          <p:cNvCxnSpPr>
            <a:endCxn id="3" idx="0"/>
          </p:cNvCxnSpPr>
          <p:nvPr/>
        </p:nvCxnSpPr>
        <p:spPr>
          <a:xfrm rot="5400000">
            <a:off x="6969546" y="4797693"/>
            <a:ext cx="1043221" cy="90010"/>
          </a:xfrm>
          <a:prstGeom prst="curved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sp>
        <p:nvSpPr>
          <p:cNvPr id="43" name="Rectangle 42"/>
          <p:cNvSpPr/>
          <p:nvPr/>
        </p:nvSpPr>
        <p:spPr>
          <a:xfrm>
            <a:off x="7219787" y="3673280"/>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1+M</a:t>
            </a:r>
          </a:p>
        </p:txBody>
      </p:sp>
    </p:spTree>
    <p:extLst>
      <p:ext uri="{BB962C8B-B14F-4D97-AF65-F5344CB8AC3E}">
        <p14:creationId xmlns:p14="http://schemas.microsoft.com/office/powerpoint/2010/main" val="266183007"/>
      </p:ext>
    </p:extLst>
  </p:cSld>
  <p:clrMapOvr>
    <a:masterClrMapping/>
  </p:clrMapOvr>
  <mc:AlternateContent xmlns:mc="http://schemas.openxmlformats.org/markup-compatibility/2006" xmlns:p14="http://schemas.microsoft.com/office/powerpoint/2010/main">
    <mc:Choice Requires="p14">
      <p:transition spd="slow" p14:dur="2000" advTm="12286"/>
    </mc:Choice>
    <mc:Fallback xmlns="">
      <p:transition spd="slow" advTm="1228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up)">
                                      <p:cBhvr>
                                        <p:cTn id="7" dur="500"/>
                                        <p:tgtEl>
                                          <p:spTgt spid="41"/>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par>
                          <p:cTn id="11" fill="hold">
                            <p:stCondLst>
                              <p:cond delay="500"/>
                            </p:stCondLst>
                            <p:childTnLst>
                              <p:par>
                                <p:cTn id="12" presetID="22" presetClass="exit" presetSubtype="1" fill="hold" nodeType="afterEffect">
                                  <p:stCondLst>
                                    <p:cond delay="0"/>
                                  </p:stCondLst>
                                  <p:childTnLst>
                                    <p:animEffect transition="out" filter="wipe(up)">
                                      <p:cBhvr>
                                        <p:cTn id="13" dur="500"/>
                                        <p:tgtEl>
                                          <p:spTgt spid="41"/>
                                        </p:tgtEl>
                                      </p:cBhvr>
                                    </p:animEffect>
                                    <p:set>
                                      <p:cBhvr>
                                        <p:cTn id="14" dur="1" fill="hold">
                                          <p:stCondLst>
                                            <p:cond delay="499"/>
                                          </p:stCondLst>
                                        </p:cTn>
                                        <p:tgtEl>
                                          <p:spTgt spid="4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Concurrent Schedules Do Not Guarantee Consistency or Isolation</a:t>
            </a:r>
            <a:endParaRPr lang="en-GB" sz="3100" dirty="0"/>
          </a:p>
        </p:txBody>
      </p:sp>
      <p:sp>
        <p:nvSpPr>
          <p:cNvPr id="7" name="Slide Number Placeholder 6"/>
          <p:cNvSpPr>
            <a:spLocks noGrp="1"/>
          </p:cNvSpPr>
          <p:nvPr>
            <p:ph type="sldNum" sz="quarter" idx="12"/>
          </p:nvPr>
        </p:nvSpPr>
        <p:spPr/>
        <p:txBody>
          <a:bodyPr/>
          <a:lstStyle/>
          <a:p>
            <a:fld id="{26F23E55-D42A-41AF-9F6E-8A8A2E703B49}" type="slidenum">
              <a:rPr lang="en-GB" smtClean="0"/>
              <a:pPr/>
              <a:t>20</a:t>
            </a:fld>
            <a:endParaRPr lang="en-GB"/>
          </a:p>
        </p:txBody>
      </p:sp>
      <p:graphicFrame>
        <p:nvGraphicFramePr>
          <p:cNvPr id="9" name="Table 8"/>
          <p:cNvGraphicFramePr>
            <a:graphicFrameLocks noGrp="1"/>
          </p:cNvGraphicFramePr>
          <p:nvPr/>
        </p:nvGraphicFramePr>
        <p:xfrm>
          <a:off x="1919536" y="1632416"/>
          <a:ext cx="3960440" cy="4820920"/>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1620180">
                  <a:extLst>
                    <a:ext uri="{9D8B030D-6E8A-4147-A177-3AD203B41FA5}">
                      <a16:colId xmlns:a16="http://schemas.microsoft.com/office/drawing/2014/main" val="20001"/>
                    </a:ext>
                  </a:extLst>
                </a:gridCol>
                <a:gridCol w="1620180">
                  <a:extLst>
                    <a:ext uri="{9D8B030D-6E8A-4147-A177-3AD203B41FA5}">
                      <a16:colId xmlns:a16="http://schemas.microsoft.com/office/drawing/2014/main" val="20002"/>
                    </a:ext>
                  </a:extLst>
                </a:gridCol>
              </a:tblGrid>
              <a:tr h="370840">
                <a:tc>
                  <a:txBody>
                    <a:bodyPr/>
                    <a:lstStyle/>
                    <a:p>
                      <a:r>
                        <a:rPr lang="en-US" dirty="0"/>
                        <a:t>Time</a:t>
                      </a:r>
                    </a:p>
                  </a:txBody>
                  <a:tcPr/>
                </a:tc>
                <a:tc gridSpan="2">
                  <a:txBody>
                    <a:bodyPr/>
                    <a:lstStyle/>
                    <a:p>
                      <a:r>
                        <a:rPr lang="en-US" sz="1800" b="1" baseline="0" dirty="0"/>
                        <a:t>Schedule</a:t>
                      </a:r>
                      <a:endParaRPr lang="en-US" sz="1600" b="1" baseline="-25000"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r>
                        <a:rPr lang="en-US" dirty="0"/>
                        <a:t>t0</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r>
                        <a:rPr lang="en-US" dirty="0"/>
                        <a:t>t1</a:t>
                      </a:r>
                    </a:p>
                  </a:txBody>
                  <a:tcPr/>
                </a:tc>
                <a:tc>
                  <a:txBody>
                    <a:bodyPr/>
                    <a:lstStyle/>
                    <a:p>
                      <a:r>
                        <a:rPr lang="en-US" dirty="0">
                          <a:solidFill>
                            <a:srgbClr val="C00000"/>
                          </a:solidFill>
                        </a:rPr>
                        <a:t>read(X)</a:t>
                      </a:r>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t2</a:t>
                      </a:r>
                    </a:p>
                  </a:txBody>
                  <a:tcPr/>
                </a:tc>
                <a:tc>
                  <a:txBody>
                    <a:bodyPr/>
                    <a:lstStyle/>
                    <a:p>
                      <a:endParaRPr lang="en-US"/>
                    </a:p>
                  </a:txBody>
                  <a:tcPr/>
                </a:tc>
                <a:tc>
                  <a:txBody>
                    <a:bodyPr/>
                    <a:lstStyle/>
                    <a:p>
                      <a:r>
                        <a:rPr lang="en-US" dirty="0">
                          <a:solidFill>
                            <a:schemeClr val="tx2"/>
                          </a:solidFill>
                        </a:rPr>
                        <a:t>read(X)</a:t>
                      </a:r>
                      <a:endParaRPr lang="en-US" dirty="0"/>
                    </a:p>
                  </a:txBody>
                  <a:tcPr/>
                </a:tc>
                <a:extLst>
                  <a:ext uri="{0D108BD9-81ED-4DB2-BD59-A6C34878D82A}">
                    <a16:rowId xmlns:a16="http://schemas.microsoft.com/office/drawing/2014/main" val="10003"/>
                  </a:ext>
                </a:extLst>
              </a:tr>
              <a:tr h="370840">
                <a:tc>
                  <a:txBody>
                    <a:bodyPr/>
                    <a:lstStyle/>
                    <a:p>
                      <a:r>
                        <a:rPr lang="en-US" dirty="0"/>
                        <a:t>t3</a:t>
                      </a:r>
                    </a:p>
                  </a:txBody>
                  <a:tcPr/>
                </a:tc>
                <a:tc>
                  <a:txBody>
                    <a:bodyPr/>
                    <a:lstStyle/>
                    <a:p>
                      <a:endParaRPr lang="en-US" dirty="0"/>
                    </a:p>
                  </a:txBody>
                  <a:tcPr/>
                </a:tc>
                <a:tc>
                  <a:txBody>
                    <a:bodyPr/>
                    <a:lstStyle/>
                    <a:p>
                      <a:r>
                        <a:rPr lang="en-US" dirty="0">
                          <a:solidFill>
                            <a:schemeClr val="tx2"/>
                          </a:solidFill>
                        </a:rPr>
                        <a:t>X := X + M</a:t>
                      </a:r>
                      <a:endParaRPr lang="en-US" dirty="0"/>
                    </a:p>
                  </a:txBody>
                  <a:tcPr/>
                </a:tc>
                <a:extLst>
                  <a:ext uri="{0D108BD9-81ED-4DB2-BD59-A6C34878D82A}">
                    <a16:rowId xmlns:a16="http://schemas.microsoft.com/office/drawing/2014/main" val="10004"/>
                  </a:ext>
                </a:extLst>
              </a:tr>
              <a:tr h="370840">
                <a:tc>
                  <a:txBody>
                    <a:bodyPr/>
                    <a:lstStyle/>
                    <a:p>
                      <a:r>
                        <a:rPr lang="en-US" dirty="0"/>
                        <a:t>t4</a:t>
                      </a:r>
                    </a:p>
                  </a:txBody>
                  <a:tcPr/>
                </a:tc>
                <a:tc>
                  <a:txBody>
                    <a:bodyPr/>
                    <a:lstStyle/>
                    <a:p>
                      <a:r>
                        <a:rPr lang="en-GB" sz="1800" dirty="0">
                          <a:solidFill>
                            <a:srgbClr val="C00000"/>
                          </a:solidFill>
                        </a:rPr>
                        <a:t>X := X + N</a:t>
                      </a:r>
                      <a:endParaRPr lang="en-US" dirty="0">
                        <a:solidFill>
                          <a:srgbClr val="C00000"/>
                        </a:solidFill>
                      </a:endParaRPr>
                    </a:p>
                  </a:txBody>
                  <a:tcPr/>
                </a:tc>
                <a:tc>
                  <a:txBody>
                    <a:bodyPr/>
                    <a:lstStyle/>
                    <a:p>
                      <a:endParaRPr lang="en-US" dirty="0"/>
                    </a:p>
                  </a:txBody>
                  <a:tcPr/>
                </a:tc>
                <a:extLst>
                  <a:ext uri="{0D108BD9-81ED-4DB2-BD59-A6C34878D82A}">
                    <a16:rowId xmlns:a16="http://schemas.microsoft.com/office/drawing/2014/main" val="10005"/>
                  </a:ext>
                </a:extLst>
              </a:tr>
              <a:tr h="370840">
                <a:tc>
                  <a:txBody>
                    <a:bodyPr/>
                    <a:lstStyle/>
                    <a:p>
                      <a:r>
                        <a:rPr lang="en-US" dirty="0"/>
                        <a:t>t5</a:t>
                      </a:r>
                    </a:p>
                  </a:txBody>
                  <a:tcPr/>
                </a:tc>
                <a:tc>
                  <a:txBody>
                    <a:bodyPr/>
                    <a:lstStyle/>
                    <a:p>
                      <a:r>
                        <a:rPr lang="en-GB" sz="1800" dirty="0">
                          <a:solidFill>
                            <a:srgbClr val="C00000"/>
                          </a:solidFill>
                        </a:rPr>
                        <a:t>write(X)</a:t>
                      </a:r>
                      <a:endParaRPr lang="en-US" dirty="0">
                        <a:solidFill>
                          <a:srgbClr val="C00000"/>
                        </a:solidFill>
                      </a:endParaRPr>
                    </a:p>
                  </a:txBody>
                  <a:tcPr/>
                </a:tc>
                <a:tc>
                  <a:txBody>
                    <a:bodyPr/>
                    <a:lstStyle/>
                    <a:p>
                      <a:endParaRPr lang="en-US" dirty="0"/>
                    </a:p>
                  </a:txBody>
                  <a:tcPr/>
                </a:tc>
                <a:extLst>
                  <a:ext uri="{0D108BD9-81ED-4DB2-BD59-A6C34878D82A}">
                    <a16:rowId xmlns:a16="http://schemas.microsoft.com/office/drawing/2014/main" val="10006"/>
                  </a:ext>
                </a:extLst>
              </a:tr>
              <a:tr h="370840">
                <a:tc>
                  <a:txBody>
                    <a:bodyPr/>
                    <a:lstStyle/>
                    <a:p>
                      <a:r>
                        <a:rPr lang="en-US" dirty="0"/>
                        <a:t>t6</a:t>
                      </a:r>
                    </a:p>
                  </a:txBody>
                  <a:tcPr/>
                </a:tc>
                <a:tc>
                  <a:txBody>
                    <a:bodyPr/>
                    <a:lstStyle/>
                    <a:p>
                      <a:r>
                        <a:rPr lang="en-US" dirty="0">
                          <a:solidFill>
                            <a:srgbClr val="C00000"/>
                          </a:solidFill>
                        </a:rPr>
                        <a:t>read(Y)</a:t>
                      </a:r>
                    </a:p>
                  </a:txBody>
                  <a:tcPr/>
                </a:tc>
                <a:tc>
                  <a:txBody>
                    <a:bodyPr/>
                    <a:lstStyle/>
                    <a:p>
                      <a:endParaRPr lang="en-US" dirty="0"/>
                    </a:p>
                  </a:txBody>
                  <a:tcPr/>
                </a:tc>
                <a:extLst>
                  <a:ext uri="{0D108BD9-81ED-4DB2-BD59-A6C34878D82A}">
                    <a16:rowId xmlns:a16="http://schemas.microsoft.com/office/drawing/2014/main" val="10007"/>
                  </a:ext>
                </a:extLst>
              </a:tr>
              <a:tr h="370840">
                <a:tc>
                  <a:txBody>
                    <a:bodyPr/>
                    <a:lstStyle/>
                    <a:p>
                      <a:r>
                        <a:rPr lang="en-US" dirty="0"/>
                        <a:t>t7</a:t>
                      </a:r>
                    </a:p>
                  </a:txBody>
                  <a:tcPr/>
                </a:tc>
                <a:tc>
                  <a:txBody>
                    <a:bodyPr/>
                    <a:lstStyle/>
                    <a:p>
                      <a:endParaRPr lang="en-US" dirty="0"/>
                    </a:p>
                  </a:txBody>
                  <a:tcPr/>
                </a:tc>
                <a:tc>
                  <a:txBody>
                    <a:bodyPr/>
                    <a:lstStyle/>
                    <a:p>
                      <a:r>
                        <a:rPr lang="en-US" dirty="0">
                          <a:solidFill>
                            <a:schemeClr val="tx2"/>
                          </a:solidFill>
                        </a:rPr>
                        <a:t>write(X)</a:t>
                      </a:r>
                      <a:endParaRPr lang="en-US" dirty="0"/>
                    </a:p>
                  </a:txBody>
                  <a:tcPr/>
                </a:tc>
                <a:extLst>
                  <a:ext uri="{0D108BD9-81ED-4DB2-BD59-A6C34878D82A}">
                    <a16:rowId xmlns:a16="http://schemas.microsoft.com/office/drawing/2014/main" val="10008"/>
                  </a:ext>
                </a:extLst>
              </a:tr>
              <a:tr h="370840">
                <a:tc>
                  <a:txBody>
                    <a:bodyPr/>
                    <a:lstStyle/>
                    <a:p>
                      <a:r>
                        <a:rPr lang="en-US" dirty="0"/>
                        <a:t>t8</a:t>
                      </a:r>
                    </a:p>
                  </a:txBody>
                  <a:tcPr/>
                </a:tc>
                <a:tc>
                  <a:txBody>
                    <a:bodyPr/>
                    <a:lstStyle/>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rPr>
                        <a:t>commit</a:t>
                      </a:r>
                    </a:p>
                  </a:txBody>
                  <a:tcPr/>
                </a:tc>
                <a:extLst>
                  <a:ext uri="{0D108BD9-81ED-4DB2-BD59-A6C34878D82A}">
                    <a16:rowId xmlns:a16="http://schemas.microsoft.com/office/drawing/2014/main" val="10009"/>
                  </a:ext>
                </a:extLst>
              </a:tr>
              <a:tr h="370840">
                <a:tc>
                  <a:txBody>
                    <a:bodyPr/>
                    <a:lstStyle/>
                    <a:p>
                      <a:r>
                        <a:rPr lang="en-US" dirty="0"/>
                        <a:t>t9</a:t>
                      </a:r>
                    </a:p>
                  </a:txBody>
                  <a:tcPr/>
                </a:tc>
                <a:tc>
                  <a:txBody>
                    <a:bodyPr/>
                    <a:lstStyle/>
                    <a:p>
                      <a:r>
                        <a:rPr lang="en-GB" sz="1800" dirty="0">
                          <a:solidFill>
                            <a:srgbClr val="C00000"/>
                          </a:solidFill>
                        </a:rPr>
                        <a:t>Y := Y +</a:t>
                      </a:r>
                      <a:r>
                        <a:rPr lang="en-GB" sz="1800" baseline="0" dirty="0">
                          <a:solidFill>
                            <a:srgbClr val="C00000"/>
                          </a:solidFill>
                        </a:rPr>
                        <a:t> N</a:t>
                      </a:r>
                      <a:endParaRPr lang="en-US" dirty="0">
                        <a:solidFill>
                          <a:srgbClr val="C00000"/>
                        </a:solidFill>
                      </a:endParaRPr>
                    </a:p>
                  </a:txBody>
                  <a:tcPr/>
                </a:tc>
                <a:tc>
                  <a:txBody>
                    <a:bodyPr/>
                    <a:lstStyle/>
                    <a:p>
                      <a:endParaRPr lang="en-US" dirty="0">
                        <a:solidFill>
                          <a:schemeClr val="tx2"/>
                        </a:solidFill>
                      </a:endParaRPr>
                    </a:p>
                  </a:txBody>
                  <a:tcPr/>
                </a:tc>
                <a:extLst>
                  <a:ext uri="{0D108BD9-81ED-4DB2-BD59-A6C34878D82A}">
                    <a16:rowId xmlns:a16="http://schemas.microsoft.com/office/drawing/2014/main" val="10010"/>
                  </a:ext>
                </a:extLst>
              </a:tr>
              <a:tr h="370840">
                <a:tc>
                  <a:txBody>
                    <a:bodyPr/>
                    <a:lstStyle/>
                    <a:p>
                      <a:r>
                        <a:rPr lang="en-US" dirty="0"/>
                        <a:t>t10</a:t>
                      </a:r>
                    </a:p>
                  </a:txBody>
                  <a:tcPr/>
                </a:tc>
                <a:tc>
                  <a:txBody>
                    <a:bodyPr/>
                    <a:lstStyle/>
                    <a:p>
                      <a:r>
                        <a:rPr lang="en-US" dirty="0">
                          <a:solidFill>
                            <a:srgbClr val="C00000"/>
                          </a:solidFill>
                        </a:rPr>
                        <a:t>write(Y)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2"/>
                        </a:solidFill>
                      </a:endParaRPr>
                    </a:p>
                  </a:txBody>
                  <a:tcPr/>
                </a:tc>
                <a:extLst>
                  <a:ext uri="{0D108BD9-81ED-4DB2-BD59-A6C34878D82A}">
                    <a16:rowId xmlns:a16="http://schemas.microsoft.com/office/drawing/2014/main" val="10011"/>
                  </a:ext>
                </a:extLst>
              </a:tr>
              <a:tr h="370840">
                <a:tc>
                  <a:txBody>
                    <a:bodyPr/>
                    <a:lstStyle/>
                    <a:p>
                      <a:r>
                        <a:rPr lang="en-US" dirty="0"/>
                        <a:t>t11</a:t>
                      </a:r>
                    </a:p>
                  </a:txBody>
                  <a:tcPr/>
                </a:tc>
                <a:tc>
                  <a:txBody>
                    <a:bodyPr/>
                    <a:lstStyle/>
                    <a:p>
                      <a:r>
                        <a:rPr lang="en-US" dirty="0">
                          <a:solidFill>
                            <a:srgbClr val="C00000"/>
                          </a:solidFill>
                        </a:rPr>
                        <a:t>commit</a:t>
                      </a:r>
                    </a:p>
                  </a:txBody>
                  <a:tcPr/>
                </a:tc>
                <a:tc>
                  <a:txBody>
                    <a:bodyPr/>
                    <a:lstStyle/>
                    <a:p>
                      <a:endParaRPr lang="en-US" dirty="0">
                        <a:solidFill>
                          <a:schemeClr val="tx2"/>
                        </a:solidFill>
                      </a:endParaRPr>
                    </a:p>
                  </a:txBody>
                  <a:tcPr/>
                </a:tc>
                <a:extLst>
                  <a:ext uri="{0D108BD9-81ED-4DB2-BD59-A6C34878D82A}">
                    <a16:rowId xmlns:a16="http://schemas.microsoft.com/office/drawing/2014/main" val="10012"/>
                  </a:ext>
                </a:extLst>
              </a:tr>
            </a:tbl>
          </a:graphicData>
        </a:graphic>
      </p:graphicFrame>
      <p:grpSp>
        <p:nvGrpSpPr>
          <p:cNvPr id="45" name="Group 44"/>
          <p:cNvGrpSpPr/>
          <p:nvPr/>
        </p:nvGrpSpPr>
        <p:grpSpPr>
          <a:xfrm>
            <a:off x="6600056" y="1697358"/>
            <a:ext cx="3538560" cy="4467946"/>
            <a:chOff x="5076056" y="1697358"/>
            <a:chExt cx="3538560" cy="4467946"/>
          </a:xfrm>
        </p:grpSpPr>
        <p:sp>
          <p:nvSpPr>
            <p:cNvPr id="6" name="Can 5"/>
            <p:cNvSpPr/>
            <p:nvPr/>
          </p:nvSpPr>
          <p:spPr>
            <a:xfrm>
              <a:off x="5076056" y="4941168"/>
              <a:ext cx="1656184" cy="1224136"/>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5616116" y="5364309"/>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10" name="Rectangle 9"/>
            <p:cNvSpPr/>
            <p:nvPr/>
          </p:nvSpPr>
          <p:spPr>
            <a:xfrm>
              <a:off x="5616116" y="5733256"/>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a:t>
              </a:r>
            </a:p>
          </p:txBody>
        </p:sp>
        <p:sp>
          <p:nvSpPr>
            <p:cNvPr id="11" name="Rectangle 10"/>
            <p:cNvSpPr/>
            <p:nvPr/>
          </p:nvSpPr>
          <p:spPr>
            <a:xfrm>
              <a:off x="5292080" y="536430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12" name="Rectangle 11"/>
            <p:cNvSpPr/>
            <p:nvPr/>
          </p:nvSpPr>
          <p:spPr>
            <a:xfrm>
              <a:off x="5292080" y="572434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bg1"/>
                  </a:solidFill>
                </a:rPr>
                <a:t>Y</a:t>
              </a:r>
              <a:endParaRPr lang="en-US" dirty="0">
                <a:solidFill>
                  <a:schemeClr val="bg1"/>
                </a:solidFill>
              </a:endParaRPr>
            </a:p>
          </p:txBody>
        </p:sp>
        <p:sp>
          <p:nvSpPr>
            <p:cNvPr id="4" name="Rectangle 3"/>
            <p:cNvSpPr/>
            <p:nvPr/>
          </p:nvSpPr>
          <p:spPr>
            <a:xfrm>
              <a:off x="5364088" y="3529111"/>
              <a:ext cx="108012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5292080" y="2081439"/>
              <a:ext cx="1224357"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5631256" y="2216437"/>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19" name="Rectangle 18"/>
            <p:cNvSpPr/>
            <p:nvPr/>
          </p:nvSpPr>
          <p:spPr>
            <a:xfrm>
              <a:off x="5631256" y="2585384"/>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0" name="Rectangle 19"/>
            <p:cNvSpPr/>
            <p:nvPr/>
          </p:nvSpPr>
          <p:spPr>
            <a:xfrm>
              <a:off x="5307220" y="2216437"/>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21" name="Rectangle 20"/>
            <p:cNvSpPr/>
            <p:nvPr/>
          </p:nvSpPr>
          <p:spPr>
            <a:xfrm>
              <a:off x="5307220" y="2576477"/>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bg1"/>
                  </a:solidFill>
                </a:rPr>
                <a:t>Y</a:t>
              </a:r>
              <a:endParaRPr lang="en-US" dirty="0">
                <a:solidFill>
                  <a:schemeClr val="bg1"/>
                </a:solidFill>
              </a:endParaRPr>
            </a:p>
          </p:txBody>
        </p:sp>
        <p:sp>
          <p:nvSpPr>
            <p:cNvPr id="22" name="Rectangle 21"/>
            <p:cNvSpPr/>
            <p:nvPr/>
          </p:nvSpPr>
          <p:spPr>
            <a:xfrm>
              <a:off x="7308304" y="2082552"/>
              <a:ext cx="1224136"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7647479" y="2217550"/>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25" name="Rectangle 24"/>
            <p:cNvSpPr/>
            <p:nvPr/>
          </p:nvSpPr>
          <p:spPr>
            <a:xfrm>
              <a:off x="7323443" y="2217550"/>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5" name="TextBox 4"/>
            <p:cNvSpPr txBox="1"/>
            <p:nvPr/>
          </p:nvSpPr>
          <p:spPr>
            <a:xfrm>
              <a:off x="6479671" y="3786901"/>
              <a:ext cx="846450" cy="369332"/>
            </a:xfrm>
            <a:prstGeom prst="rect">
              <a:avLst/>
            </a:prstGeom>
            <a:noFill/>
          </p:spPr>
          <p:txBody>
            <a:bodyPr wrap="none" rtlCol="0">
              <a:spAutoFit/>
            </a:bodyPr>
            <a:lstStyle/>
            <a:p>
              <a:r>
                <a:rPr lang="en-US" dirty="0">
                  <a:solidFill>
                    <a:schemeClr val="tx2"/>
                  </a:solidFill>
                </a:rPr>
                <a:t>Buffers</a:t>
              </a:r>
            </a:p>
          </p:txBody>
        </p:sp>
        <p:sp>
          <p:nvSpPr>
            <p:cNvPr id="27" name="TextBox 26"/>
            <p:cNvSpPr txBox="1"/>
            <p:nvPr/>
          </p:nvSpPr>
          <p:spPr>
            <a:xfrm>
              <a:off x="6768244" y="5368570"/>
              <a:ext cx="1058303" cy="369332"/>
            </a:xfrm>
            <a:prstGeom prst="rect">
              <a:avLst/>
            </a:prstGeom>
            <a:noFill/>
          </p:spPr>
          <p:txBody>
            <a:bodyPr wrap="none" rtlCol="0">
              <a:spAutoFit/>
            </a:bodyPr>
            <a:lstStyle/>
            <a:p>
              <a:r>
                <a:rPr lang="en-US">
                  <a:solidFill>
                    <a:schemeClr val="tx2"/>
                  </a:solidFill>
                </a:rPr>
                <a:t>Database</a:t>
              </a:r>
              <a:endParaRPr lang="en-US" dirty="0">
                <a:solidFill>
                  <a:schemeClr val="tx2"/>
                </a:solidFill>
              </a:endParaRPr>
            </a:p>
          </p:txBody>
        </p:sp>
        <p:sp>
          <p:nvSpPr>
            <p:cNvPr id="28" name="TextBox 27"/>
            <p:cNvSpPr txBox="1"/>
            <p:nvPr/>
          </p:nvSpPr>
          <p:spPr>
            <a:xfrm>
              <a:off x="5185021" y="1709488"/>
              <a:ext cx="1432123" cy="369332"/>
            </a:xfrm>
            <a:prstGeom prst="rect">
              <a:avLst/>
            </a:prstGeom>
            <a:noFill/>
          </p:spPr>
          <p:txBody>
            <a:bodyPr wrap="none" rtlCol="0">
              <a:spAutoFit/>
            </a:bodyPr>
            <a:lstStyle/>
            <a:p>
              <a:r>
                <a:rPr lang="en-US">
                  <a:solidFill>
                    <a:schemeClr val="tx2"/>
                  </a:solidFill>
                </a:rPr>
                <a:t>Transaction 1</a:t>
              </a:r>
              <a:endParaRPr lang="en-US" dirty="0">
                <a:solidFill>
                  <a:schemeClr val="tx2"/>
                </a:solidFill>
              </a:endParaRPr>
            </a:p>
          </p:txBody>
        </p:sp>
        <p:sp>
          <p:nvSpPr>
            <p:cNvPr id="29" name="TextBox 28"/>
            <p:cNvSpPr txBox="1"/>
            <p:nvPr/>
          </p:nvSpPr>
          <p:spPr>
            <a:xfrm>
              <a:off x="7182493" y="1697358"/>
              <a:ext cx="1432123" cy="369332"/>
            </a:xfrm>
            <a:prstGeom prst="rect">
              <a:avLst/>
            </a:prstGeom>
            <a:noFill/>
          </p:spPr>
          <p:txBody>
            <a:bodyPr wrap="none" rtlCol="0">
              <a:spAutoFit/>
            </a:bodyPr>
            <a:lstStyle/>
            <a:p>
              <a:r>
                <a:rPr lang="en-US" dirty="0">
                  <a:solidFill>
                    <a:schemeClr val="tx2"/>
                  </a:solidFill>
                </a:rPr>
                <a:t>Transaction 2</a:t>
              </a:r>
            </a:p>
          </p:txBody>
        </p:sp>
        <p:cxnSp>
          <p:nvCxnSpPr>
            <p:cNvPr id="30" name="Straight Arrow Connector 29"/>
            <p:cNvCxnSpPr>
              <a:stCxn id="4" idx="2"/>
              <a:endCxn id="6" idx="1"/>
            </p:cNvCxnSpPr>
            <p:nvPr/>
          </p:nvCxnSpPr>
          <p:spPr>
            <a:xfrm>
              <a:off x="5904148" y="4443511"/>
              <a:ext cx="0" cy="49765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17" idx="2"/>
              <a:endCxn id="4" idx="0"/>
            </p:cNvCxnSpPr>
            <p:nvPr/>
          </p:nvCxnSpPr>
          <p:spPr>
            <a:xfrm flipH="1">
              <a:off x="5904148" y="2995839"/>
              <a:ext cx="111" cy="53327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H="1">
              <a:off x="6479671" y="2995839"/>
              <a:ext cx="828634" cy="53327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grpSp>
      <p:sp>
        <p:nvSpPr>
          <p:cNvPr id="52" name="Rectangle 51"/>
          <p:cNvSpPr/>
          <p:nvPr/>
        </p:nvSpPr>
        <p:spPr>
          <a:xfrm>
            <a:off x="9163191" y="2213483"/>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1+M</a:t>
            </a:r>
          </a:p>
        </p:txBody>
      </p:sp>
      <p:sp>
        <p:nvSpPr>
          <p:cNvPr id="46" name="Rectangle 45"/>
          <p:cNvSpPr/>
          <p:nvPr/>
        </p:nvSpPr>
        <p:spPr>
          <a:xfrm>
            <a:off x="6903227" y="366410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47" name="Rectangle 46"/>
          <p:cNvSpPr/>
          <p:nvPr/>
        </p:nvSpPr>
        <p:spPr>
          <a:xfrm>
            <a:off x="7227263" y="3676451"/>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53" name="Rectangle 52"/>
          <p:cNvSpPr/>
          <p:nvPr/>
        </p:nvSpPr>
        <p:spPr>
          <a:xfrm>
            <a:off x="1775520" y="5349238"/>
            <a:ext cx="4248472" cy="360040"/>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 name="Rectangle 30"/>
          <p:cNvSpPr/>
          <p:nvPr/>
        </p:nvSpPr>
        <p:spPr>
          <a:xfrm>
            <a:off x="7155256" y="2213929"/>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1+N</a:t>
            </a:r>
          </a:p>
        </p:txBody>
      </p:sp>
      <p:sp>
        <p:nvSpPr>
          <p:cNvPr id="35" name="Rectangle 34"/>
          <p:cNvSpPr/>
          <p:nvPr/>
        </p:nvSpPr>
        <p:spPr>
          <a:xfrm>
            <a:off x="7223525" y="3673016"/>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1-N</a:t>
            </a:r>
          </a:p>
        </p:txBody>
      </p:sp>
      <p:sp>
        <p:nvSpPr>
          <p:cNvPr id="34" name="Rectangle 33"/>
          <p:cNvSpPr/>
          <p:nvPr/>
        </p:nvSpPr>
        <p:spPr>
          <a:xfrm>
            <a:off x="7227263" y="4033056"/>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a:t>
            </a:r>
          </a:p>
        </p:txBody>
      </p:sp>
      <p:sp>
        <p:nvSpPr>
          <p:cNvPr id="36" name="Rectangle 35"/>
          <p:cNvSpPr/>
          <p:nvPr/>
        </p:nvSpPr>
        <p:spPr>
          <a:xfrm>
            <a:off x="6903227" y="402414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Y</a:t>
            </a:r>
          </a:p>
        </p:txBody>
      </p:sp>
      <p:sp>
        <p:nvSpPr>
          <p:cNvPr id="42" name="Rectangle 41"/>
          <p:cNvSpPr/>
          <p:nvPr/>
        </p:nvSpPr>
        <p:spPr>
          <a:xfrm>
            <a:off x="7155256" y="2580232"/>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a:t>
            </a:r>
          </a:p>
        </p:txBody>
      </p:sp>
      <p:sp>
        <p:nvSpPr>
          <p:cNvPr id="40" name="Rectangle 39"/>
          <p:cNvSpPr/>
          <p:nvPr/>
        </p:nvSpPr>
        <p:spPr>
          <a:xfrm>
            <a:off x="7140116" y="5373216"/>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1+M</a:t>
            </a:r>
          </a:p>
        </p:txBody>
      </p:sp>
      <p:sp>
        <p:nvSpPr>
          <p:cNvPr id="43" name="Rectangle 42"/>
          <p:cNvSpPr/>
          <p:nvPr/>
        </p:nvSpPr>
        <p:spPr>
          <a:xfrm>
            <a:off x="7219787" y="3673280"/>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1+M</a:t>
            </a:r>
          </a:p>
        </p:txBody>
      </p:sp>
      <p:sp>
        <p:nvSpPr>
          <p:cNvPr id="39" name="Rectangle 38"/>
          <p:cNvSpPr/>
          <p:nvPr/>
        </p:nvSpPr>
        <p:spPr>
          <a:xfrm>
            <a:off x="7155256" y="2587115"/>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2+N</a:t>
            </a:r>
          </a:p>
        </p:txBody>
      </p:sp>
    </p:spTree>
    <p:extLst>
      <p:ext uri="{BB962C8B-B14F-4D97-AF65-F5344CB8AC3E}">
        <p14:creationId xmlns:p14="http://schemas.microsoft.com/office/powerpoint/2010/main" val="1822783570"/>
      </p:ext>
    </p:extLst>
  </p:cSld>
  <p:clrMapOvr>
    <a:masterClrMapping/>
  </p:clrMapOvr>
  <mc:AlternateContent xmlns:mc="http://schemas.openxmlformats.org/markup-compatibility/2006" xmlns:p14="http://schemas.microsoft.com/office/powerpoint/2010/main">
    <mc:Choice Requires="p14">
      <p:transition spd="slow" p14:dur="2000" advTm="5373"/>
    </mc:Choice>
    <mc:Fallback xmlns="">
      <p:transition spd="slow" advTm="537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Concurrent Schedules Do Not Guarantee Consistency or Isolation</a:t>
            </a:r>
            <a:endParaRPr lang="en-GB" sz="3100" dirty="0"/>
          </a:p>
        </p:txBody>
      </p:sp>
      <p:sp>
        <p:nvSpPr>
          <p:cNvPr id="7" name="Slide Number Placeholder 6"/>
          <p:cNvSpPr>
            <a:spLocks noGrp="1"/>
          </p:cNvSpPr>
          <p:nvPr>
            <p:ph type="sldNum" sz="quarter" idx="12"/>
          </p:nvPr>
        </p:nvSpPr>
        <p:spPr/>
        <p:txBody>
          <a:bodyPr/>
          <a:lstStyle/>
          <a:p>
            <a:fld id="{26F23E55-D42A-41AF-9F6E-8A8A2E703B49}" type="slidenum">
              <a:rPr lang="en-GB" smtClean="0"/>
              <a:pPr/>
              <a:t>21</a:t>
            </a:fld>
            <a:endParaRPr lang="en-GB"/>
          </a:p>
        </p:txBody>
      </p:sp>
      <p:graphicFrame>
        <p:nvGraphicFramePr>
          <p:cNvPr id="9" name="Table 8"/>
          <p:cNvGraphicFramePr>
            <a:graphicFrameLocks noGrp="1"/>
          </p:cNvGraphicFramePr>
          <p:nvPr/>
        </p:nvGraphicFramePr>
        <p:xfrm>
          <a:off x="1919536" y="1632416"/>
          <a:ext cx="3960440" cy="4820920"/>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1620180">
                  <a:extLst>
                    <a:ext uri="{9D8B030D-6E8A-4147-A177-3AD203B41FA5}">
                      <a16:colId xmlns:a16="http://schemas.microsoft.com/office/drawing/2014/main" val="20001"/>
                    </a:ext>
                  </a:extLst>
                </a:gridCol>
                <a:gridCol w="1620180">
                  <a:extLst>
                    <a:ext uri="{9D8B030D-6E8A-4147-A177-3AD203B41FA5}">
                      <a16:colId xmlns:a16="http://schemas.microsoft.com/office/drawing/2014/main" val="20002"/>
                    </a:ext>
                  </a:extLst>
                </a:gridCol>
              </a:tblGrid>
              <a:tr h="370840">
                <a:tc>
                  <a:txBody>
                    <a:bodyPr/>
                    <a:lstStyle/>
                    <a:p>
                      <a:r>
                        <a:rPr lang="en-US" dirty="0"/>
                        <a:t>Time</a:t>
                      </a:r>
                    </a:p>
                  </a:txBody>
                  <a:tcPr/>
                </a:tc>
                <a:tc gridSpan="2">
                  <a:txBody>
                    <a:bodyPr/>
                    <a:lstStyle/>
                    <a:p>
                      <a:r>
                        <a:rPr lang="en-US" sz="1800" b="1" baseline="0" dirty="0"/>
                        <a:t>Schedule</a:t>
                      </a:r>
                      <a:endParaRPr lang="en-US" sz="1600" b="1" baseline="-25000"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r>
                        <a:rPr lang="en-US" dirty="0"/>
                        <a:t>t0</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r>
                        <a:rPr lang="en-US" dirty="0"/>
                        <a:t>t1</a:t>
                      </a:r>
                    </a:p>
                  </a:txBody>
                  <a:tcPr/>
                </a:tc>
                <a:tc>
                  <a:txBody>
                    <a:bodyPr/>
                    <a:lstStyle/>
                    <a:p>
                      <a:r>
                        <a:rPr lang="en-US" dirty="0">
                          <a:solidFill>
                            <a:srgbClr val="C00000"/>
                          </a:solidFill>
                        </a:rPr>
                        <a:t>read(X)</a:t>
                      </a:r>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t2</a:t>
                      </a:r>
                    </a:p>
                  </a:txBody>
                  <a:tcPr/>
                </a:tc>
                <a:tc>
                  <a:txBody>
                    <a:bodyPr/>
                    <a:lstStyle/>
                    <a:p>
                      <a:endParaRPr lang="en-US"/>
                    </a:p>
                  </a:txBody>
                  <a:tcPr/>
                </a:tc>
                <a:tc>
                  <a:txBody>
                    <a:bodyPr/>
                    <a:lstStyle/>
                    <a:p>
                      <a:r>
                        <a:rPr lang="en-US" dirty="0">
                          <a:solidFill>
                            <a:schemeClr val="tx2"/>
                          </a:solidFill>
                        </a:rPr>
                        <a:t>read(X)</a:t>
                      </a:r>
                      <a:endParaRPr lang="en-US" dirty="0"/>
                    </a:p>
                  </a:txBody>
                  <a:tcPr/>
                </a:tc>
                <a:extLst>
                  <a:ext uri="{0D108BD9-81ED-4DB2-BD59-A6C34878D82A}">
                    <a16:rowId xmlns:a16="http://schemas.microsoft.com/office/drawing/2014/main" val="10003"/>
                  </a:ext>
                </a:extLst>
              </a:tr>
              <a:tr h="370840">
                <a:tc>
                  <a:txBody>
                    <a:bodyPr/>
                    <a:lstStyle/>
                    <a:p>
                      <a:r>
                        <a:rPr lang="en-US" dirty="0"/>
                        <a:t>t3</a:t>
                      </a:r>
                    </a:p>
                  </a:txBody>
                  <a:tcPr/>
                </a:tc>
                <a:tc>
                  <a:txBody>
                    <a:bodyPr/>
                    <a:lstStyle/>
                    <a:p>
                      <a:endParaRPr lang="en-US" dirty="0"/>
                    </a:p>
                  </a:txBody>
                  <a:tcPr/>
                </a:tc>
                <a:tc>
                  <a:txBody>
                    <a:bodyPr/>
                    <a:lstStyle/>
                    <a:p>
                      <a:r>
                        <a:rPr lang="en-US" dirty="0">
                          <a:solidFill>
                            <a:schemeClr val="tx2"/>
                          </a:solidFill>
                        </a:rPr>
                        <a:t>X := X + M</a:t>
                      </a:r>
                      <a:endParaRPr lang="en-US" dirty="0"/>
                    </a:p>
                  </a:txBody>
                  <a:tcPr/>
                </a:tc>
                <a:extLst>
                  <a:ext uri="{0D108BD9-81ED-4DB2-BD59-A6C34878D82A}">
                    <a16:rowId xmlns:a16="http://schemas.microsoft.com/office/drawing/2014/main" val="10004"/>
                  </a:ext>
                </a:extLst>
              </a:tr>
              <a:tr h="370840">
                <a:tc>
                  <a:txBody>
                    <a:bodyPr/>
                    <a:lstStyle/>
                    <a:p>
                      <a:r>
                        <a:rPr lang="en-US" dirty="0"/>
                        <a:t>t4</a:t>
                      </a:r>
                    </a:p>
                  </a:txBody>
                  <a:tcPr/>
                </a:tc>
                <a:tc>
                  <a:txBody>
                    <a:bodyPr/>
                    <a:lstStyle/>
                    <a:p>
                      <a:r>
                        <a:rPr lang="en-GB" sz="1800" dirty="0">
                          <a:solidFill>
                            <a:srgbClr val="C00000"/>
                          </a:solidFill>
                        </a:rPr>
                        <a:t>X := X + N</a:t>
                      </a:r>
                      <a:endParaRPr lang="en-US" dirty="0">
                        <a:solidFill>
                          <a:srgbClr val="C00000"/>
                        </a:solidFill>
                      </a:endParaRPr>
                    </a:p>
                  </a:txBody>
                  <a:tcPr/>
                </a:tc>
                <a:tc>
                  <a:txBody>
                    <a:bodyPr/>
                    <a:lstStyle/>
                    <a:p>
                      <a:endParaRPr lang="en-US" dirty="0"/>
                    </a:p>
                  </a:txBody>
                  <a:tcPr/>
                </a:tc>
                <a:extLst>
                  <a:ext uri="{0D108BD9-81ED-4DB2-BD59-A6C34878D82A}">
                    <a16:rowId xmlns:a16="http://schemas.microsoft.com/office/drawing/2014/main" val="10005"/>
                  </a:ext>
                </a:extLst>
              </a:tr>
              <a:tr h="370840">
                <a:tc>
                  <a:txBody>
                    <a:bodyPr/>
                    <a:lstStyle/>
                    <a:p>
                      <a:r>
                        <a:rPr lang="en-US" dirty="0"/>
                        <a:t>t5</a:t>
                      </a:r>
                    </a:p>
                  </a:txBody>
                  <a:tcPr/>
                </a:tc>
                <a:tc>
                  <a:txBody>
                    <a:bodyPr/>
                    <a:lstStyle/>
                    <a:p>
                      <a:r>
                        <a:rPr lang="en-GB" sz="1800" dirty="0">
                          <a:solidFill>
                            <a:srgbClr val="C00000"/>
                          </a:solidFill>
                        </a:rPr>
                        <a:t>write(X)</a:t>
                      </a:r>
                      <a:endParaRPr lang="en-US" dirty="0">
                        <a:solidFill>
                          <a:srgbClr val="C00000"/>
                        </a:solidFill>
                      </a:endParaRPr>
                    </a:p>
                  </a:txBody>
                  <a:tcPr/>
                </a:tc>
                <a:tc>
                  <a:txBody>
                    <a:bodyPr/>
                    <a:lstStyle/>
                    <a:p>
                      <a:endParaRPr lang="en-US" dirty="0"/>
                    </a:p>
                  </a:txBody>
                  <a:tcPr/>
                </a:tc>
                <a:extLst>
                  <a:ext uri="{0D108BD9-81ED-4DB2-BD59-A6C34878D82A}">
                    <a16:rowId xmlns:a16="http://schemas.microsoft.com/office/drawing/2014/main" val="10006"/>
                  </a:ext>
                </a:extLst>
              </a:tr>
              <a:tr h="370840">
                <a:tc>
                  <a:txBody>
                    <a:bodyPr/>
                    <a:lstStyle/>
                    <a:p>
                      <a:r>
                        <a:rPr lang="en-US" dirty="0"/>
                        <a:t>t6</a:t>
                      </a:r>
                    </a:p>
                  </a:txBody>
                  <a:tcPr/>
                </a:tc>
                <a:tc>
                  <a:txBody>
                    <a:bodyPr/>
                    <a:lstStyle/>
                    <a:p>
                      <a:r>
                        <a:rPr lang="en-US" dirty="0">
                          <a:solidFill>
                            <a:srgbClr val="C00000"/>
                          </a:solidFill>
                        </a:rPr>
                        <a:t>read(Y)</a:t>
                      </a:r>
                    </a:p>
                  </a:txBody>
                  <a:tcPr/>
                </a:tc>
                <a:tc>
                  <a:txBody>
                    <a:bodyPr/>
                    <a:lstStyle/>
                    <a:p>
                      <a:endParaRPr lang="en-US" dirty="0"/>
                    </a:p>
                  </a:txBody>
                  <a:tcPr/>
                </a:tc>
                <a:extLst>
                  <a:ext uri="{0D108BD9-81ED-4DB2-BD59-A6C34878D82A}">
                    <a16:rowId xmlns:a16="http://schemas.microsoft.com/office/drawing/2014/main" val="10007"/>
                  </a:ext>
                </a:extLst>
              </a:tr>
              <a:tr h="370840">
                <a:tc>
                  <a:txBody>
                    <a:bodyPr/>
                    <a:lstStyle/>
                    <a:p>
                      <a:r>
                        <a:rPr lang="en-US" dirty="0"/>
                        <a:t>t7</a:t>
                      </a:r>
                    </a:p>
                  </a:txBody>
                  <a:tcPr/>
                </a:tc>
                <a:tc>
                  <a:txBody>
                    <a:bodyPr/>
                    <a:lstStyle/>
                    <a:p>
                      <a:endParaRPr lang="en-US" dirty="0"/>
                    </a:p>
                  </a:txBody>
                  <a:tcPr/>
                </a:tc>
                <a:tc>
                  <a:txBody>
                    <a:bodyPr/>
                    <a:lstStyle/>
                    <a:p>
                      <a:r>
                        <a:rPr lang="en-US" dirty="0">
                          <a:solidFill>
                            <a:schemeClr val="tx2"/>
                          </a:solidFill>
                        </a:rPr>
                        <a:t>write(X)</a:t>
                      </a:r>
                      <a:endParaRPr lang="en-US" dirty="0"/>
                    </a:p>
                  </a:txBody>
                  <a:tcPr/>
                </a:tc>
                <a:extLst>
                  <a:ext uri="{0D108BD9-81ED-4DB2-BD59-A6C34878D82A}">
                    <a16:rowId xmlns:a16="http://schemas.microsoft.com/office/drawing/2014/main" val="10008"/>
                  </a:ext>
                </a:extLst>
              </a:tr>
              <a:tr h="370840">
                <a:tc>
                  <a:txBody>
                    <a:bodyPr/>
                    <a:lstStyle/>
                    <a:p>
                      <a:r>
                        <a:rPr lang="en-US" dirty="0"/>
                        <a:t>t8</a:t>
                      </a:r>
                    </a:p>
                  </a:txBody>
                  <a:tcPr/>
                </a:tc>
                <a:tc>
                  <a:txBody>
                    <a:bodyPr/>
                    <a:lstStyle/>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rPr>
                        <a:t>commit</a:t>
                      </a:r>
                    </a:p>
                  </a:txBody>
                  <a:tcPr/>
                </a:tc>
                <a:extLst>
                  <a:ext uri="{0D108BD9-81ED-4DB2-BD59-A6C34878D82A}">
                    <a16:rowId xmlns:a16="http://schemas.microsoft.com/office/drawing/2014/main" val="10009"/>
                  </a:ext>
                </a:extLst>
              </a:tr>
              <a:tr h="370840">
                <a:tc>
                  <a:txBody>
                    <a:bodyPr/>
                    <a:lstStyle/>
                    <a:p>
                      <a:r>
                        <a:rPr lang="en-US" dirty="0"/>
                        <a:t>t9</a:t>
                      </a:r>
                    </a:p>
                  </a:txBody>
                  <a:tcPr/>
                </a:tc>
                <a:tc>
                  <a:txBody>
                    <a:bodyPr/>
                    <a:lstStyle/>
                    <a:p>
                      <a:r>
                        <a:rPr lang="en-GB" sz="1800" dirty="0">
                          <a:solidFill>
                            <a:srgbClr val="C00000"/>
                          </a:solidFill>
                        </a:rPr>
                        <a:t>Y := Y +</a:t>
                      </a:r>
                      <a:r>
                        <a:rPr lang="en-GB" sz="1800" baseline="0" dirty="0">
                          <a:solidFill>
                            <a:srgbClr val="C00000"/>
                          </a:solidFill>
                        </a:rPr>
                        <a:t> N</a:t>
                      </a:r>
                      <a:endParaRPr lang="en-US" dirty="0">
                        <a:solidFill>
                          <a:srgbClr val="C00000"/>
                        </a:solidFill>
                      </a:endParaRPr>
                    </a:p>
                  </a:txBody>
                  <a:tcPr/>
                </a:tc>
                <a:tc>
                  <a:txBody>
                    <a:bodyPr/>
                    <a:lstStyle/>
                    <a:p>
                      <a:endParaRPr lang="en-US" dirty="0">
                        <a:solidFill>
                          <a:schemeClr val="tx2"/>
                        </a:solidFill>
                      </a:endParaRPr>
                    </a:p>
                  </a:txBody>
                  <a:tcPr/>
                </a:tc>
                <a:extLst>
                  <a:ext uri="{0D108BD9-81ED-4DB2-BD59-A6C34878D82A}">
                    <a16:rowId xmlns:a16="http://schemas.microsoft.com/office/drawing/2014/main" val="10010"/>
                  </a:ext>
                </a:extLst>
              </a:tr>
              <a:tr h="370840">
                <a:tc>
                  <a:txBody>
                    <a:bodyPr/>
                    <a:lstStyle/>
                    <a:p>
                      <a:r>
                        <a:rPr lang="en-US" dirty="0"/>
                        <a:t>t10</a:t>
                      </a:r>
                    </a:p>
                  </a:txBody>
                  <a:tcPr/>
                </a:tc>
                <a:tc>
                  <a:txBody>
                    <a:bodyPr/>
                    <a:lstStyle/>
                    <a:p>
                      <a:r>
                        <a:rPr lang="en-US" dirty="0">
                          <a:solidFill>
                            <a:srgbClr val="C00000"/>
                          </a:solidFill>
                        </a:rPr>
                        <a:t>write(Y)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2"/>
                        </a:solidFill>
                      </a:endParaRPr>
                    </a:p>
                  </a:txBody>
                  <a:tcPr/>
                </a:tc>
                <a:extLst>
                  <a:ext uri="{0D108BD9-81ED-4DB2-BD59-A6C34878D82A}">
                    <a16:rowId xmlns:a16="http://schemas.microsoft.com/office/drawing/2014/main" val="10011"/>
                  </a:ext>
                </a:extLst>
              </a:tr>
              <a:tr h="370840">
                <a:tc>
                  <a:txBody>
                    <a:bodyPr/>
                    <a:lstStyle/>
                    <a:p>
                      <a:r>
                        <a:rPr lang="en-US" dirty="0"/>
                        <a:t>t11</a:t>
                      </a:r>
                    </a:p>
                  </a:txBody>
                  <a:tcPr/>
                </a:tc>
                <a:tc>
                  <a:txBody>
                    <a:bodyPr/>
                    <a:lstStyle/>
                    <a:p>
                      <a:r>
                        <a:rPr lang="en-US" dirty="0">
                          <a:solidFill>
                            <a:srgbClr val="C00000"/>
                          </a:solidFill>
                        </a:rPr>
                        <a:t>commit</a:t>
                      </a:r>
                    </a:p>
                  </a:txBody>
                  <a:tcPr/>
                </a:tc>
                <a:tc>
                  <a:txBody>
                    <a:bodyPr/>
                    <a:lstStyle/>
                    <a:p>
                      <a:endParaRPr lang="en-US" dirty="0">
                        <a:solidFill>
                          <a:schemeClr val="tx2"/>
                        </a:solidFill>
                      </a:endParaRPr>
                    </a:p>
                  </a:txBody>
                  <a:tcPr/>
                </a:tc>
                <a:extLst>
                  <a:ext uri="{0D108BD9-81ED-4DB2-BD59-A6C34878D82A}">
                    <a16:rowId xmlns:a16="http://schemas.microsoft.com/office/drawing/2014/main" val="10012"/>
                  </a:ext>
                </a:extLst>
              </a:tr>
            </a:tbl>
          </a:graphicData>
        </a:graphic>
      </p:graphicFrame>
      <p:grpSp>
        <p:nvGrpSpPr>
          <p:cNvPr id="45" name="Group 44"/>
          <p:cNvGrpSpPr/>
          <p:nvPr/>
        </p:nvGrpSpPr>
        <p:grpSpPr>
          <a:xfrm>
            <a:off x="6600056" y="1697358"/>
            <a:ext cx="3538560" cy="4467946"/>
            <a:chOff x="5076056" y="1697358"/>
            <a:chExt cx="3538560" cy="4467946"/>
          </a:xfrm>
        </p:grpSpPr>
        <p:sp>
          <p:nvSpPr>
            <p:cNvPr id="6" name="Can 5"/>
            <p:cNvSpPr/>
            <p:nvPr/>
          </p:nvSpPr>
          <p:spPr>
            <a:xfrm>
              <a:off x="5076056" y="4941168"/>
              <a:ext cx="1656184" cy="1224136"/>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5616116" y="5364309"/>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10" name="Rectangle 9"/>
            <p:cNvSpPr/>
            <p:nvPr/>
          </p:nvSpPr>
          <p:spPr>
            <a:xfrm>
              <a:off x="5616116" y="5733256"/>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a:t>
              </a:r>
            </a:p>
          </p:txBody>
        </p:sp>
        <p:sp>
          <p:nvSpPr>
            <p:cNvPr id="11" name="Rectangle 10"/>
            <p:cNvSpPr/>
            <p:nvPr/>
          </p:nvSpPr>
          <p:spPr>
            <a:xfrm>
              <a:off x="5292080" y="536430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12" name="Rectangle 11"/>
            <p:cNvSpPr/>
            <p:nvPr/>
          </p:nvSpPr>
          <p:spPr>
            <a:xfrm>
              <a:off x="5292080" y="572434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bg1"/>
                  </a:solidFill>
                </a:rPr>
                <a:t>Y</a:t>
              </a:r>
              <a:endParaRPr lang="en-US" dirty="0">
                <a:solidFill>
                  <a:schemeClr val="bg1"/>
                </a:solidFill>
              </a:endParaRPr>
            </a:p>
          </p:txBody>
        </p:sp>
        <p:sp>
          <p:nvSpPr>
            <p:cNvPr id="4" name="Rectangle 3"/>
            <p:cNvSpPr/>
            <p:nvPr/>
          </p:nvSpPr>
          <p:spPr>
            <a:xfrm>
              <a:off x="5364088" y="3529111"/>
              <a:ext cx="108012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5292080" y="2081439"/>
              <a:ext cx="1224357"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5631256" y="2216437"/>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19" name="Rectangle 18"/>
            <p:cNvSpPr/>
            <p:nvPr/>
          </p:nvSpPr>
          <p:spPr>
            <a:xfrm>
              <a:off x="5631256" y="2585384"/>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0" name="Rectangle 19"/>
            <p:cNvSpPr/>
            <p:nvPr/>
          </p:nvSpPr>
          <p:spPr>
            <a:xfrm>
              <a:off x="5307220" y="2216437"/>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21" name="Rectangle 20"/>
            <p:cNvSpPr/>
            <p:nvPr/>
          </p:nvSpPr>
          <p:spPr>
            <a:xfrm>
              <a:off x="5307220" y="2576477"/>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bg1"/>
                  </a:solidFill>
                </a:rPr>
                <a:t>Y</a:t>
              </a:r>
              <a:endParaRPr lang="en-US" dirty="0">
                <a:solidFill>
                  <a:schemeClr val="bg1"/>
                </a:solidFill>
              </a:endParaRPr>
            </a:p>
          </p:txBody>
        </p:sp>
        <p:sp>
          <p:nvSpPr>
            <p:cNvPr id="22" name="Rectangle 21"/>
            <p:cNvSpPr/>
            <p:nvPr/>
          </p:nvSpPr>
          <p:spPr>
            <a:xfrm>
              <a:off x="7308304" y="2082552"/>
              <a:ext cx="1224136"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7647479" y="2217550"/>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25" name="Rectangle 24"/>
            <p:cNvSpPr/>
            <p:nvPr/>
          </p:nvSpPr>
          <p:spPr>
            <a:xfrm>
              <a:off x="7323443" y="2217550"/>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5" name="TextBox 4"/>
            <p:cNvSpPr txBox="1"/>
            <p:nvPr/>
          </p:nvSpPr>
          <p:spPr>
            <a:xfrm>
              <a:off x="6479671" y="3786901"/>
              <a:ext cx="846450" cy="369332"/>
            </a:xfrm>
            <a:prstGeom prst="rect">
              <a:avLst/>
            </a:prstGeom>
            <a:noFill/>
          </p:spPr>
          <p:txBody>
            <a:bodyPr wrap="none" rtlCol="0">
              <a:spAutoFit/>
            </a:bodyPr>
            <a:lstStyle/>
            <a:p>
              <a:r>
                <a:rPr lang="en-US" dirty="0">
                  <a:solidFill>
                    <a:schemeClr val="tx2"/>
                  </a:solidFill>
                </a:rPr>
                <a:t>Buffers</a:t>
              </a:r>
            </a:p>
          </p:txBody>
        </p:sp>
        <p:sp>
          <p:nvSpPr>
            <p:cNvPr id="27" name="TextBox 26"/>
            <p:cNvSpPr txBox="1"/>
            <p:nvPr/>
          </p:nvSpPr>
          <p:spPr>
            <a:xfrm>
              <a:off x="6768244" y="5368570"/>
              <a:ext cx="1058303" cy="369332"/>
            </a:xfrm>
            <a:prstGeom prst="rect">
              <a:avLst/>
            </a:prstGeom>
            <a:noFill/>
          </p:spPr>
          <p:txBody>
            <a:bodyPr wrap="none" rtlCol="0">
              <a:spAutoFit/>
            </a:bodyPr>
            <a:lstStyle/>
            <a:p>
              <a:r>
                <a:rPr lang="en-US">
                  <a:solidFill>
                    <a:schemeClr val="tx2"/>
                  </a:solidFill>
                </a:rPr>
                <a:t>Database</a:t>
              </a:r>
              <a:endParaRPr lang="en-US" dirty="0">
                <a:solidFill>
                  <a:schemeClr val="tx2"/>
                </a:solidFill>
              </a:endParaRPr>
            </a:p>
          </p:txBody>
        </p:sp>
        <p:sp>
          <p:nvSpPr>
            <p:cNvPr id="28" name="TextBox 27"/>
            <p:cNvSpPr txBox="1"/>
            <p:nvPr/>
          </p:nvSpPr>
          <p:spPr>
            <a:xfrm>
              <a:off x="5185021" y="1709488"/>
              <a:ext cx="1432123" cy="369332"/>
            </a:xfrm>
            <a:prstGeom prst="rect">
              <a:avLst/>
            </a:prstGeom>
            <a:noFill/>
          </p:spPr>
          <p:txBody>
            <a:bodyPr wrap="none" rtlCol="0">
              <a:spAutoFit/>
            </a:bodyPr>
            <a:lstStyle/>
            <a:p>
              <a:r>
                <a:rPr lang="en-US">
                  <a:solidFill>
                    <a:schemeClr val="tx2"/>
                  </a:solidFill>
                </a:rPr>
                <a:t>Transaction 1</a:t>
              </a:r>
              <a:endParaRPr lang="en-US" dirty="0">
                <a:solidFill>
                  <a:schemeClr val="tx2"/>
                </a:solidFill>
              </a:endParaRPr>
            </a:p>
          </p:txBody>
        </p:sp>
        <p:sp>
          <p:nvSpPr>
            <p:cNvPr id="29" name="TextBox 28"/>
            <p:cNvSpPr txBox="1"/>
            <p:nvPr/>
          </p:nvSpPr>
          <p:spPr>
            <a:xfrm>
              <a:off x="7182493" y="1697358"/>
              <a:ext cx="1432123" cy="369332"/>
            </a:xfrm>
            <a:prstGeom prst="rect">
              <a:avLst/>
            </a:prstGeom>
            <a:noFill/>
          </p:spPr>
          <p:txBody>
            <a:bodyPr wrap="none" rtlCol="0">
              <a:spAutoFit/>
            </a:bodyPr>
            <a:lstStyle/>
            <a:p>
              <a:r>
                <a:rPr lang="en-US" dirty="0">
                  <a:solidFill>
                    <a:schemeClr val="tx2"/>
                  </a:solidFill>
                </a:rPr>
                <a:t>Transaction 2</a:t>
              </a:r>
            </a:p>
          </p:txBody>
        </p:sp>
        <p:cxnSp>
          <p:nvCxnSpPr>
            <p:cNvPr id="30" name="Straight Arrow Connector 29"/>
            <p:cNvCxnSpPr>
              <a:stCxn id="4" idx="2"/>
              <a:endCxn id="6" idx="1"/>
            </p:cNvCxnSpPr>
            <p:nvPr/>
          </p:nvCxnSpPr>
          <p:spPr>
            <a:xfrm>
              <a:off x="5904148" y="4443511"/>
              <a:ext cx="0" cy="49765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17" idx="2"/>
              <a:endCxn id="4" idx="0"/>
            </p:cNvCxnSpPr>
            <p:nvPr/>
          </p:nvCxnSpPr>
          <p:spPr>
            <a:xfrm flipH="1">
              <a:off x="5904148" y="2995839"/>
              <a:ext cx="111" cy="53327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H="1">
              <a:off x="6479671" y="2995839"/>
              <a:ext cx="828634" cy="53327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grpSp>
      <p:sp>
        <p:nvSpPr>
          <p:cNvPr id="52" name="Rectangle 51"/>
          <p:cNvSpPr/>
          <p:nvPr/>
        </p:nvSpPr>
        <p:spPr>
          <a:xfrm>
            <a:off x="9163191" y="2213483"/>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1+M</a:t>
            </a:r>
          </a:p>
        </p:txBody>
      </p:sp>
      <p:sp>
        <p:nvSpPr>
          <p:cNvPr id="46" name="Rectangle 45"/>
          <p:cNvSpPr/>
          <p:nvPr/>
        </p:nvSpPr>
        <p:spPr>
          <a:xfrm>
            <a:off x="6903227" y="366410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47" name="Rectangle 46"/>
          <p:cNvSpPr/>
          <p:nvPr/>
        </p:nvSpPr>
        <p:spPr>
          <a:xfrm>
            <a:off x="7227263" y="3676451"/>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53" name="Rectangle 52"/>
          <p:cNvSpPr/>
          <p:nvPr/>
        </p:nvSpPr>
        <p:spPr>
          <a:xfrm>
            <a:off x="1775520" y="5724349"/>
            <a:ext cx="4248472" cy="360040"/>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 name="Rectangle 30"/>
          <p:cNvSpPr/>
          <p:nvPr/>
        </p:nvSpPr>
        <p:spPr>
          <a:xfrm>
            <a:off x="7155256" y="2213929"/>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1+N</a:t>
            </a:r>
          </a:p>
        </p:txBody>
      </p:sp>
      <p:sp>
        <p:nvSpPr>
          <p:cNvPr id="35" name="Rectangle 34"/>
          <p:cNvSpPr/>
          <p:nvPr/>
        </p:nvSpPr>
        <p:spPr>
          <a:xfrm>
            <a:off x="7223525" y="3673016"/>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1-N</a:t>
            </a:r>
          </a:p>
        </p:txBody>
      </p:sp>
      <p:sp>
        <p:nvSpPr>
          <p:cNvPr id="34" name="Rectangle 33"/>
          <p:cNvSpPr/>
          <p:nvPr/>
        </p:nvSpPr>
        <p:spPr>
          <a:xfrm>
            <a:off x="7227263" y="4033056"/>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a:t>
            </a:r>
          </a:p>
        </p:txBody>
      </p:sp>
      <p:sp>
        <p:nvSpPr>
          <p:cNvPr id="36" name="Rectangle 35"/>
          <p:cNvSpPr/>
          <p:nvPr/>
        </p:nvSpPr>
        <p:spPr>
          <a:xfrm>
            <a:off x="6903227" y="402414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Y</a:t>
            </a:r>
          </a:p>
        </p:txBody>
      </p:sp>
      <p:sp>
        <p:nvSpPr>
          <p:cNvPr id="42" name="Rectangle 41"/>
          <p:cNvSpPr/>
          <p:nvPr/>
        </p:nvSpPr>
        <p:spPr>
          <a:xfrm>
            <a:off x="7155256" y="2580232"/>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a:t>
            </a:r>
          </a:p>
        </p:txBody>
      </p:sp>
      <p:sp>
        <p:nvSpPr>
          <p:cNvPr id="40" name="Rectangle 39"/>
          <p:cNvSpPr/>
          <p:nvPr/>
        </p:nvSpPr>
        <p:spPr>
          <a:xfrm>
            <a:off x="7140116" y="5373216"/>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1+M</a:t>
            </a:r>
          </a:p>
        </p:txBody>
      </p:sp>
      <p:sp>
        <p:nvSpPr>
          <p:cNvPr id="43" name="Rectangle 42"/>
          <p:cNvSpPr/>
          <p:nvPr/>
        </p:nvSpPr>
        <p:spPr>
          <a:xfrm>
            <a:off x="7219787" y="3673280"/>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1+M</a:t>
            </a:r>
          </a:p>
        </p:txBody>
      </p:sp>
      <p:sp>
        <p:nvSpPr>
          <p:cNvPr id="39" name="Rectangle 38"/>
          <p:cNvSpPr/>
          <p:nvPr/>
        </p:nvSpPr>
        <p:spPr>
          <a:xfrm>
            <a:off x="7155256" y="2587115"/>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2+N</a:t>
            </a:r>
          </a:p>
        </p:txBody>
      </p:sp>
      <p:sp>
        <p:nvSpPr>
          <p:cNvPr id="44" name="Rectangle 43"/>
          <p:cNvSpPr/>
          <p:nvPr/>
        </p:nvSpPr>
        <p:spPr>
          <a:xfrm>
            <a:off x="7219787" y="4026173"/>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2+N</a:t>
            </a:r>
          </a:p>
        </p:txBody>
      </p:sp>
      <p:cxnSp>
        <p:nvCxnSpPr>
          <p:cNvPr id="48" name="Curved Connector 47"/>
          <p:cNvCxnSpPr>
            <a:stCxn id="39" idx="2"/>
            <a:endCxn id="44" idx="0"/>
          </p:cNvCxnSpPr>
          <p:nvPr/>
        </p:nvCxnSpPr>
        <p:spPr>
          <a:xfrm rot="16200000" flipH="1">
            <a:off x="6918042" y="3418395"/>
            <a:ext cx="1151026" cy="64531"/>
          </a:xfrm>
          <a:prstGeom prst="curved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669192100"/>
      </p:ext>
    </p:extLst>
  </p:cSld>
  <p:clrMapOvr>
    <a:masterClrMapping/>
  </p:clrMapOvr>
  <mc:AlternateContent xmlns:mc="http://schemas.openxmlformats.org/markup-compatibility/2006" xmlns:p14="http://schemas.microsoft.com/office/powerpoint/2010/main">
    <mc:Choice Requires="p14">
      <p:transition spd="slow" p14:dur="2000" advTm="4816"/>
    </mc:Choice>
    <mc:Fallback xmlns="">
      <p:transition spd="slow" advTm="481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up)">
                                      <p:cBhvr>
                                        <p:cTn id="7" dur="500"/>
                                        <p:tgtEl>
                                          <p:spTgt spid="48"/>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par>
                          <p:cTn id="11" fill="hold">
                            <p:stCondLst>
                              <p:cond delay="500"/>
                            </p:stCondLst>
                            <p:childTnLst>
                              <p:par>
                                <p:cTn id="12" presetID="22" presetClass="exit" presetSubtype="1" fill="hold" nodeType="afterEffect">
                                  <p:stCondLst>
                                    <p:cond delay="0"/>
                                  </p:stCondLst>
                                  <p:childTnLst>
                                    <p:animEffect transition="out" filter="wipe(up)">
                                      <p:cBhvr>
                                        <p:cTn id="13" dur="500"/>
                                        <p:tgtEl>
                                          <p:spTgt spid="48"/>
                                        </p:tgtEl>
                                      </p:cBhvr>
                                    </p:animEffect>
                                    <p:set>
                                      <p:cBhvr>
                                        <p:cTn id="14" dur="1" fill="hold">
                                          <p:stCondLst>
                                            <p:cond delay="499"/>
                                          </p:stCondLst>
                                        </p:cTn>
                                        <p:tgtEl>
                                          <p:spTgt spid="4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Concurrent Schedules Do Not Guarantee Consistency or Isolation</a:t>
            </a:r>
            <a:endParaRPr lang="en-GB" sz="3100" dirty="0"/>
          </a:p>
        </p:txBody>
      </p:sp>
      <p:sp>
        <p:nvSpPr>
          <p:cNvPr id="7" name="Slide Number Placeholder 6"/>
          <p:cNvSpPr>
            <a:spLocks noGrp="1"/>
          </p:cNvSpPr>
          <p:nvPr>
            <p:ph type="sldNum" sz="quarter" idx="12"/>
          </p:nvPr>
        </p:nvSpPr>
        <p:spPr/>
        <p:txBody>
          <a:bodyPr/>
          <a:lstStyle/>
          <a:p>
            <a:fld id="{26F23E55-D42A-41AF-9F6E-8A8A2E703B49}" type="slidenum">
              <a:rPr lang="en-GB" smtClean="0"/>
              <a:pPr/>
              <a:t>22</a:t>
            </a:fld>
            <a:endParaRPr lang="en-GB"/>
          </a:p>
        </p:txBody>
      </p:sp>
      <p:graphicFrame>
        <p:nvGraphicFramePr>
          <p:cNvPr id="9" name="Table 8"/>
          <p:cNvGraphicFramePr>
            <a:graphicFrameLocks noGrp="1"/>
          </p:cNvGraphicFramePr>
          <p:nvPr/>
        </p:nvGraphicFramePr>
        <p:xfrm>
          <a:off x="1919536" y="1632416"/>
          <a:ext cx="3960440" cy="4820920"/>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1620180">
                  <a:extLst>
                    <a:ext uri="{9D8B030D-6E8A-4147-A177-3AD203B41FA5}">
                      <a16:colId xmlns:a16="http://schemas.microsoft.com/office/drawing/2014/main" val="20001"/>
                    </a:ext>
                  </a:extLst>
                </a:gridCol>
                <a:gridCol w="1620180">
                  <a:extLst>
                    <a:ext uri="{9D8B030D-6E8A-4147-A177-3AD203B41FA5}">
                      <a16:colId xmlns:a16="http://schemas.microsoft.com/office/drawing/2014/main" val="20002"/>
                    </a:ext>
                  </a:extLst>
                </a:gridCol>
              </a:tblGrid>
              <a:tr h="370840">
                <a:tc>
                  <a:txBody>
                    <a:bodyPr/>
                    <a:lstStyle/>
                    <a:p>
                      <a:r>
                        <a:rPr lang="en-US" dirty="0"/>
                        <a:t>Time</a:t>
                      </a:r>
                    </a:p>
                  </a:txBody>
                  <a:tcPr/>
                </a:tc>
                <a:tc gridSpan="2">
                  <a:txBody>
                    <a:bodyPr/>
                    <a:lstStyle/>
                    <a:p>
                      <a:r>
                        <a:rPr lang="en-US" sz="1800" b="1" baseline="0" dirty="0"/>
                        <a:t>Schedule</a:t>
                      </a:r>
                      <a:endParaRPr lang="en-US" sz="1600" b="1" baseline="-25000"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r>
                        <a:rPr lang="en-US" dirty="0"/>
                        <a:t>t0</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r>
                        <a:rPr lang="en-US" dirty="0"/>
                        <a:t>t1</a:t>
                      </a:r>
                    </a:p>
                  </a:txBody>
                  <a:tcPr/>
                </a:tc>
                <a:tc>
                  <a:txBody>
                    <a:bodyPr/>
                    <a:lstStyle/>
                    <a:p>
                      <a:r>
                        <a:rPr lang="en-US" dirty="0">
                          <a:solidFill>
                            <a:srgbClr val="C00000"/>
                          </a:solidFill>
                        </a:rPr>
                        <a:t>read(X)</a:t>
                      </a:r>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t2</a:t>
                      </a:r>
                    </a:p>
                  </a:txBody>
                  <a:tcPr/>
                </a:tc>
                <a:tc>
                  <a:txBody>
                    <a:bodyPr/>
                    <a:lstStyle/>
                    <a:p>
                      <a:endParaRPr lang="en-US"/>
                    </a:p>
                  </a:txBody>
                  <a:tcPr/>
                </a:tc>
                <a:tc>
                  <a:txBody>
                    <a:bodyPr/>
                    <a:lstStyle/>
                    <a:p>
                      <a:r>
                        <a:rPr lang="en-US" dirty="0">
                          <a:solidFill>
                            <a:schemeClr val="tx2"/>
                          </a:solidFill>
                        </a:rPr>
                        <a:t>read(X)</a:t>
                      </a:r>
                      <a:endParaRPr lang="en-US" dirty="0"/>
                    </a:p>
                  </a:txBody>
                  <a:tcPr/>
                </a:tc>
                <a:extLst>
                  <a:ext uri="{0D108BD9-81ED-4DB2-BD59-A6C34878D82A}">
                    <a16:rowId xmlns:a16="http://schemas.microsoft.com/office/drawing/2014/main" val="10003"/>
                  </a:ext>
                </a:extLst>
              </a:tr>
              <a:tr h="370840">
                <a:tc>
                  <a:txBody>
                    <a:bodyPr/>
                    <a:lstStyle/>
                    <a:p>
                      <a:r>
                        <a:rPr lang="en-US" dirty="0"/>
                        <a:t>t3</a:t>
                      </a:r>
                    </a:p>
                  </a:txBody>
                  <a:tcPr/>
                </a:tc>
                <a:tc>
                  <a:txBody>
                    <a:bodyPr/>
                    <a:lstStyle/>
                    <a:p>
                      <a:endParaRPr lang="en-US" dirty="0"/>
                    </a:p>
                  </a:txBody>
                  <a:tcPr/>
                </a:tc>
                <a:tc>
                  <a:txBody>
                    <a:bodyPr/>
                    <a:lstStyle/>
                    <a:p>
                      <a:r>
                        <a:rPr lang="en-US" dirty="0">
                          <a:solidFill>
                            <a:schemeClr val="tx2"/>
                          </a:solidFill>
                        </a:rPr>
                        <a:t>X := X + M</a:t>
                      </a:r>
                      <a:endParaRPr lang="en-US" dirty="0"/>
                    </a:p>
                  </a:txBody>
                  <a:tcPr/>
                </a:tc>
                <a:extLst>
                  <a:ext uri="{0D108BD9-81ED-4DB2-BD59-A6C34878D82A}">
                    <a16:rowId xmlns:a16="http://schemas.microsoft.com/office/drawing/2014/main" val="10004"/>
                  </a:ext>
                </a:extLst>
              </a:tr>
              <a:tr h="370840">
                <a:tc>
                  <a:txBody>
                    <a:bodyPr/>
                    <a:lstStyle/>
                    <a:p>
                      <a:r>
                        <a:rPr lang="en-US" dirty="0"/>
                        <a:t>t4</a:t>
                      </a:r>
                    </a:p>
                  </a:txBody>
                  <a:tcPr/>
                </a:tc>
                <a:tc>
                  <a:txBody>
                    <a:bodyPr/>
                    <a:lstStyle/>
                    <a:p>
                      <a:r>
                        <a:rPr lang="en-GB" sz="1800" dirty="0">
                          <a:solidFill>
                            <a:srgbClr val="C00000"/>
                          </a:solidFill>
                        </a:rPr>
                        <a:t>X := X + N</a:t>
                      </a:r>
                      <a:endParaRPr lang="en-US" dirty="0">
                        <a:solidFill>
                          <a:srgbClr val="C00000"/>
                        </a:solidFill>
                      </a:endParaRPr>
                    </a:p>
                  </a:txBody>
                  <a:tcPr/>
                </a:tc>
                <a:tc>
                  <a:txBody>
                    <a:bodyPr/>
                    <a:lstStyle/>
                    <a:p>
                      <a:endParaRPr lang="en-US" dirty="0"/>
                    </a:p>
                  </a:txBody>
                  <a:tcPr/>
                </a:tc>
                <a:extLst>
                  <a:ext uri="{0D108BD9-81ED-4DB2-BD59-A6C34878D82A}">
                    <a16:rowId xmlns:a16="http://schemas.microsoft.com/office/drawing/2014/main" val="10005"/>
                  </a:ext>
                </a:extLst>
              </a:tr>
              <a:tr h="370840">
                <a:tc>
                  <a:txBody>
                    <a:bodyPr/>
                    <a:lstStyle/>
                    <a:p>
                      <a:r>
                        <a:rPr lang="en-US" dirty="0"/>
                        <a:t>t5</a:t>
                      </a:r>
                    </a:p>
                  </a:txBody>
                  <a:tcPr/>
                </a:tc>
                <a:tc>
                  <a:txBody>
                    <a:bodyPr/>
                    <a:lstStyle/>
                    <a:p>
                      <a:r>
                        <a:rPr lang="en-GB" sz="1800" dirty="0">
                          <a:solidFill>
                            <a:srgbClr val="C00000"/>
                          </a:solidFill>
                        </a:rPr>
                        <a:t>write(X)</a:t>
                      </a:r>
                      <a:endParaRPr lang="en-US" dirty="0">
                        <a:solidFill>
                          <a:srgbClr val="C00000"/>
                        </a:solidFill>
                      </a:endParaRPr>
                    </a:p>
                  </a:txBody>
                  <a:tcPr/>
                </a:tc>
                <a:tc>
                  <a:txBody>
                    <a:bodyPr/>
                    <a:lstStyle/>
                    <a:p>
                      <a:endParaRPr lang="en-US" dirty="0"/>
                    </a:p>
                  </a:txBody>
                  <a:tcPr/>
                </a:tc>
                <a:extLst>
                  <a:ext uri="{0D108BD9-81ED-4DB2-BD59-A6C34878D82A}">
                    <a16:rowId xmlns:a16="http://schemas.microsoft.com/office/drawing/2014/main" val="10006"/>
                  </a:ext>
                </a:extLst>
              </a:tr>
              <a:tr h="370840">
                <a:tc>
                  <a:txBody>
                    <a:bodyPr/>
                    <a:lstStyle/>
                    <a:p>
                      <a:r>
                        <a:rPr lang="en-US" dirty="0"/>
                        <a:t>t6</a:t>
                      </a:r>
                    </a:p>
                  </a:txBody>
                  <a:tcPr/>
                </a:tc>
                <a:tc>
                  <a:txBody>
                    <a:bodyPr/>
                    <a:lstStyle/>
                    <a:p>
                      <a:r>
                        <a:rPr lang="en-US" dirty="0">
                          <a:solidFill>
                            <a:srgbClr val="C00000"/>
                          </a:solidFill>
                        </a:rPr>
                        <a:t>read(Y)</a:t>
                      </a:r>
                    </a:p>
                  </a:txBody>
                  <a:tcPr/>
                </a:tc>
                <a:tc>
                  <a:txBody>
                    <a:bodyPr/>
                    <a:lstStyle/>
                    <a:p>
                      <a:endParaRPr lang="en-US" dirty="0"/>
                    </a:p>
                  </a:txBody>
                  <a:tcPr/>
                </a:tc>
                <a:extLst>
                  <a:ext uri="{0D108BD9-81ED-4DB2-BD59-A6C34878D82A}">
                    <a16:rowId xmlns:a16="http://schemas.microsoft.com/office/drawing/2014/main" val="10007"/>
                  </a:ext>
                </a:extLst>
              </a:tr>
              <a:tr h="370840">
                <a:tc>
                  <a:txBody>
                    <a:bodyPr/>
                    <a:lstStyle/>
                    <a:p>
                      <a:r>
                        <a:rPr lang="en-US" dirty="0"/>
                        <a:t>t7</a:t>
                      </a:r>
                    </a:p>
                  </a:txBody>
                  <a:tcPr/>
                </a:tc>
                <a:tc>
                  <a:txBody>
                    <a:bodyPr/>
                    <a:lstStyle/>
                    <a:p>
                      <a:endParaRPr lang="en-US" dirty="0"/>
                    </a:p>
                  </a:txBody>
                  <a:tcPr/>
                </a:tc>
                <a:tc>
                  <a:txBody>
                    <a:bodyPr/>
                    <a:lstStyle/>
                    <a:p>
                      <a:r>
                        <a:rPr lang="en-US" dirty="0">
                          <a:solidFill>
                            <a:schemeClr val="tx2"/>
                          </a:solidFill>
                        </a:rPr>
                        <a:t>write(X)</a:t>
                      </a:r>
                      <a:endParaRPr lang="en-US" dirty="0"/>
                    </a:p>
                  </a:txBody>
                  <a:tcPr/>
                </a:tc>
                <a:extLst>
                  <a:ext uri="{0D108BD9-81ED-4DB2-BD59-A6C34878D82A}">
                    <a16:rowId xmlns:a16="http://schemas.microsoft.com/office/drawing/2014/main" val="10008"/>
                  </a:ext>
                </a:extLst>
              </a:tr>
              <a:tr h="370840">
                <a:tc>
                  <a:txBody>
                    <a:bodyPr/>
                    <a:lstStyle/>
                    <a:p>
                      <a:r>
                        <a:rPr lang="en-US" dirty="0"/>
                        <a:t>t8</a:t>
                      </a:r>
                    </a:p>
                  </a:txBody>
                  <a:tcPr/>
                </a:tc>
                <a:tc>
                  <a:txBody>
                    <a:bodyPr/>
                    <a:lstStyle/>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rPr>
                        <a:t>commit</a:t>
                      </a:r>
                    </a:p>
                  </a:txBody>
                  <a:tcPr/>
                </a:tc>
                <a:extLst>
                  <a:ext uri="{0D108BD9-81ED-4DB2-BD59-A6C34878D82A}">
                    <a16:rowId xmlns:a16="http://schemas.microsoft.com/office/drawing/2014/main" val="10009"/>
                  </a:ext>
                </a:extLst>
              </a:tr>
              <a:tr h="370840">
                <a:tc>
                  <a:txBody>
                    <a:bodyPr/>
                    <a:lstStyle/>
                    <a:p>
                      <a:r>
                        <a:rPr lang="en-US" dirty="0"/>
                        <a:t>t9</a:t>
                      </a:r>
                    </a:p>
                  </a:txBody>
                  <a:tcPr/>
                </a:tc>
                <a:tc>
                  <a:txBody>
                    <a:bodyPr/>
                    <a:lstStyle/>
                    <a:p>
                      <a:r>
                        <a:rPr lang="en-GB" sz="1800" dirty="0">
                          <a:solidFill>
                            <a:srgbClr val="C00000"/>
                          </a:solidFill>
                        </a:rPr>
                        <a:t>Y := Y +</a:t>
                      </a:r>
                      <a:r>
                        <a:rPr lang="en-GB" sz="1800" baseline="0" dirty="0">
                          <a:solidFill>
                            <a:srgbClr val="C00000"/>
                          </a:solidFill>
                        </a:rPr>
                        <a:t> N</a:t>
                      </a:r>
                      <a:endParaRPr lang="en-US" dirty="0">
                        <a:solidFill>
                          <a:srgbClr val="C00000"/>
                        </a:solidFill>
                      </a:endParaRPr>
                    </a:p>
                  </a:txBody>
                  <a:tcPr/>
                </a:tc>
                <a:tc>
                  <a:txBody>
                    <a:bodyPr/>
                    <a:lstStyle/>
                    <a:p>
                      <a:endParaRPr lang="en-US" dirty="0">
                        <a:solidFill>
                          <a:schemeClr val="tx2"/>
                        </a:solidFill>
                      </a:endParaRPr>
                    </a:p>
                  </a:txBody>
                  <a:tcPr/>
                </a:tc>
                <a:extLst>
                  <a:ext uri="{0D108BD9-81ED-4DB2-BD59-A6C34878D82A}">
                    <a16:rowId xmlns:a16="http://schemas.microsoft.com/office/drawing/2014/main" val="10010"/>
                  </a:ext>
                </a:extLst>
              </a:tr>
              <a:tr h="370840">
                <a:tc>
                  <a:txBody>
                    <a:bodyPr/>
                    <a:lstStyle/>
                    <a:p>
                      <a:r>
                        <a:rPr lang="en-US" dirty="0"/>
                        <a:t>t10</a:t>
                      </a:r>
                    </a:p>
                  </a:txBody>
                  <a:tcPr/>
                </a:tc>
                <a:tc>
                  <a:txBody>
                    <a:bodyPr/>
                    <a:lstStyle/>
                    <a:p>
                      <a:r>
                        <a:rPr lang="en-US" dirty="0">
                          <a:solidFill>
                            <a:srgbClr val="C00000"/>
                          </a:solidFill>
                        </a:rPr>
                        <a:t>write(Y)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2"/>
                        </a:solidFill>
                      </a:endParaRPr>
                    </a:p>
                  </a:txBody>
                  <a:tcPr/>
                </a:tc>
                <a:extLst>
                  <a:ext uri="{0D108BD9-81ED-4DB2-BD59-A6C34878D82A}">
                    <a16:rowId xmlns:a16="http://schemas.microsoft.com/office/drawing/2014/main" val="10011"/>
                  </a:ext>
                </a:extLst>
              </a:tr>
              <a:tr h="370840">
                <a:tc>
                  <a:txBody>
                    <a:bodyPr/>
                    <a:lstStyle/>
                    <a:p>
                      <a:r>
                        <a:rPr lang="en-US" dirty="0"/>
                        <a:t>t11</a:t>
                      </a:r>
                    </a:p>
                  </a:txBody>
                  <a:tcPr/>
                </a:tc>
                <a:tc>
                  <a:txBody>
                    <a:bodyPr/>
                    <a:lstStyle/>
                    <a:p>
                      <a:r>
                        <a:rPr lang="en-US" dirty="0">
                          <a:solidFill>
                            <a:srgbClr val="C00000"/>
                          </a:solidFill>
                        </a:rPr>
                        <a:t>commit</a:t>
                      </a:r>
                    </a:p>
                  </a:txBody>
                  <a:tcPr/>
                </a:tc>
                <a:tc>
                  <a:txBody>
                    <a:bodyPr/>
                    <a:lstStyle/>
                    <a:p>
                      <a:endParaRPr lang="en-US" dirty="0">
                        <a:solidFill>
                          <a:schemeClr val="tx2"/>
                        </a:solidFill>
                      </a:endParaRPr>
                    </a:p>
                  </a:txBody>
                  <a:tcPr/>
                </a:tc>
                <a:extLst>
                  <a:ext uri="{0D108BD9-81ED-4DB2-BD59-A6C34878D82A}">
                    <a16:rowId xmlns:a16="http://schemas.microsoft.com/office/drawing/2014/main" val="10012"/>
                  </a:ext>
                </a:extLst>
              </a:tr>
            </a:tbl>
          </a:graphicData>
        </a:graphic>
      </p:graphicFrame>
      <p:grpSp>
        <p:nvGrpSpPr>
          <p:cNvPr id="45" name="Group 44"/>
          <p:cNvGrpSpPr/>
          <p:nvPr/>
        </p:nvGrpSpPr>
        <p:grpSpPr>
          <a:xfrm>
            <a:off x="6600056" y="1697358"/>
            <a:ext cx="3538560" cy="4467946"/>
            <a:chOff x="5076056" y="1697358"/>
            <a:chExt cx="3538560" cy="4467946"/>
          </a:xfrm>
        </p:grpSpPr>
        <p:sp>
          <p:nvSpPr>
            <p:cNvPr id="6" name="Can 5"/>
            <p:cNvSpPr/>
            <p:nvPr/>
          </p:nvSpPr>
          <p:spPr>
            <a:xfrm>
              <a:off x="5076056" y="4941168"/>
              <a:ext cx="1656184" cy="1224136"/>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5616116" y="5364309"/>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10" name="Rectangle 9"/>
            <p:cNvSpPr/>
            <p:nvPr/>
          </p:nvSpPr>
          <p:spPr>
            <a:xfrm>
              <a:off x="5616116" y="5733256"/>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a:t>
              </a:r>
            </a:p>
          </p:txBody>
        </p:sp>
        <p:sp>
          <p:nvSpPr>
            <p:cNvPr id="11" name="Rectangle 10"/>
            <p:cNvSpPr/>
            <p:nvPr/>
          </p:nvSpPr>
          <p:spPr>
            <a:xfrm>
              <a:off x="5292080" y="536430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12" name="Rectangle 11"/>
            <p:cNvSpPr/>
            <p:nvPr/>
          </p:nvSpPr>
          <p:spPr>
            <a:xfrm>
              <a:off x="5292080" y="572434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bg1"/>
                  </a:solidFill>
                </a:rPr>
                <a:t>Y</a:t>
              </a:r>
              <a:endParaRPr lang="en-US" dirty="0">
                <a:solidFill>
                  <a:schemeClr val="bg1"/>
                </a:solidFill>
              </a:endParaRPr>
            </a:p>
          </p:txBody>
        </p:sp>
        <p:sp>
          <p:nvSpPr>
            <p:cNvPr id="4" name="Rectangle 3"/>
            <p:cNvSpPr/>
            <p:nvPr/>
          </p:nvSpPr>
          <p:spPr>
            <a:xfrm>
              <a:off x="5364088" y="3529111"/>
              <a:ext cx="108012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5292080" y="2081439"/>
              <a:ext cx="1224357"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5631256" y="2216437"/>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19" name="Rectangle 18"/>
            <p:cNvSpPr/>
            <p:nvPr/>
          </p:nvSpPr>
          <p:spPr>
            <a:xfrm>
              <a:off x="5631256" y="2585384"/>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0" name="Rectangle 19"/>
            <p:cNvSpPr/>
            <p:nvPr/>
          </p:nvSpPr>
          <p:spPr>
            <a:xfrm>
              <a:off x="5307220" y="2216437"/>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21" name="Rectangle 20"/>
            <p:cNvSpPr/>
            <p:nvPr/>
          </p:nvSpPr>
          <p:spPr>
            <a:xfrm>
              <a:off x="5307220" y="2576477"/>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bg1"/>
                  </a:solidFill>
                </a:rPr>
                <a:t>Y</a:t>
              </a:r>
              <a:endParaRPr lang="en-US" dirty="0">
                <a:solidFill>
                  <a:schemeClr val="bg1"/>
                </a:solidFill>
              </a:endParaRPr>
            </a:p>
          </p:txBody>
        </p:sp>
        <p:sp>
          <p:nvSpPr>
            <p:cNvPr id="22" name="Rectangle 21"/>
            <p:cNvSpPr/>
            <p:nvPr/>
          </p:nvSpPr>
          <p:spPr>
            <a:xfrm>
              <a:off x="7308304" y="2082552"/>
              <a:ext cx="1224136"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7647479" y="2217550"/>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25" name="Rectangle 24"/>
            <p:cNvSpPr/>
            <p:nvPr/>
          </p:nvSpPr>
          <p:spPr>
            <a:xfrm>
              <a:off x="7323443" y="2217550"/>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5" name="TextBox 4"/>
            <p:cNvSpPr txBox="1"/>
            <p:nvPr/>
          </p:nvSpPr>
          <p:spPr>
            <a:xfrm>
              <a:off x="6479671" y="3786901"/>
              <a:ext cx="846450" cy="369332"/>
            </a:xfrm>
            <a:prstGeom prst="rect">
              <a:avLst/>
            </a:prstGeom>
            <a:noFill/>
          </p:spPr>
          <p:txBody>
            <a:bodyPr wrap="none" rtlCol="0">
              <a:spAutoFit/>
            </a:bodyPr>
            <a:lstStyle/>
            <a:p>
              <a:r>
                <a:rPr lang="en-US" dirty="0">
                  <a:solidFill>
                    <a:schemeClr val="tx2"/>
                  </a:solidFill>
                </a:rPr>
                <a:t>Buffers</a:t>
              </a:r>
            </a:p>
          </p:txBody>
        </p:sp>
        <p:sp>
          <p:nvSpPr>
            <p:cNvPr id="27" name="TextBox 26"/>
            <p:cNvSpPr txBox="1"/>
            <p:nvPr/>
          </p:nvSpPr>
          <p:spPr>
            <a:xfrm>
              <a:off x="6768244" y="5368570"/>
              <a:ext cx="1058303" cy="369332"/>
            </a:xfrm>
            <a:prstGeom prst="rect">
              <a:avLst/>
            </a:prstGeom>
            <a:noFill/>
          </p:spPr>
          <p:txBody>
            <a:bodyPr wrap="none" rtlCol="0">
              <a:spAutoFit/>
            </a:bodyPr>
            <a:lstStyle/>
            <a:p>
              <a:r>
                <a:rPr lang="en-US">
                  <a:solidFill>
                    <a:schemeClr val="tx2"/>
                  </a:solidFill>
                </a:rPr>
                <a:t>Database</a:t>
              </a:r>
              <a:endParaRPr lang="en-US" dirty="0">
                <a:solidFill>
                  <a:schemeClr val="tx2"/>
                </a:solidFill>
              </a:endParaRPr>
            </a:p>
          </p:txBody>
        </p:sp>
        <p:sp>
          <p:nvSpPr>
            <p:cNvPr id="28" name="TextBox 27"/>
            <p:cNvSpPr txBox="1"/>
            <p:nvPr/>
          </p:nvSpPr>
          <p:spPr>
            <a:xfrm>
              <a:off x="5185021" y="1709488"/>
              <a:ext cx="1432123" cy="369332"/>
            </a:xfrm>
            <a:prstGeom prst="rect">
              <a:avLst/>
            </a:prstGeom>
            <a:noFill/>
          </p:spPr>
          <p:txBody>
            <a:bodyPr wrap="none" rtlCol="0">
              <a:spAutoFit/>
            </a:bodyPr>
            <a:lstStyle/>
            <a:p>
              <a:r>
                <a:rPr lang="en-US">
                  <a:solidFill>
                    <a:schemeClr val="tx2"/>
                  </a:solidFill>
                </a:rPr>
                <a:t>Transaction 1</a:t>
              </a:r>
              <a:endParaRPr lang="en-US" dirty="0">
                <a:solidFill>
                  <a:schemeClr val="tx2"/>
                </a:solidFill>
              </a:endParaRPr>
            </a:p>
          </p:txBody>
        </p:sp>
        <p:sp>
          <p:nvSpPr>
            <p:cNvPr id="29" name="TextBox 28"/>
            <p:cNvSpPr txBox="1"/>
            <p:nvPr/>
          </p:nvSpPr>
          <p:spPr>
            <a:xfrm>
              <a:off x="7182493" y="1697358"/>
              <a:ext cx="1432123" cy="369332"/>
            </a:xfrm>
            <a:prstGeom prst="rect">
              <a:avLst/>
            </a:prstGeom>
            <a:noFill/>
          </p:spPr>
          <p:txBody>
            <a:bodyPr wrap="none" rtlCol="0">
              <a:spAutoFit/>
            </a:bodyPr>
            <a:lstStyle/>
            <a:p>
              <a:r>
                <a:rPr lang="en-US" dirty="0">
                  <a:solidFill>
                    <a:schemeClr val="tx2"/>
                  </a:solidFill>
                </a:rPr>
                <a:t>Transaction 2</a:t>
              </a:r>
            </a:p>
          </p:txBody>
        </p:sp>
        <p:cxnSp>
          <p:nvCxnSpPr>
            <p:cNvPr id="30" name="Straight Arrow Connector 29"/>
            <p:cNvCxnSpPr>
              <a:stCxn id="4" idx="2"/>
              <a:endCxn id="6" idx="1"/>
            </p:cNvCxnSpPr>
            <p:nvPr/>
          </p:nvCxnSpPr>
          <p:spPr>
            <a:xfrm>
              <a:off x="5904148" y="4443511"/>
              <a:ext cx="0" cy="49765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17" idx="2"/>
              <a:endCxn id="4" idx="0"/>
            </p:cNvCxnSpPr>
            <p:nvPr/>
          </p:nvCxnSpPr>
          <p:spPr>
            <a:xfrm flipH="1">
              <a:off x="5904148" y="2995839"/>
              <a:ext cx="111" cy="53327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H="1">
              <a:off x="6479671" y="2995839"/>
              <a:ext cx="828634" cy="53327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grpSp>
      <p:sp>
        <p:nvSpPr>
          <p:cNvPr id="52" name="Rectangle 51"/>
          <p:cNvSpPr/>
          <p:nvPr/>
        </p:nvSpPr>
        <p:spPr>
          <a:xfrm>
            <a:off x="9163191" y="2213483"/>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1+M</a:t>
            </a:r>
          </a:p>
        </p:txBody>
      </p:sp>
      <p:sp>
        <p:nvSpPr>
          <p:cNvPr id="46" name="Rectangle 45"/>
          <p:cNvSpPr/>
          <p:nvPr/>
        </p:nvSpPr>
        <p:spPr>
          <a:xfrm>
            <a:off x="6903227" y="366410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47" name="Rectangle 46"/>
          <p:cNvSpPr/>
          <p:nvPr/>
        </p:nvSpPr>
        <p:spPr>
          <a:xfrm>
            <a:off x="7227263" y="3676451"/>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53" name="Rectangle 52"/>
          <p:cNvSpPr/>
          <p:nvPr/>
        </p:nvSpPr>
        <p:spPr>
          <a:xfrm>
            <a:off x="1775520" y="6072871"/>
            <a:ext cx="4248472" cy="360040"/>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 name="Rectangle 30"/>
          <p:cNvSpPr/>
          <p:nvPr/>
        </p:nvSpPr>
        <p:spPr>
          <a:xfrm>
            <a:off x="7155256" y="2213929"/>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1+N</a:t>
            </a:r>
          </a:p>
        </p:txBody>
      </p:sp>
      <p:sp>
        <p:nvSpPr>
          <p:cNvPr id="35" name="Rectangle 34"/>
          <p:cNvSpPr/>
          <p:nvPr/>
        </p:nvSpPr>
        <p:spPr>
          <a:xfrm>
            <a:off x="7223525" y="3673016"/>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1-N</a:t>
            </a:r>
          </a:p>
        </p:txBody>
      </p:sp>
      <p:sp>
        <p:nvSpPr>
          <p:cNvPr id="34" name="Rectangle 33"/>
          <p:cNvSpPr/>
          <p:nvPr/>
        </p:nvSpPr>
        <p:spPr>
          <a:xfrm>
            <a:off x="7227263" y="4033056"/>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a:t>
            </a:r>
          </a:p>
        </p:txBody>
      </p:sp>
      <p:sp>
        <p:nvSpPr>
          <p:cNvPr id="36" name="Rectangle 35"/>
          <p:cNvSpPr/>
          <p:nvPr/>
        </p:nvSpPr>
        <p:spPr>
          <a:xfrm>
            <a:off x="6903227" y="402414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Y</a:t>
            </a:r>
          </a:p>
        </p:txBody>
      </p:sp>
      <p:sp>
        <p:nvSpPr>
          <p:cNvPr id="42" name="Rectangle 41"/>
          <p:cNvSpPr/>
          <p:nvPr/>
        </p:nvSpPr>
        <p:spPr>
          <a:xfrm>
            <a:off x="7155256" y="2580232"/>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a:t>
            </a:r>
          </a:p>
        </p:txBody>
      </p:sp>
      <p:sp>
        <p:nvSpPr>
          <p:cNvPr id="40" name="Rectangle 39"/>
          <p:cNvSpPr/>
          <p:nvPr/>
        </p:nvSpPr>
        <p:spPr>
          <a:xfrm>
            <a:off x="7140116" y="5373216"/>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1+M</a:t>
            </a:r>
          </a:p>
        </p:txBody>
      </p:sp>
      <p:sp>
        <p:nvSpPr>
          <p:cNvPr id="43" name="Rectangle 42"/>
          <p:cNvSpPr/>
          <p:nvPr/>
        </p:nvSpPr>
        <p:spPr>
          <a:xfrm>
            <a:off x="7219787" y="3673280"/>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1+M</a:t>
            </a:r>
          </a:p>
        </p:txBody>
      </p:sp>
      <p:sp>
        <p:nvSpPr>
          <p:cNvPr id="39" name="Rectangle 38"/>
          <p:cNvSpPr/>
          <p:nvPr/>
        </p:nvSpPr>
        <p:spPr>
          <a:xfrm>
            <a:off x="7155256" y="2587115"/>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2+N</a:t>
            </a:r>
          </a:p>
        </p:txBody>
      </p:sp>
      <p:sp>
        <p:nvSpPr>
          <p:cNvPr id="44" name="Rectangle 43"/>
          <p:cNvSpPr/>
          <p:nvPr/>
        </p:nvSpPr>
        <p:spPr>
          <a:xfrm>
            <a:off x="7219787" y="4026173"/>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2+N</a:t>
            </a:r>
          </a:p>
        </p:txBody>
      </p:sp>
      <p:cxnSp>
        <p:nvCxnSpPr>
          <p:cNvPr id="48" name="Curved Connector 47"/>
          <p:cNvCxnSpPr>
            <a:stCxn id="44" idx="2"/>
            <a:endCxn id="41" idx="0"/>
          </p:cNvCxnSpPr>
          <p:nvPr/>
        </p:nvCxnSpPr>
        <p:spPr>
          <a:xfrm rot="5400000">
            <a:off x="6777784" y="4982574"/>
            <a:ext cx="1416407" cy="79671"/>
          </a:xfrm>
          <a:prstGeom prst="curved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sp>
        <p:nvSpPr>
          <p:cNvPr id="41" name="Rectangle 40"/>
          <p:cNvSpPr/>
          <p:nvPr/>
        </p:nvSpPr>
        <p:spPr>
          <a:xfrm>
            <a:off x="7140116" y="5730612"/>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2+N</a:t>
            </a:r>
          </a:p>
        </p:txBody>
      </p:sp>
    </p:spTree>
    <p:extLst>
      <p:ext uri="{BB962C8B-B14F-4D97-AF65-F5344CB8AC3E}">
        <p14:creationId xmlns:p14="http://schemas.microsoft.com/office/powerpoint/2010/main" val="526786399"/>
      </p:ext>
    </p:extLst>
  </p:cSld>
  <p:clrMapOvr>
    <a:masterClrMapping/>
  </p:clrMapOvr>
  <mc:AlternateContent xmlns:mc="http://schemas.openxmlformats.org/markup-compatibility/2006" xmlns:p14="http://schemas.microsoft.com/office/powerpoint/2010/main">
    <mc:Choice Requires="p14">
      <p:transition spd="slow" p14:dur="2000" advTm="49910"/>
    </mc:Choice>
    <mc:Fallback xmlns="">
      <p:transition spd="slow" advTm="499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up)">
                                      <p:cBhvr>
                                        <p:cTn id="7" dur="500"/>
                                        <p:tgtEl>
                                          <p:spTgt spid="48"/>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par>
                          <p:cTn id="11" fill="hold">
                            <p:stCondLst>
                              <p:cond delay="500"/>
                            </p:stCondLst>
                            <p:childTnLst>
                              <p:par>
                                <p:cTn id="12" presetID="22" presetClass="exit" presetSubtype="1" fill="hold" nodeType="afterEffect">
                                  <p:stCondLst>
                                    <p:cond delay="0"/>
                                  </p:stCondLst>
                                  <p:childTnLst>
                                    <p:animEffect transition="out" filter="wipe(up)">
                                      <p:cBhvr>
                                        <p:cTn id="13" dur="500"/>
                                        <p:tgtEl>
                                          <p:spTgt spid="48"/>
                                        </p:tgtEl>
                                      </p:cBhvr>
                                    </p:animEffect>
                                    <p:set>
                                      <p:cBhvr>
                                        <p:cTn id="14" dur="1" fill="hold">
                                          <p:stCondLst>
                                            <p:cond delay="499"/>
                                          </p:stCondLst>
                                        </p:cTn>
                                        <p:tgtEl>
                                          <p:spTgt spid="4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Concurrent Schedules Do Not Guarantee Consistency or Isolation</a:t>
            </a:r>
            <a:endParaRPr lang="en-GB" sz="3100" dirty="0"/>
          </a:p>
        </p:txBody>
      </p:sp>
      <p:sp>
        <p:nvSpPr>
          <p:cNvPr id="7" name="Slide Number Placeholder 6"/>
          <p:cNvSpPr>
            <a:spLocks noGrp="1"/>
          </p:cNvSpPr>
          <p:nvPr>
            <p:ph type="sldNum" sz="quarter" idx="12"/>
          </p:nvPr>
        </p:nvSpPr>
        <p:spPr/>
        <p:txBody>
          <a:bodyPr/>
          <a:lstStyle/>
          <a:p>
            <a:fld id="{26F23E55-D42A-41AF-9F6E-8A8A2E703B49}" type="slidenum">
              <a:rPr lang="en-GB" smtClean="0"/>
              <a:pPr/>
              <a:t>23</a:t>
            </a:fld>
            <a:endParaRPr lang="en-GB"/>
          </a:p>
        </p:txBody>
      </p:sp>
      <p:graphicFrame>
        <p:nvGraphicFramePr>
          <p:cNvPr id="9" name="Table 8"/>
          <p:cNvGraphicFramePr>
            <a:graphicFrameLocks noGrp="1"/>
          </p:cNvGraphicFramePr>
          <p:nvPr/>
        </p:nvGraphicFramePr>
        <p:xfrm>
          <a:off x="1919536" y="1632416"/>
          <a:ext cx="3960440" cy="4820920"/>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1620180">
                  <a:extLst>
                    <a:ext uri="{9D8B030D-6E8A-4147-A177-3AD203B41FA5}">
                      <a16:colId xmlns:a16="http://schemas.microsoft.com/office/drawing/2014/main" val="20001"/>
                    </a:ext>
                  </a:extLst>
                </a:gridCol>
                <a:gridCol w="1620180">
                  <a:extLst>
                    <a:ext uri="{9D8B030D-6E8A-4147-A177-3AD203B41FA5}">
                      <a16:colId xmlns:a16="http://schemas.microsoft.com/office/drawing/2014/main" val="20002"/>
                    </a:ext>
                  </a:extLst>
                </a:gridCol>
              </a:tblGrid>
              <a:tr h="370840">
                <a:tc>
                  <a:txBody>
                    <a:bodyPr/>
                    <a:lstStyle/>
                    <a:p>
                      <a:r>
                        <a:rPr lang="en-US" dirty="0"/>
                        <a:t>Time</a:t>
                      </a:r>
                    </a:p>
                  </a:txBody>
                  <a:tcPr/>
                </a:tc>
                <a:tc gridSpan="2">
                  <a:txBody>
                    <a:bodyPr/>
                    <a:lstStyle/>
                    <a:p>
                      <a:r>
                        <a:rPr lang="en-US" sz="1800" b="1" baseline="0" dirty="0"/>
                        <a:t>Schedule</a:t>
                      </a:r>
                      <a:endParaRPr lang="en-US" sz="1600" b="1" baseline="-25000"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r>
                        <a:rPr lang="en-US" dirty="0"/>
                        <a:t>t0</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r>
                        <a:rPr lang="en-US" dirty="0"/>
                        <a:t>t1</a:t>
                      </a:r>
                    </a:p>
                  </a:txBody>
                  <a:tcPr/>
                </a:tc>
                <a:tc>
                  <a:txBody>
                    <a:bodyPr/>
                    <a:lstStyle/>
                    <a:p>
                      <a:r>
                        <a:rPr lang="en-US" dirty="0">
                          <a:solidFill>
                            <a:srgbClr val="C00000"/>
                          </a:solidFill>
                        </a:rPr>
                        <a:t>read(X)</a:t>
                      </a:r>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t2</a:t>
                      </a:r>
                    </a:p>
                  </a:txBody>
                  <a:tcPr/>
                </a:tc>
                <a:tc>
                  <a:txBody>
                    <a:bodyPr/>
                    <a:lstStyle/>
                    <a:p>
                      <a:endParaRPr lang="en-US"/>
                    </a:p>
                  </a:txBody>
                  <a:tcPr/>
                </a:tc>
                <a:tc>
                  <a:txBody>
                    <a:bodyPr/>
                    <a:lstStyle/>
                    <a:p>
                      <a:r>
                        <a:rPr lang="en-US" dirty="0">
                          <a:solidFill>
                            <a:schemeClr val="tx2"/>
                          </a:solidFill>
                        </a:rPr>
                        <a:t>read(X)</a:t>
                      </a:r>
                      <a:endParaRPr lang="en-US" dirty="0"/>
                    </a:p>
                  </a:txBody>
                  <a:tcPr/>
                </a:tc>
                <a:extLst>
                  <a:ext uri="{0D108BD9-81ED-4DB2-BD59-A6C34878D82A}">
                    <a16:rowId xmlns:a16="http://schemas.microsoft.com/office/drawing/2014/main" val="10003"/>
                  </a:ext>
                </a:extLst>
              </a:tr>
              <a:tr h="370840">
                <a:tc>
                  <a:txBody>
                    <a:bodyPr/>
                    <a:lstStyle/>
                    <a:p>
                      <a:r>
                        <a:rPr lang="en-US" dirty="0"/>
                        <a:t>t3</a:t>
                      </a:r>
                    </a:p>
                  </a:txBody>
                  <a:tcPr/>
                </a:tc>
                <a:tc>
                  <a:txBody>
                    <a:bodyPr/>
                    <a:lstStyle/>
                    <a:p>
                      <a:endParaRPr lang="en-US" dirty="0"/>
                    </a:p>
                  </a:txBody>
                  <a:tcPr/>
                </a:tc>
                <a:tc>
                  <a:txBody>
                    <a:bodyPr/>
                    <a:lstStyle/>
                    <a:p>
                      <a:r>
                        <a:rPr lang="en-US" dirty="0">
                          <a:solidFill>
                            <a:schemeClr val="tx2"/>
                          </a:solidFill>
                        </a:rPr>
                        <a:t>X := X + M</a:t>
                      </a:r>
                      <a:endParaRPr lang="en-US" dirty="0"/>
                    </a:p>
                  </a:txBody>
                  <a:tcPr/>
                </a:tc>
                <a:extLst>
                  <a:ext uri="{0D108BD9-81ED-4DB2-BD59-A6C34878D82A}">
                    <a16:rowId xmlns:a16="http://schemas.microsoft.com/office/drawing/2014/main" val="10004"/>
                  </a:ext>
                </a:extLst>
              </a:tr>
              <a:tr h="370840">
                <a:tc>
                  <a:txBody>
                    <a:bodyPr/>
                    <a:lstStyle/>
                    <a:p>
                      <a:r>
                        <a:rPr lang="en-US" dirty="0"/>
                        <a:t>t4</a:t>
                      </a:r>
                    </a:p>
                  </a:txBody>
                  <a:tcPr/>
                </a:tc>
                <a:tc>
                  <a:txBody>
                    <a:bodyPr/>
                    <a:lstStyle/>
                    <a:p>
                      <a:r>
                        <a:rPr lang="en-GB" sz="1800" dirty="0">
                          <a:solidFill>
                            <a:srgbClr val="C00000"/>
                          </a:solidFill>
                        </a:rPr>
                        <a:t>X := X + N</a:t>
                      </a:r>
                      <a:endParaRPr lang="en-US" dirty="0">
                        <a:solidFill>
                          <a:srgbClr val="C00000"/>
                        </a:solidFill>
                      </a:endParaRPr>
                    </a:p>
                  </a:txBody>
                  <a:tcPr/>
                </a:tc>
                <a:tc>
                  <a:txBody>
                    <a:bodyPr/>
                    <a:lstStyle/>
                    <a:p>
                      <a:endParaRPr lang="en-US" dirty="0"/>
                    </a:p>
                  </a:txBody>
                  <a:tcPr/>
                </a:tc>
                <a:extLst>
                  <a:ext uri="{0D108BD9-81ED-4DB2-BD59-A6C34878D82A}">
                    <a16:rowId xmlns:a16="http://schemas.microsoft.com/office/drawing/2014/main" val="10005"/>
                  </a:ext>
                </a:extLst>
              </a:tr>
              <a:tr h="370840">
                <a:tc>
                  <a:txBody>
                    <a:bodyPr/>
                    <a:lstStyle/>
                    <a:p>
                      <a:r>
                        <a:rPr lang="en-US" dirty="0"/>
                        <a:t>t5</a:t>
                      </a:r>
                    </a:p>
                  </a:txBody>
                  <a:tcPr/>
                </a:tc>
                <a:tc>
                  <a:txBody>
                    <a:bodyPr/>
                    <a:lstStyle/>
                    <a:p>
                      <a:r>
                        <a:rPr lang="en-GB" sz="1800" dirty="0">
                          <a:solidFill>
                            <a:srgbClr val="C00000"/>
                          </a:solidFill>
                        </a:rPr>
                        <a:t>write(X)</a:t>
                      </a:r>
                      <a:endParaRPr lang="en-US" dirty="0">
                        <a:solidFill>
                          <a:srgbClr val="C00000"/>
                        </a:solidFill>
                      </a:endParaRPr>
                    </a:p>
                  </a:txBody>
                  <a:tcPr/>
                </a:tc>
                <a:tc>
                  <a:txBody>
                    <a:bodyPr/>
                    <a:lstStyle/>
                    <a:p>
                      <a:endParaRPr lang="en-US" dirty="0"/>
                    </a:p>
                  </a:txBody>
                  <a:tcPr/>
                </a:tc>
                <a:extLst>
                  <a:ext uri="{0D108BD9-81ED-4DB2-BD59-A6C34878D82A}">
                    <a16:rowId xmlns:a16="http://schemas.microsoft.com/office/drawing/2014/main" val="10006"/>
                  </a:ext>
                </a:extLst>
              </a:tr>
              <a:tr h="370840">
                <a:tc>
                  <a:txBody>
                    <a:bodyPr/>
                    <a:lstStyle/>
                    <a:p>
                      <a:r>
                        <a:rPr lang="en-US" dirty="0"/>
                        <a:t>t6</a:t>
                      </a:r>
                    </a:p>
                  </a:txBody>
                  <a:tcPr/>
                </a:tc>
                <a:tc>
                  <a:txBody>
                    <a:bodyPr/>
                    <a:lstStyle/>
                    <a:p>
                      <a:r>
                        <a:rPr lang="en-US" dirty="0">
                          <a:solidFill>
                            <a:srgbClr val="C00000"/>
                          </a:solidFill>
                        </a:rPr>
                        <a:t>read(Y)</a:t>
                      </a:r>
                    </a:p>
                  </a:txBody>
                  <a:tcPr/>
                </a:tc>
                <a:tc>
                  <a:txBody>
                    <a:bodyPr/>
                    <a:lstStyle/>
                    <a:p>
                      <a:endParaRPr lang="en-US" dirty="0"/>
                    </a:p>
                  </a:txBody>
                  <a:tcPr/>
                </a:tc>
                <a:extLst>
                  <a:ext uri="{0D108BD9-81ED-4DB2-BD59-A6C34878D82A}">
                    <a16:rowId xmlns:a16="http://schemas.microsoft.com/office/drawing/2014/main" val="10007"/>
                  </a:ext>
                </a:extLst>
              </a:tr>
              <a:tr h="370840">
                <a:tc>
                  <a:txBody>
                    <a:bodyPr/>
                    <a:lstStyle/>
                    <a:p>
                      <a:r>
                        <a:rPr lang="en-US" dirty="0"/>
                        <a:t>t7</a:t>
                      </a:r>
                    </a:p>
                  </a:txBody>
                  <a:tcPr/>
                </a:tc>
                <a:tc>
                  <a:txBody>
                    <a:bodyPr/>
                    <a:lstStyle/>
                    <a:p>
                      <a:endParaRPr lang="en-US" dirty="0"/>
                    </a:p>
                  </a:txBody>
                  <a:tcPr/>
                </a:tc>
                <a:tc>
                  <a:txBody>
                    <a:bodyPr/>
                    <a:lstStyle/>
                    <a:p>
                      <a:r>
                        <a:rPr lang="en-US" dirty="0">
                          <a:solidFill>
                            <a:schemeClr val="tx2"/>
                          </a:solidFill>
                        </a:rPr>
                        <a:t>write(X)</a:t>
                      </a:r>
                      <a:endParaRPr lang="en-US" dirty="0"/>
                    </a:p>
                  </a:txBody>
                  <a:tcPr/>
                </a:tc>
                <a:extLst>
                  <a:ext uri="{0D108BD9-81ED-4DB2-BD59-A6C34878D82A}">
                    <a16:rowId xmlns:a16="http://schemas.microsoft.com/office/drawing/2014/main" val="10008"/>
                  </a:ext>
                </a:extLst>
              </a:tr>
              <a:tr h="370840">
                <a:tc>
                  <a:txBody>
                    <a:bodyPr/>
                    <a:lstStyle/>
                    <a:p>
                      <a:r>
                        <a:rPr lang="en-US" dirty="0"/>
                        <a:t>t8</a:t>
                      </a:r>
                    </a:p>
                  </a:txBody>
                  <a:tcPr/>
                </a:tc>
                <a:tc>
                  <a:txBody>
                    <a:bodyPr/>
                    <a:lstStyle/>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rPr>
                        <a:t>commit</a:t>
                      </a:r>
                    </a:p>
                  </a:txBody>
                  <a:tcPr/>
                </a:tc>
                <a:extLst>
                  <a:ext uri="{0D108BD9-81ED-4DB2-BD59-A6C34878D82A}">
                    <a16:rowId xmlns:a16="http://schemas.microsoft.com/office/drawing/2014/main" val="10009"/>
                  </a:ext>
                </a:extLst>
              </a:tr>
              <a:tr h="370840">
                <a:tc>
                  <a:txBody>
                    <a:bodyPr/>
                    <a:lstStyle/>
                    <a:p>
                      <a:r>
                        <a:rPr lang="en-US" dirty="0"/>
                        <a:t>t9</a:t>
                      </a:r>
                    </a:p>
                  </a:txBody>
                  <a:tcPr/>
                </a:tc>
                <a:tc>
                  <a:txBody>
                    <a:bodyPr/>
                    <a:lstStyle/>
                    <a:p>
                      <a:r>
                        <a:rPr lang="en-GB" sz="1800" dirty="0">
                          <a:solidFill>
                            <a:srgbClr val="C00000"/>
                          </a:solidFill>
                        </a:rPr>
                        <a:t>Y := Y +</a:t>
                      </a:r>
                      <a:r>
                        <a:rPr lang="en-GB" sz="1800" baseline="0" dirty="0">
                          <a:solidFill>
                            <a:srgbClr val="C00000"/>
                          </a:solidFill>
                        </a:rPr>
                        <a:t> N</a:t>
                      </a:r>
                      <a:endParaRPr lang="en-US" dirty="0">
                        <a:solidFill>
                          <a:srgbClr val="C00000"/>
                        </a:solidFill>
                      </a:endParaRPr>
                    </a:p>
                  </a:txBody>
                  <a:tcPr/>
                </a:tc>
                <a:tc>
                  <a:txBody>
                    <a:bodyPr/>
                    <a:lstStyle/>
                    <a:p>
                      <a:endParaRPr lang="en-US" dirty="0">
                        <a:solidFill>
                          <a:schemeClr val="tx2"/>
                        </a:solidFill>
                      </a:endParaRPr>
                    </a:p>
                  </a:txBody>
                  <a:tcPr/>
                </a:tc>
                <a:extLst>
                  <a:ext uri="{0D108BD9-81ED-4DB2-BD59-A6C34878D82A}">
                    <a16:rowId xmlns:a16="http://schemas.microsoft.com/office/drawing/2014/main" val="10010"/>
                  </a:ext>
                </a:extLst>
              </a:tr>
              <a:tr h="370840">
                <a:tc>
                  <a:txBody>
                    <a:bodyPr/>
                    <a:lstStyle/>
                    <a:p>
                      <a:r>
                        <a:rPr lang="en-US" dirty="0"/>
                        <a:t>t10</a:t>
                      </a:r>
                    </a:p>
                  </a:txBody>
                  <a:tcPr/>
                </a:tc>
                <a:tc>
                  <a:txBody>
                    <a:bodyPr/>
                    <a:lstStyle/>
                    <a:p>
                      <a:r>
                        <a:rPr lang="en-US" dirty="0">
                          <a:solidFill>
                            <a:srgbClr val="C00000"/>
                          </a:solidFill>
                        </a:rPr>
                        <a:t>write(Y)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2"/>
                        </a:solidFill>
                      </a:endParaRPr>
                    </a:p>
                  </a:txBody>
                  <a:tcPr/>
                </a:tc>
                <a:extLst>
                  <a:ext uri="{0D108BD9-81ED-4DB2-BD59-A6C34878D82A}">
                    <a16:rowId xmlns:a16="http://schemas.microsoft.com/office/drawing/2014/main" val="10011"/>
                  </a:ext>
                </a:extLst>
              </a:tr>
              <a:tr h="370840">
                <a:tc>
                  <a:txBody>
                    <a:bodyPr/>
                    <a:lstStyle/>
                    <a:p>
                      <a:r>
                        <a:rPr lang="en-US" dirty="0"/>
                        <a:t>t11</a:t>
                      </a:r>
                    </a:p>
                  </a:txBody>
                  <a:tcPr/>
                </a:tc>
                <a:tc>
                  <a:txBody>
                    <a:bodyPr/>
                    <a:lstStyle/>
                    <a:p>
                      <a:r>
                        <a:rPr lang="en-US" dirty="0">
                          <a:solidFill>
                            <a:srgbClr val="C00000"/>
                          </a:solidFill>
                        </a:rPr>
                        <a:t>commit</a:t>
                      </a:r>
                    </a:p>
                  </a:txBody>
                  <a:tcPr/>
                </a:tc>
                <a:tc>
                  <a:txBody>
                    <a:bodyPr/>
                    <a:lstStyle/>
                    <a:p>
                      <a:endParaRPr lang="en-US" dirty="0">
                        <a:solidFill>
                          <a:schemeClr val="tx2"/>
                        </a:solidFill>
                      </a:endParaRPr>
                    </a:p>
                  </a:txBody>
                  <a:tcPr/>
                </a:tc>
                <a:extLst>
                  <a:ext uri="{0D108BD9-81ED-4DB2-BD59-A6C34878D82A}">
                    <a16:rowId xmlns:a16="http://schemas.microsoft.com/office/drawing/2014/main" val="10012"/>
                  </a:ext>
                </a:extLst>
              </a:tr>
            </a:tbl>
          </a:graphicData>
        </a:graphic>
      </p:graphicFrame>
      <p:grpSp>
        <p:nvGrpSpPr>
          <p:cNvPr id="45" name="Group 44"/>
          <p:cNvGrpSpPr/>
          <p:nvPr/>
        </p:nvGrpSpPr>
        <p:grpSpPr>
          <a:xfrm>
            <a:off x="6600056" y="1697358"/>
            <a:ext cx="3538560" cy="4467946"/>
            <a:chOff x="5076056" y="1697358"/>
            <a:chExt cx="3538560" cy="4467946"/>
          </a:xfrm>
        </p:grpSpPr>
        <p:sp>
          <p:nvSpPr>
            <p:cNvPr id="6" name="Can 5"/>
            <p:cNvSpPr/>
            <p:nvPr/>
          </p:nvSpPr>
          <p:spPr>
            <a:xfrm>
              <a:off x="5076056" y="4941168"/>
              <a:ext cx="1656184" cy="1224136"/>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5616116" y="5364309"/>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10" name="Rectangle 9"/>
            <p:cNvSpPr/>
            <p:nvPr/>
          </p:nvSpPr>
          <p:spPr>
            <a:xfrm>
              <a:off x="5616116" y="5733256"/>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a:t>
              </a:r>
            </a:p>
          </p:txBody>
        </p:sp>
        <p:sp>
          <p:nvSpPr>
            <p:cNvPr id="11" name="Rectangle 10"/>
            <p:cNvSpPr/>
            <p:nvPr/>
          </p:nvSpPr>
          <p:spPr>
            <a:xfrm>
              <a:off x="5292080" y="536430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12" name="Rectangle 11"/>
            <p:cNvSpPr/>
            <p:nvPr/>
          </p:nvSpPr>
          <p:spPr>
            <a:xfrm>
              <a:off x="5292080" y="572434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bg1"/>
                  </a:solidFill>
                </a:rPr>
                <a:t>Y</a:t>
              </a:r>
              <a:endParaRPr lang="en-US" dirty="0">
                <a:solidFill>
                  <a:schemeClr val="bg1"/>
                </a:solidFill>
              </a:endParaRPr>
            </a:p>
          </p:txBody>
        </p:sp>
        <p:sp>
          <p:nvSpPr>
            <p:cNvPr id="4" name="Rectangle 3"/>
            <p:cNvSpPr/>
            <p:nvPr/>
          </p:nvSpPr>
          <p:spPr>
            <a:xfrm>
              <a:off x="5364088" y="3529111"/>
              <a:ext cx="108012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5292080" y="2081439"/>
              <a:ext cx="1224357"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5631256" y="2216437"/>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19" name="Rectangle 18"/>
            <p:cNvSpPr/>
            <p:nvPr/>
          </p:nvSpPr>
          <p:spPr>
            <a:xfrm>
              <a:off x="5631256" y="2585384"/>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0" name="Rectangle 19"/>
            <p:cNvSpPr/>
            <p:nvPr/>
          </p:nvSpPr>
          <p:spPr>
            <a:xfrm>
              <a:off x="5307220" y="2216437"/>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21" name="Rectangle 20"/>
            <p:cNvSpPr/>
            <p:nvPr/>
          </p:nvSpPr>
          <p:spPr>
            <a:xfrm>
              <a:off x="5307220" y="2576477"/>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bg1"/>
                  </a:solidFill>
                </a:rPr>
                <a:t>Y</a:t>
              </a:r>
              <a:endParaRPr lang="en-US" dirty="0">
                <a:solidFill>
                  <a:schemeClr val="bg1"/>
                </a:solidFill>
              </a:endParaRPr>
            </a:p>
          </p:txBody>
        </p:sp>
        <p:sp>
          <p:nvSpPr>
            <p:cNvPr id="22" name="Rectangle 21"/>
            <p:cNvSpPr/>
            <p:nvPr/>
          </p:nvSpPr>
          <p:spPr>
            <a:xfrm>
              <a:off x="7308304" y="2082552"/>
              <a:ext cx="1224136"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7647479" y="2217550"/>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25" name="Rectangle 24"/>
            <p:cNvSpPr/>
            <p:nvPr/>
          </p:nvSpPr>
          <p:spPr>
            <a:xfrm>
              <a:off x="7323443" y="2217550"/>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5" name="TextBox 4"/>
            <p:cNvSpPr txBox="1"/>
            <p:nvPr/>
          </p:nvSpPr>
          <p:spPr>
            <a:xfrm>
              <a:off x="6479671" y="3786901"/>
              <a:ext cx="846450" cy="369332"/>
            </a:xfrm>
            <a:prstGeom prst="rect">
              <a:avLst/>
            </a:prstGeom>
            <a:noFill/>
          </p:spPr>
          <p:txBody>
            <a:bodyPr wrap="none" rtlCol="0">
              <a:spAutoFit/>
            </a:bodyPr>
            <a:lstStyle/>
            <a:p>
              <a:r>
                <a:rPr lang="en-US" dirty="0">
                  <a:solidFill>
                    <a:schemeClr val="tx2"/>
                  </a:solidFill>
                </a:rPr>
                <a:t>Buffers</a:t>
              </a:r>
            </a:p>
          </p:txBody>
        </p:sp>
        <p:sp>
          <p:nvSpPr>
            <p:cNvPr id="27" name="TextBox 26"/>
            <p:cNvSpPr txBox="1"/>
            <p:nvPr/>
          </p:nvSpPr>
          <p:spPr>
            <a:xfrm>
              <a:off x="6768244" y="5368570"/>
              <a:ext cx="1058303" cy="369332"/>
            </a:xfrm>
            <a:prstGeom prst="rect">
              <a:avLst/>
            </a:prstGeom>
            <a:noFill/>
          </p:spPr>
          <p:txBody>
            <a:bodyPr wrap="none" rtlCol="0">
              <a:spAutoFit/>
            </a:bodyPr>
            <a:lstStyle/>
            <a:p>
              <a:r>
                <a:rPr lang="en-US">
                  <a:solidFill>
                    <a:schemeClr val="tx2"/>
                  </a:solidFill>
                </a:rPr>
                <a:t>Database</a:t>
              </a:r>
              <a:endParaRPr lang="en-US" dirty="0">
                <a:solidFill>
                  <a:schemeClr val="tx2"/>
                </a:solidFill>
              </a:endParaRPr>
            </a:p>
          </p:txBody>
        </p:sp>
        <p:sp>
          <p:nvSpPr>
            <p:cNvPr id="28" name="TextBox 27"/>
            <p:cNvSpPr txBox="1"/>
            <p:nvPr/>
          </p:nvSpPr>
          <p:spPr>
            <a:xfrm>
              <a:off x="5185021" y="1709488"/>
              <a:ext cx="1432123" cy="369332"/>
            </a:xfrm>
            <a:prstGeom prst="rect">
              <a:avLst/>
            </a:prstGeom>
            <a:noFill/>
          </p:spPr>
          <p:txBody>
            <a:bodyPr wrap="none" rtlCol="0">
              <a:spAutoFit/>
            </a:bodyPr>
            <a:lstStyle/>
            <a:p>
              <a:r>
                <a:rPr lang="en-US">
                  <a:solidFill>
                    <a:schemeClr val="tx2"/>
                  </a:solidFill>
                </a:rPr>
                <a:t>Transaction 1</a:t>
              </a:r>
              <a:endParaRPr lang="en-US" dirty="0">
                <a:solidFill>
                  <a:schemeClr val="tx2"/>
                </a:solidFill>
              </a:endParaRPr>
            </a:p>
          </p:txBody>
        </p:sp>
        <p:sp>
          <p:nvSpPr>
            <p:cNvPr id="29" name="TextBox 28"/>
            <p:cNvSpPr txBox="1"/>
            <p:nvPr/>
          </p:nvSpPr>
          <p:spPr>
            <a:xfrm>
              <a:off x="7182493" y="1697358"/>
              <a:ext cx="1432123" cy="369332"/>
            </a:xfrm>
            <a:prstGeom prst="rect">
              <a:avLst/>
            </a:prstGeom>
            <a:noFill/>
          </p:spPr>
          <p:txBody>
            <a:bodyPr wrap="none" rtlCol="0">
              <a:spAutoFit/>
            </a:bodyPr>
            <a:lstStyle/>
            <a:p>
              <a:r>
                <a:rPr lang="en-US" dirty="0">
                  <a:solidFill>
                    <a:schemeClr val="tx2"/>
                  </a:solidFill>
                </a:rPr>
                <a:t>Transaction 2</a:t>
              </a:r>
            </a:p>
          </p:txBody>
        </p:sp>
        <p:cxnSp>
          <p:nvCxnSpPr>
            <p:cNvPr id="30" name="Straight Arrow Connector 29"/>
            <p:cNvCxnSpPr>
              <a:stCxn id="4" idx="2"/>
              <a:endCxn id="6" idx="1"/>
            </p:cNvCxnSpPr>
            <p:nvPr/>
          </p:nvCxnSpPr>
          <p:spPr>
            <a:xfrm>
              <a:off x="5904148" y="4443511"/>
              <a:ext cx="0" cy="49765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17" idx="2"/>
              <a:endCxn id="4" idx="0"/>
            </p:cNvCxnSpPr>
            <p:nvPr/>
          </p:nvCxnSpPr>
          <p:spPr>
            <a:xfrm flipH="1">
              <a:off x="5904148" y="2995839"/>
              <a:ext cx="111" cy="53327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H="1">
              <a:off x="6479671" y="2995839"/>
              <a:ext cx="828634" cy="53327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grpSp>
      <p:sp>
        <p:nvSpPr>
          <p:cNvPr id="52" name="Rectangle 51"/>
          <p:cNvSpPr/>
          <p:nvPr/>
        </p:nvSpPr>
        <p:spPr>
          <a:xfrm>
            <a:off x="9163191" y="2213483"/>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1+M</a:t>
            </a:r>
          </a:p>
        </p:txBody>
      </p:sp>
      <p:sp>
        <p:nvSpPr>
          <p:cNvPr id="46" name="Rectangle 45"/>
          <p:cNvSpPr/>
          <p:nvPr/>
        </p:nvSpPr>
        <p:spPr>
          <a:xfrm>
            <a:off x="6903227" y="366410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X</a:t>
            </a:r>
          </a:p>
        </p:txBody>
      </p:sp>
      <p:sp>
        <p:nvSpPr>
          <p:cNvPr id="47" name="Rectangle 46"/>
          <p:cNvSpPr/>
          <p:nvPr/>
        </p:nvSpPr>
        <p:spPr>
          <a:xfrm>
            <a:off x="7227263" y="3676451"/>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sp>
        <p:nvSpPr>
          <p:cNvPr id="31" name="Rectangle 30"/>
          <p:cNvSpPr/>
          <p:nvPr/>
        </p:nvSpPr>
        <p:spPr>
          <a:xfrm>
            <a:off x="7155256" y="2213929"/>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1+N</a:t>
            </a:r>
          </a:p>
        </p:txBody>
      </p:sp>
      <p:sp>
        <p:nvSpPr>
          <p:cNvPr id="35" name="Rectangle 34"/>
          <p:cNvSpPr/>
          <p:nvPr/>
        </p:nvSpPr>
        <p:spPr>
          <a:xfrm>
            <a:off x="7223525" y="3673016"/>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1-N</a:t>
            </a:r>
          </a:p>
        </p:txBody>
      </p:sp>
      <p:sp>
        <p:nvSpPr>
          <p:cNvPr id="34" name="Rectangle 33"/>
          <p:cNvSpPr/>
          <p:nvPr/>
        </p:nvSpPr>
        <p:spPr>
          <a:xfrm>
            <a:off x="7227263" y="4033056"/>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a:t>
            </a:r>
          </a:p>
        </p:txBody>
      </p:sp>
      <p:sp>
        <p:nvSpPr>
          <p:cNvPr id="36" name="Rectangle 35"/>
          <p:cNvSpPr/>
          <p:nvPr/>
        </p:nvSpPr>
        <p:spPr>
          <a:xfrm>
            <a:off x="6903227" y="4024149"/>
            <a:ext cx="324036" cy="2880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Y</a:t>
            </a:r>
          </a:p>
        </p:txBody>
      </p:sp>
      <p:sp>
        <p:nvSpPr>
          <p:cNvPr id="42" name="Rectangle 41"/>
          <p:cNvSpPr/>
          <p:nvPr/>
        </p:nvSpPr>
        <p:spPr>
          <a:xfrm>
            <a:off x="7155256" y="2580232"/>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a:t>
            </a:r>
          </a:p>
        </p:txBody>
      </p:sp>
      <p:sp>
        <p:nvSpPr>
          <p:cNvPr id="40" name="Rectangle 39"/>
          <p:cNvSpPr/>
          <p:nvPr/>
        </p:nvSpPr>
        <p:spPr>
          <a:xfrm>
            <a:off x="7140116" y="5373216"/>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1+M</a:t>
            </a:r>
          </a:p>
        </p:txBody>
      </p:sp>
      <p:sp>
        <p:nvSpPr>
          <p:cNvPr id="43" name="Rectangle 42"/>
          <p:cNvSpPr/>
          <p:nvPr/>
        </p:nvSpPr>
        <p:spPr>
          <a:xfrm>
            <a:off x="7219787" y="3673280"/>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1+M</a:t>
            </a:r>
          </a:p>
        </p:txBody>
      </p:sp>
      <p:sp>
        <p:nvSpPr>
          <p:cNvPr id="39" name="Rectangle 38"/>
          <p:cNvSpPr/>
          <p:nvPr/>
        </p:nvSpPr>
        <p:spPr>
          <a:xfrm>
            <a:off x="7155256" y="2587115"/>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2+N</a:t>
            </a:r>
          </a:p>
        </p:txBody>
      </p:sp>
      <p:sp>
        <p:nvSpPr>
          <p:cNvPr id="44" name="Rectangle 43"/>
          <p:cNvSpPr/>
          <p:nvPr/>
        </p:nvSpPr>
        <p:spPr>
          <a:xfrm>
            <a:off x="7219787" y="4026173"/>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2+N</a:t>
            </a:r>
          </a:p>
        </p:txBody>
      </p:sp>
      <p:sp>
        <p:nvSpPr>
          <p:cNvPr id="41" name="Rectangle 40"/>
          <p:cNvSpPr/>
          <p:nvPr/>
        </p:nvSpPr>
        <p:spPr>
          <a:xfrm>
            <a:off x="7140116" y="5730612"/>
            <a:ext cx="61206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2+N</a:t>
            </a:r>
          </a:p>
        </p:txBody>
      </p:sp>
      <p:sp>
        <p:nvSpPr>
          <p:cNvPr id="8" name="Rounded Rectangular Callout 7"/>
          <p:cNvSpPr/>
          <p:nvPr/>
        </p:nvSpPr>
        <p:spPr>
          <a:xfrm>
            <a:off x="7446914" y="4293135"/>
            <a:ext cx="2922050" cy="927158"/>
          </a:xfrm>
          <a:prstGeom prst="wedgeRoundRectCallout">
            <a:avLst>
              <a:gd name="adj1" fmla="val -38764"/>
              <a:gd name="adj2" fmla="val 70429"/>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r>
              <a:rPr lang="en-US" dirty="0"/>
              <a:t>Incorrect: should be 1+N+M (as with a serial schedule)</a:t>
            </a:r>
          </a:p>
        </p:txBody>
      </p:sp>
      <p:sp>
        <p:nvSpPr>
          <p:cNvPr id="49" name="Rectangle 48"/>
          <p:cNvSpPr/>
          <p:nvPr/>
        </p:nvSpPr>
        <p:spPr>
          <a:xfrm>
            <a:off x="1775520" y="6072871"/>
            <a:ext cx="4248472" cy="360040"/>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79580275"/>
      </p:ext>
    </p:extLst>
  </p:cSld>
  <p:clrMapOvr>
    <a:masterClrMapping/>
  </p:clrMapOvr>
  <mc:AlternateContent xmlns:mc="http://schemas.openxmlformats.org/markup-compatibility/2006" xmlns:p14="http://schemas.microsoft.com/office/powerpoint/2010/main">
    <mc:Choice Requires="p14">
      <p:transition spd="slow" p14:dur="2000" advTm="14708"/>
    </mc:Choice>
    <mc:Fallback xmlns="">
      <p:transition spd="slow" advTm="1470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6D5520D-7930-4E40-8277-ABC1FE7F7E00}"/>
              </a:ext>
            </a:extLst>
          </p:cNvPr>
          <p:cNvSpPr txBox="1">
            <a:spLocks/>
          </p:cNvSpPr>
          <p:nvPr/>
        </p:nvSpPr>
        <p:spPr>
          <a:xfrm>
            <a:off x="914400" y="2564905"/>
            <a:ext cx="10363200" cy="1470025"/>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dirty="0"/>
              <a:t>How much concurrency can we allow while satisfying Isolation and Consistency?</a:t>
            </a:r>
            <a:endParaRPr lang="en-US" sz="2400" dirty="0"/>
          </a:p>
        </p:txBody>
      </p:sp>
      <p:sp>
        <p:nvSpPr>
          <p:cNvPr id="3" name="Slide Number Placeholder 6">
            <a:extLst>
              <a:ext uri="{FF2B5EF4-FFF2-40B4-BE49-F238E27FC236}">
                <a16:creationId xmlns:a16="http://schemas.microsoft.com/office/drawing/2014/main" id="{02F84F16-C513-4C3C-811E-5C0350591821}"/>
              </a:ext>
            </a:extLst>
          </p:cNvPr>
          <p:cNvSpPr>
            <a:spLocks noGrp="1"/>
          </p:cNvSpPr>
          <p:nvPr>
            <p:ph type="sldNum" sz="quarter" idx="12"/>
          </p:nvPr>
        </p:nvSpPr>
        <p:spPr>
          <a:xfrm>
            <a:off x="9900458" y="6459785"/>
            <a:ext cx="1312025" cy="365125"/>
          </a:xfrm>
        </p:spPr>
        <p:txBody>
          <a:bodyPr/>
          <a:lstStyle/>
          <a:p>
            <a:fld id="{26F23E55-D42A-41AF-9F6E-8A8A2E703B49}" type="slidenum">
              <a:rPr lang="en-GB" smtClean="0"/>
              <a:pPr/>
              <a:t>24</a:t>
            </a:fld>
            <a:endParaRPr lang="en-GB" dirty="0"/>
          </a:p>
        </p:txBody>
      </p:sp>
    </p:spTree>
    <p:extLst>
      <p:ext uri="{BB962C8B-B14F-4D97-AF65-F5344CB8AC3E}">
        <p14:creationId xmlns:p14="http://schemas.microsoft.com/office/powerpoint/2010/main" val="2985787394"/>
      </p:ext>
    </p:extLst>
  </p:cSld>
  <p:clrMapOvr>
    <a:masterClrMapping/>
  </p:clrMapOvr>
  <mc:AlternateContent xmlns:mc="http://schemas.openxmlformats.org/markup-compatibility/2006" xmlns:p14="http://schemas.microsoft.com/office/powerpoint/2010/main">
    <mc:Choice Requires="p14">
      <p:transition spd="slow" p14:dur="2000" advTm="36488"/>
    </mc:Choice>
    <mc:Fallback xmlns="">
      <p:transition spd="slow" advTm="36488"/>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Serializable Schedules</a:t>
            </a:r>
          </a:p>
        </p:txBody>
      </p:sp>
      <p:sp>
        <p:nvSpPr>
          <p:cNvPr id="5" name="Content Placeholder 4"/>
          <p:cNvSpPr>
            <a:spLocks noGrp="1"/>
          </p:cNvSpPr>
          <p:nvPr>
            <p:ph idx="1"/>
          </p:nvPr>
        </p:nvSpPr>
        <p:spPr/>
        <p:txBody>
          <a:bodyPr>
            <a:normAutofit/>
          </a:bodyPr>
          <a:lstStyle/>
          <a:p>
            <a:r>
              <a:rPr lang="en-US" sz="2400" dirty="0"/>
              <a:t>A </a:t>
            </a:r>
            <a:r>
              <a:rPr lang="en-US" sz="2400" dirty="0">
                <a:solidFill>
                  <a:srgbClr val="FF0000"/>
                </a:solidFill>
              </a:rPr>
              <a:t>schedule S is </a:t>
            </a:r>
            <a:r>
              <a:rPr lang="en-US" sz="2400" b="1" dirty="0">
                <a:solidFill>
                  <a:srgbClr val="FF0000"/>
                </a:solidFill>
              </a:rPr>
              <a:t>serializable </a:t>
            </a:r>
            <a:r>
              <a:rPr lang="en-US" sz="2400" dirty="0"/>
              <a:t>if there is a </a:t>
            </a:r>
            <a:r>
              <a:rPr lang="en-US" sz="2400" dirty="0">
                <a:solidFill>
                  <a:srgbClr val="0070C0"/>
                </a:solidFill>
              </a:rPr>
              <a:t>serial schedule S’</a:t>
            </a:r>
            <a:r>
              <a:rPr lang="en-US" sz="2400" dirty="0"/>
              <a:t> that has the same effect</a:t>
            </a:r>
            <a:r>
              <a:rPr lang="en-US" sz="2400" i="1" dirty="0"/>
              <a:t> </a:t>
            </a:r>
            <a:r>
              <a:rPr lang="en-US" sz="2400" dirty="0"/>
              <a:t>as S on every initial database state.</a:t>
            </a:r>
            <a:endParaRPr lang="en-US" sz="2400" b="1" dirty="0"/>
          </a:p>
        </p:txBody>
      </p:sp>
      <p:sp>
        <p:nvSpPr>
          <p:cNvPr id="3" name="Slide Number Placeholder 2"/>
          <p:cNvSpPr>
            <a:spLocks noGrp="1"/>
          </p:cNvSpPr>
          <p:nvPr>
            <p:ph type="sldNum" sz="quarter" idx="12"/>
          </p:nvPr>
        </p:nvSpPr>
        <p:spPr/>
        <p:txBody>
          <a:bodyPr/>
          <a:lstStyle/>
          <a:p>
            <a:fld id="{C260D5AD-280D-4F23-8F09-5CDE2943111F}" type="slidenum">
              <a:rPr lang="en-GB" smtClean="0"/>
              <a:pPr/>
              <a:t>25</a:t>
            </a:fld>
            <a:endParaRPr lang="en-GB"/>
          </a:p>
        </p:txBody>
      </p:sp>
      <p:graphicFrame>
        <p:nvGraphicFramePr>
          <p:cNvPr id="6" name="Table 5"/>
          <p:cNvGraphicFramePr>
            <a:graphicFrameLocks noGrp="1"/>
          </p:cNvGraphicFramePr>
          <p:nvPr/>
        </p:nvGraphicFramePr>
        <p:xfrm>
          <a:off x="2495600" y="2497773"/>
          <a:ext cx="3240360" cy="3723840"/>
        </p:xfrm>
        <a:graphic>
          <a:graphicData uri="http://schemas.openxmlformats.org/drawingml/2006/table">
            <a:tbl>
              <a:tblPr firstRow="1" bandRow="1">
                <a:tableStyleId>{5C22544A-7EE6-4342-B048-85BDC9FD1C3A}</a:tableStyleId>
              </a:tblPr>
              <a:tblGrid>
                <a:gridCol w="1620180">
                  <a:extLst>
                    <a:ext uri="{9D8B030D-6E8A-4147-A177-3AD203B41FA5}">
                      <a16:colId xmlns:a16="http://schemas.microsoft.com/office/drawing/2014/main" val="20000"/>
                    </a:ext>
                  </a:extLst>
                </a:gridCol>
                <a:gridCol w="1620180">
                  <a:extLst>
                    <a:ext uri="{9D8B030D-6E8A-4147-A177-3AD203B41FA5}">
                      <a16:colId xmlns:a16="http://schemas.microsoft.com/office/drawing/2014/main" val="20001"/>
                    </a:ext>
                  </a:extLst>
                </a:gridCol>
              </a:tblGrid>
              <a:tr h="309600">
                <a:tc gridSpan="2">
                  <a:txBody>
                    <a:bodyPr/>
                    <a:lstStyle/>
                    <a:p>
                      <a:r>
                        <a:rPr lang="en-US" sz="1800" b="1" baseline="0" dirty="0"/>
                        <a:t>Schedule S</a:t>
                      </a:r>
                      <a:endParaRPr lang="en-US" sz="1600" b="1" baseline="-25000" dirty="0"/>
                    </a:p>
                  </a:txBody>
                  <a:tcPr marT="18000" marB="18000"/>
                </a:tc>
                <a:tc hMerge="1">
                  <a:txBody>
                    <a:bodyPr/>
                    <a:lstStyle/>
                    <a:p>
                      <a:endParaRPr lang="en-US" dirty="0"/>
                    </a:p>
                  </a:txBody>
                  <a:tcPr/>
                </a:tc>
                <a:extLst>
                  <a:ext uri="{0D108BD9-81ED-4DB2-BD59-A6C34878D82A}">
                    <a16:rowId xmlns:a16="http://schemas.microsoft.com/office/drawing/2014/main" val="10000"/>
                  </a:ext>
                </a:extLst>
              </a:tr>
              <a:tr h="309600">
                <a:tc>
                  <a:txBody>
                    <a:bodyPr/>
                    <a:lstStyle/>
                    <a:p>
                      <a:r>
                        <a:rPr lang="en-US" dirty="0">
                          <a:solidFill>
                            <a:srgbClr val="C00000"/>
                          </a:solidFill>
                        </a:rPr>
                        <a:t>read(X)</a:t>
                      </a:r>
                    </a:p>
                  </a:txBody>
                  <a:tcPr marT="18000" marB="18000"/>
                </a:tc>
                <a:tc>
                  <a:txBody>
                    <a:bodyPr/>
                    <a:lstStyle/>
                    <a:p>
                      <a:endParaRPr lang="en-US" dirty="0"/>
                    </a:p>
                  </a:txBody>
                  <a:tcPr marT="18000" marB="18000"/>
                </a:tc>
                <a:extLst>
                  <a:ext uri="{0D108BD9-81ED-4DB2-BD59-A6C34878D82A}">
                    <a16:rowId xmlns:a16="http://schemas.microsoft.com/office/drawing/2014/main" val="10001"/>
                  </a:ext>
                </a:extLst>
              </a:tr>
              <a:tr h="309600">
                <a:tc>
                  <a:txBody>
                    <a:bodyPr/>
                    <a:lstStyle/>
                    <a:p>
                      <a:r>
                        <a:rPr lang="en-GB" sz="1800" dirty="0">
                          <a:solidFill>
                            <a:srgbClr val="C00000"/>
                          </a:solidFill>
                        </a:rPr>
                        <a:t>X := X + N</a:t>
                      </a:r>
                      <a:endParaRPr lang="en-US" dirty="0"/>
                    </a:p>
                  </a:txBody>
                  <a:tcPr marT="18000" marB="18000"/>
                </a:tc>
                <a:tc>
                  <a:txBody>
                    <a:bodyPr/>
                    <a:lstStyle/>
                    <a:p>
                      <a:endParaRPr lang="en-US" dirty="0"/>
                    </a:p>
                  </a:txBody>
                  <a:tcPr marT="18000" marB="18000"/>
                </a:tc>
                <a:extLst>
                  <a:ext uri="{0D108BD9-81ED-4DB2-BD59-A6C34878D82A}">
                    <a16:rowId xmlns:a16="http://schemas.microsoft.com/office/drawing/2014/main" val="10002"/>
                  </a:ext>
                </a:extLst>
              </a:tr>
              <a:tr h="309600">
                <a:tc>
                  <a:txBody>
                    <a:bodyPr/>
                    <a:lstStyle/>
                    <a:p>
                      <a:r>
                        <a:rPr lang="en-GB" sz="1800" dirty="0">
                          <a:solidFill>
                            <a:srgbClr val="C00000"/>
                          </a:solidFill>
                        </a:rPr>
                        <a:t>write(X)</a:t>
                      </a:r>
                      <a:endParaRPr lang="en-US" dirty="0"/>
                    </a:p>
                  </a:txBody>
                  <a:tcPr marT="18000" marB="18000"/>
                </a:tc>
                <a:tc>
                  <a:txBody>
                    <a:bodyPr/>
                    <a:lstStyle/>
                    <a:p>
                      <a:endParaRPr lang="en-US" dirty="0"/>
                    </a:p>
                  </a:txBody>
                  <a:tcPr marT="18000" marB="18000"/>
                </a:tc>
                <a:extLst>
                  <a:ext uri="{0D108BD9-81ED-4DB2-BD59-A6C34878D82A}">
                    <a16:rowId xmlns:a16="http://schemas.microsoft.com/office/drawing/2014/main" val="10003"/>
                  </a:ext>
                </a:extLst>
              </a:tr>
              <a:tr h="309600">
                <a:tc>
                  <a:txBody>
                    <a:bodyPr/>
                    <a:lstStyle/>
                    <a:p>
                      <a:endParaRPr lang="en-US" dirty="0">
                        <a:solidFill>
                          <a:srgbClr val="C00000"/>
                        </a:solidFill>
                      </a:endParaRPr>
                    </a:p>
                  </a:txBody>
                  <a:tcPr marT="18000" marB="18000"/>
                </a:tc>
                <a:tc>
                  <a:txBody>
                    <a:bodyPr/>
                    <a:lstStyle/>
                    <a:p>
                      <a:r>
                        <a:rPr lang="en-US" dirty="0">
                          <a:solidFill>
                            <a:schemeClr val="tx2"/>
                          </a:solidFill>
                        </a:rPr>
                        <a:t>read(X)</a:t>
                      </a:r>
                      <a:endParaRPr lang="en-US" dirty="0"/>
                    </a:p>
                  </a:txBody>
                  <a:tcPr marT="18000" marB="18000"/>
                </a:tc>
                <a:extLst>
                  <a:ext uri="{0D108BD9-81ED-4DB2-BD59-A6C34878D82A}">
                    <a16:rowId xmlns:a16="http://schemas.microsoft.com/office/drawing/2014/main" val="10004"/>
                  </a:ext>
                </a:extLst>
              </a:tr>
              <a:tr h="309600">
                <a:tc>
                  <a:txBody>
                    <a:bodyPr/>
                    <a:lstStyle/>
                    <a:p>
                      <a:endParaRPr lang="en-US" dirty="0">
                        <a:solidFill>
                          <a:srgbClr val="C00000"/>
                        </a:solidFill>
                      </a:endParaRPr>
                    </a:p>
                  </a:txBody>
                  <a:tcPr marT="18000" marB="18000"/>
                </a:tc>
                <a:tc>
                  <a:txBody>
                    <a:bodyPr/>
                    <a:lstStyle/>
                    <a:p>
                      <a:r>
                        <a:rPr lang="en-US" dirty="0">
                          <a:solidFill>
                            <a:schemeClr val="tx2"/>
                          </a:solidFill>
                        </a:rPr>
                        <a:t>X := X + M</a:t>
                      </a:r>
                      <a:endParaRPr lang="en-US" dirty="0"/>
                    </a:p>
                  </a:txBody>
                  <a:tcPr marT="18000" marB="18000"/>
                </a:tc>
                <a:extLst>
                  <a:ext uri="{0D108BD9-81ED-4DB2-BD59-A6C34878D82A}">
                    <a16:rowId xmlns:a16="http://schemas.microsoft.com/office/drawing/2014/main" val="10005"/>
                  </a:ext>
                </a:extLst>
              </a:tr>
              <a:tr h="309600">
                <a:tc>
                  <a:txBody>
                    <a:bodyPr/>
                    <a:lstStyle/>
                    <a:p>
                      <a:endParaRPr lang="en-US" dirty="0">
                        <a:solidFill>
                          <a:srgbClr val="C00000"/>
                        </a:solidFill>
                      </a:endParaRPr>
                    </a:p>
                  </a:txBody>
                  <a:tcPr marT="18000" marB="18000"/>
                </a:tc>
                <a:tc>
                  <a:txBody>
                    <a:bodyPr/>
                    <a:lstStyle/>
                    <a:p>
                      <a:r>
                        <a:rPr lang="en-US" dirty="0">
                          <a:solidFill>
                            <a:schemeClr val="tx2"/>
                          </a:solidFill>
                        </a:rPr>
                        <a:t>write(X)</a:t>
                      </a:r>
                      <a:endParaRPr lang="en-US" dirty="0"/>
                    </a:p>
                  </a:txBody>
                  <a:tcPr marT="18000" marB="18000"/>
                </a:tc>
                <a:extLst>
                  <a:ext uri="{0D108BD9-81ED-4DB2-BD59-A6C34878D82A}">
                    <a16:rowId xmlns:a16="http://schemas.microsoft.com/office/drawing/2014/main" val="10006"/>
                  </a:ext>
                </a:extLst>
              </a:tr>
              <a:tr h="309600">
                <a:tc>
                  <a:txBody>
                    <a:bodyPr/>
                    <a:lstStyle/>
                    <a:p>
                      <a:endParaRPr lang="en-US" dirty="0"/>
                    </a:p>
                  </a:txBody>
                  <a:tcPr marT="18000" marB="180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rPr>
                        <a:t>commit</a:t>
                      </a:r>
                    </a:p>
                  </a:txBody>
                  <a:tcPr marT="18000" marB="18000"/>
                </a:tc>
                <a:extLst>
                  <a:ext uri="{0D108BD9-81ED-4DB2-BD59-A6C34878D82A}">
                    <a16:rowId xmlns:a16="http://schemas.microsoft.com/office/drawing/2014/main" val="10007"/>
                  </a:ext>
                </a:extLst>
              </a:tr>
              <a:tr h="3096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rPr>
                        <a:t>read(Y)</a:t>
                      </a:r>
                    </a:p>
                  </a:txBody>
                  <a:tcPr marT="18000" marB="18000"/>
                </a:tc>
                <a:tc>
                  <a:txBody>
                    <a:bodyPr/>
                    <a:lstStyle/>
                    <a:p>
                      <a:endParaRPr lang="en-US" dirty="0"/>
                    </a:p>
                  </a:txBody>
                  <a:tcPr marT="18000" marB="18000"/>
                </a:tc>
                <a:extLst>
                  <a:ext uri="{0D108BD9-81ED-4DB2-BD59-A6C34878D82A}">
                    <a16:rowId xmlns:a16="http://schemas.microsoft.com/office/drawing/2014/main" val="10008"/>
                  </a:ext>
                </a:extLst>
              </a:tr>
              <a:tr h="309600">
                <a:tc>
                  <a:txBody>
                    <a:bodyPr/>
                    <a:lstStyle/>
                    <a:p>
                      <a:r>
                        <a:rPr lang="en-GB" sz="1800" dirty="0">
                          <a:solidFill>
                            <a:srgbClr val="C00000"/>
                          </a:solidFill>
                        </a:rPr>
                        <a:t>Y := Y +</a:t>
                      </a:r>
                      <a:r>
                        <a:rPr lang="en-GB" sz="1800" baseline="0" dirty="0">
                          <a:solidFill>
                            <a:srgbClr val="C00000"/>
                          </a:solidFill>
                        </a:rPr>
                        <a:t> N</a:t>
                      </a:r>
                      <a:endParaRPr lang="en-US" dirty="0">
                        <a:solidFill>
                          <a:srgbClr val="C00000"/>
                        </a:solidFill>
                      </a:endParaRPr>
                    </a:p>
                  </a:txBody>
                  <a:tcPr marT="18000" marB="18000"/>
                </a:tc>
                <a:tc>
                  <a:txBody>
                    <a:bodyPr/>
                    <a:lstStyle/>
                    <a:p>
                      <a:endParaRPr lang="en-US" dirty="0">
                        <a:solidFill>
                          <a:schemeClr val="tx2"/>
                        </a:solidFill>
                      </a:endParaRPr>
                    </a:p>
                  </a:txBody>
                  <a:tcPr marT="18000" marB="18000"/>
                </a:tc>
                <a:extLst>
                  <a:ext uri="{0D108BD9-81ED-4DB2-BD59-A6C34878D82A}">
                    <a16:rowId xmlns:a16="http://schemas.microsoft.com/office/drawing/2014/main" val="10009"/>
                  </a:ext>
                </a:extLst>
              </a:tr>
              <a:tr h="309600">
                <a:tc>
                  <a:txBody>
                    <a:bodyPr/>
                    <a:lstStyle/>
                    <a:p>
                      <a:r>
                        <a:rPr lang="en-US" dirty="0">
                          <a:solidFill>
                            <a:srgbClr val="C00000"/>
                          </a:solidFill>
                        </a:rPr>
                        <a:t>write(Y)</a:t>
                      </a:r>
                    </a:p>
                  </a:txBody>
                  <a:tcPr marT="18000" marB="180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2"/>
                        </a:solidFill>
                      </a:endParaRPr>
                    </a:p>
                  </a:txBody>
                  <a:tcPr marT="18000" marB="18000"/>
                </a:tc>
                <a:extLst>
                  <a:ext uri="{0D108BD9-81ED-4DB2-BD59-A6C34878D82A}">
                    <a16:rowId xmlns:a16="http://schemas.microsoft.com/office/drawing/2014/main" val="10010"/>
                  </a:ext>
                </a:extLst>
              </a:tr>
              <a:tr h="309600">
                <a:tc>
                  <a:txBody>
                    <a:bodyPr/>
                    <a:lstStyle/>
                    <a:p>
                      <a:r>
                        <a:rPr lang="en-US" dirty="0">
                          <a:solidFill>
                            <a:srgbClr val="C00000"/>
                          </a:solidFill>
                        </a:rPr>
                        <a:t>commit</a:t>
                      </a:r>
                    </a:p>
                  </a:txBody>
                  <a:tcPr marT="18000" marB="18000"/>
                </a:tc>
                <a:tc>
                  <a:txBody>
                    <a:bodyPr/>
                    <a:lstStyle/>
                    <a:p>
                      <a:endParaRPr lang="en-US" dirty="0">
                        <a:solidFill>
                          <a:schemeClr val="tx2"/>
                        </a:solidFill>
                      </a:endParaRPr>
                    </a:p>
                  </a:txBody>
                  <a:tcPr marT="18000" marB="18000"/>
                </a:tc>
                <a:extLst>
                  <a:ext uri="{0D108BD9-81ED-4DB2-BD59-A6C34878D82A}">
                    <a16:rowId xmlns:a16="http://schemas.microsoft.com/office/drawing/2014/main" val="10011"/>
                  </a:ext>
                </a:extLst>
              </a:tr>
            </a:tbl>
          </a:graphicData>
        </a:graphic>
      </p:graphicFrame>
      <p:graphicFrame>
        <p:nvGraphicFramePr>
          <p:cNvPr id="7" name="Table 6"/>
          <p:cNvGraphicFramePr>
            <a:graphicFrameLocks noGrp="1"/>
          </p:cNvGraphicFramePr>
          <p:nvPr/>
        </p:nvGraphicFramePr>
        <p:xfrm>
          <a:off x="6672064" y="2497773"/>
          <a:ext cx="3240360" cy="3723840"/>
        </p:xfrm>
        <a:graphic>
          <a:graphicData uri="http://schemas.openxmlformats.org/drawingml/2006/table">
            <a:tbl>
              <a:tblPr firstRow="1" bandRow="1">
                <a:tableStyleId>{5C22544A-7EE6-4342-B048-85BDC9FD1C3A}</a:tableStyleId>
              </a:tblPr>
              <a:tblGrid>
                <a:gridCol w="1620180">
                  <a:extLst>
                    <a:ext uri="{9D8B030D-6E8A-4147-A177-3AD203B41FA5}">
                      <a16:colId xmlns:a16="http://schemas.microsoft.com/office/drawing/2014/main" val="20000"/>
                    </a:ext>
                  </a:extLst>
                </a:gridCol>
                <a:gridCol w="1620180">
                  <a:extLst>
                    <a:ext uri="{9D8B030D-6E8A-4147-A177-3AD203B41FA5}">
                      <a16:colId xmlns:a16="http://schemas.microsoft.com/office/drawing/2014/main" val="20001"/>
                    </a:ext>
                  </a:extLst>
                </a:gridCol>
              </a:tblGrid>
              <a:tr h="309600">
                <a:tc gridSpan="2">
                  <a:txBody>
                    <a:bodyPr/>
                    <a:lstStyle/>
                    <a:p>
                      <a:r>
                        <a:rPr lang="en-US" sz="1800" b="1" baseline="0" dirty="0"/>
                        <a:t>Equivalent serial schedule S’</a:t>
                      </a:r>
                      <a:endParaRPr lang="en-US" sz="1600" b="1" baseline="-25000" dirty="0"/>
                    </a:p>
                  </a:txBody>
                  <a:tcPr marT="18000" marB="18000"/>
                </a:tc>
                <a:tc hMerge="1">
                  <a:txBody>
                    <a:bodyPr/>
                    <a:lstStyle/>
                    <a:p>
                      <a:endParaRPr lang="en-US" dirty="0"/>
                    </a:p>
                  </a:txBody>
                  <a:tcPr/>
                </a:tc>
                <a:extLst>
                  <a:ext uri="{0D108BD9-81ED-4DB2-BD59-A6C34878D82A}">
                    <a16:rowId xmlns:a16="http://schemas.microsoft.com/office/drawing/2014/main" val="10000"/>
                  </a:ext>
                </a:extLst>
              </a:tr>
              <a:tr h="309600">
                <a:tc>
                  <a:txBody>
                    <a:bodyPr/>
                    <a:lstStyle/>
                    <a:p>
                      <a:r>
                        <a:rPr lang="en-US" dirty="0">
                          <a:solidFill>
                            <a:srgbClr val="C00000"/>
                          </a:solidFill>
                        </a:rPr>
                        <a:t>read(X)</a:t>
                      </a:r>
                    </a:p>
                  </a:txBody>
                  <a:tcPr marT="18000" marB="18000"/>
                </a:tc>
                <a:tc>
                  <a:txBody>
                    <a:bodyPr/>
                    <a:lstStyle/>
                    <a:p>
                      <a:endParaRPr lang="en-US" dirty="0"/>
                    </a:p>
                  </a:txBody>
                  <a:tcPr marT="18000" marB="18000"/>
                </a:tc>
                <a:extLst>
                  <a:ext uri="{0D108BD9-81ED-4DB2-BD59-A6C34878D82A}">
                    <a16:rowId xmlns:a16="http://schemas.microsoft.com/office/drawing/2014/main" val="10001"/>
                  </a:ext>
                </a:extLst>
              </a:tr>
              <a:tr h="309600">
                <a:tc>
                  <a:txBody>
                    <a:bodyPr/>
                    <a:lstStyle/>
                    <a:p>
                      <a:r>
                        <a:rPr lang="en-GB" sz="1800" dirty="0">
                          <a:solidFill>
                            <a:srgbClr val="C00000"/>
                          </a:solidFill>
                        </a:rPr>
                        <a:t>X := X + N</a:t>
                      </a:r>
                      <a:endParaRPr lang="en-US" dirty="0"/>
                    </a:p>
                  </a:txBody>
                  <a:tcPr marT="18000" marB="18000"/>
                </a:tc>
                <a:tc>
                  <a:txBody>
                    <a:bodyPr/>
                    <a:lstStyle/>
                    <a:p>
                      <a:endParaRPr lang="en-US" dirty="0"/>
                    </a:p>
                  </a:txBody>
                  <a:tcPr marT="18000" marB="18000"/>
                </a:tc>
                <a:extLst>
                  <a:ext uri="{0D108BD9-81ED-4DB2-BD59-A6C34878D82A}">
                    <a16:rowId xmlns:a16="http://schemas.microsoft.com/office/drawing/2014/main" val="10002"/>
                  </a:ext>
                </a:extLst>
              </a:tr>
              <a:tr h="309600">
                <a:tc>
                  <a:txBody>
                    <a:bodyPr/>
                    <a:lstStyle/>
                    <a:p>
                      <a:r>
                        <a:rPr lang="en-GB" sz="1800" dirty="0">
                          <a:solidFill>
                            <a:srgbClr val="C00000"/>
                          </a:solidFill>
                        </a:rPr>
                        <a:t>write(X)</a:t>
                      </a:r>
                      <a:endParaRPr lang="en-US" dirty="0"/>
                    </a:p>
                  </a:txBody>
                  <a:tcPr marT="18000" marB="18000"/>
                </a:tc>
                <a:tc>
                  <a:txBody>
                    <a:bodyPr/>
                    <a:lstStyle/>
                    <a:p>
                      <a:endParaRPr lang="en-US" dirty="0"/>
                    </a:p>
                  </a:txBody>
                  <a:tcPr marT="18000" marB="18000"/>
                </a:tc>
                <a:extLst>
                  <a:ext uri="{0D108BD9-81ED-4DB2-BD59-A6C34878D82A}">
                    <a16:rowId xmlns:a16="http://schemas.microsoft.com/office/drawing/2014/main" val="10003"/>
                  </a:ext>
                </a:extLst>
              </a:tr>
              <a:tr h="3096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rPr>
                        <a:t>read(Y)</a:t>
                      </a:r>
                    </a:p>
                  </a:txBody>
                  <a:tcPr marT="18000" marB="18000"/>
                </a:tc>
                <a:tc>
                  <a:txBody>
                    <a:bodyPr/>
                    <a:lstStyle/>
                    <a:p>
                      <a:endParaRPr lang="en-US" dirty="0"/>
                    </a:p>
                  </a:txBody>
                  <a:tcPr marT="18000" marB="18000"/>
                </a:tc>
                <a:extLst>
                  <a:ext uri="{0D108BD9-81ED-4DB2-BD59-A6C34878D82A}">
                    <a16:rowId xmlns:a16="http://schemas.microsoft.com/office/drawing/2014/main" val="10004"/>
                  </a:ext>
                </a:extLst>
              </a:tr>
              <a:tr h="309600">
                <a:tc>
                  <a:txBody>
                    <a:bodyPr/>
                    <a:lstStyle/>
                    <a:p>
                      <a:r>
                        <a:rPr lang="en-GB" sz="1800" dirty="0">
                          <a:solidFill>
                            <a:srgbClr val="C00000"/>
                          </a:solidFill>
                        </a:rPr>
                        <a:t>Y := Y +</a:t>
                      </a:r>
                      <a:r>
                        <a:rPr lang="en-GB" sz="1800" baseline="0" dirty="0">
                          <a:solidFill>
                            <a:srgbClr val="C00000"/>
                          </a:solidFill>
                        </a:rPr>
                        <a:t> N</a:t>
                      </a:r>
                      <a:endParaRPr lang="en-US" dirty="0">
                        <a:solidFill>
                          <a:srgbClr val="C00000"/>
                        </a:solidFill>
                      </a:endParaRPr>
                    </a:p>
                  </a:txBody>
                  <a:tcPr marT="18000" marB="18000"/>
                </a:tc>
                <a:tc>
                  <a:txBody>
                    <a:bodyPr/>
                    <a:lstStyle/>
                    <a:p>
                      <a:endParaRPr lang="en-US" dirty="0"/>
                    </a:p>
                  </a:txBody>
                  <a:tcPr marT="18000" marB="18000"/>
                </a:tc>
                <a:extLst>
                  <a:ext uri="{0D108BD9-81ED-4DB2-BD59-A6C34878D82A}">
                    <a16:rowId xmlns:a16="http://schemas.microsoft.com/office/drawing/2014/main" val="10005"/>
                  </a:ext>
                </a:extLst>
              </a:tr>
              <a:tr h="309600">
                <a:tc>
                  <a:txBody>
                    <a:bodyPr/>
                    <a:lstStyle/>
                    <a:p>
                      <a:r>
                        <a:rPr lang="en-US" dirty="0">
                          <a:solidFill>
                            <a:srgbClr val="C00000"/>
                          </a:solidFill>
                        </a:rPr>
                        <a:t>write(Y)</a:t>
                      </a:r>
                    </a:p>
                  </a:txBody>
                  <a:tcPr marT="18000" marB="18000"/>
                </a:tc>
                <a:tc>
                  <a:txBody>
                    <a:bodyPr/>
                    <a:lstStyle/>
                    <a:p>
                      <a:endParaRPr lang="en-US" dirty="0"/>
                    </a:p>
                  </a:txBody>
                  <a:tcPr marT="18000" marB="18000"/>
                </a:tc>
                <a:extLst>
                  <a:ext uri="{0D108BD9-81ED-4DB2-BD59-A6C34878D82A}">
                    <a16:rowId xmlns:a16="http://schemas.microsoft.com/office/drawing/2014/main" val="10006"/>
                  </a:ext>
                </a:extLst>
              </a:tr>
              <a:tr h="309600">
                <a:tc>
                  <a:txBody>
                    <a:bodyPr/>
                    <a:lstStyle/>
                    <a:p>
                      <a:r>
                        <a:rPr lang="en-US" dirty="0">
                          <a:solidFill>
                            <a:srgbClr val="C00000"/>
                          </a:solidFill>
                        </a:rPr>
                        <a:t>commit</a:t>
                      </a:r>
                    </a:p>
                  </a:txBody>
                  <a:tcPr marT="18000" marB="18000"/>
                </a:tc>
                <a:tc>
                  <a:txBody>
                    <a:bodyPr/>
                    <a:lstStyle/>
                    <a:p>
                      <a:endParaRPr lang="en-US" dirty="0"/>
                    </a:p>
                  </a:txBody>
                  <a:tcPr marT="18000" marB="18000"/>
                </a:tc>
                <a:extLst>
                  <a:ext uri="{0D108BD9-81ED-4DB2-BD59-A6C34878D82A}">
                    <a16:rowId xmlns:a16="http://schemas.microsoft.com/office/drawing/2014/main" val="10007"/>
                  </a:ext>
                </a:extLst>
              </a:tr>
              <a:tr h="309600">
                <a:tc>
                  <a:txBody>
                    <a:bodyPr/>
                    <a:lstStyle/>
                    <a:p>
                      <a:endParaRPr lang="en-US"/>
                    </a:p>
                  </a:txBody>
                  <a:tcPr marT="18000" marB="18000"/>
                </a:tc>
                <a:tc>
                  <a:txBody>
                    <a:bodyPr/>
                    <a:lstStyle/>
                    <a:p>
                      <a:r>
                        <a:rPr lang="en-US" dirty="0">
                          <a:solidFill>
                            <a:schemeClr val="tx2"/>
                          </a:solidFill>
                        </a:rPr>
                        <a:t>read(X)</a:t>
                      </a:r>
                      <a:endParaRPr lang="en-US" dirty="0"/>
                    </a:p>
                  </a:txBody>
                  <a:tcPr marT="18000" marB="18000"/>
                </a:tc>
                <a:extLst>
                  <a:ext uri="{0D108BD9-81ED-4DB2-BD59-A6C34878D82A}">
                    <a16:rowId xmlns:a16="http://schemas.microsoft.com/office/drawing/2014/main" val="10008"/>
                  </a:ext>
                </a:extLst>
              </a:tr>
              <a:tr h="309600">
                <a:tc>
                  <a:txBody>
                    <a:bodyPr/>
                    <a:lstStyle/>
                    <a:p>
                      <a:endParaRPr lang="en-US" dirty="0"/>
                    </a:p>
                  </a:txBody>
                  <a:tcPr marT="18000" marB="18000"/>
                </a:tc>
                <a:tc>
                  <a:txBody>
                    <a:bodyPr/>
                    <a:lstStyle/>
                    <a:p>
                      <a:r>
                        <a:rPr lang="en-US" dirty="0">
                          <a:solidFill>
                            <a:schemeClr val="tx2"/>
                          </a:solidFill>
                        </a:rPr>
                        <a:t>X := X + M</a:t>
                      </a:r>
                      <a:endParaRPr lang="en-US" dirty="0"/>
                    </a:p>
                  </a:txBody>
                  <a:tcPr marT="18000" marB="18000"/>
                </a:tc>
                <a:extLst>
                  <a:ext uri="{0D108BD9-81ED-4DB2-BD59-A6C34878D82A}">
                    <a16:rowId xmlns:a16="http://schemas.microsoft.com/office/drawing/2014/main" val="10009"/>
                  </a:ext>
                </a:extLst>
              </a:tr>
              <a:tr h="309600">
                <a:tc>
                  <a:txBody>
                    <a:bodyPr/>
                    <a:lstStyle/>
                    <a:p>
                      <a:endParaRPr lang="en-US"/>
                    </a:p>
                  </a:txBody>
                  <a:tcPr marT="18000" marB="18000"/>
                </a:tc>
                <a:tc>
                  <a:txBody>
                    <a:bodyPr/>
                    <a:lstStyle/>
                    <a:p>
                      <a:r>
                        <a:rPr lang="en-US" dirty="0">
                          <a:solidFill>
                            <a:schemeClr val="tx2"/>
                          </a:solidFill>
                        </a:rPr>
                        <a:t>write(X)</a:t>
                      </a:r>
                      <a:endParaRPr lang="en-US" dirty="0"/>
                    </a:p>
                  </a:txBody>
                  <a:tcPr marT="18000" marB="18000"/>
                </a:tc>
                <a:extLst>
                  <a:ext uri="{0D108BD9-81ED-4DB2-BD59-A6C34878D82A}">
                    <a16:rowId xmlns:a16="http://schemas.microsoft.com/office/drawing/2014/main" val="10010"/>
                  </a:ext>
                </a:extLst>
              </a:tr>
              <a:tr h="309600">
                <a:tc>
                  <a:txBody>
                    <a:bodyPr/>
                    <a:lstStyle/>
                    <a:p>
                      <a:endParaRPr lang="en-US" dirty="0"/>
                    </a:p>
                  </a:txBody>
                  <a:tcPr marT="18000" marB="180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rPr>
                        <a:t>commit</a:t>
                      </a:r>
                    </a:p>
                  </a:txBody>
                  <a:tcPr marT="18000" marB="18000"/>
                </a:tc>
                <a:extLst>
                  <a:ext uri="{0D108BD9-81ED-4DB2-BD59-A6C34878D82A}">
                    <a16:rowId xmlns:a16="http://schemas.microsoft.com/office/drawing/2014/main" val="10011"/>
                  </a:ext>
                </a:extLst>
              </a:tr>
            </a:tbl>
          </a:graphicData>
        </a:graphic>
      </p:graphicFrame>
      <p:cxnSp>
        <p:nvCxnSpPr>
          <p:cNvPr id="8" name="Straight Arrow Connector 7"/>
          <p:cNvCxnSpPr/>
          <p:nvPr/>
        </p:nvCxnSpPr>
        <p:spPr>
          <a:xfrm>
            <a:off x="5951984" y="4293096"/>
            <a:ext cx="50405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Rounded Rectangular Callout 8"/>
          <p:cNvSpPr/>
          <p:nvPr/>
        </p:nvSpPr>
        <p:spPr>
          <a:xfrm>
            <a:off x="4431603" y="6057514"/>
            <a:ext cx="2088232" cy="504056"/>
          </a:xfrm>
          <a:prstGeom prst="wedgeRoundRectCallout">
            <a:avLst>
              <a:gd name="adj1" fmla="val -38654"/>
              <a:gd name="adj2" fmla="val -93596"/>
              <a:gd name="adj3" fmla="val 16667"/>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So, S is serializable</a:t>
            </a:r>
          </a:p>
        </p:txBody>
      </p:sp>
    </p:spTree>
    <p:custDataLst>
      <p:tags r:id="rId1"/>
    </p:custDataLst>
    <p:extLst>
      <p:ext uri="{BB962C8B-B14F-4D97-AF65-F5344CB8AC3E}">
        <p14:creationId xmlns:p14="http://schemas.microsoft.com/office/powerpoint/2010/main" val="448796899"/>
      </p:ext>
    </p:extLst>
  </p:cSld>
  <p:clrMapOvr>
    <a:masterClrMapping/>
  </p:clrMapOvr>
  <mc:AlternateContent xmlns:mc="http://schemas.openxmlformats.org/markup-compatibility/2006" xmlns:p14="http://schemas.microsoft.com/office/powerpoint/2010/main">
    <mc:Choice Requires="p14">
      <p:transition spd="slow" p14:dur="2000" advTm="110365"/>
    </mc:Choice>
    <mc:Fallback xmlns="">
      <p:transition spd="slow" advTm="11036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10"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Serializable Schedules</a:t>
            </a:r>
          </a:p>
        </p:txBody>
      </p:sp>
      <p:sp>
        <p:nvSpPr>
          <p:cNvPr id="5" name="Content Placeholder 4"/>
          <p:cNvSpPr>
            <a:spLocks noGrp="1"/>
          </p:cNvSpPr>
          <p:nvPr>
            <p:ph idx="1"/>
          </p:nvPr>
        </p:nvSpPr>
        <p:spPr/>
        <p:txBody>
          <a:bodyPr>
            <a:normAutofit/>
          </a:bodyPr>
          <a:lstStyle/>
          <a:p>
            <a:r>
              <a:rPr lang="en-US" sz="2400" dirty="0"/>
              <a:t>A </a:t>
            </a:r>
            <a:r>
              <a:rPr lang="en-US" sz="2400" dirty="0">
                <a:solidFill>
                  <a:srgbClr val="FF0000"/>
                </a:solidFill>
              </a:rPr>
              <a:t>schedule S is </a:t>
            </a:r>
            <a:r>
              <a:rPr lang="en-US" sz="2400" b="1" dirty="0">
                <a:solidFill>
                  <a:srgbClr val="FF0000"/>
                </a:solidFill>
              </a:rPr>
              <a:t>serializable </a:t>
            </a:r>
            <a:r>
              <a:rPr lang="en-US" sz="2400" dirty="0"/>
              <a:t>if there is a </a:t>
            </a:r>
            <a:r>
              <a:rPr lang="en-US" sz="2400" dirty="0">
                <a:solidFill>
                  <a:srgbClr val="0070C0"/>
                </a:solidFill>
              </a:rPr>
              <a:t>serial schedule S’</a:t>
            </a:r>
            <a:r>
              <a:rPr lang="en-US" sz="2400" dirty="0"/>
              <a:t> that has the same effect</a:t>
            </a:r>
            <a:r>
              <a:rPr lang="en-US" sz="2400" i="1" dirty="0"/>
              <a:t> </a:t>
            </a:r>
            <a:r>
              <a:rPr lang="en-US" sz="2400" dirty="0"/>
              <a:t>as S on every initial database state.</a:t>
            </a:r>
            <a:endParaRPr lang="en-US" sz="2400" b="1" dirty="0"/>
          </a:p>
        </p:txBody>
      </p:sp>
      <p:sp>
        <p:nvSpPr>
          <p:cNvPr id="3" name="Slide Number Placeholder 2"/>
          <p:cNvSpPr>
            <a:spLocks noGrp="1"/>
          </p:cNvSpPr>
          <p:nvPr>
            <p:ph type="sldNum" sz="quarter" idx="12"/>
          </p:nvPr>
        </p:nvSpPr>
        <p:spPr/>
        <p:txBody>
          <a:bodyPr/>
          <a:lstStyle/>
          <a:p>
            <a:fld id="{C260D5AD-280D-4F23-8F09-5CDE2943111F}" type="slidenum">
              <a:rPr lang="en-GB" smtClean="0"/>
              <a:pPr/>
              <a:t>26</a:t>
            </a:fld>
            <a:endParaRPr lang="en-GB"/>
          </a:p>
        </p:txBody>
      </p:sp>
      <p:graphicFrame>
        <p:nvGraphicFramePr>
          <p:cNvPr id="6" name="Table 5"/>
          <p:cNvGraphicFramePr>
            <a:graphicFrameLocks noGrp="1"/>
          </p:cNvGraphicFramePr>
          <p:nvPr/>
        </p:nvGraphicFramePr>
        <p:xfrm>
          <a:off x="2495600" y="2497773"/>
          <a:ext cx="3240360" cy="3723840"/>
        </p:xfrm>
        <a:graphic>
          <a:graphicData uri="http://schemas.openxmlformats.org/drawingml/2006/table">
            <a:tbl>
              <a:tblPr firstRow="1" bandRow="1">
                <a:tableStyleId>{5C22544A-7EE6-4342-B048-85BDC9FD1C3A}</a:tableStyleId>
              </a:tblPr>
              <a:tblGrid>
                <a:gridCol w="1620180">
                  <a:extLst>
                    <a:ext uri="{9D8B030D-6E8A-4147-A177-3AD203B41FA5}">
                      <a16:colId xmlns:a16="http://schemas.microsoft.com/office/drawing/2014/main" val="20000"/>
                    </a:ext>
                  </a:extLst>
                </a:gridCol>
                <a:gridCol w="1620180">
                  <a:extLst>
                    <a:ext uri="{9D8B030D-6E8A-4147-A177-3AD203B41FA5}">
                      <a16:colId xmlns:a16="http://schemas.microsoft.com/office/drawing/2014/main" val="20001"/>
                    </a:ext>
                  </a:extLst>
                </a:gridCol>
              </a:tblGrid>
              <a:tr h="309600">
                <a:tc gridSpan="2">
                  <a:txBody>
                    <a:bodyPr/>
                    <a:lstStyle/>
                    <a:p>
                      <a:r>
                        <a:rPr lang="en-US" sz="1800" b="1" baseline="0" dirty="0"/>
                        <a:t>Schedule S</a:t>
                      </a:r>
                      <a:endParaRPr lang="en-US" sz="1600" b="1" baseline="-25000" dirty="0"/>
                    </a:p>
                  </a:txBody>
                  <a:tcPr marT="18000" marB="18000"/>
                </a:tc>
                <a:tc hMerge="1">
                  <a:txBody>
                    <a:bodyPr/>
                    <a:lstStyle/>
                    <a:p>
                      <a:endParaRPr lang="en-US" dirty="0"/>
                    </a:p>
                  </a:txBody>
                  <a:tcPr/>
                </a:tc>
                <a:extLst>
                  <a:ext uri="{0D108BD9-81ED-4DB2-BD59-A6C34878D82A}">
                    <a16:rowId xmlns:a16="http://schemas.microsoft.com/office/drawing/2014/main" val="10000"/>
                  </a:ext>
                </a:extLst>
              </a:tr>
              <a:tr h="309600">
                <a:tc>
                  <a:txBody>
                    <a:bodyPr/>
                    <a:lstStyle/>
                    <a:p>
                      <a:r>
                        <a:rPr lang="en-US" dirty="0">
                          <a:solidFill>
                            <a:srgbClr val="C00000"/>
                          </a:solidFill>
                        </a:rPr>
                        <a:t>read(X)</a:t>
                      </a:r>
                    </a:p>
                  </a:txBody>
                  <a:tcPr marT="18000" marB="18000"/>
                </a:tc>
                <a:tc>
                  <a:txBody>
                    <a:bodyPr/>
                    <a:lstStyle/>
                    <a:p>
                      <a:endParaRPr lang="en-US" dirty="0"/>
                    </a:p>
                  </a:txBody>
                  <a:tcPr marT="18000" marB="18000"/>
                </a:tc>
                <a:extLst>
                  <a:ext uri="{0D108BD9-81ED-4DB2-BD59-A6C34878D82A}">
                    <a16:rowId xmlns:a16="http://schemas.microsoft.com/office/drawing/2014/main" val="10001"/>
                  </a:ext>
                </a:extLst>
              </a:tr>
              <a:tr h="309600">
                <a:tc>
                  <a:txBody>
                    <a:bodyPr/>
                    <a:lstStyle/>
                    <a:p>
                      <a:endParaRPr lang="en-US"/>
                    </a:p>
                  </a:txBody>
                  <a:tcPr marT="18000" marB="180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rPr>
                        <a:t>read(X)</a:t>
                      </a:r>
                      <a:endParaRPr lang="en-US" dirty="0"/>
                    </a:p>
                  </a:txBody>
                  <a:tcPr marT="18000" marB="18000"/>
                </a:tc>
                <a:extLst>
                  <a:ext uri="{0D108BD9-81ED-4DB2-BD59-A6C34878D82A}">
                    <a16:rowId xmlns:a16="http://schemas.microsoft.com/office/drawing/2014/main" val="10002"/>
                  </a:ext>
                </a:extLst>
              </a:tr>
              <a:tr h="309600">
                <a:tc>
                  <a:txBody>
                    <a:bodyPr/>
                    <a:lstStyle/>
                    <a:p>
                      <a:endParaRPr lang="en-US" dirty="0"/>
                    </a:p>
                  </a:txBody>
                  <a:tcPr marT="18000" marB="180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rPr>
                        <a:t>X := X + M</a:t>
                      </a:r>
                      <a:endParaRPr lang="en-US" dirty="0"/>
                    </a:p>
                  </a:txBody>
                  <a:tcPr marT="18000" marB="18000"/>
                </a:tc>
                <a:extLst>
                  <a:ext uri="{0D108BD9-81ED-4DB2-BD59-A6C34878D82A}">
                    <a16:rowId xmlns:a16="http://schemas.microsoft.com/office/drawing/2014/main" val="10003"/>
                  </a:ext>
                </a:extLst>
              </a:tr>
              <a:tr h="309600">
                <a:tc>
                  <a:txBody>
                    <a:bodyPr/>
                    <a:lstStyle/>
                    <a:p>
                      <a:r>
                        <a:rPr lang="en-GB" sz="1800" dirty="0">
                          <a:solidFill>
                            <a:srgbClr val="C00000"/>
                          </a:solidFill>
                        </a:rPr>
                        <a:t>X := X + N</a:t>
                      </a:r>
                      <a:endParaRPr lang="en-US" dirty="0"/>
                    </a:p>
                  </a:txBody>
                  <a:tcPr marT="18000" marB="18000"/>
                </a:tc>
                <a:tc>
                  <a:txBody>
                    <a:bodyPr/>
                    <a:lstStyle/>
                    <a:p>
                      <a:endParaRPr lang="en-US" dirty="0"/>
                    </a:p>
                  </a:txBody>
                  <a:tcPr marT="18000" marB="18000"/>
                </a:tc>
                <a:extLst>
                  <a:ext uri="{0D108BD9-81ED-4DB2-BD59-A6C34878D82A}">
                    <a16:rowId xmlns:a16="http://schemas.microsoft.com/office/drawing/2014/main" val="10004"/>
                  </a:ext>
                </a:extLst>
              </a:tr>
              <a:tr h="309600">
                <a:tc>
                  <a:txBody>
                    <a:bodyPr/>
                    <a:lstStyle/>
                    <a:p>
                      <a:r>
                        <a:rPr lang="en-GB" sz="1800" dirty="0">
                          <a:solidFill>
                            <a:srgbClr val="C00000"/>
                          </a:solidFill>
                        </a:rPr>
                        <a:t>write(X)</a:t>
                      </a:r>
                      <a:endParaRPr lang="en-US" dirty="0"/>
                    </a:p>
                  </a:txBody>
                  <a:tcPr marT="18000" marB="18000"/>
                </a:tc>
                <a:tc>
                  <a:txBody>
                    <a:bodyPr/>
                    <a:lstStyle/>
                    <a:p>
                      <a:endParaRPr lang="en-US" dirty="0"/>
                    </a:p>
                  </a:txBody>
                  <a:tcPr marT="18000" marB="18000"/>
                </a:tc>
                <a:extLst>
                  <a:ext uri="{0D108BD9-81ED-4DB2-BD59-A6C34878D82A}">
                    <a16:rowId xmlns:a16="http://schemas.microsoft.com/office/drawing/2014/main" val="10005"/>
                  </a:ext>
                </a:extLst>
              </a:tr>
              <a:tr h="3096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rPr>
                        <a:t>read(Y)</a:t>
                      </a:r>
                    </a:p>
                  </a:txBody>
                  <a:tcPr marT="18000" marB="18000"/>
                </a:tc>
                <a:tc>
                  <a:txBody>
                    <a:bodyPr/>
                    <a:lstStyle/>
                    <a:p>
                      <a:endParaRPr lang="en-US" dirty="0"/>
                    </a:p>
                  </a:txBody>
                  <a:tcPr marT="18000" marB="18000"/>
                </a:tc>
                <a:extLst>
                  <a:ext uri="{0D108BD9-81ED-4DB2-BD59-A6C34878D82A}">
                    <a16:rowId xmlns:a16="http://schemas.microsoft.com/office/drawing/2014/main" val="10006"/>
                  </a:ext>
                </a:extLst>
              </a:tr>
              <a:tr h="309600">
                <a:tc>
                  <a:txBody>
                    <a:bodyPr/>
                    <a:lstStyle/>
                    <a:p>
                      <a:endParaRPr lang="en-US" dirty="0"/>
                    </a:p>
                  </a:txBody>
                  <a:tcPr marT="18000" marB="18000"/>
                </a:tc>
                <a:tc>
                  <a:txBody>
                    <a:bodyPr/>
                    <a:lstStyle/>
                    <a:p>
                      <a:r>
                        <a:rPr lang="en-US" dirty="0">
                          <a:solidFill>
                            <a:schemeClr val="tx2"/>
                          </a:solidFill>
                        </a:rPr>
                        <a:t>write(X)</a:t>
                      </a:r>
                      <a:endParaRPr lang="en-US" dirty="0"/>
                    </a:p>
                  </a:txBody>
                  <a:tcPr marT="18000" marB="18000"/>
                </a:tc>
                <a:extLst>
                  <a:ext uri="{0D108BD9-81ED-4DB2-BD59-A6C34878D82A}">
                    <a16:rowId xmlns:a16="http://schemas.microsoft.com/office/drawing/2014/main" val="10007"/>
                  </a:ext>
                </a:extLst>
              </a:tr>
              <a:tr h="3096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C00000"/>
                        </a:solidFill>
                      </a:endParaRPr>
                    </a:p>
                  </a:txBody>
                  <a:tcPr marT="18000" marB="180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rPr>
                        <a:t>commit</a:t>
                      </a:r>
                    </a:p>
                  </a:txBody>
                  <a:tcPr marT="18000" marB="18000"/>
                </a:tc>
                <a:extLst>
                  <a:ext uri="{0D108BD9-81ED-4DB2-BD59-A6C34878D82A}">
                    <a16:rowId xmlns:a16="http://schemas.microsoft.com/office/drawing/2014/main" val="10008"/>
                  </a:ext>
                </a:extLst>
              </a:tr>
              <a:tr h="309600">
                <a:tc>
                  <a:txBody>
                    <a:bodyPr/>
                    <a:lstStyle/>
                    <a:p>
                      <a:r>
                        <a:rPr lang="en-GB" sz="1800" dirty="0">
                          <a:solidFill>
                            <a:srgbClr val="C00000"/>
                          </a:solidFill>
                        </a:rPr>
                        <a:t>Y := Y +</a:t>
                      </a:r>
                      <a:r>
                        <a:rPr lang="en-GB" sz="1800" baseline="0" dirty="0">
                          <a:solidFill>
                            <a:srgbClr val="C00000"/>
                          </a:solidFill>
                        </a:rPr>
                        <a:t> N</a:t>
                      </a:r>
                      <a:endParaRPr lang="en-US" dirty="0">
                        <a:solidFill>
                          <a:srgbClr val="C00000"/>
                        </a:solidFill>
                      </a:endParaRPr>
                    </a:p>
                  </a:txBody>
                  <a:tcPr marT="18000" marB="18000"/>
                </a:tc>
                <a:tc>
                  <a:txBody>
                    <a:bodyPr/>
                    <a:lstStyle/>
                    <a:p>
                      <a:endParaRPr lang="en-US" dirty="0">
                        <a:solidFill>
                          <a:schemeClr val="tx2"/>
                        </a:solidFill>
                      </a:endParaRPr>
                    </a:p>
                  </a:txBody>
                  <a:tcPr marT="18000" marB="18000"/>
                </a:tc>
                <a:extLst>
                  <a:ext uri="{0D108BD9-81ED-4DB2-BD59-A6C34878D82A}">
                    <a16:rowId xmlns:a16="http://schemas.microsoft.com/office/drawing/2014/main" val="10009"/>
                  </a:ext>
                </a:extLst>
              </a:tr>
              <a:tr h="309600">
                <a:tc>
                  <a:txBody>
                    <a:bodyPr/>
                    <a:lstStyle/>
                    <a:p>
                      <a:r>
                        <a:rPr lang="en-US" dirty="0">
                          <a:solidFill>
                            <a:srgbClr val="C00000"/>
                          </a:solidFill>
                        </a:rPr>
                        <a:t>write(Y)</a:t>
                      </a:r>
                    </a:p>
                  </a:txBody>
                  <a:tcPr marT="18000" marB="180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2"/>
                        </a:solidFill>
                      </a:endParaRPr>
                    </a:p>
                  </a:txBody>
                  <a:tcPr marT="18000" marB="18000"/>
                </a:tc>
                <a:extLst>
                  <a:ext uri="{0D108BD9-81ED-4DB2-BD59-A6C34878D82A}">
                    <a16:rowId xmlns:a16="http://schemas.microsoft.com/office/drawing/2014/main" val="10010"/>
                  </a:ext>
                </a:extLst>
              </a:tr>
              <a:tr h="309600">
                <a:tc>
                  <a:txBody>
                    <a:bodyPr/>
                    <a:lstStyle/>
                    <a:p>
                      <a:r>
                        <a:rPr lang="en-US" dirty="0">
                          <a:solidFill>
                            <a:srgbClr val="C00000"/>
                          </a:solidFill>
                        </a:rPr>
                        <a:t>commit</a:t>
                      </a:r>
                    </a:p>
                  </a:txBody>
                  <a:tcPr marT="18000" marB="18000"/>
                </a:tc>
                <a:tc>
                  <a:txBody>
                    <a:bodyPr/>
                    <a:lstStyle/>
                    <a:p>
                      <a:endParaRPr lang="en-US" dirty="0">
                        <a:solidFill>
                          <a:schemeClr val="tx2"/>
                        </a:solidFill>
                      </a:endParaRPr>
                    </a:p>
                  </a:txBody>
                  <a:tcPr marT="18000" marB="18000"/>
                </a:tc>
                <a:extLst>
                  <a:ext uri="{0D108BD9-81ED-4DB2-BD59-A6C34878D82A}">
                    <a16:rowId xmlns:a16="http://schemas.microsoft.com/office/drawing/2014/main" val="10011"/>
                  </a:ext>
                </a:extLst>
              </a:tr>
            </a:tbl>
          </a:graphicData>
        </a:graphic>
      </p:graphicFrame>
      <p:sp>
        <p:nvSpPr>
          <p:cNvPr id="9" name="Rounded Rectangular Callout 8"/>
          <p:cNvSpPr/>
          <p:nvPr/>
        </p:nvSpPr>
        <p:spPr>
          <a:xfrm>
            <a:off x="6250361" y="3288474"/>
            <a:ext cx="2776189" cy="581874"/>
          </a:xfrm>
          <a:prstGeom prst="wedgeRoundRectCallout">
            <a:avLst>
              <a:gd name="adj1" fmla="val -62509"/>
              <a:gd name="adj2" fmla="val 43466"/>
              <a:gd name="adj3" fmla="val 16667"/>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In general not serializable</a:t>
            </a:r>
          </a:p>
        </p:txBody>
      </p:sp>
    </p:spTree>
    <p:custDataLst>
      <p:tags r:id="rId1"/>
    </p:custDataLst>
    <p:extLst>
      <p:ext uri="{BB962C8B-B14F-4D97-AF65-F5344CB8AC3E}">
        <p14:creationId xmlns:p14="http://schemas.microsoft.com/office/powerpoint/2010/main" val="646084774"/>
      </p:ext>
    </p:extLst>
  </p:cSld>
  <p:clrMapOvr>
    <a:masterClrMapping/>
  </p:clrMapOvr>
  <mc:AlternateContent xmlns:mc="http://schemas.openxmlformats.org/markup-compatibility/2006" xmlns:p14="http://schemas.microsoft.com/office/powerpoint/2010/main">
    <mc:Choice Requires="p14">
      <p:transition spd="slow" p14:dur="2000" advTm="30302"/>
    </mc:Choice>
    <mc:Fallback xmlns="">
      <p:transition spd="slow" advTm="3030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62B93-F122-4706-BFDB-8202F9B1DDFA}"/>
              </a:ext>
            </a:extLst>
          </p:cNvPr>
          <p:cNvSpPr>
            <a:spLocks noGrp="1"/>
          </p:cNvSpPr>
          <p:nvPr>
            <p:ph type="title"/>
          </p:nvPr>
        </p:nvSpPr>
        <p:spPr/>
        <p:txBody>
          <a:bodyPr/>
          <a:lstStyle/>
          <a:p>
            <a:r>
              <a:rPr lang="en-US" dirty="0"/>
              <a:t>Serializable Schedules</a:t>
            </a:r>
            <a:endParaRPr lang="en-GB" dirty="0"/>
          </a:p>
        </p:txBody>
      </p:sp>
      <p:sp>
        <p:nvSpPr>
          <p:cNvPr id="3" name="Content Placeholder 2">
            <a:extLst>
              <a:ext uri="{FF2B5EF4-FFF2-40B4-BE49-F238E27FC236}">
                <a16:creationId xmlns:a16="http://schemas.microsoft.com/office/drawing/2014/main" id="{125FF27D-C438-442A-9099-1CDA277F6234}"/>
              </a:ext>
            </a:extLst>
          </p:cNvPr>
          <p:cNvSpPr>
            <a:spLocks noGrp="1"/>
          </p:cNvSpPr>
          <p:nvPr>
            <p:ph idx="1"/>
          </p:nvPr>
        </p:nvSpPr>
        <p:spPr/>
        <p:txBody>
          <a:bodyPr/>
          <a:lstStyle/>
          <a:p>
            <a:r>
              <a:rPr lang="en-US" dirty="0"/>
              <a:t>Serializable schedules are essentially those schedules</a:t>
            </a:r>
            <a:br>
              <a:rPr lang="en-US" dirty="0"/>
            </a:br>
            <a:r>
              <a:rPr lang="en-US" dirty="0"/>
              <a:t>that we are looking for!</a:t>
            </a:r>
          </a:p>
          <a:p>
            <a:r>
              <a:rPr lang="en-US" dirty="0"/>
              <a:t>Guarantee:</a:t>
            </a:r>
          </a:p>
          <a:p>
            <a:pPr lvl="1"/>
            <a:r>
              <a:rPr lang="en-US" dirty="0"/>
              <a:t>Correctness and consistency (because serial schedules do) </a:t>
            </a:r>
            <a:r>
              <a:rPr lang="en-US" dirty="0">
                <a:solidFill>
                  <a:srgbClr val="00B050"/>
                </a:solidFill>
              </a:rPr>
              <a:t>✓</a:t>
            </a:r>
          </a:p>
          <a:p>
            <a:pPr lvl="1"/>
            <a:r>
              <a:rPr lang="en-US" dirty="0"/>
              <a:t>Does not </a:t>
            </a:r>
            <a:r>
              <a:rPr lang="en-US"/>
              <a:t>satisfy isolation level 4, </a:t>
            </a:r>
            <a:r>
              <a:rPr lang="en-US" dirty="0"/>
              <a:t>but we could fix that</a:t>
            </a:r>
            <a:endParaRPr lang="en-US" dirty="0">
              <a:solidFill>
                <a:srgbClr val="00B050"/>
              </a:solidFill>
            </a:endParaRPr>
          </a:p>
          <a:p>
            <a:pPr>
              <a:spcBef>
                <a:spcPts val="1872"/>
              </a:spcBef>
            </a:pPr>
            <a:r>
              <a:rPr lang="en-US" dirty="0"/>
              <a:t>Problem: serializability is difficult to test</a:t>
            </a:r>
          </a:p>
          <a:p>
            <a:pPr lvl="1"/>
            <a:r>
              <a:rPr lang="en-US" dirty="0"/>
              <a:t>Does not only depend on reads, writes, and commits,</a:t>
            </a:r>
            <a:br>
              <a:rPr lang="en-US" dirty="0"/>
            </a:br>
            <a:r>
              <a:rPr lang="en-US" dirty="0"/>
              <a:t>but also on the non-database operations</a:t>
            </a:r>
          </a:p>
          <a:p>
            <a:pPr lvl="1"/>
            <a:r>
              <a:rPr lang="en-US" dirty="0"/>
              <a:t>Non-database operations can be complex</a:t>
            </a:r>
          </a:p>
          <a:p>
            <a:endParaRPr lang="en-GB" dirty="0"/>
          </a:p>
        </p:txBody>
      </p:sp>
      <p:sp>
        <p:nvSpPr>
          <p:cNvPr id="4" name="Rounded Rectangular Callout 4">
            <a:extLst>
              <a:ext uri="{FF2B5EF4-FFF2-40B4-BE49-F238E27FC236}">
                <a16:creationId xmlns:a16="http://schemas.microsoft.com/office/drawing/2014/main" id="{AE38B761-C7B5-44BF-8899-FB0AB19C57E6}"/>
              </a:ext>
            </a:extLst>
          </p:cNvPr>
          <p:cNvSpPr/>
          <p:nvPr/>
        </p:nvSpPr>
        <p:spPr>
          <a:xfrm>
            <a:off x="5849257" y="4389379"/>
            <a:ext cx="4300772" cy="973696"/>
          </a:xfrm>
          <a:prstGeom prst="wedgeRoundRectCallout">
            <a:avLst>
              <a:gd name="adj1" fmla="val -59797"/>
              <a:gd name="adj2" fmla="val -36586"/>
              <a:gd name="adj3" fmla="val 16667"/>
            </a:avLst>
          </a:prstGeom>
        </p:spPr>
        <p:style>
          <a:lnRef idx="1">
            <a:schemeClr val="accent2"/>
          </a:lnRef>
          <a:fillRef idx="3">
            <a:schemeClr val="accent2"/>
          </a:fillRef>
          <a:effectRef idx="2">
            <a:schemeClr val="accent2"/>
          </a:effectRef>
          <a:fontRef idx="minor">
            <a:schemeClr val="lt1"/>
          </a:fontRef>
        </p:style>
        <p:txBody>
          <a:bodyPr rtlCol="0" anchor="ctr"/>
          <a:lstStyle/>
          <a:p>
            <a:r>
              <a:rPr lang="en-US" dirty="0"/>
              <a:t>Assumption from now on: serializability only depends on read and write operations (still difficult to test)</a:t>
            </a:r>
          </a:p>
        </p:txBody>
      </p:sp>
      <p:sp>
        <p:nvSpPr>
          <p:cNvPr id="5" name="Slide Number Placeholder 2">
            <a:extLst>
              <a:ext uri="{FF2B5EF4-FFF2-40B4-BE49-F238E27FC236}">
                <a16:creationId xmlns:a16="http://schemas.microsoft.com/office/drawing/2014/main" id="{8BC67094-5A23-4D15-99B3-53E6CFBB1317}"/>
              </a:ext>
            </a:extLst>
          </p:cNvPr>
          <p:cNvSpPr>
            <a:spLocks noGrp="1"/>
          </p:cNvSpPr>
          <p:nvPr>
            <p:ph type="sldNum" sz="quarter" idx="12"/>
          </p:nvPr>
        </p:nvSpPr>
        <p:spPr>
          <a:xfrm>
            <a:off x="9900458" y="6459785"/>
            <a:ext cx="1312025" cy="365125"/>
          </a:xfrm>
        </p:spPr>
        <p:txBody>
          <a:bodyPr/>
          <a:lstStyle/>
          <a:p>
            <a:fld id="{C260D5AD-280D-4F23-8F09-5CDE2943111F}" type="slidenum">
              <a:rPr lang="en-GB" smtClean="0"/>
              <a:pPr/>
              <a:t>27</a:t>
            </a:fld>
            <a:endParaRPr lang="en-GB"/>
          </a:p>
        </p:txBody>
      </p:sp>
    </p:spTree>
    <p:custDataLst>
      <p:tags r:id="rId1"/>
    </p:custDataLst>
    <p:extLst>
      <p:ext uri="{BB962C8B-B14F-4D97-AF65-F5344CB8AC3E}">
        <p14:creationId xmlns:p14="http://schemas.microsoft.com/office/powerpoint/2010/main" val="3852007561"/>
      </p:ext>
    </p:extLst>
  </p:cSld>
  <p:clrMapOvr>
    <a:masterClrMapping/>
  </p:clrMapOvr>
  <mc:AlternateContent xmlns:mc="http://schemas.openxmlformats.org/markup-compatibility/2006" xmlns:p14="http://schemas.microsoft.com/office/powerpoint/2010/main">
    <mc:Choice Requires="p14">
      <p:transition spd="slow" p14:dur="2000" advTm="114083"/>
    </mc:Choice>
    <mc:Fallback xmlns="">
      <p:transition spd="slow" advTm="11408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702F6-4E08-488C-9BFB-C4E0D4D72B52}"/>
              </a:ext>
            </a:extLst>
          </p:cNvPr>
          <p:cNvSpPr>
            <a:spLocks noGrp="1"/>
          </p:cNvSpPr>
          <p:nvPr>
            <p:ph type="title"/>
          </p:nvPr>
        </p:nvSpPr>
        <p:spPr/>
        <p:txBody>
          <a:bodyPr/>
          <a:lstStyle/>
          <a:p>
            <a:r>
              <a:rPr lang="en-US" dirty="0"/>
              <a:t>Summary</a:t>
            </a:r>
            <a:endParaRPr lang="en-GB" dirty="0"/>
          </a:p>
        </p:txBody>
      </p:sp>
      <p:sp>
        <p:nvSpPr>
          <p:cNvPr id="3" name="Content Placeholder 2">
            <a:extLst>
              <a:ext uri="{FF2B5EF4-FFF2-40B4-BE49-F238E27FC236}">
                <a16:creationId xmlns:a16="http://schemas.microsoft.com/office/drawing/2014/main" id="{76DD54D1-45B4-4BD5-A522-34D6B268DF25}"/>
              </a:ext>
            </a:extLst>
          </p:cNvPr>
          <p:cNvSpPr>
            <a:spLocks noGrp="1"/>
          </p:cNvSpPr>
          <p:nvPr>
            <p:ph idx="1"/>
          </p:nvPr>
        </p:nvSpPr>
        <p:spPr>
          <a:xfrm>
            <a:off x="1097280" y="1845734"/>
            <a:ext cx="10835262" cy="4023360"/>
          </a:xfrm>
        </p:spPr>
        <p:txBody>
          <a:bodyPr/>
          <a:lstStyle/>
          <a:p>
            <a:r>
              <a:rPr lang="en-US" dirty="0"/>
              <a:t>Serializable schedules are exactly as much concurrency we can allow in a serial schedule while still having Consistency (and we could fix Isolation)</a:t>
            </a:r>
          </a:p>
          <a:p>
            <a:r>
              <a:rPr lang="en-US" dirty="0"/>
              <a:t>…but they can’t be recognized!</a:t>
            </a:r>
          </a:p>
          <a:p>
            <a:r>
              <a:rPr lang="en-US" sz="2000" dirty="0"/>
              <a:t>A </a:t>
            </a:r>
            <a:r>
              <a:rPr lang="en-US" sz="2000" dirty="0">
                <a:solidFill>
                  <a:srgbClr val="FF0000"/>
                </a:solidFill>
              </a:rPr>
              <a:t>schedule S is </a:t>
            </a:r>
            <a:r>
              <a:rPr lang="en-US" sz="2000" b="1" dirty="0">
                <a:solidFill>
                  <a:srgbClr val="FF0000"/>
                </a:solidFill>
              </a:rPr>
              <a:t>serializable </a:t>
            </a:r>
            <a:r>
              <a:rPr lang="en-US" sz="2000" dirty="0"/>
              <a:t>if there is a </a:t>
            </a:r>
            <a:r>
              <a:rPr lang="en-US" sz="2000" dirty="0">
                <a:solidFill>
                  <a:srgbClr val="0070C0"/>
                </a:solidFill>
              </a:rPr>
              <a:t>serial schedule S’</a:t>
            </a:r>
            <a:r>
              <a:rPr lang="en-US" sz="2000" dirty="0"/>
              <a:t> that has the same effect</a:t>
            </a:r>
            <a:r>
              <a:rPr lang="en-US" sz="2000" i="1" dirty="0"/>
              <a:t> </a:t>
            </a:r>
            <a:r>
              <a:rPr lang="en-US" sz="2000" dirty="0"/>
              <a:t>as S on every initial database state</a:t>
            </a:r>
          </a:p>
          <a:p>
            <a:r>
              <a:rPr lang="en-US" dirty="0"/>
              <a:t>NEXT VIDEO: What kind of schedules are used in DBMS</a:t>
            </a:r>
          </a:p>
        </p:txBody>
      </p:sp>
      <p:sp>
        <p:nvSpPr>
          <p:cNvPr id="4" name="Rounded Rectangular Callout 4">
            <a:extLst>
              <a:ext uri="{FF2B5EF4-FFF2-40B4-BE49-F238E27FC236}">
                <a16:creationId xmlns:a16="http://schemas.microsoft.com/office/drawing/2014/main" id="{914038FA-5948-4BDB-B972-B8006B080D60}"/>
              </a:ext>
            </a:extLst>
          </p:cNvPr>
          <p:cNvSpPr/>
          <p:nvPr/>
        </p:nvSpPr>
        <p:spPr>
          <a:xfrm>
            <a:off x="6339519" y="2516489"/>
            <a:ext cx="4625724" cy="470071"/>
          </a:xfrm>
          <a:prstGeom prst="wedgeRoundRectCallout">
            <a:avLst>
              <a:gd name="adj1" fmla="val -89317"/>
              <a:gd name="adj2" fmla="val 21607"/>
              <a:gd name="adj3" fmla="val 16667"/>
            </a:avLst>
          </a:prstGeom>
        </p:spPr>
        <p:style>
          <a:lnRef idx="1">
            <a:schemeClr val="accent2"/>
          </a:lnRef>
          <a:fillRef idx="3">
            <a:schemeClr val="accent2"/>
          </a:fillRef>
          <a:effectRef idx="2">
            <a:schemeClr val="accent2"/>
          </a:effectRef>
          <a:fontRef idx="minor">
            <a:schemeClr val="lt1"/>
          </a:fontRef>
        </p:style>
        <p:txBody>
          <a:bodyPr rtlCol="0" anchor="ctr"/>
          <a:lstStyle/>
          <a:p>
            <a:r>
              <a:rPr lang="en-US" dirty="0"/>
              <a:t>Didn’t show this (will come in a later course)…</a:t>
            </a:r>
          </a:p>
        </p:txBody>
      </p:sp>
    </p:spTree>
    <p:custDataLst>
      <p:tags r:id="rId1"/>
    </p:custDataLst>
    <p:extLst>
      <p:ext uri="{BB962C8B-B14F-4D97-AF65-F5344CB8AC3E}">
        <p14:creationId xmlns:p14="http://schemas.microsoft.com/office/powerpoint/2010/main" val="2570447690"/>
      </p:ext>
    </p:extLst>
  </p:cSld>
  <p:clrMapOvr>
    <a:masterClrMapping/>
  </p:clrMapOvr>
  <mc:AlternateContent xmlns:mc="http://schemas.openxmlformats.org/markup-compatibility/2006" xmlns:p14="http://schemas.microsoft.com/office/powerpoint/2010/main">
    <mc:Choice Requires="p14">
      <p:transition spd="slow" p14:dur="2000" advTm="107241"/>
    </mc:Choice>
    <mc:Fallback xmlns="">
      <p:transition spd="slow" advTm="10724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TIMING" val="|4|50.9|29.2|3.1|4.8"/>
</p:tagLst>
</file>

<file path=ppt/tags/tag2.xml><?xml version="1.0" encoding="utf-8"?>
<p:tagLst xmlns:a="http://schemas.openxmlformats.org/drawingml/2006/main" xmlns:r="http://schemas.openxmlformats.org/officeDocument/2006/relationships" xmlns:p="http://schemas.openxmlformats.org/presentationml/2006/main">
  <p:tag name="TIMING" val="|65.3|8.9|38"/>
</p:tagLst>
</file>

<file path=ppt/tags/tag3.xml><?xml version="1.0" encoding="utf-8"?>
<p:tagLst xmlns:a="http://schemas.openxmlformats.org/drawingml/2006/main" xmlns:r="http://schemas.openxmlformats.org/officeDocument/2006/relationships" xmlns:p="http://schemas.openxmlformats.org/presentationml/2006/main">
  <p:tag name="TIMING" val="|13.3|18.8|48.3|25.7"/>
</p:tagLst>
</file>

<file path=ppt/tags/tag4.xml><?xml version="1.0" encoding="utf-8"?>
<p:tagLst xmlns:a="http://schemas.openxmlformats.org/drawingml/2006/main" xmlns:r="http://schemas.openxmlformats.org/officeDocument/2006/relationships" xmlns:p="http://schemas.openxmlformats.org/presentationml/2006/main">
  <p:tag name="TIMING" val="|7|4.8"/>
</p:tagLst>
</file>

<file path=ppt/tags/tag5.xml><?xml version="1.0" encoding="utf-8"?>
<p:tagLst xmlns:a="http://schemas.openxmlformats.org/drawingml/2006/main" xmlns:r="http://schemas.openxmlformats.org/officeDocument/2006/relationships" xmlns:p="http://schemas.openxmlformats.org/presentationml/2006/main">
  <p:tag name="TIMING" val="|5.2|26.4|66.9"/>
</p:tagLst>
</file>

<file path=ppt/tags/tag6.xml><?xml version="1.0" encoding="utf-8"?>
<p:tagLst xmlns:a="http://schemas.openxmlformats.org/drawingml/2006/main" xmlns:r="http://schemas.openxmlformats.org/officeDocument/2006/relationships" xmlns:p="http://schemas.openxmlformats.org/presentationml/2006/main">
  <p:tag name="TIMING" val="|19.8|20.9|17.5|30"/>
</p:tagLst>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263</TotalTime>
  <Words>2516</Words>
  <Application>Microsoft Office PowerPoint</Application>
  <PresentationFormat>Widescreen</PresentationFormat>
  <Paragraphs>884</Paragraphs>
  <Slides>28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Calibri</vt:lpstr>
      <vt:lpstr>Calibri Light</vt:lpstr>
      <vt:lpstr>Retrospect</vt:lpstr>
      <vt:lpstr>Schedules that behaves nearly serial</vt:lpstr>
      <vt:lpstr>Overview of this video</vt:lpstr>
      <vt:lpstr>Schedules – Two Extremes</vt:lpstr>
      <vt:lpstr>A Serial Schedule</vt:lpstr>
      <vt:lpstr>A Concurrent Schedule</vt:lpstr>
      <vt:lpstr>A Concurrent Schedule</vt:lpstr>
      <vt:lpstr>A Concurrent Schedule</vt:lpstr>
      <vt:lpstr>A Concurrent Schedule</vt:lpstr>
      <vt:lpstr> Basic Operations of Transactions (slide from video on schedules)</vt:lpstr>
      <vt:lpstr>Concurrent Schedules Do Not Guarantee Consistency or Isolation</vt:lpstr>
      <vt:lpstr>Concurrent Schedules Do Not Guarantee Consistency or Isolation</vt:lpstr>
      <vt:lpstr>Concurrent Schedules Do Not Guarantee Consistency or Isolation</vt:lpstr>
      <vt:lpstr>Concurrent Schedules Do Not Guarantee Consistency or Isolation</vt:lpstr>
      <vt:lpstr>Concurrent Schedules Do Not Guarantee Consistency or Isolation</vt:lpstr>
      <vt:lpstr>Concurrent Schedules Do Not Guarantee Consistency or Isolation</vt:lpstr>
      <vt:lpstr>Concurrent Schedules Do Not Guarantee Consistency or Isolation</vt:lpstr>
      <vt:lpstr>Concurrent Schedules Do Not Guarantee Consistency or Isolation</vt:lpstr>
      <vt:lpstr>Concurrent Schedules Do Not Guarantee Consistency or Isolation</vt:lpstr>
      <vt:lpstr>Concurrent Schedules Do Not Guarantee Consistency or Isolation</vt:lpstr>
      <vt:lpstr>Concurrent Schedules Do Not Guarantee Consistency or Isolation</vt:lpstr>
      <vt:lpstr>Concurrent Schedules Do Not Guarantee Consistency or Isolation</vt:lpstr>
      <vt:lpstr>Concurrent Schedules Do Not Guarantee Consistency or Isolation</vt:lpstr>
      <vt:lpstr>Concurrent Schedules Do Not Guarantee Consistency or Isolation</vt:lpstr>
      <vt:lpstr>PowerPoint Presentation</vt:lpstr>
      <vt:lpstr>Serializable Schedules</vt:lpstr>
      <vt:lpstr>Serializable Schedules</vt:lpstr>
      <vt:lpstr>Serializable Schedules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Schedules that behaves nearly serial</dc:title>
  <dc:creator>Rasmus Ibsen-Jensen</dc:creator>
  <cp:lastModifiedBy>Rasmus Ibsen-Jensen</cp:lastModifiedBy>
  <cp:revision>31</cp:revision>
  <dcterms:created xsi:type="dcterms:W3CDTF">2020-10-21T22:06:40Z</dcterms:created>
  <dcterms:modified xsi:type="dcterms:W3CDTF">2021-11-19T17:46:15Z</dcterms:modified>
</cp:coreProperties>
</file>