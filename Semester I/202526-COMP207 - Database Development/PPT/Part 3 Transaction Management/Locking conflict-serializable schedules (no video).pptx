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354" r:id="rId3"/>
    <p:sldId id="355" r:id="rId4"/>
    <p:sldId id="297" r:id="rId5"/>
    <p:sldId id="356" r:id="rId6"/>
    <p:sldId id="479" r:id="rId7"/>
    <p:sldId id="480" r:id="rId8"/>
    <p:sldId id="481" r:id="rId9"/>
    <p:sldId id="482" r:id="rId10"/>
    <p:sldId id="313" r:id="rId11"/>
    <p:sldId id="532" r:id="rId12"/>
    <p:sldId id="533" r:id="rId13"/>
    <p:sldId id="529" r:id="rId14"/>
    <p:sldId id="534" r:id="rId15"/>
    <p:sldId id="535" r:id="rId16"/>
    <p:sldId id="55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1C59B-AC00-4D87-8D0C-8ADEF9C7D36D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D0A1C-FEC1-4A40-AFAB-C6EC41B983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484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enough to compute a good schedule offline</a:t>
            </a:r>
          </a:p>
          <a:p>
            <a:endParaRPr lang="en-GB" dirty="0"/>
          </a:p>
          <a:p>
            <a:r>
              <a:rPr lang="en-GB" dirty="0">
                <a:sym typeface="Wingdings"/>
              </a:rPr>
              <a:t>New transactions arrive all the time, and at each time the </a:t>
            </a:r>
            <a:r>
              <a:rPr lang="en-GB" dirty="0"/>
              <a:t>schedule we have should be conflict-</a:t>
            </a:r>
            <a:r>
              <a:rPr lang="en-GB" dirty="0" err="1"/>
              <a:t>serialisable</a:t>
            </a:r>
            <a:endParaRPr lang="en-GB" dirty="0"/>
          </a:p>
          <a:p>
            <a:r>
              <a:rPr lang="en-GB" dirty="0"/>
              <a:t>DBMSs cannot afford to </a:t>
            </a:r>
            <a:r>
              <a:rPr lang="en-GB" dirty="0" err="1"/>
              <a:t>recompute</a:t>
            </a:r>
            <a:r>
              <a:rPr lang="en-GB" dirty="0"/>
              <a:t> a new schedule all the time, need to enforce this</a:t>
            </a:r>
            <a:r>
              <a:rPr lang="mr-IN" dirty="0"/>
              <a:t>…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6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62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9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62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5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881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14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90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05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26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72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07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C5A89D-F2E3-4C99-B34D-C51E496459E9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7BBCCE1-B010-4DAE-97D0-CDFF244B3D5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6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5317-99F0-407D-9F02-97262CF60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Locking conflict-serializable schedules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10FDF-6685-4E8B-9ECA-951C61A427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10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8"/>
    </mc:Choice>
    <mc:Fallback xmlns="">
      <p:transition spd="slow" advTm="59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 How do we actually do conflict-serializable schedules?</a:t>
            </a:r>
            <a:endParaRPr lang="en-US" sz="26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9FEF2EB-739F-4A39-9129-CE882C36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45271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57"/>
    </mc:Choice>
    <mc:Fallback xmlns="">
      <p:transition spd="slow" advTm="116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3CD0A879-0C92-4EDA-9C0F-CD3553BC9761}"/>
              </a:ext>
            </a:extLst>
          </p:cNvPr>
          <p:cNvSpPr txBox="1">
            <a:spLocks/>
          </p:cNvSpPr>
          <p:nvPr/>
        </p:nvSpPr>
        <p:spPr>
          <a:xfrm>
            <a:off x="914400" y="2564904"/>
            <a:ext cx="10972800" cy="21594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</a:t>
            </a:r>
            <a:r>
              <a:rPr lang="en-GB" dirty="0" err="1"/>
              <a:t>ain’t</a:t>
            </a:r>
            <a:r>
              <a:rPr lang="en-GB" dirty="0"/>
              <a:t> we done?</a:t>
            </a:r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CB63BA-81C6-4104-AA5D-B333A851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901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68"/>
    </mc:Choice>
    <mc:Fallback xmlns="">
      <p:transition spd="slow" advTm="3986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Transaction Scheduling in a DBMS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3394594" y="2178390"/>
            <a:ext cx="2647620" cy="369332"/>
            <a:chOff x="1870594" y="2276871"/>
            <a:chExt cx="2647620" cy="369332"/>
          </a:xfrm>
        </p:grpSpPr>
        <p:sp>
          <p:nvSpPr>
            <p:cNvPr id="6" name="TextBox 5"/>
            <p:cNvSpPr txBox="1"/>
            <p:nvPr/>
          </p:nvSpPr>
          <p:spPr>
            <a:xfrm>
              <a:off x="1870594" y="227687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baseline="-25000" dirty="0"/>
                <a:t>1</a:t>
              </a:r>
              <a:r>
                <a:rPr lang="en-US" dirty="0"/>
                <a:t>(X)</a:t>
              </a:r>
              <a:endParaRPr lang="en-US" baseline="-250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446658" y="2276871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baseline="-25000" dirty="0"/>
                <a:t>2</a:t>
              </a:r>
              <a:r>
                <a:rPr lang="en-US" dirty="0"/>
                <a:t>(Y)</a:t>
              </a:r>
              <a:endParaRPr lang="en-US" baseline="-250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22722" y="2276871"/>
              <a:ext cx="59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baseline="-25000" dirty="0"/>
                <a:t>3</a:t>
              </a:r>
              <a:r>
                <a:rPr lang="en-US" dirty="0"/>
                <a:t>(Y)</a:t>
              </a:r>
              <a:endParaRPr lang="en-US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98786" y="2276871"/>
              <a:ext cx="689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  <a:r>
                <a:rPr lang="en-US" baseline="-25000" dirty="0"/>
                <a:t>4</a:t>
              </a:r>
              <a:r>
                <a:rPr lang="en-US" dirty="0"/>
                <a:t>(X)</a:t>
              </a:r>
              <a:endParaRPr lang="en-US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74850" y="2276871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dirty="0"/>
                <a:t>…</a:t>
              </a:r>
              <a:endParaRPr lang="en-US" baseline="-25000" dirty="0"/>
            </a:p>
          </p:txBody>
        </p:sp>
      </p:grpSp>
      <p:cxnSp>
        <p:nvCxnSpPr>
          <p:cNvPr id="13" name="Straight Connector 12"/>
          <p:cNvCxnSpPr/>
          <p:nvPr/>
        </p:nvCxnSpPr>
        <p:spPr>
          <a:xfrm>
            <a:off x="3250578" y="217839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50578" y="2610438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10817" y="3330735"/>
            <a:ext cx="136815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Scheduler</a:t>
            </a:r>
            <a:endParaRPr lang="en-US" dirty="0"/>
          </a:p>
        </p:txBody>
      </p:sp>
      <p:sp>
        <p:nvSpPr>
          <p:cNvPr id="16" name="Can 15"/>
          <p:cNvSpPr/>
          <p:nvPr/>
        </p:nvSpPr>
        <p:spPr>
          <a:xfrm>
            <a:off x="5467536" y="5008191"/>
            <a:ext cx="1254714" cy="986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Buffers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0856" y="1700808"/>
            <a:ext cx="23801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Transaction Manager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094893" y="2682447"/>
            <a:ext cx="0" cy="576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094893" y="4338631"/>
            <a:ext cx="0" cy="576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81052" y="2764541"/>
            <a:ext cx="3895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requests (operations from transactions)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051" y="4408581"/>
            <a:ext cx="311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(conflict-) </a:t>
            </a:r>
            <a:r>
              <a:rPr lang="en-US" dirty="0" err="1">
                <a:solidFill>
                  <a:schemeClr val="tx2"/>
                </a:solidFill>
              </a:rPr>
              <a:t>serialisable</a:t>
            </a:r>
            <a:r>
              <a:rPr lang="en-US" dirty="0">
                <a:solidFill>
                  <a:schemeClr val="tx2"/>
                </a:solidFill>
              </a:rPr>
              <a:t> schedule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1882426" y="2773833"/>
            <a:ext cx="2088232" cy="720080"/>
          </a:xfrm>
          <a:prstGeom prst="wedgeRoundRectCallout">
            <a:avLst>
              <a:gd name="adj1" fmla="val 37146"/>
              <a:gd name="adj2" fmla="val -8212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Continuous stream of operations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7282565" y="3656506"/>
            <a:ext cx="2593396" cy="457283"/>
          </a:xfrm>
          <a:prstGeom prst="wedgeRoundRectCallout">
            <a:avLst>
              <a:gd name="adj1" fmla="val -65432"/>
              <a:gd name="adj2" fmla="val -339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Execute or </a:t>
            </a:r>
            <a:r>
              <a:rPr lang="en-US"/>
              <a:t>delay request</a:t>
            </a:r>
            <a:endParaRPr lang="en-US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7116846" y="5008192"/>
            <a:ext cx="3227627" cy="725065"/>
          </a:xfrm>
          <a:prstGeom prst="wedgeRoundRectCallout">
            <a:avLst>
              <a:gd name="adj1" fmla="val -25953"/>
              <a:gd name="adj2" fmla="val -868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Not enough to compute offline;</a:t>
            </a:r>
            <a:br>
              <a:rPr lang="en-US" dirty="0"/>
            </a:br>
            <a:r>
              <a:rPr lang="en-US" dirty="0"/>
              <a:t>needs to be enforced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812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675"/>
    </mc:Choice>
    <mc:Fallback xmlns="">
      <p:transition spd="slow" advTm="1736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3CD0A879-0C92-4EDA-9C0F-CD3553BC9761}"/>
              </a:ext>
            </a:extLst>
          </p:cNvPr>
          <p:cNvSpPr txBox="1">
            <a:spLocks/>
          </p:cNvSpPr>
          <p:nvPr/>
        </p:nvSpPr>
        <p:spPr>
          <a:xfrm>
            <a:off x="914400" y="2564904"/>
            <a:ext cx="10363200" cy="215949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Enforcing Conflict-Serializability </a:t>
            </a:r>
            <a:br>
              <a:rPr lang="en-US" dirty="0"/>
            </a:br>
            <a:r>
              <a:rPr lang="en-US" dirty="0"/>
              <a:t>Using Locks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CB63BA-81C6-4104-AA5D-B333A851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2" name="Picture 1" descr="An image of a padlock - for decoration">
            <a:extLst>
              <a:ext uri="{FF2B5EF4-FFF2-40B4-BE49-F238E27FC236}">
                <a16:creationId xmlns:a16="http://schemas.microsoft.com/office/drawing/2014/main" id="{EC221BEC-7DF7-452F-993F-7786B5A8C0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40309">
            <a:off x="7007898" y="3676507"/>
            <a:ext cx="1102703" cy="124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15"/>
    </mc:Choice>
    <mc:Fallback xmlns="">
      <p:transition spd="slow" advTm="1771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2AC5-E930-4BE9-83DD-AED9DCB1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Locking Mechanism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324B-B8D6-441B-83E8-058CC17E1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30905" cy="4023360"/>
          </a:xfrm>
        </p:spPr>
        <p:txBody>
          <a:bodyPr/>
          <a:lstStyle/>
          <a:p>
            <a:r>
              <a:rPr lang="en-US" sz="2400" dirty="0"/>
              <a:t>A transaction has to </a:t>
            </a:r>
            <a:r>
              <a:rPr lang="en-US" sz="2400" dirty="0">
                <a:solidFill>
                  <a:srgbClr val="FF0000"/>
                </a:solidFill>
              </a:rPr>
              <a:t>lock</a:t>
            </a:r>
            <a:r>
              <a:rPr lang="en-US" sz="2400" dirty="0"/>
              <a:t> an item before it accesses it.</a:t>
            </a:r>
          </a:p>
          <a:p>
            <a:r>
              <a:rPr lang="en-US" sz="2400" dirty="0"/>
              <a:t>Locks are requested from &amp; granted by the scheduler:</a:t>
            </a:r>
          </a:p>
          <a:p>
            <a:pPr lvl="1"/>
            <a:r>
              <a:rPr lang="en-US" sz="2000" dirty="0"/>
              <a:t>Each item is locked by at most one transaction at a time.</a:t>
            </a:r>
          </a:p>
          <a:p>
            <a:pPr lvl="1"/>
            <a:r>
              <a:rPr lang="en-US" sz="2000" dirty="0"/>
              <a:t>Transactions wait until a lock</a:t>
            </a:r>
            <a:br>
              <a:rPr lang="en-US" sz="2000" dirty="0"/>
            </a:br>
            <a:r>
              <a:rPr lang="en-US" sz="2000" dirty="0"/>
              <a:t>can be granted.</a:t>
            </a:r>
          </a:p>
          <a:p>
            <a:r>
              <a:rPr lang="en-US" sz="2400" dirty="0"/>
              <a:t>Each lock has to be </a:t>
            </a:r>
            <a:r>
              <a:rPr lang="en-US" sz="2400" dirty="0">
                <a:solidFill>
                  <a:srgbClr val="00B050"/>
                </a:solidFill>
              </a:rPr>
              <a:t>released (unlocked)</a:t>
            </a:r>
            <a:r>
              <a:rPr lang="en-US" sz="2400" dirty="0"/>
              <a:t> eventually.</a:t>
            </a:r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4653E96-283A-4B34-B263-95E3A0D9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0ED180-7921-4DB5-B5C5-522713647BF8}"/>
              </a:ext>
            </a:extLst>
          </p:cNvPr>
          <p:cNvGraphicFramePr>
            <a:graphicFrameLocks noGrp="1"/>
          </p:cNvGraphicFramePr>
          <p:nvPr/>
        </p:nvGraphicFramePr>
        <p:xfrm>
          <a:off x="6578664" y="1556792"/>
          <a:ext cx="1524000" cy="2540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...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900E7E0-7C0E-449F-9C72-1A0184EB4FC3}"/>
              </a:ext>
            </a:extLst>
          </p:cNvPr>
          <p:cNvSpPr/>
          <p:nvPr/>
        </p:nvSpPr>
        <p:spPr>
          <a:xfrm>
            <a:off x="7730792" y="4556076"/>
            <a:ext cx="1368152" cy="693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Scheduler</a:t>
            </a:r>
            <a:endParaRPr lang="en-US" dirty="0"/>
          </a:p>
        </p:txBody>
      </p:sp>
      <p:sp>
        <p:nvSpPr>
          <p:cNvPr id="7" name="Can 10">
            <a:extLst>
              <a:ext uri="{FF2B5EF4-FFF2-40B4-BE49-F238E27FC236}">
                <a16:creationId xmlns:a16="http://schemas.microsoft.com/office/drawing/2014/main" id="{E13F2E0D-8738-4D94-860B-E1199512AC61}"/>
              </a:ext>
            </a:extLst>
          </p:cNvPr>
          <p:cNvSpPr/>
          <p:nvPr/>
        </p:nvSpPr>
        <p:spPr>
          <a:xfrm>
            <a:off x="7787511" y="5597229"/>
            <a:ext cx="1254714" cy="83773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Buffers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645328-2F90-4E23-8679-C016DF19BC64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8414868" y="5249081"/>
            <a:ext cx="0" cy="34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424077-F7D4-4B94-B611-85FD2C588C64}"/>
              </a:ext>
            </a:extLst>
          </p:cNvPr>
          <p:cNvCxnSpPr/>
          <p:nvPr/>
        </p:nvCxnSpPr>
        <p:spPr>
          <a:xfrm rot="16200000">
            <a:off x="6373336" y="1905339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BDA9A7-3163-4FD4-96EE-994601262AA3}"/>
              </a:ext>
            </a:extLst>
          </p:cNvPr>
          <p:cNvGraphicFramePr>
            <a:graphicFrameLocks noGrp="1"/>
          </p:cNvGraphicFramePr>
          <p:nvPr/>
        </p:nvGraphicFramePr>
        <p:xfrm>
          <a:off x="8666896" y="1556792"/>
          <a:ext cx="1524000" cy="2540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read(X)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1" name="Elbow Connector 20">
            <a:extLst>
              <a:ext uri="{FF2B5EF4-FFF2-40B4-BE49-F238E27FC236}">
                <a16:creationId xmlns:a16="http://schemas.microsoft.com/office/drawing/2014/main" id="{D13F2BED-F42E-43AC-A3CA-E30EC0DBBF01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7132915" y="4304701"/>
            <a:ext cx="805626" cy="3901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22">
            <a:extLst>
              <a:ext uri="{FF2B5EF4-FFF2-40B4-BE49-F238E27FC236}">
                <a16:creationId xmlns:a16="http://schemas.microsoft.com/office/drawing/2014/main" id="{C4B879E1-D59B-4CFC-827F-A25762CB79EC}"/>
              </a:ext>
            </a:extLst>
          </p:cNvPr>
          <p:cNvCxnSpPr>
            <a:stCxn id="10" idx="2"/>
            <a:endCxn id="6" idx="3"/>
          </p:cNvCxnSpPr>
          <p:nvPr/>
        </p:nvCxnSpPr>
        <p:spPr>
          <a:xfrm rot="5400000">
            <a:off x="8861107" y="4334789"/>
            <a:ext cx="805626" cy="3299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18AFC0-4FBE-4EEF-B4F3-FB94DFBA3BAB}"/>
              </a:ext>
            </a:extLst>
          </p:cNvPr>
          <p:cNvGrpSpPr/>
          <p:nvPr/>
        </p:nvGrpSpPr>
        <p:grpSpPr>
          <a:xfrm>
            <a:off x="6600057" y="2204865"/>
            <a:ext cx="2871633" cy="276999"/>
            <a:chOff x="5085629" y="2204864"/>
            <a:chExt cx="2871633" cy="2769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5B782F-6D67-4C07-B8F3-35F53B9CDE86}"/>
                </a:ext>
              </a:extLst>
            </p:cNvPr>
            <p:cNvSpPr/>
            <p:nvPr/>
          </p:nvSpPr>
          <p:spPr>
            <a:xfrm>
              <a:off x="5085629" y="2204864"/>
              <a:ext cx="7834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72000" tIns="0" rIns="72000" bIns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lock(X)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3224EB-B470-4CFC-9292-71AF135E367E}"/>
                </a:ext>
              </a:extLst>
            </p:cNvPr>
            <p:cNvSpPr/>
            <p:nvPr/>
          </p:nvSpPr>
          <p:spPr>
            <a:xfrm>
              <a:off x="7173861" y="2204864"/>
              <a:ext cx="78340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72000" tIns="0" rIns="72000" bIns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lock(X)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78444-702F-4D98-BB86-9D18E63F4C6F}"/>
              </a:ext>
            </a:extLst>
          </p:cNvPr>
          <p:cNvSpPr/>
          <p:nvPr/>
        </p:nvSpPr>
        <p:spPr>
          <a:xfrm>
            <a:off x="6654076" y="3482328"/>
            <a:ext cx="88165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unlock(X)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93A948-7416-4DF4-9F6C-8C93C4240518}"/>
              </a:ext>
            </a:extLst>
          </p:cNvPr>
          <p:cNvSpPr/>
          <p:nvPr/>
        </p:nvSpPr>
        <p:spPr>
          <a:xfrm>
            <a:off x="8770942" y="3806670"/>
            <a:ext cx="88165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unlock(X)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978AE3-B513-4F7A-BE4F-EC2F047AC47B}"/>
              </a:ext>
            </a:extLst>
          </p:cNvPr>
          <p:cNvCxnSpPr/>
          <p:nvPr/>
        </p:nvCxnSpPr>
        <p:spPr>
          <a:xfrm rot="16200000">
            <a:off x="6373337" y="2215561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D2D767-3225-449F-8E5D-BCEF89BA0BA6}"/>
              </a:ext>
            </a:extLst>
          </p:cNvPr>
          <p:cNvCxnSpPr/>
          <p:nvPr/>
        </p:nvCxnSpPr>
        <p:spPr>
          <a:xfrm rot="16200000">
            <a:off x="6373338" y="2525783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CA233-B426-4F9F-8AE4-A5C57A508337}"/>
              </a:ext>
            </a:extLst>
          </p:cNvPr>
          <p:cNvCxnSpPr/>
          <p:nvPr/>
        </p:nvCxnSpPr>
        <p:spPr>
          <a:xfrm rot="16200000">
            <a:off x="6373339" y="2836005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217647-AA05-4C39-B2F6-D7BC97C2D30E}"/>
              </a:ext>
            </a:extLst>
          </p:cNvPr>
          <p:cNvCxnSpPr/>
          <p:nvPr/>
        </p:nvCxnSpPr>
        <p:spPr>
          <a:xfrm rot="16200000">
            <a:off x="6373340" y="3146227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DBB103-9B50-4B45-A5D5-4003BB499530}"/>
              </a:ext>
            </a:extLst>
          </p:cNvPr>
          <p:cNvCxnSpPr/>
          <p:nvPr/>
        </p:nvCxnSpPr>
        <p:spPr>
          <a:xfrm rot="16200000">
            <a:off x="6373341" y="3456449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722A035-400E-41DA-B2B9-FAC57E9C515E}"/>
              </a:ext>
            </a:extLst>
          </p:cNvPr>
          <p:cNvCxnSpPr/>
          <p:nvPr/>
        </p:nvCxnSpPr>
        <p:spPr>
          <a:xfrm rot="16200000">
            <a:off x="8482954" y="1883149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43B072-790E-4435-8E2B-8DC229BA1B27}"/>
              </a:ext>
            </a:extLst>
          </p:cNvPr>
          <p:cNvCxnSpPr/>
          <p:nvPr/>
        </p:nvCxnSpPr>
        <p:spPr>
          <a:xfrm rot="16200000">
            <a:off x="8482955" y="2193371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C2843E-385B-4DD1-B477-D5F5CB25B7ED}"/>
              </a:ext>
            </a:extLst>
          </p:cNvPr>
          <p:cNvCxnSpPr/>
          <p:nvPr/>
        </p:nvCxnSpPr>
        <p:spPr>
          <a:xfrm rot="16200000">
            <a:off x="8482956" y="2503593"/>
            <a:ext cx="0" cy="266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9ECC391-1310-4B71-B11D-FA68B13849DA}"/>
              </a:ext>
            </a:extLst>
          </p:cNvPr>
          <p:cNvGrpSpPr/>
          <p:nvPr/>
        </p:nvGrpSpPr>
        <p:grpSpPr>
          <a:xfrm>
            <a:off x="6115774" y="1556792"/>
            <a:ext cx="2506215" cy="2526876"/>
            <a:chOff x="4591773" y="1556792"/>
            <a:chExt cx="2506215" cy="252687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C22B30D-A3C6-4D51-9193-C19E2FB6894A}"/>
                </a:ext>
              </a:extLst>
            </p:cNvPr>
            <p:cNvSpPr/>
            <p:nvPr/>
          </p:nvSpPr>
          <p:spPr>
            <a:xfrm>
              <a:off x="4591773" y="1556792"/>
              <a:ext cx="439375" cy="2526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799FE5E-8F13-4F24-9BBA-D57F68C636CE}"/>
                </a:ext>
              </a:extLst>
            </p:cNvPr>
            <p:cNvSpPr/>
            <p:nvPr/>
          </p:nvSpPr>
          <p:spPr>
            <a:xfrm>
              <a:off x="6575960" y="1556792"/>
              <a:ext cx="522028" cy="2526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4547420-A7F3-4AA9-9744-B93CE8766F18}"/>
              </a:ext>
            </a:extLst>
          </p:cNvPr>
          <p:cNvSpPr/>
          <p:nvPr/>
        </p:nvSpPr>
        <p:spPr>
          <a:xfrm>
            <a:off x="10182980" y="1395664"/>
            <a:ext cx="1076745" cy="2526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56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558"/>
    </mc:Choice>
    <mc:Fallback xmlns="">
      <p:transition spd="slow" advTm="2365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-1.94444E-6 0.04537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59259E-6 L -1.94444E-6 0.04514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48148E-6 L -1.11111E-6 0.04537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48148E-6 L -1.94444E-6 0.04514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3.7037E-7 L -1.94444E-6 0.04537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-1.94444E-6 0.04514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85185E-6 L -1.11111E-6 0.04514 " pathEditMode="relative" rAng="0" ptsTypes="AA">
                                      <p:cBhvr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18F4-105A-43DE-A411-72F41F06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 With Simple 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C593B-89E8-423B-8D73-11FDF7E3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Extend syntax for schedules by two operations: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</a:t>
            </a:r>
            <a:r>
              <a:rPr lang="en-US" b="1" baseline="-25000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(X)</a:t>
            </a:r>
            <a:r>
              <a:rPr lang="en-US" dirty="0"/>
              <a:t>: transaction </a:t>
            </a:r>
            <a:r>
              <a:rPr lang="en-US" dirty="0" err="1"/>
              <a:t>i</a:t>
            </a:r>
            <a:r>
              <a:rPr lang="en-US" dirty="0"/>
              <a:t> requests a lock for item X</a:t>
            </a:r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u</a:t>
            </a:r>
            <a:r>
              <a:rPr lang="en-US" b="1" baseline="-25000" dirty="0" err="1">
                <a:solidFill>
                  <a:srgbClr val="00B050"/>
                </a:solidFill>
              </a:rPr>
              <a:t>i</a:t>
            </a:r>
            <a:r>
              <a:rPr lang="en-US" b="1" dirty="0">
                <a:solidFill>
                  <a:srgbClr val="00B050"/>
                </a:solidFill>
              </a:rPr>
              <a:t>(X)</a:t>
            </a:r>
            <a:r>
              <a:rPr lang="en-US" dirty="0"/>
              <a:t>: transaction </a:t>
            </a:r>
            <a:r>
              <a:rPr lang="en-US" dirty="0" err="1"/>
              <a:t>i</a:t>
            </a:r>
            <a:r>
              <a:rPr lang="en-US" dirty="0"/>
              <a:t> unlocks item X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Rules:</a:t>
            </a:r>
          </a:p>
          <a:p>
            <a:pPr lvl="1"/>
            <a:r>
              <a:rPr lang="en-GB" dirty="0"/>
              <a:t>For each </a:t>
            </a:r>
            <a:r>
              <a:rPr lang="en-GB" b="1" dirty="0" err="1"/>
              <a:t>r</a:t>
            </a:r>
            <a:r>
              <a:rPr lang="en-GB" b="1" baseline="-25000" dirty="0" err="1"/>
              <a:t>i</a:t>
            </a:r>
            <a:r>
              <a:rPr lang="en-GB" b="1" dirty="0"/>
              <a:t>(X)</a:t>
            </a:r>
            <a:r>
              <a:rPr lang="en-GB" dirty="0"/>
              <a:t> / </a:t>
            </a:r>
            <a:r>
              <a:rPr lang="en-GB" b="1" dirty="0" err="1"/>
              <a:t>w</a:t>
            </a:r>
            <a:r>
              <a:rPr lang="en-GB" b="1" baseline="-25000" dirty="0" err="1"/>
              <a:t>i</a:t>
            </a:r>
            <a:r>
              <a:rPr lang="en-GB" b="1" dirty="0"/>
              <a:t>(X)</a:t>
            </a:r>
            <a:r>
              <a:rPr lang="en-GB" dirty="0"/>
              <a:t> there is an earlier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b="1" baseline="-25000" dirty="0">
                <a:solidFill>
                  <a:srgbClr val="FF0000"/>
                </a:solidFill>
              </a:rPr>
              <a:t>i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 without any </a:t>
            </a:r>
            <a:r>
              <a:rPr lang="en-GB" b="1" dirty="0" err="1">
                <a:solidFill>
                  <a:srgbClr val="00B050"/>
                </a:solidFill>
              </a:rPr>
              <a:t>u</a:t>
            </a:r>
            <a:r>
              <a:rPr lang="en-GB" b="1" baseline="-25000" dirty="0" err="1">
                <a:solidFill>
                  <a:srgbClr val="00B050"/>
                </a:solidFill>
              </a:rPr>
              <a:t>i</a:t>
            </a:r>
            <a:r>
              <a:rPr lang="en-GB" b="1" dirty="0">
                <a:solidFill>
                  <a:srgbClr val="00B050"/>
                </a:solidFill>
              </a:rPr>
              <a:t>(X)</a:t>
            </a:r>
            <a:r>
              <a:rPr lang="en-GB" dirty="0"/>
              <a:t> occurring between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b="1" baseline="-25000" dirty="0">
                <a:solidFill>
                  <a:srgbClr val="FF0000"/>
                </a:solidFill>
              </a:rPr>
              <a:t>i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 and </a:t>
            </a:r>
            <a:r>
              <a:rPr lang="en-GB" b="1" dirty="0" err="1"/>
              <a:t>r</a:t>
            </a:r>
            <a:r>
              <a:rPr lang="en-GB" b="1" baseline="-25000" dirty="0" err="1"/>
              <a:t>i</a:t>
            </a:r>
            <a:r>
              <a:rPr lang="en-GB" b="1" dirty="0"/>
              <a:t>(X) </a:t>
            </a:r>
            <a:r>
              <a:rPr lang="en-GB" dirty="0"/>
              <a:t>/ </a:t>
            </a:r>
            <a:r>
              <a:rPr lang="en-GB" b="1" dirty="0" err="1"/>
              <a:t>w</a:t>
            </a:r>
            <a:r>
              <a:rPr lang="en-GB" b="1" baseline="-25000" dirty="0" err="1"/>
              <a:t>i</a:t>
            </a:r>
            <a:r>
              <a:rPr lang="en-GB" b="1" dirty="0"/>
              <a:t>(X)</a:t>
            </a:r>
            <a:r>
              <a:rPr lang="en-US" dirty="0"/>
              <a:t>.</a:t>
            </a:r>
            <a:endParaRPr lang="en-GB" dirty="0"/>
          </a:p>
          <a:p>
            <a:pPr lvl="1"/>
            <a:r>
              <a:rPr lang="en-GB" dirty="0"/>
              <a:t>For each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b="1" baseline="-25000" dirty="0">
                <a:solidFill>
                  <a:srgbClr val="FF0000"/>
                </a:solidFill>
              </a:rPr>
              <a:t>i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b="1" dirty="0"/>
              <a:t> </a:t>
            </a:r>
            <a:r>
              <a:rPr lang="en-GB" dirty="0"/>
              <a:t>there is a later </a:t>
            </a:r>
            <a:r>
              <a:rPr lang="en-GB" b="1" dirty="0" err="1">
                <a:solidFill>
                  <a:srgbClr val="00B050"/>
                </a:solidFill>
              </a:rPr>
              <a:t>u</a:t>
            </a:r>
            <a:r>
              <a:rPr lang="en-GB" b="1" baseline="-25000" dirty="0" err="1">
                <a:solidFill>
                  <a:srgbClr val="00B050"/>
                </a:solidFill>
              </a:rPr>
              <a:t>i</a:t>
            </a:r>
            <a:r>
              <a:rPr lang="en-GB" b="1" dirty="0">
                <a:solidFill>
                  <a:srgbClr val="00B050"/>
                </a:solidFill>
              </a:rPr>
              <a:t>(X)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If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b="1" baseline="-25000" dirty="0">
                <a:solidFill>
                  <a:srgbClr val="FF0000"/>
                </a:solidFill>
              </a:rPr>
              <a:t>i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 comes before </a:t>
            </a:r>
            <a:r>
              <a:rPr lang="en-GB" b="1" dirty="0" err="1">
                <a:solidFill>
                  <a:srgbClr val="FF0000"/>
                </a:solidFill>
              </a:rPr>
              <a:t>l</a:t>
            </a:r>
            <a:r>
              <a:rPr lang="en-GB" b="1" baseline="-25000" dirty="0" err="1">
                <a:solidFill>
                  <a:srgbClr val="FF0000"/>
                </a:solidFill>
              </a:rPr>
              <a:t>j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, then </a:t>
            </a:r>
            <a:r>
              <a:rPr lang="en-GB" b="1" dirty="0" err="1">
                <a:solidFill>
                  <a:srgbClr val="00B050"/>
                </a:solidFill>
              </a:rPr>
              <a:t>u</a:t>
            </a:r>
            <a:r>
              <a:rPr lang="en-GB" b="1" baseline="-25000" dirty="0" err="1">
                <a:solidFill>
                  <a:srgbClr val="00B050"/>
                </a:solidFill>
              </a:rPr>
              <a:t>i</a:t>
            </a:r>
            <a:r>
              <a:rPr lang="en-GB" b="1" dirty="0">
                <a:solidFill>
                  <a:srgbClr val="00B050"/>
                </a:solidFill>
              </a:rPr>
              <a:t>(X)</a:t>
            </a:r>
            <a:r>
              <a:rPr lang="en-GB" dirty="0"/>
              <a:t> occurs between </a:t>
            </a:r>
            <a:r>
              <a:rPr lang="en-GB" b="1" dirty="0">
                <a:solidFill>
                  <a:srgbClr val="FF0000"/>
                </a:solidFill>
              </a:rPr>
              <a:t>l</a:t>
            </a:r>
            <a:r>
              <a:rPr lang="en-GB" b="1" baseline="-25000" dirty="0">
                <a:solidFill>
                  <a:srgbClr val="FF0000"/>
                </a:solidFill>
              </a:rPr>
              <a:t>i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 and </a:t>
            </a:r>
            <a:r>
              <a:rPr lang="en-GB" b="1" dirty="0" err="1">
                <a:solidFill>
                  <a:srgbClr val="FF0000"/>
                </a:solidFill>
              </a:rPr>
              <a:t>l</a:t>
            </a:r>
            <a:r>
              <a:rPr lang="en-GB" b="1" baseline="-25000" dirty="0" err="1">
                <a:solidFill>
                  <a:srgbClr val="FF0000"/>
                </a:solidFill>
              </a:rPr>
              <a:t>j</a:t>
            </a:r>
            <a:r>
              <a:rPr lang="en-GB" b="1" dirty="0">
                <a:solidFill>
                  <a:srgbClr val="FF0000"/>
                </a:solidFill>
              </a:rPr>
              <a:t>(X)</a:t>
            </a:r>
            <a:r>
              <a:rPr lang="en-GB" dirty="0"/>
              <a:t>. </a:t>
            </a:r>
            <a:endParaRPr lang="en-US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DA95C5-C1C2-4534-B3B4-931D3CB48457}"/>
              </a:ext>
            </a:extLst>
          </p:cNvPr>
          <p:cNvSpPr/>
          <p:nvPr/>
        </p:nvSpPr>
        <p:spPr>
          <a:xfrm>
            <a:off x="3467708" y="3392277"/>
            <a:ext cx="5652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b="1" dirty="0"/>
              <a:t>S:  </a:t>
            </a:r>
            <a:r>
              <a:rPr lang="en-GB" sz="2400" b="1" dirty="0">
                <a:solidFill>
                  <a:srgbClr val="FF0000"/>
                </a:solidFill>
              </a:rPr>
              <a:t>l</a:t>
            </a:r>
            <a:r>
              <a:rPr lang="en-GB" sz="2400" b="1" baseline="-25000" dirty="0">
                <a:solidFill>
                  <a:srgbClr val="FF0000"/>
                </a:solidFill>
              </a:rPr>
              <a:t>1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1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1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; </a:t>
            </a:r>
            <a:r>
              <a:rPr lang="en-GB" sz="2400" b="1" dirty="0">
                <a:solidFill>
                  <a:srgbClr val="FF0000"/>
                </a:solidFill>
              </a:rPr>
              <a:t>l</a:t>
            </a:r>
            <a:r>
              <a:rPr lang="en-GB" sz="2400" b="1" baseline="-25000" dirty="0">
                <a:solidFill>
                  <a:srgbClr val="FF0000"/>
                </a:solidFill>
              </a:rPr>
              <a:t>2</a:t>
            </a:r>
            <a:r>
              <a:rPr lang="en-GB" sz="2400" b="1" dirty="0">
                <a:solidFill>
                  <a:srgbClr val="FF0000"/>
                </a:solidFill>
              </a:rPr>
              <a:t>(X)</a:t>
            </a:r>
            <a:r>
              <a:rPr lang="en-GB" sz="2400" b="1" dirty="0"/>
              <a:t>; r</a:t>
            </a:r>
            <a:r>
              <a:rPr lang="en-GB" sz="2400" b="1" baseline="-25000" dirty="0"/>
              <a:t>2</a:t>
            </a:r>
            <a:r>
              <a:rPr lang="en-GB" sz="2400" b="1" dirty="0"/>
              <a:t>(X); w</a:t>
            </a:r>
            <a:r>
              <a:rPr lang="en-GB" sz="2400" b="1" baseline="-25000" dirty="0"/>
              <a:t>2</a:t>
            </a:r>
            <a:r>
              <a:rPr lang="en-GB" sz="2400" b="1" dirty="0"/>
              <a:t>(X); </a:t>
            </a:r>
            <a:r>
              <a:rPr lang="en-GB" sz="2400" b="1" dirty="0">
                <a:solidFill>
                  <a:srgbClr val="00B050"/>
                </a:solidFill>
              </a:rPr>
              <a:t>u</a:t>
            </a:r>
            <a:r>
              <a:rPr lang="en-GB" sz="2400" b="1" baseline="-25000" dirty="0">
                <a:solidFill>
                  <a:srgbClr val="00B050"/>
                </a:solidFill>
              </a:rPr>
              <a:t>2</a:t>
            </a:r>
            <a:r>
              <a:rPr lang="en-GB" sz="2400" b="1" dirty="0">
                <a:solidFill>
                  <a:srgbClr val="00B050"/>
                </a:solidFill>
              </a:rPr>
              <a:t>(X)</a:t>
            </a:r>
            <a:r>
              <a:rPr lang="en-GB" sz="2400" b="1" dirty="0"/>
              <a:t> </a:t>
            </a:r>
            <a:endParaRPr lang="en-GB" sz="2400" b="1" baseline="-25000" dirty="0"/>
          </a:p>
        </p:txBody>
      </p:sp>
      <p:pic>
        <p:nvPicPr>
          <p:cNvPr id="6" name="Picture 5" descr="An image of a padlock">
            <a:extLst>
              <a:ext uri="{FF2B5EF4-FFF2-40B4-BE49-F238E27FC236}">
                <a16:creationId xmlns:a16="http://schemas.microsoft.com/office/drawing/2014/main" id="{0E6FA3B5-D9B4-4055-96B8-0666FE172F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8063" y="4808880"/>
            <a:ext cx="1102703" cy="1240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8671CF-2C8C-459F-9D2A-A39B666D6A8C}"/>
              </a:ext>
            </a:extLst>
          </p:cNvPr>
          <p:cNvSpPr txBox="1"/>
          <p:nvPr/>
        </p:nvSpPr>
        <p:spPr>
          <a:xfrm>
            <a:off x="9196968" y="5499762"/>
            <a:ext cx="3048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4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662"/>
    </mc:Choice>
    <mc:Fallback xmlns="">
      <p:transition spd="slow" advTm="1606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8E5A-08D6-4E2D-A1EC-D2D8C946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r-IN" dirty="0"/>
              <a:t>…</a:t>
            </a:r>
            <a:r>
              <a:rPr lang="en-GB" dirty="0"/>
              <a:t> May Not Be Serializable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C01A-A45B-4A6F-A2AE-49E140A7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4E786-9879-4F5F-8051-48263A81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FF0CB8-F4CC-46EE-A77F-30F0C5C014B6}"/>
              </a:ext>
            </a:extLst>
          </p:cNvPr>
          <p:cNvSpPr/>
          <p:nvPr/>
        </p:nvSpPr>
        <p:spPr>
          <a:xfrm>
            <a:off x="3287688" y="5517233"/>
            <a:ext cx="65167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</a:t>
            </a:r>
            <a:r>
              <a:rPr lang="en-GB" sz="2400" dirty="0"/>
              <a:t>; </a:t>
            </a:r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</a:t>
            </a:r>
          </a:p>
          <a:p>
            <a:pPr marL="0" lvl="1"/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</a:t>
            </a:r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</a:t>
            </a:r>
            <a:endParaRPr lang="en-GB" sz="2400" baseline="-25000" dirty="0">
              <a:solidFill>
                <a:schemeClr val="tx2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DD8579-A839-43AA-8DDC-2EA68B340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043710"/>
              </p:ext>
            </p:extLst>
          </p:nvPr>
        </p:nvGraphicFramePr>
        <p:xfrm>
          <a:off x="4163616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4F280C-4BB8-45E1-821B-8C2F3655A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765430"/>
              </p:ext>
            </p:extLst>
          </p:nvPr>
        </p:nvGraphicFramePr>
        <p:xfrm>
          <a:off x="6672064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20DC5B-2E47-498B-8FAF-216E638C9E14}"/>
              </a:ext>
            </a:extLst>
          </p:cNvPr>
          <p:cNvSpPr txBox="1"/>
          <p:nvPr/>
        </p:nvSpPr>
        <p:spPr>
          <a:xfrm>
            <a:off x="2801634" y="551723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sp>
        <p:nvSpPr>
          <p:cNvPr id="9" name="Rounded Rectangular Callout 9">
            <a:extLst>
              <a:ext uri="{FF2B5EF4-FFF2-40B4-BE49-F238E27FC236}">
                <a16:creationId xmlns:a16="http://schemas.microsoft.com/office/drawing/2014/main" id="{C2177B8C-8D67-48CC-9FFC-E0160574305A}"/>
              </a:ext>
            </a:extLst>
          </p:cNvPr>
          <p:cNvSpPr/>
          <p:nvPr/>
        </p:nvSpPr>
        <p:spPr>
          <a:xfrm>
            <a:off x="8760296" y="4725145"/>
            <a:ext cx="1657292" cy="660963"/>
          </a:xfrm>
          <a:prstGeom prst="wedgeRoundRectCallout">
            <a:avLst>
              <a:gd name="adj1" fmla="val -38141"/>
              <a:gd name="adj2" fmla="val 75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 </a:t>
            </a:r>
            <a:r>
              <a:rPr lang="en-US" dirty="0" err="1"/>
              <a:t>serialisable</a:t>
            </a:r>
            <a:br>
              <a:rPr lang="en-US" dirty="0"/>
            </a:br>
            <a:r>
              <a:rPr lang="en-US" dirty="0"/>
              <a:t>(why?)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5D37AC-9D5C-4079-98C5-7BC230AFAAF1}"/>
              </a:ext>
            </a:extLst>
          </p:cNvPr>
          <p:cNvGrpSpPr/>
          <p:nvPr/>
        </p:nvGrpSpPr>
        <p:grpSpPr>
          <a:xfrm>
            <a:off x="4163616" y="1845052"/>
            <a:ext cx="2508448" cy="3492720"/>
            <a:chOff x="2639616" y="1664746"/>
            <a:chExt cx="2508448" cy="34927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F22058-E059-4CBB-AC7F-2A93692D1EA3}"/>
                </a:ext>
              </a:extLst>
            </p:cNvPr>
            <p:cNvGrpSpPr/>
            <p:nvPr/>
          </p:nvGrpSpPr>
          <p:grpSpPr>
            <a:xfrm>
              <a:off x="4161087" y="1664746"/>
              <a:ext cx="986977" cy="3492720"/>
              <a:chOff x="4161087" y="1664746"/>
              <a:chExt cx="986977" cy="349272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EA5249E-1182-4433-BFC2-C177789D55C6}"/>
                  </a:ext>
                </a:extLst>
              </p:cNvPr>
              <p:cNvCxnSpPr/>
              <p:nvPr/>
            </p:nvCxnSpPr>
            <p:spPr>
              <a:xfrm flipH="1">
                <a:off x="4163616" y="1664746"/>
                <a:ext cx="984448" cy="190827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6BDAD41-4CF5-46C9-A090-E0A68371539B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158445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53140E7-B492-4921-865A-7B0019E3DD10}"/>
                  </a:ext>
                </a:extLst>
              </p:cNvPr>
              <p:cNvCxnSpPr/>
              <p:nvPr/>
            </p:nvCxnSpPr>
            <p:spPr>
              <a:xfrm flipH="1">
                <a:off x="4163616" y="1988840"/>
                <a:ext cx="984448" cy="158417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48FFE81-F38C-416E-BB23-2CC4B16DB672}"/>
                  </a:ext>
                </a:extLst>
              </p:cNvPr>
              <p:cNvCxnSpPr/>
              <p:nvPr/>
            </p:nvCxnSpPr>
            <p:spPr>
              <a:xfrm flipH="1">
                <a:off x="4163616" y="2276872"/>
                <a:ext cx="984448" cy="129614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CDBF190-2ED3-470F-B4F2-2491D407A7CF}"/>
                  </a:ext>
                </a:extLst>
              </p:cNvPr>
              <p:cNvCxnSpPr/>
              <p:nvPr/>
            </p:nvCxnSpPr>
            <p:spPr>
              <a:xfrm flipH="1">
                <a:off x="4163616" y="2636912"/>
                <a:ext cx="984448" cy="9361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0F94664-DCBC-4060-8808-0A9E02056765}"/>
                  </a:ext>
                </a:extLst>
              </p:cNvPr>
              <p:cNvCxnSpPr/>
              <p:nvPr/>
            </p:nvCxnSpPr>
            <p:spPr>
              <a:xfrm flipH="1">
                <a:off x="4163616" y="2924944"/>
                <a:ext cx="984448" cy="64807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5344EB2-8842-4B23-B7D6-B76B3DFD26B4}"/>
                  </a:ext>
                </a:extLst>
              </p:cNvPr>
              <p:cNvCxnSpPr/>
              <p:nvPr/>
            </p:nvCxnSpPr>
            <p:spPr>
              <a:xfrm flipH="1">
                <a:off x="4163616" y="3244219"/>
                <a:ext cx="984448" cy="32879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7AD9F34-4DE1-4FE1-905B-45DD03D461DA}"/>
                  </a:ext>
                </a:extLst>
              </p:cNvPr>
              <p:cNvCxnSpPr/>
              <p:nvPr/>
            </p:nvCxnSpPr>
            <p:spPr>
              <a:xfrm flipH="1">
                <a:off x="4163616" y="3573016"/>
                <a:ext cx="984448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254B085-EF6D-4B65-84A9-74923E5523C4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297955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5F65D83-7621-45DE-86FD-113AC43B637E}"/>
                  </a:ext>
                </a:extLst>
              </p:cNvPr>
              <p:cNvCxnSpPr/>
              <p:nvPr/>
            </p:nvCxnSpPr>
            <p:spPr>
              <a:xfrm flipH="1" flipV="1">
                <a:off x="4163616" y="3573015"/>
                <a:ext cx="974330" cy="62675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B399E72-2683-4066-BF72-0DC22A87E825}"/>
                  </a:ext>
                </a:extLst>
              </p:cNvPr>
              <p:cNvCxnSpPr/>
              <p:nvPr/>
            </p:nvCxnSpPr>
            <p:spPr>
              <a:xfrm flipH="1" flipV="1">
                <a:off x="4163616" y="3573014"/>
                <a:ext cx="974330" cy="93610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9C1B917-A20F-43E0-B19B-CC82FD2D432D}"/>
                  </a:ext>
                </a:extLst>
              </p:cNvPr>
              <p:cNvCxnSpPr/>
              <p:nvPr/>
            </p:nvCxnSpPr>
            <p:spPr>
              <a:xfrm flipH="1" flipV="1">
                <a:off x="4161087" y="3573013"/>
                <a:ext cx="976859" cy="12649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D5B90B-A00E-42E8-B333-39B3549903EF}"/>
                </a:ext>
              </a:extLst>
            </p:cNvPr>
            <p:cNvCxnSpPr/>
            <p:nvPr/>
          </p:nvCxnSpPr>
          <p:spPr>
            <a:xfrm>
              <a:off x="2639616" y="3573013"/>
              <a:ext cx="1521471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402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745"/>
    </mc:Choice>
    <mc:Fallback xmlns="">
      <p:transition spd="slow" advTm="1987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7144-8E2B-4D4B-AB73-81099F62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Serializable Schedule With 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8360B-025B-45F8-B710-CEBEE5617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7902D6-3F1A-4B7B-B444-C3EE1F37C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463304"/>
              </p:ext>
            </p:extLst>
          </p:nvPr>
        </p:nvGraphicFramePr>
        <p:xfrm>
          <a:off x="4163616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EA57ED-7DA4-4E25-8783-9E2A4BD39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514434"/>
              </p:ext>
            </p:extLst>
          </p:nvPr>
        </p:nvGraphicFramePr>
        <p:xfrm>
          <a:off x="6672064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3D8F312-C3E8-4420-9A1F-320C15D5314C}"/>
              </a:ext>
            </a:extLst>
          </p:cNvPr>
          <p:cNvSpPr/>
          <p:nvPr/>
        </p:nvSpPr>
        <p:spPr>
          <a:xfrm>
            <a:off x="4223793" y="3452913"/>
            <a:ext cx="954355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chemeClr val="tx2"/>
                </a:solidFill>
              </a:rPr>
              <a:t>unlock(X)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65082-E6B8-4463-AD31-182AC6FBA130}"/>
              </a:ext>
            </a:extLst>
          </p:cNvPr>
          <p:cNvSpPr/>
          <p:nvPr/>
        </p:nvSpPr>
        <p:spPr>
          <a:xfrm>
            <a:off x="4223792" y="3771295"/>
            <a:ext cx="702684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chemeClr val="tx2"/>
                </a:solidFill>
              </a:rPr>
              <a:t>lock(Y)</a:t>
            </a: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8" name="Curved Connector 26">
            <a:extLst>
              <a:ext uri="{FF2B5EF4-FFF2-40B4-BE49-F238E27FC236}">
                <a16:creationId xmlns:a16="http://schemas.microsoft.com/office/drawing/2014/main" id="{721BBF03-2F61-4294-AECD-E2108B398F17}"/>
              </a:ext>
            </a:extLst>
          </p:cNvPr>
          <p:cNvCxnSpPr>
            <a:stCxn id="7" idx="1"/>
            <a:endCxn id="6" idx="1"/>
          </p:cNvCxnSpPr>
          <p:nvPr/>
        </p:nvCxnSpPr>
        <p:spPr>
          <a:xfrm rot="10800000">
            <a:off x="4223792" y="3591412"/>
            <a:ext cx="12700" cy="318382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ED07804-AD5B-40E6-9727-C455BCE2E23E}"/>
              </a:ext>
            </a:extLst>
          </p:cNvPr>
          <p:cNvSpPr/>
          <p:nvPr/>
        </p:nvSpPr>
        <p:spPr>
          <a:xfrm>
            <a:off x="6725822" y="3452913"/>
            <a:ext cx="954355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unlock(X)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FA7772-96CE-4D42-8016-DE03371D99EA}"/>
              </a:ext>
            </a:extLst>
          </p:cNvPr>
          <p:cNvSpPr/>
          <p:nvPr/>
        </p:nvSpPr>
        <p:spPr>
          <a:xfrm>
            <a:off x="6725821" y="3771295"/>
            <a:ext cx="702684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lock(Y)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1" name="Curved Connector 32">
            <a:extLst>
              <a:ext uri="{FF2B5EF4-FFF2-40B4-BE49-F238E27FC236}">
                <a16:creationId xmlns:a16="http://schemas.microsoft.com/office/drawing/2014/main" id="{2F7A29D1-E689-47FF-A8AB-4B330B2731B5}"/>
              </a:ext>
            </a:extLst>
          </p:cNvPr>
          <p:cNvCxnSpPr>
            <a:stCxn id="10" idx="1"/>
            <a:endCxn id="9" idx="1"/>
          </p:cNvCxnSpPr>
          <p:nvPr/>
        </p:nvCxnSpPr>
        <p:spPr>
          <a:xfrm rot="10800000">
            <a:off x="6725821" y="3591412"/>
            <a:ext cx="12700" cy="318382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12295E-529F-42FC-86D7-68C917720BD4}"/>
              </a:ext>
            </a:extLst>
          </p:cNvPr>
          <p:cNvGrpSpPr/>
          <p:nvPr/>
        </p:nvGrpSpPr>
        <p:grpSpPr>
          <a:xfrm>
            <a:off x="2078410" y="5480391"/>
            <a:ext cx="4449639" cy="471903"/>
            <a:chOff x="554409" y="5480390"/>
            <a:chExt cx="4449639" cy="47190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182697-561D-4F93-85BE-ABB5C3C5606B}"/>
                </a:ext>
              </a:extLst>
            </p:cNvPr>
            <p:cNvSpPr txBox="1"/>
            <p:nvPr/>
          </p:nvSpPr>
          <p:spPr>
            <a:xfrm>
              <a:off x="554409" y="5490628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S:</a:t>
              </a:r>
              <a:endParaRPr lang="en-US" sz="2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6D5D35-1E33-4726-AD9F-EE7FBB126911}"/>
                </a:ext>
              </a:extLst>
            </p:cNvPr>
            <p:cNvSpPr/>
            <p:nvPr/>
          </p:nvSpPr>
          <p:spPr>
            <a:xfrm>
              <a:off x="1037263" y="5484104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CFBF2-A41B-40FC-9C9E-803AE05E113F}"/>
                </a:ext>
              </a:extLst>
            </p:cNvPr>
            <p:cNvSpPr/>
            <p:nvPr/>
          </p:nvSpPr>
          <p:spPr>
            <a:xfrm>
              <a:off x="1750095" y="5480390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340F12-CF29-4809-A9FC-CE87EE75B9CE}"/>
                </a:ext>
              </a:extLst>
            </p:cNvPr>
            <p:cNvSpPr/>
            <p:nvPr/>
          </p:nvSpPr>
          <p:spPr>
            <a:xfrm>
              <a:off x="2480623" y="5485705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w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4CBB76-31BF-4F2E-9468-250A177B37B0}"/>
                </a:ext>
              </a:extLst>
            </p:cNvPr>
            <p:cNvSpPr/>
            <p:nvPr/>
          </p:nvSpPr>
          <p:spPr>
            <a:xfrm>
              <a:off x="3344719" y="5490628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8F90AB6-485F-43A5-879A-32344A77555E}"/>
                </a:ext>
              </a:extLst>
            </p:cNvPr>
            <p:cNvSpPr/>
            <p:nvPr/>
          </p:nvSpPr>
          <p:spPr>
            <a:xfrm>
              <a:off x="4052828" y="5480390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C9A1CB-9CC4-424C-8E22-8A53B4C255F7}"/>
              </a:ext>
            </a:extLst>
          </p:cNvPr>
          <p:cNvGrpSpPr/>
          <p:nvPr/>
        </p:nvGrpSpPr>
        <p:grpSpPr>
          <a:xfrm>
            <a:off x="6405247" y="5491512"/>
            <a:ext cx="2394580" cy="466980"/>
            <a:chOff x="4881247" y="5491512"/>
            <a:chExt cx="2394580" cy="46698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53063A-F73D-412A-91DB-A2DA6533B8AF}"/>
                </a:ext>
              </a:extLst>
            </p:cNvPr>
            <p:cNvSpPr/>
            <p:nvPr/>
          </p:nvSpPr>
          <p:spPr>
            <a:xfrm>
              <a:off x="4881247" y="5495226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48EFAC-3D13-4F3D-8D44-1941FF46828F}"/>
                </a:ext>
              </a:extLst>
            </p:cNvPr>
            <p:cNvSpPr/>
            <p:nvPr/>
          </p:nvSpPr>
          <p:spPr>
            <a:xfrm>
              <a:off x="5594079" y="5491512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0A3794-8731-4B0B-B618-83011482270B}"/>
                </a:ext>
              </a:extLst>
            </p:cNvPr>
            <p:cNvSpPr/>
            <p:nvPr/>
          </p:nvSpPr>
          <p:spPr>
            <a:xfrm>
              <a:off x="6324607" y="5496827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w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3" name="Rounded Rectangular Callout 43">
            <a:extLst>
              <a:ext uri="{FF2B5EF4-FFF2-40B4-BE49-F238E27FC236}">
                <a16:creationId xmlns:a16="http://schemas.microsoft.com/office/drawing/2014/main" id="{D145803F-519F-4ACB-B647-4A87C495EC00}"/>
              </a:ext>
            </a:extLst>
          </p:cNvPr>
          <p:cNvSpPr/>
          <p:nvPr/>
        </p:nvSpPr>
        <p:spPr>
          <a:xfrm>
            <a:off x="8744084" y="4854570"/>
            <a:ext cx="1817957" cy="665561"/>
          </a:xfrm>
          <a:prstGeom prst="wedgeRoundRectCallout">
            <a:avLst>
              <a:gd name="adj1" fmla="val -38141"/>
              <a:gd name="adj2" fmla="val 75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lock on Y denied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8E4F5B-A966-4383-B30A-9B27C5C5630E}"/>
              </a:ext>
            </a:extLst>
          </p:cNvPr>
          <p:cNvCxnSpPr/>
          <p:nvPr/>
        </p:nvCxnSpPr>
        <p:spPr>
          <a:xfrm>
            <a:off x="8799828" y="5877272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87A63F-9020-44A2-8A54-116182596BB1}"/>
              </a:ext>
            </a:extLst>
          </p:cNvPr>
          <p:cNvGrpSpPr/>
          <p:nvPr/>
        </p:nvGrpSpPr>
        <p:grpSpPr>
          <a:xfrm>
            <a:off x="2561263" y="5900570"/>
            <a:ext cx="2538596" cy="480758"/>
            <a:chOff x="1037263" y="5900570"/>
            <a:chExt cx="2538596" cy="48075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036EE54-95ED-4457-8002-38F2489D916C}"/>
                </a:ext>
              </a:extLst>
            </p:cNvPr>
            <p:cNvSpPr/>
            <p:nvPr/>
          </p:nvSpPr>
          <p:spPr>
            <a:xfrm>
              <a:off x="1037263" y="5900570"/>
              <a:ext cx="8234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BE1D286-FC14-4D20-9168-93BB2009EAF8}"/>
                </a:ext>
              </a:extLst>
            </p:cNvPr>
            <p:cNvSpPr/>
            <p:nvPr/>
          </p:nvSpPr>
          <p:spPr>
            <a:xfrm>
              <a:off x="1777232" y="5914371"/>
              <a:ext cx="949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chemeClr val="tx2"/>
                  </a:solidFill>
                </a:rPr>
                <a:t>w</a:t>
              </a:r>
              <a:r>
                <a:rPr lang="en-GB" sz="2400" baseline="-25000">
                  <a:solidFill>
                    <a:schemeClr val="tx2"/>
                  </a:solidFill>
                </a:rPr>
                <a:t>1</a:t>
              </a:r>
              <a:r>
                <a:rPr lang="en-GB" sz="240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1D28B6-BF14-4487-BA5F-4ADC6EF81454}"/>
                </a:ext>
              </a:extLst>
            </p:cNvPr>
            <p:cNvSpPr/>
            <p:nvPr/>
          </p:nvSpPr>
          <p:spPr>
            <a:xfrm>
              <a:off x="2624639" y="5919663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5EFF75-0494-4B07-B489-6EA62AA205B2}"/>
              </a:ext>
            </a:extLst>
          </p:cNvPr>
          <p:cNvGrpSpPr/>
          <p:nvPr/>
        </p:nvGrpSpPr>
        <p:grpSpPr>
          <a:xfrm>
            <a:off x="4930133" y="5930872"/>
            <a:ext cx="4056118" cy="472295"/>
            <a:chOff x="3406133" y="5930871"/>
            <a:chExt cx="4056118" cy="4722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8A8A3A-646A-487C-82EB-FEF645B06C3C}"/>
                </a:ext>
              </a:extLst>
            </p:cNvPr>
            <p:cNvSpPr/>
            <p:nvPr/>
          </p:nvSpPr>
          <p:spPr>
            <a:xfrm>
              <a:off x="4113774" y="5934585"/>
              <a:ext cx="920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(X</a:t>
              </a:r>
              <a:r>
                <a:rPr lang="en-GB" sz="2400" dirty="0">
                  <a:solidFill>
                    <a:srgbClr val="C00000"/>
                  </a:solidFill>
                </a:rPr>
                <a:t>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37022A-8E7D-4157-8D0A-D6CB746F6700}"/>
                </a:ext>
              </a:extLst>
            </p:cNvPr>
            <p:cNvSpPr/>
            <p:nvPr/>
          </p:nvSpPr>
          <p:spPr>
            <a:xfrm>
              <a:off x="4924178" y="5930871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3822A44-D033-473A-AE7E-BD854E351D39}"/>
                </a:ext>
              </a:extLst>
            </p:cNvPr>
            <p:cNvSpPr/>
            <p:nvPr/>
          </p:nvSpPr>
          <p:spPr>
            <a:xfrm>
              <a:off x="5654706" y="5936186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rgbClr val="C00000"/>
                  </a:solidFill>
                </a:rPr>
                <a:t>w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30435A2-9461-4445-A1F1-D701563DB73D}"/>
                </a:ext>
              </a:extLst>
            </p:cNvPr>
            <p:cNvSpPr/>
            <p:nvPr/>
          </p:nvSpPr>
          <p:spPr>
            <a:xfrm>
              <a:off x="3406133" y="5930871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4BE16D-9DDA-42F6-A9BC-27AE12216D88}"/>
                </a:ext>
              </a:extLst>
            </p:cNvPr>
            <p:cNvSpPr/>
            <p:nvPr/>
          </p:nvSpPr>
          <p:spPr>
            <a:xfrm>
              <a:off x="6511031" y="5941501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3269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95"/>
    </mc:Choice>
    <mc:Fallback xmlns="">
      <p:transition spd="slow" advTm="1823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3.125E-6 0.0474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6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11111E-6 L -4.16667E-7 -0.0428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11111E-6 L 4.79167E-6 0.0474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6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1.25E-6 -0.0428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5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9" grpId="0"/>
      <p:bldP spid="9" grpId="1"/>
      <p:bldP spid="10" grpId="0"/>
      <p:bldP spid="10" grpId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Two-Phase Locking (2PL)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modification of the simple locking mechanism that </a:t>
            </a:r>
            <a:r>
              <a:rPr lang="en-US" i="1" dirty="0"/>
              <a:t>guarantees conflict-serializability</a:t>
            </a:r>
            <a:endParaRPr lang="en-US" dirty="0"/>
          </a:p>
          <a:p>
            <a:r>
              <a:rPr lang="en-US" b="1" dirty="0"/>
              <a:t>Two-phase locking (2PL) condition: </a:t>
            </a:r>
            <a:br>
              <a:rPr lang="en-US" b="1" dirty="0"/>
            </a:br>
            <a:r>
              <a:rPr lang="en-US" sz="2400" dirty="0"/>
              <a:t>In each transaction, all lock operations precede all unlocks.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61355"/>
              </p:ext>
            </p:extLst>
          </p:nvPr>
        </p:nvGraphicFramePr>
        <p:xfrm>
          <a:off x="5064894" y="3043078"/>
          <a:ext cx="2664296" cy="31471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Transaction</a:t>
                      </a:r>
                      <a:endParaRPr lang="en-US" baseline="-25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  <a:p>
                      <a:br>
                        <a:rPr lang="en-US" dirty="0">
                          <a:solidFill>
                            <a:schemeClr val="tx2"/>
                          </a:solidFill>
                        </a:rPr>
                      </a:b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43558" y="3524518"/>
            <a:ext cx="2506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1:</a:t>
            </a:r>
            <a:r>
              <a:rPr lang="en-US" sz="2000" dirty="0">
                <a:solidFill>
                  <a:schemeClr val="tx2"/>
                </a:solidFill>
              </a:rPr>
              <a:t> request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5574" y="4964678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Phase 2:</a:t>
            </a:r>
            <a:r>
              <a:rPr lang="en-US" sz="2000" dirty="0">
                <a:solidFill>
                  <a:schemeClr val="tx2"/>
                </a:solidFill>
              </a:rPr>
              <a:t> unlock</a:t>
            </a:r>
          </a:p>
        </p:txBody>
      </p:sp>
      <p:sp>
        <p:nvSpPr>
          <p:cNvPr id="9" name="Left Brace 8"/>
          <p:cNvSpPr/>
          <p:nvPr/>
        </p:nvSpPr>
        <p:spPr>
          <a:xfrm>
            <a:off x="4564534" y="3043078"/>
            <a:ext cx="158343" cy="31471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439268" y="4404583"/>
            <a:ext cx="200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“2PL transaction”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5254413" y="3958308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254413" y="5375985"/>
            <a:ext cx="2285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+ possibly other read/write operations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60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796"/>
    </mc:Choice>
    <mc:Fallback xmlns="">
      <p:transition spd="slow" advTm="68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/>
      <p:bldP spid="7" grpId="0"/>
      <p:bldP spid="9" grpId="0" animBg="1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C7A9-BA89-44A2-A3BC-C909E4A1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E296-142E-4ED4-B8C7-CD193491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580C1-3DFA-42B1-88A2-F04305F3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290632-01A0-4877-AFD0-0A43CE6867A8}"/>
              </a:ext>
            </a:extLst>
          </p:cNvPr>
          <p:cNvSpPr/>
          <p:nvPr/>
        </p:nvSpPr>
        <p:spPr>
          <a:xfrm>
            <a:off x="3287688" y="5517233"/>
            <a:ext cx="65167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</a:t>
            </a:r>
            <a:r>
              <a:rPr lang="en-GB" sz="2400" dirty="0"/>
              <a:t>; </a:t>
            </a:r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</a:t>
            </a:r>
          </a:p>
          <a:p>
            <a:pPr marL="0" lvl="1"/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</a:t>
            </a:r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</a:t>
            </a:r>
            <a:endParaRPr lang="en-GB" sz="2400" baseline="-250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E594D-1E04-44F5-9A7C-58263F54AAD3}"/>
              </a:ext>
            </a:extLst>
          </p:cNvPr>
          <p:cNvSpPr txBox="1"/>
          <p:nvPr/>
        </p:nvSpPr>
        <p:spPr>
          <a:xfrm>
            <a:off x="2801634" y="551723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D3B3C4C7-9D79-4777-84E9-27AD15C733CD}"/>
              </a:ext>
            </a:extLst>
          </p:cNvPr>
          <p:cNvSpPr/>
          <p:nvPr/>
        </p:nvSpPr>
        <p:spPr>
          <a:xfrm>
            <a:off x="8688288" y="4653137"/>
            <a:ext cx="1729300" cy="732971"/>
          </a:xfrm>
          <a:prstGeom prst="wedgeRoundRectCallout">
            <a:avLst>
              <a:gd name="adj1" fmla="val -38141"/>
              <a:gd name="adj2" fmla="val 75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2PL?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D01F0C2-1FD3-41A4-ADD5-CE86630F1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31015"/>
              </p:ext>
            </p:extLst>
          </p:nvPr>
        </p:nvGraphicFramePr>
        <p:xfrm>
          <a:off x="4163616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894B187-C311-41B5-A3FE-31ECAE748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440136"/>
              </p:ext>
            </p:extLst>
          </p:nvPr>
        </p:nvGraphicFramePr>
        <p:xfrm>
          <a:off x="6672064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83E88E51-6FF2-481E-B9BF-64D58BF7E7BC}"/>
              </a:ext>
            </a:extLst>
          </p:cNvPr>
          <p:cNvGrpSpPr/>
          <p:nvPr/>
        </p:nvGrpSpPr>
        <p:grpSpPr>
          <a:xfrm>
            <a:off x="4163616" y="1845052"/>
            <a:ext cx="2508448" cy="3492720"/>
            <a:chOff x="2639616" y="1664746"/>
            <a:chExt cx="2508448" cy="349272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12135A0-BC15-4DEB-B674-86921EBB84B2}"/>
                </a:ext>
              </a:extLst>
            </p:cNvPr>
            <p:cNvGrpSpPr/>
            <p:nvPr/>
          </p:nvGrpSpPr>
          <p:grpSpPr>
            <a:xfrm>
              <a:off x="4161087" y="1664746"/>
              <a:ext cx="986977" cy="3492720"/>
              <a:chOff x="4161087" y="1664746"/>
              <a:chExt cx="986977" cy="349272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38AC9DE-ECC2-4BAB-BA8D-14C0CF4522AE}"/>
                  </a:ext>
                </a:extLst>
              </p:cNvPr>
              <p:cNvCxnSpPr/>
              <p:nvPr/>
            </p:nvCxnSpPr>
            <p:spPr>
              <a:xfrm flipH="1">
                <a:off x="4163616" y="1664746"/>
                <a:ext cx="984448" cy="190827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3BA5FB2-5D10-4B6E-B616-272E4D0B91BE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158445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84DD6B5-B208-4576-8B85-AC158FC56048}"/>
                  </a:ext>
                </a:extLst>
              </p:cNvPr>
              <p:cNvCxnSpPr/>
              <p:nvPr/>
            </p:nvCxnSpPr>
            <p:spPr>
              <a:xfrm flipH="1">
                <a:off x="4163616" y="1988840"/>
                <a:ext cx="984448" cy="158417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1140197-BB12-4C81-B23E-EBFFD689B45C}"/>
                  </a:ext>
                </a:extLst>
              </p:cNvPr>
              <p:cNvCxnSpPr/>
              <p:nvPr/>
            </p:nvCxnSpPr>
            <p:spPr>
              <a:xfrm flipH="1">
                <a:off x="4163616" y="2276872"/>
                <a:ext cx="984448" cy="129614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50AB6FC-E32D-4217-9C7F-CC55FB639EB1}"/>
                  </a:ext>
                </a:extLst>
              </p:cNvPr>
              <p:cNvCxnSpPr/>
              <p:nvPr/>
            </p:nvCxnSpPr>
            <p:spPr>
              <a:xfrm flipH="1">
                <a:off x="4163616" y="2636912"/>
                <a:ext cx="984448" cy="9361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79068F3-6B7C-400F-B0C4-41517138117C}"/>
                  </a:ext>
                </a:extLst>
              </p:cNvPr>
              <p:cNvCxnSpPr/>
              <p:nvPr/>
            </p:nvCxnSpPr>
            <p:spPr>
              <a:xfrm flipH="1">
                <a:off x="4163616" y="2924944"/>
                <a:ext cx="984448" cy="64807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D8C7C06-97E3-411E-9084-F605BF145EF5}"/>
                  </a:ext>
                </a:extLst>
              </p:cNvPr>
              <p:cNvCxnSpPr/>
              <p:nvPr/>
            </p:nvCxnSpPr>
            <p:spPr>
              <a:xfrm flipH="1">
                <a:off x="4163616" y="3244219"/>
                <a:ext cx="984448" cy="32879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A093B28-6FEE-4212-910D-42629A6D9ECE}"/>
                  </a:ext>
                </a:extLst>
              </p:cNvPr>
              <p:cNvCxnSpPr/>
              <p:nvPr/>
            </p:nvCxnSpPr>
            <p:spPr>
              <a:xfrm flipH="1">
                <a:off x="4163616" y="3573016"/>
                <a:ext cx="984448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B195E70-A480-4C53-8F4B-D58F7A7CF927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297955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343A830-8965-4B72-B2EC-6BCBD9424DAC}"/>
                  </a:ext>
                </a:extLst>
              </p:cNvPr>
              <p:cNvCxnSpPr/>
              <p:nvPr/>
            </p:nvCxnSpPr>
            <p:spPr>
              <a:xfrm flipH="1" flipV="1">
                <a:off x="4163616" y="3573015"/>
                <a:ext cx="974330" cy="62675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C9C8200-F849-48A3-8072-A09591F73924}"/>
                  </a:ext>
                </a:extLst>
              </p:cNvPr>
              <p:cNvCxnSpPr/>
              <p:nvPr/>
            </p:nvCxnSpPr>
            <p:spPr>
              <a:xfrm flipH="1" flipV="1">
                <a:off x="4163616" y="3573014"/>
                <a:ext cx="974330" cy="93610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4317156-1404-4377-A65A-2B2EBAD20FC2}"/>
                  </a:ext>
                </a:extLst>
              </p:cNvPr>
              <p:cNvCxnSpPr/>
              <p:nvPr/>
            </p:nvCxnSpPr>
            <p:spPr>
              <a:xfrm flipH="1" flipV="1">
                <a:off x="4161087" y="3573013"/>
                <a:ext cx="976859" cy="12649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157C0AC-9BBF-4B5F-9722-04F2A66E9504}"/>
                </a:ext>
              </a:extLst>
            </p:cNvPr>
            <p:cNvCxnSpPr/>
            <p:nvPr/>
          </p:nvCxnSpPr>
          <p:spPr>
            <a:xfrm>
              <a:off x="2639616" y="3573013"/>
              <a:ext cx="1521471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1014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17"/>
    </mc:Choice>
    <mc:Fallback xmlns="">
      <p:transition spd="slow" advTm="449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ADAB-71E6-45C5-93FE-C12C04F9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BA20-2401-47FB-9119-D73AD2111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BCF1CF5-F31F-43B5-883E-37C3E85C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9DE4BA-B8A1-4D07-81B5-60C49029923C}"/>
              </a:ext>
            </a:extLst>
          </p:cNvPr>
          <p:cNvGrpSpPr/>
          <p:nvPr/>
        </p:nvGrpSpPr>
        <p:grpSpPr>
          <a:xfrm>
            <a:off x="2078410" y="5480391"/>
            <a:ext cx="4449639" cy="471903"/>
            <a:chOff x="554409" y="5480390"/>
            <a:chExt cx="4449639" cy="4719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4C8A92-0B58-45C1-8625-90865CCC8B6E}"/>
                </a:ext>
              </a:extLst>
            </p:cNvPr>
            <p:cNvSpPr txBox="1"/>
            <p:nvPr/>
          </p:nvSpPr>
          <p:spPr>
            <a:xfrm>
              <a:off x="554409" y="5490628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S:</a:t>
              </a:r>
              <a:endParaRPr 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C04164-F213-422C-9222-611977E572C8}"/>
                </a:ext>
              </a:extLst>
            </p:cNvPr>
            <p:cNvSpPr/>
            <p:nvPr/>
          </p:nvSpPr>
          <p:spPr>
            <a:xfrm>
              <a:off x="1037263" y="5484104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BE40697-540E-4520-B67A-D8647206587D}"/>
                </a:ext>
              </a:extLst>
            </p:cNvPr>
            <p:cNvSpPr/>
            <p:nvPr/>
          </p:nvSpPr>
          <p:spPr>
            <a:xfrm>
              <a:off x="1750095" y="5480390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AB76CB-7EF3-4A75-8359-25D49B157D3F}"/>
                </a:ext>
              </a:extLst>
            </p:cNvPr>
            <p:cNvSpPr/>
            <p:nvPr/>
          </p:nvSpPr>
          <p:spPr>
            <a:xfrm>
              <a:off x="2480623" y="5485705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w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43AB55-E935-49CF-8780-E86B2450BD3F}"/>
                </a:ext>
              </a:extLst>
            </p:cNvPr>
            <p:cNvSpPr/>
            <p:nvPr/>
          </p:nvSpPr>
          <p:spPr>
            <a:xfrm>
              <a:off x="3344719" y="5490628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33AED8-8F41-4B63-B61D-F511C8EAA1AA}"/>
                </a:ext>
              </a:extLst>
            </p:cNvPr>
            <p:cNvSpPr/>
            <p:nvPr/>
          </p:nvSpPr>
          <p:spPr>
            <a:xfrm>
              <a:off x="4052828" y="5480390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</a:t>
              </a:r>
              <a:endParaRPr lang="en-US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603E43-BF68-4E3C-B1A4-FB1A652053B2}"/>
              </a:ext>
            </a:extLst>
          </p:cNvPr>
          <p:cNvGrpSpPr/>
          <p:nvPr/>
        </p:nvGrpSpPr>
        <p:grpSpPr>
          <a:xfrm>
            <a:off x="6405247" y="5491512"/>
            <a:ext cx="2394580" cy="466980"/>
            <a:chOff x="4881247" y="5491512"/>
            <a:chExt cx="2394580" cy="46698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51DA5F-490D-4DFA-A601-A2724D668FF4}"/>
                </a:ext>
              </a:extLst>
            </p:cNvPr>
            <p:cNvSpPr/>
            <p:nvPr/>
          </p:nvSpPr>
          <p:spPr>
            <a:xfrm>
              <a:off x="4881247" y="5495226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4FA718-DBC4-40E3-83FF-29266267D95D}"/>
                </a:ext>
              </a:extLst>
            </p:cNvPr>
            <p:cNvSpPr/>
            <p:nvPr/>
          </p:nvSpPr>
          <p:spPr>
            <a:xfrm>
              <a:off x="5594079" y="5491512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67DA13-6DDF-4867-833D-2FB51ECFF51C}"/>
                </a:ext>
              </a:extLst>
            </p:cNvPr>
            <p:cNvSpPr/>
            <p:nvPr/>
          </p:nvSpPr>
          <p:spPr>
            <a:xfrm>
              <a:off x="6324607" y="5496827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w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40DD1E-9DD5-4DF8-B0F1-B23D487AD54A}"/>
              </a:ext>
            </a:extLst>
          </p:cNvPr>
          <p:cNvGrpSpPr/>
          <p:nvPr/>
        </p:nvGrpSpPr>
        <p:grpSpPr>
          <a:xfrm>
            <a:off x="2561263" y="5900570"/>
            <a:ext cx="2538596" cy="480758"/>
            <a:chOff x="1037263" y="5900570"/>
            <a:chExt cx="2538596" cy="48075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D1F88A-0C68-4506-AF66-713D0D57AC9F}"/>
                </a:ext>
              </a:extLst>
            </p:cNvPr>
            <p:cNvSpPr/>
            <p:nvPr/>
          </p:nvSpPr>
          <p:spPr>
            <a:xfrm>
              <a:off x="1037263" y="5900570"/>
              <a:ext cx="8234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FD118A-9263-42E4-A10D-358D9A5891E4}"/>
                </a:ext>
              </a:extLst>
            </p:cNvPr>
            <p:cNvSpPr/>
            <p:nvPr/>
          </p:nvSpPr>
          <p:spPr>
            <a:xfrm>
              <a:off x="1777232" y="5914371"/>
              <a:ext cx="949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chemeClr val="tx2"/>
                  </a:solidFill>
                </a:rPr>
                <a:t>w</a:t>
              </a:r>
              <a:r>
                <a:rPr lang="en-GB" sz="2400" baseline="-25000">
                  <a:solidFill>
                    <a:schemeClr val="tx2"/>
                  </a:solidFill>
                </a:rPr>
                <a:t>1</a:t>
              </a:r>
              <a:r>
                <a:rPr lang="en-GB" sz="240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151903-45D8-4C45-9366-C6C39BD4E27C}"/>
                </a:ext>
              </a:extLst>
            </p:cNvPr>
            <p:cNvSpPr/>
            <p:nvPr/>
          </p:nvSpPr>
          <p:spPr>
            <a:xfrm>
              <a:off x="2624639" y="5919663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B33DCA-15FD-46BD-B5B7-C21943CA0280}"/>
              </a:ext>
            </a:extLst>
          </p:cNvPr>
          <p:cNvGrpSpPr/>
          <p:nvPr/>
        </p:nvGrpSpPr>
        <p:grpSpPr>
          <a:xfrm>
            <a:off x="4930133" y="5930872"/>
            <a:ext cx="4056118" cy="472295"/>
            <a:chOff x="3406133" y="5930871"/>
            <a:chExt cx="4056118" cy="47229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E19A1F2-2CA2-4BDD-84AC-1F123E77D7CC}"/>
                </a:ext>
              </a:extLst>
            </p:cNvPr>
            <p:cNvSpPr/>
            <p:nvPr/>
          </p:nvSpPr>
          <p:spPr>
            <a:xfrm>
              <a:off x="4113774" y="5934585"/>
              <a:ext cx="920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(X</a:t>
              </a:r>
              <a:r>
                <a:rPr lang="en-GB" sz="2400" dirty="0">
                  <a:solidFill>
                    <a:srgbClr val="C00000"/>
                  </a:solidFill>
                </a:rPr>
                <a:t>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826A3C9-0CEB-4F9B-B137-25CA67CACF63}"/>
                </a:ext>
              </a:extLst>
            </p:cNvPr>
            <p:cNvSpPr/>
            <p:nvPr/>
          </p:nvSpPr>
          <p:spPr>
            <a:xfrm>
              <a:off x="4924178" y="5930871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B46520E-CD8A-4B40-BB53-4E9387E74813}"/>
                </a:ext>
              </a:extLst>
            </p:cNvPr>
            <p:cNvSpPr/>
            <p:nvPr/>
          </p:nvSpPr>
          <p:spPr>
            <a:xfrm>
              <a:off x="5654706" y="5936186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rgbClr val="C00000"/>
                  </a:solidFill>
                </a:rPr>
                <a:t>w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D3CF78E-1A37-49BB-A5D0-9355CAFB210D}"/>
                </a:ext>
              </a:extLst>
            </p:cNvPr>
            <p:cNvSpPr/>
            <p:nvPr/>
          </p:nvSpPr>
          <p:spPr>
            <a:xfrm>
              <a:off x="3406133" y="5930871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22ECDC-202B-4809-9217-083A70A33555}"/>
                </a:ext>
              </a:extLst>
            </p:cNvPr>
            <p:cNvSpPr/>
            <p:nvPr/>
          </p:nvSpPr>
          <p:spPr>
            <a:xfrm>
              <a:off x="6511031" y="5941501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6" name="Rounded Rectangular Callout 32">
            <a:extLst>
              <a:ext uri="{FF2B5EF4-FFF2-40B4-BE49-F238E27FC236}">
                <a16:creationId xmlns:a16="http://schemas.microsoft.com/office/drawing/2014/main" id="{30CA2439-0C40-4373-916F-4184BE7368A6}"/>
              </a:ext>
            </a:extLst>
          </p:cNvPr>
          <p:cNvSpPr/>
          <p:nvPr/>
        </p:nvSpPr>
        <p:spPr>
          <a:xfrm>
            <a:off x="8409025" y="4654866"/>
            <a:ext cx="2089340" cy="732971"/>
          </a:xfrm>
          <a:prstGeom prst="wedgeRoundRectCallout">
            <a:avLst>
              <a:gd name="adj1" fmla="val -38141"/>
              <a:gd name="adj2" fmla="val 75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2PL?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062B0DB-90BE-48EA-932B-B1ED1D33D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030278"/>
              </p:ext>
            </p:extLst>
          </p:nvPr>
        </p:nvGraphicFramePr>
        <p:xfrm>
          <a:off x="4163616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107B459-4278-4F22-9250-F691505E8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78217"/>
              </p:ext>
            </p:extLst>
          </p:nvPr>
        </p:nvGraphicFramePr>
        <p:xfrm>
          <a:off x="6672064" y="184505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BBF88D35-5F73-44A3-BEB2-E311D60A7A0C}"/>
              </a:ext>
            </a:extLst>
          </p:cNvPr>
          <p:cNvSpPr/>
          <p:nvPr/>
        </p:nvSpPr>
        <p:spPr>
          <a:xfrm>
            <a:off x="4223792" y="3452913"/>
            <a:ext cx="710698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>
                <a:solidFill>
                  <a:schemeClr val="tx2"/>
                </a:solidFill>
              </a:rPr>
              <a:t>lock(Y)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A5C215-7439-42ED-BC47-E332C9D22286}"/>
              </a:ext>
            </a:extLst>
          </p:cNvPr>
          <p:cNvSpPr/>
          <p:nvPr/>
        </p:nvSpPr>
        <p:spPr>
          <a:xfrm>
            <a:off x="4223792" y="3771295"/>
            <a:ext cx="946340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chemeClr val="tx2"/>
                </a:solidFill>
              </a:rPr>
              <a:t>unlock(X)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E9755D-D833-413A-880A-AC88A85D4725}"/>
              </a:ext>
            </a:extLst>
          </p:cNvPr>
          <p:cNvSpPr/>
          <p:nvPr/>
        </p:nvSpPr>
        <p:spPr>
          <a:xfrm>
            <a:off x="6725821" y="3465291"/>
            <a:ext cx="710698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lock(Y)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FE44B8-753E-4E2B-9EE7-E567FCBDD1D9}"/>
              </a:ext>
            </a:extLst>
          </p:cNvPr>
          <p:cNvSpPr/>
          <p:nvPr/>
        </p:nvSpPr>
        <p:spPr>
          <a:xfrm>
            <a:off x="6725822" y="3771295"/>
            <a:ext cx="954355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unlock(X)</a:t>
            </a:r>
            <a:endParaRPr lang="en-US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221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16"/>
    </mc:Choice>
    <mc:Fallback xmlns="">
      <p:transition spd="slow" advTm="198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test if a transaction is 2PL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first unlock</a:t>
            </a:r>
          </a:p>
          <a:p>
            <a:pPr lvl="1"/>
            <a:r>
              <a:rPr lang="en-US" dirty="0"/>
              <a:t>Phase 1 is up to, but not including, that unlock</a:t>
            </a:r>
          </a:p>
          <a:p>
            <a:pPr lvl="1"/>
            <a:r>
              <a:rPr lang="en-US" dirty="0"/>
              <a:t>Phase 2 is from that unlock until the end</a:t>
            </a:r>
          </a:p>
          <a:p>
            <a:r>
              <a:rPr lang="en-US" dirty="0"/>
              <a:t>Transaction is 2PL </a:t>
            </a:r>
            <a:r>
              <a:rPr lang="en-US" dirty="0" err="1"/>
              <a:t>iff</a:t>
            </a:r>
            <a:r>
              <a:rPr lang="en-US" dirty="0"/>
              <a:t> phase 2 contains </a:t>
            </a:r>
            <a:r>
              <a:rPr lang="en-US" b="1" i="1" dirty="0"/>
              <a:t>no</a:t>
            </a:r>
            <a:r>
              <a:rPr lang="en-US" dirty="0"/>
              <a:t> lock</a:t>
            </a:r>
          </a:p>
          <a:p>
            <a:endParaRPr lang="en-US" dirty="0"/>
          </a:p>
          <a:p>
            <a:r>
              <a:rPr lang="en-US" dirty="0"/>
              <a:t>(A schedule is 2PL </a:t>
            </a:r>
            <a:r>
              <a:rPr lang="en-US" dirty="0" err="1"/>
              <a:t>iff</a:t>
            </a:r>
            <a:r>
              <a:rPr lang="en-US" dirty="0"/>
              <a:t> all its transactions are 2PL)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503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714"/>
    </mc:Choice>
    <mc:Fallback xmlns="">
      <p:transition spd="slow" advTm="47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C7A9-BA89-44A2-A3BC-C909E4A1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E296-142E-4ED4-B8C7-CD193491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580C1-3DFA-42B1-88A2-F04305F3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290632-01A0-4877-AFD0-0A43CE6867A8}"/>
              </a:ext>
            </a:extLst>
          </p:cNvPr>
          <p:cNvSpPr/>
          <p:nvPr/>
        </p:nvSpPr>
        <p:spPr>
          <a:xfrm>
            <a:off x="3287688" y="5517233"/>
            <a:ext cx="65167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(X)</a:t>
            </a:r>
            <a:r>
              <a:rPr lang="en-GB" sz="2400" dirty="0"/>
              <a:t>; </a:t>
            </a:r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(X); </a:t>
            </a:r>
          </a:p>
          <a:p>
            <a:pPr marL="0" lvl="1"/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u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</a:t>
            </a:r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r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w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(Y); u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(Y)</a:t>
            </a:r>
            <a:endParaRPr lang="en-GB" sz="2400" baseline="-250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E594D-1E04-44F5-9A7C-58263F54AAD3}"/>
              </a:ext>
            </a:extLst>
          </p:cNvPr>
          <p:cNvSpPr txBox="1"/>
          <p:nvPr/>
        </p:nvSpPr>
        <p:spPr>
          <a:xfrm>
            <a:off x="2801634" y="551723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S:</a:t>
            </a:r>
            <a:endParaRPr lang="en-US" sz="2000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928C329-716A-4EB8-A614-7222083D6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10718"/>
              </p:ext>
            </p:extLst>
          </p:nvPr>
        </p:nvGraphicFramePr>
        <p:xfrm>
          <a:off x="3790127" y="1870810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AEB57CD-E80D-49D6-8AE7-D33DA509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83910"/>
              </p:ext>
            </p:extLst>
          </p:nvPr>
        </p:nvGraphicFramePr>
        <p:xfrm>
          <a:off x="6298575" y="1870810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6B844356-99FB-4FCB-848E-0BABCD54C3C8}"/>
              </a:ext>
            </a:extLst>
          </p:cNvPr>
          <p:cNvGrpSpPr/>
          <p:nvPr/>
        </p:nvGrpSpPr>
        <p:grpSpPr>
          <a:xfrm>
            <a:off x="3790127" y="1870810"/>
            <a:ext cx="2508448" cy="3492720"/>
            <a:chOff x="2639616" y="1664746"/>
            <a:chExt cx="2508448" cy="349272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BEBB020-0E26-443B-8D6B-793C4D17792A}"/>
                </a:ext>
              </a:extLst>
            </p:cNvPr>
            <p:cNvGrpSpPr/>
            <p:nvPr/>
          </p:nvGrpSpPr>
          <p:grpSpPr>
            <a:xfrm>
              <a:off x="4161087" y="1664746"/>
              <a:ext cx="986977" cy="3492720"/>
              <a:chOff x="4161087" y="1664746"/>
              <a:chExt cx="986977" cy="349272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8532046-C45F-4F49-AE1A-B4FCCB6478BF}"/>
                  </a:ext>
                </a:extLst>
              </p:cNvPr>
              <p:cNvCxnSpPr/>
              <p:nvPr/>
            </p:nvCxnSpPr>
            <p:spPr>
              <a:xfrm flipH="1">
                <a:off x="4163616" y="1664746"/>
                <a:ext cx="984448" cy="190827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2AD681C-3EF1-4255-9B30-1C3050D5B5F9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158445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3AF94E9-B9A3-482F-98CD-C111AACC9056}"/>
                  </a:ext>
                </a:extLst>
              </p:cNvPr>
              <p:cNvCxnSpPr/>
              <p:nvPr/>
            </p:nvCxnSpPr>
            <p:spPr>
              <a:xfrm flipH="1">
                <a:off x="4163616" y="1988840"/>
                <a:ext cx="984448" cy="158417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23830ABF-6CC1-4703-B0CA-D44D32267451}"/>
                  </a:ext>
                </a:extLst>
              </p:cNvPr>
              <p:cNvCxnSpPr/>
              <p:nvPr/>
            </p:nvCxnSpPr>
            <p:spPr>
              <a:xfrm flipH="1">
                <a:off x="4163616" y="2276872"/>
                <a:ext cx="984448" cy="129614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B4736F6-7DAA-483C-AA9F-323DA305A190}"/>
                  </a:ext>
                </a:extLst>
              </p:cNvPr>
              <p:cNvCxnSpPr/>
              <p:nvPr/>
            </p:nvCxnSpPr>
            <p:spPr>
              <a:xfrm flipH="1">
                <a:off x="4163616" y="2636912"/>
                <a:ext cx="984448" cy="9361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A3CFF0B-4150-4E89-9DDE-2F292F2497EA}"/>
                  </a:ext>
                </a:extLst>
              </p:cNvPr>
              <p:cNvCxnSpPr/>
              <p:nvPr/>
            </p:nvCxnSpPr>
            <p:spPr>
              <a:xfrm flipH="1">
                <a:off x="4163616" y="2924944"/>
                <a:ext cx="984448" cy="64807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20861E-3170-4A9C-9A28-63D8FC02581C}"/>
                  </a:ext>
                </a:extLst>
              </p:cNvPr>
              <p:cNvCxnSpPr/>
              <p:nvPr/>
            </p:nvCxnSpPr>
            <p:spPr>
              <a:xfrm flipH="1">
                <a:off x="4163616" y="3244219"/>
                <a:ext cx="984448" cy="32879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62E23E4-E6ED-427F-BBDF-16E472CBCEBB}"/>
                  </a:ext>
                </a:extLst>
              </p:cNvPr>
              <p:cNvCxnSpPr/>
              <p:nvPr/>
            </p:nvCxnSpPr>
            <p:spPr>
              <a:xfrm flipH="1">
                <a:off x="4163616" y="3573016"/>
                <a:ext cx="984448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70A1E1D-EDA8-48D0-9ABF-F6A5A2AE9228}"/>
                  </a:ext>
                </a:extLst>
              </p:cNvPr>
              <p:cNvCxnSpPr/>
              <p:nvPr/>
            </p:nvCxnSpPr>
            <p:spPr>
              <a:xfrm flipH="1" flipV="1">
                <a:off x="4163616" y="3573016"/>
                <a:ext cx="984448" cy="297955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782E6F6F-2554-4C92-9AB5-8814E3F4E794}"/>
                  </a:ext>
                </a:extLst>
              </p:cNvPr>
              <p:cNvCxnSpPr/>
              <p:nvPr/>
            </p:nvCxnSpPr>
            <p:spPr>
              <a:xfrm flipH="1" flipV="1">
                <a:off x="4163616" y="3573015"/>
                <a:ext cx="974330" cy="62675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6ACC276-877B-47D0-B2DC-FD01547D86E1}"/>
                  </a:ext>
                </a:extLst>
              </p:cNvPr>
              <p:cNvCxnSpPr/>
              <p:nvPr/>
            </p:nvCxnSpPr>
            <p:spPr>
              <a:xfrm flipH="1" flipV="1">
                <a:off x="4163616" y="3573014"/>
                <a:ext cx="974330" cy="936106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FF5F59E-A01A-4413-8B33-D494A909D0B2}"/>
                  </a:ext>
                </a:extLst>
              </p:cNvPr>
              <p:cNvCxnSpPr/>
              <p:nvPr/>
            </p:nvCxnSpPr>
            <p:spPr>
              <a:xfrm flipH="1" flipV="1">
                <a:off x="4161087" y="3573013"/>
                <a:ext cx="976859" cy="126490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F6B9AF-A47A-493C-8323-11A27FBB0164}"/>
                </a:ext>
              </a:extLst>
            </p:cNvPr>
            <p:cNvCxnSpPr/>
            <p:nvPr/>
          </p:nvCxnSpPr>
          <p:spPr>
            <a:xfrm>
              <a:off x="2639616" y="3573013"/>
              <a:ext cx="1521471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59" name="Right Arrow 2">
            <a:extLst>
              <a:ext uri="{FF2B5EF4-FFF2-40B4-BE49-F238E27FC236}">
                <a16:creationId xmlns:a16="http://schemas.microsoft.com/office/drawing/2014/main" id="{833DF5AF-F707-4704-9305-27BD55A812D3}"/>
              </a:ext>
            </a:extLst>
          </p:cNvPr>
          <p:cNvSpPr/>
          <p:nvPr/>
        </p:nvSpPr>
        <p:spPr>
          <a:xfrm>
            <a:off x="3313680" y="2194904"/>
            <a:ext cx="3693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F954D5EE-E8B1-4522-AA27-53D9F9B00AA3}"/>
              </a:ext>
            </a:extLst>
          </p:cNvPr>
          <p:cNvSpPr/>
          <p:nvPr/>
        </p:nvSpPr>
        <p:spPr>
          <a:xfrm>
            <a:off x="3058215" y="2194905"/>
            <a:ext cx="148113" cy="1152128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7281B7-4D75-4313-A097-DC3A84929EE0}"/>
              </a:ext>
            </a:extLst>
          </p:cNvPr>
          <p:cNvSpPr txBox="1"/>
          <p:nvPr/>
        </p:nvSpPr>
        <p:spPr>
          <a:xfrm>
            <a:off x="2076202" y="261766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3DA1372-F4AD-482D-A0D4-6F46E3609EAF}"/>
              </a:ext>
            </a:extLst>
          </p:cNvPr>
          <p:cNvSpPr/>
          <p:nvPr/>
        </p:nvSpPr>
        <p:spPr>
          <a:xfrm>
            <a:off x="3683023" y="3779078"/>
            <a:ext cx="1175393" cy="31337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36F73978-A442-4A07-8287-281F6D627FC6}"/>
              </a:ext>
            </a:extLst>
          </p:cNvPr>
          <p:cNvSpPr/>
          <p:nvPr/>
        </p:nvSpPr>
        <p:spPr>
          <a:xfrm flipH="1">
            <a:off x="8299272" y="2297605"/>
            <a:ext cx="220823" cy="1049429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20FCBE-EF70-4CA5-A59F-150D39CD76D9}"/>
              </a:ext>
            </a:extLst>
          </p:cNvPr>
          <p:cNvSpPr txBox="1"/>
          <p:nvPr/>
        </p:nvSpPr>
        <p:spPr>
          <a:xfrm>
            <a:off x="8520097" y="268942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65" name="Right Arrow 35">
            <a:extLst>
              <a:ext uri="{FF2B5EF4-FFF2-40B4-BE49-F238E27FC236}">
                <a16:creationId xmlns:a16="http://schemas.microsoft.com/office/drawing/2014/main" id="{50756EC6-93FF-4333-AD45-F7D80E59F0BF}"/>
              </a:ext>
            </a:extLst>
          </p:cNvPr>
          <p:cNvSpPr/>
          <p:nvPr/>
        </p:nvSpPr>
        <p:spPr>
          <a:xfrm rot="10800000">
            <a:off x="7884016" y="2194904"/>
            <a:ext cx="3693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0A7E566-20A3-4146-9713-39853668E9B1}"/>
              </a:ext>
            </a:extLst>
          </p:cNvPr>
          <p:cNvSpPr/>
          <p:nvPr/>
        </p:nvSpPr>
        <p:spPr>
          <a:xfrm>
            <a:off x="6147669" y="3779078"/>
            <a:ext cx="1175393" cy="313379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1B2B5DA8-A904-4AE8-956C-2574D2AFE6D8}"/>
              </a:ext>
            </a:extLst>
          </p:cNvPr>
          <p:cNvSpPr/>
          <p:nvPr/>
        </p:nvSpPr>
        <p:spPr>
          <a:xfrm>
            <a:off x="3058215" y="3551802"/>
            <a:ext cx="148112" cy="1667439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04817F-E4B2-400B-B248-EB21EDDBD6CA}"/>
              </a:ext>
            </a:extLst>
          </p:cNvPr>
          <p:cNvSpPr txBox="1"/>
          <p:nvPr/>
        </p:nvSpPr>
        <p:spPr>
          <a:xfrm>
            <a:off x="2076202" y="397455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2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0B70A3B6-C8F7-4B9D-87E8-211181F67F1E}"/>
              </a:ext>
            </a:extLst>
          </p:cNvPr>
          <p:cNvSpPr/>
          <p:nvPr/>
        </p:nvSpPr>
        <p:spPr>
          <a:xfrm flipH="1">
            <a:off x="8314798" y="3550306"/>
            <a:ext cx="205296" cy="1753143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88238E-C2E0-470B-B71C-9E3392791D7B}"/>
              </a:ext>
            </a:extLst>
          </p:cNvPr>
          <p:cNvSpPr txBox="1"/>
          <p:nvPr/>
        </p:nvSpPr>
        <p:spPr>
          <a:xfrm>
            <a:off x="8724036" y="427994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2</a:t>
            </a:r>
          </a:p>
        </p:txBody>
      </p:sp>
      <p:sp>
        <p:nvSpPr>
          <p:cNvPr id="71" name="Rounded Rectangular Callout 23">
            <a:extLst>
              <a:ext uri="{FF2B5EF4-FFF2-40B4-BE49-F238E27FC236}">
                <a16:creationId xmlns:a16="http://schemas.microsoft.com/office/drawing/2014/main" id="{54A060A1-873B-42B4-A193-44D80CA181DA}"/>
              </a:ext>
            </a:extLst>
          </p:cNvPr>
          <p:cNvSpPr/>
          <p:nvPr/>
        </p:nvSpPr>
        <p:spPr>
          <a:xfrm>
            <a:off x="8827170" y="4671611"/>
            <a:ext cx="1729300" cy="732971"/>
          </a:xfrm>
          <a:prstGeom prst="wedgeRoundRectCallout">
            <a:avLst>
              <a:gd name="adj1" fmla="val -38141"/>
              <a:gd name="adj2" fmla="val 7574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2PL? No!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238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605"/>
    </mc:Choice>
    <mc:Fallback xmlns="">
      <p:transition spd="slow" advTm="73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23 L -0.00091 0.1861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18611 L -0.00091 0.2319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23 L -0.00091 0.1861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18611 L -0.00091 0.2319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59" grpId="2" animBg="1"/>
      <p:bldP spid="60" grpId="0" animBg="1"/>
      <p:bldP spid="61" grpId="0"/>
      <p:bldP spid="62" grpId="0" animBg="1"/>
      <p:bldP spid="63" grpId="0" animBg="1"/>
      <p:bldP spid="64" grpId="0"/>
      <p:bldP spid="65" grpId="0" animBg="1"/>
      <p:bldP spid="65" grpId="1" animBg="1"/>
      <p:bldP spid="65" grpId="2" animBg="1"/>
      <p:bldP spid="66" grpId="0" animBg="1"/>
      <p:bldP spid="67" grpId="0" animBg="1"/>
      <p:bldP spid="68" grpId="0"/>
      <p:bldP spid="69" grpId="0" animBg="1"/>
      <p:bldP spid="70" grpId="0"/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C960-EA0F-443C-93D6-89EC52DA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2754-00C9-4F43-ABEF-D0082B017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D5F8D5-45A9-4EC0-B102-F9B3FCF35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54272"/>
              </p:ext>
            </p:extLst>
          </p:nvPr>
        </p:nvGraphicFramePr>
        <p:xfrm>
          <a:off x="4099221" y="1857931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read(Y)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2D41C1E-F969-46E0-B367-7B6E3A76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72664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C7572-B129-4792-BB7D-9BC28AA32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319809"/>
              </p:ext>
            </p:extLst>
          </p:nvPr>
        </p:nvGraphicFramePr>
        <p:xfrm>
          <a:off x="6607669" y="1857931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X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read(Y)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Y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write(Y)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5317358-ADEA-4A42-9903-DA529B32D149}"/>
              </a:ext>
            </a:extLst>
          </p:cNvPr>
          <p:cNvSpPr/>
          <p:nvPr/>
        </p:nvSpPr>
        <p:spPr>
          <a:xfrm>
            <a:off x="4159397" y="3465792"/>
            <a:ext cx="710698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>
                <a:solidFill>
                  <a:schemeClr val="tx2"/>
                </a:solidFill>
              </a:rPr>
              <a:t>lock(Y)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B6DCC3-03E5-425F-835A-870A987435AA}"/>
              </a:ext>
            </a:extLst>
          </p:cNvPr>
          <p:cNvSpPr/>
          <p:nvPr/>
        </p:nvSpPr>
        <p:spPr>
          <a:xfrm>
            <a:off x="4159397" y="3784174"/>
            <a:ext cx="946340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chemeClr val="tx2"/>
                </a:solidFill>
              </a:rPr>
              <a:t>unlock(X)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99986B-0025-407A-A406-22D9D70A6AEF}"/>
              </a:ext>
            </a:extLst>
          </p:cNvPr>
          <p:cNvSpPr/>
          <p:nvPr/>
        </p:nvSpPr>
        <p:spPr>
          <a:xfrm>
            <a:off x="6661426" y="3478170"/>
            <a:ext cx="710698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lock(Y)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D9464-6CE4-4811-91D1-52CC26A15918}"/>
              </a:ext>
            </a:extLst>
          </p:cNvPr>
          <p:cNvSpPr/>
          <p:nvPr/>
        </p:nvSpPr>
        <p:spPr>
          <a:xfrm>
            <a:off x="6661427" y="3784174"/>
            <a:ext cx="954355" cy="276999"/>
          </a:xfrm>
          <a:prstGeom prst="rect">
            <a:avLst/>
          </a:prstGeom>
          <a:noFill/>
        </p:spPr>
        <p:txBody>
          <a:bodyPr wrap="none" lIns="36000" tIns="0" rIns="36000" bIns="0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C00000"/>
                </a:solidFill>
              </a:rPr>
              <a:t>unlock(X)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615065-C4DB-4DFA-B37A-F9C045145C6B}"/>
              </a:ext>
            </a:extLst>
          </p:cNvPr>
          <p:cNvGrpSpPr/>
          <p:nvPr/>
        </p:nvGrpSpPr>
        <p:grpSpPr>
          <a:xfrm>
            <a:off x="2078410" y="5493270"/>
            <a:ext cx="4449639" cy="471903"/>
            <a:chOff x="554409" y="5480390"/>
            <a:chExt cx="4449639" cy="47190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CD906B-C15D-4AEC-919D-6604B04ADB98}"/>
                </a:ext>
              </a:extLst>
            </p:cNvPr>
            <p:cNvSpPr txBox="1"/>
            <p:nvPr/>
          </p:nvSpPr>
          <p:spPr>
            <a:xfrm>
              <a:off x="554409" y="5490628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S:</a:t>
              </a:r>
              <a:endParaRPr lang="en-US" sz="2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E30732-9AA5-4777-B4AB-B7E6055438DB}"/>
                </a:ext>
              </a:extLst>
            </p:cNvPr>
            <p:cNvSpPr/>
            <p:nvPr/>
          </p:nvSpPr>
          <p:spPr>
            <a:xfrm>
              <a:off x="1037263" y="5484104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44264B-8B01-4936-A09D-FED1F3E15281}"/>
                </a:ext>
              </a:extLst>
            </p:cNvPr>
            <p:cNvSpPr/>
            <p:nvPr/>
          </p:nvSpPr>
          <p:spPr>
            <a:xfrm>
              <a:off x="1750095" y="5480390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A4F64D-644C-4EB0-AA08-4BC586C9CD5E}"/>
                </a:ext>
              </a:extLst>
            </p:cNvPr>
            <p:cNvSpPr/>
            <p:nvPr/>
          </p:nvSpPr>
          <p:spPr>
            <a:xfrm>
              <a:off x="2480623" y="5485705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w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 </a:t>
              </a:r>
              <a:endParaRPr lang="en-US" sz="2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623C40-9606-4E59-881B-E9DE546EA211}"/>
                </a:ext>
              </a:extLst>
            </p:cNvPr>
            <p:cNvSpPr/>
            <p:nvPr/>
          </p:nvSpPr>
          <p:spPr>
            <a:xfrm>
              <a:off x="3344719" y="5490628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l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748320-D30C-4563-BDE8-4FAEA78DC6FD}"/>
                </a:ext>
              </a:extLst>
            </p:cNvPr>
            <p:cNvSpPr/>
            <p:nvPr/>
          </p:nvSpPr>
          <p:spPr>
            <a:xfrm>
              <a:off x="4052828" y="5480390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(X);</a:t>
              </a:r>
              <a:endParaRPr lang="en-US" sz="2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1759EC-97C9-47FF-8957-2FCA351E239E}"/>
              </a:ext>
            </a:extLst>
          </p:cNvPr>
          <p:cNvGrpSpPr/>
          <p:nvPr/>
        </p:nvGrpSpPr>
        <p:grpSpPr>
          <a:xfrm>
            <a:off x="6405247" y="5504391"/>
            <a:ext cx="2394580" cy="466980"/>
            <a:chOff x="4881247" y="5491512"/>
            <a:chExt cx="2394580" cy="46698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78E2B5-1DC2-42A0-9A05-54E4F04DA283}"/>
                </a:ext>
              </a:extLst>
            </p:cNvPr>
            <p:cNvSpPr/>
            <p:nvPr/>
          </p:nvSpPr>
          <p:spPr>
            <a:xfrm>
              <a:off x="4881247" y="5495226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458237-75A7-4AB3-81EB-607D9061C6B2}"/>
                </a:ext>
              </a:extLst>
            </p:cNvPr>
            <p:cNvSpPr/>
            <p:nvPr/>
          </p:nvSpPr>
          <p:spPr>
            <a:xfrm>
              <a:off x="5594079" y="5491512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851E1B-07C2-41B2-B515-FCCF6E0045E1}"/>
                </a:ext>
              </a:extLst>
            </p:cNvPr>
            <p:cNvSpPr/>
            <p:nvPr/>
          </p:nvSpPr>
          <p:spPr>
            <a:xfrm>
              <a:off x="6324607" y="5496827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w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(X);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D4A919-E2F2-48F9-877C-DBC7C1C2B763}"/>
              </a:ext>
            </a:extLst>
          </p:cNvPr>
          <p:cNvGrpSpPr/>
          <p:nvPr/>
        </p:nvGrpSpPr>
        <p:grpSpPr>
          <a:xfrm>
            <a:off x="2561263" y="5913449"/>
            <a:ext cx="2538596" cy="480758"/>
            <a:chOff x="1037263" y="5900570"/>
            <a:chExt cx="2538596" cy="48075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9367262-202C-4CA8-B608-F2BCABDA0E5F}"/>
                </a:ext>
              </a:extLst>
            </p:cNvPr>
            <p:cNvSpPr/>
            <p:nvPr/>
          </p:nvSpPr>
          <p:spPr>
            <a:xfrm>
              <a:off x="1037263" y="5900570"/>
              <a:ext cx="8234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r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</a:t>
              </a:r>
              <a:endParaRPr lang="en-US" sz="2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CC5A32-1808-4920-B3A2-43456D2FAD63}"/>
                </a:ext>
              </a:extLst>
            </p:cNvPr>
            <p:cNvSpPr/>
            <p:nvPr/>
          </p:nvSpPr>
          <p:spPr>
            <a:xfrm>
              <a:off x="1777232" y="5914371"/>
              <a:ext cx="9496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chemeClr val="tx2"/>
                  </a:solidFill>
                </a:rPr>
                <a:t>w</a:t>
              </a:r>
              <a:r>
                <a:rPr lang="en-GB" sz="2400" baseline="-25000">
                  <a:solidFill>
                    <a:schemeClr val="tx2"/>
                  </a:solidFill>
                </a:rPr>
                <a:t>1</a:t>
              </a:r>
              <a:r>
                <a:rPr lang="en-GB" sz="240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598AC0-BFC9-46BB-ADA0-403566826769}"/>
                </a:ext>
              </a:extLst>
            </p:cNvPr>
            <p:cNvSpPr/>
            <p:nvPr/>
          </p:nvSpPr>
          <p:spPr>
            <a:xfrm>
              <a:off x="2624639" y="5919663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tx2"/>
                  </a:solidFill>
                </a:rPr>
                <a:t>u</a:t>
              </a:r>
              <a:r>
                <a:rPr lang="en-GB" sz="2400" baseline="-25000" dirty="0">
                  <a:solidFill>
                    <a:schemeClr val="tx2"/>
                  </a:solidFill>
                </a:rPr>
                <a:t>1</a:t>
              </a:r>
              <a:r>
                <a:rPr lang="en-GB" sz="2400" dirty="0">
                  <a:solidFill>
                    <a:schemeClr val="tx2"/>
                  </a:solidFill>
                </a:rPr>
                <a:t>(Y); </a:t>
              </a:r>
              <a:endParaRPr lang="en-US" sz="2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97B05D-1033-485C-93E9-672119676999}"/>
              </a:ext>
            </a:extLst>
          </p:cNvPr>
          <p:cNvGrpSpPr/>
          <p:nvPr/>
        </p:nvGrpSpPr>
        <p:grpSpPr>
          <a:xfrm>
            <a:off x="4930133" y="5943751"/>
            <a:ext cx="4056118" cy="472295"/>
            <a:chOff x="3406133" y="5930871"/>
            <a:chExt cx="4056118" cy="47229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35F42A-C125-4D99-862B-067E90C85FF6}"/>
                </a:ext>
              </a:extLst>
            </p:cNvPr>
            <p:cNvSpPr/>
            <p:nvPr/>
          </p:nvSpPr>
          <p:spPr>
            <a:xfrm>
              <a:off x="4113774" y="5934585"/>
              <a:ext cx="9204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(X</a:t>
              </a:r>
              <a:r>
                <a:rPr lang="en-GB" sz="2400" dirty="0">
                  <a:solidFill>
                    <a:srgbClr val="C00000"/>
                  </a:solidFill>
                </a:rPr>
                <a:t>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0A2BB8-9C45-4E54-AA3B-9FFDA7FC0DE8}"/>
                </a:ext>
              </a:extLst>
            </p:cNvPr>
            <p:cNvSpPr/>
            <p:nvPr/>
          </p:nvSpPr>
          <p:spPr>
            <a:xfrm>
              <a:off x="4924178" y="5930871"/>
              <a:ext cx="85632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r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67DB70-E385-459B-8093-C47229DBA670}"/>
                </a:ext>
              </a:extLst>
            </p:cNvPr>
            <p:cNvSpPr/>
            <p:nvPr/>
          </p:nvSpPr>
          <p:spPr>
            <a:xfrm>
              <a:off x="5654706" y="5936186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rgbClr val="C00000"/>
                  </a:solidFill>
                </a:rPr>
                <a:t>w</a:t>
              </a:r>
              <a:r>
                <a:rPr lang="en-GB" sz="2400" baseline="-25000">
                  <a:solidFill>
                    <a:srgbClr val="C00000"/>
                  </a:solidFill>
                </a:rPr>
                <a:t>2</a:t>
              </a:r>
              <a:r>
                <a:rPr lang="en-GB" sz="240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19C4CC4-DF40-4C1E-9006-8FE7E06FF3AB}"/>
                </a:ext>
              </a:extLst>
            </p:cNvPr>
            <p:cNvSpPr/>
            <p:nvPr/>
          </p:nvSpPr>
          <p:spPr>
            <a:xfrm>
              <a:off x="3406133" y="5930871"/>
              <a:ext cx="7875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l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(Y);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5CCAB20-3E6B-470F-AD67-DD23A16B9207}"/>
                </a:ext>
              </a:extLst>
            </p:cNvPr>
            <p:cNvSpPr/>
            <p:nvPr/>
          </p:nvSpPr>
          <p:spPr>
            <a:xfrm>
              <a:off x="6511031" y="5941501"/>
              <a:ext cx="951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rgbClr val="C00000"/>
                  </a:solidFill>
                </a:rPr>
                <a:t>u</a:t>
              </a:r>
              <a:r>
                <a:rPr lang="en-GB" sz="2400" baseline="-25000" dirty="0">
                  <a:solidFill>
                    <a:srgbClr val="C00000"/>
                  </a:solidFill>
                </a:rPr>
                <a:t>2</a:t>
              </a:r>
              <a:r>
                <a:rPr lang="en-GB" sz="2400" dirty="0">
                  <a:solidFill>
                    <a:srgbClr val="C00000"/>
                  </a:solidFill>
                </a:rPr>
                <a:t>(Y) 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2" name="Rounded Rectangular Callout 32">
            <a:extLst>
              <a:ext uri="{FF2B5EF4-FFF2-40B4-BE49-F238E27FC236}">
                <a16:creationId xmlns:a16="http://schemas.microsoft.com/office/drawing/2014/main" id="{AA6E20C9-676F-4C21-A6CD-EA1D2A99A4B4}"/>
              </a:ext>
            </a:extLst>
          </p:cNvPr>
          <p:cNvSpPr/>
          <p:nvPr/>
        </p:nvSpPr>
        <p:spPr>
          <a:xfrm>
            <a:off x="8857012" y="5115830"/>
            <a:ext cx="1631477" cy="732971"/>
          </a:xfrm>
          <a:prstGeom prst="wedgeRoundRectCallout">
            <a:avLst>
              <a:gd name="adj1" fmla="val -58380"/>
              <a:gd name="adj2" fmla="val 8094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2PL?</a:t>
            </a:r>
          </a:p>
        </p:txBody>
      </p:sp>
      <p:sp>
        <p:nvSpPr>
          <p:cNvPr id="33" name="Right Arrow 41">
            <a:extLst>
              <a:ext uri="{FF2B5EF4-FFF2-40B4-BE49-F238E27FC236}">
                <a16:creationId xmlns:a16="http://schemas.microsoft.com/office/drawing/2014/main" id="{6FB75FFC-F728-477D-AF8F-A2D9A7365E7E}"/>
              </a:ext>
            </a:extLst>
          </p:cNvPr>
          <p:cNvSpPr/>
          <p:nvPr/>
        </p:nvSpPr>
        <p:spPr>
          <a:xfrm>
            <a:off x="3622774" y="2182025"/>
            <a:ext cx="3693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761E2F71-BD10-4DC7-ABF4-984DD46320DE}"/>
              </a:ext>
            </a:extLst>
          </p:cNvPr>
          <p:cNvSpPr/>
          <p:nvPr/>
        </p:nvSpPr>
        <p:spPr>
          <a:xfrm>
            <a:off x="3367309" y="2182026"/>
            <a:ext cx="136997" cy="1490959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5C9372-226A-4410-B9CD-C4B49F1506A1}"/>
              </a:ext>
            </a:extLst>
          </p:cNvPr>
          <p:cNvSpPr txBox="1"/>
          <p:nvPr/>
        </p:nvSpPr>
        <p:spPr>
          <a:xfrm>
            <a:off x="2372596" y="2757181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08C0F9FF-A6A2-46DD-8A5F-3E0B1A9ECCAB}"/>
              </a:ext>
            </a:extLst>
          </p:cNvPr>
          <p:cNvSpPr/>
          <p:nvPr/>
        </p:nvSpPr>
        <p:spPr>
          <a:xfrm>
            <a:off x="3367309" y="3961679"/>
            <a:ext cx="141774" cy="1244683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117FE7-0F64-4E44-A9BC-58BD9271F4B6}"/>
              </a:ext>
            </a:extLst>
          </p:cNvPr>
          <p:cNvSpPr txBox="1"/>
          <p:nvPr/>
        </p:nvSpPr>
        <p:spPr>
          <a:xfrm>
            <a:off x="2373559" y="4383548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2</a:t>
            </a:r>
          </a:p>
        </p:txBody>
      </p:sp>
      <p:sp>
        <p:nvSpPr>
          <p:cNvPr id="38" name="Rounded Rectangular Callout 48">
            <a:extLst>
              <a:ext uri="{FF2B5EF4-FFF2-40B4-BE49-F238E27FC236}">
                <a16:creationId xmlns:a16="http://schemas.microsoft.com/office/drawing/2014/main" id="{1A92F51B-E1D5-4A2C-BACD-E01257D5D004}"/>
              </a:ext>
            </a:extLst>
          </p:cNvPr>
          <p:cNvSpPr/>
          <p:nvPr/>
        </p:nvSpPr>
        <p:spPr>
          <a:xfrm>
            <a:off x="2372595" y="769780"/>
            <a:ext cx="2089340" cy="732971"/>
          </a:xfrm>
          <a:prstGeom prst="wedgeRoundRectCallout">
            <a:avLst>
              <a:gd name="adj1" fmla="val 42703"/>
              <a:gd name="adj2" fmla="val 9307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Is 2PL</a:t>
            </a:r>
          </a:p>
        </p:txBody>
      </p:sp>
      <p:sp>
        <p:nvSpPr>
          <p:cNvPr id="39" name="Right Arrow 49">
            <a:extLst>
              <a:ext uri="{FF2B5EF4-FFF2-40B4-BE49-F238E27FC236}">
                <a16:creationId xmlns:a16="http://schemas.microsoft.com/office/drawing/2014/main" id="{BA79EB80-D69F-48A0-90ED-73553B79C862}"/>
              </a:ext>
            </a:extLst>
          </p:cNvPr>
          <p:cNvSpPr/>
          <p:nvPr/>
        </p:nvSpPr>
        <p:spPr>
          <a:xfrm rot="10800000">
            <a:off x="8271040" y="2229184"/>
            <a:ext cx="369343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40A73AB9-504B-4C17-AD35-CE91ED8314E6}"/>
              </a:ext>
            </a:extLst>
          </p:cNvPr>
          <p:cNvSpPr/>
          <p:nvPr/>
        </p:nvSpPr>
        <p:spPr>
          <a:xfrm flipH="1">
            <a:off x="8683723" y="2243527"/>
            <a:ext cx="192059" cy="1490959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713D60-6B6E-4B01-857C-2CEF44F51519}"/>
              </a:ext>
            </a:extLst>
          </p:cNvPr>
          <p:cNvSpPr txBox="1"/>
          <p:nvPr/>
        </p:nvSpPr>
        <p:spPr>
          <a:xfrm>
            <a:off x="8933887" y="2781101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Phase 1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06F5390-4569-4A84-B467-16CA711FF6DA}"/>
              </a:ext>
            </a:extLst>
          </p:cNvPr>
          <p:cNvSpPr/>
          <p:nvPr/>
        </p:nvSpPr>
        <p:spPr>
          <a:xfrm flipH="1">
            <a:off x="8687956" y="3945873"/>
            <a:ext cx="205152" cy="1244683"/>
          </a:xfrm>
          <a:prstGeom prst="lef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BD0EBB-4963-49EA-8590-A1485442BABB}"/>
              </a:ext>
            </a:extLst>
          </p:cNvPr>
          <p:cNvSpPr txBox="1"/>
          <p:nvPr/>
        </p:nvSpPr>
        <p:spPr>
          <a:xfrm>
            <a:off x="8993982" y="4380988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2</a:t>
            </a:r>
          </a:p>
        </p:txBody>
      </p:sp>
      <p:sp>
        <p:nvSpPr>
          <p:cNvPr id="44" name="Rounded Rectangular Callout 64">
            <a:extLst>
              <a:ext uri="{FF2B5EF4-FFF2-40B4-BE49-F238E27FC236}">
                <a16:creationId xmlns:a16="http://schemas.microsoft.com/office/drawing/2014/main" id="{C83576AE-D5DE-47BA-B56E-9F222BC505B0}"/>
              </a:ext>
            </a:extLst>
          </p:cNvPr>
          <p:cNvSpPr/>
          <p:nvPr/>
        </p:nvSpPr>
        <p:spPr>
          <a:xfrm>
            <a:off x="7471765" y="816939"/>
            <a:ext cx="1638436" cy="732971"/>
          </a:xfrm>
          <a:prstGeom prst="wedgeRoundRectCallout">
            <a:avLst>
              <a:gd name="adj1" fmla="val -44191"/>
              <a:gd name="adj2" fmla="val 8267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Is 2PL</a:t>
            </a:r>
          </a:p>
        </p:txBody>
      </p:sp>
      <p:sp>
        <p:nvSpPr>
          <p:cNvPr id="45" name="Rounded Rectangular Callout 65">
            <a:extLst>
              <a:ext uri="{FF2B5EF4-FFF2-40B4-BE49-F238E27FC236}">
                <a16:creationId xmlns:a16="http://schemas.microsoft.com/office/drawing/2014/main" id="{698FAAA1-12E5-412D-95ED-45972C6CE53C}"/>
              </a:ext>
            </a:extLst>
          </p:cNvPr>
          <p:cNvSpPr/>
          <p:nvPr/>
        </p:nvSpPr>
        <p:spPr>
          <a:xfrm>
            <a:off x="8857012" y="5115830"/>
            <a:ext cx="1631477" cy="732971"/>
          </a:xfrm>
          <a:prstGeom prst="wedgeRoundRectCallout">
            <a:avLst>
              <a:gd name="adj1" fmla="val -58380"/>
              <a:gd name="adj2" fmla="val 8094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2PL? Yes!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060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98"/>
    </mc:Choice>
    <mc:Fallback xmlns="">
      <p:transition spd="slow" advTm="754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23 L -0.00117 0.2335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23357 L -0.00117 0.4131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24 L -0.00117 0.2335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0.23357 L -0.00117 0.4132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3" grpId="1" animBg="1"/>
      <p:bldP spid="33" grpId="2" animBg="1"/>
      <p:bldP spid="34" grpId="0" animBg="1"/>
      <p:bldP spid="35" grpId="0"/>
      <p:bldP spid="36" grpId="0" animBg="1"/>
      <p:bldP spid="37" grpId="0"/>
      <p:bldP spid="38" grpId="0" animBg="1"/>
      <p:bldP spid="39" grpId="0" animBg="1"/>
      <p:bldP spid="39" grpId="1" animBg="1"/>
      <p:bldP spid="39" grpId="2" animBg="1"/>
      <p:bldP spid="40" grpId="0" animBg="1"/>
      <p:bldP spid="41" grpId="0"/>
      <p:bldP spid="42" grpId="0" animBg="1"/>
      <p:bldP spid="43" grpId="0"/>
      <p:bldP spid="44" grpId="0" animBg="1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F54A-C859-4C28-A075-6288248E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5FE8-8238-4555-8826-5DE16D4D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way to implement conflict-serializable schedules is to use locks</a:t>
            </a:r>
          </a:p>
          <a:p>
            <a:r>
              <a:rPr lang="en-US" dirty="0"/>
              <a:t>You must have a lock before accessing items in that case</a:t>
            </a:r>
          </a:p>
          <a:p>
            <a:r>
              <a:rPr lang="en-US" dirty="0"/>
              <a:t>We saw a basic variant of locks and defined 2PL (i.e. the last lock in each transaction is before the first unlock)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42D00-05FE-4D3E-B0F2-F4D67D2B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Rounded Rectangular Callout 65">
            <a:extLst>
              <a:ext uri="{FF2B5EF4-FFF2-40B4-BE49-F238E27FC236}">
                <a16:creationId xmlns:a16="http://schemas.microsoft.com/office/drawing/2014/main" id="{F9B31E83-BFBE-4489-8CE3-ABAB147CF62B}"/>
              </a:ext>
            </a:extLst>
          </p:cNvPr>
          <p:cNvSpPr/>
          <p:nvPr/>
        </p:nvSpPr>
        <p:spPr>
          <a:xfrm>
            <a:off x="5426058" y="3787214"/>
            <a:ext cx="3061450" cy="933278"/>
          </a:xfrm>
          <a:prstGeom prst="wedgeRoundRectCallout">
            <a:avLst>
              <a:gd name="adj1" fmla="val -58380"/>
              <a:gd name="adj2" fmla="val -13444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That ensures conflict-serializability – here: claim; next video: proof!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831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59"/>
    </mc:Choice>
    <mc:Fallback xmlns="">
      <p:transition spd="slow" advTm="528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|73.3|11.4|19.5|1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.6|23|6.3|2.5|5.6|6.7|25.7|3.8|6|2.8|24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3|43|25.6|12.1|2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8|27.6|13.6|5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5.3|54|14.2|12.9|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|19.7|3.5|4.6|1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2.9|7|4.4|2.9|3.8|19.3|3.2|4.6|2.3|2.4|2.9|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6.6|1.2|3.2|2.9|2.2|6|4.3|2.5|4.5|1.2|3.6|5.7|3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12.2|1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375</TotalTime>
  <Words>1550</Words>
  <Application>Microsoft Office PowerPoint</Application>
  <PresentationFormat>Widescreen</PresentationFormat>
  <Paragraphs>319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Locking conflict-serializable schedules</vt:lpstr>
      <vt:lpstr>Overview of this video</vt:lpstr>
      <vt:lpstr>PowerPoint Presentation</vt:lpstr>
      <vt:lpstr>Transaction Scheduling in a DBMS</vt:lpstr>
      <vt:lpstr>PowerPoint Presentation</vt:lpstr>
      <vt:lpstr>Simple Locking Mechanism</vt:lpstr>
      <vt:lpstr>Schedules With Simple Locks</vt:lpstr>
      <vt:lpstr>… May Not Be Serializable</vt:lpstr>
      <vt:lpstr>A Serializable Schedule With Locks</vt:lpstr>
      <vt:lpstr>Two-Phase Locking (2PL)</vt:lpstr>
      <vt:lpstr>Example 1</vt:lpstr>
      <vt:lpstr>Example 2</vt:lpstr>
      <vt:lpstr>How to test if a transaction is 2PL</vt:lpstr>
      <vt:lpstr>Example 1</vt:lpstr>
      <vt:lpstr>Example 2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Locking conflict-serializable schedules</dc:title>
  <dc:creator>Rasmus Ibsen-Jensen</dc:creator>
  <cp:lastModifiedBy>Rasmus Ibsen-Jensen</cp:lastModifiedBy>
  <cp:revision>16</cp:revision>
  <dcterms:created xsi:type="dcterms:W3CDTF">2020-10-22T12:59:42Z</dcterms:created>
  <dcterms:modified xsi:type="dcterms:W3CDTF">2020-11-02T20:44:29Z</dcterms:modified>
</cp:coreProperties>
</file>