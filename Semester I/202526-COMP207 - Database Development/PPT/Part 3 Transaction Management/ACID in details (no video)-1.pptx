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4" r:id="rId3"/>
    <p:sldId id="343" r:id="rId4"/>
    <p:sldId id="344" r:id="rId5"/>
    <p:sldId id="378" r:id="rId6"/>
    <p:sldId id="381" r:id="rId7"/>
    <p:sldId id="390" r:id="rId8"/>
    <p:sldId id="345" r:id="rId9"/>
    <p:sldId id="380" r:id="rId10"/>
    <p:sldId id="394" r:id="rId11"/>
    <p:sldId id="393" r:id="rId12"/>
    <p:sldId id="355" r:id="rId13"/>
    <p:sldId id="395" r:id="rId14"/>
    <p:sldId id="346" r:id="rId15"/>
    <p:sldId id="382" r:id="rId16"/>
    <p:sldId id="383" r:id="rId17"/>
    <p:sldId id="347" r:id="rId18"/>
    <p:sldId id="384" r:id="rId19"/>
    <p:sldId id="379" r:id="rId20"/>
    <p:sldId id="348" r:id="rId21"/>
    <p:sldId id="28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683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82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610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52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96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72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63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540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351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5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C20B8A7-87E5-4365-B4AD-9AB457533A18}" type="datetimeFigureOut">
              <a:rPr lang="en-GB" smtClean="0"/>
              <a:t>08/10/2021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1D6FC46-D24D-43F6-90BB-0B3B3A441A3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65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E6A0-98A8-4CD7-9A31-F98975D551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ACID in details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02FFD-B353-4852-BAE1-5A0B618E5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69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87AB-00C3-4F0C-ABD5-3827C052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F842-B16B-4A9E-872B-51714976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The video will give a precise definition of each of the four ACID properties, i.e. </a:t>
            </a:r>
          </a:p>
          <a:p>
            <a:r>
              <a:rPr lang="en-GB" sz="3200" b="1" dirty="0"/>
              <a:t>A: 	Atomicity </a:t>
            </a:r>
            <a:r>
              <a:rPr lang="en-GB" sz="3200" dirty="0"/>
              <a:t>	</a:t>
            </a:r>
          </a:p>
          <a:p>
            <a:r>
              <a:rPr lang="en-GB" sz="3200" b="1" dirty="0"/>
              <a:t>C: 	Consistency</a:t>
            </a:r>
          </a:p>
          <a:p>
            <a:r>
              <a:rPr lang="en-GB" sz="3200" b="1" dirty="0"/>
              <a:t>I: 	Isolation</a:t>
            </a:r>
          </a:p>
          <a:p>
            <a:r>
              <a:rPr lang="en-GB" sz="3200" b="1" dirty="0"/>
              <a:t>D: 	Durability</a:t>
            </a: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D34EE-1258-4941-BD93-EAE842D5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403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- Atomicity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transaction is an </a:t>
            </a:r>
            <a:r>
              <a:rPr lang="en-GB" b="1" dirty="0"/>
              <a:t>atomic unit of processing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An indivisible unit of execution </a:t>
            </a:r>
          </a:p>
          <a:p>
            <a:pPr lvl="1"/>
            <a:r>
              <a:rPr lang="en-GB" dirty="0"/>
              <a:t>Executed in its entirety or not at all</a:t>
            </a:r>
          </a:p>
          <a:p>
            <a:r>
              <a:rPr lang="en-GB" dirty="0"/>
              <a:t>Deals with failure (“aborts”)</a:t>
            </a:r>
          </a:p>
          <a:p>
            <a:pPr lvl="1"/>
            <a:r>
              <a:rPr lang="en-GB" dirty="0"/>
              <a:t>User aborts transaction (e.g., cancel button)</a:t>
            </a:r>
          </a:p>
          <a:p>
            <a:pPr lvl="1"/>
            <a:r>
              <a:rPr lang="en-GB" dirty="0"/>
              <a:t>System aborts transaction (e.g., deadlock)</a:t>
            </a:r>
          </a:p>
          <a:p>
            <a:pPr lvl="1"/>
            <a:r>
              <a:rPr lang="en-GB" dirty="0"/>
              <a:t>Transaction aborts itself (e.g., unexpected database state)</a:t>
            </a:r>
          </a:p>
          <a:p>
            <a:pPr lvl="1"/>
            <a:r>
              <a:rPr lang="en-GB" dirty="0"/>
              <a:t>System crashes, network failure, etc.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66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- Atomicity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Abort - an error prevented full execution </a:t>
            </a:r>
          </a:p>
          <a:p>
            <a:pPr lvl="1"/>
            <a:r>
              <a:rPr lang="en-GB" dirty="0"/>
              <a:t>We </a:t>
            </a:r>
            <a:r>
              <a:rPr lang="en-GB" b="1" dirty="0"/>
              <a:t>UNDO</a:t>
            </a:r>
            <a:r>
              <a:rPr lang="en-GB" dirty="0"/>
              <a:t> the work done up to the error point</a:t>
            </a:r>
          </a:p>
          <a:p>
            <a:pPr lvl="2"/>
            <a:r>
              <a:rPr lang="en-GB" dirty="0"/>
              <a:t>System re-creates the database state as it was before the start of the aborted transaction</a:t>
            </a:r>
          </a:p>
          <a:p>
            <a:r>
              <a:rPr lang="en-GB" dirty="0"/>
              <a:t>Commit - no error, entire transaction executes</a:t>
            </a:r>
          </a:p>
          <a:p>
            <a:pPr lvl="2"/>
            <a:r>
              <a:rPr lang="en-GB" dirty="0"/>
              <a:t>The system is updated correctly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586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2: Partial Execution</a:t>
            </a:r>
            <a:br>
              <a:rPr lang="en-US" dirty="0"/>
            </a:br>
            <a:r>
              <a:rPr lang="en-US" sz="2400" dirty="0"/>
              <a:t>(from the introduction to transactions video)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917300" y="1713611"/>
            <a:ext cx="5957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Accounts</a:t>
            </a:r>
            <a:r>
              <a:rPr lang="en-US" sz="2400" dirty="0"/>
              <a:t>(</a:t>
            </a:r>
            <a:r>
              <a:rPr lang="en-US" sz="2400" dirty="0" err="1"/>
              <a:t>accountNo</a:t>
            </a:r>
            <a:r>
              <a:rPr lang="en-US" sz="2400" dirty="0"/>
              <a:t>, </a:t>
            </a:r>
            <a:r>
              <a:rPr lang="en-US" sz="2400" dirty="0" err="1"/>
              <a:t>accountHolder</a:t>
            </a:r>
            <a:r>
              <a:rPr lang="en-US" sz="2400" dirty="0"/>
              <a:t>, balance)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981200" y="2805048"/>
            <a:ext cx="7848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830073" y="2613194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time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23792" y="2738389"/>
            <a:ext cx="0" cy="14401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65033" y="3129444"/>
            <a:ext cx="2917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Add £100 to account ’456’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928" y="4150720"/>
            <a:ext cx="5112568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223792" y="2834020"/>
            <a:ext cx="0" cy="295424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12456" y="4948933"/>
            <a:ext cx="4970264" cy="10877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123;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055170" y="2729562"/>
            <a:ext cx="3661387" cy="787798"/>
            <a:chOff x="4531169" y="2729562"/>
            <a:chExt cx="3661387" cy="787798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6361856" y="2729562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531169" y="3117250"/>
              <a:ext cx="3661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Subtract £100 from account ‘123’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361856" y="2882405"/>
              <a:ext cx="0" cy="234845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1917300" y="2145341"/>
            <a:ext cx="5968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Goal: Transfer £100 from account ‘123’ to account ‘456’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356496" y="2564905"/>
            <a:ext cx="895478" cy="1688911"/>
            <a:chOff x="3832496" y="2564904"/>
            <a:chExt cx="895478" cy="1688911"/>
          </a:xfrm>
        </p:grpSpPr>
        <p:sp>
          <p:nvSpPr>
            <p:cNvPr id="20" name="Lightning Bolt 19"/>
            <p:cNvSpPr/>
            <p:nvPr/>
          </p:nvSpPr>
          <p:spPr>
            <a:xfrm>
              <a:off x="3832496" y="2564904"/>
              <a:ext cx="652111" cy="652111"/>
            </a:xfrm>
            <a:prstGeom prst="lightningBol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4283968" y="3217015"/>
              <a:ext cx="0" cy="628955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839974" y="3853705"/>
              <a:ext cx="888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Failure</a:t>
              </a:r>
            </a:p>
          </p:txBody>
        </p:sp>
      </p:grpSp>
      <p:sp>
        <p:nvSpPr>
          <p:cNvPr id="26" name="Rounded Rectangular Callout 25"/>
          <p:cNvSpPr/>
          <p:nvPr/>
        </p:nvSpPr>
        <p:spPr>
          <a:xfrm>
            <a:off x="6697588" y="3676240"/>
            <a:ext cx="2796109" cy="792240"/>
          </a:xfrm>
          <a:prstGeom prst="wedgeRoundRectCallout">
            <a:avLst>
              <a:gd name="adj1" fmla="val -67872"/>
              <a:gd name="adj2" fmla="val -5579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Leaves database in</a:t>
            </a:r>
            <a:br>
              <a:rPr lang="en-US" sz="2400" dirty="0"/>
            </a:br>
            <a:r>
              <a:rPr lang="en-US" sz="2400" dirty="0"/>
              <a:t>unacceptable state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7393980" y="2525358"/>
            <a:ext cx="995714" cy="1004196"/>
            <a:chOff x="6922443" y="2636912"/>
            <a:chExt cx="1198419" cy="1208628"/>
          </a:xfrm>
        </p:grpSpPr>
        <p:cxnSp>
          <p:nvCxnSpPr>
            <p:cNvPr id="25" name="Straight Connector 24"/>
            <p:cNvCxnSpPr/>
            <p:nvPr/>
          </p:nvCxnSpPr>
          <p:spPr>
            <a:xfrm flipH="1">
              <a:off x="6937781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922443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9723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3 (Concurrency </a:t>
            </a:r>
            <a:br>
              <a:rPr lang="en-US" dirty="0"/>
            </a:br>
            <a:r>
              <a:rPr lang="en-US" dirty="0"/>
              <a:t>&amp; Partial Execution)</a:t>
            </a:r>
            <a:br>
              <a:rPr lang="en-US" dirty="0"/>
            </a:br>
            <a:r>
              <a:rPr lang="en-US" sz="2400" dirty="0"/>
              <a:t>(from good schedules/transactions video)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1767681" y="255232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75521" y="324760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2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981201" y="1904256"/>
            <a:ext cx="8463143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9593403" y="2016914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8256179" y="2020624"/>
            <a:ext cx="1696555" cy="1239590"/>
            <a:chOff x="5513581" y="2249224"/>
            <a:chExt cx="1696555" cy="1239590"/>
          </a:xfrm>
        </p:grpSpPr>
        <p:sp>
          <p:nvSpPr>
            <p:cNvPr id="52" name="TextBox 51"/>
            <p:cNvSpPr txBox="1"/>
            <p:nvPr/>
          </p:nvSpPr>
          <p:spPr>
            <a:xfrm>
              <a:off x="5513581" y="2780928"/>
              <a:ext cx="16965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F0"/>
                  </a:solidFill>
                </a:rPr>
                <a:t>Subtract £100 </a:t>
              </a:r>
              <a:br>
                <a:rPr lang="en-US" sz="2000" dirty="0">
                  <a:solidFill>
                    <a:srgbClr val="00B0F0"/>
                  </a:solidFill>
                </a:rPr>
              </a:br>
              <a:r>
                <a:rPr lang="en-US" sz="2000" dirty="0">
                  <a:solidFill>
                    <a:srgbClr val="00B0F0"/>
                  </a:solidFill>
                </a:rPr>
                <a:t>from ‘123’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52" idx="0"/>
            </p:cNvCxnSpPr>
            <p:nvPr/>
          </p:nvCxnSpPr>
          <p:spPr>
            <a:xfrm>
              <a:off x="6361859" y="2400197"/>
              <a:ext cx="0" cy="380731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7498861" y="1659796"/>
            <a:ext cx="899705" cy="1318980"/>
            <a:chOff x="6360258" y="1376998"/>
            <a:chExt cx="899705" cy="1318980"/>
          </a:xfrm>
        </p:grpSpPr>
        <p:sp>
          <p:nvSpPr>
            <p:cNvPr id="27" name="Lightning Bolt 26"/>
            <p:cNvSpPr/>
            <p:nvPr/>
          </p:nvSpPr>
          <p:spPr>
            <a:xfrm>
              <a:off x="6607852" y="2043867"/>
              <a:ext cx="652111" cy="652111"/>
            </a:xfrm>
            <a:prstGeom prst="lightningBol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6804248" y="1783933"/>
              <a:ext cx="0" cy="132899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360258" y="1376998"/>
              <a:ext cx="888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Failure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783632" y="2032668"/>
            <a:ext cx="1237838" cy="1227547"/>
            <a:chOff x="2080879" y="2738389"/>
            <a:chExt cx="1237838" cy="1227547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080879" y="3258050"/>
              <a:ext cx="12378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Add £</a:t>
              </a:r>
              <a: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  <a:t>100 </a:t>
              </a:r>
              <a:b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  <a:t>to </a:t>
              </a:r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’456’</a:t>
              </a:r>
            </a:p>
          </p:txBody>
        </p:sp>
        <p:cxnSp>
          <p:nvCxnSpPr>
            <p:cNvPr id="36" name="Straight Connector 35"/>
            <p:cNvCxnSpPr>
              <a:stCxn id="35" idx="0"/>
            </p:cNvCxnSpPr>
            <p:nvPr/>
          </p:nvCxnSpPr>
          <p:spPr>
            <a:xfrm flipH="1" flipV="1">
              <a:off x="2699792" y="2882406"/>
              <a:ext cx="6" cy="37564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5290210" y="2032668"/>
            <a:ext cx="1237838" cy="1892049"/>
            <a:chOff x="2080873" y="2738389"/>
            <a:chExt cx="1237838" cy="1892049"/>
          </a:xfrm>
        </p:grpSpPr>
        <p:cxnSp>
          <p:nvCxnSpPr>
            <p:cNvPr id="54" name="Straight Connector 5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2080873" y="3922552"/>
              <a:ext cx="12378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Add £100 </a:t>
              </a:r>
              <a:b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to ’789’</a:t>
              </a:r>
            </a:p>
          </p:txBody>
        </p:sp>
        <p:cxnSp>
          <p:nvCxnSpPr>
            <p:cNvPr id="57" name="Straight Connector 56"/>
            <p:cNvCxnSpPr>
              <a:stCxn id="55" idx="0"/>
            </p:cNvCxnSpPr>
            <p:nvPr/>
          </p:nvCxnSpPr>
          <p:spPr>
            <a:xfrm flipV="1">
              <a:off x="2699792" y="2882406"/>
              <a:ext cx="0" cy="1040146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6559686" y="2020624"/>
            <a:ext cx="1696555" cy="1904092"/>
            <a:chOff x="5513578" y="2249224"/>
            <a:chExt cx="1696555" cy="1904092"/>
          </a:xfrm>
        </p:grpSpPr>
        <p:sp>
          <p:nvSpPr>
            <p:cNvPr id="59" name="TextBox 58"/>
            <p:cNvSpPr txBox="1"/>
            <p:nvPr/>
          </p:nvSpPr>
          <p:spPr>
            <a:xfrm>
              <a:off x="5513578" y="3445430"/>
              <a:ext cx="16965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F0"/>
                  </a:solidFill>
                </a:rPr>
                <a:t>Subtract £100 </a:t>
              </a:r>
              <a:br>
                <a:rPr lang="en-US" sz="2000" dirty="0">
                  <a:solidFill>
                    <a:srgbClr val="00B0F0"/>
                  </a:solidFill>
                </a:rPr>
              </a:br>
              <a:r>
                <a:rPr lang="en-US" sz="2000" dirty="0">
                  <a:solidFill>
                    <a:srgbClr val="00B0F0"/>
                  </a:solidFill>
                </a:rPr>
                <a:t>from ‘456’</a:t>
              </a:r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endCxn id="59" idx="0"/>
            </p:cNvCxnSpPr>
            <p:nvPr/>
          </p:nvCxnSpPr>
          <p:spPr>
            <a:xfrm>
              <a:off x="6361856" y="2405283"/>
              <a:ext cx="0" cy="1040147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3863752" y="2028432"/>
            <a:ext cx="1375698" cy="1892049"/>
            <a:chOff x="2011946" y="2738389"/>
            <a:chExt cx="1375698" cy="1892049"/>
          </a:xfrm>
        </p:grpSpPr>
        <p:cxnSp>
          <p:nvCxnSpPr>
            <p:cNvPr id="74" name="Straight Connector 7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2011946" y="3922552"/>
              <a:ext cx="137569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Does ‘456’</a:t>
              </a:r>
              <a:b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</a:br>
              <a: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have £100?</a:t>
              </a:r>
            </a:p>
          </p:txBody>
        </p:sp>
        <p:cxnSp>
          <p:nvCxnSpPr>
            <p:cNvPr id="76" name="Straight Connector 75"/>
            <p:cNvCxnSpPr>
              <a:stCxn id="75" idx="0"/>
            </p:cNvCxnSpPr>
            <p:nvPr/>
          </p:nvCxnSpPr>
          <p:spPr>
            <a:xfrm flipV="1">
              <a:off x="2699795" y="2882406"/>
              <a:ext cx="0" cy="1040146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8655575" y="2303596"/>
            <a:ext cx="961161" cy="969349"/>
            <a:chOff x="6922443" y="2636912"/>
            <a:chExt cx="1198419" cy="1208628"/>
          </a:xfrm>
        </p:grpSpPr>
        <p:cxnSp>
          <p:nvCxnSpPr>
            <p:cNvPr id="79" name="Straight Connector 78"/>
            <p:cNvCxnSpPr/>
            <p:nvPr/>
          </p:nvCxnSpPr>
          <p:spPr>
            <a:xfrm flipH="1">
              <a:off x="6937781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6922443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1597ADF-FD19-45EB-9DFD-F52DD721A295}"/>
              </a:ext>
            </a:extLst>
          </p:cNvPr>
          <p:cNvSpPr/>
          <p:nvPr/>
        </p:nvSpPr>
        <p:spPr>
          <a:xfrm>
            <a:off x="144983" y="3880627"/>
            <a:ext cx="5135309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7A68D8-A312-4326-99BC-70C240E09584}"/>
              </a:ext>
            </a:extLst>
          </p:cNvPr>
          <p:cNvSpPr/>
          <p:nvPr/>
        </p:nvSpPr>
        <p:spPr>
          <a:xfrm>
            <a:off x="1113817" y="5191724"/>
            <a:ext cx="5112568" cy="10877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balance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	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	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229FBB-F267-43A1-BF79-F688FB5542CA}"/>
              </a:ext>
            </a:extLst>
          </p:cNvPr>
          <p:cNvSpPr/>
          <p:nvPr/>
        </p:nvSpPr>
        <p:spPr>
          <a:xfrm>
            <a:off x="3528328" y="4806645"/>
            <a:ext cx="5135309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789;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5EBF32-15B5-4ED7-8B6B-DB3642CE8AA7}"/>
              </a:ext>
            </a:extLst>
          </p:cNvPr>
          <p:cNvSpPr/>
          <p:nvPr/>
        </p:nvSpPr>
        <p:spPr>
          <a:xfrm>
            <a:off x="7273789" y="5434202"/>
            <a:ext cx="4877521" cy="919455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D0F67A-F060-4B0D-A9CA-2775E4F1726B}"/>
              </a:ext>
            </a:extLst>
          </p:cNvPr>
          <p:cNvSpPr/>
          <p:nvPr/>
        </p:nvSpPr>
        <p:spPr>
          <a:xfrm>
            <a:off x="6258753" y="4132601"/>
            <a:ext cx="4877521" cy="10591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</p:spTree>
    <p:extLst>
      <p:ext uri="{BB962C8B-B14F-4D97-AF65-F5344CB8AC3E}">
        <p14:creationId xmlns:p14="http://schemas.microsoft.com/office/powerpoint/2010/main" val="173134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Atomicity is broken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grpSp>
        <p:nvGrpSpPr>
          <p:cNvPr id="5" name="Group 4"/>
          <p:cNvGrpSpPr/>
          <p:nvPr/>
        </p:nvGrpSpPr>
        <p:grpSpPr>
          <a:xfrm>
            <a:off x="1981201" y="2709800"/>
            <a:ext cx="8463143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775521" y="321385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X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783632" y="3357872"/>
            <a:ext cx="564326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5005932" y="2013941"/>
            <a:ext cx="899705" cy="1318980"/>
            <a:chOff x="6360258" y="1376998"/>
            <a:chExt cx="899705" cy="1318980"/>
          </a:xfrm>
        </p:grpSpPr>
        <p:sp>
          <p:nvSpPr>
            <p:cNvPr id="12" name="Lightning Bolt 11"/>
            <p:cNvSpPr/>
            <p:nvPr/>
          </p:nvSpPr>
          <p:spPr>
            <a:xfrm>
              <a:off x="6607852" y="2043867"/>
              <a:ext cx="652111" cy="652111"/>
            </a:xfrm>
            <a:prstGeom prst="lightningBol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804248" y="1783933"/>
              <a:ext cx="0" cy="132899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6360258" y="1376998"/>
              <a:ext cx="888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Failure</a:t>
              </a:r>
            </a:p>
          </p:txBody>
        </p:sp>
      </p:grpSp>
      <p:cxnSp>
        <p:nvCxnSpPr>
          <p:cNvPr id="16" name="Straight Arrow Connector 15"/>
          <p:cNvCxnSpPr/>
          <p:nvPr/>
        </p:nvCxnSpPr>
        <p:spPr>
          <a:xfrm flipH="1" flipV="1">
            <a:off x="2783632" y="3583188"/>
            <a:ext cx="504056" cy="854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87689" y="4365984"/>
            <a:ext cx="1468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change caused by transaction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8040217" y="3505974"/>
            <a:ext cx="292259" cy="932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45393" y="4320749"/>
            <a:ext cx="3379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change caused by transaction</a:t>
            </a:r>
          </a:p>
        </p:txBody>
      </p:sp>
    </p:spTree>
    <p:extLst>
      <p:ext uri="{BB962C8B-B14F-4D97-AF65-F5344CB8AC3E}">
        <p14:creationId xmlns:p14="http://schemas.microsoft.com/office/powerpoint/2010/main" val="933325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 -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398034" cy="4023360"/>
          </a:xfrm>
        </p:spPr>
        <p:txBody>
          <a:bodyPr>
            <a:normAutofit/>
          </a:bodyPr>
          <a:lstStyle/>
          <a:p>
            <a:r>
              <a:rPr lang="en-GB" dirty="0"/>
              <a:t>A correct execution of the transaction must take the database from one consistent state to another </a:t>
            </a:r>
          </a:p>
          <a:p>
            <a:pPr lvl="1"/>
            <a:r>
              <a:rPr lang="en-GB" dirty="0"/>
              <a:t>Weak version: Transactions may not violate constraints (typical definition)</a:t>
            </a:r>
          </a:p>
          <a:p>
            <a:pPr lvl="1"/>
            <a:r>
              <a:rPr lang="en-GB" dirty="0"/>
              <a:t>Strong version: It should correctly transform the database state to reflect the effect of a real world event (ISO/IEC 10026-1:1998)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960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1: Concurrency</a:t>
            </a:r>
            <a:br>
              <a:rPr lang="en-US" dirty="0"/>
            </a:br>
            <a:r>
              <a:rPr lang="en-US" sz="2400" dirty="0"/>
              <a:t>(from the introduction to transactions video)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7" name="TextBox 46"/>
          <p:cNvSpPr txBox="1"/>
          <p:nvPr/>
        </p:nvSpPr>
        <p:spPr>
          <a:xfrm>
            <a:off x="693697" y="306823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3697" y="390753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1908" y="4528091"/>
            <a:ext cx="5112568" cy="18002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  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’available’;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95809" y="4532279"/>
            <a:ext cx="4970264" cy="165359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’occupied’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 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’14B’;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05770" y="1781481"/>
            <a:ext cx="5509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Flights</a:t>
            </a:r>
            <a:r>
              <a:rPr lang="en-US" sz="2400" dirty="0"/>
              <a:t>(</a:t>
            </a:r>
            <a:r>
              <a:rPr lang="en-US" sz="2400" dirty="0" err="1"/>
              <a:t>flightNo</a:t>
            </a:r>
            <a:r>
              <a:rPr lang="en-US" sz="2400" dirty="0"/>
              <a:t>, date, </a:t>
            </a:r>
            <a:r>
              <a:rPr lang="en-US" sz="2400" dirty="0" err="1"/>
              <a:t>seatNo</a:t>
            </a:r>
            <a:r>
              <a:rPr lang="en-US" sz="2400" dirty="0"/>
              <a:t>, </a:t>
            </a:r>
            <a:r>
              <a:rPr lang="en-US" sz="2400" dirty="0" err="1"/>
              <a:t>seatStatus</a:t>
            </a:r>
            <a:r>
              <a:rPr lang="en-US" sz="2400" dirty="0"/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6975" y="2564180"/>
            <a:ext cx="9697369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074825" y="2680549"/>
            <a:ext cx="2942023" cy="1873895"/>
            <a:chOff x="2812956" y="2249224"/>
            <a:chExt cx="2942023" cy="1873895"/>
          </a:xfrm>
        </p:grpSpPr>
        <p:sp>
          <p:nvSpPr>
            <p:cNvPr id="71" name="TextBox 70"/>
            <p:cNvSpPr txBox="1"/>
            <p:nvPr/>
          </p:nvSpPr>
          <p:spPr>
            <a:xfrm>
              <a:off x="2812956" y="3415233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78" name="Straight Connector 77"/>
            <p:cNvCxnSpPr/>
            <p:nvPr/>
          </p:nvCxnSpPr>
          <p:spPr>
            <a:xfrm flipV="1">
              <a:off x="4283968" y="2402067"/>
              <a:ext cx="0" cy="1074141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283968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8142899" y="2676838"/>
            <a:ext cx="1790170" cy="1630804"/>
            <a:chOff x="6618899" y="2245514"/>
            <a:chExt cx="1790170" cy="1630804"/>
          </a:xfrm>
        </p:grpSpPr>
        <p:sp>
          <p:nvSpPr>
            <p:cNvPr id="51" name="TextBox 50"/>
            <p:cNvSpPr txBox="1"/>
            <p:nvPr/>
          </p:nvSpPr>
          <p:spPr>
            <a:xfrm>
              <a:off x="6618899" y="3476208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92" name="Straight Connector 91"/>
            <p:cNvCxnSpPr>
              <a:endCxn id="51" idx="0"/>
            </p:cNvCxnSpPr>
            <p:nvPr/>
          </p:nvCxnSpPr>
          <p:spPr>
            <a:xfrm>
              <a:off x="7513984" y="2402067"/>
              <a:ext cx="0" cy="1074141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7513984" y="224551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6990771" y="2680548"/>
            <a:ext cx="1790170" cy="787798"/>
            <a:chOff x="5466771" y="2249224"/>
            <a:chExt cx="1790170" cy="787798"/>
          </a:xfrm>
        </p:grpSpPr>
        <p:sp>
          <p:nvSpPr>
            <p:cNvPr id="52" name="TextBox 51"/>
            <p:cNvSpPr txBox="1"/>
            <p:nvPr/>
          </p:nvSpPr>
          <p:spPr>
            <a:xfrm>
              <a:off x="5466771" y="2636912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52" idx="0"/>
            </p:cNvCxnSpPr>
            <p:nvPr/>
          </p:nvCxnSpPr>
          <p:spPr>
            <a:xfrm>
              <a:off x="6361856" y="2389530"/>
              <a:ext cx="0" cy="247382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1555047" y="2689376"/>
            <a:ext cx="2942023" cy="1098941"/>
            <a:chOff x="1228780" y="2258051"/>
            <a:chExt cx="2942023" cy="1098941"/>
          </a:xfrm>
        </p:grpSpPr>
        <p:sp>
          <p:nvSpPr>
            <p:cNvPr id="29" name="TextBox 28"/>
            <p:cNvSpPr txBox="1"/>
            <p:nvPr/>
          </p:nvSpPr>
          <p:spPr>
            <a:xfrm>
              <a:off x="1228780" y="2649106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2699792" y="2258051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29" idx="0"/>
            </p:cNvCxnSpPr>
            <p:nvPr/>
          </p:nvCxnSpPr>
          <p:spPr>
            <a:xfrm flipV="1">
              <a:off x="2699792" y="2353682"/>
              <a:ext cx="0" cy="29542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ounded Rectangular Callout 105"/>
          <p:cNvSpPr/>
          <p:nvPr/>
        </p:nvSpPr>
        <p:spPr>
          <a:xfrm>
            <a:off x="7298794" y="1477769"/>
            <a:ext cx="3165363" cy="866888"/>
          </a:xfrm>
          <a:prstGeom prst="wedgeRoundRectCallout">
            <a:avLst>
              <a:gd name="adj1" fmla="val 5814"/>
              <a:gd name="adj2" fmla="val 88796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Might lead to an</a:t>
            </a:r>
            <a:br>
              <a:rPr lang="en-US" sz="2400" dirty="0"/>
            </a:br>
            <a:r>
              <a:rPr lang="en-US" sz="2400" dirty="0"/>
              <a:t>inconsistent database</a:t>
            </a:r>
          </a:p>
        </p:txBody>
      </p:sp>
    </p:spTree>
    <p:extLst>
      <p:ext uri="{BB962C8B-B14F-4D97-AF65-F5344CB8AC3E}">
        <p14:creationId xmlns:p14="http://schemas.microsoft.com/office/powerpoint/2010/main" val="3291937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3"/>
            <a:ext cx="10918251" cy="1450757"/>
          </a:xfrm>
        </p:spPr>
        <p:txBody>
          <a:bodyPr>
            <a:normAutofit/>
          </a:bodyPr>
          <a:lstStyle/>
          <a:p>
            <a:r>
              <a:rPr lang="en-US" dirty="0"/>
              <a:t>Problem 3: Concurrency </a:t>
            </a:r>
            <a:br>
              <a:rPr lang="en-US" dirty="0"/>
            </a:br>
            <a:r>
              <a:rPr lang="en-US" dirty="0"/>
              <a:t>&amp; Partial Execution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1767681" y="255232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75521" y="324760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2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981201" y="1904256"/>
            <a:ext cx="8463143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9593403" y="2016914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8256179" y="2020624"/>
            <a:ext cx="1696555" cy="1239590"/>
            <a:chOff x="5513581" y="2249224"/>
            <a:chExt cx="1696555" cy="1239590"/>
          </a:xfrm>
        </p:grpSpPr>
        <p:sp>
          <p:nvSpPr>
            <p:cNvPr id="52" name="TextBox 51"/>
            <p:cNvSpPr txBox="1"/>
            <p:nvPr/>
          </p:nvSpPr>
          <p:spPr>
            <a:xfrm>
              <a:off x="5513581" y="2780928"/>
              <a:ext cx="16965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F0"/>
                  </a:solidFill>
                </a:rPr>
                <a:t>Subtract £100 </a:t>
              </a:r>
              <a:br>
                <a:rPr lang="en-US" sz="2000" dirty="0">
                  <a:solidFill>
                    <a:srgbClr val="00B0F0"/>
                  </a:solidFill>
                </a:rPr>
              </a:br>
              <a:r>
                <a:rPr lang="en-US" sz="2000" dirty="0">
                  <a:solidFill>
                    <a:srgbClr val="00B0F0"/>
                  </a:solidFill>
                </a:rPr>
                <a:t>from ‘123’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52" idx="0"/>
            </p:cNvCxnSpPr>
            <p:nvPr/>
          </p:nvCxnSpPr>
          <p:spPr>
            <a:xfrm>
              <a:off x="6361859" y="2400197"/>
              <a:ext cx="0" cy="380731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7498861" y="1659796"/>
            <a:ext cx="899705" cy="1318980"/>
            <a:chOff x="6360258" y="1376998"/>
            <a:chExt cx="899705" cy="1318980"/>
          </a:xfrm>
        </p:grpSpPr>
        <p:sp>
          <p:nvSpPr>
            <p:cNvPr id="27" name="Lightning Bolt 26"/>
            <p:cNvSpPr/>
            <p:nvPr/>
          </p:nvSpPr>
          <p:spPr>
            <a:xfrm>
              <a:off x="6607852" y="2043867"/>
              <a:ext cx="652111" cy="652111"/>
            </a:xfrm>
            <a:prstGeom prst="lightningBol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6804248" y="1783933"/>
              <a:ext cx="0" cy="132899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360258" y="1376998"/>
              <a:ext cx="888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Failure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783632" y="2032668"/>
            <a:ext cx="1237838" cy="1227547"/>
            <a:chOff x="2080879" y="2738389"/>
            <a:chExt cx="1237838" cy="1227547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080879" y="3258050"/>
              <a:ext cx="12378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Add £</a:t>
              </a:r>
              <a: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  <a:t>100 </a:t>
              </a:r>
              <a:b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  <a:t>to </a:t>
              </a:r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’456’</a:t>
              </a:r>
            </a:p>
          </p:txBody>
        </p:sp>
        <p:cxnSp>
          <p:nvCxnSpPr>
            <p:cNvPr id="36" name="Straight Connector 35"/>
            <p:cNvCxnSpPr>
              <a:stCxn id="35" idx="0"/>
            </p:cNvCxnSpPr>
            <p:nvPr/>
          </p:nvCxnSpPr>
          <p:spPr>
            <a:xfrm flipH="1" flipV="1">
              <a:off x="2699792" y="2882406"/>
              <a:ext cx="6" cy="37564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5290210" y="2032668"/>
            <a:ext cx="1237838" cy="1892049"/>
            <a:chOff x="2080873" y="2738389"/>
            <a:chExt cx="1237838" cy="1892049"/>
          </a:xfrm>
        </p:grpSpPr>
        <p:cxnSp>
          <p:nvCxnSpPr>
            <p:cNvPr id="54" name="Straight Connector 5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2080873" y="3922552"/>
              <a:ext cx="12378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Add £100 </a:t>
              </a:r>
              <a:b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to ’789’</a:t>
              </a:r>
            </a:p>
          </p:txBody>
        </p:sp>
        <p:cxnSp>
          <p:nvCxnSpPr>
            <p:cNvPr id="57" name="Straight Connector 56"/>
            <p:cNvCxnSpPr>
              <a:stCxn id="55" idx="0"/>
            </p:cNvCxnSpPr>
            <p:nvPr/>
          </p:nvCxnSpPr>
          <p:spPr>
            <a:xfrm flipV="1">
              <a:off x="2699792" y="2882406"/>
              <a:ext cx="0" cy="1040146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6559686" y="2020624"/>
            <a:ext cx="1696555" cy="1904092"/>
            <a:chOff x="5513578" y="2249224"/>
            <a:chExt cx="1696555" cy="1904092"/>
          </a:xfrm>
        </p:grpSpPr>
        <p:sp>
          <p:nvSpPr>
            <p:cNvPr id="59" name="TextBox 58"/>
            <p:cNvSpPr txBox="1"/>
            <p:nvPr/>
          </p:nvSpPr>
          <p:spPr>
            <a:xfrm>
              <a:off x="5513578" y="3445430"/>
              <a:ext cx="16965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F0"/>
                  </a:solidFill>
                </a:rPr>
                <a:t>Subtract £100 </a:t>
              </a:r>
              <a:br>
                <a:rPr lang="en-US" sz="2000" dirty="0">
                  <a:solidFill>
                    <a:srgbClr val="00B0F0"/>
                  </a:solidFill>
                </a:rPr>
              </a:br>
              <a:r>
                <a:rPr lang="en-US" sz="2000" dirty="0">
                  <a:solidFill>
                    <a:srgbClr val="00B0F0"/>
                  </a:solidFill>
                </a:rPr>
                <a:t>from ‘456’</a:t>
              </a:r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endCxn id="59" idx="0"/>
            </p:cNvCxnSpPr>
            <p:nvPr/>
          </p:nvCxnSpPr>
          <p:spPr>
            <a:xfrm>
              <a:off x="6361856" y="2405283"/>
              <a:ext cx="0" cy="1040147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3863752" y="2028432"/>
            <a:ext cx="1375698" cy="1892049"/>
            <a:chOff x="2011946" y="2738389"/>
            <a:chExt cx="1375698" cy="1892049"/>
          </a:xfrm>
        </p:grpSpPr>
        <p:cxnSp>
          <p:nvCxnSpPr>
            <p:cNvPr id="74" name="Straight Connector 7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2011946" y="3922552"/>
              <a:ext cx="137569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Does ‘456’</a:t>
              </a:r>
              <a:b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</a:br>
              <a: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have £100?</a:t>
              </a:r>
            </a:p>
          </p:txBody>
        </p:sp>
        <p:cxnSp>
          <p:nvCxnSpPr>
            <p:cNvPr id="76" name="Straight Connector 75"/>
            <p:cNvCxnSpPr>
              <a:stCxn id="75" idx="0"/>
            </p:cNvCxnSpPr>
            <p:nvPr/>
          </p:nvCxnSpPr>
          <p:spPr>
            <a:xfrm flipV="1">
              <a:off x="2699795" y="2882406"/>
              <a:ext cx="0" cy="1040146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8655575" y="2303596"/>
            <a:ext cx="961161" cy="969349"/>
            <a:chOff x="6922443" y="2636912"/>
            <a:chExt cx="1198419" cy="1208628"/>
          </a:xfrm>
        </p:grpSpPr>
        <p:cxnSp>
          <p:nvCxnSpPr>
            <p:cNvPr id="79" name="Straight Connector 78"/>
            <p:cNvCxnSpPr/>
            <p:nvPr/>
          </p:nvCxnSpPr>
          <p:spPr>
            <a:xfrm flipH="1">
              <a:off x="6937781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6922443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1597ADF-FD19-45EB-9DFD-F52DD721A295}"/>
              </a:ext>
            </a:extLst>
          </p:cNvPr>
          <p:cNvSpPr/>
          <p:nvPr/>
        </p:nvSpPr>
        <p:spPr>
          <a:xfrm>
            <a:off x="144983" y="3880627"/>
            <a:ext cx="5135309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7A68D8-A312-4326-99BC-70C240E09584}"/>
              </a:ext>
            </a:extLst>
          </p:cNvPr>
          <p:cNvSpPr/>
          <p:nvPr/>
        </p:nvSpPr>
        <p:spPr>
          <a:xfrm>
            <a:off x="1113817" y="5191724"/>
            <a:ext cx="5112568" cy="10877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balance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	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	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229FBB-F267-43A1-BF79-F688FB5542CA}"/>
              </a:ext>
            </a:extLst>
          </p:cNvPr>
          <p:cNvSpPr/>
          <p:nvPr/>
        </p:nvSpPr>
        <p:spPr>
          <a:xfrm>
            <a:off x="3528328" y="4806645"/>
            <a:ext cx="5135309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789;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5EBF32-15B5-4ED7-8B6B-DB3642CE8AA7}"/>
              </a:ext>
            </a:extLst>
          </p:cNvPr>
          <p:cNvSpPr/>
          <p:nvPr/>
        </p:nvSpPr>
        <p:spPr>
          <a:xfrm>
            <a:off x="7273789" y="5434202"/>
            <a:ext cx="4877521" cy="919455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D0F67A-F060-4B0D-A9CA-2775E4F1726B}"/>
              </a:ext>
            </a:extLst>
          </p:cNvPr>
          <p:cNvSpPr/>
          <p:nvPr/>
        </p:nvSpPr>
        <p:spPr>
          <a:xfrm>
            <a:off x="6258753" y="4132601"/>
            <a:ext cx="4877521" cy="10591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</p:spTree>
    <p:extLst>
      <p:ext uri="{BB962C8B-B14F-4D97-AF65-F5344CB8AC3E}">
        <p14:creationId xmlns:p14="http://schemas.microsoft.com/office/powerpoint/2010/main" val="3989110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is tricky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From definition:</a:t>
            </a:r>
          </a:p>
          <a:p>
            <a:r>
              <a:rPr lang="en-GB" dirty="0"/>
              <a:t>A correct execution of the transaction must take the database from one consistent state to another </a:t>
            </a:r>
          </a:p>
          <a:p>
            <a:pPr lvl="1"/>
            <a:r>
              <a:rPr lang="en-GB" dirty="0"/>
              <a:t>Weak version: Transactions may not violate constraints</a:t>
            </a:r>
          </a:p>
          <a:p>
            <a:pPr lvl="1"/>
            <a:r>
              <a:rPr lang="en-GB" dirty="0"/>
              <a:t>Strong version: It should correctly transform the database state to reflect the effect of a real world event</a:t>
            </a:r>
          </a:p>
          <a:p>
            <a:pPr lvl="1"/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H="1">
            <a:off x="6727368" y="2850577"/>
            <a:ext cx="1622443" cy="19784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49811" y="2665911"/>
            <a:ext cx="66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Easy!</a:t>
            </a:r>
          </a:p>
        </p:txBody>
      </p:sp>
      <p:pic>
        <p:nvPicPr>
          <p:cNvPr id="1026" name="Picture 2" descr="mage result for clipart with three question marks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9753" y="3645222"/>
            <a:ext cx="1043608" cy="192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>
            <a:cxnSpLocks/>
          </p:cNvCxnSpPr>
          <p:nvPr/>
        </p:nvCxnSpPr>
        <p:spPr>
          <a:xfrm flipH="1" flipV="1">
            <a:off x="8218714" y="3484436"/>
            <a:ext cx="491039" cy="12027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4155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Transactions Preserve Consistency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Fundamental assumption: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dirty="0"/>
              <a:t>They produce one of two outcomes</a:t>
            </a:r>
          </a:p>
          <a:p>
            <a:pPr lvl="1"/>
            <a:r>
              <a:rPr lang="en-GB" dirty="0"/>
              <a:t>Commit (i.e. Successful)</a:t>
            </a:r>
          </a:p>
          <a:p>
            <a:pPr lvl="2"/>
            <a:r>
              <a:rPr lang="en-GB" dirty="0"/>
              <a:t>Execution was successful and database is left in a consistent state</a:t>
            </a:r>
          </a:p>
          <a:p>
            <a:pPr lvl="1"/>
            <a:r>
              <a:rPr lang="en-GB" dirty="0"/>
              <a:t>Abort (i.e. Failed)</a:t>
            </a:r>
          </a:p>
          <a:p>
            <a:pPr lvl="2"/>
            <a:r>
              <a:rPr lang="en-GB" dirty="0"/>
              <a:t>Execution was not successful and we need to restore the database to the state it was in before execution</a:t>
            </a:r>
          </a:p>
          <a:p>
            <a:r>
              <a:rPr lang="en-GB" dirty="0"/>
              <a:t>This implies that serial schedules are consistent!</a:t>
            </a:r>
          </a:p>
          <a:p>
            <a:pPr lvl="1"/>
            <a:r>
              <a:rPr lang="en-GB" dirty="0"/>
              <a:t>Or more generally, schedules that has changes the database in the same way as a serial schedule are Consistent – such schedules are called </a:t>
            </a:r>
            <a:r>
              <a:rPr lang="en-GB" b="1" i="1" dirty="0"/>
              <a:t>serializable</a:t>
            </a:r>
            <a:endParaRPr lang="en-GB" b="1" dirty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2483633" y="2234953"/>
            <a:ext cx="8064624" cy="103076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dirty="0"/>
              <a:t>Transactions (if run on their own) always transform a </a:t>
            </a:r>
            <a:r>
              <a:rPr lang="en-GB" sz="2400" i="1" dirty="0"/>
              <a:t>consistent</a:t>
            </a:r>
            <a:r>
              <a:rPr lang="en-GB" sz="2400" dirty="0"/>
              <a:t> database state into another </a:t>
            </a:r>
            <a:r>
              <a:rPr lang="en-GB" sz="2400" i="1" dirty="0"/>
              <a:t>consistent</a:t>
            </a:r>
            <a:r>
              <a:rPr lang="en-GB" sz="2400" dirty="0"/>
              <a:t> database state.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301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4596-74AC-4600-88B0-D9C7A0DE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-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C84C2-BC6C-440F-853B-C5EF7B66E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schedule satisfies isolation </a:t>
            </a:r>
            <a:r>
              <a:rPr lang="en-US" dirty="0" err="1"/>
              <a:t>iff</a:t>
            </a:r>
            <a:r>
              <a:rPr lang="en-US" dirty="0"/>
              <a:t> it is </a:t>
            </a:r>
            <a:r>
              <a:rPr lang="en-US" b="1" dirty="0"/>
              <a:t>serializable</a:t>
            </a:r>
            <a:r>
              <a:rPr lang="en-US" dirty="0"/>
              <a:t> (I.e. like last slide: the effect of a serializable schedule is the same as some serial schedule)</a:t>
            </a:r>
            <a:endParaRPr lang="en-GB" dirty="0"/>
          </a:p>
          <a:p>
            <a:pPr lvl="1"/>
            <a:r>
              <a:rPr lang="en-GB" dirty="0"/>
              <a:t>Note: consistency is not really defined by serializable, but in this course, we will consider serializable to imply consistency</a:t>
            </a:r>
          </a:p>
          <a:p>
            <a:pPr lvl="1"/>
            <a:r>
              <a:rPr lang="en-GB" dirty="0"/>
              <a:t>On the other hand, a schedule is serializable </a:t>
            </a:r>
            <a:r>
              <a:rPr lang="en-GB" dirty="0" err="1"/>
              <a:t>iff</a:t>
            </a:r>
            <a:r>
              <a:rPr lang="en-GB" dirty="0"/>
              <a:t> it satisfies isolation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84D2685-0293-4A55-984F-F0AF93B92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4586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Weakening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222" y="1845734"/>
            <a:ext cx="11094720" cy="4023360"/>
          </a:xfrm>
        </p:spPr>
        <p:txBody>
          <a:bodyPr>
            <a:normAutofit/>
          </a:bodyPr>
          <a:lstStyle/>
          <a:p>
            <a:r>
              <a:rPr lang="en-GB" dirty="0"/>
              <a:t>The SQL standard divides Isolation into how strongly you want it: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Read uncommitted (basically, not having Isolation at all): It is fine if you read data which has not been committed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Read committed: Everything you read must have been committed before you can see it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Repeatable read: … and If you read the same thing twice in a transaction, you must get the same return value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Serializable (formally, they also want that the earlier levels are satisfied, so it is a bit stronger)</a:t>
            </a:r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r>
              <a:rPr lang="en-GB" dirty="0"/>
              <a:t>You can decide:</a:t>
            </a:r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endParaRPr lang="en-GB" dirty="0"/>
          </a:p>
          <a:p>
            <a:pPr marL="201168" lvl="1" indent="0">
              <a:buNone/>
            </a:pPr>
            <a:endParaRPr lang="en-GB" i="1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Rounded Rectangular Callout 105">
            <a:extLst>
              <a:ext uri="{FF2B5EF4-FFF2-40B4-BE49-F238E27FC236}">
                <a16:creationId xmlns:a16="http://schemas.microsoft.com/office/drawing/2014/main" id="{0C91119A-A69E-405A-BE67-17EE4ADF833E}"/>
              </a:ext>
            </a:extLst>
          </p:cNvPr>
          <p:cNvSpPr/>
          <p:nvPr/>
        </p:nvSpPr>
        <p:spPr>
          <a:xfrm>
            <a:off x="5212484" y="3708429"/>
            <a:ext cx="3891720" cy="677299"/>
          </a:xfrm>
          <a:prstGeom prst="wedgeRoundRectCallout">
            <a:avLst>
              <a:gd name="adj1" fmla="val -32914"/>
              <a:gd name="adj2" fmla="val -87338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Isolation level 4 is the default meaning of Isolation</a:t>
            </a:r>
          </a:p>
        </p:txBody>
      </p:sp>
      <p:sp>
        <p:nvSpPr>
          <p:cNvPr id="8" name="Rounded Rectangular Callout 105">
            <a:extLst>
              <a:ext uri="{FF2B5EF4-FFF2-40B4-BE49-F238E27FC236}">
                <a16:creationId xmlns:a16="http://schemas.microsoft.com/office/drawing/2014/main" id="{6C0683F4-157E-42AF-987D-113478DDA8E3}"/>
              </a:ext>
            </a:extLst>
          </p:cNvPr>
          <p:cNvSpPr/>
          <p:nvPr/>
        </p:nvSpPr>
        <p:spPr>
          <a:xfrm>
            <a:off x="640175" y="3994094"/>
            <a:ext cx="3891720" cy="866888"/>
          </a:xfrm>
          <a:prstGeom prst="wedgeRoundRectCallout">
            <a:avLst>
              <a:gd name="adj1" fmla="val -32182"/>
              <a:gd name="adj2" fmla="val -110204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Some implementations can have more levels!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6FD9C6-D578-4D98-881B-72464A0CDAA6}"/>
              </a:ext>
            </a:extLst>
          </p:cNvPr>
          <p:cNvSpPr/>
          <p:nvPr/>
        </p:nvSpPr>
        <p:spPr>
          <a:xfrm>
            <a:off x="2942726" y="5156328"/>
            <a:ext cx="5904656" cy="1008112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SET TRANSACTION READ WRITE</a:t>
            </a:r>
            <a:br>
              <a:rPr lang="en-US" sz="2000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   ISOLATION LEVEL READ UNCOMMITTED;</a:t>
            </a:r>
          </a:p>
        </p:txBody>
      </p:sp>
      <p:sp>
        <p:nvSpPr>
          <p:cNvPr id="14" name="Rounded Rectangular Callout 105">
            <a:extLst>
              <a:ext uri="{FF2B5EF4-FFF2-40B4-BE49-F238E27FC236}">
                <a16:creationId xmlns:a16="http://schemas.microsoft.com/office/drawing/2014/main" id="{CE028934-3DB6-4EF9-A6F0-5D2C05D02BB5}"/>
              </a:ext>
            </a:extLst>
          </p:cNvPr>
          <p:cNvSpPr/>
          <p:nvPr/>
        </p:nvSpPr>
        <p:spPr>
          <a:xfrm>
            <a:off x="9241471" y="4524112"/>
            <a:ext cx="2950529" cy="1764586"/>
          </a:xfrm>
          <a:prstGeom prst="wedgeRoundRectCallout">
            <a:avLst>
              <a:gd name="adj1" fmla="val -70156"/>
              <a:gd name="adj2" fmla="val 20556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Alternately:</a:t>
            </a:r>
            <a:br>
              <a:rPr lang="en-US" sz="2400" dirty="0"/>
            </a:br>
            <a:r>
              <a:rPr lang="en-US" sz="2400" dirty="0"/>
              <a:t>READ COMMITTED,</a:t>
            </a:r>
            <a:br>
              <a:rPr lang="en-US" sz="2400" dirty="0"/>
            </a:br>
            <a:r>
              <a:rPr lang="en-US" sz="2400" dirty="0"/>
              <a:t>REPEATABLE  READ,</a:t>
            </a:r>
          </a:p>
          <a:p>
            <a:r>
              <a:rPr lang="en-US" sz="2400" dirty="0"/>
              <a:t>SERIALIZABLE </a:t>
            </a:r>
          </a:p>
        </p:txBody>
      </p:sp>
      <p:sp>
        <p:nvSpPr>
          <p:cNvPr id="15" name="Rounded Rectangular Callout 105">
            <a:extLst>
              <a:ext uri="{FF2B5EF4-FFF2-40B4-BE49-F238E27FC236}">
                <a16:creationId xmlns:a16="http://schemas.microsoft.com/office/drawing/2014/main" id="{5F5601E1-5130-4957-B58C-E614F7674098}"/>
              </a:ext>
            </a:extLst>
          </p:cNvPr>
          <p:cNvSpPr/>
          <p:nvPr/>
        </p:nvSpPr>
        <p:spPr>
          <a:xfrm>
            <a:off x="7158344" y="4778564"/>
            <a:ext cx="1832479" cy="866888"/>
          </a:xfrm>
          <a:prstGeom prst="wedgeRoundRectCallout">
            <a:avLst>
              <a:gd name="adj1" fmla="val -56224"/>
              <a:gd name="adj2" fmla="val 34402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Can also be:</a:t>
            </a:r>
          </a:p>
          <a:p>
            <a:pPr algn="ctr"/>
            <a:r>
              <a:rPr lang="en-US" sz="2400" dirty="0"/>
              <a:t>READ ONLY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637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1: Concurrency</a:t>
            </a:r>
            <a:br>
              <a:rPr lang="en-US" dirty="0"/>
            </a:br>
            <a:r>
              <a:rPr lang="en-US" sz="2400" dirty="0"/>
              <a:t>(from the introduction to transactions video)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47" name="TextBox 46"/>
          <p:cNvSpPr txBox="1"/>
          <p:nvPr/>
        </p:nvSpPr>
        <p:spPr>
          <a:xfrm>
            <a:off x="693697" y="306823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3697" y="390753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1908" y="4528091"/>
            <a:ext cx="5112568" cy="18002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  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’available’;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95809" y="4532279"/>
            <a:ext cx="4970264" cy="165359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’occupied’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 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’14B’;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05770" y="1781481"/>
            <a:ext cx="5509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Flights</a:t>
            </a:r>
            <a:r>
              <a:rPr lang="en-US" sz="2400" dirty="0"/>
              <a:t>(</a:t>
            </a:r>
            <a:r>
              <a:rPr lang="en-US" sz="2400" dirty="0" err="1"/>
              <a:t>flightNo</a:t>
            </a:r>
            <a:r>
              <a:rPr lang="en-US" sz="2400" dirty="0"/>
              <a:t>, date, </a:t>
            </a:r>
            <a:r>
              <a:rPr lang="en-US" sz="2400" dirty="0" err="1"/>
              <a:t>seatNo</a:t>
            </a:r>
            <a:r>
              <a:rPr lang="en-US" sz="2400" dirty="0"/>
              <a:t>, </a:t>
            </a:r>
            <a:r>
              <a:rPr lang="en-US" sz="2400" dirty="0" err="1"/>
              <a:t>seatStatus</a:t>
            </a:r>
            <a:r>
              <a:rPr lang="en-US" sz="2400" dirty="0"/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6975" y="2564180"/>
            <a:ext cx="9697369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074825" y="2680549"/>
            <a:ext cx="2942023" cy="1873895"/>
            <a:chOff x="2812956" y="2249224"/>
            <a:chExt cx="2942023" cy="1873895"/>
          </a:xfrm>
        </p:grpSpPr>
        <p:sp>
          <p:nvSpPr>
            <p:cNvPr id="71" name="TextBox 70"/>
            <p:cNvSpPr txBox="1"/>
            <p:nvPr/>
          </p:nvSpPr>
          <p:spPr>
            <a:xfrm>
              <a:off x="2812956" y="3415233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78" name="Straight Connector 77"/>
            <p:cNvCxnSpPr/>
            <p:nvPr/>
          </p:nvCxnSpPr>
          <p:spPr>
            <a:xfrm flipV="1">
              <a:off x="4283968" y="2402067"/>
              <a:ext cx="0" cy="1074141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283968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8142899" y="2676838"/>
            <a:ext cx="1790170" cy="1630804"/>
            <a:chOff x="6618899" y="2245514"/>
            <a:chExt cx="1790170" cy="1630804"/>
          </a:xfrm>
        </p:grpSpPr>
        <p:sp>
          <p:nvSpPr>
            <p:cNvPr id="51" name="TextBox 50"/>
            <p:cNvSpPr txBox="1"/>
            <p:nvPr/>
          </p:nvSpPr>
          <p:spPr>
            <a:xfrm>
              <a:off x="6618899" y="3476208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92" name="Straight Connector 91"/>
            <p:cNvCxnSpPr>
              <a:endCxn id="51" idx="0"/>
            </p:cNvCxnSpPr>
            <p:nvPr/>
          </p:nvCxnSpPr>
          <p:spPr>
            <a:xfrm>
              <a:off x="7513984" y="2402067"/>
              <a:ext cx="0" cy="1074141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7513984" y="224551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6990771" y="2680548"/>
            <a:ext cx="1790170" cy="787798"/>
            <a:chOff x="5466771" y="2249224"/>
            <a:chExt cx="1790170" cy="787798"/>
          </a:xfrm>
        </p:grpSpPr>
        <p:sp>
          <p:nvSpPr>
            <p:cNvPr id="52" name="TextBox 51"/>
            <p:cNvSpPr txBox="1"/>
            <p:nvPr/>
          </p:nvSpPr>
          <p:spPr>
            <a:xfrm>
              <a:off x="5466771" y="2636912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52" idx="0"/>
            </p:cNvCxnSpPr>
            <p:nvPr/>
          </p:nvCxnSpPr>
          <p:spPr>
            <a:xfrm>
              <a:off x="6361856" y="2389530"/>
              <a:ext cx="0" cy="247382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1555047" y="2689376"/>
            <a:ext cx="2942023" cy="1098941"/>
            <a:chOff x="1228780" y="2258051"/>
            <a:chExt cx="2942023" cy="1098941"/>
          </a:xfrm>
        </p:grpSpPr>
        <p:sp>
          <p:nvSpPr>
            <p:cNvPr id="29" name="TextBox 28"/>
            <p:cNvSpPr txBox="1"/>
            <p:nvPr/>
          </p:nvSpPr>
          <p:spPr>
            <a:xfrm>
              <a:off x="1228780" y="2649106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2699792" y="2258051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29" idx="0"/>
            </p:cNvCxnSpPr>
            <p:nvPr/>
          </p:nvCxnSpPr>
          <p:spPr>
            <a:xfrm flipV="1">
              <a:off x="2699792" y="2353682"/>
              <a:ext cx="0" cy="29542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ounded Rectangular Callout 105"/>
          <p:cNvSpPr/>
          <p:nvPr/>
        </p:nvSpPr>
        <p:spPr>
          <a:xfrm>
            <a:off x="7298794" y="1477769"/>
            <a:ext cx="3165363" cy="866888"/>
          </a:xfrm>
          <a:prstGeom prst="wedgeRoundRectCallout">
            <a:avLst>
              <a:gd name="adj1" fmla="val 5814"/>
              <a:gd name="adj2" fmla="val 88796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Might lead to an</a:t>
            </a:r>
            <a:br>
              <a:rPr lang="en-US" sz="2400" dirty="0"/>
            </a:br>
            <a:r>
              <a:rPr lang="en-US" sz="2400" dirty="0"/>
              <a:t>inconsistent database</a:t>
            </a:r>
          </a:p>
        </p:txBody>
      </p:sp>
      <p:sp>
        <p:nvSpPr>
          <p:cNvPr id="3" name="Rounded Rectangular Callout 105">
            <a:extLst>
              <a:ext uri="{FF2B5EF4-FFF2-40B4-BE49-F238E27FC236}">
                <a16:creationId xmlns:a16="http://schemas.microsoft.com/office/drawing/2014/main" id="{8B9EE530-8FC4-4E80-B31E-985C49F778CB}"/>
              </a:ext>
            </a:extLst>
          </p:cNvPr>
          <p:cNvSpPr/>
          <p:nvPr/>
        </p:nvSpPr>
        <p:spPr>
          <a:xfrm>
            <a:off x="7668909" y="165031"/>
            <a:ext cx="3793749" cy="1154608"/>
          </a:xfrm>
          <a:prstGeom prst="wedgeRoundRectCallout">
            <a:avLst>
              <a:gd name="adj1" fmla="val -17715"/>
              <a:gd name="adj2" fmla="val 49402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schedule does satisfy READ COMMITTED, but is not SERIALISABLE</a:t>
            </a:r>
          </a:p>
        </p:txBody>
      </p:sp>
      <p:sp>
        <p:nvSpPr>
          <p:cNvPr id="16" name="Rounded Rectangular Callout 105">
            <a:extLst>
              <a:ext uri="{FF2B5EF4-FFF2-40B4-BE49-F238E27FC236}">
                <a16:creationId xmlns:a16="http://schemas.microsoft.com/office/drawing/2014/main" id="{9EC5F22A-5ADF-42EF-920B-E2F23BA57632}"/>
              </a:ext>
            </a:extLst>
          </p:cNvPr>
          <p:cNvSpPr/>
          <p:nvPr/>
        </p:nvSpPr>
        <p:spPr>
          <a:xfrm>
            <a:off x="2935705" y="58243"/>
            <a:ext cx="4255863" cy="854884"/>
          </a:xfrm>
          <a:prstGeom prst="wedgeRoundRectCallout">
            <a:avLst>
              <a:gd name="adj1" fmla="val 63083"/>
              <a:gd name="adj2" fmla="val 36981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REPEATABLE READ depends on implementation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166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3 (Concurrency </a:t>
            </a:r>
            <a:br>
              <a:rPr lang="en-US" dirty="0"/>
            </a:br>
            <a:r>
              <a:rPr lang="en-US" dirty="0"/>
              <a:t>&amp; Partial Execution)</a:t>
            </a:r>
            <a:br>
              <a:rPr lang="en-US" dirty="0"/>
            </a:br>
            <a:r>
              <a:rPr lang="en-US" sz="2400" dirty="0"/>
              <a:t>(from good schedules/transactions video)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1767681" y="255232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75521" y="324760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2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981201" y="1904256"/>
            <a:ext cx="8463143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9593403" y="2016914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8256179" y="2020624"/>
            <a:ext cx="1696555" cy="1239590"/>
            <a:chOff x="5513581" y="2249224"/>
            <a:chExt cx="1696555" cy="1239590"/>
          </a:xfrm>
        </p:grpSpPr>
        <p:sp>
          <p:nvSpPr>
            <p:cNvPr id="52" name="TextBox 51"/>
            <p:cNvSpPr txBox="1"/>
            <p:nvPr/>
          </p:nvSpPr>
          <p:spPr>
            <a:xfrm>
              <a:off x="5513581" y="2780928"/>
              <a:ext cx="16965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F0"/>
                  </a:solidFill>
                </a:rPr>
                <a:t>Subtract £100 </a:t>
              </a:r>
              <a:br>
                <a:rPr lang="en-US" sz="2000" dirty="0">
                  <a:solidFill>
                    <a:srgbClr val="00B0F0"/>
                  </a:solidFill>
                </a:rPr>
              </a:br>
              <a:r>
                <a:rPr lang="en-US" sz="2000" dirty="0">
                  <a:solidFill>
                    <a:srgbClr val="00B0F0"/>
                  </a:solidFill>
                </a:rPr>
                <a:t>from ‘123’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52" idx="0"/>
            </p:cNvCxnSpPr>
            <p:nvPr/>
          </p:nvCxnSpPr>
          <p:spPr>
            <a:xfrm>
              <a:off x="6361859" y="2400197"/>
              <a:ext cx="0" cy="380731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7498861" y="1659796"/>
            <a:ext cx="899705" cy="1318980"/>
            <a:chOff x="6360258" y="1376998"/>
            <a:chExt cx="899705" cy="1318980"/>
          </a:xfrm>
        </p:grpSpPr>
        <p:sp>
          <p:nvSpPr>
            <p:cNvPr id="27" name="Lightning Bolt 26"/>
            <p:cNvSpPr/>
            <p:nvPr/>
          </p:nvSpPr>
          <p:spPr>
            <a:xfrm>
              <a:off x="6607852" y="2043867"/>
              <a:ext cx="652111" cy="652111"/>
            </a:xfrm>
            <a:prstGeom prst="lightningBol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6804248" y="1783933"/>
              <a:ext cx="0" cy="132899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360258" y="1376998"/>
              <a:ext cx="888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Failure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783632" y="2032668"/>
            <a:ext cx="1237838" cy="1227547"/>
            <a:chOff x="2080879" y="2738389"/>
            <a:chExt cx="1237838" cy="1227547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080879" y="3258050"/>
              <a:ext cx="12378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Add £</a:t>
              </a:r>
              <a: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  <a:t>100 </a:t>
              </a:r>
              <a:b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  <a:t>to </a:t>
              </a:r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’456’</a:t>
              </a:r>
            </a:p>
          </p:txBody>
        </p:sp>
        <p:cxnSp>
          <p:nvCxnSpPr>
            <p:cNvPr id="36" name="Straight Connector 35"/>
            <p:cNvCxnSpPr>
              <a:stCxn id="35" idx="0"/>
            </p:cNvCxnSpPr>
            <p:nvPr/>
          </p:nvCxnSpPr>
          <p:spPr>
            <a:xfrm flipH="1" flipV="1">
              <a:off x="2699792" y="2882406"/>
              <a:ext cx="6" cy="37564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5290210" y="2032668"/>
            <a:ext cx="1237838" cy="1892049"/>
            <a:chOff x="2080873" y="2738389"/>
            <a:chExt cx="1237838" cy="1892049"/>
          </a:xfrm>
        </p:grpSpPr>
        <p:cxnSp>
          <p:nvCxnSpPr>
            <p:cNvPr id="54" name="Straight Connector 5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2080873" y="3922552"/>
              <a:ext cx="12378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Add £100 </a:t>
              </a:r>
              <a:b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to ’789’</a:t>
              </a:r>
            </a:p>
          </p:txBody>
        </p:sp>
        <p:cxnSp>
          <p:nvCxnSpPr>
            <p:cNvPr id="57" name="Straight Connector 56"/>
            <p:cNvCxnSpPr>
              <a:stCxn id="55" idx="0"/>
            </p:cNvCxnSpPr>
            <p:nvPr/>
          </p:nvCxnSpPr>
          <p:spPr>
            <a:xfrm flipV="1">
              <a:off x="2699792" y="2882406"/>
              <a:ext cx="0" cy="1040146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6559686" y="2020624"/>
            <a:ext cx="1696555" cy="1904092"/>
            <a:chOff x="5513578" y="2249224"/>
            <a:chExt cx="1696555" cy="1904092"/>
          </a:xfrm>
        </p:grpSpPr>
        <p:sp>
          <p:nvSpPr>
            <p:cNvPr id="59" name="TextBox 58"/>
            <p:cNvSpPr txBox="1"/>
            <p:nvPr/>
          </p:nvSpPr>
          <p:spPr>
            <a:xfrm>
              <a:off x="5513578" y="3445430"/>
              <a:ext cx="16965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F0"/>
                  </a:solidFill>
                </a:rPr>
                <a:t>Subtract £100 </a:t>
              </a:r>
              <a:br>
                <a:rPr lang="en-US" sz="2000" dirty="0">
                  <a:solidFill>
                    <a:srgbClr val="00B0F0"/>
                  </a:solidFill>
                </a:rPr>
              </a:br>
              <a:r>
                <a:rPr lang="en-US" sz="2000" dirty="0">
                  <a:solidFill>
                    <a:srgbClr val="00B0F0"/>
                  </a:solidFill>
                </a:rPr>
                <a:t>from ‘456’</a:t>
              </a:r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endCxn id="59" idx="0"/>
            </p:cNvCxnSpPr>
            <p:nvPr/>
          </p:nvCxnSpPr>
          <p:spPr>
            <a:xfrm>
              <a:off x="6361856" y="2405283"/>
              <a:ext cx="0" cy="1040147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3863752" y="2028432"/>
            <a:ext cx="1375698" cy="1892049"/>
            <a:chOff x="2011946" y="2738389"/>
            <a:chExt cx="1375698" cy="1892049"/>
          </a:xfrm>
        </p:grpSpPr>
        <p:cxnSp>
          <p:nvCxnSpPr>
            <p:cNvPr id="74" name="Straight Connector 7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2011946" y="3922552"/>
              <a:ext cx="137569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Does ‘456’</a:t>
              </a:r>
              <a:b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</a:br>
              <a: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have £100?</a:t>
              </a:r>
            </a:p>
          </p:txBody>
        </p:sp>
        <p:cxnSp>
          <p:nvCxnSpPr>
            <p:cNvPr id="76" name="Straight Connector 75"/>
            <p:cNvCxnSpPr>
              <a:stCxn id="75" idx="0"/>
            </p:cNvCxnSpPr>
            <p:nvPr/>
          </p:nvCxnSpPr>
          <p:spPr>
            <a:xfrm flipV="1">
              <a:off x="2699795" y="2882406"/>
              <a:ext cx="0" cy="1040146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8655575" y="2303596"/>
            <a:ext cx="961161" cy="969349"/>
            <a:chOff x="6922443" y="2636912"/>
            <a:chExt cx="1198419" cy="1208628"/>
          </a:xfrm>
        </p:grpSpPr>
        <p:cxnSp>
          <p:nvCxnSpPr>
            <p:cNvPr id="79" name="Straight Connector 78"/>
            <p:cNvCxnSpPr/>
            <p:nvPr/>
          </p:nvCxnSpPr>
          <p:spPr>
            <a:xfrm flipH="1">
              <a:off x="6937781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6922443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1597ADF-FD19-45EB-9DFD-F52DD721A295}"/>
              </a:ext>
            </a:extLst>
          </p:cNvPr>
          <p:cNvSpPr/>
          <p:nvPr/>
        </p:nvSpPr>
        <p:spPr>
          <a:xfrm>
            <a:off x="144983" y="3880627"/>
            <a:ext cx="5135309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7A68D8-A312-4326-99BC-70C240E09584}"/>
              </a:ext>
            </a:extLst>
          </p:cNvPr>
          <p:cNvSpPr/>
          <p:nvPr/>
        </p:nvSpPr>
        <p:spPr>
          <a:xfrm>
            <a:off x="1113817" y="5191724"/>
            <a:ext cx="5112568" cy="10877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balance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	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	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229FBB-F267-43A1-BF79-F688FB5542CA}"/>
              </a:ext>
            </a:extLst>
          </p:cNvPr>
          <p:cNvSpPr/>
          <p:nvPr/>
        </p:nvSpPr>
        <p:spPr>
          <a:xfrm>
            <a:off x="3528328" y="4806645"/>
            <a:ext cx="5135309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789;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5EBF32-15B5-4ED7-8B6B-DB3642CE8AA7}"/>
              </a:ext>
            </a:extLst>
          </p:cNvPr>
          <p:cNvSpPr/>
          <p:nvPr/>
        </p:nvSpPr>
        <p:spPr>
          <a:xfrm>
            <a:off x="7273789" y="5434202"/>
            <a:ext cx="4877521" cy="919455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D0F67A-F060-4B0D-A9CA-2775E4F1726B}"/>
              </a:ext>
            </a:extLst>
          </p:cNvPr>
          <p:cNvSpPr/>
          <p:nvPr/>
        </p:nvSpPr>
        <p:spPr>
          <a:xfrm>
            <a:off x="6258753" y="4132601"/>
            <a:ext cx="4877521" cy="10591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sp>
        <p:nvSpPr>
          <p:cNvPr id="42" name="Rounded Rectangular Callout 105">
            <a:extLst>
              <a:ext uri="{FF2B5EF4-FFF2-40B4-BE49-F238E27FC236}">
                <a16:creationId xmlns:a16="http://schemas.microsoft.com/office/drawing/2014/main" id="{864CCEA8-9A31-45A2-B89D-00C0032927B3}"/>
              </a:ext>
            </a:extLst>
          </p:cNvPr>
          <p:cNvSpPr/>
          <p:nvPr/>
        </p:nvSpPr>
        <p:spPr>
          <a:xfrm>
            <a:off x="9787963" y="2379716"/>
            <a:ext cx="2562963" cy="1726070"/>
          </a:xfrm>
          <a:prstGeom prst="wedgeRoundRectCallout">
            <a:avLst>
              <a:gd name="adj1" fmla="val -17715"/>
              <a:gd name="adj2" fmla="val 49402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schedule does satisfy READ UNCOMMITTED, but not READ COMMITTED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566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 - 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Once a transaction commits and changes the database, these changes cannot be lost because of subsequent failure </a:t>
            </a:r>
          </a:p>
          <a:p>
            <a:pPr lvl="1"/>
            <a:r>
              <a:rPr lang="en-GB" dirty="0"/>
              <a:t>The effect of a transaction on the database should not be lost after the commit point</a:t>
            </a:r>
          </a:p>
          <a:p>
            <a:pPr lvl="2"/>
            <a:r>
              <a:rPr lang="en-GB" dirty="0"/>
              <a:t>But could be overwritten by a later update</a:t>
            </a:r>
          </a:p>
          <a:p>
            <a:pPr lvl="1"/>
            <a:r>
              <a:rPr lang="en-GB" dirty="0"/>
              <a:t>We </a:t>
            </a:r>
            <a:r>
              <a:rPr lang="en-GB" b="1" dirty="0"/>
              <a:t>REDO</a:t>
            </a:r>
            <a:r>
              <a:rPr lang="en-GB" dirty="0"/>
              <a:t> the transaction if there are any problems after the update</a:t>
            </a:r>
          </a:p>
          <a:p>
            <a:pPr lvl="1"/>
            <a:r>
              <a:rPr lang="en-GB" dirty="0"/>
              <a:t>Durability deals with things like media failure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17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339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3 (Concurrency &amp; </a:t>
            </a:r>
            <a:br>
              <a:rPr lang="en-US" dirty="0"/>
            </a:br>
            <a:r>
              <a:rPr lang="en-US" dirty="0"/>
              <a:t>Partial Execution)</a:t>
            </a:r>
            <a:br>
              <a:rPr lang="en-US" dirty="0"/>
            </a:br>
            <a:r>
              <a:rPr lang="en-US" sz="2400" dirty="0"/>
              <a:t>(from good schedules/transactions video)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1767681" y="255232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75521" y="324760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2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981201" y="1904256"/>
            <a:ext cx="8463143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9593403" y="2016914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8256179" y="2020624"/>
            <a:ext cx="1696555" cy="1239590"/>
            <a:chOff x="5513581" y="2249224"/>
            <a:chExt cx="1696555" cy="1239590"/>
          </a:xfrm>
        </p:grpSpPr>
        <p:sp>
          <p:nvSpPr>
            <p:cNvPr id="52" name="TextBox 51"/>
            <p:cNvSpPr txBox="1"/>
            <p:nvPr/>
          </p:nvSpPr>
          <p:spPr>
            <a:xfrm>
              <a:off x="5513581" y="2780928"/>
              <a:ext cx="16965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F0"/>
                  </a:solidFill>
                </a:rPr>
                <a:t>Subtract £100 </a:t>
              </a:r>
              <a:br>
                <a:rPr lang="en-US" sz="2000" dirty="0">
                  <a:solidFill>
                    <a:srgbClr val="00B0F0"/>
                  </a:solidFill>
                </a:rPr>
              </a:br>
              <a:r>
                <a:rPr lang="en-US" sz="2000" dirty="0">
                  <a:solidFill>
                    <a:srgbClr val="00B0F0"/>
                  </a:solidFill>
                </a:rPr>
                <a:t>from ‘123’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52" idx="0"/>
            </p:cNvCxnSpPr>
            <p:nvPr/>
          </p:nvCxnSpPr>
          <p:spPr>
            <a:xfrm>
              <a:off x="6361859" y="2400197"/>
              <a:ext cx="0" cy="380731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7498861" y="1659796"/>
            <a:ext cx="899705" cy="1318980"/>
            <a:chOff x="6360258" y="1376998"/>
            <a:chExt cx="899705" cy="1318980"/>
          </a:xfrm>
        </p:grpSpPr>
        <p:sp>
          <p:nvSpPr>
            <p:cNvPr id="27" name="Lightning Bolt 26"/>
            <p:cNvSpPr/>
            <p:nvPr/>
          </p:nvSpPr>
          <p:spPr>
            <a:xfrm>
              <a:off x="6607852" y="2043867"/>
              <a:ext cx="652111" cy="652111"/>
            </a:xfrm>
            <a:prstGeom prst="lightningBol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6804248" y="1783933"/>
              <a:ext cx="0" cy="132899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360258" y="1376998"/>
              <a:ext cx="888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Failure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783632" y="2032668"/>
            <a:ext cx="1237838" cy="1227547"/>
            <a:chOff x="2080879" y="2738389"/>
            <a:chExt cx="1237838" cy="1227547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080879" y="3258050"/>
              <a:ext cx="12378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Add £</a:t>
              </a:r>
              <a: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  <a:t>100 </a:t>
              </a:r>
              <a:b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US" sz="2000">
                  <a:solidFill>
                    <a:schemeClr val="accent3">
                      <a:lumMod val="75000"/>
                    </a:schemeClr>
                  </a:solidFill>
                </a:rPr>
                <a:t>to </a:t>
              </a:r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’456’</a:t>
              </a:r>
            </a:p>
          </p:txBody>
        </p:sp>
        <p:cxnSp>
          <p:nvCxnSpPr>
            <p:cNvPr id="36" name="Straight Connector 35"/>
            <p:cNvCxnSpPr>
              <a:stCxn id="35" idx="0"/>
            </p:cNvCxnSpPr>
            <p:nvPr/>
          </p:nvCxnSpPr>
          <p:spPr>
            <a:xfrm flipH="1" flipV="1">
              <a:off x="2699792" y="2882406"/>
              <a:ext cx="6" cy="37564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5290210" y="2032668"/>
            <a:ext cx="1237838" cy="1892049"/>
            <a:chOff x="2080873" y="2738389"/>
            <a:chExt cx="1237838" cy="1892049"/>
          </a:xfrm>
        </p:grpSpPr>
        <p:cxnSp>
          <p:nvCxnSpPr>
            <p:cNvPr id="54" name="Straight Connector 5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2080873" y="3922552"/>
              <a:ext cx="12378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Add £100 </a:t>
              </a:r>
              <a:b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to ’789’</a:t>
              </a:r>
            </a:p>
          </p:txBody>
        </p:sp>
        <p:cxnSp>
          <p:nvCxnSpPr>
            <p:cNvPr id="57" name="Straight Connector 56"/>
            <p:cNvCxnSpPr>
              <a:stCxn id="55" idx="0"/>
            </p:cNvCxnSpPr>
            <p:nvPr/>
          </p:nvCxnSpPr>
          <p:spPr>
            <a:xfrm flipV="1">
              <a:off x="2699792" y="2882406"/>
              <a:ext cx="0" cy="1040146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6559686" y="2020624"/>
            <a:ext cx="1696555" cy="1904092"/>
            <a:chOff x="5513578" y="2249224"/>
            <a:chExt cx="1696555" cy="1904092"/>
          </a:xfrm>
        </p:grpSpPr>
        <p:sp>
          <p:nvSpPr>
            <p:cNvPr id="59" name="TextBox 58"/>
            <p:cNvSpPr txBox="1"/>
            <p:nvPr/>
          </p:nvSpPr>
          <p:spPr>
            <a:xfrm>
              <a:off x="5513578" y="3445430"/>
              <a:ext cx="16965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F0"/>
                  </a:solidFill>
                </a:rPr>
                <a:t>Subtract £100 </a:t>
              </a:r>
              <a:br>
                <a:rPr lang="en-US" sz="2000" dirty="0">
                  <a:solidFill>
                    <a:srgbClr val="00B0F0"/>
                  </a:solidFill>
                </a:rPr>
              </a:br>
              <a:r>
                <a:rPr lang="en-US" sz="2000" dirty="0">
                  <a:solidFill>
                    <a:srgbClr val="00B0F0"/>
                  </a:solidFill>
                </a:rPr>
                <a:t>from ‘456’</a:t>
              </a:r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endCxn id="59" idx="0"/>
            </p:cNvCxnSpPr>
            <p:nvPr/>
          </p:nvCxnSpPr>
          <p:spPr>
            <a:xfrm>
              <a:off x="6361856" y="2405283"/>
              <a:ext cx="0" cy="1040147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3863752" y="2028432"/>
            <a:ext cx="1375698" cy="1892049"/>
            <a:chOff x="2011946" y="2738389"/>
            <a:chExt cx="1375698" cy="1892049"/>
          </a:xfrm>
        </p:grpSpPr>
        <p:cxnSp>
          <p:nvCxnSpPr>
            <p:cNvPr id="74" name="Straight Connector 73"/>
            <p:cNvCxnSpPr/>
            <p:nvPr/>
          </p:nvCxnSpPr>
          <p:spPr>
            <a:xfrm>
              <a:off x="2699792" y="2738389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2011946" y="3922552"/>
              <a:ext cx="137569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Does ‘456’</a:t>
              </a:r>
              <a:b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</a:br>
              <a:r>
                <a:rPr lang="en-US" sz="2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have £100?</a:t>
              </a:r>
            </a:p>
          </p:txBody>
        </p:sp>
        <p:cxnSp>
          <p:nvCxnSpPr>
            <p:cNvPr id="76" name="Straight Connector 75"/>
            <p:cNvCxnSpPr>
              <a:stCxn id="75" idx="0"/>
            </p:cNvCxnSpPr>
            <p:nvPr/>
          </p:nvCxnSpPr>
          <p:spPr>
            <a:xfrm flipV="1">
              <a:off x="2699795" y="2882406"/>
              <a:ext cx="0" cy="1040146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8655575" y="2303596"/>
            <a:ext cx="961161" cy="969349"/>
            <a:chOff x="6922443" y="2636912"/>
            <a:chExt cx="1198419" cy="1208628"/>
          </a:xfrm>
        </p:grpSpPr>
        <p:cxnSp>
          <p:nvCxnSpPr>
            <p:cNvPr id="79" name="Straight Connector 78"/>
            <p:cNvCxnSpPr/>
            <p:nvPr/>
          </p:nvCxnSpPr>
          <p:spPr>
            <a:xfrm flipH="1">
              <a:off x="6937781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6922443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1597ADF-FD19-45EB-9DFD-F52DD721A295}"/>
              </a:ext>
            </a:extLst>
          </p:cNvPr>
          <p:cNvSpPr/>
          <p:nvPr/>
        </p:nvSpPr>
        <p:spPr>
          <a:xfrm>
            <a:off x="144983" y="3880627"/>
            <a:ext cx="5135309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7A68D8-A312-4326-99BC-70C240E09584}"/>
              </a:ext>
            </a:extLst>
          </p:cNvPr>
          <p:cNvSpPr/>
          <p:nvPr/>
        </p:nvSpPr>
        <p:spPr>
          <a:xfrm>
            <a:off x="1113817" y="5191724"/>
            <a:ext cx="5112568" cy="10877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balance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	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	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229FBB-F267-43A1-BF79-F688FB5542CA}"/>
              </a:ext>
            </a:extLst>
          </p:cNvPr>
          <p:cNvSpPr/>
          <p:nvPr/>
        </p:nvSpPr>
        <p:spPr>
          <a:xfrm>
            <a:off x="3528328" y="4806645"/>
            <a:ext cx="5135309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789;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5EBF32-15B5-4ED7-8B6B-DB3642CE8AA7}"/>
              </a:ext>
            </a:extLst>
          </p:cNvPr>
          <p:cNvSpPr/>
          <p:nvPr/>
        </p:nvSpPr>
        <p:spPr>
          <a:xfrm>
            <a:off x="7273789" y="5434202"/>
            <a:ext cx="4877521" cy="919455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D0F67A-F060-4B0D-A9CA-2775E4F1726B}"/>
              </a:ext>
            </a:extLst>
          </p:cNvPr>
          <p:cNvSpPr/>
          <p:nvPr/>
        </p:nvSpPr>
        <p:spPr>
          <a:xfrm>
            <a:off x="6258753" y="4132601"/>
            <a:ext cx="4877521" cy="10591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</p:spTree>
    <p:extLst>
      <p:ext uri="{BB962C8B-B14F-4D97-AF65-F5344CB8AC3E}">
        <p14:creationId xmlns:p14="http://schemas.microsoft.com/office/powerpoint/2010/main" val="1327446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02E6-EE76-4C97-8A1D-2A17672F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relational DBMS Components</a:t>
            </a:r>
            <a:br>
              <a:rPr lang="en-US" dirty="0"/>
            </a:br>
            <a:r>
              <a:rPr lang="en-US" sz="2400" dirty="0"/>
              <a:t>(part of a slide in the content video)</a:t>
            </a: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A650A-818A-47CD-80E1-A3E6CC0EF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AE3FE-CD61-4577-944C-D8FA05671FAC}"/>
              </a:ext>
            </a:extLst>
          </p:cNvPr>
          <p:cNvSpPr/>
          <p:nvPr/>
        </p:nvSpPr>
        <p:spPr>
          <a:xfrm>
            <a:off x="4586799" y="2276872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Transaction manager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CD5949-225B-43DC-9D9C-EFECB6BC1C38}"/>
              </a:ext>
            </a:extLst>
          </p:cNvPr>
          <p:cNvSpPr/>
          <p:nvPr/>
        </p:nvSpPr>
        <p:spPr>
          <a:xfrm>
            <a:off x="4589455" y="3188629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Logging and recovery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40663C-9658-4FB7-8B3C-9F8B3DA21FEB}"/>
              </a:ext>
            </a:extLst>
          </p:cNvPr>
          <p:cNvSpPr/>
          <p:nvPr/>
        </p:nvSpPr>
        <p:spPr>
          <a:xfrm>
            <a:off x="7147587" y="3181663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Concurrency control</a:t>
            </a:r>
            <a:endParaRPr lang="en-US" dirty="0"/>
          </a:p>
        </p:txBody>
      </p:sp>
      <p:sp>
        <p:nvSpPr>
          <p:cNvPr id="7" name="Can 12" descr="Storage (i.e. typically harddisk)">
            <a:extLst>
              <a:ext uri="{FF2B5EF4-FFF2-40B4-BE49-F238E27FC236}">
                <a16:creationId xmlns:a16="http://schemas.microsoft.com/office/drawing/2014/main" id="{FEB6E79A-A45E-4F26-8352-EBFE56E4DA58}"/>
              </a:ext>
            </a:extLst>
          </p:cNvPr>
          <p:cNvSpPr/>
          <p:nvPr/>
        </p:nvSpPr>
        <p:spPr>
          <a:xfrm>
            <a:off x="4705656" y="5155943"/>
            <a:ext cx="1512168" cy="115212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sp>
        <p:nvSpPr>
          <p:cNvPr id="8" name="Can 41" descr="Buffers (e.g. RAM)">
            <a:extLst>
              <a:ext uri="{FF2B5EF4-FFF2-40B4-BE49-F238E27FC236}">
                <a16:creationId xmlns:a16="http://schemas.microsoft.com/office/drawing/2014/main" id="{399E0C2E-7BCE-4687-8AF4-AE250064644E}"/>
              </a:ext>
            </a:extLst>
          </p:cNvPr>
          <p:cNvSpPr/>
          <p:nvPr/>
        </p:nvSpPr>
        <p:spPr>
          <a:xfrm>
            <a:off x="4705656" y="4348295"/>
            <a:ext cx="1512168" cy="73674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CC14A-D12B-4AFE-9E1A-F840D7E8F077}"/>
              </a:ext>
            </a:extLst>
          </p:cNvPr>
          <p:cNvSpPr txBox="1"/>
          <p:nvPr/>
        </p:nvSpPr>
        <p:spPr>
          <a:xfrm>
            <a:off x="4586799" y="1691971"/>
            <a:ext cx="174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User/application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E99C99-1E51-4E8C-8F69-B8E94ACD887F}"/>
              </a:ext>
            </a:extLst>
          </p:cNvPr>
          <p:cNvCxnSpPr>
            <a:cxnSpLocks/>
          </p:cNvCxnSpPr>
          <p:nvPr/>
        </p:nvCxnSpPr>
        <p:spPr>
          <a:xfrm>
            <a:off x="5486899" y="2038455"/>
            <a:ext cx="0" cy="23841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C25743-E989-436D-92A0-148F96F43290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5486899" y="2834641"/>
            <a:ext cx="2656" cy="35398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ACAC54-FA9A-4D4C-9911-08FE457D0309}"/>
              </a:ext>
            </a:extLst>
          </p:cNvPr>
          <p:cNvCxnSpPr/>
          <p:nvPr/>
        </p:nvCxnSpPr>
        <p:spPr>
          <a:xfrm>
            <a:off x="6412683" y="2834641"/>
            <a:ext cx="734904" cy="34702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9A697F-CD94-466B-B5DE-699C85C1ED4A}"/>
              </a:ext>
            </a:extLst>
          </p:cNvPr>
          <p:cNvCxnSpPr>
            <a:cxnSpLocks/>
          </p:cNvCxnSpPr>
          <p:nvPr/>
        </p:nvCxnSpPr>
        <p:spPr>
          <a:xfrm>
            <a:off x="5489555" y="3746397"/>
            <a:ext cx="0" cy="601898"/>
          </a:xfrm>
          <a:prstGeom prst="straightConnector1">
            <a:avLst/>
          </a:prstGeom>
          <a:ln w="1905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A37372E5-5490-4110-8714-1BF93B31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312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Transaction - ACID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We had two components in transaction management: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Concurrency control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Logging and recovery</a:t>
            </a:r>
          </a:p>
          <a:p>
            <a:r>
              <a:rPr lang="en-GB" dirty="0"/>
              <a:t>What components is used to satisfy ACID</a:t>
            </a:r>
          </a:p>
          <a:p>
            <a:r>
              <a:rPr lang="en-GB" b="1" dirty="0"/>
              <a:t>A: Atomicity</a:t>
            </a:r>
            <a:r>
              <a:rPr lang="en-GB" dirty="0"/>
              <a:t>	</a:t>
            </a:r>
          </a:p>
          <a:p>
            <a:pPr lvl="1"/>
            <a:r>
              <a:rPr lang="en-GB" dirty="0"/>
              <a:t>via Recovery Control (Logging and Recovery)</a:t>
            </a:r>
          </a:p>
          <a:p>
            <a:r>
              <a:rPr lang="en-GB" b="1" dirty="0"/>
              <a:t>C: Consistency </a:t>
            </a:r>
          </a:p>
          <a:p>
            <a:pPr lvl="1"/>
            <a:r>
              <a:rPr lang="en-GB" dirty="0"/>
              <a:t>via Scheduler – Concurrency Control</a:t>
            </a:r>
          </a:p>
          <a:p>
            <a:r>
              <a:rPr lang="en-GB" b="1" dirty="0"/>
              <a:t>I: Isolation </a:t>
            </a:r>
          </a:p>
          <a:p>
            <a:pPr lvl="1"/>
            <a:r>
              <a:rPr lang="en-GB" dirty="0"/>
              <a:t>via Scheduler – Concurrency Control	</a:t>
            </a:r>
          </a:p>
          <a:p>
            <a:r>
              <a:rPr lang="en-GB" b="1" dirty="0"/>
              <a:t>D: Durability </a:t>
            </a:r>
            <a:r>
              <a:rPr lang="en-GB" dirty="0"/>
              <a:t>(or permanency)</a:t>
            </a:r>
          </a:p>
          <a:p>
            <a:pPr lvl="1"/>
            <a:r>
              <a:rPr lang="en-GB" dirty="0"/>
              <a:t>via Recovery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20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962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581373" cy="4023360"/>
          </a:xfrm>
        </p:spPr>
        <p:txBody>
          <a:bodyPr>
            <a:normAutofit/>
          </a:bodyPr>
          <a:lstStyle/>
          <a:p>
            <a:r>
              <a:rPr lang="en-GB" dirty="0"/>
              <a:t>DBMS’s are expected to avoid certain issues</a:t>
            </a:r>
          </a:p>
          <a:p>
            <a:r>
              <a:rPr lang="en-GB" dirty="0"/>
              <a:t>Specifically, they should not violate the ‘ACID’ Properties:</a:t>
            </a:r>
          </a:p>
          <a:p>
            <a:r>
              <a:rPr lang="en-GB" b="1" dirty="0"/>
              <a:t>A: 	Atomicity – Everything or nothing</a:t>
            </a:r>
            <a:r>
              <a:rPr lang="en-GB" dirty="0"/>
              <a:t>	</a:t>
            </a:r>
          </a:p>
          <a:p>
            <a:r>
              <a:rPr lang="en-GB" b="1" dirty="0"/>
              <a:t>C: 	Consistency – somewhere between constraints are satisfied, up to matches the real world</a:t>
            </a:r>
          </a:p>
          <a:p>
            <a:r>
              <a:rPr lang="en-GB" b="1" dirty="0"/>
              <a:t>I: 	Isolation – The effect matches each transaction executing alone in some order</a:t>
            </a:r>
          </a:p>
          <a:p>
            <a:r>
              <a:rPr lang="en-GB" b="1" dirty="0"/>
              <a:t>D: 	Durability – Transactions that have finished does not later get undone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34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3|1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8|55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1|16.1|14.5|13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4|25.2|66.3|43|18.6|31.8|27.1|17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24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2|24.2|1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8|7.4|12.5|10.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1213</TotalTime>
  <Words>1704</Words>
  <Application>Microsoft Office PowerPoint</Application>
  <PresentationFormat>Widescreen</PresentationFormat>
  <Paragraphs>289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Calibri Light</vt:lpstr>
      <vt:lpstr>Courier New</vt:lpstr>
      <vt:lpstr>Retrospect</vt:lpstr>
      <vt:lpstr>ACID in details</vt:lpstr>
      <vt:lpstr>Overview of this video</vt:lpstr>
      <vt:lpstr>A - Atomicity</vt:lpstr>
      <vt:lpstr>A - Atomicity</vt:lpstr>
      <vt:lpstr>Problem 2: Partial Execution (from the introduction to transactions video)</vt:lpstr>
      <vt:lpstr>Problem 3 (Concurrency  &amp; Partial Execution) (from good schedules/transactions video)</vt:lpstr>
      <vt:lpstr>Atomicity is broken</vt:lpstr>
      <vt:lpstr>C - Consistency</vt:lpstr>
      <vt:lpstr>Problem 1: Concurrency (from the introduction to transactions video)</vt:lpstr>
      <vt:lpstr>Problem 3: Concurrency  &amp; Partial Execution</vt:lpstr>
      <vt:lpstr>Consistency is tricky</vt:lpstr>
      <vt:lpstr>Transactions Preserve Consistency</vt:lpstr>
      <vt:lpstr>I - Isolation</vt:lpstr>
      <vt:lpstr>Weakening isolation</vt:lpstr>
      <vt:lpstr>Problem 1: Concurrency (from the introduction to transactions video)</vt:lpstr>
      <vt:lpstr>Problem 3 (Concurrency  &amp; Partial Execution) (from good schedules/transactions video)</vt:lpstr>
      <vt:lpstr>D - Durability</vt:lpstr>
      <vt:lpstr>Problem 3 (Concurrency &amp;  Partial Execution) (from good schedules/transactions video)</vt:lpstr>
      <vt:lpstr>Some relational DBMS Components (part of a slide in the content video)</vt:lpstr>
      <vt:lpstr>Transaction - ACID Properties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ACID in details</dc:title>
  <dc:creator>Rasmus Ibsen-Jensen</dc:creator>
  <cp:lastModifiedBy>Rasmus Ibsen-Jensen</cp:lastModifiedBy>
  <cp:revision>16</cp:revision>
  <dcterms:created xsi:type="dcterms:W3CDTF">2020-10-24T18:22:26Z</dcterms:created>
  <dcterms:modified xsi:type="dcterms:W3CDTF">2021-10-09T02:30:06Z</dcterms:modified>
</cp:coreProperties>
</file>