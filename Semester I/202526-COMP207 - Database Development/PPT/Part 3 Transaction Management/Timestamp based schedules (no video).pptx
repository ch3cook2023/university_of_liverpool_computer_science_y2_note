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653" r:id="rId3"/>
    <p:sldId id="625" r:id="rId4"/>
    <p:sldId id="626" r:id="rId5"/>
    <p:sldId id="627" r:id="rId6"/>
    <p:sldId id="628" r:id="rId7"/>
    <p:sldId id="629" r:id="rId8"/>
    <p:sldId id="630" r:id="rId9"/>
    <p:sldId id="631" r:id="rId10"/>
    <p:sldId id="632" r:id="rId11"/>
    <p:sldId id="633" r:id="rId12"/>
    <p:sldId id="634" r:id="rId13"/>
    <p:sldId id="635" r:id="rId14"/>
    <p:sldId id="636" r:id="rId15"/>
    <p:sldId id="637" r:id="rId16"/>
    <p:sldId id="638" r:id="rId17"/>
    <p:sldId id="639" r:id="rId18"/>
    <p:sldId id="640" r:id="rId19"/>
    <p:sldId id="641" r:id="rId20"/>
    <p:sldId id="642" r:id="rId21"/>
    <p:sldId id="643" r:id="rId22"/>
    <p:sldId id="644" r:id="rId23"/>
    <p:sldId id="645" r:id="rId24"/>
    <p:sldId id="646" r:id="rId25"/>
    <p:sldId id="647" r:id="rId26"/>
    <p:sldId id="648" r:id="rId27"/>
    <p:sldId id="649" r:id="rId28"/>
    <p:sldId id="650" r:id="rId29"/>
    <p:sldId id="651" r:id="rId30"/>
    <p:sldId id="654" r:id="rId31"/>
    <p:sldId id="656" r:id="rId32"/>
    <p:sldId id="657" r:id="rId33"/>
    <p:sldId id="658" r:id="rId34"/>
    <p:sldId id="659" r:id="rId35"/>
    <p:sldId id="660" r:id="rId36"/>
    <p:sldId id="661" r:id="rId37"/>
    <p:sldId id="670" r:id="rId38"/>
    <p:sldId id="662" r:id="rId39"/>
    <p:sldId id="663" r:id="rId40"/>
    <p:sldId id="668" r:id="rId41"/>
    <p:sldId id="671" r:id="rId42"/>
    <p:sldId id="672" r:id="rId43"/>
    <p:sldId id="673" r:id="rId44"/>
    <p:sldId id="674" r:id="rId45"/>
    <p:sldId id="675" r:id="rId46"/>
    <p:sldId id="676" r:id="rId47"/>
    <p:sldId id="677" r:id="rId48"/>
    <p:sldId id="678" r:id="rId49"/>
    <p:sldId id="679" r:id="rId50"/>
    <p:sldId id="65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F4A8F-694C-4E72-B799-ED06330E0BB1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42D8-0983-41D1-B3F1-1ECEF5002B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62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36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991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55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60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73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41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12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26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89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86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43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65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ED76B1F-5172-4861-ADC3-432326FCF253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231D2B0-E2D4-41A5-B1DA-B71AC1083BE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56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B316-EAAD-4C35-8827-DFFD624E0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Timestamp based schedules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665C0-D2EE-48DF-AFBD-D36DFDAEFB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92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38C7-EC7F-4555-86AD-D83AE31D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2C4AD-D3AE-4DD8-890E-3DDDE7662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last video, we saw how we could add deadlock-prevention into our Strict 2PL system, by among other approaches, use time stamps</a:t>
            </a:r>
          </a:p>
          <a:p>
            <a:br>
              <a:rPr lang="en-US" dirty="0"/>
            </a:br>
            <a:r>
              <a:rPr lang="en-US" dirty="0"/>
              <a:t>This video, we try to make schedules that ensure no deadlocks directly, by using time-stamps!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406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approaches for deadlock prevention: </a:t>
            </a:r>
          </a:p>
          <a:p>
            <a:pPr lvl="1"/>
            <a:r>
              <a:rPr lang="en-US" b="1" dirty="0"/>
              <a:t>Detect deadlocks &amp; fix them</a:t>
            </a:r>
          </a:p>
          <a:p>
            <a:pPr lvl="1"/>
            <a:r>
              <a:rPr lang="en-US" b="1" dirty="0"/>
              <a:t>Enforce deadlock-free schedules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Rounded Rectangular Callout 4"/>
          <p:cNvSpPr/>
          <p:nvPr/>
        </p:nvSpPr>
        <p:spPr>
          <a:xfrm>
            <a:off x="5015880" y="2852937"/>
            <a:ext cx="2412600" cy="445255"/>
          </a:xfrm>
          <a:prstGeom prst="wedgeRoundRectCallout">
            <a:avLst>
              <a:gd name="adj1" fmla="val -36433"/>
              <a:gd name="adj2" fmla="val -777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Uses timestamps too!</a:t>
            </a:r>
            <a:endParaRPr lang="en-US" dirty="0"/>
          </a:p>
        </p:txBody>
      </p:sp>
      <p:pic>
        <p:nvPicPr>
          <p:cNvPr id="6" name="Picture 2" descr="nter image description here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44" t="28783" r="39829" b="29453"/>
          <a:stretch/>
        </p:blipFill>
        <p:spPr bwMode="auto">
          <a:xfrm>
            <a:off x="5213130" y="2014688"/>
            <a:ext cx="548640" cy="495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224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Schedule transactions so that the effect is the same as </a:t>
            </a:r>
            <a:r>
              <a:rPr lang="en-US" b="1" dirty="0"/>
              <a:t>executing each transaction instantaneously </a:t>
            </a:r>
            <a:r>
              <a:rPr lang="en-US" dirty="0"/>
              <a:t>when it is started.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1744" y="3356992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Idea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437706" y="4355812"/>
            <a:ext cx="7344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26146" y="435581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time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013770" y="4087494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40180" y="3637025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313598" y="4087494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02882" y="3632457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5165168" y="2800641"/>
            <a:ext cx="2952328" cy="648072"/>
          </a:xfrm>
          <a:prstGeom prst="wedgeRoundRectCallout">
            <a:avLst>
              <a:gd name="adj1" fmla="val -63998"/>
              <a:gd name="adj2" fmla="val 5248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Assume only one transaction starts at a time.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55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8" grpId="0"/>
      <p:bldP spid="10" grpId="0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 transactions so that the effect is the same as </a:t>
            </a:r>
            <a:r>
              <a:rPr lang="en-US" b="1" dirty="0"/>
              <a:t>executing each transaction instantaneously </a:t>
            </a:r>
            <a:br>
              <a:rPr lang="en-US" b="1" dirty="0"/>
            </a:br>
            <a:r>
              <a:rPr lang="en-US" dirty="0"/>
              <a:t>when it is started.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2472"/>
              </a:spcBef>
            </a:pPr>
            <a:r>
              <a:rPr lang="en-US" dirty="0"/>
              <a:t>Equivalent to serial schedule that has all transactions in the order of their start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2674" y="3356992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Idea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Rounded Rectangular Callout 5"/>
          <p:cNvSpPr/>
          <p:nvPr/>
        </p:nvSpPr>
        <p:spPr>
          <a:xfrm>
            <a:off x="5165168" y="2800641"/>
            <a:ext cx="2952328" cy="648072"/>
          </a:xfrm>
          <a:prstGeom prst="wedgeRoundRectCallout">
            <a:avLst>
              <a:gd name="adj1" fmla="val -63998"/>
              <a:gd name="adj2" fmla="val 5248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Assume only one transaction starts at a time.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437706" y="4355812"/>
            <a:ext cx="7344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26146" y="435581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time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013770" y="4087494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40180" y="3637025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313598" y="4087494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02882" y="3632457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351456" y="4087494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671405" y="4087494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97814" y="3625750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4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7300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Timestamp-Based Schedulers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3280054" y="2060848"/>
            <a:ext cx="2647620" cy="369332"/>
            <a:chOff x="1870594" y="2276871"/>
            <a:chExt cx="2647620" cy="369332"/>
          </a:xfrm>
        </p:grpSpPr>
        <p:sp>
          <p:nvSpPr>
            <p:cNvPr id="5" name="TextBox 4"/>
            <p:cNvSpPr txBox="1"/>
            <p:nvPr/>
          </p:nvSpPr>
          <p:spPr>
            <a:xfrm>
              <a:off x="1870594" y="2276871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446658" y="2276871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22722" y="2276871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98786" y="2276871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74850" y="2276871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dirty="0"/>
                <a:t>…</a:t>
              </a:r>
              <a:endParaRPr lang="en-US" baseline="-25000" dirty="0"/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3136038" y="2060848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136038" y="2492896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96277" y="3800646"/>
            <a:ext cx="1368152" cy="602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Scheduler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715025" y="1607869"/>
            <a:ext cx="2761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Transaction Manager</a:t>
            </a:r>
            <a:endParaRPr lang="en-US" sz="2000" dirty="0">
              <a:solidFill>
                <a:schemeClr val="tx2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980353" y="2564906"/>
            <a:ext cx="0" cy="1122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64605" y="2924944"/>
            <a:ext cx="99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requests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46213" y="270892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read(X)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442423" y="3131676"/>
            <a:ext cx="933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write(X)</a:t>
            </a:r>
            <a:endParaRPr lang="en-US" dirty="0"/>
          </a:p>
        </p:txBody>
      </p:sp>
      <p:cxnSp>
        <p:nvCxnSpPr>
          <p:cNvPr id="27" name="Straight Connector 26"/>
          <p:cNvCxnSpPr>
            <a:endCxn id="22" idx="1"/>
          </p:cNvCxnSpPr>
          <p:nvPr/>
        </p:nvCxnSpPr>
        <p:spPr>
          <a:xfrm flipV="1">
            <a:off x="6989616" y="2893586"/>
            <a:ext cx="456597" cy="103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3" idx="1"/>
          </p:cNvCxnSpPr>
          <p:nvPr/>
        </p:nvCxnSpPr>
        <p:spPr>
          <a:xfrm>
            <a:off x="6989616" y="3212976"/>
            <a:ext cx="452807" cy="103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15547" y="4917665"/>
            <a:ext cx="3729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</a:rPr>
              <a:t>Possible actions of the scheduler: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253" y="5297288"/>
            <a:ext cx="1628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Grant request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6469" y="5627537"/>
            <a:ext cx="2014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Abort transaction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90478" y="5957338"/>
            <a:ext cx="1999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Delay transaction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005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7" grpId="0"/>
      <p:bldP spid="22" grpId="0"/>
      <p:bldP spid="23" grpId="0"/>
      <p:bldP spid="41" grpId="0"/>
      <p:bldP spid="43" grpId="0"/>
      <p:bldP spid="44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Timestamps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transaction </a:t>
            </a:r>
            <a:r>
              <a:rPr lang="en-US" b="1" dirty="0"/>
              <a:t>T</a:t>
            </a:r>
            <a:r>
              <a:rPr lang="en-US" dirty="0"/>
              <a:t> is</a:t>
            </a:r>
            <a:r>
              <a:rPr lang="en-GB" dirty="0"/>
              <a:t> assigned a </a:t>
            </a:r>
            <a:r>
              <a:rPr lang="en-US" dirty="0"/>
              <a:t>unique integer </a:t>
            </a:r>
            <a:r>
              <a:rPr lang="en-US" b="1" dirty="0"/>
              <a:t>TS(T)</a:t>
            </a:r>
            <a:r>
              <a:rPr lang="en-US" dirty="0"/>
              <a:t> when it </a:t>
            </a:r>
            <a:r>
              <a:rPr lang="en-US" b="1" u="sng" dirty="0"/>
              <a:t>starts</a:t>
            </a:r>
            <a:r>
              <a:rPr lang="en-US" dirty="0"/>
              <a:t> (the </a:t>
            </a:r>
            <a:r>
              <a:rPr lang="en-US" b="1" dirty="0"/>
              <a:t>timestamp of T</a:t>
            </a:r>
            <a:r>
              <a:rPr lang="en-US" dirty="0"/>
              <a:t>).</a:t>
            </a:r>
          </a:p>
          <a:p>
            <a:r>
              <a:rPr lang="en-US" dirty="0"/>
              <a:t>If T</a:t>
            </a:r>
            <a:r>
              <a:rPr lang="en-US" baseline="-25000" dirty="0"/>
              <a:t>1</a:t>
            </a:r>
            <a:r>
              <a:rPr lang="en-US" dirty="0"/>
              <a:t> started earlier than T</a:t>
            </a:r>
            <a:r>
              <a:rPr lang="en-US" baseline="-25000" dirty="0"/>
              <a:t>2</a:t>
            </a:r>
            <a:r>
              <a:rPr lang="en-US" dirty="0"/>
              <a:t>, we require</a:t>
            </a:r>
            <a:r>
              <a:rPr lang="en-US" dirty="0">
                <a:sym typeface="Wingdings"/>
              </a:rPr>
              <a:t> </a:t>
            </a:r>
            <a:r>
              <a:rPr lang="en-US" b="1" dirty="0"/>
              <a:t>TS(T</a:t>
            </a:r>
            <a:r>
              <a:rPr lang="en-US" b="1" baseline="-25000" dirty="0"/>
              <a:t>1</a:t>
            </a:r>
            <a:r>
              <a:rPr lang="en-US" b="1" dirty="0"/>
              <a:t>) &lt; TS(T</a:t>
            </a:r>
            <a:r>
              <a:rPr lang="en-US" b="1" baseline="-25000" dirty="0"/>
              <a:t>2</a:t>
            </a:r>
            <a:r>
              <a:rPr lang="en-US" b="1" dirty="0"/>
              <a:t>)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spcBef>
                <a:spcPts val="2472"/>
              </a:spcBef>
            </a:pPr>
            <a:endParaRPr lang="en-US" dirty="0"/>
          </a:p>
          <a:p>
            <a:pPr>
              <a:spcBef>
                <a:spcPts val="2472"/>
              </a:spcBef>
            </a:pPr>
            <a:r>
              <a:rPr lang="en-US" dirty="0"/>
              <a:t>We assign a </a:t>
            </a:r>
            <a:r>
              <a:rPr lang="en-US" b="1" dirty="0"/>
              <a:t>new timestamp even after a restart</a:t>
            </a:r>
            <a:r>
              <a:rPr lang="en-US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9177150" y="465565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time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388710" y="4655653"/>
            <a:ext cx="7344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964774" y="4387335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28859" y="4810090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 = 1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264602" y="4387335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28687" y="4810090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 = 2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622409" y="4387335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86494" y="4810090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4</a:t>
            </a:r>
            <a:r>
              <a:rPr lang="en-US" dirty="0">
                <a:solidFill>
                  <a:schemeClr val="accent1"/>
                </a:solidFill>
              </a:rPr>
              <a:t>) = 4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8287170" y="4387335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51255" y="4810090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 = 5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7106250" y="4387335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91184" y="3936866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3886" y="3932298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818" y="3925591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4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1159" y="3921863"/>
            <a:ext cx="1370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is aborted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302" y="3916990"/>
            <a:ext cx="113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restarts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3886" y="3674893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 starts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8687" y="5075892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 = 3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5304702" y="3080458"/>
            <a:ext cx="2412600" cy="445255"/>
          </a:xfrm>
          <a:prstGeom prst="wedgeRoundRectCallout">
            <a:avLst>
              <a:gd name="adj1" fmla="val -36433"/>
              <a:gd name="adj2" fmla="val -777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“T</a:t>
            </a:r>
            <a:r>
              <a:rPr lang="en-US" baseline="-25000"/>
              <a:t>2</a:t>
            </a:r>
            <a:r>
              <a:rPr lang="en-US"/>
              <a:t> </a:t>
            </a:r>
            <a:r>
              <a:rPr lang="en-US" dirty="0"/>
              <a:t>is younger </a:t>
            </a:r>
            <a:r>
              <a:rPr lang="en-US"/>
              <a:t>than T</a:t>
            </a:r>
            <a:r>
              <a:rPr lang="en-US" baseline="-25000" dirty="0"/>
              <a:t>1</a:t>
            </a:r>
            <a:r>
              <a:rPr lang="en-US"/>
              <a:t>”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2711624" y="2852936"/>
            <a:ext cx="352839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Rounded Rectangular Callout 5">
            <a:extLst>
              <a:ext uri="{FF2B5EF4-FFF2-40B4-BE49-F238E27FC236}">
                <a16:creationId xmlns:a16="http://schemas.microsoft.com/office/drawing/2014/main" id="{2B46164E-C6CE-4DF2-A631-38E4E6515925}"/>
              </a:ext>
            </a:extLst>
          </p:cNvPr>
          <p:cNvSpPr/>
          <p:nvPr/>
        </p:nvSpPr>
        <p:spPr>
          <a:xfrm>
            <a:off x="7380873" y="5461955"/>
            <a:ext cx="3461297" cy="873675"/>
          </a:xfrm>
          <a:prstGeom prst="wedgeRoundRectCallout">
            <a:avLst>
              <a:gd name="adj1" fmla="val -79115"/>
              <a:gd name="adj2" fmla="val 40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Recall: this is different from detection! There, restarts did not change timestamps!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88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/>
      <p:bldP spid="12" grpId="0" uiExpand="1"/>
      <p:bldP spid="18" grpId="0"/>
      <p:bldP spid="20" grpId="0"/>
      <p:bldP spid="22" grpId="0"/>
      <p:bldP spid="24" grpId="0" uiExpand="1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Bookkeeping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database item X, maintain:</a:t>
            </a:r>
          </a:p>
          <a:p>
            <a:pPr lvl="1"/>
            <a:r>
              <a:rPr lang="en-GB" b="1" dirty="0"/>
              <a:t>R</a:t>
            </a:r>
            <a:r>
              <a:rPr lang="en-US" b="1" dirty="0" err="1"/>
              <a:t>ead</a:t>
            </a:r>
            <a:r>
              <a:rPr lang="en-US" b="1" dirty="0"/>
              <a:t> Time of X: RT(X)</a:t>
            </a:r>
            <a:br>
              <a:rPr lang="en-US" b="1" dirty="0"/>
            </a:br>
            <a:r>
              <a:rPr lang="en-US" dirty="0"/>
              <a:t>Timestamp of youngest transaction that read X</a:t>
            </a:r>
          </a:p>
          <a:p>
            <a:pPr lvl="1"/>
            <a:r>
              <a:rPr lang="en-US" b="1" dirty="0"/>
              <a:t>Write Time of X: WT(X)</a:t>
            </a:r>
            <a:br>
              <a:rPr lang="en-US" b="1" dirty="0"/>
            </a:br>
            <a:r>
              <a:rPr lang="en-US" dirty="0"/>
              <a:t>Timestamp of youngest transaction that wrote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08975" y="4946365"/>
            <a:ext cx="7344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150455" y="4754080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92354" y="4309928"/>
            <a:ext cx="1116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reads X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501972" y="4758761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3872" y="4314609"/>
            <a:ext cx="1116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 reads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8864" y="4305247"/>
            <a:ext cx="111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 reads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872" y="4311154"/>
            <a:ext cx="117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writes X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6882883" y="4754080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233946" y="4754080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59697" y="5133781"/>
          <a:ext cx="1152127" cy="620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RT(X)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WT(X)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681129" y="3992777"/>
            <a:ext cx="96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)=2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23077" y="5143331"/>
          <a:ext cx="1152127" cy="620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RT(X)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WT(X)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19084" y="3991438"/>
            <a:ext cx="96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)=1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086457" y="5133781"/>
          <a:ext cx="1152127" cy="620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RT(X)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WT(X)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362181" y="3991438"/>
            <a:ext cx="96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)=3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49837" y="5133781"/>
          <a:ext cx="1152127" cy="620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RT(X)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WT(X)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814750" y="5133781"/>
          <a:ext cx="1152127" cy="620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RT(X)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WT(X)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4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949024" y="4314609"/>
            <a:ext cx="117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4</a:t>
            </a:r>
            <a:r>
              <a:rPr lang="en-US" dirty="0">
                <a:solidFill>
                  <a:schemeClr val="accent1"/>
                </a:solidFill>
              </a:rPr>
              <a:t> writes X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9602098" y="4757535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50728" y="3991438"/>
            <a:ext cx="96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4</a:t>
            </a:r>
            <a:r>
              <a:rPr lang="en-US" dirty="0">
                <a:solidFill>
                  <a:schemeClr val="accent1"/>
                </a:solidFill>
              </a:rPr>
              <a:t>)=4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1994784" y="5133781"/>
          <a:ext cx="1152127" cy="620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RT(X)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r>
                        <a:rPr lang="en-US" dirty="0"/>
                        <a:t>WT(X)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356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  <p:bldP spid="10" grpId="0"/>
      <p:bldP spid="11" grpId="0"/>
      <p:bldP spid="22" grpId="0"/>
      <p:bldP spid="24" grpId="0"/>
      <p:bldP spid="26" grpId="0"/>
      <p:bldP spid="29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T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GB" dirty="0"/>
              <a:t>requests to </a:t>
            </a:r>
            <a:r>
              <a:rPr lang="en-GB" b="1" dirty="0"/>
              <a:t>read</a:t>
            </a:r>
            <a:r>
              <a:rPr lang="en-GB" dirty="0"/>
              <a:t> X:</a:t>
            </a:r>
          </a:p>
          <a:p>
            <a:r>
              <a:rPr lang="en-US" b="1" dirty="0">
                <a:solidFill>
                  <a:schemeClr val="accent2"/>
                </a:solidFill>
              </a:rPr>
              <a:t>Abort &amp; restart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if WT(X) &gt; TS(T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Grant request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otherwise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914427" y="4085539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39030" y="3817221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72230" y="4239976"/>
            <a:ext cx="73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062902" y="3817221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81227" y="423997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WT(X)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3215680" y="2938800"/>
            <a:ext cx="1780736" cy="636551"/>
          </a:xfrm>
          <a:prstGeom prst="wedgeRoundRectCallout">
            <a:avLst>
              <a:gd name="adj1" fmla="val -21691"/>
              <a:gd name="adj2" fmla="val 768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’s hypothetical execution time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5519936" y="2938800"/>
            <a:ext cx="1872208" cy="615043"/>
          </a:xfrm>
          <a:prstGeom prst="wedgeRoundRectCallout">
            <a:avLst>
              <a:gd name="adj1" fmla="val -21691"/>
              <a:gd name="adj2" fmla="val 768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hypothetical execution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100" y="4548822"/>
            <a:ext cx="73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6611026" y="4523652"/>
            <a:ext cx="3877462" cy="777556"/>
          </a:xfrm>
          <a:prstGeom prst="wedgeRoundRectCallout">
            <a:avLst>
              <a:gd name="adj1" fmla="val -43757"/>
              <a:gd name="adj2" fmla="val -760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Implies that by the time T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requests to read X, T</a:t>
            </a:r>
            <a:r>
              <a:rPr lang="en-US" baseline="-25000" dirty="0">
                <a:sym typeface="Wingdings"/>
              </a:rPr>
              <a:t>2 </a:t>
            </a:r>
            <a:r>
              <a:rPr lang="en-US" dirty="0">
                <a:sym typeface="Wingdings"/>
              </a:rPr>
              <a:t>could not have written to X.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04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11" grpId="0"/>
      <p:bldP spid="13" grpId="0" animBg="1"/>
      <p:bldP spid="14" grpId="0" animBg="1"/>
      <p:bldP spid="15" grpId="0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T</a:t>
            </a:r>
            <a:r>
              <a:rPr lang="en-US" baseline="-25000" dirty="0"/>
              <a:t>1</a:t>
            </a:r>
            <a:r>
              <a:rPr lang="en-US" dirty="0"/>
              <a:t> requests to </a:t>
            </a:r>
            <a:r>
              <a:rPr lang="en-US" b="1" dirty="0"/>
              <a:t>write</a:t>
            </a:r>
            <a:r>
              <a:rPr lang="en-US" dirty="0"/>
              <a:t> X</a:t>
            </a:r>
            <a:r>
              <a:rPr lang="en-GB" dirty="0"/>
              <a:t>:</a:t>
            </a:r>
          </a:p>
          <a:p>
            <a:r>
              <a:rPr lang="en-US" b="1" dirty="0">
                <a:solidFill>
                  <a:schemeClr val="accent2"/>
                </a:solidFill>
              </a:rPr>
              <a:t>Abort &amp; restart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if RT(X) &gt; TS(T</a:t>
            </a:r>
            <a:r>
              <a:rPr lang="en-US" baseline="-25000" dirty="0"/>
              <a:t>1</a:t>
            </a:r>
            <a:r>
              <a:rPr lang="en-US" dirty="0"/>
              <a:t>) or WT(X) &gt; TS(T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Grant request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otherwise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914427" y="4085539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39030" y="3817221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72230" y="4239976"/>
            <a:ext cx="73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062902" y="3817221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88102" y="4239976"/>
            <a:ext cx="134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RT(X)/WT(X)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3215680" y="2938800"/>
            <a:ext cx="1780736" cy="636551"/>
          </a:xfrm>
          <a:prstGeom prst="wedgeRoundRectCallout">
            <a:avLst>
              <a:gd name="adj1" fmla="val -21691"/>
              <a:gd name="adj2" fmla="val 768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’s hypothetical execution time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5519936" y="2938800"/>
            <a:ext cx="1872208" cy="615043"/>
          </a:xfrm>
          <a:prstGeom prst="wedgeRoundRectCallout">
            <a:avLst>
              <a:gd name="adj1" fmla="val -21691"/>
              <a:gd name="adj2" fmla="val 768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hypothetical execution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100" y="4548822"/>
            <a:ext cx="73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6774410" y="4543932"/>
            <a:ext cx="3774622" cy="921572"/>
          </a:xfrm>
          <a:prstGeom prst="wedgeRoundRectCallout">
            <a:avLst>
              <a:gd name="adj1" fmla="val -45879"/>
              <a:gd name="adj2" fmla="val -7247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Implies that by the time T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requests to write to X, T</a:t>
            </a:r>
            <a:r>
              <a:rPr lang="en-US" baseline="-25000" dirty="0">
                <a:sym typeface="Wingdings"/>
              </a:rPr>
              <a:t>2 </a:t>
            </a:r>
            <a:r>
              <a:rPr lang="en-US" dirty="0">
                <a:sym typeface="Wingdings"/>
              </a:rPr>
              <a:t>could not have read or written X.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336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11" grpId="0"/>
      <p:bldP spid="13" grpId="0" animBg="1"/>
      <p:bldP spid="14" grpId="0" animBg="1"/>
      <p:bldP spid="15" grpId="0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55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4304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8" grpId="0"/>
      <p:bldP spid="8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9837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159627" y="1918574"/>
            <a:ext cx="677429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7558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204" grpId="0"/>
      <p:bldP spid="8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159625" y="1918574"/>
            <a:ext cx="677430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9471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159625" y="1918574"/>
            <a:ext cx="677430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9474" y="1641969"/>
            <a:ext cx="86844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 &amp;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549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  <p:bldP spid="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noStrike" dirty="0"/>
                        <a:t>read(Y)</a:t>
                      </a:r>
                      <a:endParaRPr lang="en-US" b="1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064119" y="1641574"/>
            <a:ext cx="868444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 &amp;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grpSp>
        <p:nvGrpSpPr>
          <p:cNvPr id="207" name="Group 206"/>
          <p:cNvGrpSpPr/>
          <p:nvPr/>
        </p:nvGrpSpPr>
        <p:grpSpPr>
          <a:xfrm>
            <a:off x="8642079" y="3216570"/>
            <a:ext cx="483944" cy="479469"/>
            <a:chOff x="2244248" y="2661453"/>
            <a:chExt cx="1203367" cy="1192240"/>
          </a:xfrm>
        </p:grpSpPr>
        <p:cxnSp>
          <p:nvCxnSpPr>
            <p:cNvPr id="208" name="Straight Connector 207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8639632" y="3780247"/>
            <a:ext cx="483944" cy="479469"/>
            <a:chOff x="2244248" y="2661453"/>
            <a:chExt cx="1203367" cy="119224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1" name="Rounded Rectangular Callout 90"/>
          <p:cNvSpPr/>
          <p:nvPr/>
        </p:nvSpPr>
        <p:spPr>
          <a:xfrm>
            <a:off x="4079777" y="4365104"/>
            <a:ext cx="1376839" cy="686608"/>
          </a:xfrm>
          <a:prstGeom prst="wedgeRoundRectCallout">
            <a:avLst>
              <a:gd name="adj1" fmla="val -63818"/>
              <a:gd name="adj2" fmla="val -471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Must abort </a:t>
            </a:r>
            <a:r>
              <a:rPr lang="en-US" dirty="0">
                <a:sym typeface="Wingdings"/>
              </a:rPr>
              <a:t>&amp; </a:t>
            </a:r>
            <a:r>
              <a:rPr lang="en-US">
                <a:sym typeface="Wingdings"/>
              </a:rPr>
              <a:t>restart T</a:t>
            </a:r>
            <a:r>
              <a:rPr lang="en-US" baseline="-25000">
                <a:sym typeface="Wingdings"/>
              </a:rPr>
              <a:t>1</a:t>
            </a:r>
            <a:endParaRPr lang="en-US" baseline="-25000" dirty="0">
              <a:sym typeface="Wingding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614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read(Y)</a:t>
                      </a: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064119" y="1641574"/>
            <a:ext cx="868444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 &amp;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grpSp>
        <p:nvGrpSpPr>
          <p:cNvPr id="207" name="Group 206"/>
          <p:cNvGrpSpPr/>
          <p:nvPr/>
        </p:nvGrpSpPr>
        <p:grpSpPr>
          <a:xfrm>
            <a:off x="8642079" y="3216570"/>
            <a:ext cx="483944" cy="479469"/>
            <a:chOff x="2244248" y="2661453"/>
            <a:chExt cx="1203367" cy="1192240"/>
          </a:xfrm>
        </p:grpSpPr>
        <p:cxnSp>
          <p:nvCxnSpPr>
            <p:cNvPr id="208" name="Straight Connector 207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8639632" y="3780247"/>
            <a:ext cx="483944" cy="479469"/>
            <a:chOff x="2244248" y="2661453"/>
            <a:chExt cx="1203367" cy="119224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8" name="Rounded Rectangular Callout 87"/>
          <p:cNvSpPr/>
          <p:nvPr/>
        </p:nvSpPr>
        <p:spPr>
          <a:xfrm>
            <a:off x="2363055" y="1161442"/>
            <a:ext cx="1739773" cy="445772"/>
          </a:xfrm>
          <a:prstGeom prst="wedgeRoundRectCallout">
            <a:avLst>
              <a:gd name="adj1" fmla="val 20277"/>
              <a:gd name="adj2" fmla="val 83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New timestamp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66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19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read(Y)</a:t>
                      </a: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56856" y="2517395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5775638" y="4365104"/>
            <a:ext cx="2477467" cy="369332"/>
            <a:chOff x="5626061" y="1941792"/>
            <a:chExt cx="2477467" cy="369332"/>
          </a:xfrm>
        </p:grpSpPr>
        <p:sp>
          <p:nvSpPr>
            <p:cNvPr id="173" name="TextBox 17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cxnSp>
        <p:nvCxnSpPr>
          <p:cNvPr id="202" name="Straight Connector 201"/>
          <p:cNvCxnSpPr/>
          <p:nvPr/>
        </p:nvCxnSpPr>
        <p:spPr>
          <a:xfrm>
            <a:off x="10137303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9981889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064119" y="1641574"/>
            <a:ext cx="868444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 &amp;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grpSp>
        <p:nvGrpSpPr>
          <p:cNvPr id="207" name="Group 206"/>
          <p:cNvGrpSpPr/>
          <p:nvPr/>
        </p:nvGrpSpPr>
        <p:grpSpPr>
          <a:xfrm>
            <a:off x="8642079" y="3216570"/>
            <a:ext cx="483944" cy="479469"/>
            <a:chOff x="2244248" y="2661453"/>
            <a:chExt cx="1203367" cy="1192240"/>
          </a:xfrm>
        </p:grpSpPr>
        <p:cxnSp>
          <p:nvCxnSpPr>
            <p:cNvPr id="208" name="Straight Connector 207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3" name="TextBox 212"/>
          <p:cNvSpPr txBox="1"/>
          <p:nvPr/>
        </p:nvSpPr>
        <p:spPr>
          <a:xfrm>
            <a:off x="9800057" y="2507613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8639632" y="3780247"/>
            <a:ext cx="483944" cy="479469"/>
            <a:chOff x="2244248" y="2661453"/>
            <a:chExt cx="1203367" cy="119224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9949023" y="3835315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8" name="Rounded Rectangular Callout 87"/>
          <p:cNvSpPr/>
          <p:nvPr/>
        </p:nvSpPr>
        <p:spPr>
          <a:xfrm>
            <a:off x="2363055" y="1161442"/>
            <a:ext cx="1739773" cy="445772"/>
          </a:xfrm>
          <a:prstGeom prst="wedgeRoundRectCallout">
            <a:avLst>
              <a:gd name="adj1" fmla="val 20277"/>
              <a:gd name="adj2" fmla="val 83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New timestamp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556856" y="2507613"/>
            <a:ext cx="685444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8193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/>
      <p:bldP spid="213" grpId="0"/>
      <p:bldP spid="87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read(Y)</a:t>
                      </a: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5775638" y="4365104"/>
            <a:ext cx="2477467" cy="369332"/>
            <a:chOff x="5626061" y="1941792"/>
            <a:chExt cx="2477467" cy="369332"/>
          </a:xfrm>
        </p:grpSpPr>
        <p:sp>
          <p:nvSpPr>
            <p:cNvPr id="173" name="TextBox 17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5775638" y="4680386"/>
            <a:ext cx="2477467" cy="369332"/>
            <a:chOff x="5626061" y="1941792"/>
            <a:chExt cx="2477467" cy="369332"/>
          </a:xfrm>
        </p:grpSpPr>
        <p:sp>
          <p:nvSpPr>
            <p:cNvPr id="178" name="TextBox 17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cxnSp>
        <p:nvCxnSpPr>
          <p:cNvPr id="202" name="Straight Connector 201"/>
          <p:cNvCxnSpPr/>
          <p:nvPr/>
        </p:nvCxnSpPr>
        <p:spPr>
          <a:xfrm>
            <a:off x="10137303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9981889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064119" y="1641574"/>
            <a:ext cx="868444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 &amp;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grpSp>
        <p:nvGrpSpPr>
          <p:cNvPr id="207" name="Group 206"/>
          <p:cNvGrpSpPr/>
          <p:nvPr/>
        </p:nvGrpSpPr>
        <p:grpSpPr>
          <a:xfrm>
            <a:off x="8642079" y="3216570"/>
            <a:ext cx="483944" cy="479469"/>
            <a:chOff x="2244248" y="2661453"/>
            <a:chExt cx="1203367" cy="1192240"/>
          </a:xfrm>
        </p:grpSpPr>
        <p:cxnSp>
          <p:nvCxnSpPr>
            <p:cNvPr id="208" name="Straight Connector 207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3" name="TextBox 212"/>
          <p:cNvSpPr txBox="1"/>
          <p:nvPr/>
        </p:nvSpPr>
        <p:spPr>
          <a:xfrm>
            <a:off x="9800057" y="2507613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8639632" y="3780247"/>
            <a:ext cx="483944" cy="479469"/>
            <a:chOff x="2244248" y="2661453"/>
            <a:chExt cx="1203367" cy="119224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9949023" y="3835315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49420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21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read(Y)</a:t>
                      </a: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5775638" y="4365104"/>
            <a:ext cx="2477467" cy="369332"/>
            <a:chOff x="5626061" y="1941792"/>
            <a:chExt cx="2477467" cy="369332"/>
          </a:xfrm>
        </p:grpSpPr>
        <p:sp>
          <p:nvSpPr>
            <p:cNvPr id="173" name="TextBox 17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5775638" y="4680386"/>
            <a:ext cx="2477467" cy="369332"/>
            <a:chOff x="5626061" y="1941792"/>
            <a:chExt cx="2477467" cy="369332"/>
          </a:xfrm>
        </p:grpSpPr>
        <p:sp>
          <p:nvSpPr>
            <p:cNvPr id="178" name="TextBox 17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5778125" y="5001611"/>
            <a:ext cx="2477467" cy="369332"/>
            <a:chOff x="5626061" y="1941792"/>
            <a:chExt cx="2477467" cy="369332"/>
          </a:xfrm>
        </p:grpSpPr>
        <p:sp>
          <p:nvSpPr>
            <p:cNvPr id="183" name="TextBox 18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cxnSp>
        <p:nvCxnSpPr>
          <p:cNvPr id="202" name="Straight Connector 201"/>
          <p:cNvCxnSpPr/>
          <p:nvPr/>
        </p:nvCxnSpPr>
        <p:spPr>
          <a:xfrm>
            <a:off x="10137303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9981889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064119" y="1641574"/>
            <a:ext cx="868444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 &amp;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grpSp>
        <p:nvGrpSpPr>
          <p:cNvPr id="207" name="Group 206"/>
          <p:cNvGrpSpPr/>
          <p:nvPr/>
        </p:nvGrpSpPr>
        <p:grpSpPr>
          <a:xfrm>
            <a:off x="8642079" y="3216570"/>
            <a:ext cx="483944" cy="479469"/>
            <a:chOff x="2244248" y="2661453"/>
            <a:chExt cx="1203367" cy="1192240"/>
          </a:xfrm>
        </p:grpSpPr>
        <p:cxnSp>
          <p:nvCxnSpPr>
            <p:cNvPr id="208" name="Straight Connector 207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3" name="TextBox 212"/>
          <p:cNvSpPr txBox="1"/>
          <p:nvPr/>
        </p:nvSpPr>
        <p:spPr>
          <a:xfrm>
            <a:off x="9800057" y="2507613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8639632" y="3780247"/>
            <a:ext cx="483944" cy="479469"/>
            <a:chOff x="2244248" y="2661453"/>
            <a:chExt cx="1203367" cy="119224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9949023" y="3835315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60983" y="1644147"/>
            <a:ext cx="868443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b">
            <a:spAutoFit/>
          </a:bodyPr>
          <a:lstStyle/>
          <a:p>
            <a:pPr algn="ctr"/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08071" y="1918574"/>
            <a:ext cx="677430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4732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  <p:bldP spid="89" grpId="0" animBg="1"/>
      <p:bldP spid="9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22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read(Y)</a:t>
                      </a: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5775638" y="4365104"/>
            <a:ext cx="2477467" cy="369332"/>
            <a:chOff x="5626061" y="1941792"/>
            <a:chExt cx="2477467" cy="369332"/>
          </a:xfrm>
        </p:grpSpPr>
        <p:sp>
          <p:nvSpPr>
            <p:cNvPr id="173" name="TextBox 17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5775638" y="4680386"/>
            <a:ext cx="2477467" cy="369332"/>
            <a:chOff x="5626061" y="1941792"/>
            <a:chExt cx="2477467" cy="369332"/>
          </a:xfrm>
        </p:grpSpPr>
        <p:sp>
          <p:nvSpPr>
            <p:cNvPr id="178" name="TextBox 17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5778125" y="5001611"/>
            <a:ext cx="2477467" cy="369332"/>
            <a:chOff x="5626061" y="1941792"/>
            <a:chExt cx="2477467" cy="369332"/>
          </a:xfrm>
        </p:grpSpPr>
        <p:sp>
          <p:nvSpPr>
            <p:cNvPr id="183" name="TextBox 18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5778125" y="5316893"/>
            <a:ext cx="2477467" cy="369332"/>
            <a:chOff x="5626061" y="1941792"/>
            <a:chExt cx="2477467" cy="369332"/>
          </a:xfrm>
        </p:grpSpPr>
        <p:sp>
          <p:nvSpPr>
            <p:cNvPr id="188" name="TextBox 18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cxnSp>
        <p:nvCxnSpPr>
          <p:cNvPr id="202" name="Straight Connector 201"/>
          <p:cNvCxnSpPr/>
          <p:nvPr/>
        </p:nvCxnSpPr>
        <p:spPr>
          <a:xfrm>
            <a:off x="10137303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9981889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064120" y="1918574"/>
            <a:ext cx="868443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grpSp>
        <p:nvGrpSpPr>
          <p:cNvPr id="207" name="Group 206"/>
          <p:cNvGrpSpPr/>
          <p:nvPr/>
        </p:nvGrpSpPr>
        <p:grpSpPr>
          <a:xfrm>
            <a:off x="8642079" y="3216570"/>
            <a:ext cx="483944" cy="479469"/>
            <a:chOff x="2244248" y="2661453"/>
            <a:chExt cx="1203367" cy="1192240"/>
          </a:xfrm>
        </p:grpSpPr>
        <p:cxnSp>
          <p:nvCxnSpPr>
            <p:cNvPr id="208" name="Straight Connector 207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3" name="TextBox 212"/>
          <p:cNvSpPr txBox="1"/>
          <p:nvPr/>
        </p:nvSpPr>
        <p:spPr>
          <a:xfrm>
            <a:off x="9800057" y="2507613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8639632" y="3780247"/>
            <a:ext cx="483944" cy="479469"/>
            <a:chOff x="2244248" y="2661453"/>
            <a:chExt cx="1203367" cy="119224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9949023" y="3835315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08071" y="1918574"/>
            <a:ext cx="677430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71757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23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1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read(Y)</a:t>
                      </a: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8580196" y="3329118"/>
            <a:ext cx="1836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879626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24212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9499441" y="2633405"/>
            <a:ext cx="9024" cy="8171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53051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5775638" y="4365104"/>
            <a:ext cx="2477467" cy="369332"/>
            <a:chOff x="5626061" y="1941792"/>
            <a:chExt cx="2477467" cy="369332"/>
          </a:xfrm>
        </p:grpSpPr>
        <p:sp>
          <p:nvSpPr>
            <p:cNvPr id="173" name="TextBox 17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5775638" y="4680386"/>
            <a:ext cx="2477467" cy="369332"/>
            <a:chOff x="5626061" y="1941792"/>
            <a:chExt cx="2477467" cy="369332"/>
          </a:xfrm>
        </p:grpSpPr>
        <p:sp>
          <p:nvSpPr>
            <p:cNvPr id="178" name="TextBox 17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5778125" y="5001611"/>
            <a:ext cx="2477467" cy="369332"/>
            <a:chOff x="5626061" y="1941792"/>
            <a:chExt cx="2477467" cy="369332"/>
          </a:xfrm>
        </p:grpSpPr>
        <p:sp>
          <p:nvSpPr>
            <p:cNvPr id="183" name="TextBox 18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5778125" y="5316893"/>
            <a:ext cx="2477467" cy="369332"/>
            <a:chOff x="5626061" y="1941792"/>
            <a:chExt cx="2477467" cy="369332"/>
          </a:xfrm>
        </p:grpSpPr>
        <p:sp>
          <p:nvSpPr>
            <p:cNvPr id="188" name="TextBox 18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192" name="Group 191"/>
          <p:cNvGrpSpPr/>
          <p:nvPr/>
        </p:nvGrpSpPr>
        <p:grpSpPr>
          <a:xfrm>
            <a:off x="5778125" y="5632175"/>
            <a:ext cx="2477467" cy="369332"/>
            <a:chOff x="5626061" y="1941792"/>
            <a:chExt cx="2477467" cy="369332"/>
          </a:xfrm>
        </p:grpSpPr>
        <p:sp>
          <p:nvSpPr>
            <p:cNvPr id="193" name="TextBox 19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cxnSp>
        <p:nvCxnSpPr>
          <p:cNvPr id="202" name="Straight Connector 201"/>
          <p:cNvCxnSpPr/>
          <p:nvPr/>
        </p:nvCxnSpPr>
        <p:spPr>
          <a:xfrm>
            <a:off x="10137303" y="3258281"/>
            <a:ext cx="0" cy="19228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9981889" y="34197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800057" y="2507613"/>
            <a:ext cx="68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7344" y="3824256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16181" y="382425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8639632" y="3780247"/>
            <a:ext cx="483944" cy="479469"/>
            <a:chOff x="2244248" y="2661453"/>
            <a:chExt cx="1203367" cy="119224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9949023" y="3835315"/>
            <a:ext cx="3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58589" y="1918574"/>
            <a:ext cx="97639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read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9064120" y="1918574"/>
            <a:ext cx="868443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8914637" y="1749541"/>
            <a:ext cx="906664" cy="1508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9696401" y="1641574"/>
            <a:ext cx="868443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Y last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read &amp;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written</a:t>
            </a:r>
          </a:p>
        </p:txBody>
      </p:sp>
      <p:grpSp>
        <p:nvGrpSpPr>
          <p:cNvPr id="207" name="Group 206"/>
          <p:cNvGrpSpPr/>
          <p:nvPr/>
        </p:nvGrpSpPr>
        <p:grpSpPr>
          <a:xfrm>
            <a:off x="8642079" y="3216570"/>
            <a:ext cx="483944" cy="479469"/>
            <a:chOff x="2244248" y="2661453"/>
            <a:chExt cx="1203367" cy="1192240"/>
          </a:xfrm>
        </p:grpSpPr>
        <p:cxnSp>
          <p:nvCxnSpPr>
            <p:cNvPr id="208" name="Straight Connector 207"/>
            <p:cNvCxnSpPr/>
            <p:nvPr/>
          </p:nvCxnSpPr>
          <p:spPr>
            <a:xfrm>
              <a:off x="2256414" y="2662492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>
              <a:off x="2244248" y="2661453"/>
              <a:ext cx="1191201" cy="119120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8794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3" grpId="0" animBg="1"/>
      <p:bldP spid="8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4581129"/>
            <a:ext cx="8229600" cy="1867123"/>
          </a:xfrm>
        </p:spPr>
        <p:txBody>
          <a:bodyPr>
            <a:normAutofit/>
          </a:bodyPr>
          <a:lstStyle/>
          <a:p>
            <a:r>
              <a:rPr lang="en-US" dirty="0"/>
              <a:t>Assume a timestamp-based scheduler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starts first</a:t>
            </a:r>
          </a:p>
          <a:p>
            <a:pPr lvl="1"/>
            <a:r>
              <a:rPr lang="en-US" dirty="0"/>
              <a:t>Lines 1-3 of T</a:t>
            </a:r>
            <a:r>
              <a:rPr lang="en-US" baseline="-25000" dirty="0"/>
              <a:t>1</a:t>
            </a:r>
            <a:r>
              <a:rPr lang="en-US" dirty="0"/>
              <a:t> are executed first, then lines 1-3 of T</a:t>
            </a:r>
            <a:r>
              <a:rPr lang="en-US" baseline="-25000" dirty="0"/>
              <a:t>2</a:t>
            </a:r>
          </a:p>
          <a:p>
            <a:r>
              <a:rPr lang="en-US" dirty="0"/>
              <a:t>Which operations could be executed next?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24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79776" y="1802695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0056" y="1806087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30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4581129"/>
            <a:ext cx="8229600" cy="1867123"/>
          </a:xfrm>
        </p:spPr>
        <p:txBody>
          <a:bodyPr>
            <a:normAutofit/>
          </a:bodyPr>
          <a:lstStyle/>
          <a:p>
            <a:r>
              <a:rPr lang="en-US" dirty="0"/>
              <a:t>Assume a timestamp-based scheduler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starts first</a:t>
            </a:r>
          </a:p>
          <a:p>
            <a:pPr lvl="1"/>
            <a:r>
              <a:rPr lang="en-US" dirty="0"/>
              <a:t>Lines 1-3 of T</a:t>
            </a:r>
            <a:r>
              <a:rPr lang="en-US" baseline="-25000" dirty="0"/>
              <a:t>1</a:t>
            </a:r>
            <a:r>
              <a:rPr lang="en-US" dirty="0"/>
              <a:t> are executed first, then lines 1-3 of T</a:t>
            </a:r>
            <a:r>
              <a:rPr lang="en-US" baseline="-25000" dirty="0"/>
              <a:t>2</a:t>
            </a:r>
          </a:p>
          <a:p>
            <a:r>
              <a:rPr lang="en-US" dirty="0"/>
              <a:t>Which operations could be executed next?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25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79776" y="1802695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</a:t>
                      </a:r>
                      <a:r>
                        <a:rPr lang="en-US" baseline="0" dirty="0"/>
                        <a:t>(TS=1)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0056" y="1806087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</a:t>
                      </a:r>
                      <a:r>
                        <a:rPr lang="en-US" baseline="0" dirty="0"/>
                        <a:t>(TS=2)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3489546" y="1799303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6096000" y="1806087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5175237" y="1260735"/>
            <a:ext cx="1139399" cy="472928"/>
          </a:xfrm>
          <a:prstGeom prst="wedgeRoundRectCallout">
            <a:avLst>
              <a:gd name="adj1" fmla="val -64973"/>
              <a:gd name="adj2" fmla="val 415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Rollback!</a:t>
            </a:r>
            <a:endParaRPr lang="en-US" baseline="-25000" dirty="0">
              <a:sym typeface="Wingdings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8242074" y="1259632"/>
            <a:ext cx="2318422" cy="472928"/>
          </a:xfrm>
          <a:prstGeom prst="wedgeRoundRectCallout">
            <a:avLst>
              <a:gd name="adj1" fmla="val -64973"/>
              <a:gd name="adj2" fmla="val 415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What happens with T</a:t>
            </a:r>
            <a:r>
              <a:rPr lang="en-US" baseline="-25000" dirty="0">
                <a:sym typeface="Wingdings"/>
              </a:rPr>
              <a:t>2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8184232" y="2210988"/>
            <a:ext cx="2318422" cy="472928"/>
          </a:xfrm>
          <a:prstGeom prst="wedgeRoundRectCallout">
            <a:avLst>
              <a:gd name="adj1" fmla="val -64973"/>
              <a:gd name="adj2" fmla="val 415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Cascading rollback!</a:t>
            </a:r>
            <a:endParaRPr lang="en-US" baseline="-25000" dirty="0">
              <a:sym typeface="Wingding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394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0532 L -1.66667E-6 0.137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4768 " pathEditMode="relative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14769 L 0.00034 0.2791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13796 L -1.66667E-6 0.1800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4581129"/>
            <a:ext cx="8229600" cy="1867123"/>
          </a:xfrm>
        </p:spPr>
        <p:txBody>
          <a:bodyPr>
            <a:normAutofit/>
          </a:bodyPr>
          <a:lstStyle/>
          <a:p>
            <a:r>
              <a:rPr lang="en-US" dirty="0"/>
              <a:t>Assume a timestamp-based scheduler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starts first</a:t>
            </a:r>
          </a:p>
          <a:p>
            <a:pPr lvl="1"/>
            <a:r>
              <a:rPr lang="en-US" dirty="0"/>
              <a:t>Lines 1-3 of T</a:t>
            </a:r>
            <a:r>
              <a:rPr lang="en-US" baseline="-25000" dirty="0"/>
              <a:t>1</a:t>
            </a:r>
            <a:r>
              <a:rPr lang="en-US" dirty="0"/>
              <a:t> are executed first, then lines 1-3 of T</a:t>
            </a:r>
            <a:r>
              <a:rPr lang="en-US" baseline="-25000" dirty="0"/>
              <a:t>2</a:t>
            </a:r>
          </a:p>
          <a:p>
            <a:r>
              <a:rPr lang="en-US" dirty="0"/>
              <a:t>Which operations could be executed next?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26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79776" y="1802695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</a:t>
                      </a:r>
                      <a:r>
                        <a:rPr lang="en-US" baseline="0" dirty="0"/>
                        <a:t>(TS=1)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0056" y="1806087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</a:t>
                      </a:r>
                      <a:r>
                        <a:rPr lang="en-US" baseline="0" dirty="0"/>
                        <a:t>(TS=2)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3489546" y="1799303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6096000" y="1806087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5175237" y="1260735"/>
            <a:ext cx="1139399" cy="472928"/>
          </a:xfrm>
          <a:prstGeom prst="wedgeRoundRectCallout">
            <a:avLst>
              <a:gd name="adj1" fmla="val -64973"/>
              <a:gd name="adj2" fmla="val 415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Rollback!</a:t>
            </a:r>
            <a:endParaRPr lang="en-US" baseline="-25000" dirty="0">
              <a:sym typeface="Wingdings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4439816" y="1844824"/>
            <a:ext cx="576064" cy="216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39816" y="1844824"/>
            <a:ext cx="576064" cy="216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898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0532 L -1.66667E-6 0.137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4768 " pathEditMode="relative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13796 L -1.66667E-6 0.1800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4581129"/>
            <a:ext cx="8229600" cy="1867123"/>
          </a:xfrm>
        </p:spPr>
        <p:txBody>
          <a:bodyPr>
            <a:normAutofit/>
          </a:bodyPr>
          <a:lstStyle/>
          <a:p>
            <a:r>
              <a:rPr lang="en-US" dirty="0"/>
              <a:t>Assume a timestamp-based scheduler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starts first</a:t>
            </a:r>
          </a:p>
          <a:p>
            <a:pPr lvl="1"/>
            <a:r>
              <a:rPr lang="en-US" dirty="0"/>
              <a:t>Lines 1-3 of T</a:t>
            </a:r>
            <a:r>
              <a:rPr lang="en-US" baseline="-25000" dirty="0"/>
              <a:t>1</a:t>
            </a:r>
            <a:r>
              <a:rPr lang="en-US" dirty="0"/>
              <a:t> are executed first, then lines 1-3 of T</a:t>
            </a:r>
            <a:r>
              <a:rPr lang="en-US" baseline="-25000" dirty="0"/>
              <a:t>2</a:t>
            </a:r>
          </a:p>
          <a:p>
            <a:r>
              <a:rPr lang="en-US" dirty="0"/>
              <a:t>Which operations could be executed next?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27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79776" y="1802695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</a:t>
                      </a:r>
                      <a:r>
                        <a:rPr lang="en-US" baseline="0" dirty="0"/>
                        <a:t>(TS=3)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0056" y="1806087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</a:t>
                      </a:r>
                      <a:r>
                        <a:rPr lang="en-US" baseline="0" dirty="0"/>
                        <a:t>(TS=2)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3489546" y="1799303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6096000" y="2741374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ular Callout 19"/>
          <p:cNvSpPr/>
          <p:nvPr/>
        </p:nvSpPr>
        <p:spPr>
          <a:xfrm>
            <a:off x="7672375" y="1266416"/>
            <a:ext cx="1139399" cy="472928"/>
          </a:xfrm>
          <a:prstGeom prst="wedgeRoundRectCallout">
            <a:avLst>
              <a:gd name="adj1" fmla="val -64973"/>
              <a:gd name="adj2" fmla="val 415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Rollback!</a:t>
            </a:r>
            <a:endParaRPr lang="en-US" baseline="-25000" dirty="0">
              <a:sym typeface="Wingdings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6960096" y="1844824"/>
            <a:ext cx="576064" cy="216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960096" y="1844824"/>
            <a:ext cx="576064" cy="216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140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0532 L -1.66667E-6 0.137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5301 " pathEditMode="relative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4581129"/>
            <a:ext cx="8229600" cy="1867123"/>
          </a:xfrm>
        </p:spPr>
        <p:txBody>
          <a:bodyPr>
            <a:normAutofit/>
          </a:bodyPr>
          <a:lstStyle/>
          <a:p>
            <a:r>
              <a:rPr lang="en-US" dirty="0"/>
              <a:t>Assume a timestamp-based scheduler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starts first</a:t>
            </a:r>
          </a:p>
          <a:p>
            <a:pPr lvl="1"/>
            <a:r>
              <a:rPr lang="en-US" dirty="0"/>
              <a:t>Lines 1-3 of T</a:t>
            </a:r>
            <a:r>
              <a:rPr lang="en-US" baseline="-25000" dirty="0"/>
              <a:t>1</a:t>
            </a:r>
            <a:r>
              <a:rPr lang="en-US" dirty="0"/>
              <a:t> are executed first, then lines 1-3 of T</a:t>
            </a:r>
            <a:r>
              <a:rPr lang="en-US" baseline="-25000" dirty="0"/>
              <a:t>2</a:t>
            </a:r>
          </a:p>
          <a:p>
            <a:r>
              <a:rPr lang="en-US" dirty="0"/>
              <a:t>Which operations could be executed next?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28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79776" y="1802695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</a:t>
                      </a:r>
                      <a:r>
                        <a:rPr lang="en-US" baseline="0" dirty="0"/>
                        <a:t>(TS=3)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0056" y="1806087"/>
          <a:ext cx="1642018" cy="223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</a:t>
                      </a:r>
                      <a:r>
                        <a:rPr lang="en-US" baseline="0" dirty="0"/>
                        <a:t>(TS=4)</a:t>
                      </a:r>
                      <a:endParaRPr lang="en-US" b="0" baseline="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3489546" y="2741374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096000" y="1806087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>
            <a:off x="5175237" y="1260735"/>
            <a:ext cx="1139399" cy="472928"/>
          </a:xfrm>
          <a:prstGeom prst="wedgeRoundRectCallout">
            <a:avLst>
              <a:gd name="adj1" fmla="val -64973"/>
              <a:gd name="adj2" fmla="val 415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Rollback!</a:t>
            </a:r>
            <a:endParaRPr lang="en-US" baseline="-25000" dirty="0">
              <a:sym typeface="Wingding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439816" y="1844824"/>
            <a:ext cx="576064" cy="216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439816" y="1844824"/>
            <a:ext cx="576064" cy="216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9692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4768 " pathEditMode="relative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07407E-6 L -1.66667E-6 0.0425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Timestamp-based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Nice properties:</a:t>
            </a:r>
          </a:p>
          <a:p>
            <a:pPr lvl="1"/>
            <a:r>
              <a:rPr lang="en-US" dirty="0"/>
              <a:t>Enforces conflict-</a:t>
            </a:r>
            <a:r>
              <a:rPr lang="en-US" dirty="0" err="1"/>
              <a:t>serialisable</a:t>
            </a:r>
            <a:r>
              <a:rPr lang="en-US" dirty="0"/>
              <a:t> schedules</a:t>
            </a:r>
          </a:p>
          <a:p>
            <a:pPr lvl="1"/>
            <a:r>
              <a:rPr lang="en-US" dirty="0"/>
              <a:t>Deadlocks don’t occur</a:t>
            </a:r>
          </a:p>
          <a:p>
            <a:r>
              <a:rPr lang="en-US" dirty="0"/>
              <a:t>Bad properties: </a:t>
            </a:r>
          </a:p>
          <a:p>
            <a:pPr lvl="1"/>
            <a:r>
              <a:rPr lang="en-US" b="1" dirty="0"/>
              <a:t>Cascading rollbacks</a:t>
            </a:r>
          </a:p>
          <a:p>
            <a:pPr lvl="1"/>
            <a:r>
              <a:rPr lang="en-US" b="1" dirty="0"/>
              <a:t>Starvation can occur </a:t>
            </a:r>
            <a:r>
              <a:rPr lang="en-US" dirty="0"/>
              <a:t>(cyclic aborts &amp; restarts of transactions)</a:t>
            </a:r>
          </a:p>
          <a:p>
            <a:pPr lvl="1"/>
            <a:endParaRPr lang="en-US" dirty="0"/>
          </a:p>
          <a:p>
            <a:r>
              <a:rPr lang="en-US" dirty="0"/>
              <a:t>Starvation can be prevented using appropriate</a:t>
            </a:r>
            <a:br>
              <a:rPr lang="en-US" dirty="0"/>
            </a:br>
            <a:r>
              <a:rPr lang="en-US" dirty="0"/>
              <a:t>techniques (not in this module)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29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210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151C-3E63-448B-AA19-301B3EBC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Strictness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671CD-0D50-4446-8213-A0AE8D8D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Schedules enforced by timestamp-based schedulers</a:t>
            </a:r>
            <a:br>
              <a:rPr lang="en-US" dirty="0"/>
            </a:br>
            <a:r>
              <a:rPr lang="en-US" dirty="0"/>
              <a:t>are not strict.</a:t>
            </a:r>
          </a:p>
          <a:p>
            <a:r>
              <a:rPr lang="en-US" dirty="0"/>
              <a:t>Additional condition to enforce a </a:t>
            </a:r>
            <a:r>
              <a:rPr lang="en-US" b="1" dirty="0"/>
              <a:t>strict schedule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59504-2394-403F-8A16-6C1A0ECB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30</a:t>
            </a:fld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FC7EF8-D4D8-44B5-80D4-6DC8FFB11C07}"/>
              </a:ext>
            </a:extLst>
          </p:cNvPr>
          <p:cNvCxnSpPr/>
          <p:nvPr/>
        </p:nvCxnSpPr>
        <p:spPr>
          <a:xfrm>
            <a:off x="2620059" y="5764737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B0DCEC-6379-42CE-B031-E75B2478D222}"/>
              </a:ext>
            </a:extLst>
          </p:cNvPr>
          <p:cNvCxnSpPr/>
          <p:nvPr/>
        </p:nvCxnSpPr>
        <p:spPr>
          <a:xfrm>
            <a:off x="6381226" y="5496419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C215AE-700C-4ECC-8B8B-668F852DEFD3}"/>
              </a:ext>
            </a:extLst>
          </p:cNvPr>
          <p:cNvSpPr txBox="1"/>
          <p:nvPr/>
        </p:nvSpPr>
        <p:spPr>
          <a:xfrm>
            <a:off x="5773517" y="5919174"/>
            <a:ext cx="1188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 = 12</a:t>
            </a:r>
          </a:p>
        </p:txBody>
      </p:sp>
      <p:sp>
        <p:nvSpPr>
          <p:cNvPr id="8" name="Rounded Rectangular Callout 8">
            <a:extLst>
              <a:ext uri="{FF2B5EF4-FFF2-40B4-BE49-F238E27FC236}">
                <a16:creationId xmlns:a16="http://schemas.microsoft.com/office/drawing/2014/main" id="{AE31CE0F-0B6E-48AC-B427-C0C68A79C31B}"/>
              </a:ext>
            </a:extLst>
          </p:cNvPr>
          <p:cNvSpPr/>
          <p:nvPr/>
        </p:nvSpPr>
        <p:spPr>
          <a:xfrm>
            <a:off x="7476944" y="4829725"/>
            <a:ext cx="2723512" cy="745429"/>
          </a:xfrm>
          <a:prstGeom prst="wedgeRoundRectCallout">
            <a:avLst>
              <a:gd name="adj1" fmla="val -60266"/>
              <a:gd name="adj2" fmla="val -2024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Delay until T</a:t>
            </a:r>
            <a:r>
              <a:rPr lang="en-US" baseline="-25000" dirty="0"/>
              <a:t>3</a:t>
            </a:r>
            <a:r>
              <a:rPr lang="en-US" dirty="0"/>
              <a:t> commits </a:t>
            </a:r>
            <a:br>
              <a:rPr lang="en-US" dirty="0"/>
            </a:br>
            <a:r>
              <a:rPr lang="en-US" dirty="0"/>
              <a:t>or aborts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DA3305-593F-4DE3-B124-ED00A00D51EC}"/>
              </a:ext>
            </a:extLst>
          </p:cNvPr>
          <p:cNvSpPr txBox="1"/>
          <p:nvPr/>
        </p:nvSpPr>
        <p:spPr>
          <a:xfrm>
            <a:off x="3092343" y="5949280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 = 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58E06D-5013-4A0A-A0F3-57FEF5E9F76E}"/>
              </a:ext>
            </a:extLst>
          </p:cNvPr>
          <p:cNvCxnSpPr/>
          <p:nvPr/>
        </p:nvCxnSpPr>
        <p:spPr>
          <a:xfrm>
            <a:off x="3601532" y="5496419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31BEF-F6DC-4D22-B054-3A16E48CA2D6}"/>
              </a:ext>
            </a:extLst>
          </p:cNvPr>
          <p:cNvSpPr/>
          <p:nvPr/>
        </p:nvSpPr>
        <p:spPr>
          <a:xfrm>
            <a:off x="3161928" y="3092768"/>
            <a:ext cx="6030416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i="1" dirty="0"/>
              <a:t>Delay read or write requests </a:t>
            </a:r>
            <a:r>
              <a:rPr lang="en-US" sz="2400" dirty="0"/>
              <a:t>until the youngest transaction who wrote X before has committed or aborted.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A7E97C-7A1A-4FE5-B820-D6F91D17C14E}"/>
              </a:ext>
            </a:extLst>
          </p:cNvPr>
          <p:cNvSpPr txBox="1"/>
          <p:nvPr/>
        </p:nvSpPr>
        <p:spPr>
          <a:xfrm>
            <a:off x="4309632" y="5949280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 = 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51D6E2-6B87-4389-9B75-601CC655338F}"/>
              </a:ext>
            </a:extLst>
          </p:cNvPr>
          <p:cNvCxnSpPr/>
          <p:nvPr/>
        </p:nvCxnSpPr>
        <p:spPr>
          <a:xfrm>
            <a:off x="4818822" y="5496419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B6D617-4F61-4593-BA78-69EF82F3738B}"/>
              </a:ext>
            </a:extLst>
          </p:cNvPr>
          <p:cNvSpPr txBox="1"/>
          <p:nvPr/>
        </p:nvSpPr>
        <p:spPr>
          <a:xfrm>
            <a:off x="3146203" y="4798376"/>
            <a:ext cx="964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wrote X </a:t>
            </a: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before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A6AA80-BCEF-4266-8702-B4A230EFF361}"/>
              </a:ext>
            </a:extLst>
          </p:cNvPr>
          <p:cNvSpPr txBox="1"/>
          <p:nvPr/>
        </p:nvSpPr>
        <p:spPr>
          <a:xfrm>
            <a:off x="4363217" y="4797152"/>
            <a:ext cx="911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wrote X</a:t>
            </a: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before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08C460-C8B4-419E-A3B9-CA556C5643FB}"/>
              </a:ext>
            </a:extLst>
          </p:cNvPr>
          <p:cNvSpPr txBox="1"/>
          <p:nvPr/>
        </p:nvSpPr>
        <p:spPr>
          <a:xfrm>
            <a:off x="5500380" y="4797153"/>
            <a:ext cx="1761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requests </a:t>
            </a:r>
            <a:r>
              <a:rPr lang="en-US" dirty="0">
                <a:solidFill>
                  <a:schemeClr val="accent1"/>
                </a:solidFill>
              </a:rPr>
              <a:t>to read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or write X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818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1" grpId="0" animBg="1"/>
      <p:bldP spid="12" grpId="0"/>
      <p:bldP spid="14" grpId="0"/>
      <p:bldP spid="15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BE3A-C73C-403E-B5F3-0C2EFB8E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Multiversion</a:t>
            </a:r>
            <a:r>
              <a:rPr lang="en-US" dirty="0"/>
              <a:t> concurrency control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E4289-24C5-4EC4-908B-35FAB2838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Many DBMS are implementing a variant of time-stamp based approaches, called </a:t>
            </a:r>
            <a:r>
              <a:rPr lang="en-US" dirty="0" err="1"/>
              <a:t>multiversion</a:t>
            </a:r>
            <a:r>
              <a:rPr lang="en-US" dirty="0"/>
              <a:t> concurrency control </a:t>
            </a:r>
          </a:p>
          <a:p>
            <a:r>
              <a:rPr lang="en-US" dirty="0"/>
              <a:t>The idea is the same as time-stamp based approaches to scheduling, but you have multiple versions of the database!</a:t>
            </a:r>
          </a:p>
          <a:p>
            <a:pPr lvl="1"/>
            <a:r>
              <a:rPr lang="en-US" dirty="0"/>
              <a:t>Meaning that write operations do not overwrite each other, but instead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(X) creates makes a new version of X at time TS(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Whenever you read, you read the latest version before your timestamp</a:t>
            </a:r>
          </a:p>
          <a:p>
            <a:r>
              <a:rPr lang="en-US" dirty="0"/>
              <a:t>This means that a transaction only need to restart if it tries to write AND the read timestamp is later than your timestamp</a:t>
            </a:r>
          </a:p>
          <a:p>
            <a:r>
              <a:rPr lang="en-US" dirty="0"/>
              <a:t>Or, written out in full, the rules are:</a:t>
            </a:r>
          </a:p>
          <a:p>
            <a:pPr lvl="1"/>
            <a:r>
              <a:rPr lang="en-US" dirty="0"/>
              <a:t>For writes: </a:t>
            </a:r>
            <a:r>
              <a:rPr lang="en-US" b="1" dirty="0">
                <a:solidFill>
                  <a:schemeClr val="accent2"/>
                </a:solidFill>
              </a:rPr>
              <a:t>Abort &amp; restart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if RT(X) &gt; TS(T</a:t>
            </a:r>
            <a:r>
              <a:rPr lang="en-US" baseline="-25000" dirty="0"/>
              <a:t>1</a:t>
            </a:r>
            <a:r>
              <a:rPr lang="en-US" dirty="0"/>
              <a:t>) and </a:t>
            </a:r>
            <a:r>
              <a:rPr lang="en-US" b="1" dirty="0">
                <a:solidFill>
                  <a:schemeClr val="accent2"/>
                </a:solidFill>
              </a:rPr>
              <a:t>otherwise, grant request</a:t>
            </a:r>
          </a:p>
          <a:p>
            <a:pPr lvl="1"/>
            <a:r>
              <a:rPr lang="en-US" dirty="0"/>
              <a:t>For reads: </a:t>
            </a:r>
            <a:r>
              <a:rPr lang="en-US" b="1" dirty="0">
                <a:solidFill>
                  <a:schemeClr val="accent2"/>
                </a:solidFill>
              </a:rPr>
              <a:t>Always granted</a:t>
            </a:r>
            <a:endParaRPr lang="en-US" dirty="0"/>
          </a:p>
          <a:p>
            <a:r>
              <a:rPr lang="en-US" dirty="0"/>
              <a:t>There is also a strict variant, where you delay reads until the transaction you read from commits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814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32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21557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11051353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7251479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498015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39500918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666623941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1BA576D-3943-40A6-A9E7-C76D1F7B4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24076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5669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33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049605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01903517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83744152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39608549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9341453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96201092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25" name="Table 10">
            <a:extLst>
              <a:ext uri="{FF2B5EF4-FFF2-40B4-BE49-F238E27FC236}">
                <a16:creationId xmlns:a16="http://schemas.microsoft.com/office/drawing/2014/main" id="{271DD6A8-57A1-4B73-B6AE-5D969B8E8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05285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EA82E8-7653-4DEE-A403-DE3F1A6C4C9B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60134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34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111156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44216004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72541625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87858745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202136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062880314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4D62BAA8-0A57-44BE-AE05-11EF93B12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51147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7237D6-599F-46CF-8BFE-B077E4F14627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92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35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795802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7371922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9549341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68879199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95241278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392690563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346B54C1-7489-4FB2-8B2E-3F3C075F5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51147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D5A82A4-91C5-4C1B-A643-0B342E95C586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1726BE-BCDE-4A53-9E9B-795173F9A56B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97539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36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73896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7678882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09421302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21737988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15352931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942640779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A4C49549-A082-4D5F-B03D-6E14A0B45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51147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1BB330A-BFEA-49A6-B9DF-C554304359E0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ACB3474-FD60-41F5-96E6-3A28B8D46575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497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37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09005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41920798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97759566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45990785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3823546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015800753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B28665A7-8245-4568-B87C-CF5ACD1B4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800402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B2BC155-A929-4980-9429-F895E41A8C98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BBE3B6D-4AB6-4F55-80F8-E252AE5D8570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17716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38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895229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62640933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42742975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15638762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9144674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012668059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B28665A7-8245-4568-B87C-CF5ACD1B4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388501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B2BC155-A929-4980-9429-F895E41A8C98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BBE3B6D-4AB6-4F55-80F8-E252AE5D8570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0963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39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433741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noStrike" dirty="0"/>
                        <a:t>read(Y)</a:t>
                      </a:r>
                      <a:endParaRPr lang="en-US" b="1" strike="noStrike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016208189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518274887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9978663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60991635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643678908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91" name="Rounded Rectangular Callout 90"/>
          <p:cNvSpPr/>
          <p:nvPr/>
        </p:nvSpPr>
        <p:spPr>
          <a:xfrm>
            <a:off x="4079777" y="4365104"/>
            <a:ext cx="1376839" cy="686608"/>
          </a:xfrm>
          <a:prstGeom prst="wedgeRoundRectCallout">
            <a:avLst>
              <a:gd name="adj1" fmla="val -63818"/>
              <a:gd name="adj2" fmla="val -471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No abort!</a:t>
            </a:r>
            <a:endParaRPr lang="en-US" baseline="-25000" dirty="0">
              <a:sym typeface="Wingdings"/>
            </a:endParaRP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DCB1684A-C571-4CFA-A4E6-4855B1583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282211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4808BA-E36E-44A8-B26C-9B7E1760B122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568E0E-D3FA-4714-BA36-A02DAEB63F50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1FAD74C-D904-4887-9D2E-B9A93C955A84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A6A2D0-C5CC-4354-9C76-7902F16D481B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5DCDF4B-1DB9-4453-89B9-300CE2B5A8EE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0DD048E-3826-4ED1-813F-8FA928DF6CAA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A8AD082-9516-46A1-BB9B-43F6B3A8BEC5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21CA2ED-9762-4E09-8D37-2B20EB8AE965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72002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40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09392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5126527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2126689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70204618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36811896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622885300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77689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2321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41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95485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1)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63390"/>
              </p:ext>
            </p:extLst>
          </p:nvPr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sp>
        <p:nvSpPr>
          <p:cNvPr id="59" name="Rounded Rectangular Callout 90">
            <a:extLst>
              <a:ext uri="{FF2B5EF4-FFF2-40B4-BE49-F238E27FC236}">
                <a16:creationId xmlns:a16="http://schemas.microsoft.com/office/drawing/2014/main" id="{044071C8-5097-4BBF-96F1-584B77BF0EB4}"/>
              </a:ext>
            </a:extLst>
          </p:cNvPr>
          <p:cNvSpPr/>
          <p:nvPr/>
        </p:nvSpPr>
        <p:spPr>
          <a:xfrm>
            <a:off x="3729588" y="4821748"/>
            <a:ext cx="1376839" cy="686608"/>
          </a:xfrm>
          <a:prstGeom prst="wedgeRoundRectCallout">
            <a:avLst>
              <a:gd name="adj1" fmla="val -63818"/>
              <a:gd name="adj2" fmla="val -471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Abort &amp; restart</a:t>
            </a:r>
            <a:endParaRPr lang="en-US" baseline="-25000" dirty="0">
              <a:sym typeface="Wingding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4404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42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40304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/>
        </p:nvGraphicFramePr>
        <p:xfrm>
          <a:off x="8509562" y="2423411"/>
          <a:ext cx="3637161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sp>
        <p:nvSpPr>
          <p:cNvPr id="6" name="Rounded Rectangular Callout 87">
            <a:extLst>
              <a:ext uri="{FF2B5EF4-FFF2-40B4-BE49-F238E27FC236}">
                <a16:creationId xmlns:a16="http://schemas.microsoft.com/office/drawing/2014/main" id="{4FC0FED9-508C-46BB-8A63-05B791188C21}"/>
              </a:ext>
            </a:extLst>
          </p:cNvPr>
          <p:cNvSpPr/>
          <p:nvPr/>
        </p:nvSpPr>
        <p:spPr>
          <a:xfrm>
            <a:off x="2363055" y="1161442"/>
            <a:ext cx="1739773" cy="445772"/>
          </a:xfrm>
          <a:prstGeom prst="wedgeRoundRectCallout">
            <a:avLst>
              <a:gd name="adj1" fmla="val 20277"/>
              <a:gd name="adj2" fmla="val 83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New timestamp</a:t>
            </a:r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6317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43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069466"/>
              </p:ext>
            </p:extLst>
          </p:nvPr>
        </p:nvGraphicFramePr>
        <p:xfrm>
          <a:off x="8509562" y="2423411"/>
          <a:ext cx="363716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0373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sp>
        <p:nvSpPr>
          <p:cNvPr id="6" name="Rounded Rectangular Callout 87">
            <a:extLst>
              <a:ext uri="{FF2B5EF4-FFF2-40B4-BE49-F238E27FC236}">
                <a16:creationId xmlns:a16="http://schemas.microsoft.com/office/drawing/2014/main" id="{4FC0FED9-508C-46BB-8A63-05B791188C21}"/>
              </a:ext>
            </a:extLst>
          </p:cNvPr>
          <p:cNvSpPr/>
          <p:nvPr/>
        </p:nvSpPr>
        <p:spPr>
          <a:xfrm>
            <a:off x="2363055" y="1161442"/>
            <a:ext cx="1739773" cy="445772"/>
          </a:xfrm>
          <a:prstGeom prst="wedgeRoundRectCallout">
            <a:avLst>
              <a:gd name="adj1" fmla="val 20277"/>
              <a:gd name="adj2" fmla="val 83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New timestamp</a:t>
            </a:r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25297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44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573444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737625"/>
              </p:ext>
            </p:extLst>
          </p:nvPr>
        </p:nvGraphicFramePr>
        <p:xfrm>
          <a:off x="8509562" y="2423411"/>
          <a:ext cx="363716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1206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C85042-8179-49C1-A4B5-8C872D3E329A}"/>
              </a:ext>
            </a:extLst>
          </p:cNvPr>
          <p:cNvGrpSpPr/>
          <p:nvPr/>
        </p:nvGrpSpPr>
        <p:grpSpPr>
          <a:xfrm>
            <a:off x="5794935" y="4979538"/>
            <a:ext cx="2477467" cy="369332"/>
            <a:chOff x="5626061" y="1941792"/>
            <a:chExt cx="2477467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EE3C58-71D7-4AA7-B997-611F9A994F47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F8F6E7-B40A-4D61-A00C-CE7CCBA1378B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6F2909-E126-48F0-BC73-5C8221AB74F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D896299-DDF3-42D4-8CC1-DE33EB4AF5BB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6D1A31-584C-46E2-A190-EE39C7A3C75F}"/>
              </a:ext>
            </a:extLst>
          </p:cNvPr>
          <p:cNvCxnSpPr>
            <a:cxnSpLocks/>
          </p:cNvCxnSpPr>
          <p:nvPr/>
        </p:nvCxnSpPr>
        <p:spPr>
          <a:xfrm flipV="1">
            <a:off x="3525078" y="3076395"/>
            <a:ext cx="6520124" cy="20787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86085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45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292719"/>
              </p:ext>
            </p:extLst>
          </p:nvPr>
        </p:nvGraphicFramePr>
        <p:xfrm>
          <a:off x="8509562" y="2423411"/>
          <a:ext cx="363716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02236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C85042-8179-49C1-A4B5-8C872D3E329A}"/>
              </a:ext>
            </a:extLst>
          </p:cNvPr>
          <p:cNvGrpSpPr/>
          <p:nvPr/>
        </p:nvGrpSpPr>
        <p:grpSpPr>
          <a:xfrm>
            <a:off x="5794935" y="4979538"/>
            <a:ext cx="2477467" cy="369332"/>
            <a:chOff x="5626061" y="1941792"/>
            <a:chExt cx="2477467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EE3C58-71D7-4AA7-B997-611F9A994F47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F8F6E7-B40A-4D61-A00C-CE7CCBA1378B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6F2909-E126-48F0-BC73-5C8221AB74F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D896299-DDF3-42D4-8CC1-DE33EB4AF5BB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46DE6E-E76F-4B5D-93D1-F65B19E5AD3B}"/>
              </a:ext>
            </a:extLst>
          </p:cNvPr>
          <p:cNvGrpSpPr/>
          <p:nvPr/>
        </p:nvGrpSpPr>
        <p:grpSpPr>
          <a:xfrm>
            <a:off x="5801563" y="5317468"/>
            <a:ext cx="2477467" cy="369332"/>
            <a:chOff x="5626061" y="1941792"/>
            <a:chExt cx="2477467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8DE23A-4162-41AD-B36A-2799000F7DFD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465F28E-B99B-4845-BA0A-07F8C895768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90BEECE-A41B-43F9-AED7-731EB30603F8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92F6E7F-2F57-42F4-A293-375B85311BB5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6D1A31-584C-46E2-A190-EE39C7A3C75F}"/>
              </a:ext>
            </a:extLst>
          </p:cNvPr>
          <p:cNvCxnSpPr>
            <a:cxnSpLocks/>
          </p:cNvCxnSpPr>
          <p:nvPr/>
        </p:nvCxnSpPr>
        <p:spPr>
          <a:xfrm flipV="1">
            <a:off x="3525078" y="3076395"/>
            <a:ext cx="6520124" cy="20787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2191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46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346658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13447"/>
              </p:ext>
            </p:extLst>
          </p:nvPr>
        </p:nvGraphicFramePr>
        <p:xfrm>
          <a:off x="8509562" y="2423411"/>
          <a:ext cx="363716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176117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C85042-8179-49C1-A4B5-8C872D3E329A}"/>
              </a:ext>
            </a:extLst>
          </p:cNvPr>
          <p:cNvGrpSpPr/>
          <p:nvPr/>
        </p:nvGrpSpPr>
        <p:grpSpPr>
          <a:xfrm>
            <a:off x="5794935" y="4979538"/>
            <a:ext cx="2477467" cy="369332"/>
            <a:chOff x="5626061" y="1941792"/>
            <a:chExt cx="2477467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EE3C58-71D7-4AA7-B997-611F9A994F47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F8F6E7-B40A-4D61-A00C-CE7CCBA1378B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6F2909-E126-48F0-BC73-5C8221AB74F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D896299-DDF3-42D4-8CC1-DE33EB4AF5BB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46DE6E-E76F-4B5D-93D1-F65B19E5AD3B}"/>
              </a:ext>
            </a:extLst>
          </p:cNvPr>
          <p:cNvGrpSpPr/>
          <p:nvPr/>
        </p:nvGrpSpPr>
        <p:grpSpPr>
          <a:xfrm>
            <a:off x="5801563" y="5317468"/>
            <a:ext cx="2477467" cy="369332"/>
            <a:chOff x="5626061" y="1941792"/>
            <a:chExt cx="2477467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8DE23A-4162-41AD-B36A-2799000F7DFD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465F28E-B99B-4845-BA0A-07F8C895768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90BEECE-A41B-43F9-AED7-731EB30603F8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92F6E7F-2F57-42F4-A293-375B85311BB5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6D1A31-584C-46E2-A190-EE39C7A3C75F}"/>
              </a:ext>
            </a:extLst>
          </p:cNvPr>
          <p:cNvCxnSpPr>
            <a:cxnSpLocks/>
          </p:cNvCxnSpPr>
          <p:nvPr/>
        </p:nvCxnSpPr>
        <p:spPr>
          <a:xfrm flipV="1">
            <a:off x="3525078" y="3076395"/>
            <a:ext cx="6520124" cy="20787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CCDE872-4F5E-462E-9FB3-9B61D13AFBE3}"/>
              </a:ext>
            </a:extLst>
          </p:cNvPr>
          <p:cNvGrpSpPr/>
          <p:nvPr/>
        </p:nvGrpSpPr>
        <p:grpSpPr>
          <a:xfrm>
            <a:off x="5794935" y="5662261"/>
            <a:ext cx="2477467" cy="369332"/>
            <a:chOff x="5626061" y="1941792"/>
            <a:chExt cx="2477467" cy="3693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C55820E-A6BC-432F-8820-C723D806B056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C7E8BC-06D2-4C38-B87E-5FA9F064C94F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7C93DEB-B78A-4720-A05B-C0546029F08A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B45D47-3FDA-4153-9AA0-818DD37DCEA6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B3D9D7-F9D7-434F-B81F-1EA2E4222540}"/>
              </a:ext>
            </a:extLst>
          </p:cNvPr>
          <p:cNvCxnSpPr>
            <a:cxnSpLocks/>
          </p:cNvCxnSpPr>
          <p:nvPr/>
        </p:nvCxnSpPr>
        <p:spPr>
          <a:xfrm flipV="1">
            <a:off x="3525078" y="3720107"/>
            <a:ext cx="7421218" cy="20878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0782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47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015787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294104"/>
              </p:ext>
            </p:extLst>
          </p:nvPr>
        </p:nvGraphicFramePr>
        <p:xfrm>
          <a:off x="8509562" y="2423411"/>
          <a:ext cx="363716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8738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C85042-8179-49C1-A4B5-8C872D3E329A}"/>
              </a:ext>
            </a:extLst>
          </p:cNvPr>
          <p:cNvGrpSpPr/>
          <p:nvPr/>
        </p:nvGrpSpPr>
        <p:grpSpPr>
          <a:xfrm>
            <a:off x="5794935" y="4979538"/>
            <a:ext cx="2477467" cy="369332"/>
            <a:chOff x="5626061" y="1941792"/>
            <a:chExt cx="2477467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EE3C58-71D7-4AA7-B997-611F9A994F47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F8F6E7-B40A-4D61-A00C-CE7CCBA1378B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6F2909-E126-48F0-BC73-5C8221AB74F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D896299-DDF3-42D4-8CC1-DE33EB4AF5BB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46DE6E-E76F-4B5D-93D1-F65B19E5AD3B}"/>
              </a:ext>
            </a:extLst>
          </p:cNvPr>
          <p:cNvGrpSpPr/>
          <p:nvPr/>
        </p:nvGrpSpPr>
        <p:grpSpPr>
          <a:xfrm>
            <a:off x="5801563" y="5317468"/>
            <a:ext cx="2477467" cy="369332"/>
            <a:chOff x="5626061" y="1941792"/>
            <a:chExt cx="2477467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8DE23A-4162-41AD-B36A-2799000F7DFD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465F28E-B99B-4845-BA0A-07F8C895768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90BEECE-A41B-43F9-AED7-731EB30603F8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92F6E7F-2F57-42F4-A293-375B85311BB5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6D1A31-584C-46E2-A190-EE39C7A3C75F}"/>
              </a:ext>
            </a:extLst>
          </p:cNvPr>
          <p:cNvCxnSpPr>
            <a:cxnSpLocks/>
          </p:cNvCxnSpPr>
          <p:nvPr/>
        </p:nvCxnSpPr>
        <p:spPr>
          <a:xfrm flipV="1">
            <a:off x="3525078" y="3076395"/>
            <a:ext cx="6520124" cy="20787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CCDE872-4F5E-462E-9FB3-9B61D13AFBE3}"/>
              </a:ext>
            </a:extLst>
          </p:cNvPr>
          <p:cNvGrpSpPr/>
          <p:nvPr/>
        </p:nvGrpSpPr>
        <p:grpSpPr>
          <a:xfrm>
            <a:off x="5794935" y="5662261"/>
            <a:ext cx="2477467" cy="369332"/>
            <a:chOff x="5626061" y="1941792"/>
            <a:chExt cx="2477467" cy="3693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C55820E-A6BC-432F-8820-C723D806B056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C7E8BC-06D2-4C38-B87E-5FA9F064C94F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7C93DEB-B78A-4720-A05B-C0546029F08A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B45D47-3FDA-4153-9AA0-818DD37DCEA6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B3D9D7-F9D7-434F-B81F-1EA2E4222540}"/>
              </a:ext>
            </a:extLst>
          </p:cNvPr>
          <p:cNvCxnSpPr>
            <a:cxnSpLocks/>
          </p:cNvCxnSpPr>
          <p:nvPr/>
        </p:nvCxnSpPr>
        <p:spPr>
          <a:xfrm flipV="1">
            <a:off x="3525078" y="3720107"/>
            <a:ext cx="7421218" cy="20878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34C66DB-0919-4AF6-8E16-3C217C3EB138}"/>
              </a:ext>
            </a:extLst>
          </p:cNvPr>
          <p:cNvGrpSpPr/>
          <p:nvPr/>
        </p:nvGrpSpPr>
        <p:grpSpPr>
          <a:xfrm>
            <a:off x="5807608" y="5975684"/>
            <a:ext cx="2477467" cy="369332"/>
            <a:chOff x="5626061" y="1941792"/>
            <a:chExt cx="2477467" cy="36933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A85506-37D5-42F9-8CA4-5B57FC954AB3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728314-F1CE-4D2A-9EAB-6B66ACA28F3D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B700AA9-5C7A-49CF-9240-AC56F081D8A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2FEBF4A-ECFC-4E9C-AFF6-302B21F41439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94954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48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902458"/>
              </p:ext>
            </p:extLst>
          </p:nvPr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165114"/>
              </p:ext>
            </p:extLst>
          </p:nvPr>
        </p:nvGraphicFramePr>
        <p:xfrm>
          <a:off x="8509562" y="2423411"/>
          <a:ext cx="363716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211847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C85042-8179-49C1-A4B5-8C872D3E329A}"/>
              </a:ext>
            </a:extLst>
          </p:cNvPr>
          <p:cNvGrpSpPr/>
          <p:nvPr/>
        </p:nvGrpSpPr>
        <p:grpSpPr>
          <a:xfrm>
            <a:off x="5794935" y="4979538"/>
            <a:ext cx="2477467" cy="369332"/>
            <a:chOff x="5626061" y="1941792"/>
            <a:chExt cx="2477467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EE3C58-71D7-4AA7-B997-611F9A994F47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F8F6E7-B40A-4D61-A00C-CE7CCBA1378B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6F2909-E126-48F0-BC73-5C8221AB74F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D896299-DDF3-42D4-8CC1-DE33EB4AF5BB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46DE6E-E76F-4B5D-93D1-F65B19E5AD3B}"/>
              </a:ext>
            </a:extLst>
          </p:cNvPr>
          <p:cNvGrpSpPr/>
          <p:nvPr/>
        </p:nvGrpSpPr>
        <p:grpSpPr>
          <a:xfrm>
            <a:off x="5801563" y="5317468"/>
            <a:ext cx="2477467" cy="369332"/>
            <a:chOff x="5626061" y="1941792"/>
            <a:chExt cx="2477467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8DE23A-4162-41AD-B36A-2799000F7DFD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465F28E-B99B-4845-BA0A-07F8C895768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90BEECE-A41B-43F9-AED7-731EB30603F8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92F6E7F-2F57-42F4-A293-375B85311BB5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6D1A31-584C-46E2-A190-EE39C7A3C75F}"/>
              </a:ext>
            </a:extLst>
          </p:cNvPr>
          <p:cNvCxnSpPr>
            <a:cxnSpLocks/>
          </p:cNvCxnSpPr>
          <p:nvPr/>
        </p:nvCxnSpPr>
        <p:spPr>
          <a:xfrm flipV="1">
            <a:off x="3525078" y="3076395"/>
            <a:ext cx="6520124" cy="20787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CCDE872-4F5E-462E-9FB3-9B61D13AFBE3}"/>
              </a:ext>
            </a:extLst>
          </p:cNvPr>
          <p:cNvGrpSpPr/>
          <p:nvPr/>
        </p:nvGrpSpPr>
        <p:grpSpPr>
          <a:xfrm>
            <a:off x="5794935" y="5662261"/>
            <a:ext cx="2477467" cy="369332"/>
            <a:chOff x="5626061" y="1941792"/>
            <a:chExt cx="2477467" cy="3693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C55820E-A6BC-432F-8820-C723D806B056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C7E8BC-06D2-4C38-B87E-5FA9F064C94F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7C93DEB-B78A-4720-A05B-C0546029F08A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B45D47-3FDA-4153-9AA0-818DD37DCEA6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B3D9D7-F9D7-434F-B81F-1EA2E4222540}"/>
              </a:ext>
            </a:extLst>
          </p:cNvPr>
          <p:cNvCxnSpPr>
            <a:cxnSpLocks/>
          </p:cNvCxnSpPr>
          <p:nvPr/>
        </p:nvCxnSpPr>
        <p:spPr>
          <a:xfrm flipV="1">
            <a:off x="3525078" y="3720107"/>
            <a:ext cx="7421218" cy="20878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34C66DB-0919-4AF6-8E16-3C217C3EB138}"/>
              </a:ext>
            </a:extLst>
          </p:cNvPr>
          <p:cNvGrpSpPr/>
          <p:nvPr/>
        </p:nvGrpSpPr>
        <p:grpSpPr>
          <a:xfrm>
            <a:off x="5807608" y="5975684"/>
            <a:ext cx="2477467" cy="369332"/>
            <a:chOff x="5626061" y="1941792"/>
            <a:chExt cx="2477467" cy="36933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A85506-37D5-42F9-8CA4-5B57FC954AB3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728314-F1CE-4D2A-9EAB-6B66ACA28F3D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B700AA9-5C7A-49CF-9240-AC56F081D8A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2FEBF4A-ECFC-4E9C-AFF6-302B21F41439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21EB7A2-A875-42ED-BDF3-0B2DFD482893}"/>
              </a:ext>
            </a:extLst>
          </p:cNvPr>
          <p:cNvGrpSpPr/>
          <p:nvPr/>
        </p:nvGrpSpPr>
        <p:grpSpPr>
          <a:xfrm>
            <a:off x="5814232" y="6300343"/>
            <a:ext cx="2477467" cy="369332"/>
            <a:chOff x="5626061" y="1941792"/>
            <a:chExt cx="2477467" cy="369332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DDD740B-22FE-40AA-A630-36FE4C17B835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1BA181E-D31A-4ED6-8FCF-868252D540C3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D4D8B90-404E-431B-A9FF-58F1E6966DF1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8A64318-4AF2-46AB-B705-A6DE2BF6452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11714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MVCC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49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90342" y="1806267"/>
          <a:ext cx="6362763" cy="48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37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   </a:t>
                      </a:r>
                      <a:r>
                        <a:rPr lang="en-US" b="0" baseline="0" dirty="0"/>
                        <a:t>(TS = 3)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   </a:t>
                      </a:r>
                      <a:r>
                        <a:rPr lang="en-US" b="0" baseline="0" dirty="0"/>
                        <a:t>(TS = 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WT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:= Y *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199886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0" dirty="0"/>
                        <a:t> := X + 100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80877416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noStrike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280565670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</a:t>
                      </a:r>
                      <a:r>
                        <a:rPr lang="en-US" baseline="0" dirty="0"/>
                        <a:t> := Y * 3</a:t>
                      </a:r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53323231"/>
                  </a:ext>
                </a:extLst>
              </a:tr>
              <a:tr h="320833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34121865"/>
                  </a:ext>
                </a:extLst>
              </a:tr>
            </a:tbl>
          </a:graphicData>
        </a:graphic>
      </p:graphicFrame>
      <p:grpSp>
        <p:nvGrpSpPr>
          <p:cNvPr id="132" name="Group 131"/>
          <p:cNvGrpSpPr/>
          <p:nvPr/>
        </p:nvGrpSpPr>
        <p:grpSpPr>
          <a:xfrm>
            <a:off x="5778774" y="2085504"/>
            <a:ext cx="2477467" cy="369332"/>
            <a:chOff x="5626061" y="1941792"/>
            <a:chExt cx="2477467" cy="369332"/>
          </a:xfrm>
        </p:grpSpPr>
        <p:sp>
          <p:nvSpPr>
            <p:cNvPr id="133" name="TextBox 13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778774" y="2410006"/>
            <a:ext cx="2477467" cy="369332"/>
            <a:chOff x="5626061" y="1941792"/>
            <a:chExt cx="2477467" cy="369332"/>
          </a:xfrm>
        </p:grpSpPr>
        <p:sp>
          <p:nvSpPr>
            <p:cNvPr id="143" name="TextBox 14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1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5778774" y="2708920"/>
            <a:ext cx="2477467" cy="369332"/>
            <a:chOff x="5626061" y="1941792"/>
            <a:chExt cx="2477467" cy="369332"/>
          </a:xfrm>
        </p:grpSpPr>
        <p:sp>
          <p:nvSpPr>
            <p:cNvPr id="148" name="TextBox 14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778774" y="3045760"/>
            <a:ext cx="2477467" cy="369332"/>
            <a:chOff x="5626061" y="1941792"/>
            <a:chExt cx="2477467" cy="369332"/>
          </a:xfrm>
        </p:grpSpPr>
        <p:sp>
          <p:nvSpPr>
            <p:cNvPr id="153" name="TextBox 15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5778774" y="3350775"/>
            <a:ext cx="2477467" cy="369332"/>
            <a:chOff x="5626061" y="1941792"/>
            <a:chExt cx="2477467" cy="369332"/>
          </a:xfrm>
        </p:grpSpPr>
        <p:sp>
          <p:nvSpPr>
            <p:cNvPr id="158" name="TextBox 157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778774" y="3655790"/>
            <a:ext cx="2477467" cy="369332"/>
            <a:chOff x="5626061" y="1941792"/>
            <a:chExt cx="2477467" cy="369332"/>
          </a:xfrm>
        </p:grpSpPr>
        <p:sp>
          <p:nvSpPr>
            <p:cNvPr id="163" name="TextBox 162"/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2</a:t>
              </a:r>
            </a:p>
          </p:txBody>
        </p:sp>
      </p:grpSp>
      <p:sp>
        <p:nvSpPr>
          <p:cNvPr id="197" name="Left Brace 196"/>
          <p:cNvSpPr/>
          <p:nvPr/>
        </p:nvSpPr>
        <p:spPr>
          <a:xfrm rot="5400000">
            <a:off x="6302610" y="1031216"/>
            <a:ext cx="148580" cy="1224136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Left Brace 197"/>
          <p:cNvSpPr/>
          <p:nvPr/>
        </p:nvSpPr>
        <p:spPr>
          <a:xfrm rot="5400000">
            <a:off x="7576904" y="1081376"/>
            <a:ext cx="143936" cy="1128464"/>
          </a:xfrm>
          <a:prstGeom prst="leftBrace">
            <a:avLst>
              <a:gd name="adj1" fmla="val 8333"/>
              <a:gd name="adj2" fmla="val 504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/>
          <p:cNvSpPr txBox="1"/>
          <p:nvPr/>
        </p:nvSpPr>
        <p:spPr>
          <a:xfrm>
            <a:off x="6224454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6426" y="11996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80FE0A2-7536-4AA8-ADB0-6E91895A87B4}"/>
              </a:ext>
            </a:extLst>
          </p:cNvPr>
          <p:cNvGraphicFramePr>
            <a:graphicFrameLocks noGrp="1"/>
          </p:cNvGraphicFramePr>
          <p:nvPr/>
        </p:nvGraphicFramePr>
        <p:xfrm>
          <a:off x="8509562" y="2423411"/>
          <a:ext cx="363716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95">
                  <a:extLst>
                    <a:ext uri="{9D8B030D-6E8A-4147-A177-3AD203B41FA5}">
                      <a16:colId xmlns:a16="http://schemas.microsoft.com/office/drawing/2014/main" val="3407094494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146821316"/>
                    </a:ext>
                  </a:extLst>
                </a:gridCol>
                <a:gridCol w="1212387">
                  <a:extLst>
                    <a:ext uri="{9D8B030D-6E8A-4147-A177-3AD203B41FA5}">
                      <a16:colId xmlns:a16="http://schemas.microsoft.com/office/drawing/2014/main" val="1043248107"/>
                    </a:ext>
                  </a:extLst>
                </a:gridCol>
              </a:tblGrid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665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84384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46180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90885"/>
                  </a:ext>
                </a:extLst>
              </a:tr>
              <a:tr h="362689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211847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0C5BF7-5666-47E7-A904-CA2871590E65}"/>
              </a:ext>
            </a:extLst>
          </p:cNvPr>
          <p:cNvCxnSpPr>
            <a:cxnSpLocks/>
          </p:cNvCxnSpPr>
          <p:nvPr/>
        </p:nvCxnSpPr>
        <p:spPr>
          <a:xfrm>
            <a:off x="3682439" y="2570922"/>
            <a:ext cx="6218019" cy="34455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50667-64A0-4E39-A3EC-FDFFC4D59F52}"/>
              </a:ext>
            </a:extLst>
          </p:cNvPr>
          <p:cNvCxnSpPr>
            <a:cxnSpLocks/>
          </p:cNvCxnSpPr>
          <p:nvPr/>
        </p:nvCxnSpPr>
        <p:spPr>
          <a:xfrm flipV="1">
            <a:off x="5287617" y="2984386"/>
            <a:ext cx="5658679" cy="3006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C2D6B4-9769-4872-A340-F37C808E2E28}"/>
              </a:ext>
            </a:extLst>
          </p:cNvPr>
          <p:cNvCxnSpPr>
            <a:cxnSpLocks/>
          </p:cNvCxnSpPr>
          <p:nvPr/>
        </p:nvCxnSpPr>
        <p:spPr>
          <a:xfrm flipV="1">
            <a:off x="3682439" y="3076394"/>
            <a:ext cx="7366561" cy="11525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860D588-EA1E-4FBF-9C2D-2C87B8AA1136}"/>
              </a:ext>
            </a:extLst>
          </p:cNvPr>
          <p:cNvGrpSpPr/>
          <p:nvPr/>
        </p:nvGrpSpPr>
        <p:grpSpPr>
          <a:xfrm>
            <a:off x="5775638" y="4008996"/>
            <a:ext cx="2477467" cy="369332"/>
            <a:chOff x="5626061" y="1941792"/>
            <a:chExt cx="2477467" cy="36933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94E4445-E57B-43DD-ADE4-B7C8D7D759A2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33E5BE-EFD3-409D-A328-2085C1DC43E6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8F843A-47CE-4BF6-A994-A461DF244F9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4AC4AD3-4CE9-4FC5-818A-4F857CF2FE94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845C2F7-4685-4A86-A969-6B7F63313B09}"/>
              </a:ext>
            </a:extLst>
          </p:cNvPr>
          <p:cNvGrpSpPr/>
          <p:nvPr/>
        </p:nvGrpSpPr>
        <p:grpSpPr>
          <a:xfrm>
            <a:off x="5782266" y="4360176"/>
            <a:ext cx="2477467" cy="369332"/>
            <a:chOff x="5626061" y="1941792"/>
            <a:chExt cx="2477467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464EB3-5822-4E83-A17E-EEB5A5812CCF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97D255-7631-485B-B6BA-BA931E776B4E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461C72-3FCF-4AD0-8B9A-73F42B7F3F46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098B06-27F9-4F87-A1C5-FF148DC8F067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E3156D-BAA2-4176-A025-C65A36976462}"/>
              </a:ext>
            </a:extLst>
          </p:cNvPr>
          <p:cNvGrpSpPr/>
          <p:nvPr/>
        </p:nvGrpSpPr>
        <p:grpSpPr>
          <a:xfrm>
            <a:off x="5788311" y="4667217"/>
            <a:ext cx="2477467" cy="369332"/>
            <a:chOff x="5626061" y="1941792"/>
            <a:chExt cx="2477467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E85497-E733-49C6-A033-2D7AB0FADAD1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FF86EC-9A2A-460A-89EE-268FD3E1BEB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40A62E-B09A-4D3F-9F71-26E0611AB790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1B67C0-C81F-49CD-A59E-08B8A5802C3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C85042-8179-49C1-A4B5-8C872D3E329A}"/>
              </a:ext>
            </a:extLst>
          </p:cNvPr>
          <p:cNvGrpSpPr/>
          <p:nvPr/>
        </p:nvGrpSpPr>
        <p:grpSpPr>
          <a:xfrm>
            <a:off x="5794935" y="4979538"/>
            <a:ext cx="2477467" cy="369332"/>
            <a:chOff x="5626061" y="1941792"/>
            <a:chExt cx="2477467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EE3C58-71D7-4AA7-B997-611F9A994F47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F8F6E7-B40A-4D61-A00C-CE7CCBA1378B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6F2909-E126-48F0-BC73-5C8221AB74F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D896299-DDF3-42D4-8CC1-DE33EB4AF5BB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46DE6E-E76F-4B5D-93D1-F65B19E5AD3B}"/>
              </a:ext>
            </a:extLst>
          </p:cNvPr>
          <p:cNvGrpSpPr/>
          <p:nvPr/>
        </p:nvGrpSpPr>
        <p:grpSpPr>
          <a:xfrm>
            <a:off x="5801563" y="5317468"/>
            <a:ext cx="2477467" cy="369332"/>
            <a:chOff x="5626061" y="1941792"/>
            <a:chExt cx="2477467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8DE23A-4162-41AD-B36A-2799000F7DFD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465F28E-B99B-4845-BA0A-07F8C8957687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90BEECE-A41B-43F9-AED7-731EB30603F8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92F6E7F-2F57-42F4-A293-375B85311BB5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6D1A31-584C-46E2-A190-EE39C7A3C75F}"/>
              </a:ext>
            </a:extLst>
          </p:cNvPr>
          <p:cNvCxnSpPr>
            <a:cxnSpLocks/>
          </p:cNvCxnSpPr>
          <p:nvPr/>
        </p:nvCxnSpPr>
        <p:spPr>
          <a:xfrm flipV="1">
            <a:off x="3525078" y="3076395"/>
            <a:ext cx="6520124" cy="20787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CCDE872-4F5E-462E-9FB3-9B61D13AFBE3}"/>
              </a:ext>
            </a:extLst>
          </p:cNvPr>
          <p:cNvGrpSpPr/>
          <p:nvPr/>
        </p:nvGrpSpPr>
        <p:grpSpPr>
          <a:xfrm>
            <a:off x="5794935" y="5662261"/>
            <a:ext cx="2477467" cy="369332"/>
            <a:chOff x="5626061" y="1941792"/>
            <a:chExt cx="2477467" cy="3693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C55820E-A6BC-432F-8820-C723D806B056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C7E8BC-06D2-4C38-B87E-5FA9F064C94F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7C93DEB-B78A-4720-A05B-C0546029F08A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B45D47-3FDA-4153-9AA0-818DD37DCEA6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B3D9D7-F9D7-434F-B81F-1EA2E4222540}"/>
              </a:ext>
            </a:extLst>
          </p:cNvPr>
          <p:cNvCxnSpPr>
            <a:cxnSpLocks/>
          </p:cNvCxnSpPr>
          <p:nvPr/>
        </p:nvCxnSpPr>
        <p:spPr>
          <a:xfrm flipV="1">
            <a:off x="3525078" y="3720107"/>
            <a:ext cx="7421218" cy="20878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34C66DB-0919-4AF6-8E16-3C217C3EB138}"/>
              </a:ext>
            </a:extLst>
          </p:cNvPr>
          <p:cNvGrpSpPr/>
          <p:nvPr/>
        </p:nvGrpSpPr>
        <p:grpSpPr>
          <a:xfrm>
            <a:off x="5807608" y="5975684"/>
            <a:ext cx="2477467" cy="369332"/>
            <a:chOff x="5626061" y="1941792"/>
            <a:chExt cx="2477467" cy="36933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A85506-37D5-42F9-8CA4-5B57FC954AB3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728314-F1CE-4D2A-9EAB-6B66ACA28F3D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B700AA9-5C7A-49CF-9240-AC56F081D8AD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2FEBF4A-ECFC-4E9C-AFF6-302B21F41439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2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21EB7A2-A875-42ED-BDF3-0B2DFD482893}"/>
              </a:ext>
            </a:extLst>
          </p:cNvPr>
          <p:cNvGrpSpPr/>
          <p:nvPr/>
        </p:nvGrpSpPr>
        <p:grpSpPr>
          <a:xfrm>
            <a:off x="5814232" y="6300343"/>
            <a:ext cx="2477467" cy="369332"/>
            <a:chOff x="5626061" y="1941792"/>
            <a:chExt cx="2477467" cy="369332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DDD740B-22FE-40AA-A630-36FE4C17B835}"/>
                </a:ext>
              </a:extLst>
            </p:cNvPr>
            <p:cNvSpPr txBox="1"/>
            <p:nvPr/>
          </p:nvSpPr>
          <p:spPr>
            <a:xfrm>
              <a:off x="5626061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1BA181E-D31A-4ED6-8FCF-868252D540C3}"/>
                </a:ext>
              </a:extLst>
            </p:cNvPr>
            <p:cNvSpPr txBox="1"/>
            <p:nvPr/>
          </p:nvSpPr>
          <p:spPr>
            <a:xfrm>
              <a:off x="623081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D4D8B90-404E-431B-A9FF-58F1E6966DF1}"/>
                </a:ext>
              </a:extLst>
            </p:cNvPr>
            <p:cNvSpPr txBox="1"/>
            <p:nvPr/>
          </p:nvSpPr>
          <p:spPr>
            <a:xfrm>
              <a:off x="6884092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3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8A64318-4AF2-46AB-B705-A6DE2BF64521}"/>
                </a:ext>
              </a:extLst>
            </p:cNvPr>
            <p:cNvSpPr txBox="1"/>
            <p:nvPr/>
          </p:nvSpPr>
          <p:spPr>
            <a:xfrm>
              <a:off x="7496160" y="1941792"/>
              <a:ext cx="607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1306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7F31-FCC9-4484-98CE-09C304E7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E087-7CFC-4CE7-B76E-D49B63F21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can use an alternate technique (instead of Strict 2PL) to ensure all the ACID properties and avoid deadlocks automatically:</a:t>
            </a:r>
            <a:r>
              <a:rPr lang="en-GB" dirty="0"/>
              <a:t> The idea is to just act as if the transaction was executed at its start time and restart any transaction that attempts to create a paradox with that!</a:t>
            </a:r>
          </a:p>
          <a:p>
            <a:pPr lvl="1"/>
            <a:r>
              <a:rPr lang="en-GB" dirty="0"/>
              <a:t>This only gives you conflict-serializability, but strict can be ensured by, on each read or write request (that would not be a paradox), wait until the transaction that last wrote to that item has committed or aborted</a:t>
            </a:r>
          </a:p>
          <a:p>
            <a:r>
              <a:rPr lang="en-GB" dirty="0"/>
              <a:t>One can do the idea in two ways:</a:t>
            </a:r>
          </a:p>
          <a:p>
            <a:pPr lvl="1"/>
            <a:r>
              <a:rPr lang="en-GB" dirty="0"/>
              <a:t>“Normal” database with 1 version of each variable</a:t>
            </a:r>
          </a:p>
          <a:p>
            <a:pPr lvl="1"/>
            <a:r>
              <a:rPr lang="en-GB" dirty="0" err="1"/>
              <a:t>Multiversion</a:t>
            </a:r>
            <a:r>
              <a:rPr lang="en-GB" dirty="0"/>
              <a:t> concurrency control, where each write is saved with its own timestamp!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A071D-5892-4DB3-B31A-9D0F4F93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50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6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7|3.5|3|2.2|7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5.3|2.3|5.9|5.9|1.3|2|2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|3.1|2.5|2.8|7.6|13.2|8.4|11.5|10.9|2.6|3.5|3.8|4.3|6.4|6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7|12.3|12.6|3|19.9|6.4|9.3|6.2|20.2|6.5|6.7|14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15.3|3.3|5|6.2|3.2|4|11|2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51.3|5.3|3.8|3.2|1.9|2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4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6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6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23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8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|6.3|5|12|17.3|11.2|1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2.4|7.1|15.4|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8|14.7|2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7.6|3.1|37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15.3|16.2|11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23.5|9.6|7.5|5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|10.6|21.5|25.4|25.3|75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|8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4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5.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6.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3.5|6.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5.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8|17.8|3.6|9.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211</TotalTime>
  <Words>4647</Words>
  <Application>Microsoft Office PowerPoint</Application>
  <PresentationFormat>Widescreen</PresentationFormat>
  <Paragraphs>2365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Calibri</vt:lpstr>
      <vt:lpstr>Calibri Light</vt:lpstr>
      <vt:lpstr>Retrospect</vt:lpstr>
      <vt:lpstr>Timestamp based schedules</vt:lpstr>
      <vt:lpstr>Overview of this video</vt:lpstr>
      <vt:lpstr>Deadlock prevention</vt:lpstr>
      <vt:lpstr>Basic Idea</vt:lpstr>
      <vt:lpstr>Basic Idea</vt:lpstr>
      <vt:lpstr>Timestamp-Based Schedulers</vt:lpstr>
      <vt:lpstr>Timestamps</vt:lpstr>
      <vt:lpstr>Additional Bookkeeping</vt:lpstr>
      <vt:lpstr>Read Requests</vt:lpstr>
      <vt:lpstr>Write Requests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2</vt:lpstr>
      <vt:lpstr>Example 2</vt:lpstr>
      <vt:lpstr>Example 2</vt:lpstr>
      <vt:lpstr>Example 2</vt:lpstr>
      <vt:lpstr>Example 2</vt:lpstr>
      <vt:lpstr>Timestamp-based Scheduling</vt:lpstr>
      <vt:lpstr>Ensuring Strictness</vt:lpstr>
      <vt:lpstr>Multiversion concurrency control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Example 1 - MVCC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Timestamp based schedules</dc:title>
  <dc:creator>Rasmus Ibsen-Jensen</dc:creator>
  <cp:lastModifiedBy>Rasmus Ibsen-Jensen</cp:lastModifiedBy>
  <cp:revision>18</cp:revision>
  <dcterms:created xsi:type="dcterms:W3CDTF">2020-11-07T19:59:33Z</dcterms:created>
  <dcterms:modified xsi:type="dcterms:W3CDTF">2020-11-10T14:42:05Z</dcterms:modified>
</cp:coreProperties>
</file>