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354" r:id="rId3"/>
    <p:sldId id="298" r:id="rId4"/>
    <p:sldId id="291" r:id="rId5"/>
    <p:sldId id="295" r:id="rId6"/>
    <p:sldId id="292" r:id="rId7"/>
    <p:sldId id="546" r:id="rId8"/>
    <p:sldId id="553" r:id="rId9"/>
    <p:sldId id="554" r:id="rId10"/>
    <p:sldId id="549" r:id="rId11"/>
    <p:sldId id="301" r:id="rId12"/>
    <p:sldId id="303" r:id="rId13"/>
    <p:sldId id="304" r:id="rId14"/>
    <p:sldId id="550" r:id="rId15"/>
    <p:sldId id="551" r:id="rId16"/>
    <p:sldId id="555" r:id="rId17"/>
    <p:sldId id="287" r:id="rId18"/>
    <p:sldId id="557" r:id="rId19"/>
    <p:sldId id="560" r:id="rId20"/>
    <p:sldId id="559" r:id="rId21"/>
    <p:sldId id="55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B505D-30A4-47E6-9D51-0373BFEF929C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9F8FA-45A5-4106-8358-E5635AB9FC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173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able to talk about the log manager and how logs are created,</a:t>
            </a:r>
            <a:r>
              <a:rPr lang="en-US" baseline="0" dirty="0"/>
              <a:t> we need to refine our syntax for transactions</a:t>
            </a:r>
            <a:r>
              <a:rPr lang="mr-IN" baseline="0" dirty="0"/>
              <a:t>…</a:t>
            </a:r>
            <a:endParaRPr lang="en-GB" baseline="0" dirty="0"/>
          </a:p>
          <a:p>
            <a:endParaRPr lang="en-GB" baseline="0" dirty="0"/>
          </a:p>
          <a:p>
            <a:r>
              <a:rPr lang="en-GB" baseline="0" dirty="0"/>
              <a:t>Recall that transactions are sequences of reads and writes (and there might be locks/unlocks by the scheduler, which we ignore in this part)</a:t>
            </a:r>
            <a:r>
              <a:rPr lang="mr-IN" baseline="0" dirty="0"/>
              <a:t>…</a:t>
            </a:r>
            <a:endParaRPr lang="en-GB" baseline="0" dirty="0"/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When we call read(X), then item X with be brought into the buffer if it is not already there, and then copied into the address space of the transaction</a:t>
            </a:r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Similarly for write(X)</a:t>
            </a:r>
          </a:p>
          <a:p>
            <a:pPr marL="171450" indent="-171450">
              <a:buFont typeface="Arial" charset="0"/>
              <a:buChar char="•"/>
            </a:pPr>
            <a:endParaRPr lang="en-US" baseline="0" dirty="0"/>
          </a:p>
          <a:p>
            <a:pPr marL="0" indent="0">
              <a:buFont typeface="Arial" charset="0"/>
              <a:buNone/>
            </a:pPr>
            <a:r>
              <a:rPr lang="en-US" baseline="0" dirty="0"/>
              <a:t>To talk about logging, we make the operation of writing data from the buffer to disk explicit: output(X)</a:t>
            </a:r>
          </a:p>
          <a:p>
            <a:pPr marL="0" indent="0">
              <a:buFont typeface="Arial" charset="0"/>
              <a:buNone/>
            </a:pPr>
            <a:endParaRPr lang="en-US" baseline="0" dirty="0"/>
          </a:p>
          <a:p>
            <a:pPr marL="0" indent="0">
              <a:buFont typeface="Arial" charset="0"/>
              <a:buNone/>
            </a:pPr>
            <a:r>
              <a:rPr lang="en-US" baseline="0" dirty="0"/>
              <a:t>Later we also need an operation </a:t>
            </a:r>
            <a:r>
              <a:rPr lang="en-US" baseline="0" dirty="0" err="1"/>
              <a:t>flush_log</a:t>
            </a:r>
            <a:r>
              <a:rPr lang="en-US" baseline="0" dirty="0"/>
              <a:t> which writes the log entries that are currently in the main memory buffer to disk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537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able to talk about the log manager and how logs are created,</a:t>
            </a:r>
            <a:r>
              <a:rPr lang="en-US" baseline="0" dirty="0"/>
              <a:t> we need to refine our syntax for transactions</a:t>
            </a:r>
            <a:r>
              <a:rPr lang="mr-IN" baseline="0" dirty="0"/>
              <a:t>…</a:t>
            </a:r>
            <a:endParaRPr lang="en-GB" baseline="0" dirty="0"/>
          </a:p>
          <a:p>
            <a:endParaRPr lang="en-GB" baseline="0" dirty="0"/>
          </a:p>
          <a:p>
            <a:r>
              <a:rPr lang="en-GB" baseline="0" dirty="0"/>
              <a:t>Recall that transactions are sequences of reads and writes (and there might be locks/unlocks by the scheduler, which we ignore in this part)</a:t>
            </a:r>
            <a:r>
              <a:rPr lang="mr-IN" baseline="0" dirty="0"/>
              <a:t>…</a:t>
            </a:r>
            <a:endParaRPr lang="en-GB" baseline="0" dirty="0"/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When we call read(X), then item X with be brought into the buffer if it is not already there, and then copied into the address space of the transaction</a:t>
            </a:r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Similarly for write(X)</a:t>
            </a:r>
          </a:p>
          <a:p>
            <a:pPr marL="171450" indent="-171450">
              <a:buFont typeface="Arial" charset="0"/>
              <a:buChar char="•"/>
            </a:pPr>
            <a:endParaRPr lang="en-US" baseline="0" dirty="0"/>
          </a:p>
          <a:p>
            <a:pPr marL="0" indent="0">
              <a:buFont typeface="Arial" charset="0"/>
              <a:buNone/>
            </a:pPr>
            <a:r>
              <a:rPr lang="en-US" baseline="0" dirty="0"/>
              <a:t>To talk about logging, we make the operation of writing data from the buffer to disk explicit: output(X)</a:t>
            </a:r>
          </a:p>
          <a:p>
            <a:pPr marL="0" indent="0">
              <a:buFont typeface="Arial" charset="0"/>
              <a:buNone/>
            </a:pPr>
            <a:endParaRPr lang="en-US" baseline="0" dirty="0"/>
          </a:p>
          <a:p>
            <a:pPr marL="0" indent="0">
              <a:buFont typeface="Arial" charset="0"/>
              <a:buNone/>
            </a:pPr>
            <a:r>
              <a:rPr lang="en-US" baseline="0" dirty="0"/>
              <a:t>Later we also need an operation </a:t>
            </a:r>
            <a:r>
              <a:rPr lang="en-US" baseline="0" dirty="0" err="1"/>
              <a:t>flush_log</a:t>
            </a:r>
            <a:r>
              <a:rPr lang="en-US" baseline="0" dirty="0"/>
              <a:t> which writes the log entries that are currently in the main memory buffer to disk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398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able to talk about the log manager and how logs are created,</a:t>
            </a:r>
            <a:r>
              <a:rPr lang="en-US" baseline="0" dirty="0"/>
              <a:t> we need to refine our syntax for transactions</a:t>
            </a:r>
            <a:r>
              <a:rPr lang="mr-IN" baseline="0" dirty="0"/>
              <a:t>…</a:t>
            </a:r>
            <a:endParaRPr lang="en-GB" baseline="0" dirty="0"/>
          </a:p>
          <a:p>
            <a:endParaRPr lang="en-GB" baseline="0" dirty="0"/>
          </a:p>
          <a:p>
            <a:r>
              <a:rPr lang="en-GB" baseline="0" dirty="0"/>
              <a:t>Recall that transactions are sequences of reads and writes (and there might be locks/unlocks by the scheduler, which we ignore in this part)</a:t>
            </a:r>
            <a:r>
              <a:rPr lang="mr-IN" baseline="0" dirty="0"/>
              <a:t>…</a:t>
            </a:r>
            <a:endParaRPr lang="en-GB" baseline="0" dirty="0"/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When we call read(X), then item X with be brought into the buffer if it is not already there, and then copied into the address space of the transaction</a:t>
            </a:r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Similarly for write(X)</a:t>
            </a:r>
          </a:p>
          <a:p>
            <a:pPr marL="171450" indent="-171450">
              <a:buFont typeface="Arial" charset="0"/>
              <a:buChar char="•"/>
            </a:pPr>
            <a:endParaRPr lang="en-US" baseline="0" dirty="0"/>
          </a:p>
          <a:p>
            <a:pPr marL="0" indent="0">
              <a:buFont typeface="Arial" charset="0"/>
              <a:buNone/>
            </a:pPr>
            <a:r>
              <a:rPr lang="en-US" baseline="0" dirty="0"/>
              <a:t>To talk about logging, we make the operation of writing data from the buffer to disk explicit: output(X)</a:t>
            </a:r>
          </a:p>
          <a:p>
            <a:pPr marL="0" indent="0">
              <a:buFont typeface="Arial" charset="0"/>
              <a:buNone/>
            </a:pPr>
            <a:endParaRPr lang="en-US" baseline="0" dirty="0"/>
          </a:p>
          <a:p>
            <a:pPr marL="0" indent="0">
              <a:buFont typeface="Arial" charset="0"/>
              <a:buNone/>
            </a:pPr>
            <a:r>
              <a:rPr lang="en-US" baseline="0" dirty="0"/>
              <a:t>Later we also need an operation </a:t>
            </a:r>
            <a:r>
              <a:rPr lang="en-US" baseline="0" dirty="0" err="1"/>
              <a:t>flush_log</a:t>
            </a:r>
            <a:r>
              <a:rPr lang="en-US" baseline="0" dirty="0"/>
              <a:t> which writes the log entries that are currently in the main memory buffer to disk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122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able to talk about the log manager and how logs are created,</a:t>
            </a:r>
            <a:r>
              <a:rPr lang="en-US" baseline="0" dirty="0"/>
              <a:t> we need to refine our syntax for transactions</a:t>
            </a:r>
            <a:r>
              <a:rPr lang="mr-IN" baseline="0" dirty="0"/>
              <a:t>…</a:t>
            </a:r>
            <a:endParaRPr lang="en-GB" baseline="0" dirty="0"/>
          </a:p>
          <a:p>
            <a:endParaRPr lang="en-GB" baseline="0" dirty="0"/>
          </a:p>
          <a:p>
            <a:r>
              <a:rPr lang="en-GB" baseline="0" dirty="0"/>
              <a:t>Recall that transactions are sequences of reads and writes (and there might be locks/unlocks by the scheduler, which we ignore in this part)</a:t>
            </a:r>
            <a:r>
              <a:rPr lang="mr-IN" baseline="0" dirty="0"/>
              <a:t>…</a:t>
            </a:r>
            <a:endParaRPr lang="en-GB" baseline="0" dirty="0"/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When we call read(X), then item X with be brought into the buffer if it is not already there, and then copied into the address space of the transaction</a:t>
            </a:r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Similarly for write(X)</a:t>
            </a:r>
          </a:p>
          <a:p>
            <a:pPr marL="171450" indent="-171450">
              <a:buFont typeface="Arial" charset="0"/>
              <a:buChar char="•"/>
            </a:pPr>
            <a:endParaRPr lang="en-US" baseline="0" dirty="0"/>
          </a:p>
          <a:p>
            <a:pPr marL="0" indent="0">
              <a:buFont typeface="Arial" charset="0"/>
              <a:buNone/>
            </a:pPr>
            <a:r>
              <a:rPr lang="en-US" baseline="0" dirty="0"/>
              <a:t>To talk about logging, we make the operation of writing data from the buffer to disk explicit: output(X)</a:t>
            </a:r>
          </a:p>
          <a:p>
            <a:pPr marL="0" indent="0">
              <a:buFont typeface="Arial" charset="0"/>
              <a:buNone/>
            </a:pPr>
            <a:endParaRPr lang="en-US" baseline="0" dirty="0"/>
          </a:p>
          <a:p>
            <a:pPr marL="0" indent="0">
              <a:buFont typeface="Arial" charset="0"/>
              <a:buNone/>
            </a:pPr>
            <a:r>
              <a:rPr lang="en-US" baseline="0" dirty="0"/>
              <a:t>Later we also need an operation </a:t>
            </a:r>
            <a:r>
              <a:rPr lang="en-US" baseline="0" dirty="0" err="1"/>
              <a:t>flush_log</a:t>
            </a:r>
            <a:r>
              <a:rPr lang="en-US" baseline="0" dirty="0"/>
              <a:t> which writes the log entries that are currently in the main memory buffer to disk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0953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556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7C32-3DAC-4129-BC2B-807658016C5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2001-803B-4F82-B3EE-7A42E78B582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6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7C32-3DAC-4129-BC2B-807658016C5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2001-803B-4F82-B3EE-7A42E78B5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60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7C32-3DAC-4129-BC2B-807658016C5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2001-803B-4F82-B3EE-7A42E78B582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8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7C32-3DAC-4129-BC2B-807658016C5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2001-803B-4F82-B3EE-7A42E78B5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83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7C32-3DAC-4129-BC2B-807658016C5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2001-803B-4F82-B3EE-7A42E78B5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572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7C32-3DAC-4129-BC2B-807658016C5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2001-803B-4F82-B3EE-7A42E78B5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064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7C32-3DAC-4129-BC2B-807658016C5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2001-803B-4F82-B3EE-7A42E78B5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871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D197C32-3DAC-4129-BC2B-807658016C5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0F52001-803B-4F82-B3EE-7A42E78B5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50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7C32-3DAC-4129-BC2B-807658016C5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2001-803B-4F82-B3EE-7A42E78B5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796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7C32-3DAC-4129-BC2B-807658016C5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2001-803B-4F82-B3EE-7A42E78B5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33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7C32-3DAC-4129-BC2B-807658016C5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52001-803B-4F82-B3EE-7A42E78B5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060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64905"/>
            <a:ext cx="10363200" cy="1470025"/>
          </a:xfrm>
        </p:spPr>
        <p:txBody>
          <a:bodyPr>
            <a:normAutofit/>
          </a:bodyPr>
          <a:lstStyle>
            <a:lvl1pPr>
              <a:defRPr sz="3200" i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D9BC-8396-488D-9172-794401FB89F2}" type="datetime1">
              <a:rPr lang="en-US" smtClean="0"/>
              <a:pPr/>
              <a:t>11/3/2020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631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D197C32-3DAC-4129-BC2B-807658016C55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0F52001-803B-4F82-B3EE-7A42E78B582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302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AC28-D89F-49A8-AFC9-9DDA72FB35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(Undo-)Logging for your database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5BAE6-4AAA-4720-90EE-3A807745E2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72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06"/>
    </mc:Choice>
    <mc:Fallback xmlns="">
      <p:transition spd="slow" advTm="1680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87AB-00C3-4F0C-ABD5-3827C052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F842-B16B-4A9E-872B-51714976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We will try to handle failures using a simple kind of logs, specifically using something called an undo-log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D34EE-1258-4941-BD93-EAE842D5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40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169"/>
    </mc:Choice>
    <mc:Fallback xmlns="">
      <p:transition spd="slow" advTm="2216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in DBMS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Idea: write important activities to a log so that a desired database state can be recovered later</a:t>
            </a:r>
          </a:p>
          <a:p>
            <a:r>
              <a:rPr lang="en-US" dirty="0"/>
              <a:t>Examples of important activities:</a:t>
            </a:r>
          </a:p>
          <a:p>
            <a:pPr lvl="1"/>
            <a:r>
              <a:rPr lang="en-US" dirty="0"/>
              <a:t>Starts of transactions, commits, aborts</a:t>
            </a:r>
          </a:p>
          <a:p>
            <a:pPr lvl="1"/>
            <a:r>
              <a:rPr lang="en-US" dirty="0"/>
              <a:t>Modification of database items</a:t>
            </a:r>
          </a:p>
          <a:p>
            <a:r>
              <a:rPr lang="en-US" dirty="0"/>
              <a:t>Should work </a:t>
            </a:r>
            <a:r>
              <a:rPr lang="en-US" i="1" dirty="0"/>
              <a:t>even in case of system failures</a:t>
            </a:r>
            <a:r>
              <a:rPr lang="en-US" dirty="0"/>
              <a:t>!</a:t>
            </a:r>
          </a:p>
          <a:p>
            <a:r>
              <a:rPr lang="en-US" dirty="0"/>
              <a:t>Techniques:</a:t>
            </a:r>
          </a:p>
          <a:p>
            <a:pPr lvl="1"/>
            <a:r>
              <a:rPr lang="en-US" dirty="0"/>
              <a:t>Undo logging (for maintaining </a:t>
            </a:r>
            <a:r>
              <a:rPr lang="en-US" i="1" dirty="0"/>
              <a:t>Atomicity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Redo logging (for maintaining </a:t>
            </a:r>
            <a:r>
              <a:rPr lang="en-US" i="1" dirty="0"/>
              <a:t>Durability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Combinations thereof (specifically Undo/Redo for doing both Atomicity and Durability)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422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199"/>
    </mc:Choice>
    <mc:Fallback xmlns="">
      <p:transition spd="slow" advTm="1231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Extension of Transaction Syntax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Can 4"/>
          <p:cNvSpPr/>
          <p:nvPr/>
        </p:nvSpPr>
        <p:spPr>
          <a:xfrm>
            <a:off x="3221284" y="4895007"/>
            <a:ext cx="1484306" cy="168913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56833" y="3021081"/>
            <a:ext cx="1224136" cy="1479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113663" y="1822071"/>
            <a:ext cx="122413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452838" y="1957069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128802" y="1957069"/>
            <a:ext cx="3240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4487" y="5481322"/>
            <a:ext cx="1268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Database &amp;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002" y="173004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Transaction</a:t>
            </a:r>
          </a:p>
        </p:txBody>
      </p:sp>
      <p:cxnSp>
        <p:nvCxnSpPr>
          <p:cNvPr id="19" name="Straight Arrow Connector 18"/>
          <p:cNvCxnSpPr>
            <a:stCxn id="6" idx="2"/>
            <a:endCxn id="5" idx="1"/>
          </p:cNvCxnSpPr>
          <p:nvPr/>
        </p:nvCxnSpPr>
        <p:spPr>
          <a:xfrm flipH="1">
            <a:off x="3963437" y="4500732"/>
            <a:ext cx="5464" cy="394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63678" y="2641119"/>
            <a:ext cx="846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Buffers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80970" y="1822072"/>
            <a:ext cx="1226999" cy="9143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Elbow Connector 32"/>
          <p:cNvCxnSpPr>
            <a:stCxn id="26" idx="2"/>
            <a:endCxn id="6" idx="3"/>
          </p:cNvCxnSpPr>
          <p:nvPr/>
        </p:nvCxnSpPr>
        <p:spPr>
          <a:xfrm rot="5400000">
            <a:off x="4375501" y="2941938"/>
            <a:ext cx="1024436" cy="613500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12" idx="2"/>
            <a:endCxn id="6" idx="1"/>
          </p:cNvCxnSpPr>
          <p:nvPr/>
        </p:nvCxnSpPr>
        <p:spPr>
          <a:xfrm rot="16200000" flipH="1">
            <a:off x="2529066" y="2933137"/>
            <a:ext cx="1024435" cy="6311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680869" y="5383263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3356833" y="5383263"/>
            <a:ext cx="3240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6414" y="1730048"/>
            <a:ext cx="154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Log Manager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229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244"/>
    </mc:Choice>
    <mc:Fallback xmlns="">
      <p:transition spd="slow" advTm="492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2" grpId="0" animBg="1"/>
      <p:bldP spid="13" grpId="0" animBg="1"/>
      <p:bldP spid="14" grpId="0"/>
      <p:bldP spid="16" grpId="0"/>
      <p:bldP spid="18" grpId="0"/>
      <p:bldP spid="25" grpId="0"/>
      <p:bldP spid="26" grpId="0" animBg="1"/>
      <p:bldP spid="52" grpId="0" animBg="1"/>
      <p:bldP spid="5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of Transaction Syntax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Can 4"/>
          <p:cNvSpPr/>
          <p:nvPr/>
        </p:nvSpPr>
        <p:spPr>
          <a:xfrm>
            <a:off x="3221284" y="4895007"/>
            <a:ext cx="1484306" cy="168913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56833" y="3021081"/>
            <a:ext cx="1224136" cy="1479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113663" y="1822071"/>
            <a:ext cx="122413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452838" y="1957069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128802" y="1957069"/>
            <a:ext cx="3240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4487" y="5481322"/>
            <a:ext cx="1268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Database &amp;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Log</a:t>
            </a:r>
          </a:p>
        </p:txBody>
      </p:sp>
      <p:cxnSp>
        <p:nvCxnSpPr>
          <p:cNvPr id="19" name="Straight Arrow Connector 18"/>
          <p:cNvCxnSpPr>
            <a:stCxn id="6" idx="2"/>
            <a:endCxn id="5" idx="1"/>
          </p:cNvCxnSpPr>
          <p:nvPr/>
        </p:nvCxnSpPr>
        <p:spPr>
          <a:xfrm flipH="1">
            <a:off x="3963437" y="4500732"/>
            <a:ext cx="5464" cy="394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63678" y="2641119"/>
            <a:ext cx="846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Buffers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80970" y="1822072"/>
            <a:ext cx="1226999" cy="9143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3680869" y="3193699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56833" y="3193699"/>
            <a:ext cx="3240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33" name="Elbow Connector 32"/>
          <p:cNvCxnSpPr>
            <a:stCxn id="26" idx="2"/>
            <a:endCxn id="6" idx="3"/>
          </p:cNvCxnSpPr>
          <p:nvPr/>
        </p:nvCxnSpPr>
        <p:spPr>
          <a:xfrm rot="5400000">
            <a:off x="4375501" y="2941938"/>
            <a:ext cx="1024436" cy="613500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12" idx="2"/>
            <a:endCxn id="6" idx="1"/>
          </p:cNvCxnSpPr>
          <p:nvPr/>
        </p:nvCxnSpPr>
        <p:spPr>
          <a:xfrm rot="16200000" flipH="1">
            <a:off x="2529066" y="2933137"/>
            <a:ext cx="1024435" cy="6311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680869" y="5383263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3356833" y="5383263"/>
            <a:ext cx="3240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79" name="Curved Connector 78"/>
          <p:cNvCxnSpPr>
            <a:stCxn id="52" idx="0"/>
            <a:endCxn id="27" idx="2"/>
          </p:cNvCxnSpPr>
          <p:nvPr/>
        </p:nvCxnSpPr>
        <p:spPr>
          <a:xfrm rot="5400000" flipH="1" flipV="1">
            <a:off x="3036137" y="4432497"/>
            <a:ext cx="1901532" cy="12700"/>
          </a:xfrm>
          <a:prstGeom prst="curvedConnector3">
            <a:avLst>
              <a:gd name="adj1" fmla="val 5432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urved Connector 84"/>
          <p:cNvCxnSpPr>
            <a:stCxn id="27" idx="0"/>
            <a:endCxn id="13" idx="2"/>
          </p:cNvCxnSpPr>
          <p:nvPr/>
        </p:nvCxnSpPr>
        <p:spPr>
          <a:xfrm rot="16200000" flipV="1">
            <a:off x="2898589" y="2105385"/>
            <a:ext cx="948598" cy="12280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ounded Rectangular Callout 31"/>
          <p:cNvSpPr/>
          <p:nvPr/>
        </p:nvSpPr>
        <p:spPr>
          <a:xfrm>
            <a:off x="3392500" y="1122150"/>
            <a:ext cx="1551372" cy="504056"/>
          </a:xfrm>
          <a:prstGeom prst="wedgeRoundRectCallout">
            <a:avLst>
              <a:gd name="adj1" fmla="val -51607"/>
              <a:gd name="adj2" fmla="val 8906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Wingdings"/>
              </a:rPr>
              <a:t>read(X)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3675181" y="5389613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52838" y="1956693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100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BE21D4-F3F6-4C39-848F-5EE95189FA4F}"/>
              </a:ext>
            </a:extLst>
          </p:cNvPr>
          <p:cNvSpPr txBox="1"/>
          <p:nvPr/>
        </p:nvSpPr>
        <p:spPr>
          <a:xfrm>
            <a:off x="808002" y="173004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Transaction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EA33F4-5356-4530-8317-910AFC2E9943}"/>
              </a:ext>
            </a:extLst>
          </p:cNvPr>
          <p:cNvSpPr txBox="1"/>
          <p:nvPr/>
        </p:nvSpPr>
        <p:spPr>
          <a:xfrm>
            <a:off x="5716414" y="1730048"/>
            <a:ext cx="154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Log Manager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866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58"/>
    </mc:Choice>
    <mc:Fallback xmlns="">
      <p:transition spd="slow" advTm="153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2" grpId="0" animBg="1"/>
      <p:bldP spid="36" grpId="0" animBg="1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of Transaction Syntax</a:t>
            </a:r>
          </a:p>
        </p:txBody>
      </p:sp>
      <p:sp>
        <p:nvSpPr>
          <p:cNvPr id="76" name="Content Placeholder 75"/>
          <p:cNvSpPr>
            <a:spLocks noGrp="1"/>
          </p:cNvSpPr>
          <p:nvPr>
            <p:ph idx="1"/>
          </p:nvPr>
        </p:nvSpPr>
        <p:spPr>
          <a:xfrm>
            <a:off x="5797624" y="3582530"/>
            <a:ext cx="4546849" cy="2865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Additional operations:</a:t>
            </a:r>
          </a:p>
          <a:p>
            <a:r>
              <a:rPr lang="en-US" sz="2400" b="1" dirty="0"/>
              <a:t>output(X)</a:t>
            </a:r>
            <a:r>
              <a:rPr lang="en-US" sz="2400" dirty="0"/>
              <a:t>: copy database item X from buffer to database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Can 4"/>
          <p:cNvSpPr/>
          <p:nvPr/>
        </p:nvSpPr>
        <p:spPr>
          <a:xfrm>
            <a:off x="3221284" y="4895007"/>
            <a:ext cx="1484306" cy="168913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56833" y="3021081"/>
            <a:ext cx="1224136" cy="1479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113663" y="1822071"/>
            <a:ext cx="122413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452838" y="1957069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128802" y="1957069"/>
            <a:ext cx="3240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4487" y="5481322"/>
            <a:ext cx="1268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Database &amp;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Log</a:t>
            </a:r>
          </a:p>
        </p:txBody>
      </p:sp>
      <p:cxnSp>
        <p:nvCxnSpPr>
          <p:cNvPr id="19" name="Straight Arrow Connector 18"/>
          <p:cNvCxnSpPr>
            <a:stCxn id="6" idx="2"/>
            <a:endCxn id="5" idx="1"/>
          </p:cNvCxnSpPr>
          <p:nvPr/>
        </p:nvCxnSpPr>
        <p:spPr>
          <a:xfrm flipH="1">
            <a:off x="3963437" y="4500732"/>
            <a:ext cx="5464" cy="394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63678" y="2641119"/>
            <a:ext cx="846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Buffers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80970" y="1822072"/>
            <a:ext cx="1226999" cy="9143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3680869" y="3193699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3356833" y="3193699"/>
            <a:ext cx="3240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33" name="Elbow Connector 32"/>
          <p:cNvCxnSpPr>
            <a:stCxn id="26" idx="2"/>
            <a:endCxn id="6" idx="3"/>
          </p:cNvCxnSpPr>
          <p:nvPr/>
        </p:nvCxnSpPr>
        <p:spPr>
          <a:xfrm rot="5400000">
            <a:off x="4375501" y="2941938"/>
            <a:ext cx="1024436" cy="613500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12" idx="2"/>
            <a:endCxn id="6" idx="1"/>
          </p:cNvCxnSpPr>
          <p:nvPr/>
        </p:nvCxnSpPr>
        <p:spPr>
          <a:xfrm rot="16200000" flipH="1">
            <a:off x="2529066" y="2933137"/>
            <a:ext cx="1024435" cy="6311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680869" y="5383263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3356833" y="5383263"/>
            <a:ext cx="3240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79" name="Curved Connector 78"/>
          <p:cNvCxnSpPr>
            <a:stCxn id="52" idx="0"/>
            <a:endCxn id="27" idx="2"/>
          </p:cNvCxnSpPr>
          <p:nvPr/>
        </p:nvCxnSpPr>
        <p:spPr>
          <a:xfrm rot="5400000" flipH="1" flipV="1">
            <a:off x="3036137" y="4432497"/>
            <a:ext cx="1901532" cy="12700"/>
          </a:xfrm>
          <a:prstGeom prst="curvedConnector3">
            <a:avLst>
              <a:gd name="adj1" fmla="val 54328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urved Connector 84"/>
          <p:cNvCxnSpPr>
            <a:stCxn id="27" idx="0"/>
            <a:endCxn id="13" idx="2"/>
          </p:cNvCxnSpPr>
          <p:nvPr/>
        </p:nvCxnSpPr>
        <p:spPr>
          <a:xfrm rot="16200000" flipV="1">
            <a:off x="2898589" y="2105385"/>
            <a:ext cx="948598" cy="1228031"/>
          </a:xfrm>
          <a:prstGeom prst="curvedConnector3">
            <a:avLst>
              <a:gd name="adj1" fmla="val 5000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ounded Rectangular Callout 35"/>
          <p:cNvSpPr/>
          <p:nvPr/>
        </p:nvSpPr>
        <p:spPr>
          <a:xfrm>
            <a:off x="1903530" y="4491571"/>
            <a:ext cx="1210834" cy="504056"/>
          </a:xfrm>
          <a:prstGeom prst="wedgeRoundRectCallout">
            <a:avLst>
              <a:gd name="adj1" fmla="val 116450"/>
              <a:gd name="adj2" fmla="val -2159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Wingdings"/>
              </a:rPr>
              <a:t>output(X)</a:t>
            </a:r>
            <a:endParaRPr lang="en-US" dirty="0"/>
          </a:p>
        </p:txBody>
      </p:sp>
      <p:sp>
        <p:nvSpPr>
          <p:cNvPr id="34" name="Rounded Rectangular Callout 33"/>
          <p:cNvSpPr/>
          <p:nvPr/>
        </p:nvSpPr>
        <p:spPr>
          <a:xfrm>
            <a:off x="3392500" y="1122150"/>
            <a:ext cx="1551372" cy="504056"/>
          </a:xfrm>
          <a:prstGeom prst="wedgeRoundRectCallout">
            <a:avLst>
              <a:gd name="adj1" fmla="val -51607"/>
              <a:gd name="adj2" fmla="val 8906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Wingdings"/>
              </a:rPr>
              <a:t>write(X)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2452838" y="1956693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100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3687219" y="3187349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100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3688604" y="5387464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100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812780" y="1970287"/>
            <a:ext cx="38046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Changes</a:t>
            </a:r>
            <a:r>
              <a:rPr lang="en-US" dirty="0"/>
              <a:t>: </a:t>
            </a:r>
          </a:p>
          <a:p>
            <a:r>
              <a:rPr lang="en-US" sz="2400" dirty="0"/>
              <a:t>write(X) writes </a:t>
            </a:r>
            <a:r>
              <a:rPr lang="en-US" sz="2400" b="1" dirty="0"/>
              <a:t>only</a:t>
            </a:r>
            <a:r>
              <a:rPr lang="en-US" sz="2400" dirty="0"/>
              <a:t> to buffer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845D5-A427-452E-B246-266B02A98258}"/>
              </a:ext>
            </a:extLst>
          </p:cNvPr>
          <p:cNvSpPr txBox="1"/>
          <p:nvPr/>
        </p:nvSpPr>
        <p:spPr>
          <a:xfrm>
            <a:off x="808002" y="173004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Transaction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42C98-079D-4795-8AFA-DA78ABCC200F}"/>
              </a:ext>
            </a:extLst>
          </p:cNvPr>
          <p:cNvSpPr txBox="1"/>
          <p:nvPr/>
        </p:nvSpPr>
        <p:spPr>
          <a:xfrm>
            <a:off x="5716414" y="1730048"/>
            <a:ext cx="154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Log Manager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551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3154">
        <p:fade/>
      </p:transition>
    </mc:Choice>
    <mc:Fallback xmlns="">
      <p:transition spd="med" advTm="6315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uiExpand="1" build="p"/>
      <p:bldP spid="36" grpId="0" animBg="1"/>
      <p:bldP spid="38" grpId="0" animBg="1"/>
      <p:bldP spid="39" grpId="0" animBg="1"/>
      <p:bldP spid="40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5812780" y="1970287"/>
            <a:ext cx="38046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Changes</a:t>
            </a:r>
            <a:r>
              <a:rPr lang="en-US" dirty="0"/>
              <a:t>: </a:t>
            </a:r>
          </a:p>
          <a:p>
            <a:r>
              <a:rPr lang="en-US" sz="2400" dirty="0"/>
              <a:t>write(X) writes </a:t>
            </a:r>
            <a:r>
              <a:rPr lang="en-US" sz="2400" b="1" dirty="0"/>
              <a:t>only</a:t>
            </a:r>
            <a:r>
              <a:rPr lang="en-US" sz="2400" dirty="0"/>
              <a:t> to buffer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of Transaction Syntax</a:t>
            </a:r>
          </a:p>
        </p:txBody>
      </p:sp>
      <p:sp>
        <p:nvSpPr>
          <p:cNvPr id="76" name="Content Placeholder 75"/>
          <p:cNvSpPr>
            <a:spLocks noGrp="1"/>
          </p:cNvSpPr>
          <p:nvPr>
            <p:ph idx="1"/>
          </p:nvPr>
        </p:nvSpPr>
        <p:spPr>
          <a:xfrm>
            <a:off x="5797624" y="3582530"/>
            <a:ext cx="4546849" cy="28657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Additional operations:</a:t>
            </a:r>
          </a:p>
          <a:p>
            <a:r>
              <a:rPr lang="en-US" sz="2400" b="1" dirty="0"/>
              <a:t>output(X)</a:t>
            </a:r>
            <a:r>
              <a:rPr lang="en-US" sz="2400" dirty="0"/>
              <a:t>: copy database item X from buffer to database</a:t>
            </a:r>
          </a:p>
          <a:p>
            <a:r>
              <a:rPr lang="en-US" sz="2400" b="1" dirty="0" err="1"/>
              <a:t>flush_log</a:t>
            </a:r>
            <a:r>
              <a:rPr lang="en-US" sz="2400" dirty="0"/>
              <a:t>: write log entries that are currently residing in main memory (buffer) to log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Can 4"/>
          <p:cNvSpPr/>
          <p:nvPr/>
        </p:nvSpPr>
        <p:spPr>
          <a:xfrm>
            <a:off x="3221284" y="4895007"/>
            <a:ext cx="1484306" cy="168913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56833" y="3021081"/>
            <a:ext cx="1224136" cy="1479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113663" y="1822071"/>
            <a:ext cx="1224136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452838" y="1957069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128802" y="1957069"/>
            <a:ext cx="3240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4487" y="5481322"/>
            <a:ext cx="1268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Database &amp;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Log</a:t>
            </a:r>
          </a:p>
        </p:txBody>
      </p:sp>
      <p:cxnSp>
        <p:nvCxnSpPr>
          <p:cNvPr id="19" name="Straight Arrow Connector 18"/>
          <p:cNvCxnSpPr>
            <a:stCxn id="6" idx="2"/>
            <a:endCxn id="5" idx="1"/>
          </p:cNvCxnSpPr>
          <p:nvPr/>
        </p:nvCxnSpPr>
        <p:spPr>
          <a:xfrm flipH="1">
            <a:off x="3963437" y="4500732"/>
            <a:ext cx="5464" cy="394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63678" y="2641119"/>
            <a:ext cx="846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Buffers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80970" y="1822072"/>
            <a:ext cx="1226999" cy="9143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3680869" y="3193699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3356833" y="3193699"/>
            <a:ext cx="3240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6833" y="3582531"/>
            <a:ext cx="1224136" cy="37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</a:rPr>
              <a:t>Log entry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56833" y="3871059"/>
            <a:ext cx="1224136" cy="37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</a:rPr>
              <a:t>Log entry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56833" y="4122627"/>
            <a:ext cx="1224136" cy="3781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mr-IN" dirty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3" name="Elbow Connector 32"/>
          <p:cNvCxnSpPr>
            <a:stCxn id="26" idx="2"/>
            <a:endCxn id="6" idx="3"/>
          </p:cNvCxnSpPr>
          <p:nvPr/>
        </p:nvCxnSpPr>
        <p:spPr>
          <a:xfrm rot="5400000">
            <a:off x="4375501" y="2941938"/>
            <a:ext cx="1024436" cy="613500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12" idx="2"/>
            <a:endCxn id="6" idx="1"/>
          </p:cNvCxnSpPr>
          <p:nvPr/>
        </p:nvCxnSpPr>
        <p:spPr>
          <a:xfrm rot="16200000" flipH="1">
            <a:off x="2529066" y="2933137"/>
            <a:ext cx="1024435" cy="63110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680869" y="5383263"/>
            <a:ext cx="61206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3356833" y="5383263"/>
            <a:ext cx="324036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358286" y="5685911"/>
            <a:ext cx="1224136" cy="863153"/>
            <a:chOff x="1834286" y="5685910"/>
            <a:chExt cx="1224136" cy="863153"/>
          </a:xfrm>
        </p:grpSpPr>
        <p:sp>
          <p:nvSpPr>
            <p:cNvPr id="61" name="Rectangle 60"/>
            <p:cNvSpPr/>
            <p:nvPr/>
          </p:nvSpPr>
          <p:spPr>
            <a:xfrm>
              <a:off x="1834286" y="5685910"/>
              <a:ext cx="1224136" cy="3781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chemeClr val="bg1"/>
                  </a:solidFill>
                </a:rPr>
                <a:t>Log entry 1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834286" y="5956138"/>
              <a:ext cx="1224136" cy="3781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chemeClr val="bg1"/>
                  </a:solidFill>
                </a:rPr>
                <a:t>Log entry 2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834286" y="6170958"/>
              <a:ext cx="1224136" cy="3781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mr-IN" dirty="0">
                  <a:solidFill>
                    <a:schemeClr val="bg1"/>
                  </a:solidFill>
                </a:rPr>
                <a:t>…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0" name="Elbow Connector 9"/>
          <p:cNvCxnSpPr>
            <a:stCxn id="26" idx="2"/>
            <a:endCxn id="29" idx="3"/>
          </p:cNvCxnSpPr>
          <p:nvPr/>
        </p:nvCxnSpPr>
        <p:spPr>
          <a:xfrm rot="5400000">
            <a:off x="4370164" y="2947276"/>
            <a:ext cx="1035113" cy="6135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ounded Rectangular Callout 35"/>
          <p:cNvSpPr/>
          <p:nvPr/>
        </p:nvSpPr>
        <p:spPr>
          <a:xfrm>
            <a:off x="1888649" y="4456886"/>
            <a:ext cx="1210834" cy="504056"/>
          </a:xfrm>
          <a:prstGeom prst="wedgeRoundRectCallout">
            <a:avLst>
              <a:gd name="adj1" fmla="val 103612"/>
              <a:gd name="adj2" fmla="val -163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ym typeface="Wingdings"/>
              </a:rPr>
              <a:t>flush_log</a:t>
            </a:r>
            <a:endParaRPr lang="en-US" dirty="0"/>
          </a:p>
        </p:txBody>
      </p:sp>
      <p:cxnSp>
        <p:nvCxnSpPr>
          <p:cNvPr id="15" name="Straight Arrow Connector 14"/>
          <p:cNvCxnSpPr>
            <a:endCxn id="61" idx="0"/>
          </p:cNvCxnSpPr>
          <p:nvPr/>
        </p:nvCxnSpPr>
        <p:spPr>
          <a:xfrm>
            <a:off x="3968902" y="4249164"/>
            <a:ext cx="1453" cy="1436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958893" y="1432250"/>
            <a:ext cx="2592288" cy="1481888"/>
          </a:xfrm>
          <a:prstGeom prst="ellipse">
            <a:avLst/>
          </a:prstGeom>
          <a:noFill/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AAA7E-AE24-4FDA-B342-0B88D899728E}"/>
              </a:ext>
            </a:extLst>
          </p:cNvPr>
          <p:cNvSpPr txBox="1"/>
          <p:nvPr/>
        </p:nvSpPr>
        <p:spPr>
          <a:xfrm>
            <a:off x="808002" y="173004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Transaction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986B1-CEF9-49CC-9E9B-DA8A101EA8E6}"/>
              </a:ext>
            </a:extLst>
          </p:cNvPr>
          <p:cNvSpPr txBox="1"/>
          <p:nvPr/>
        </p:nvSpPr>
        <p:spPr>
          <a:xfrm>
            <a:off x="5716414" y="1730048"/>
            <a:ext cx="1541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Log Manager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328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0891">
        <p:fade/>
      </p:transition>
    </mc:Choice>
    <mc:Fallback xmlns="">
      <p:transition spd="med" advTm="7089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uiExpand="1" build="p"/>
      <p:bldP spid="29" grpId="0"/>
      <p:bldP spid="30" grpId="0"/>
      <p:bldP spid="31" grpId="0"/>
      <p:bldP spid="36" grpId="0" animBg="1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2D00-572F-40C4-8E59-896AC54D2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Undo Logging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370C1-8A7B-48C0-8A4E-59500DC14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Logs activities with the goal of restoring (“undoing”) a previous database state.</a:t>
            </a:r>
          </a:p>
          <a:p>
            <a:r>
              <a:rPr lang="en-US" dirty="0"/>
              <a:t>Log records (or log entries):</a:t>
            </a:r>
          </a:p>
          <a:p>
            <a:pPr lvl="1"/>
            <a:r>
              <a:rPr lang="en-US" b="1" dirty="0"/>
              <a:t>&lt;START T&gt;</a:t>
            </a:r>
            <a:r>
              <a:rPr lang="en-US" dirty="0"/>
              <a:t>: Transaction T has started.</a:t>
            </a:r>
          </a:p>
          <a:p>
            <a:pPr lvl="1"/>
            <a:r>
              <a:rPr lang="en-US" b="1" dirty="0"/>
              <a:t>&lt;COMMIT T&gt;</a:t>
            </a:r>
            <a:r>
              <a:rPr lang="en-US" dirty="0"/>
              <a:t>: Transaction T has committed.</a:t>
            </a:r>
          </a:p>
          <a:p>
            <a:pPr lvl="1"/>
            <a:r>
              <a:rPr lang="en-US" b="1" dirty="0"/>
              <a:t>&lt;ABORT T&gt;</a:t>
            </a:r>
            <a:r>
              <a:rPr lang="en-US" dirty="0"/>
              <a:t>: Transaction T was aborted.</a:t>
            </a:r>
          </a:p>
          <a:p>
            <a:pPr lvl="1"/>
            <a:r>
              <a:rPr lang="en-US" b="1" dirty="0"/>
              <a:t>&lt;T, X, v&gt;</a:t>
            </a:r>
            <a:r>
              <a:rPr lang="en-US" dirty="0"/>
              <a:t>: Transaction T has updated the value of database item X, and the old value of X was v.</a:t>
            </a:r>
          </a:p>
          <a:p>
            <a:pPr lvl="2"/>
            <a:r>
              <a:rPr lang="en-US" dirty="0"/>
              <a:t>Response to </a:t>
            </a:r>
            <a:r>
              <a:rPr lang="en-US" b="1" dirty="0"/>
              <a:t>write(X)</a:t>
            </a:r>
          </a:p>
          <a:p>
            <a:pPr lvl="2"/>
            <a:r>
              <a:rPr lang="en-US" dirty="0"/>
              <a:t>If this entry occurs in the log, then the new value of X might not have been written to the database yet.</a:t>
            </a:r>
          </a:p>
          <a:p>
            <a:r>
              <a:rPr lang="en-US" dirty="0"/>
              <a:t>Slightly different records for redo- and undo/redo logging (later video</a:t>
            </a:r>
            <a:r>
              <a:rPr lang="mr-IN" dirty="0"/>
              <a:t>…</a:t>
            </a:r>
            <a:r>
              <a:rPr lang="en-GB" dirty="0"/>
              <a:t>)</a:t>
            </a:r>
            <a:endParaRPr lang="en-US" dirty="0"/>
          </a:p>
          <a:p>
            <a:pPr lvl="2"/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E9F73-BE64-456C-BF0C-C7B427F4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40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197"/>
    </mc:Choice>
    <mc:Fallback xmlns="">
      <p:transition spd="slow" advTm="8319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B51C-7002-46C3-87BC-2A6DA90F7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Undo Logging: Procedure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52A22-64CE-442D-BD15-AB02C3E0A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457200">
              <a:buFont typeface="+mj-lt"/>
              <a:buAutoNum type="arabicPeriod"/>
            </a:pPr>
            <a:r>
              <a:rPr lang="en-US" dirty="0"/>
              <a:t>If transaction T updates database item X and </a:t>
            </a:r>
            <a:br>
              <a:rPr lang="en-US" dirty="0"/>
            </a:br>
            <a:r>
              <a:rPr lang="en-US" dirty="0"/>
              <a:t>the old value was v, then &lt;T, X, v&gt; must be written to the log on disk </a:t>
            </a:r>
            <a:r>
              <a:rPr lang="en-US" b="1" dirty="0"/>
              <a:t>before</a:t>
            </a:r>
            <a:r>
              <a:rPr lang="en-US" dirty="0"/>
              <a:t> X is written to disk.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514350" indent="-457200">
              <a:spcBef>
                <a:spcPts val="3000"/>
              </a:spcBef>
              <a:buFont typeface="+mj-lt"/>
              <a:buAutoNum type="arabicPeriod"/>
            </a:pPr>
            <a:r>
              <a:rPr lang="en-US" dirty="0"/>
              <a:t>If transaction T commits, then &lt;COMMIT T&gt; must be written to disk </a:t>
            </a:r>
            <a:r>
              <a:rPr lang="en-US" b="1" dirty="0"/>
              <a:t>as soon as </a:t>
            </a:r>
            <a:r>
              <a:rPr lang="en-US" dirty="0"/>
              <a:t>all database elements changed by T have been written to disk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6050B-2BE1-460E-8737-1B906E1C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6136E6-876C-475D-9EE1-9DD52AA975A0}"/>
              </a:ext>
            </a:extLst>
          </p:cNvPr>
          <p:cNvSpPr/>
          <p:nvPr/>
        </p:nvSpPr>
        <p:spPr>
          <a:xfrm>
            <a:off x="3910967" y="2766981"/>
            <a:ext cx="1852490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&lt;T, X, v&gt;</a:t>
            </a:r>
            <a:br>
              <a:rPr lang="en-US" sz="2000" dirty="0"/>
            </a:br>
            <a:r>
              <a:rPr lang="en-US" sz="2000" dirty="0"/>
              <a:t>written to disk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3ACE0F-64EA-4619-B81F-53F7F70A21CA}"/>
              </a:ext>
            </a:extLst>
          </p:cNvPr>
          <p:cNvSpPr/>
          <p:nvPr/>
        </p:nvSpPr>
        <p:spPr>
          <a:xfrm>
            <a:off x="6887436" y="2766981"/>
            <a:ext cx="1315563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output(X)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71910D-0F04-4E68-BC23-9045A1A875F1}"/>
              </a:ext>
            </a:extLst>
          </p:cNvPr>
          <p:cNvSpPr/>
          <p:nvPr/>
        </p:nvSpPr>
        <p:spPr>
          <a:xfrm>
            <a:off x="7055820" y="4735792"/>
            <a:ext cx="1728192" cy="75515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&lt;COMMIT T&gt; written to log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3A354A-D4C5-4A1F-AC49-C491A8D4FFD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763457" y="3116169"/>
            <a:ext cx="11239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BD0CF4-F563-4A72-ADE9-3431E39788E2}"/>
              </a:ext>
            </a:extLst>
          </p:cNvPr>
          <p:cNvCxnSpPr/>
          <p:nvPr/>
        </p:nvCxnSpPr>
        <p:spPr>
          <a:xfrm>
            <a:off x="5785229" y="5113366"/>
            <a:ext cx="11239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AC6AC1D-35A3-4D43-AC98-C3DBA73B360A}"/>
              </a:ext>
            </a:extLst>
          </p:cNvPr>
          <p:cNvSpPr/>
          <p:nvPr/>
        </p:nvSpPr>
        <p:spPr>
          <a:xfrm>
            <a:off x="3741508" y="4484120"/>
            <a:ext cx="1276902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output(X)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707816-EF08-4083-8069-72AAF2A84360}"/>
              </a:ext>
            </a:extLst>
          </p:cNvPr>
          <p:cNvSpPr/>
          <p:nvPr/>
        </p:nvSpPr>
        <p:spPr>
          <a:xfrm>
            <a:off x="4327105" y="4878214"/>
            <a:ext cx="1283166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output(Y)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580B27-479B-4554-A2F6-0E6F52459AB6}"/>
              </a:ext>
            </a:extLst>
          </p:cNvPr>
          <p:cNvSpPr/>
          <p:nvPr/>
        </p:nvSpPr>
        <p:spPr>
          <a:xfrm>
            <a:off x="4885293" y="5254174"/>
            <a:ext cx="1283166" cy="6983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sz="2000" dirty="0"/>
              <a:t>…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4399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627"/>
    </mc:Choice>
    <mc:Fallback xmlns="">
      <p:transition spd="slow" advTm="846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90" name="Rounded Rectangular Callout 89"/>
          <p:cNvSpPr/>
          <p:nvPr/>
        </p:nvSpPr>
        <p:spPr>
          <a:xfrm>
            <a:off x="4871864" y="4437112"/>
            <a:ext cx="3960440" cy="487264"/>
          </a:xfrm>
          <a:prstGeom prst="wedgeRoundRectCallout">
            <a:avLst>
              <a:gd name="adj1" fmla="val -57193"/>
              <a:gd name="adj2" fmla="val 1934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Writes all log entries for updates to disk</a:t>
            </a:r>
            <a:endParaRPr lang="en-US" dirty="0"/>
          </a:p>
        </p:txBody>
      </p:sp>
      <p:sp>
        <p:nvSpPr>
          <p:cNvPr id="91" name="Rounded Rectangular Callout 90"/>
          <p:cNvSpPr/>
          <p:nvPr/>
        </p:nvSpPr>
        <p:spPr>
          <a:xfrm>
            <a:off x="4871864" y="5925957"/>
            <a:ext cx="3816424" cy="432634"/>
          </a:xfrm>
          <a:prstGeom prst="wedgeRoundRectCallout">
            <a:avLst>
              <a:gd name="adj1" fmla="val -57870"/>
              <a:gd name="adj2" fmla="val 1722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Writes the &lt;COMMIT T&gt; record to disk</a:t>
            </a:r>
            <a:endParaRPr lang="en-US" dirty="0"/>
          </a:p>
        </p:txBody>
      </p:sp>
      <p:sp>
        <p:nvSpPr>
          <p:cNvPr id="92" name="Rounded Rectangular Callout 91"/>
          <p:cNvSpPr/>
          <p:nvPr/>
        </p:nvSpPr>
        <p:spPr>
          <a:xfrm>
            <a:off x="4871864" y="5205937"/>
            <a:ext cx="2592290" cy="405083"/>
          </a:xfrm>
          <a:prstGeom prst="wedgeRoundRectCallout">
            <a:avLst>
              <a:gd name="adj1" fmla="val -60295"/>
              <a:gd name="adj2" fmla="val -211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Writes all updates to disk</a:t>
            </a:r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3807389-E4DF-421A-9533-552833020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942922"/>
              </p:ext>
            </p:extLst>
          </p:nvPr>
        </p:nvGraphicFramePr>
        <p:xfrm>
          <a:off x="2782552" y="1857475"/>
          <a:ext cx="1728192" cy="450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/>
                        <a:t>Transaction</a:t>
                      </a:r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/>
                        <a:t>read(X)</a:t>
                      </a:r>
                      <a:endParaRPr lang="en-US" sz="1800" b="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/>
                        <a:t>X := X*2</a:t>
                      </a:r>
                      <a:endParaRPr lang="en-US" sz="1800" b="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/>
                        <a:t>write(X)</a:t>
                      </a:r>
                      <a:endParaRPr lang="en-US" sz="1800" b="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/>
                        <a:t>read(Y)</a:t>
                      </a:r>
                      <a:endParaRPr lang="en-US" sz="1800" b="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/>
                        <a:t>Y := Y*2</a:t>
                      </a:r>
                      <a:endParaRPr lang="en-US" sz="1800" b="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0"/>
                        <a:t>write(Y)</a:t>
                      </a:r>
                      <a:endParaRPr lang="en-US" sz="1800" b="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/>
                        <a:t>flush_log</a:t>
                      </a:r>
                      <a:endParaRPr lang="en-US" sz="1800" b="1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/>
                        <a:t>output(X)</a:t>
                      </a:r>
                      <a:endParaRPr lang="en-US" sz="1800" b="1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/>
                        <a:t>output(Y)</a:t>
                      </a:r>
                      <a:endParaRPr lang="en-US" sz="1800" b="1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flush_log</a:t>
                      </a:r>
                      <a:endParaRPr lang="en-US" sz="1800" b="1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05646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501"/>
    </mc:Choice>
    <mc:Fallback xmlns="">
      <p:transition spd="slow" advTm="585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53210" y="1857475"/>
          <a:ext cx="8147247" cy="450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Time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record written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read(X)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X := X*2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write(X)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read(Y)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5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Y := Y*2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6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write(Y)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7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flush_log</a:t>
                      </a:r>
                      <a:endParaRPr lang="en-US" sz="1800" b="1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8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output(X)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9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output(Y)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10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11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flush_log</a:t>
                      </a:r>
                      <a:endParaRPr lang="en-US" sz="1800" b="1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Right Brace 8"/>
          <p:cNvSpPr/>
          <p:nvPr/>
        </p:nvSpPr>
        <p:spPr>
          <a:xfrm rot="16200000">
            <a:off x="4915955" y="1240842"/>
            <a:ext cx="199851" cy="864096"/>
          </a:xfrm>
          <a:prstGeom prst="rightBrace">
            <a:avLst>
              <a:gd name="adj1" fmla="val 8333"/>
              <a:gd name="adj2" fmla="val 488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684025" y="1209883"/>
            <a:ext cx="66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3696" y="1209883"/>
            <a:ext cx="76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Buffer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02956" y="1203632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Database</a:t>
            </a:r>
          </a:p>
        </p:txBody>
      </p:sp>
      <p:sp>
        <p:nvSpPr>
          <p:cNvPr id="86" name="Right Brace 85"/>
          <p:cNvSpPr/>
          <p:nvPr/>
        </p:nvSpPr>
        <p:spPr>
          <a:xfrm rot="16200000">
            <a:off x="5924068" y="1236885"/>
            <a:ext cx="199851" cy="864096"/>
          </a:xfrm>
          <a:prstGeom prst="rightBrace">
            <a:avLst>
              <a:gd name="adj1" fmla="val 8333"/>
              <a:gd name="adj2" fmla="val 488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ight Brace 86"/>
          <p:cNvSpPr/>
          <p:nvPr/>
        </p:nvSpPr>
        <p:spPr>
          <a:xfrm rot="16200000">
            <a:off x="6932181" y="1232928"/>
            <a:ext cx="199851" cy="864096"/>
          </a:xfrm>
          <a:prstGeom prst="rightBrace">
            <a:avLst>
              <a:gd name="adj1" fmla="val 8333"/>
              <a:gd name="adj2" fmla="val 4886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600064" y="217080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04122" y="217080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83832" y="253823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591948" y="253823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00064" y="253823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92" name="Rectangle 91"/>
          <p:cNvSpPr/>
          <p:nvPr/>
        </p:nvSpPr>
        <p:spPr>
          <a:xfrm>
            <a:off x="7104122" y="253823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83832" y="290565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91948" y="290565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97" name="Rectangle 96"/>
          <p:cNvSpPr/>
          <p:nvPr/>
        </p:nvSpPr>
        <p:spPr>
          <a:xfrm>
            <a:off x="6600064" y="290565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>
            <a:off x="7104122" y="290565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583832" y="3273079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91948" y="3273079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00064" y="3273079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04" name="Rectangle 103"/>
          <p:cNvSpPr/>
          <p:nvPr/>
        </p:nvSpPr>
        <p:spPr>
          <a:xfrm>
            <a:off x="7104122" y="3273079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83832" y="357301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87890" y="357301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591948" y="357301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096006" y="357301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600064" y="357301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10" name="Rectangle 109"/>
          <p:cNvSpPr/>
          <p:nvPr/>
        </p:nvSpPr>
        <p:spPr>
          <a:xfrm>
            <a:off x="7104122" y="357301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583832" y="392692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087890" y="392692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91948" y="392692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096006" y="392692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00064" y="392692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28" name="Rectangle 127"/>
          <p:cNvSpPr/>
          <p:nvPr/>
        </p:nvSpPr>
        <p:spPr>
          <a:xfrm>
            <a:off x="7104122" y="392692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83832" y="428082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87890" y="428082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591948" y="428082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096006" y="428082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600064" y="428082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34" name="Rectangle 133"/>
          <p:cNvSpPr/>
          <p:nvPr/>
        </p:nvSpPr>
        <p:spPr>
          <a:xfrm>
            <a:off x="7104122" y="428082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583832" y="463473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087890" y="463473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591948" y="463473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096006" y="463473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00064" y="463473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40" name="Rectangle 139"/>
          <p:cNvSpPr/>
          <p:nvPr/>
        </p:nvSpPr>
        <p:spPr>
          <a:xfrm>
            <a:off x="7104122" y="463473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583832" y="498864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087890" y="498864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591948" y="498864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096006" y="498864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600064" y="498864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104122" y="498864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583832" y="530120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087890" y="530120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91948" y="530120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096006" y="530120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00064" y="530120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104122" y="530120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83832" y="5651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087890" y="5651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591948" y="5651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096006" y="5651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600064" y="5651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104122" y="5651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583832" y="600270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087890" y="600270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591948" y="600270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096006" y="600270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600064" y="600270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104122" y="600270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612390" y="2168899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T&gt;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623558" y="3273079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&lt;T, X, 1&gt;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623558" y="4280828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&lt;T, Y, 10&gt;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623558" y="5645755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T&gt;</a:t>
            </a:r>
          </a:p>
        </p:txBody>
      </p:sp>
      <p:cxnSp>
        <p:nvCxnSpPr>
          <p:cNvPr id="177" name="Straight Arrow Connector 176"/>
          <p:cNvCxnSpPr/>
          <p:nvPr/>
        </p:nvCxnSpPr>
        <p:spPr>
          <a:xfrm flipH="1" flipV="1">
            <a:off x="5951984" y="2736416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8" name="Straight Arrow Connector 177"/>
          <p:cNvCxnSpPr/>
          <p:nvPr/>
        </p:nvCxnSpPr>
        <p:spPr>
          <a:xfrm flipH="1" flipV="1">
            <a:off x="4962418" y="2736415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9" name="Straight Arrow Connector 178"/>
          <p:cNvCxnSpPr/>
          <p:nvPr/>
        </p:nvCxnSpPr>
        <p:spPr>
          <a:xfrm flipV="1">
            <a:off x="4982940" y="3459837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/>
          <p:nvPr/>
        </p:nvCxnSpPr>
        <p:spPr>
          <a:xfrm flipH="1">
            <a:off x="6528053" y="3759775"/>
            <a:ext cx="5760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H="1">
            <a:off x="5519936" y="3762122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/>
          <p:nvPr/>
        </p:nvCxnSpPr>
        <p:spPr>
          <a:xfrm>
            <a:off x="5519936" y="4465494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" name="Straight Arrow Connector 185"/>
          <p:cNvCxnSpPr/>
          <p:nvPr/>
        </p:nvCxnSpPr>
        <p:spPr>
          <a:xfrm flipV="1">
            <a:off x="5969038" y="5178882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6502953" y="5485874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5788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991"/>
    </mc:Choice>
    <mc:Fallback xmlns="">
      <p:transition spd="slow" advTm="2329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85" grpId="0"/>
      <p:bldP spid="89" grpId="0"/>
      <p:bldP spid="91" grpId="0"/>
      <p:bldP spid="92" grpId="0"/>
      <p:bldP spid="93" grpId="0"/>
      <p:bldP spid="95" grpId="0"/>
      <p:bldP spid="97" grpId="0"/>
      <p:bldP spid="98" grpId="0"/>
      <p:bldP spid="99" grpId="0"/>
      <p:bldP spid="101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8" grpId="0"/>
      <p:bldP spid="171" grpId="0"/>
      <p:bldP spid="1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if a system failure occurs?</a:t>
            </a:r>
            <a:br>
              <a:rPr lang="en-US" dirty="0"/>
            </a:br>
            <a:r>
              <a:rPr lang="en-US" dirty="0"/>
              <a:t>(The Recovery Manager)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42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785"/>
    </mc:Choice>
    <mc:Fallback xmlns="">
      <p:transition spd="slow" advTm="1678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725991"/>
            <a:ext cx="10058400" cy="4023360"/>
          </a:xfrm>
        </p:spPr>
        <p:txBody>
          <a:bodyPr/>
          <a:lstStyle/>
          <a:p>
            <a:r>
              <a:rPr lang="en-US" dirty="0"/>
              <a:t>&lt;COMMIT T&gt; occurs in the log on disk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63554" y="2082791"/>
          <a:ext cx="8147247" cy="450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Time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record written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read(X)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X := X*2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write(X)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read(Y)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5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Y := Y*2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6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write(Y)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7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flush_log</a:t>
                      </a:r>
                      <a:endParaRPr lang="en-US" sz="1800" b="1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8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output(X)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9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output(Y)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10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11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flush_log</a:t>
                      </a:r>
                      <a:endParaRPr lang="en-US" sz="1800" b="1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610408" y="2396123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4466" y="2396123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4176" y="27635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02292" y="27635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0408" y="27635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114466" y="27635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4176" y="31309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02292" y="31309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610408" y="31309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7114466" y="31309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4176" y="34983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02292" y="34983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10408" y="34983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114466" y="34983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4176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8234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02292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6350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10408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7114466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4176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98234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02292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6350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10408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114466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4176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8234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02292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6350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10408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114466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4176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98234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02292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6350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0408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7114466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4176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98234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02292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6350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10408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14466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94176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98234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02292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6350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10408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14466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94176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98234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02292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06350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10408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14466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94176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98234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02292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06350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10408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14466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22734" y="2394215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T&gt;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33902" y="3498395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&lt;T, X, 1&gt;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33902" y="4506144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&lt;T, Y, 10&gt;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33902" y="5871071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T&gt;</a:t>
            </a:r>
          </a:p>
        </p:txBody>
      </p:sp>
      <p:cxnSp>
        <p:nvCxnSpPr>
          <p:cNvPr id="74" name="Straight Arrow Connector 73"/>
          <p:cNvCxnSpPr/>
          <p:nvPr/>
        </p:nvCxnSpPr>
        <p:spPr>
          <a:xfrm flipH="1" flipV="1">
            <a:off x="5962328" y="2961732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 flipV="1">
            <a:off x="4972762" y="2961731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4993284" y="3685153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538397" y="3985091"/>
            <a:ext cx="5760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H="1">
            <a:off x="5530280" y="3987438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5530280" y="4690810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V="1">
            <a:off x="5979382" y="5404198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6513297" y="5711190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2" name="Rounded Rectangular Callout 81"/>
          <p:cNvSpPr/>
          <p:nvPr/>
        </p:nvSpPr>
        <p:spPr>
          <a:xfrm>
            <a:off x="7546512" y="1834122"/>
            <a:ext cx="3000724" cy="678946"/>
          </a:xfrm>
          <a:prstGeom prst="wedgeRoundRectCallout">
            <a:avLst>
              <a:gd name="adj1" fmla="val -36635"/>
              <a:gd name="adj2" fmla="val -6899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sym typeface="Wingdings"/>
              </a:rPr>
              <a:t>T </a:t>
            </a:r>
            <a:r>
              <a:rPr lang="en-US" dirty="0">
                <a:sym typeface="Wingdings"/>
              </a:rPr>
              <a:t>has committed successfully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(no recovery needed)</a:t>
            </a:r>
            <a:endParaRPr lang="en-US" dirty="0"/>
          </a:p>
        </p:txBody>
      </p:sp>
      <p:cxnSp>
        <p:nvCxnSpPr>
          <p:cNvPr id="96" name="Straight Connector 95"/>
          <p:cNvCxnSpPr/>
          <p:nvPr/>
        </p:nvCxnSpPr>
        <p:spPr>
          <a:xfrm>
            <a:off x="1919536" y="6565994"/>
            <a:ext cx="842493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614765" y="6381328"/>
            <a:ext cx="655436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Error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554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60"/>
    </mc:Choice>
    <mc:Fallback xmlns="">
      <p:transition spd="slow" advTm="319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9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736877"/>
            <a:ext cx="10058400" cy="4023360"/>
          </a:xfrm>
        </p:spPr>
        <p:txBody>
          <a:bodyPr/>
          <a:lstStyle/>
          <a:p>
            <a:r>
              <a:rPr lang="en-US" dirty="0"/>
              <a:t>&lt;COMMIT T&gt; </a:t>
            </a:r>
            <a:r>
              <a:rPr lang="en-US" b="1" dirty="0"/>
              <a:t>does not occur</a:t>
            </a:r>
            <a:r>
              <a:rPr lang="en-US" dirty="0"/>
              <a:t> in the log on disk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63554" y="2082791"/>
          <a:ext cx="8147247" cy="450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Time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record written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read(X)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X := X*2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write(X)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read(Y)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5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Y := Y*2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6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write(Y)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7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flush_log</a:t>
                      </a:r>
                      <a:endParaRPr lang="en-US" sz="1800" b="1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8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output(X)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9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output(Y)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10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11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flush_log</a:t>
                      </a:r>
                      <a:endParaRPr lang="en-US" sz="1800" b="1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610408" y="2396123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4466" y="2396123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4176" y="27635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02292" y="27635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0408" y="27635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114466" y="27635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4176" y="31309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02292" y="31309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610408" y="31309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7114466" y="31309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4176" y="34983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02292" y="34983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10408" y="34983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114466" y="34983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4176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8234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02292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6350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10408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7114466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4176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98234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02292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6350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10408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114466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4176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8234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02292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6350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10408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114466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4176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98234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02292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6350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0408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7114466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4176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98234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02292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6350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10408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14466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94176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98234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02292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6350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10408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14466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94176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98234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02292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06350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10408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14466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94176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98234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02292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06350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10408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14466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22734" y="2394215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T&gt;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33902" y="3498395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&lt;T, X, 1&gt;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33902" y="4506144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&lt;T, Y, 10&gt;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33902" y="5871071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T&gt;</a:t>
            </a:r>
          </a:p>
        </p:txBody>
      </p:sp>
      <p:cxnSp>
        <p:nvCxnSpPr>
          <p:cNvPr id="74" name="Straight Arrow Connector 73"/>
          <p:cNvCxnSpPr/>
          <p:nvPr/>
        </p:nvCxnSpPr>
        <p:spPr>
          <a:xfrm flipH="1" flipV="1">
            <a:off x="5962328" y="2961732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 flipV="1">
            <a:off x="4972762" y="2961731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4993284" y="3685153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538397" y="3985091"/>
            <a:ext cx="5760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H="1">
            <a:off x="5530280" y="3987438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5530280" y="4690810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V="1">
            <a:off x="5979382" y="5404198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6513297" y="5711190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2" name="Rounded Rectangular Callout 81"/>
          <p:cNvSpPr/>
          <p:nvPr/>
        </p:nvSpPr>
        <p:spPr>
          <a:xfrm>
            <a:off x="6394376" y="1882573"/>
            <a:ext cx="4166121" cy="1532606"/>
          </a:xfrm>
          <a:prstGeom prst="wedgeRoundRectCallout">
            <a:avLst>
              <a:gd name="adj1" fmla="val -32943"/>
              <a:gd name="adj2" fmla="val -5695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Must undo all updates to database items that were written to disk.</a:t>
            </a:r>
          </a:p>
          <a:p>
            <a:pPr>
              <a:spcBef>
                <a:spcPts val="600"/>
              </a:spcBef>
            </a:pPr>
            <a:r>
              <a:rPr lang="en-US" dirty="0">
                <a:sym typeface="Wingdings"/>
              </a:rPr>
              <a:t>For each log record &lt;T, X, v&gt; on disk,</a:t>
            </a: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replace X on disk by v.</a:t>
            </a:r>
            <a:endParaRPr lang="en-US" dirty="0"/>
          </a:p>
        </p:txBody>
      </p:sp>
      <p:cxnSp>
        <p:nvCxnSpPr>
          <p:cNvPr id="83" name="Straight Connector 82"/>
          <p:cNvCxnSpPr/>
          <p:nvPr/>
        </p:nvCxnSpPr>
        <p:spPr>
          <a:xfrm>
            <a:off x="1919536" y="5526524"/>
            <a:ext cx="842493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614765" y="5341858"/>
            <a:ext cx="655436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Error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415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1868">
        <p:fade/>
      </p:transition>
    </mc:Choice>
    <mc:Fallback xmlns="">
      <p:transition spd="med" advTm="6186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3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736877"/>
            <a:ext cx="10058400" cy="4023360"/>
          </a:xfrm>
        </p:spPr>
        <p:txBody>
          <a:bodyPr/>
          <a:lstStyle/>
          <a:p>
            <a:r>
              <a:rPr lang="en-US" dirty="0"/>
              <a:t>&lt;COMMIT T&gt; </a:t>
            </a:r>
            <a:r>
              <a:rPr lang="en-US" b="1" dirty="0"/>
              <a:t>does not occur </a:t>
            </a:r>
            <a:r>
              <a:rPr lang="en-US" dirty="0"/>
              <a:t>in the log on disk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63554" y="2082791"/>
          <a:ext cx="8147247" cy="450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Time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X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record written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read(X)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X := X*2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3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write(X)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read(Y)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5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Y := Y*2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6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write(Y)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7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flush_log</a:t>
                      </a:r>
                      <a:endParaRPr lang="en-US" sz="1800" b="1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8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output(X)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9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output(Y)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10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b="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11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flush_log</a:t>
                      </a:r>
                      <a:endParaRPr lang="en-US" sz="1800" b="1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610408" y="2396123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114466" y="2396123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4176" y="27635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02292" y="27635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0408" y="27635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114466" y="2763547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4176" y="31309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02292" y="31309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610408" y="31309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7114466" y="3130971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94176" y="34983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02292" y="34983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10408" y="34983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114466" y="3498395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4176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98234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02292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6350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10408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7114466" y="379833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4176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98234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02292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6350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10408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7114466" y="4152238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4176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8234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02292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6350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10408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7114466" y="450614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4176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98234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02292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6350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0408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/>
              <a:t>1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7114466" y="486005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4176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98234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02292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06350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10408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14466" y="5213956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94176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98234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02292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06350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10408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14466" y="5526524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</a:rPr>
              <a:t>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94176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98234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02292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06350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10408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14466" y="5877272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94176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98234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02292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06350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10408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14466" y="6228020"/>
            <a:ext cx="432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20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22734" y="2394215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T&gt;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33902" y="3498395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&lt;T, X, 1&gt;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633902" y="4506144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&lt;T, Y, 10&gt;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633902" y="5871071"/>
            <a:ext cx="2516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T&gt;</a:t>
            </a:r>
          </a:p>
        </p:txBody>
      </p:sp>
      <p:cxnSp>
        <p:nvCxnSpPr>
          <p:cNvPr id="74" name="Straight Arrow Connector 73"/>
          <p:cNvCxnSpPr/>
          <p:nvPr/>
        </p:nvCxnSpPr>
        <p:spPr>
          <a:xfrm flipH="1" flipV="1">
            <a:off x="5962328" y="2961732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 flipV="1">
            <a:off x="4972762" y="2961731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flipV="1">
            <a:off x="4993284" y="3685153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538397" y="3985091"/>
            <a:ext cx="57606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H="1">
            <a:off x="5530280" y="3987438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5530280" y="4690810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V="1">
            <a:off x="5979382" y="5404198"/>
            <a:ext cx="80954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>
            <a:off x="6513297" y="5711190"/>
            <a:ext cx="6230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2" name="Rounded Rectangular Callout 81"/>
          <p:cNvSpPr/>
          <p:nvPr/>
        </p:nvSpPr>
        <p:spPr>
          <a:xfrm>
            <a:off x="7865492" y="1937960"/>
            <a:ext cx="3434206" cy="619674"/>
          </a:xfrm>
          <a:prstGeom prst="wedgeRoundRectCallout">
            <a:avLst>
              <a:gd name="adj1" fmla="val -32943"/>
              <a:gd name="adj2" fmla="val -6789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ym typeface="Wingdings"/>
              </a:rPr>
              <a:t>What to do in this case? Nothing!</a:t>
            </a:r>
          </a:p>
        </p:txBody>
      </p:sp>
      <p:cxnSp>
        <p:nvCxnSpPr>
          <p:cNvPr id="83" name="Straight Connector 82"/>
          <p:cNvCxnSpPr/>
          <p:nvPr/>
        </p:nvCxnSpPr>
        <p:spPr>
          <a:xfrm>
            <a:off x="1919536" y="5044534"/>
            <a:ext cx="842493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1614765" y="4859868"/>
            <a:ext cx="655436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Error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8180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7704">
        <p:fade/>
      </p:transition>
    </mc:Choice>
    <mc:Fallback xmlns="">
      <p:transition spd="med" advTm="4770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A4224-433D-4A90-8EBC-10722966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Recovery With Undo Logs</a:t>
            </a:r>
            <a:br>
              <a:rPr lang="en-US" dirty="0"/>
            </a:br>
            <a:r>
              <a:rPr lang="en-US" sz="2700" dirty="0"/>
              <a:t>(Simple Variant)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D6756-06FC-4440-9FA1-39E8A1397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an error occurs, the recovery manager restores </a:t>
            </a:r>
            <a:br>
              <a:rPr lang="en-US" dirty="0"/>
            </a:br>
            <a:r>
              <a:rPr lang="en-US" dirty="0"/>
              <a:t>the last consistent database state</a:t>
            </a:r>
          </a:p>
          <a:p>
            <a:r>
              <a:rPr lang="en-US" dirty="0"/>
              <a:t>Traverses the undo log backwards </a:t>
            </a:r>
          </a:p>
          <a:p>
            <a:r>
              <a:rPr lang="en-US" dirty="0"/>
              <a:t>If the current entry is</a:t>
            </a:r>
            <a:r>
              <a:rPr lang="mr-IN" dirty="0"/>
              <a:t>…</a:t>
            </a:r>
            <a:endParaRPr lang="en-US" dirty="0"/>
          </a:p>
          <a:p>
            <a:pPr lvl="1"/>
            <a:r>
              <a:rPr lang="en-US" b="1" dirty="0"/>
              <a:t>&lt;COMMIT T&gt;</a:t>
            </a:r>
            <a:r>
              <a:rPr lang="en-US" dirty="0"/>
              <a:t>: remember that T was committed successfully</a:t>
            </a:r>
          </a:p>
          <a:p>
            <a:pPr lvl="1"/>
            <a:r>
              <a:rPr lang="en-US" b="1" dirty="0"/>
              <a:t>&lt;ABORT T&gt;</a:t>
            </a:r>
            <a:r>
              <a:rPr lang="en-US" dirty="0"/>
              <a:t>: remember that T was aborted</a:t>
            </a:r>
          </a:p>
          <a:p>
            <a:pPr lvl="1"/>
            <a:r>
              <a:rPr lang="en-US" b="1" dirty="0"/>
              <a:t>&lt;T, X, v&gt;</a:t>
            </a:r>
            <a:r>
              <a:rPr lang="en-US" dirty="0"/>
              <a:t>: if T has not finished successfully (no COMMIT, </a:t>
            </a:r>
            <a:br>
              <a:rPr lang="en-US" dirty="0"/>
            </a:br>
            <a:r>
              <a:rPr lang="en-US" dirty="0"/>
              <a:t>no ABORT), change the value of X on disk to v</a:t>
            </a:r>
          </a:p>
          <a:p>
            <a:r>
              <a:rPr lang="en-US" dirty="0"/>
              <a:t>Write </a:t>
            </a:r>
            <a:r>
              <a:rPr lang="en-US" b="1" dirty="0"/>
              <a:t>&lt;ABORT T&gt; </a:t>
            </a:r>
            <a:r>
              <a:rPr lang="en-US" dirty="0"/>
              <a:t>for each </a:t>
            </a:r>
            <a:r>
              <a:rPr lang="en-US" i="1" dirty="0"/>
              <a:t>uncommitted</a:t>
            </a:r>
            <a:r>
              <a:rPr lang="en-US" dirty="0"/>
              <a:t> transaction T that was not previously aborted &amp; call </a:t>
            </a:r>
            <a:r>
              <a:rPr lang="en-US" dirty="0" err="1"/>
              <a:t>flush_log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GB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50EF29F-5CEC-402F-9BA3-FEB7E3CB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767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815"/>
    </mc:Choice>
    <mc:Fallback xmlns="">
      <p:transition spd="slow" advTm="768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Undo Logging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81200" y="4941169"/>
            <a:ext cx="8229600" cy="1507083"/>
          </a:xfrm>
        </p:spPr>
        <p:txBody>
          <a:bodyPr/>
          <a:lstStyle/>
          <a:p>
            <a:r>
              <a:rPr lang="en-US" dirty="0"/>
              <a:t>How does undo logging work on this schedule?</a:t>
            </a:r>
          </a:p>
          <a:p>
            <a:pPr lvl="1"/>
            <a:r>
              <a:rPr lang="en-US" dirty="0"/>
              <a:t>Which </a:t>
            </a:r>
            <a:r>
              <a:rPr lang="en-US" b="1" dirty="0"/>
              <a:t>log entries </a:t>
            </a:r>
            <a:r>
              <a:rPr lang="en-US" dirty="0"/>
              <a:t>are written to buffer/disk &amp; when?</a:t>
            </a:r>
          </a:p>
          <a:p>
            <a:pPr lvl="1"/>
            <a:r>
              <a:rPr lang="en-US" dirty="0"/>
              <a:t>Which </a:t>
            </a:r>
            <a:r>
              <a:rPr lang="en-US" b="1" dirty="0"/>
              <a:t>other operations </a:t>
            </a:r>
            <a:r>
              <a:rPr lang="en-US" dirty="0"/>
              <a:t>must be executed &amp; when?</a:t>
            </a:r>
          </a:p>
          <a:p>
            <a:pPr lvl="1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17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590716"/>
              </p:ext>
            </p:extLst>
          </p:nvPr>
        </p:nvGraphicFramePr>
        <p:xfrm>
          <a:off x="3033157" y="1799219"/>
          <a:ext cx="4275112" cy="310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 T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 T</a:t>
                      </a:r>
                      <a:r>
                        <a:rPr lang="en-US" sz="1800" baseline="-25000" dirty="0"/>
                        <a:t>2</a:t>
                      </a: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 := X * 2</a:t>
                      </a:r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read(X)</a:t>
                      </a:r>
                      <a:endParaRPr lang="en-US" sz="1800" i="1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X := X *</a:t>
                      </a:r>
                      <a:r>
                        <a:rPr lang="en-GB" sz="1800" baseline="0" dirty="0"/>
                        <a:t> 3</a:t>
                      </a: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 := X + Y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885712" y="2653811"/>
            <a:ext cx="6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1</a:t>
            </a:r>
          </a:p>
          <a:p>
            <a:r>
              <a:rPr lang="en-US" dirty="0"/>
              <a:t>Y = 2</a:t>
            </a:r>
          </a:p>
        </p:txBody>
      </p:sp>
      <p:sp>
        <p:nvSpPr>
          <p:cNvPr id="2" name="Oval 1"/>
          <p:cNvSpPr/>
          <p:nvPr/>
        </p:nvSpPr>
        <p:spPr>
          <a:xfrm>
            <a:off x="8616280" y="2505496"/>
            <a:ext cx="1224136" cy="93610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414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05"/>
    </mc:Choice>
    <mc:Fallback xmlns="">
      <p:transition spd="slow" advTm="345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9" grpId="0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18</a:t>
            </a:fld>
            <a:endParaRPr lang="en-GB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07752" y="130173"/>
          <a:ext cx="6984776" cy="651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1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296">
                <a:tc>
                  <a:txBody>
                    <a:bodyPr/>
                    <a:lstStyle/>
                    <a:p>
                      <a:r>
                        <a:rPr lang="en-US" sz="1800" dirty="0"/>
                        <a:t>Time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 T</a:t>
                      </a:r>
                      <a:r>
                        <a:rPr lang="en-US" sz="1800" baseline="-250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Transaction T</a:t>
                      </a:r>
                      <a:r>
                        <a:rPr lang="en-US" sz="1800" baseline="-25000" dirty="0"/>
                        <a:t>2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(buffer)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Log (disk)</a:t>
                      </a:r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read(X)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X := X</a:t>
                      </a:r>
                      <a:r>
                        <a:rPr lang="en-US" sz="1800" baseline="0" dirty="0"/>
                        <a:t> * 2</a:t>
                      </a:r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i="0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i="1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read(X)</a:t>
                      </a:r>
                      <a:endParaRPr lang="en-US" sz="1800" i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i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i="1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read(Y)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X := X * 3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write(X)</a:t>
                      </a: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 := X + Y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write(Y)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/>
                    </a:p>
                  </a:txBody>
                  <a:tcPr marT="18000" marB="1800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T="18000" marB="1800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704637" y="1855448"/>
            <a:ext cx="6431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1</a:t>
            </a:r>
          </a:p>
          <a:p>
            <a:r>
              <a:rPr lang="en-US" dirty="0"/>
              <a:t>Y = 2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824192" y="764704"/>
            <a:ext cx="1368152" cy="3240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824192" y="1556792"/>
            <a:ext cx="1296144" cy="24482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680176" y="2060848"/>
            <a:ext cx="1368152" cy="1944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752184" y="3068960"/>
            <a:ext cx="1224136" cy="936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7752184" y="3717032"/>
            <a:ext cx="1152128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8184232" y="4984550"/>
            <a:ext cx="792088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8194504" y="6255452"/>
            <a:ext cx="781816" cy="257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756225" y="404664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56225" y="1340367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, X, 1&gt;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0783" y="1670782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&lt;START T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56224" y="2882352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, X, 2&gt;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56223" y="3505158"/>
            <a:ext cx="12961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, Y, 2&gt;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56222" y="4747410"/>
            <a:ext cx="1572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</a:t>
            </a:r>
            <a:r>
              <a:rPr lang="en-US" b="1" baseline="-25000" dirty="0">
                <a:solidFill>
                  <a:schemeClr val="accent2"/>
                </a:solidFill>
              </a:rPr>
              <a:t>1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50470" y="5989662"/>
            <a:ext cx="15720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&lt;COMMIT T</a:t>
            </a:r>
            <a:r>
              <a:rPr lang="en-US" b="1" baseline="-25000" dirty="0">
                <a:solidFill>
                  <a:schemeClr val="accent2"/>
                </a:solidFill>
              </a:rPr>
              <a:t>2</a:t>
            </a:r>
            <a:r>
              <a:rPr lang="en-US" b="1" dirty="0">
                <a:solidFill>
                  <a:schemeClr val="accent2"/>
                </a:solidFill>
              </a:rPr>
              <a:t>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15681" y="3820398"/>
            <a:ext cx="1152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flush_log</a:t>
            </a:r>
            <a:endParaRPr lang="en-US" b="1" dirty="0"/>
          </a:p>
        </p:txBody>
      </p:sp>
      <p:sp>
        <p:nvSpPr>
          <p:cNvPr id="45" name="Rectangle 44"/>
          <p:cNvSpPr/>
          <p:nvPr/>
        </p:nvSpPr>
        <p:spPr>
          <a:xfrm>
            <a:off x="3227459" y="4127964"/>
            <a:ext cx="114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output(X)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27459" y="4465537"/>
            <a:ext cx="114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output(Y)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27459" y="5048979"/>
            <a:ext cx="1152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flush_log</a:t>
            </a:r>
            <a:endParaRPr lang="en-US" b="1" dirty="0"/>
          </a:p>
        </p:txBody>
      </p:sp>
      <p:sp>
        <p:nvSpPr>
          <p:cNvPr id="48" name="Rectangle 47"/>
          <p:cNvSpPr/>
          <p:nvPr/>
        </p:nvSpPr>
        <p:spPr>
          <a:xfrm>
            <a:off x="4983829" y="5373216"/>
            <a:ext cx="1152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flush_log</a:t>
            </a:r>
            <a:endParaRPr lang="en-US" b="1" dirty="0"/>
          </a:p>
        </p:txBody>
      </p:sp>
      <p:sp>
        <p:nvSpPr>
          <p:cNvPr id="49" name="Rectangle 48"/>
          <p:cNvSpPr/>
          <p:nvPr/>
        </p:nvSpPr>
        <p:spPr>
          <a:xfrm>
            <a:off x="4983829" y="6298295"/>
            <a:ext cx="11521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flush_log</a:t>
            </a:r>
            <a:endParaRPr lang="en-US" b="1" dirty="0"/>
          </a:p>
        </p:txBody>
      </p:sp>
      <p:sp>
        <p:nvSpPr>
          <p:cNvPr id="50" name="Rectangle 49"/>
          <p:cNvSpPr/>
          <p:nvPr/>
        </p:nvSpPr>
        <p:spPr>
          <a:xfrm>
            <a:off x="4983829" y="5669949"/>
            <a:ext cx="1143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output(X)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218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4393"/>
    </mc:Choice>
    <mc:Fallback xmlns="">
      <p:transition spd="slow" advTm="2643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6DAAE8A3-0250-4944-924B-F83048D8C653}"/>
              </a:ext>
            </a:extLst>
          </p:cNvPr>
          <p:cNvSpPr txBox="1">
            <a:spLocks/>
          </p:cNvSpPr>
          <p:nvPr/>
        </p:nvSpPr>
        <p:spPr>
          <a:xfrm>
            <a:off x="914400" y="2564905"/>
            <a:ext cx="10363200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What if a transaction aborts?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DFEB03D-383B-4DDB-8BBA-D276196A9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60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58"/>
    </mc:Choice>
    <mc:Fallback xmlns="">
      <p:transition spd="slow" advTm="11258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 a Transaction Aborts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undo log to undo all changes made by </a:t>
            </a:r>
            <a:br>
              <a:rPr lang="en-US" dirty="0"/>
            </a:br>
            <a:r>
              <a:rPr lang="en-US" dirty="0"/>
              <a:t>the transaction.</a:t>
            </a:r>
          </a:p>
          <a:p>
            <a:pPr lvl="1"/>
            <a:r>
              <a:rPr lang="en-US" dirty="0"/>
              <a:t>Similar to recovery with undo logs</a:t>
            </a:r>
          </a:p>
          <a:p>
            <a:pPr lvl="1"/>
            <a:r>
              <a:rPr lang="en-US" dirty="0"/>
              <a:t>But focuses on a single transaction</a:t>
            </a:r>
          </a:p>
          <a:p>
            <a:r>
              <a:rPr lang="en-US" dirty="0"/>
              <a:t>Procedure:</a:t>
            </a:r>
          </a:p>
          <a:p>
            <a:pPr lvl="1"/>
            <a:r>
              <a:rPr lang="en-US" dirty="0"/>
              <a:t>Assume T aborts</a:t>
            </a:r>
          </a:p>
          <a:p>
            <a:pPr lvl="1"/>
            <a:r>
              <a:rPr lang="en-US" dirty="0"/>
              <a:t>Traverse the undo log from the last to the first item</a:t>
            </a:r>
          </a:p>
          <a:p>
            <a:pPr lvl="1"/>
            <a:r>
              <a:rPr lang="en-US" dirty="0"/>
              <a:t>If we see </a:t>
            </a:r>
            <a:r>
              <a:rPr lang="en-US" b="1" dirty="0"/>
              <a:t>&lt;T, X, v&gt;</a:t>
            </a:r>
            <a:r>
              <a:rPr lang="en-US" dirty="0"/>
              <a:t>, change the value of X on disk back to v.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20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857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098"/>
    </mc:Choice>
    <mc:Fallback xmlns="">
      <p:transition spd="slow" advTm="620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D310-441E-4F8D-9568-855BA37C7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0EB94-D04D-4536-A0F6-2E756F547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Aborted transactions &amp; system failures can be dealt with using careful</a:t>
            </a:r>
          </a:p>
          <a:p>
            <a:r>
              <a:rPr lang="en-US" dirty="0"/>
              <a:t>Undo logging</a:t>
            </a:r>
          </a:p>
          <a:p>
            <a:pPr lvl="1"/>
            <a:r>
              <a:rPr lang="en-US" dirty="0"/>
              <a:t>Maintains Atomicity</a:t>
            </a:r>
          </a:p>
          <a:p>
            <a:pPr lvl="1"/>
            <a:r>
              <a:rPr lang="en-US" dirty="0"/>
              <a:t>Logs old value for each updated database item</a:t>
            </a:r>
          </a:p>
          <a:p>
            <a:pPr lvl="1"/>
            <a:r>
              <a:rPr lang="en-US" dirty="0"/>
              <a:t>Recovery manager: use this information to restore the last consistent database state</a:t>
            </a:r>
          </a:p>
          <a:p>
            <a:endParaRPr lang="en-GB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F6D6250-6EA3-418A-A287-BBF8AC63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32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596"/>
    </mc:Choice>
    <mc:Fallback xmlns="">
      <p:transition spd="slow" advTm="51596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16.5|23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4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2.1|25.3|9.9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6.5|5.3|5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1|11.7|14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|29.7|10.8|3.3|7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1|16.6|24.7|13|6.2|14.4|13.7|11|8|17|1.2|21.2|8.3|22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|22.3|5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|5.6|8.5|4.8|15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11.2|9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5|8.8|26.8|3.2|24.1|22.2|14.1|17.7|18.8|7.1|5.6|18.2|6.5|11.7|23|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6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911</TotalTime>
  <Words>2290</Words>
  <Application>Microsoft Office PowerPoint</Application>
  <PresentationFormat>Widescreen</PresentationFormat>
  <Paragraphs>672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Retrospect</vt:lpstr>
      <vt:lpstr>(Undo-)Logging for your database</vt:lpstr>
      <vt:lpstr>Overview of this video</vt:lpstr>
      <vt:lpstr>Logging in DBMS</vt:lpstr>
      <vt:lpstr>Extension of Transaction Syntax</vt:lpstr>
      <vt:lpstr>Extension of Transaction Syntax</vt:lpstr>
      <vt:lpstr>Extension of Transaction Syntax</vt:lpstr>
      <vt:lpstr>Extension of Transaction Syntax</vt:lpstr>
      <vt:lpstr>Undo Logging</vt:lpstr>
      <vt:lpstr>Undo Logging: Procedure</vt:lpstr>
      <vt:lpstr>Example</vt:lpstr>
      <vt:lpstr>Example</vt:lpstr>
      <vt:lpstr>What if a system failure occurs? (The Recovery Manager)</vt:lpstr>
      <vt:lpstr>Scenario 1</vt:lpstr>
      <vt:lpstr>Scenario 2</vt:lpstr>
      <vt:lpstr>Scenario 3</vt:lpstr>
      <vt:lpstr>Recovery With Undo Logs (Simple Variant)</vt:lpstr>
      <vt:lpstr>Example of Undo Logging</vt:lpstr>
      <vt:lpstr>PowerPoint Presentation</vt:lpstr>
      <vt:lpstr>PowerPoint Presentation</vt:lpstr>
      <vt:lpstr>If a Transaction Aborts…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(Undo-)Logging for your database</dc:title>
  <dc:creator>Rasmus Ibsen-Jensen</dc:creator>
  <cp:lastModifiedBy>Rasmus Ibsen-Jensen</cp:lastModifiedBy>
  <cp:revision>11</cp:revision>
  <dcterms:created xsi:type="dcterms:W3CDTF">2020-10-23T18:19:20Z</dcterms:created>
  <dcterms:modified xsi:type="dcterms:W3CDTF">2020-11-03T18:31:43Z</dcterms:modified>
</cp:coreProperties>
</file>