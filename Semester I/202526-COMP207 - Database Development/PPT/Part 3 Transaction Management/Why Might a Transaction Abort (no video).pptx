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379" r:id="rId4"/>
    <p:sldId id="260" r:id="rId5"/>
    <p:sldId id="363" r:id="rId6"/>
    <p:sldId id="541" r:id="rId7"/>
    <p:sldId id="542" r:id="rId8"/>
    <p:sldId id="543" r:id="rId9"/>
    <p:sldId id="282" r:id="rId10"/>
    <p:sldId id="284" r:id="rId11"/>
    <p:sldId id="54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36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647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07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43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32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354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226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2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630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328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065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7009D74-A91A-4B03-BFBD-FEEBB95FACE8}" type="datetimeFigureOut">
              <a:rPr lang="en-GB" smtClean="0"/>
              <a:t>03/11/2020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CCF5745-3FA9-467E-82CF-F72492EA458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93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2FEB-1186-48A6-AAB8-032DFA230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935694" cy="3566160"/>
          </a:xfrm>
        </p:spPr>
        <p:txBody>
          <a:bodyPr/>
          <a:lstStyle/>
          <a:p>
            <a:r>
              <a:rPr lang="en-US" dirty="0"/>
              <a:t>Why Might a Transaction Abort?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FC875-621D-4AF0-867F-0885E9A294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11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30"/>
    </mc:Choice>
    <mc:Fallback xmlns="">
      <p:transition spd="slow" advTm="563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How and why might a transaction abort?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D34EE-1258-4941-BD93-EAE842D5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84"/>
    </mc:Choice>
    <mc:Fallback xmlns="">
      <p:transition spd="slow" advTm="3328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02E6-EE76-4C97-8A1D-2A17672F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relational DBMS Components</a:t>
            </a:r>
            <a:br>
              <a:rPr lang="en-US" dirty="0"/>
            </a:br>
            <a:r>
              <a:rPr lang="en-US" sz="2400" dirty="0"/>
              <a:t>(part of a slide in the content video)</a:t>
            </a:r>
            <a:endParaRPr lang="en-GB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650A-818A-47CD-80E1-A3E6CC0EF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8AE3FE-CD61-4577-944C-D8FA05671FAC}"/>
              </a:ext>
            </a:extLst>
          </p:cNvPr>
          <p:cNvSpPr/>
          <p:nvPr/>
        </p:nvSpPr>
        <p:spPr>
          <a:xfrm>
            <a:off x="4586799" y="2276872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Transaction manager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CD5949-225B-43DC-9D9C-EFECB6BC1C38}"/>
              </a:ext>
            </a:extLst>
          </p:cNvPr>
          <p:cNvSpPr/>
          <p:nvPr/>
        </p:nvSpPr>
        <p:spPr>
          <a:xfrm>
            <a:off x="4589455" y="3188629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Logging and recovery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40663C-9658-4FB7-8B3C-9F8B3DA21FEB}"/>
              </a:ext>
            </a:extLst>
          </p:cNvPr>
          <p:cNvSpPr/>
          <p:nvPr/>
        </p:nvSpPr>
        <p:spPr>
          <a:xfrm>
            <a:off x="7147587" y="3181663"/>
            <a:ext cx="1800200" cy="557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Concurrency control</a:t>
            </a:r>
          </a:p>
        </p:txBody>
      </p:sp>
      <p:sp>
        <p:nvSpPr>
          <p:cNvPr id="7" name="Can 12" descr="Storage (i.e. typically harddisk)">
            <a:extLst>
              <a:ext uri="{FF2B5EF4-FFF2-40B4-BE49-F238E27FC236}">
                <a16:creationId xmlns:a16="http://schemas.microsoft.com/office/drawing/2014/main" id="{FEB6E79A-A45E-4F26-8352-EBFE56E4DA58}"/>
              </a:ext>
            </a:extLst>
          </p:cNvPr>
          <p:cNvSpPr/>
          <p:nvPr/>
        </p:nvSpPr>
        <p:spPr>
          <a:xfrm>
            <a:off x="4705656" y="5155943"/>
            <a:ext cx="1512168" cy="115212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</a:p>
        </p:txBody>
      </p:sp>
      <p:sp>
        <p:nvSpPr>
          <p:cNvPr id="8" name="Can 41" descr="Buffers (e.g. RAM)">
            <a:extLst>
              <a:ext uri="{FF2B5EF4-FFF2-40B4-BE49-F238E27FC236}">
                <a16:creationId xmlns:a16="http://schemas.microsoft.com/office/drawing/2014/main" id="{399E0C2E-7BCE-4687-8AF4-AE250064644E}"/>
              </a:ext>
            </a:extLst>
          </p:cNvPr>
          <p:cNvSpPr/>
          <p:nvPr/>
        </p:nvSpPr>
        <p:spPr>
          <a:xfrm>
            <a:off x="4705656" y="4348295"/>
            <a:ext cx="1512168" cy="7367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Buffers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CC14A-D12B-4AFE-9E1A-F840D7E8F077}"/>
              </a:ext>
            </a:extLst>
          </p:cNvPr>
          <p:cNvSpPr txBox="1"/>
          <p:nvPr/>
        </p:nvSpPr>
        <p:spPr>
          <a:xfrm>
            <a:off x="4586799" y="1691971"/>
            <a:ext cx="174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User/application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E99C99-1E51-4E8C-8F69-B8E94ACD887F}"/>
              </a:ext>
            </a:extLst>
          </p:cNvPr>
          <p:cNvCxnSpPr>
            <a:cxnSpLocks/>
          </p:cNvCxnSpPr>
          <p:nvPr/>
        </p:nvCxnSpPr>
        <p:spPr>
          <a:xfrm>
            <a:off x="5486899" y="2038455"/>
            <a:ext cx="0" cy="23841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0C25743-E989-436D-92A0-148F96F4329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486899" y="2834641"/>
            <a:ext cx="2656" cy="35398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ACAC54-FA9A-4D4C-9911-08FE457D0309}"/>
              </a:ext>
            </a:extLst>
          </p:cNvPr>
          <p:cNvCxnSpPr/>
          <p:nvPr/>
        </p:nvCxnSpPr>
        <p:spPr>
          <a:xfrm>
            <a:off x="6412683" y="2834641"/>
            <a:ext cx="734904" cy="347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9A697F-CD94-466B-B5DE-699C85C1ED4A}"/>
              </a:ext>
            </a:extLst>
          </p:cNvPr>
          <p:cNvCxnSpPr>
            <a:cxnSpLocks/>
          </p:cNvCxnSpPr>
          <p:nvPr/>
        </p:nvCxnSpPr>
        <p:spPr>
          <a:xfrm>
            <a:off x="5489555" y="3746397"/>
            <a:ext cx="0" cy="601898"/>
          </a:xfrm>
          <a:prstGeom prst="straightConnector1">
            <a:avLst/>
          </a:prstGeom>
          <a:ln w="19050"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A37372E5-5490-4110-8714-1BF93B31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5" name="Rounded Rectangular Callout 105">
            <a:extLst>
              <a:ext uri="{FF2B5EF4-FFF2-40B4-BE49-F238E27FC236}">
                <a16:creationId xmlns:a16="http://schemas.microsoft.com/office/drawing/2014/main" id="{CB88D3F6-322E-4493-A935-3D407FAB3A74}"/>
              </a:ext>
            </a:extLst>
          </p:cNvPr>
          <p:cNvSpPr/>
          <p:nvPr/>
        </p:nvSpPr>
        <p:spPr>
          <a:xfrm>
            <a:off x="7009625" y="1780743"/>
            <a:ext cx="3165363" cy="866888"/>
          </a:xfrm>
          <a:prstGeom prst="wedgeRoundRectCallout">
            <a:avLst>
              <a:gd name="adj1" fmla="val 5814"/>
              <a:gd name="adj2" fmla="val 8879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Done for now, but back later!</a:t>
            </a:r>
          </a:p>
        </p:txBody>
      </p:sp>
      <p:sp>
        <p:nvSpPr>
          <p:cNvPr id="17" name="Rounded Rectangular Callout 105">
            <a:extLst>
              <a:ext uri="{FF2B5EF4-FFF2-40B4-BE49-F238E27FC236}">
                <a16:creationId xmlns:a16="http://schemas.microsoft.com/office/drawing/2014/main" id="{692358BC-B78B-48C4-96FF-4E34DA60F7C3}"/>
              </a:ext>
            </a:extLst>
          </p:cNvPr>
          <p:cNvSpPr/>
          <p:nvPr/>
        </p:nvSpPr>
        <p:spPr>
          <a:xfrm>
            <a:off x="1246516" y="2214187"/>
            <a:ext cx="3165363" cy="866888"/>
          </a:xfrm>
          <a:prstGeom prst="wedgeRoundRectCallout">
            <a:avLst>
              <a:gd name="adj1" fmla="val 51738"/>
              <a:gd name="adj2" fmla="val 90599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Next videos (incl. this)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012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74"/>
    </mc:Choice>
    <mc:Fallback xmlns="">
      <p:transition spd="slow" advTm="46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5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Might a Transaction Abort?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/>
              </a:rPr>
              <a:t>Errors while executing transactions</a:t>
            </a:r>
          </a:p>
          <a:p>
            <a:pPr lvl="1"/>
            <a:r>
              <a:rPr lang="en-US" dirty="0">
                <a:sym typeface="Wingdings"/>
              </a:rPr>
              <a:t>Violation of integrity constraints, other run-time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84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43"/>
    </mc:Choice>
    <mc:Fallback xmlns="">
      <p:transition spd="slow" advTm="23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1: Concurrency</a:t>
            </a:r>
            <a:br>
              <a:rPr lang="en-US" dirty="0"/>
            </a:br>
            <a:r>
              <a:rPr lang="en-US" sz="2400" dirty="0"/>
              <a:t>(From video on good schedules/transactions)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7" name="TextBox 46"/>
          <p:cNvSpPr txBox="1"/>
          <p:nvPr/>
        </p:nvSpPr>
        <p:spPr>
          <a:xfrm>
            <a:off x="693697" y="306823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3697" y="390753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51908" y="4528091"/>
            <a:ext cx="5112568" cy="18002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SELECT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endParaRPr lang="en-US" sz="2000" dirty="0">
              <a:latin typeface="Courier New" charset="0"/>
              <a:ea typeface="Courier New" charset="0"/>
              <a:cs typeface="Courier New" charset="0"/>
            </a:endParaRP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FROM  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’available’;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95809" y="4532279"/>
            <a:ext cx="4970264" cy="165359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UPDATE Flights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SET  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seatStatus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’occupied’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WHERE 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flightNo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123 </a:t>
            </a:r>
            <a:br>
              <a:rPr lang="en-US" sz="2000" dirty="0">
                <a:latin typeface="Courier New" charset="0"/>
                <a:ea typeface="Courier New" charset="0"/>
                <a:cs typeface="Courier New" charset="0"/>
              </a:rPr>
            </a:b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date = ’2020-10-30’</a:t>
            </a:r>
          </a:p>
          <a:p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  AND </a:t>
            </a:r>
            <a:r>
              <a:rPr lang="en-US" sz="2000" dirty="0" err="1">
                <a:latin typeface="Courier New" charset="0"/>
                <a:ea typeface="Courier New" charset="0"/>
                <a:cs typeface="Courier New" charset="0"/>
              </a:rPr>
              <a:t>seatNo</a:t>
            </a:r>
            <a:r>
              <a:rPr lang="en-US" sz="2000" dirty="0">
                <a:latin typeface="Courier New" charset="0"/>
                <a:ea typeface="Courier New" charset="0"/>
                <a:cs typeface="Courier New" charset="0"/>
              </a:rPr>
              <a:t> = ’14B’;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805770" y="1781481"/>
            <a:ext cx="5509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Flights</a:t>
            </a:r>
            <a:r>
              <a:rPr lang="en-US" sz="2400" dirty="0"/>
              <a:t>(</a:t>
            </a:r>
            <a:r>
              <a:rPr lang="en-US" sz="2400" dirty="0" err="1"/>
              <a:t>flightNo</a:t>
            </a:r>
            <a:r>
              <a:rPr lang="en-US" sz="2400" dirty="0"/>
              <a:t>, date, </a:t>
            </a:r>
            <a:r>
              <a:rPr lang="en-US" sz="2400" dirty="0" err="1"/>
              <a:t>seatNo</a:t>
            </a:r>
            <a:r>
              <a:rPr lang="en-US" sz="2400" dirty="0"/>
              <a:t>, </a:t>
            </a:r>
            <a:r>
              <a:rPr lang="en-US" sz="2400" dirty="0" err="1"/>
              <a:t>seatStatus</a:t>
            </a:r>
            <a:r>
              <a:rPr lang="en-US" sz="2400" dirty="0"/>
              <a:t>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6975" y="2564180"/>
            <a:ext cx="9697369" cy="369332"/>
            <a:chOff x="457200" y="2132856"/>
            <a:chExt cx="8463143" cy="369332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57200" y="2324710"/>
              <a:ext cx="78488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306072" y="2132856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time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074825" y="2680549"/>
            <a:ext cx="2942023" cy="1873895"/>
            <a:chOff x="2812956" y="2249224"/>
            <a:chExt cx="2942023" cy="1873895"/>
          </a:xfrm>
        </p:grpSpPr>
        <p:sp>
          <p:nvSpPr>
            <p:cNvPr id="71" name="TextBox 70"/>
            <p:cNvSpPr txBox="1"/>
            <p:nvPr/>
          </p:nvSpPr>
          <p:spPr>
            <a:xfrm>
              <a:off x="2812956" y="3415233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78" name="Straight Connector 77"/>
            <p:cNvCxnSpPr/>
            <p:nvPr/>
          </p:nvCxnSpPr>
          <p:spPr>
            <a:xfrm flipV="1">
              <a:off x="4283968" y="2402067"/>
              <a:ext cx="0" cy="1074141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4283968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8142899" y="2676838"/>
            <a:ext cx="1790170" cy="1630804"/>
            <a:chOff x="6618899" y="2245514"/>
            <a:chExt cx="1790170" cy="1630804"/>
          </a:xfrm>
        </p:grpSpPr>
        <p:sp>
          <p:nvSpPr>
            <p:cNvPr id="51" name="TextBox 50"/>
            <p:cNvSpPr txBox="1"/>
            <p:nvPr/>
          </p:nvSpPr>
          <p:spPr>
            <a:xfrm>
              <a:off x="6618899" y="3476208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>
              <a:off x="7513984" y="2402067"/>
              <a:ext cx="0" cy="1074141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7513984" y="224551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6990771" y="2680548"/>
            <a:ext cx="1790170" cy="787798"/>
            <a:chOff x="5466771" y="2249224"/>
            <a:chExt cx="1790170" cy="787798"/>
          </a:xfrm>
        </p:grpSpPr>
        <p:sp>
          <p:nvSpPr>
            <p:cNvPr id="52" name="TextBox 51"/>
            <p:cNvSpPr txBox="1"/>
            <p:nvPr/>
          </p:nvSpPr>
          <p:spPr>
            <a:xfrm>
              <a:off x="5466771" y="2636912"/>
              <a:ext cx="17901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6"/>
                  </a:solidFill>
                </a:rPr>
                <a:t>Book seat ‘14B’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6361856" y="2249224"/>
              <a:ext cx="0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endCxn id="52" idx="0"/>
            </p:cNvCxnSpPr>
            <p:nvPr/>
          </p:nvCxnSpPr>
          <p:spPr>
            <a:xfrm>
              <a:off x="6361856" y="2389530"/>
              <a:ext cx="0" cy="247382"/>
            </a:xfrm>
            <a:prstGeom prst="line">
              <a:avLst/>
            </a:prstGeom>
            <a:ln>
              <a:solidFill>
                <a:schemeClr val="accent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1555047" y="2689376"/>
            <a:ext cx="2942023" cy="1098941"/>
            <a:chOff x="1228780" y="2258051"/>
            <a:chExt cx="2942023" cy="1098941"/>
          </a:xfrm>
        </p:grpSpPr>
        <p:sp>
          <p:nvSpPr>
            <p:cNvPr id="29" name="TextBox 28"/>
            <p:cNvSpPr txBox="1"/>
            <p:nvPr/>
          </p:nvSpPr>
          <p:spPr>
            <a:xfrm>
              <a:off x="1228780" y="2649106"/>
              <a:ext cx="294202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Which seats on flight ‘123’</a:t>
              </a:r>
            </a:p>
            <a:p>
              <a:pPr algn="ctr"/>
              <a:r>
                <a:rPr lang="en-US" sz="2000" dirty="0">
                  <a:solidFill>
                    <a:schemeClr val="accent3">
                      <a:lumMod val="75000"/>
                    </a:schemeClr>
                  </a:solidFill>
                </a:rPr>
                <a:t>are still available?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>
              <a:off x="2699792" y="2258051"/>
              <a:ext cx="0" cy="14401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29" idx="0"/>
            </p:cNvCxnSpPr>
            <p:nvPr/>
          </p:nvCxnSpPr>
          <p:spPr>
            <a:xfrm flipV="1">
              <a:off x="2699792" y="2353682"/>
              <a:ext cx="0" cy="295424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Rounded Rectangular Callout 105"/>
          <p:cNvSpPr/>
          <p:nvPr/>
        </p:nvSpPr>
        <p:spPr>
          <a:xfrm>
            <a:off x="7298794" y="1477769"/>
            <a:ext cx="3165363" cy="866888"/>
          </a:xfrm>
          <a:prstGeom prst="wedgeRoundRectCallout">
            <a:avLst>
              <a:gd name="adj1" fmla="val 5814"/>
              <a:gd name="adj2" fmla="val 88796"/>
              <a:gd name="adj3" fmla="val 1666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Might lead to an</a:t>
            </a:r>
            <a:br>
              <a:rPr lang="en-US" sz="2400" dirty="0"/>
            </a:br>
            <a:r>
              <a:rPr lang="en-US" sz="2400" dirty="0"/>
              <a:t>inconsistent database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546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041"/>
    </mc:Choice>
    <mc:Fallback xmlns="">
      <p:transition spd="slow" advTm="1330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68" grpId="0"/>
      <p:bldP spid="99" grpId="0" animBg="1"/>
      <p:bldP spid="100" grpId="0" animBg="1"/>
      <p:bldP spid="101" grpId="0"/>
      <p:bldP spid="10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Might a Transaction Abort?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/>
              </a:rPr>
              <a:t>Errors while executing transactions</a:t>
            </a:r>
          </a:p>
          <a:p>
            <a:pPr lvl="1"/>
            <a:r>
              <a:rPr lang="en-US" dirty="0">
                <a:sym typeface="Wingdings"/>
              </a:rPr>
              <a:t>Violation of integrity constraints, other run-time errors</a:t>
            </a:r>
            <a:endParaRPr lang="en-US" dirty="0"/>
          </a:p>
          <a:p>
            <a:r>
              <a:rPr lang="en-US" dirty="0"/>
              <a:t>Deadlocks</a:t>
            </a:r>
          </a:p>
          <a:p>
            <a:pPr lvl="1"/>
            <a:r>
              <a:rPr lang="en-US" dirty="0"/>
              <a:t>E.g., when using two-phase locking</a:t>
            </a:r>
          </a:p>
          <a:p>
            <a:pPr lvl="1"/>
            <a:r>
              <a:rPr lang="en-US" dirty="0"/>
              <a:t>Concurrency control requests to abort transactions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200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191"/>
    </mc:Choice>
    <mc:Fallback xmlns="">
      <p:transition spd="slow" advTm="4419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63616" y="1556792"/>
          <a:ext cx="1524000" cy="3492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1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lock(X)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read_item(X)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2"/>
                          </a:solidFill>
                        </a:rPr>
                        <a:t>X</a:t>
                      </a: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 := X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/>
                          </a:solidFill>
                        </a:rPr>
                        <a:t>write_item(X)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2"/>
                          </a:solidFill>
                        </a:rPr>
                        <a:t>unlock(X)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>
                          <a:solidFill>
                            <a:schemeClr val="tx2"/>
                          </a:solidFill>
                        </a:rPr>
                        <a:t>read_item(Y)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>
                          <a:solidFill>
                            <a:schemeClr val="tx2"/>
                          </a:solidFill>
                        </a:rPr>
                        <a:t>Y := Y + 100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2"/>
                          </a:solidFill>
                        </a:rPr>
                        <a:t>write_item(Y)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2"/>
                          </a:solidFill>
                        </a:rPr>
                        <a:t>unlock(Y)</a:t>
                      </a:r>
                      <a:endParaRPr lang="en-US" dirty="0">
                        <a:solidFill>
                          <a:schemeClr val="tx2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116632"/>
            <a:ext cx="8784976" cy="1143000"/>
          </a:xfrm>
        </p:spPr>
        <p:txBody>
          <a:bodyPr>
            <a:normAutofit/>
          </a:bodyPr>
          <a:lstStyle/>
          <a:p>
            <a:r>
              <a:rPr lang="en-GB" dirty="0"/>
              <a:t>Deadlocks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2064" y="1556792"/>
          <a:ext cx="1524000" cy="349587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  <a:r>
                        <a:rPr lang="en-US" baseline="-25000" dirty="0"/>
                        <a:t>2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lock(Y)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(Y)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Y</a:t>
                      </a: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 := 2*Y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write_item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6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lock(X)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unlock(Y)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rgbClr val="C00000"/>
                          </a:solidFill>
                        </a:rPr>
                        <a:t>read_item</a:t>
                      </a:r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C00000"/>
                          </a:solidFill>
                        </a:rPr>
                        <a:t>X := 2*X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C00000"/>
                          </a:solidFill>
                        </a:rPr>
                        <a:t>write_item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(X)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C00000"/>
                          </a:solidFill>
                        </a:rPr>
                        <a:t>unlock(X)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783633" y="5547055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l</a:t>
            </a:r>
            <a:r>
              <a:rPr lang="en-GB" sz="2400" baseline="-25000" dirty="0">
                <a:solidFill>
                  <a:schemeClr val="tx2"/>
                </a:solidFill>
              </a:rPr>
              <a:t>1</a:t>
            </a:r>
            <a:r>
              <a:rPr lang="en-GB" sz="2400" dirty="0">
                <a:solidFill>
                  <a:schemeClr val="tx2"/>
                </a:solidFill>
              </a:rPr>
              <a:t>(X</a:t>
            </a:r>
            <a:r>
              <a:rPr lang="en-GB" sz="2400">
                <a:solidFill>
                  <a:schemeClr val="tx2"/>
                </a:solidFill>
              </a:rPr>
              <a:t>); r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 w</a:t>
            </a:r>
            <a:r>
              <a:rPr lang="en-GB" sz="2400" baseline="-25000">
                <a:solidFill>
                  <a:schemeClr val="tx2"/>
                </a:solidFill>
              </a:rPr>
              <a:t>1</a:t>
            </a:r>
            <a:r>
              <a:rPr lang="en-GB" sz="2400">
                <a:solidFill>
                  <a:schemeClr val="tx2"/>
                </a:solidFill>
              </a:rPr>
              <a:t>(X);</a:t>
            </a:r>
            <a:endParaRPr lang="en-US" sz="2400" dirty="0"/>
          </a:p>
        </p:txBody>
      </p:sp>
      <p:sp>
        <p:nvSpPr>
          <p:cNvPr id="42" name="Rectangle 41"/>
          <p:cNvSpPr/>
          <p:nvPr/>
        </p:nvSpPr>
        <p:spPr>
          <a:xfrm>
            <a:off x="5015880" y="5551858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l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r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 w</a:t>
            </a:r>
            <a:r>
              <a:rPr lang="en-GB" sz="2400" baseline="-25000" dirty="0">
                <a:solidFill>
                  <a:srgbClr val="C00000"/>
                </a:solidFill>
              </a:rPr>
              <a:t>2</a:t>
            </a:r>
            <a:r>
              <a:rPr lang="en-GB" sz="2400" dirty="0">
                <a:solidFill>
                  <a:srgbClr val="C00000"/>
                </a:solidFill>
              </a:rPr>
              <a:t>(Y);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3" name="Rounded Rectangular Callout 42"/>
          <p:cNvSpPr/>
          <p:nvPr/>
        </p:nvSpPr>
        <p:spPr>
          <a:xfrm>
            <a:off x="7967639" y="4923680"/>
            <a:ext cx="1817957" cy="665561"/>
          </a:xfrm>
          <a:prstGeom prst="wedgeRoundRectCallout">
            <a:avLst>
              <a:gd name="adj1" fmla="val -64642"/>
              <a:gd name="adj2" fmla="val 5063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’s request for lock on X denied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7297809" y="5931660"/>
            <a:ext cx="4645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366403" y="5517358"/>
            <a:ext cx="327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C00000"/>
                </a:solidFill>
              </a:rPr>
              <a:t>?</a:t>
            </a:r>
            <a:endParaRPr lang="en-US" sz="2400" dirty="0"/>
          </a:p>
        </p:txBody>
      </p:sp>
      <p:sp>
        <p:nvSpPr>
          <p:cNvPr id="49" name="Rounded Rectangular Callout 48"/>
          <p:cNvSpPr/>
          <p:nvPr/>
        </p:nvSpPr>
        <p:spPr>
          <a:xfrm>
            <a:off x="8154295" y="5748190"/>
            <a:ext cx="1817957" cy="665561"/>
          </a:xfrm>
          <a:prstGeom prst="wedgeRoundRectCallout">
            <a:avLst>
              <a:gd name="adj1" fmla="val -63020"/>
              <a:gd name="adj2" fmla="val -3209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’s request for lock on Y denied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649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607"/>
    </mc:Choice>
    <mc:Fallback xmlns="">
      <p:transition spd="slow" advTm="726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43" grpId="0" animBg="1"/>
      <p:bldP spid="4" grpId="0"/>
      <p:bldP spid="4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Might a Transaction Abort?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Wingdings"/>
              </a:rPr>
              <a:t>Errors while executing transactions</a:t>
            </a:r>
          </a:p>
          <a:p>
            <a:pPr lvl="1"/>
            <a:r>
              <a:rPr lang="en-US" dirty="0">
                <a:sym typeface="Wingdings"/>
              </a:rPr>
              <a:t>Violation of integrity constraints, other run-time errors</a:t>
            </a:r>
            <a:endParaRPr lang="en-US" dirty="0"/>
          </a:p>
          <a:p>
            <a:r>
              <a:rPr lang="en-US" dirty="0"/>
              <a:t>Deadlocks</a:t>
            </a:r>
          </a:p>
          <a:p>
            <a:pPr lvl="1"/>
            <a:r>
              <a:rPr lang="en-US" dirty="0"/>
              <a:t>E.g., when using two-phase locking</a:t>
            </a:r>
          </a:p>
          <a:p>
            <a:pPr lvl="1"/>
            <a:r>
              <a:rPr lang="en-US" dirty="0"/>
              <a:t>Concurrency control requests to abort transactions</a:t>
            </a:r>
          </a:p>
          <a:p>
            <a:r>
              <a:rPr lang="en-US" dirty="0"/>
              <a:t>Explicit request</a:t>
            </a:r>
            <a:br>
              <a:rPr lang="en-US" dirty="0"/>
            </a:br>
            <a:br>
              <a:rPr lang="en-US" dirty="0">
                <a:solidFill>
                  <a:schemeClr val="accent2"/>
                </a:solidFill>
              </a:rPr>
            </a:br>
            <a:br>
              <a:rPr lang="en-US" dirty="0">
                <a:solidFill>
                  <a:schemeClr val="accent2"/>
                </a:solidFill>
              </a:rPr>
            </a:br>
            <a:br>
              <a:rPr lang="en-US" dirty="0">
                <a:solidFill>
                  <a:schemeClr val="accent2"/>
                </a:solidFill>
              </a:rPr>
            </a:br>
            <a:br>
              <a:rPr lang="en-US" dirty="0">
                <a:solidFill>
                  <a:schemeClr val="accent2"/>
                </a:solidFill>
              </a:rPr>
            </a:b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567608" y="4249901"/>
            <a:ext cx="7416824" cy="20928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START TRANSACTION;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INSERT INTO </a:t>
            </a:r>
            <a:r>
              <a:rPr lang="en-US" sz="2000" dirty="0" err="1"/>
              <a:t>SeatReservations</a:t>
            </a:r>
            <a:r>
              <a:rPr lang="en-US" sz="2000" dirty="0"/>
              <a:t>(</a:t>
            </a:r>
            <a:r>
              <a:rPr lang="en-US" sz="2000" dirty="0" err="1"/>
              <a:t>CustomerID</a:t>
            </a:r>
            <a:r>
              <a:rPr lang="en-US" sz="2000" dirty="0"/>
              <a:t>, </a:t>
            </a:r>
            <a:r>
              <a:rPr lang="en-US" sz="2000" dirty="0" err="1"/>
              <a:t>SeatNo</a:t>
            </a:r>
            <a:r>
              <a:rPr lang="en-US" sz="2000" dirty="0"/>
              <a:t>, </a:t>
            </a:r>
            <a:r>
              <a:rPr lang="en-US" sz="2000" dirty="0" err="1"/>
              <a:t>FlightNo</a:t>
            </a:r>
            <a:r>
              <a:rPr lang="en-US" sz="2000" dirty="0"/>
              <a:t>, Date)</a:t>
            </a:r>
          </a:p>
          <a:p>
            <a:r>
              <a:rPr lang="en-US" sz="2000" dirty="0"/>
              <a:t>VALUES (12345678, ’14B’, 123, ’2020-10-30’);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// additional code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ROLLBACK;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4533595" y="5869094"/>
            <a:ext cx="3934176" cy="470594"/>
          </a:xfrm>
          <a:prstGeom prst="wedgeRoundRectCallout">
            <a:avLst>
              <a:gd name="adj1" fmla="val -65409"/>
              <a:gd name="adj2" fmla="val 219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ym typeface="Wingdings"/>
              </a:rPr>
              <a:t>Requests to undo all the changes </a:t>
            </a:r>
            <a:endParaRPr lang="en-US" sz="2000" dirty="0"/>
          </a:p>
        </p:txBody>
      </p:sp>
      <p:sp>
        <p:nvSpPr>
          <p:cNvPr id="7" name="Rounded Rectangular Callout 6"/>
          <p:cNvSpPr/>
          <p:nvPr/>
        </p:nvSpPr>
        <p:spPr>
          <a:xfrm>
            <a:off x="9084936" y="2636912"/>
            <a:ext cx="1300712" cy="470594"/>
          </a:xfrm>
          <a:prstGeom prst="wedgeRoundRectCallout">
            <a:avLst>
              <a:gd name="adj1" fmla="val -70437"/>
              <a:gd name="adj2" fmla="val 557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ym typeface="Wingdings"/>
              </a:rPr>
              <a:t>Later</a:t>
            </a:r>
            <a:r>
              <a:rPr lang="mr-IN" sz="2000" dirty="0">
                <a:sym typeface="Wingdings"/>
              </a:rPr>
              <a:t>…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14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047"/>
    </mc:Choice>
    <mc:Fallback xmlns="">
      <p:transition spd="slow" advTm="124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Beyond the DBMS’s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Media failures:</a:t>
            </a:r>
          </a:p>
          <a:p>
            <a:pPr lvl="1"/>
            <a:r>
              <a:rPr lang="en-US" dirty="0"/>
              <a:t>The medium holding the database becomes partially or completely unreadable</a:t>
            </a:r>
          </a:p>
          <a:p>
            <a:pPr lvl="1"/>
            <a:r>
              <a:rPr lang="en-US" dirty="0"/>
              <a:t>Example: changes of bits, head crashes </a:t>
            </a:r>
          </a:p>
          <a:p>
            <a:r>
              <a:rPr lang="en-US" sz="3000" dirty="0"/>
              <a:t>Catastrophic events:</a:t>
            </a:r>
          </a:p>
          <a:p>
            <a:pPr lvl="1"/>
            <a:r>
              <a:rPr lang="en-US" dirty="0"/>
              <a:t>The medium holding the database is destroyed</a:t>
            </a:r>
          </a:p>
          <a:p>
            <a:pPr lvl="1"/>
            <a:r>
              <a:rPr lang="en-US" dirty="0"/>
              <a:t>Examples: explosions, fires, etc.</a:t>
            </a:r>
          </a:p>
          <a:p>
            <a:r>
              <a:rPr lang="en-US" sz="3000" dirty="0"/>
              <a:t>System failures</a:t>
            </a:r>
          </a:p>
          <a:p>
            <a:pPr lvl="1"/>
            <a:r>
              <a:rPr lang="en-US" dirty="0"/>
              <a:t>Information about the active transaction’s state is lost</a:t>
            </a:r>
          </a:p>
          <a:p>
            <a:pPr lvl="1"/>
            <a:r>
              <a:rPr lang="en-US" dirty="0"/>
              <a:t>Examples: power failures, software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696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585"/>
    </mc:Choice>
    <mc:Fallback xmlns="">
      <p:transition spd="slow" advTm="142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Beyond the DBMS’s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Media failures:</a:t>
            </a:r>
          </a:p>
          <a:p>
            <a:pPr lvl="1"/>
            <a:r>
              <a:rPr lang="en-US" dirty="0"/>
              <a:t>The medium holding the database becomes partially or completely unreadable</a:t>
            </a:r>
          </a:p>
          <a:p>
            <a:pPr lvl="1"/>
            <a:r>
              <a:rPr lang="en-US" dirty="0"/>
              <a:t>Example: changes of bits, head crashes </a:t>
            </a:r>
          </a:p>
          <a:p>
            <a:r>
              <a:rPr lang="en-US" sz="3000" dirty="0"/>
              <a:t>Catastrophic events:</a:t>
            </a:r>
          </a:p>
          <a:p>
            <a:pPr lvl="1"/>
            <a:r>
              <a:rPr lang="en-US" dirty="0"/>
              <a:t>The medium holding the database is destroyed</a:t>
            </a:r>
          </a:p>
          <a:p>
            <a:pPr lvl="1"/>
            <a:r>
              <a:rPr lang="en-US" dirty="0"/>
              <a:t>Examples: explosions, fires, etc.</a:t>
            </a:r>
          </a:p>
          <a:p>
            <a:r>
              <a:rPr lang="en-US" sz="3000" dirty="0"/>
              <a:t>System failures</a:t>
            </a:r>
          </a:p>
          <a:p>
            <a:pPr lvl="1"/>
            <a:r>
              <a:rPr lang="en-US" dirty="0"/>
              <a:t>Information about the active transaction’s state is lost</a:t>
            </a:r>
          </a:p>
          <a:p>
            <a:pPr lvl="1"/>
            <a:r>
              <a:rPr lang="en-US" dirty="0"/>
              <a:t>Examples: power failures, software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Rounded Rectangular Callout 4"/>
          <p:cNvSpPr/>
          <p:nvPr/>
        </p:nvSpPr>
        <p:spPr>
          <a:xfrm>
            <a:off x="5622776" y="1196752"/>
            <a:ext cx="4865712" cy="1656184"/>
          </a:xfrm>
          <a:prstGeom prst="wedgeRoundRectCallout">
            <a:avLst>
              <a:gd name="adj1" fmla="val -95065"/>
              <a:gd name="adj2" fmla="val -51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ym typeface="Wingdings"/>
              </a:rPr>
              <a:t>Safeguards: </a:t>
            </a:r>
            <a:endParaRPr lang="en-US" sz="2000" dirty="0">
              <a:sym typeface="Wingdings"/>
            </a:endParaRP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Archives: full + incremental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Controlled redundancy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/>
              <a:t>RAID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/>
              <a:t>Copies at different locations</a:t>
            </a:r>
          </a:p>
        </p:txBody>
      </p:sp>
      <p:sp>
        <p:nvSpPr>
          <p:cNvPr id="6" name="Rounded Rectangular Callout 5"/>
          <p:cNvSpPr/>
          <p:nvPr/>
        </p:nvSpPr>
        <p:spPr>
          <a:xfrm>
            <a:off x="5622776" y="3068960"/>
            <a:ext cx="4865712" cy="1296144"/>
          </a:xfrm>
          <a:prstGeom prst="wedgeRoundRectCallout">
            <a:avLst>
              <a:gd name="adj1" fmla="val -75564"/>
              <a:gd name="adj2" fmla="val -2541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sym typeface="Wingdings"/>
              </a:rPr>
              <a:t>Safeguards: </a:t>
            </a:r>
            <a:endParaRPr lang="en-US" sz="2000" dirty="0">
              <a:sym typeface="Wingdings"/>
            </a:endParaRP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Archives at safe and different locations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Copies at different locations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19330"/>
            <a:ext cx="2592288" cy="648070"/>
          </a:xfrm>
          <a:prstGeom prst="ellipse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93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814"/>
    </mc:Choice>
    <mc:Fallback xmlns="">
      <p:transition spd="slow" advTm="2588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D6B96-C2C5-4515-9B48-5DF88F5B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7A999-4BC3-471F-A15C-A042C5FFF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Under the DBMS control</a:t>
            </a:r>
            <a:endParaRPr lang="en-GB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BC2F2-C88C-480B-BD35-2E976E6340E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>
                <a:sym typeface="Wingdings"/>
              </a:rPr>
              <a:t>Errors while executing transactions</a:t>
            </a:r>
          </a:p>
          <a:p>
            <a:pPr lvl="1"/>
            <a:r>
              <a:rPr lang="en-US" dirty="0">
                <a:sym typeface="Wingdings"/>
              </a:rPr>
              <a:t>Violation of integrity constraints, other run-time errors</a:t>
            </a:r>
            <a:endParaRPr lang="en-US" dirty="0"/>
          </a:p>
          <a:p>
            <a:r>
              <a:rPr lang="en-US" sz="2600" dirty="0"/>
              <a:t>Deadlocks</a:t>
            </a:r>
          </a:p>
          <a:p>
            <a:pPr lvl="1"/>
            <a:r>
              <a:rPr lang="en-US" dirty="0"/>
              <a:t>E.g., when using two-phase locking</a:t>
            </a:r>
          </a:p>
          <a:p>
            <a:pPr lvl="1"/>
            <a:r>
              <a:rPr lang="en-US" dirty="0"/>
              <a:t>Concurrency control requests to abort transactions</a:t>
            </a:r>
          </a:p>
          <a:p>
            <a:r>
              <a:rPr lang="en-US" sz="2600" dirty="0"/>
              <a:t>Explicit request</a:t>
            </a:r>
          </a:p>
          <a:p>
            <a:pPr lvl="1"/>
            <a:r>
              <a:rPr lang="en-US" dirty="0"/>
              <a:t>I.e. ROLLBACK;</a:t>
            </a:r>
            <a:endParaRPr lang="en-GB" dirty="0"/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DA512-B8B2-40A0-91C1-D248ED7DD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Beyond the DBMS’s Control</a:t>
            </a:r>
            <a:endParaRPr lang="en-GB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5D55D-E232-48E0-A6C0-A202523E3D7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Media failures</a:t>
            </a:r>
          </a:p>
          <a:p>
            <a:pPr lvl="1"/>
            <a:r>
              <a:rPr lang="en-US" dirty="0"/>
              <a:t>The medium holding the database becomes partially or completely unreadable</a:t>
            </a:r>
          </a:p>
          <a:p>
            <a:pPr lvl="1"/>
            <a:r>
              <a:rPr lang="en-US" dirty="0"/>
              <a:t>Example: changes of bits, head crashes </a:t>
            </a:r>
          </a:p>
          <a:p>
            <a:r>
              <a:rPr lang="en-US" sz="2600" dirty="0"/>
              <a:t>Catastrophic events</a:t>
            </a:r>
          </a:p>
          <a:p>
            <a:pPr lvl="1"/>
            <a:r>
              <a:rPr lang="en-US" dirty="0"/>
              <a:t>The medium holding the database is destroyed</a:t>
            </a:r>
          </a:p>
          <a:p>
            <a:pPr lvl="1"/>
            <a:r>
              <a:rPr lang="en-US" dirty="0"/>
              <a:t>Examples: explosions, fires, etc.</a:t>
            </a:r>
          </a:p>
          <a:p>
            <a:r>
              <a:rPr lang="en-US" sz="2600" b="1" dirty="0"/>
              <a:t>System failures</a:t>
            </a:r>
          </a:p>
          <a:p>
            <a:pPr lvl="1"/>
            <a:r>
              <a:rPr lang="en-US" b="1" dirty="0"/>
              <a:t>Information about the active transaction’s state is lost</a:t>
            </a:r>
          </a:p>
          <a:p>
            <a:pPr lvl="1"/>
            <a:r>
              <a:rPr lang="en-US" b="1" dirty="0"/>
              <a:t>Examples: power failures, software errors</a:t>
            </a:r>
          </a:p>
          <a:p>
            <a:endParaRPr lang="en-GB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A73635C-EF58-4380-9DA9-80B07191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7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294"/>
    </mc:Choice>
    <mc:Fallback xmlns="">
      <p:transition spd="slow" advTm="13829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3.7|15.2|13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5.6|5.2|20.6|10.4|10.3|6.2|4.3|53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3.2|5.7|3.2|23.8|9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1|22.8|3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|46.5|37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9.9|90.4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1046</TotalTime>
  <Words>698</Words>
  <Application>Microsoft Office PowerPoint</Application>
  <PresentationFormat>Widescreen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Retrospect</vt:lpstr>
      <vt:lpstr>Why Might a Transaction Abort?</vt:lpstr>
      <vt:lpstr>Overview of this video</vt:lpstr>
      <vt:lpstr>Some relational DBMS Components (part of a slide in the content video)</vt:lpstr>
      <vt:lpstr>Why Might a Transaction Abort?</vt:lpstr>
      <vt:lpstr>Problem 1: Concurrency (From video on good schedules/transactions)</vt:lpstr>
      <vt:lpstr>Why Might a Transaction Abort?</vt:lpstr>
      <vt:lpstr>Deadlocks</vt:lpstr>
      <vt:lpstr>Why Might a Transaction Abort?</vt:lpstr>
      <vt:lpstr>Beyond the DBMS’s Control</vt:lpstr>
      <vt:lpstr>Beyond the DBMS’s Control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can transactions fail?</dc:title>
  <dc:creator>Rasmus Ibsen-Jensen</dc:creator>
  <cp:lastModifiedBy>Rasmus Ibsen-Jensen</cp:lastModifiedBy>
  <cp:revision>14</cp:revision>
  <dcterms:created xsi:type="dcterms:W3CDTF">2020-10-22T17:27:36Z</dcterms:created>
  <dcterms:modified xsi:type="dcterms:W3CDTF">2020-11-03T16:05:06Z</dcterms:modified>
</cp:coreProperties>
</file>