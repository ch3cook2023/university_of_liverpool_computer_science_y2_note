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583" r:id="rId3"/>
    <p:sldId id="575" r:id="rId4"/>
    <p:sldId id="585" r:id="rId5"/>
    <p:sldId id="577" r:id="rId6"/>
    <p:sldId id="578" r:id="rId7"/>
    <p:sldId id="584" r:id="rId8"/>
    <p:sldId id="581" r:id="rId9"/>
    <p:sldId id="58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23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02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BA2890-0EDE-4ADC-880A-686FA0E901D9}" type="datetimeFigureOut">
              <a:rPr lang="en-GB" smtClean="0"/>
              <a:t>15/11/2020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80132E-09C0-4888-A3D8-5C253E5D22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5437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6E9DB-3D93-47D3-9ED6-97A65E49A409}" type="datetimeFigureOut">
              <a:rPr lang="en-GB" smtClean="0"/>
              <a:t>15/11/2020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0C18E-565B-40D8-A4EF-B202E8E615AA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9863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6E9DB-3D93-47D3-9ED6-97A65E49A409}" type="datetimeFigureOut">
              <a:rPr lang="en-GB" smtClean="0"/>
              <a:t>15/11/2020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0C18E-565B-40D8-A4EF-B202E8E615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9761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6E9DB-3D93-47D3-9ED6-97A65E49A409}" type="datetimeFigureOut">
              <a:rPr lang="en-GB" smtClean="0"/>
              <a:t>15/11/2020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0C18E-565B-40D8-A4EF-B202E8E615AA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8259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6E9DB-3D93-47D3-9ED6-97A65E49A409}" type="datetimeFigureOut">
              <a:rPr lang="en-GB" smtClean="0"/>
              <a:t>15/11/2020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0C18E-565B-40D8-A4EF-B202E8E615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6509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6E9DB-3D93-47D3-9ED6-97A65E49A409}" type="datetimeFigureOut">
              <a:rPr lang="en-GB" smtClean="0"/>
              <a:t>15/11/2020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0C18E-565B-40D8-A4EF-B202E8E615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8848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6E9DB-3D93-47D3-9ED6-97A65E49A409}" type="datetimeFigureOut">
              <a:rPr lang="en-GB" smtClean="0"/>
              <a:t>15/11/2020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0C18E-565B-40D8-A4EF-B202E8E615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9592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6E9DB-3D93-47D3-9ED6-97A65E49A409}" type="datetimeFigureOut">
              <a:rPr lang="en-GB" smtClean="0"/>
              <a:t>15/11/2020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0C18E-565B-40D8-A4EF-B202E8E615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4251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CC6E9DB-3D93-47D3-9ED6-97A65E49A409}" type="datetimeFigureOut">
              <a:rPr lang="en-GB" smtClean="0"/>
              <a:t>15/11/2020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8C0C18E-565B-40D8-A4EF-B202E8E615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2801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6E9DB-3D93-47D3-9ED6-97A65E49A409}" type="datetimeFigureOut">
              <a:rPr lang="en-GB" smtClean="0"/>
              <a:t>15/11/2020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0C18E-565B-40D8-A4EF-B202E8E615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5761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6E9DB-3D93-47D3-9ED6-97A65E49A409}" type="datetimeFigureOut">
              <a:rPr lang="en-GB" smtClean="0"/>
              <a:t>15/11/2020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0C18E-565B-40D8-A4EF-B202E8E615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7384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6E9DB-3D93-47D3-9ED6-97A65E49A409}" type="datetimeFigureOut">
              <a:rPr lang="en-GB" smtClean="0"/>
              <a:t>15/11/2020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0C18E-565B-40D8-A4EF-B202E8E615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811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CC6E9DB-3D93-47D3-9ED6-97A65E49A409}" type="datetimeFigureOut">
              <a:rPr lang="en-GB" smtClean="0"/>
              <a:t>15/11/2020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8C0C18E-565B-40D8-A4EF-B202E8E615AA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9608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12A71-F2BB-47FE-AB40-DB3C797C41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Checkpoints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9B3A61-A95A-40B8-8D7D-914E7FC606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1546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B4D9F-26A8-49F7-9E09-44061D12F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7B7D8-E767-4E91-A894-41C5827FA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video, we discuss checkpoints. A few advantages of these: faster recovery and less space used for the log-file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6090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Checkpointing (for undo logging)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Idea: </a:t>
            </a:r>
            <a:r>
              <a:rPr lang="en-US" i="1" dirty="0"/>
              <a:t>checkpoint</a:t>
            </a:r>
            <a:r>
              <a:rPr lang="en-US" dirty="0"/>
              <a:t> the log periodically </a:t>
            </a:r>
          </a:p>
          <a:p>
            <a:pPr lvl="1"/>
            <a:r>
              <a:rPr lang="en-US" dirty="0"/>
              <a:t>Every </a:t>
            </a:r>
            <a:r>
              <a:rPr lang="en-US" i="1" dirty="0"/>
              <a:t>m</a:t>
            </a:r>
            <a:r>
              <a:rPr lang="en-US" dirty="0"/>
              <a:t> min., after </a:t>
            </a:r>
            <a:r>
              <a:rPr lang="en-US" i="1" dirty="0"/>
              <a:t>t</a:t>
            </a:r>
            <a:r>
              <a:rPr lang="en-US" dirty="0"/>
              <a:t> transactions since last checkpoint, </a:t>
            </a:r>
            <a:r>
              <a:rPr lang="mr-IN" dirty="0"/>
              <a:t>…</a:t>
            </a:r>
            <a:endParaRPr lang="en-US" dirty="0"/>
          </a:p>
          <a:p>
            <a:pPr lvl="1"/>
            <a:r>
              <a:rPr lang="en-US" dirty="0"/>
              <a:t>No need to undo transactions before the checkpoint</a:t>
            </a:r>
          </a:p>
          <a:p>
            <a:r>
              <a:rPr lang="en-US" dirty="0"/>
              <a:t>Procedure: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Stop accepting new transactions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Wait until all active transactions finish and have written COMMIT or ABORT record to the log.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Flush the log to disk.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Write a log record </a:t>
            </a:r>
            <a:r>
              <a:rPr lang="en-US" b="1" dirty="0"/>
              <a:t>&lt;CHECKPOINT&gt;</a:t>
            </a:r>
            <a:r>
              <a:rPr lang="en-US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Flush the log to disk again.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Resume accepting transactions.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6" name="Rounded Rectangular Callout 5"/>
          <p:cNvSpPr/>
          <p:nvPr/>
        </p:nvSpPr>
        <p:spPr>
          <a:xfrm>
            <a:off x="7464152" y="2715337"/>
            <a:ext cx="3748331" cy="922157"/>
          </a:xfrm>
          <a:prstGeom prst="wedgeRoundRectCallout">
            <a:avLst>
              <a:gd name="adj1" fmla="val -69684"/>
              <a:gd name="adj2" fmla="val 6040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/>
              <a:t>There are variants of </a:t>
            </a:r>
            <a:r>
              <a:rPr lang="en-US" sz="2000" dirty="0" err="1"/>
              <a:t>checkpointing</a:t>
            </a:r>
            <a:r>
              <a:rPr lang="en-US" sz="2000" dirty="0"/>
              <a:t> that avoid this </a:t>
            </a:r>
            <a:br>
              <a:rPr lang="en-US" sz="2000" dirty="0"/>
            </a:br>
            <a:r>
              <a:rPr lang="en-US" sz="2000" dirty="0"/>
              <a:t>See later!</a:t>
            </a:r>
          </a:p>
        </p:txBody>
      </p:sp>
      <p:sp>
        <p:nvSpPr>
          <p:cNvPr id="7" name="Rounded Rectangular Callout 5">
            <a:extLst>
              <a:ext uri="{FF2B5EF4-FFF2-40B4-BE49-F238E27FC236}">
                <a16:creationId xmlns:a16="http://schemas.microsoft.com/office/drawing/2014/main" id="{9ABB4250-0E39-46A5-AB12-E9DC90E44952}"/>
              </a:ext>
            </a:extLst>
          </p:cNvPr>
          <p:cNvSpPr/>
          <p:nvPr/>
        </p:nvSpPr>
        <p:spPr>
          <a:xfrm>
            <a:off x="7319660" y="1693116"/>
            <a:ext cx="3608535" cy="1022221"/>
          </a:xfrm>
          <a:prstGeom prst="wedgeRoundRectCallout">
            <a:avLst>
              <a:gd name="adj1" fmla="val -70279"/>
              <a:gd name="adj2" fmla="val 3017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/>
              <a:t>Part before checkpoint can therefore be discarded from log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1491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0D44A-6E91-4DB3-82FE-446EF590652F}"/>
              </a:ext>
            </a:extLst>
          </p:cNvPr>
          <p:cNvSpPr txBox="1">
            <a:spLocks/>
          </p:cNvSpPr>
          <p:nvPr/>
        </p:nvSpPr>
        <p:spPr>
          <a:xfrm>
            <a:off x="914400" y="2564905"/>
            <a:ext cx="10363200" cy="14700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Recovery via Simple Checkpoints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0CEAF5-75FD-4A5F-B161-CF655CFB1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4319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Recovery With Simple Checkpoints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3575721" y="1896431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Logfile</a:t>
            </a:r>
            <a:endParaRPr lang="en-US" dirty="0"/>
          </a:p>
        </p:txBody>
      </p:sp>
      <p:sp>
        <p:nvSpPr>
          <p:cNvPr id="8" name="Document 7"/>
          <p:cNvSpPr/>
          <p:nvPr/>
        </p:nvSpPr>
        <p:spPr>
          <a:xfrm rot="10800000">
            <a:off x="3647728" y="1559107"/>
            <a:ext cx="3528392" cy="4517680"/>
          </a:xfrm>
          <a:prstGeom prst="flowChartDocumen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3215680" y="2780928"/>
            <a:ext cx="432048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47728" y="2785272"/>
            <a:ext cx="1626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&lt;CHECKPOINT&gt;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7392144" y="2852936"/>
            <a:ext cx="0" cy="32238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536161" y="4117560"/>
            <a:ext cx="21911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Process the undo log </a:t>
            </a:r>
            <a:br>
              <a:rPr lang="en-US" dirty="0"/>
            </a:br>
            <a:r>
              <a:rPr lang="en-US" dirty="0"/>
              <a:t>backwards, as before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160" y="2763456"/>
            <a:ext cx="2347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Stop at first checkpoint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36160" y="1690270"/>
            <a:ext cx="28570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These transactions have </a:t>
            </a:r>
            <a:br>
              <a:rPr lang="en-US" dirty="0"/>
            </a:br>
            <a:r>
              <a:rPr lang="en-US" dirty="0"/>
              <a:t>written their changes to disk</a:t>
            </a:r>
            <a:br>
              <a:rPr lang="en-US" dirty="0"/>
            </a:br>
            <a:r>
              <a:rPr lang="en-US" dirty="0"/>
              <a:t>(no need to undo changes)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H="1">
            <a:off x="6960097" y="2081098"/>
            <a:ext cx="576063" cy="2677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074129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11" grpId="0"/>
      <p:bldP spid="15" grpId="0"/>
      <p:bldP spid="16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6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431704" y="130173"/>
          <a:ext cx="6984776" cy="651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41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41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4296">
                <a:tc>
                  <a:txBody>
                    <a:bodyPr/>
                    <a:lstStyle/>
                    <a:p>
                      <a:r>
                        <a:rPr lang="en-US" sz="1800" dirty="0"/>
                        <a:t>Time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Transaction T</a:t>
                      </a:r>
                      <a:r>
                        <a:rPr lang="en-US" sz="1800" baseline="-25000" dirty="0"/>
                        <a:t>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Transaction T</a:t>
                      </a:r>
                      <a:r>
                        <a:rPr lang="en-US" sz="1800" baseline="-25000" dirty="0"/>
                        <a:t>2</a:t>
                      </a:r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Log (buffer)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Log (disk)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X := X</a:t>
                      </a:r>
                      <a:r>
                        <a:rPr lang="en-US" sz="1800" baseline="0" dirty="0"/>
                        <a:t> * 2</a:t>
                      </a:r>
                      <a:endParaRPr lang="en-US" sz="1800" i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/>
                        <a:t>write(X)</a:t>
                      </a:r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i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b="1" i="0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i="1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read(X)</a:t>
                      </a:r>
                      <a:endParaRPr lang="en-US" sz="1800" i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b="1" i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i="1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X := X * 3</a:t>
                      </a:r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write(X)</a:t>
                      </a:r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 := X + Y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write(Y)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11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12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13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14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15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16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17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18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19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/>
          <p:nvPr/>
        </p:nvCxnSpPr>
        <p:spPr>
          <a:xfrm>
            <a:off x="8748144" y="764704"/>
            <a:ext cx="1368152" cy="32403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8748144" y="1556792"/>
            <a:ext cx="1296144" cy="24482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8604128" y="2060848"/>
            <a:ext cx="1368152" cy="19442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8676136" y="3068960"/>
            <a:ext cx="1224136" cy="9361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8676136" y="3717032"/>
            <a:ext cx="1152128" cy="2880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9108184" y="4984550"/>
            <a:ext cx="792088" cy="2880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9118456" y="6255452"/>
            <a:ext cx="781816" cy="2577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680177" y="404664"/>
            <a:ext cx="12961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&lt;START T</a:t>
            </a:r>
            <a:r>
              <a:rPr lang="en-US" b="1" baseline="-25000" dirty="0">
                <a:solidFill>
                  <a:schemeClr val="accent2"/>
                </a:solidFill>
              </a:rPr>
              <a:t>1</a:t>
            </a:r>
            <a:r>
              <a:rPr lang="en-US" b="1" dirty="0">
                <a:solidFill>
                  <a:schemeClr val="accent2"/>
                </a:solidFill>
              </a:rPr>
              <a:t>&gt;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80177" y="1340367"/>
            <a:ext cx="12961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accent2"/>
                </a:solidFill>
              </a:rPr>
              <a:t>&lt;T</a:t>
            </a:r>
            <a:r>
              <a:rPr lang="en-US" b="1" baseline="-25000">
                <a:solidFill>
                  <a:schemeClr val="accent2"/>
                </a:solidFill>
              </a:rPr>
              <a:t>1</a:t>
            </a:r>
            <a:r>
              <a:rPr lang="en-US" b="1">
                <a:solidFill>
                  <a:schemeClr val="accent2"/>
                </a:solidFill>
              </a:rPr>
              <a:t>, X, 1&gt;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684735" y="1670782"/>
            <a:ext cx="12961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&lt;START T</a:t>
            </a:r>
            <a:r>
              <a:rPr lang="en-US" b="1" baseline="-25000" dirty="0">
                <a:solidFill>
                  <a:schemeClr val="accent2"/>
                </a:solidFill>
              </a:rPr>
              <a:t>2</a:t>
            </a:r>
            <a:r>
              <a:rPr lang="en-US" b="1" dirty="0">
                <a:solidFill>
                  <a:schemeClr val="accent2"/>
                </a:solidFill>
              </a:rPr>
              <a:t>&gt;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80176" y="2882352"/>
            <a:ext cx="12961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&lt;T</a:t>
            </a:r>
            <a:r>
              <a:rPr lang="en-US" b="1" baseline="-25000" dirty="0">
                <a:solidFill>
                  <a:schemeClr val="accent2"/>
                </a:solidFill>
              </a:rPr>
              <a:t>2</a:t>
            </a:r>
            <a:r>
              <a:rPr lang="en-US" b="1" dirty="0">
                <a:solidFill>
                  <a:schemeClr val="accent2"/>
                </a:solidFill>
              </a:rPr>
              <a:t>, X, 2&gt;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80175" y="3505158"/>
            <a:ext cx="12961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&lt;T</a:t>
            </a:r>
            <a:r>
              <a:rPr lang="en-US" b="1" baseline="-25000" dirty="0">
                <a:solidFill>
                  <a:schemeClr val="accent2"/>
                </a:solidFill>
              </a:rPr>
              <a:t>1</a:t>
            </a:r>
            <a:r>
              <a:rPr lang="en-US" b="1" dirty="0">
                <a:solidFill>
                  <a:schemeClr val="accent2"/>
                </a:solidFill>
              </a:rPr>
              <a:t>, Y, 2&gt;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80174" y="4747410"/>
            <a:ext cx="15720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&lt;COMMIT T</a:t>
            </a:r>
            <a:r>
              <a:rPr lang="en-US" b="1" baseline="-25000" dirty="0">
                <a:solidFill>
                  <a:schemeClr val="accent2"/>
                </a:solidFill>
              </a:rPr>
              <a:t>1</a:t>
            </a:r>
            <a:r>
              <a:rPr lang="en-US" b="1" dirty="0">
                <a:solidFill>
                  <a:schemeClr val="accent2"/>
                </a:solidFill>
              </a:rPr>
              <a:t>&gt;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74422" y="5989662"/>
            <a:ext cx="15720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&lt;COMMIT T</a:t>
            </a:r>
            <a:r>
              <a:rPr lang="en-US" b="1" baseline="-25000" dirty="0">
                <a:solidFill>
                  <a:schemeClr val="accent2"/>
                </a:solidFill>
              </a:rPr>
              <a:t>2</a:t>
            </a:r>
            <a:r>
              <a:rPr lang="en-US" b="1" dirty="0">
                <a:solidFill>
                  <a:schemeClr val="accent2"/>
                </a:solidFill>
              </a:rPr>
              <a:t>&gt;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39633" y="3820398"/>
            <a:ext cx="11521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flush_log</a:t>
            </a:r>
            <a:endParaRPr lang="en-US" b="1" dirty="0"/>
          </a:p>
        </p:txBody>
      </p:sp>
      <p:sp>
        <p:nvSpPr>
          <p:cNvPr id="45" name="Rectangle 44"/>
          <p:cNvSpPr/>
          <p:nvPr/>
        </p:nvSpPr>
        <p:spPr>
          <a:xfrm>
            <a:off x="4151411" y="4127964"/>
            <a:ext cx="11432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output(X)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51411" y="4465537"/>
            <a:ext cx="11432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output(Y)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51411" y="5048979"/>
            <a:ext cx="11521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flush_log</a:t>
            </a:r>
            <a:endParaRPr lang="en-US" b="1" dirty="0"/>
          </a:p>
        </p:txBody>
      </p:sp>
      <p:sp>
        <p:nvSpPr>
          <p:cNvPr id="48" name="Rectangle 47"/>
          <p:cNvSpPr/>
          <p:nvPr/>
        </p:nvSpPr>
        <p:spPr>
          <a:xfrm>
            <a:off x="5907781" y="5373216"/>
            <a:ext cx="11521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flush_log</a:t>
            </a:r>
            <a:endParaRPr lang="en-US" b="1" dirty="0"/>
          </a:p>
        </p:txBody>
      </p:sp>
      <p:sp>
        <p:nvSpPr>
          <p:cNvPr id="49" name="Rectangle 48"/>
          <p:cNvSpPr/>
          <p:nvPr/>
        </p:nvSpPr>
        <p:spPr>
          <a:xfrm>
            <a:off x="5907781" y="6298295"/>
            <a:ext cx="11521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flush_log</a:t>
            </a:r>
            <a:endParaRPr lang="en-US" b="1" dirty="0"/>
          </a:p>
        </p:txBody>
      </p:sp>
      <p:sp>
        <p:nvSpPr>
          <p:cNvPr id="50" name="Rectangle 49"/>
          <p:cNvSpPr/>
          <p:nvPr/>
        </p:nvSpPr>
        <p:spPr>
          <a:xfrm>
            <a:off x="5907781" y="5669949"/>
            <a:ext cx="11432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output(X)</a:t>
            </a:r>
          </a:p>
        </p:txBody>
      </p:sp>
      <p:sp>
        <p:nvSpPr>
          <p:cNvPr id="32" name="Rounded Rectangular Callout 31"/>
          <p:cNvSpPr/>
          <p:nvPr/>
        </p:nvSpPr>
        <p:spPr>
          <a:xfrm>
            <a:off x="1559496" y="3042289"/>
            <a:ext cx="1800200" cy="722421"/>
          </a:xfrm>
          <a:prstGeom prst="wedgeRoundRectCallout">
            <a:avLst>
              <a:gd name="adj1" fmla="val 59529"/>
              <a:gd name="adj2" fmla="val -2256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err="1"/>
              <a:t>Checkpointing</a:t>
            </a:r>
            <a:r>
              <a:rPr lang="en-US" sz="2000" dirty="0"/>
              <a:t> starts</a:t>
            </a:r>
          </a:p>
        </p:txBody>
      </p:sp>
      <p:sp>
        <p:nvSpPr>
          <p:cNvPr id="33" name="Rounded Rectangular Callout 32"/>
          <p:cNvSpPr/>
          <p:nvPr/>
        </p:nvSpPr>
        <p:spPr>
          <a:xfrm>
            <a:off x="1553196" y="4248160"/>
            <a:ext cx="1800200" cy="722421"/>
          </a:xfrm>
          <a:prstGeom prst="wedgeRoundRectCallout">
            <a:avLst>
              <a:gd name="adj1" fmla="val 59529"/>
              <a:gd name="adj2" fmla="val -2256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Transaction T</a:t>
            </a:r>
            <a:r>
              <a:rPr lang="en-US" sz="2000" baseline="-25000" dirty="0"/>
              <a:t>3</a:t>
            </a:r>
          </a:p>
          <a:p>
            <a:pPr algn="ctr"/>
            <a:r>
              <a:rPr lang="en-US" sz="2000" dirty="0"/>
              <a:t>is submitted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420" y="1457531"/>
            <a:ext cx="3359697" cy="1310519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Transaction 3 will have to wait until we are done with our checkpoint</a:t>
            </a:r>
          </a:p>
        </p:txBody>
      </p:sp>
      <p:sp>
        <p:nvSpPr>
          <p:cNvPr id="34" name="Rounded Rectangular Callout 31">
            <a:extLst>
              <a:ext uri="{FF2B5EF4-FFF2-40B4-BE49-F238E27FC236}">
                <a16:creationId xmlns:a16="http://schemas.microsoft.com/office/drawing/2014/main" id="{52C2F5E1-67C8-45F2-9411-DDE16733E177}"/>
              </a:ext>
            </a:extLst>
          </p:cNvPr>
          <p:cNvSpPr/>
          <p:nvPr/>
        </p:nvSpPr>
        <p:spPr>
          <a:xfrm>
            <a:off x="1197429" y="5448465"/>
            <a:ext cx="2105103" cy="1154794"/>
          </a:xfrm>
          <a:prstGeom prst="wedgeRoundRectCallout">
            <a:avLst>
              <a:gd name="adj1" fmla="val 57110"/>
              <a:gd name="adj2" fmla="val 5190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Write &lt;CHECKPOINT&gt; in log and flush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DD2EE9C-5CCE-49D9-837B-1C45F40CAB1F}"/>
              </a:ext>
            </a:extLst>
          </p:cNvPr>
          <p:cNvSpPr/>
          <p:nvPr/>
        </p:nvSpPr>
        <p:spPr>
          <a:xfrm>
            <a:off x="72007" y="78370"/>
            <a:ext cx="3359697" cy="1310519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Transaction 3 can then proceed after we wrote &lt;CHECKPOINT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61543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6" grpId="0" animBg="1"/>
      <p:bldP spid="34" grpId="0" animBg="1"/>
      <p:bldP spid="4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2428F-A593-4415-8552-7E0378301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ARIES Checkpoints 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8BB5F2-57FC-4C90-B686-5C14EFAB0B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Requirements:</a:t>
                </a:r>
              </a:p>
              <a:p>
                <a:pPr lvl="1"/>
                <a:r>
                  <a:rPr lang="en-US" dirty="0"/>
                  <a:t>Undo/Redo logging</a:t>
                </a:r>
              </a:p>
              <a:p>
                <a:pPr lvl="1"/>
                <a:r>
                  <a:rPr lang="en-US" dirty="0"/>
                  <a:t>Transactions do not write to buffers(!) before they are sure they want to commit</a:t>
                </a:r>
              </a:p>
              <a:p>
                <a:r>
                  <a:rPr lang="en-US" dirty="0"/>
                  <a:t>Procedure:</a:t>
                </a:r>
              </a:p>
              <a:p>
                <a:pPr marL="800100" lvl="3" indent="-342900">
                  <a:spcBef>
                    <a:spcPts val="1272"/>
                  </a:spcBef>
                </a:pPr>
                <a:r>
                  <a:rPr lang="en-US" sz="2800" dirty="0"/>
                  <a:t>Write &lt;CHECKPOINT(T</a:t>
                </a:r>
                <a14:m>
                  <m:oMath xmlns:m="http://schemas.openxmlformats.org/officeDocument/2006/math">
                    <m:r>
                      <a:rPr lang="en-US" sz="2800" i="1" baseline="-25000" dirty="0">
                        <a:latin typeface="Cambria Math" charset="0"/>
                      </a:rPr>
                      <m:t>1</m:t>
                    </m:r>
                  </m:oMath>
                </a14:m>
                <a:r>
                  <a:rPr lang="en-US" sz="2800" dirty="0"/>
                  <a:t>, T</a:t>
                </a:r>
                <a:r>
                  <a:rPr lang="en-US" sz="2800" baseline="-25000" dirty="0"/>
                  <a:t>2</a:t>
                </a:r>
                <a:r>
                  <a:rPr lang="en-US" sz="2800" dirty="0"/>
                  <a:t>,…)&gt; in log and flush it</a:t>
                </a:r>
              </a:p>
              <a:p>
                <a:pPr marL="1257300" lvl="4" indent="-342900">
                  <a:spcBef>
                    <a:spcPts val="1272"/>
                  </a:spcBef>
                </a:pPr>
                <a:r>
                  <a:rPr lang="en-US" sz="2800" dirty="0"/>
                  <a:t>T</a:t>
                </a:r>
                <a14:m>
                  <m:oMath xmlns:m="http://schemas.openxmlformats.org/officeDocument/2006/math">
                    <m:r>
                      <a:rPr lang="en-US" sz="2800" i="1" baseline="-25000" dirty="0">
                        <a:latin typeface="Cambria Math" charset="0"/>
                      </a:rPr>
                      <m:t>1</m:t>
                    </m:r>
                  </m:oMath>
                </a14:m>
                <a:r>
                  <a:rPr lang="en-US" sz="2800" dirty="0"/>
                  <a:t>, T</a:t>
                </a:r>
                <a:r>
                  <a:rPr lang="en-US" sz="2800" baseline="-25000" dirty="0"/>
                  <a:t>2</a:t>
                </a:r>
                <a:r>
                  <a:rPr lang="en-US" sz="2800" dirty="0"/>
                  <a:t>,… are the transaction in progress (i.e. not committed and not aborted)</a:t>
                </a:r>
              </a:p>
              <a:p>
                <a:pPr marL="800100" lvl="3" indent="-342900">
                  <a:spcBef>
                    <a:spcPts val="1272"/>
                  </a:spcBef>
                </a:pPr>
                <a:r>
                  <a:rPr lang="en-US" sz="2800" dirty="0"/>
                  <a:t>Write the content of the </a:t>
                </a:r>
                <a:r>
                  <a:rPr lang="en-US" sz="2800" b="1" dirty="0"/>
                  <a:t>buffer</a:t>
                </a:r>
                <a:r>
                  <a:rPr lang="en-US" sz="2800" dirty="0"/>
                  <a:t> to disk (i.e. </a:t>
                </a:r>
                <a:r>
                  <a:rPr lang="en-US" sz="2800" b="1" dirty="0"/>
                  <a:t>output</a:t>
                </a:r>
                <a:r>
                  <a:rPr lang="en-US" sz="2800" dirty="0"/>
                  <a:t>)</a:t>
                </a:r>
              </a:p>
              <a:p>
                <a:pPr marL="800100" lvl="3" indent="-342900">
                  <a:spcBef>
                    <a:spcPts val="1272"/>
                  </a:spcBef>
                </a:pPr>
                <a:r>
                  <a:rPr lang="en-US" sz="2800" dirty="0"/>
                  <a:t>Write &lt;END CHECKPOINT&gt; in log and flush it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8BB5F2-57FC-4C90-B686-5C14EFAB0B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606" t="-2273" b="-13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370265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788" y="4277378"/>
            <a:ext cx="46558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only redo part of </a:t>
            </a:r>
            <a:br>
              <a:rPr lang="en-US" dirty="0"/>
            </a:br>
            <a:r>
              <a:rPr lang="en-US" b="1" dirty="0"/>
              <a:t>committed</a:t>
            </a:r>
            <a:r>
              <a:rPr lang="en-US" dirty="0"/>
              <a:t> transactions in </a:t>
            </a:r>
            <a:br>
              <a:rPr lang="en-US" dirty="0"/>
            </a:br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/>
              <a:t>,T</a:t>
            </a:r>
            <a:r>
              <a:rPr lang="en-US" baseline="-25000" dirty="0"/>
              <a:t>2</a:t>
            </a:r>
            <a:r>
              <a:rPr lang="en-US" dirty="0"/>
              <a:t>,… after </a:t>
            </a:r>
            <a:br>
              <a:rPr lang="en-US" dirty="0"/>
            </a:br>
            <a:r>
              <a:rPr lang="en-US" dirty="0"/>
              <a:t>&lt;CHECKPOINT(T</a:t>
            </a:r>
            <a:r>
              <a:rPr lang="en-US" baseline="-25000" dirty="0"/>
              <a:t>1</a:t>
            </a:r>
            <a:r>
              <a:rPr lang="en-US" dirty="0"/>
              <a:t>,T</a:t>
            </a:r>
            <a:r>
              <a:rPr lang="en-US" baseline="-25000" dirty="0"/>
              <a:t>2</a:t>
            </a:r>
            <a:r>
              <a:rPr lang="en-US" dirty="0"/>
              <a:t>,…)&gt;</a:t>
            </a:r>
          </a:p>
          <a:p>
            <a:r>
              <a:rPr lang="en-US" dirty="0"/>
              <a:t>AND then undo all of </a:t>
            </a:r>
            <a:r>
              <a:rPr lang="en-US" b="1" dirty="0" err="1"/>
              <a:t>uncommited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transactions in T</a:t>
            </a:r>
            <a:r>
              <a:rPr lang="en-US" baseline="-25000" dirty="0"/>
              <a:t>1</a:t>
            </a:r>
            <a:r>
              <a:rPr lang="en-US" dirty="0"/>
              <a:t>,T</a:t>
            </a:r>
            <a:r>
              <a:rPr lang="en-US" baseline="-25000" dirty="0"/>
              <a:t>2</a:t>
            </a:r>
            <a:r>
              <a:rPr lang="en-US" dirty="0"/>
              <a:t>,… </a:t>
            </a:r>
          </a:p>
          <a:p>
            <a:r>
              <a:rPr lang="en-US" dirty="0"/>
              <a:t>incl. before &lt;CHECKPOINT(T</a:t>
            </a:r>
            <a:r>
              <a:rPr lang="en-US" baseline="-25000" dirty="0"/>
              <a:t>1</a:t>
            </a:r>
            <a:r>
              <a:rPr lang="en-US" dirty="0"/>
              <a:t>,T</a:t>
            </a:r>
            <a:r>
              <a:rPr lang="en-US" baseline="-25000" dirty="0"/>
              <a:t>2</a:t>
            </a:r>
            <a:r>
              <a:rPr lang="en-US" dirty="0"/>
              <a:t>,…)&gt;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Recovery via ARIES Checkpoints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3575721" y="1896431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Logfile</a:t>
            </a:r>
            <a:endParaRPr lang="en-US" dirty="0"/>
          </a:p>
        </p:txBody>
      </p:sp>
      <p:sp>
        <p:nvSpPr>
          <p:cNvPr id="8" name="Document 7"/>
          <p:cNvSpPr/>
          <p:nvPr/>
        </p:nvSpPr>
        <p:spPr>
          <a:xfrm rot="10800000">
            <a:off x="3647728" y="1559107"/>
            <a:ext cx="3528392" cy="4517680"/>
          </a:xfrm>
          <a:prstGeom prst="flowChartDocumen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3215680" y="2780928"/>
            <a:ext cx="432048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28839" y="3344487"/>
            <a:ext cx="2460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&lt;CHECKPOINT(T</a:t>
            </a:r>
            <a:r>
              <a:rPr lang="en-US" baseline="-25000" dirty="0"/>
              <a:t>1</a:t>
            </a:r>
            <a:r>
              <a:rPr lang="en-US" dirty="0"/>
              <a:t>,T</a:t>
            </a:r>
            <a:r>
              <a:rPr lang="en-US" baseline="-25000" dirty="0"/>
              <a:t>2</a:t>
            </a:r>
            <a:r>
              <a:rPr lang="en-US" dirty="0"/>
              <a:t>,…)&gt;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7392144" y="2852936"/>
            <a:ext cx="0" cy="32238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4789" y="3673295"/>
            <a:ext cx="3131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Process the undo/redo log, </a:t>
            </a:r>
            <a:br>
              <a:rPr lang="en-US" dirty="0"/>
            </a:br>
            <a:r>
              <a:rPr lang="en-US" dirty="0"/>
              <a:t>as before EXCEPT: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158" y="2589331"/>
            <a:ext cx="270729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Stop after having found a</a:t>
            </a:r>
            <a:br>
              <a:rPr lang="en-US" dirty="0"/>
            </a:br>
            <a:r>
              <a:rPr lang="en-US" dirty="0"/>
              <a:t>&lt;CHECKPOINT(T</a:t>
            </a:r>
            <a:r>
              <a:rPr lang="en-US" baseline="-25000" dirty="0"/>
              <a:t>1</a:t>
            </a:r>
            <a:r>
              <a:rPr lang="en-US" dirty="0"/>
              <a:t>,T</a:t>
            </a:r>
            <a:r>
              <a:rPr lang="en-US" baseline="-25000" dirty="0"/>
              <a:t>2</a:t>
            </a:r>
            <a:r>
              <a:rPr lang="en-US" dirty="0"/>
              <a:t>,…)&gt;</a:t>
            </a:r>
          </a:p>
          <a:p>
            <a:r>
              <a:rPr lang="en-US" dirty="0"/>
              <a:t>with corresponding  </a:t>
            </a:r>
          </a:p>
          <a:p>
            <a:r>
              <a:rPr lang="en-US" dirty="0"/>
              <a:t>&lt;END CHECKPOINT&gt;</a:t>
            </a:r>
          </a:p>
          <a:p>
            <a:r>
              <a:rPr lang="en-US" dirty="0"/>
              <a:t>AND &lt;START </a:t>
            </a:r>
            <a:r>
              <a:rPr lang="en-US" dirty="0" err="1"/>
              <a:t>T</a:t>
            </a:r>
            <a:r>
              <a:rPr lang="en-US" baseline="-25000" dirty="0" err="1"/>
              <a:t>i</a:t>
            </a:r>
            <a:r>
              <a:rPr lang="en-US" dirty="0"/>
              <a:t>&gt; for all mentioned transactions that are </a:t>
            </a:r>
            <a:r>
              <a:rPr lang="en-US" b="1" dirty="0"/>
              <a:t>uncommitted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36159" y="1633560"/>
            <a:ext cx="28570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These transactions have </a:t>
            </a:r>
            <a:br>
              <a:rPr lang="en-US" dirty="0"/>
            </a:br>
            <a:r>
              <a:rPr lang="en-US" dirty="0"/>
              <a:t>written their changes to disk</a:t>
            </a:r>
            <a:br>
              <a:rPr lang="en-US" dirty="0"/>
            </a:br>
            <a:r>
              <a:rPr lang="en-US" dirty="0"/>
              <a:t>(no need to do changes)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H="1">
            <a:off x="6960097" y="2081098"/>
            <a:ext cx="576063" cy="2677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650288" y="4581128"/>
            <a:ext cx="2136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&lt;END CHECKPOINT &gt;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199F14-71FC-4D9F-953B-AD8BCB5FF6AF}"/>
              </a:ext>
            </a:extLst>
          </p:cNvPr>
          <p:cNvSpPr txBox="1"/>
          <p:nvPr/>
        </p:nvSpPr>
        <p:spPr>
          <a:xfrm>
            <a:off x="3664840" y="2734178"/>
            <a:ext cx="1217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&lt;START T</a:t>
            </a:r>
            <a:r>
              <a:rPr lang="en-US" baseline="-25000" dirty="0"/>
              <a:t>1</a:t>
            </a:r>
            <a:r>
              <a:rPr lang="en-US" dirty="0"/>
              <a:t>&gt;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1790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8" grpId="0" animBg="1"/>
      <p:bldP spid="11" grpId="0"/>
      <p:bldP spid="15" grpId="0"/>
      <p:bldP spid="16" grpId="0"/>
      <p:bldP spid="17" grpId="0"/>
      <p:bldP spid="13" grpId="0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CADEE-EB3B-4F3C-A73C-ED0242C41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BD2DD-5354-4FA6-B762-4066783CC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550434" cy="4023360"/>
          </a:xfrm>
        </p:spPr>
        <p:txBody>
          <a:bodyPr/>
          <a:lstStyle/>
          <a:p>
            <a:r>
              <a:rPr lang="en-US" dirty="0"/>
              <a:t>Checkpoints can be used to speed up recovery and use less space on the log files</a:t>
            </a:r>
          </a:p>
          <a:p>
            <a:r>
              <a:rPr lang="en-US" dirty="0"/>
              <a:t>We saw Simple Checkpoints which simply prevents new transactions from starting until all are done</a:t>
            </a:r>
          </a:p>
          <a:p>
            <a:r>
              <a:rPr lang="en-US" dirty="0"/>
              <a:t>We saw ARIES Checkpoints that were more advanced and required undo/redo and you can’t write to the buffer before being sure you want to commit</a:t>
            </a:r>
            <a:endParaRPr lang="en-GB" dirty="0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AA6942C7-A508-4D71-86F3-B0992079A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38522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1|25.3|6.7|55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7.4|11.8|5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4|6.7|5.9|7|10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|24.8|24.9|21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8|15.2|18.4|58|20.8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366</TotalTime>
  <Words>611</Words>
  <Application>Microsoft Office PowerPoint</Application>
  <PresentationFormat>Widescreen</PresentationFormat>
  <Paragraphs>110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Calibri Light</vt:lpstr>
      <vt:lpstr>Cambria Math</vt:lpstr>
      <vt:lpstr>Retrospect</vt:lpstr>
      <vt:lpstr>Checkpoints</vt:lpstr>
      <vt:lpstr>Overview</vt:lpstr>
      <vt:lpstr>Simple Checkpointing (for undo logging)</vt:lpstr>
      <vt:lpstr>PowerPoint Presentation</vt:lpstr>
      <vt:lpstr>Recovery With Simple Checkpoints</vt:lpstr>
      <vt:lpstr>PowerPoint Presentation</vt:lpstr>
      <vt:lpstr>ARIES Checkpoints </vt:lpstr>
      <vt:lpstr>Recovery via ARIES Checkpoints 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Checkpoints</dc:title>
  <dc:creator>Rasmus Ibsen-Jensen</dc:creator>
  <cp:lastModifiedBy>Rasmus Ibsen-Jensen</cp:lastModifiedBy>
  <cp:revision>23</cp:revision>
  <dcterms:created xsi:type="dcterms:W3CDTF">2020-11-05T14:30:49Z</dcterms:created>
  <dcterms:modified xsi:type="dcterms:W3CDTF">2020-11-15T20:19:31Z</dcterms:modified>
</cp:coreProperties>
</file>