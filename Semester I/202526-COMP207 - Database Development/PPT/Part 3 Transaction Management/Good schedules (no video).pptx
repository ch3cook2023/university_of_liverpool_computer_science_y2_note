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354" r:id="rId3"/>
    <p:sldId id="363" r:id="rId4"/>
    <p:sldId id="374" r:id="rId5"/>
    <p:sldId id="362" r:id="rId6"/>
    <p:sldId id="375" r:id="rId7"/>
    <p:sldId id="373" r:id="rId8"/>
    <p:sldId id="376" r:id="rId9"/>
    <p:sldId id="377" r:id="rId10"/>
    <p:sldId id="39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4660"/>
  </p:normalViewPr>
  <p:slideViewPr>
    <p:cSldViewPr snapToGrid="0">
      <p:cViewPr varScale="1">
        <p:scale>
          <a:sx n="122" d="100"/>
          <a:sy n="122" d="100"/>
        </p:scale>
        <p:origin x="114" y="2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D6BCFD-611A-4DDF-8B24-14ABDFAB05AB}" type="datetimeFigureOut">
              <a:rPr lang="en-GB" smtClean="0"/>
              <a:t>27/10/2020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B7A65E1-233A-4347-B7EE-DDE5FE265AE1}"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3301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D6BCFD-611A-4DDF-8B24-14ABDFAB05AB}" type="datetimeFigureOut">
              <a:rPr lang="en-GB" smtClean="0"/>
              <a:t>27/10/2020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B7A65E1-233A-4347-B7EE-DDE5FE265AE1}" type="slidenum">
              <a:rPr lang="en-GB" smtClean="0"/>
              <a:t>‹#›</a:t>
            </a:fld>
            <a:endParaRPr lang="en-GB"/>
          </a:p>
        </p:txBody>
      </p:sp>
    </p:spTree>
    <p:extLst>
      <p:ext uri="{BB962C8B-B14F-4D97-AF65-F5344CB8AC3E}">
        <p14:creationId xmlns:p14="http://schemas.microsoft.com/office/powerpoint/2010/main" val="181456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D6BCFD-611A-4DDF-8B24-14ABDFAB05AB}" type="datetimeFigureOut">
              <a:rPr lang="en-GB" smtClean="0"/>
              <a:t>27/10/2020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B7A65E1-233A-4347-B7EE-DDE5FE265AE1}"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2025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5D6BCFD-611A-4DDF-8B24-14ABDFAB05AB}" type="datetimeFigureOut">
              <a:rPr lang="en-GB" smtClean="0"/>
              <a:t>27/10/2020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B7A65E1-233A-4347-B7EE-DDE5FE265AE1}" type="slidenum">
              <a:rPr lang="en-GB" smtClean="0"/>
              <a:t>‹#›</a:t>
            </a:fld>
            <a:endParaRPr lang="en-GB"/>
          </a:p>
        </p:txBody>
      </p:sp>
    </p:spTree>
    <p:extLst>
      <p:ext uri="{BB962C8B-B14F-4D97-AF65-F5344CB8AC3E}">
        <p14:creationId xmlns:p14="http://schemas.microsoft.com/office/powerpoint/2010/main" val="25970009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D6BCFD-611A-4DDF-8B24-14ABDFAB05AB}" type="datetimeFigureOut">
              <a:rPr lang="en-GB" smtClean="0"/>
              <a:t>27/10/2020</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DB7A65E1-233A-4347-B7EE-DDE5FE265AE1}" type="slidenum">
              <a:rPr lang="en-GB" smtClean="0"/>
              <a:t>‹#›</a:t>
            </a:fld>
            <a:endParaRPr lang="en-GB"/>
          </a:p>
        </p:txBody>
      </p:sp>
    </p:spTree>
    <p:extLst>
      <p:ext uri="{BB962C8B-B14F-4D97-AF65-F5344CB8AC3E}">
        <p14:creationId xmlns:p14="http://schemas.microsoft.com/office/powerpoint/2010/main" val="28921178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5D6BCFD-611A-4DDF-8B24-14ABDFAB05AB}" type="datetimeFigureOut">
              <a:rPr lang="en-GB" smtClean="0"/>
              <a:t>27/10/2020</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B7A65E1-233A-4347-B7EE-DDE5FE265AE1}" type="slidenum">
              <a:rPr lang="en-GB" smtClean="0"/>
              <a:t>‹#›</a:t>
            </a:fld>
            <a:endParaRPr lang="en-GB"/>
          </a:p>
        </p:txBody>
      </p:sp>
    </p:spTree>
    <p:extLst>
      <p:ext uri="{BB962C8B-B14F-4D97-AF65-F5344CB8AC3E}">
        <p14:creationId xmlns:p14="http://schemas.microsoft.com/office/powerpoint/2010/main" val="3815074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5D6BCFD-611A-4DDF-8B24-14ABDFAB05AB}" type="datetimeFigureOut">
              <a:rPr lang="en-GB" smtClean="0"/>
              <a:t>27/10/2020</a:t>
            </a:fld>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GB"/>
          </a:p>
        </p:txBody>
      </p:sp>
      <p:sp>
        <p:nvSpPr>
          <p:cNvPr id="9" name="Slide Number Placeholder 8"/>
          <p:cNvSpPr>
            <a:spLocks noGrp="1"/>
          </p:cNvSpPr>
          <p:nvPr>
            <p:ph type="sldNum" sz="quarter" idx="12"/>
          </p:nvPr>
        </p:nvSpPr>
        <p:spPr/>
        <p:txBody>
          <a:bodyPr/>
          <a:lstStyle/>
          <a:p>
            <a:fld id="{DB7A65E1-233A-4347-B7EE-DDE5FE265AE1}" type="slidenum">
              <a:rPr lang="en-GB" smtClean="0"/>
              <a:t>‹#›</a:t>
            </a:fld>
            <a:endParaRPr lang="en-GB"/>
          </a:p>
        </p:txBody>
      </p:sp>
    </p:spTree>
    <p:extLst>
      <p:ext uri="{BB962C8B-B14F-4D97-AF65-F5344CB8AC3E}">
        <p14:creationId xmlns:p14="http://schemas.microsoft.com/office/powerpoint/2010/main" val="4185286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5D6BCFD-611A-4DDF-8B24-14ABDFAB05AB}" type="datetimeFigureOut">
              <a:rPr lang="en-GB" smtClean="0"/>
              <a:t>27/10/2020</a:t>
            </a:fld>
            <a:endParaRPr lang="en-GB"/>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B7A65E1-233A-4347-B7EE-DDE5FE265AE1}" type="slidenum">
              <a:rPr lang="en-GB" smtClean="0"/>
              <a:t>‹#›</a:t>
            </a:fld>
            <a:endParaRPr lang="en-GB"/>
          </a:p>
        </p:txBody>
      </p:sp>
    </p:spTree>
    <p:extLst>
      <p:ext uri="{BB962C8B-B14F-4D97-AF65-F5344CB8AC3E}">
        <p14:creationId xmlns:p14="http://schemas.microsoft.com/office/powerpoint/2010/main" val="30451002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D6BCFD-611A-4DDF-8B24-14ABDFAB05AB}" type="datetimeFigureOut">
              <a:rPr lang="en-GB" smtClean="0"/>
              <a:t>27/10/2020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B7A65E1-233A-4347-B7EE-DDE5FE265AE1}" type="slidenum">
              <a:rPr lang="en-GB" smtClean="0"/>
              <a:t>‹#›</a:t>
            </a:fld>
            <a:endParaRPr lang="en-GB"/>
          </a:p>
        </p:txBody>
      </p:sp>
    </p:spTree>
    <p:extLst>
      <p:ext uri="{BB962C8B-B14F-4D97-AF65-F5344CB8AC3E}">
        <p14:creationId xmlns:p14="http://schemas.microsoft.com/office/powerpoint/2010/main" val="2051063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D6BCFD-611A-4DDF-8B24-14ABDFAB05AB}" type="datetimeFigureOut">
              <a:rPr lang="en-GB" smtClean="0"/>
              <a:t>27/10/2020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B7A65E1-233A-4347-B7EE-DDE5FE265AE1}" type="slidenum">
              <a:rPr lang="en-GB" smtClean="0"/>
              <a:t>‹#›</a:t>
            </a:fld>
            <a:endParaRPr lang="en-GB"/>
          </a:p>
        </p:txBody>
      </p:sp>
    </p:spTree>
    <p:extLst>
      <p:ext uri="{BB962C8B-B14F-4D97-AF65-F5344CB8AC3E}">
        <p14:creationId xmlns:p14="http://schemas.microsoft.com/office/powerpoint/2010/main" val="2087980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D6BCFD-611A-4DDF-8B24-14ABDFAB05AB}" type="datetimeFigureOut">
              <a:rPr lang="en-GB" smtClean="0"/>
              <a:t>27/10/2020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B7A65E1-233A-4347-B7EE-DDE5FE265AE1}" type="slidenum">
              <a:rPr lang="en-GB" smtClean="0"/>
              <a:t>‹#›</a:t>
            </a:fld>
            <a:endParaRPr lang="en-GB"/>
          </a:p>
        </p:txBody>
      </p:sp>
    </p:spTree>
    <p:extLst>
      <p:ext uri="{BB962C8B-B14F-4D97-AF65-F5344CB8AC3E}">
        <p14:creationId xmlns:p14="http://schemas.microsoft.com/office/powerpoint/2010/main" val="2021809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5D6BCFD-611A-4DDF-8B24-14ABDFAB05AB}" type="datetimeFigureOut">
              <a:rPr lang="en-GB" smtClean="0"/>
              <a:t>27/10/2020</a:t>
            </a:fld>
            <a:endParaRPr lang="en-GB"/>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GB"/>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B7A65E1-233A-4347-B7EE-DDE5FE265AE1}" type="slidenum">
              <a:rPr lang="en-GB" smtClean="0"/>
              <a:t>‹#›</a:t>
            </a:fld>
            <a:endParaRPr lang="en-GB"/>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99001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98B95-CEA1-421D-8B1F-6FE8B4F08233}"/>
              </a:ext>
            </a:extLst>
          </p:cNvPr>
          <p:cNvSpPr>
            <a:spLocks noGrp="1"/>
          </p:cNvSpPr>
          <p:nvPr>
            <p:ph type="ctrTitle"/>
          </p:nvPr>
        </p:nvSpPr>
        <p:spPr/>
        <p:txBody>
          <a:bodyPr/>
          <a:lstStyle/>
          <a:p>
            <a:r>
              <a:rPr lang="en-US" dirty="0"/>
              <a:t>Good schedules/transactions</a:t>
            </a:r>
            <a:endParaRPr lang="en-GB" dirty="0"/>
          </a:p>
        </p:txBody>
      </p:sp>
      <p:sp>
        <p:nvSpPr>
          <p:cNvPr id="3" name="Subtitle 2">
            <a:extLst>
              <a:ext uri="{FF2B5EF4-FFF2-40B4-BE49-F238E27FC236}">
                <a16:creationId xmlns:a16="http://schemas.microsoft.com/office/drawing/2014/main" id="{43EE836D-7C08-403A-AF24-286C02E174B0}"/>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971547184"/>
      </p:ext>
    </p:extLst>
  </p:cSld>
  <p:clrMapOvr>
    <a:masterClrMapping/>
  </p:clrMapOvr>
  <mc:AlternateContent xmlns:mc="http://schemas.openxmlformats.org/markup-compatibility/2006" xmlns:p14="http://schemas.microsoft.com/office/powerpoint/2010/main">
    <mc:Choice Requires="p14">
      <p:transition spd="slow" p14:dur="2000" advTm="8014"/>
    </mc:Choice>
    <mc:Fallback xmlns="">
      <p:transition spd="slow" advTm="801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087AB-00C3-4F0C-ABD5-3827C0525711}"/>
              </a:ext>
            </a:extLst>
          </p:cNvPr>
          <p:cNvSpPr>
            <a:spLocks noGrp="1"/>
          </p:cNvSpPr>
          <p:nvPr>
            <p:ph type="title"/>
          </p:nvPr>
        </p:nvSpPr>
        <p:spPr/>
        <p:txBody>
          <a:bodyPr/>
          <a:lstStyle/>
          <a:p>
            <a:r>
              <a:rPr lang="en-US" dirty="0"/>
              <a:t>Overview of this video</a:t>
            </a:r>
            <a:endParaRPr lang="en-GB" dirty="0"/>
          </a:p>
        </p:txBody>
      </p:sp>
      <p:sp>
        <p:nvSpPr>
          <p:cNvPr id="3" name="Content Placeholder 2">
            <a:extLst>
              <a:ext uri="{FF2B5EF4-FFF2-40B4-BE49-F238E27FC236}">
                <a16:creationId xmlns:a16="http://schemas.microsoft.com/office/drawing/2014/main" id="{B640F842-B16B-4A9E-872B-51714976B919}"/>
              </a:ext>
            </a:extLst>
          </p:cNvPr>
          <p:cNvSpPr>
            <a:spLocks noGrp="1"/>
          </p:cNvSpPr>
          <p:nvPr>
            <p:ph idx="1"/>
          </p:nvPr>
        </p:nvSpPr>
        <p:spPr/>
        <p:txBody>
          <a:bodyPr>
            <a:normAutofit/>
          </a:bodyPr>
          <a:lstStyle/>
          <a:p>
            <a:pPr marL="0" indent="0">
              <a:buNone/>
            </a:pPr>
            <a:r>
              <a:rPr lang="en-US" sz="3000" dirty="0"/>
              <a:t>We will try to characterize when a schedule/transaction is bad</a:t>
            </a:r>
          </a:p>
        </p:txBody>
      </p:sp>
      <p:sp>
        <p:nvSpPr>
          <p:cNvPr id="4" name="Slide Number Placeholder 3">
            <a:extLst>
              <a:ext uri="{FF2B5EF4-FFF2-40B4-BE49-F238E27FC236}">
                <a16:creationId xmlns:a16="http://schemas.microsoft.com/office/drawing/2014/main" id="{6A7D34EE-1258-4941-BD93-EAE842D5AAED}"/>
              </a:ext>
            </a:extLst>
          </p:cNvPr>
          <p:cNvSpPr>
            <a:spLocks noGrp="1"/>
          </p:cNvSpPr>
          <p:nvPr>
            <p:ph type="sldNum" sz="quarter" idx="12"/>
          </p:nvPr>
        </p:nvSpPr>
        <p:spPr>
          <a:xfrm>
            <a:off x="9900458" y="6459785"/>
            <a:ext cx="1312025" cy="365125"/>
          </a:xfrm>
        </p:spPr>
        <p:txBody>
          <a:bodyPr/>
          <a:lstStyle/>
          <a:p>
            <a:fld id="{C260D5AD-280D-4F23-8F09-5CDE2943111F}" type="slidenum">
              <a:rPr lang="en-GB" smtClean="0"/>
              <a:pPr/>
              <a:t>2</a:t>
            </a:fld>
            <a:endParaRPr lang="en-GB"/>
          </a:p>
        </p:txBody>
      </p:sp>
    </p:spTree>
    <p:extLst>
      <p:ext uri="{BB962C8B-B14F-4D97-AF65-F5344CB8AC3E}">
        <p14:creationId xmlns:p14="http://schemas.microsoft.com/office/powerpoint/2010/main" val="1919403635"/>
      </p:ext>
    </p:extLst>
  </p:cSld>
  <p:clrMapOvr>
    <a:masterClrMapping/>
  </p:clrMapOvr>
  <mc:AlternateContent xmlns:mc="http://schemas.openxmlformats.org/markup-compatibility/2006" xmlns:p14="http://schemas.microsoft.com/office/powerpoint/2010/main">
    <mc:Choice Requires="p14">
      <p:transition spd="slow" p14:dur="2000" advTm="44772"/>
    </mc:Choice>
    <mc:Fallback xmlns="">
      <p:transition spd="slow" advTm="44772"/>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Problem 1: Concurrency</a:t>
            </a:r>
            <a:br>
              <a:rPr lang="en-US" dirty="0"/>
            </a:br>
            <a:r>
              <a:rPr lang="en-US" sz="2400" dirty="0"/>
              <a:t>(from the introduction to transactions video)</a:t>
            </a:r>
          </a:p>
        </p:txBody>
      </p:sp>
      <p:sp>
        <p:nvSpPr>
          <p:cNvPr id="4" name="Slide Number Placeholder 3"/>
          <p:cNvSpPr>
            <a:spLocks noGrp="1"/>
          </p:cNvSpPr>
          <p:nvPr>
            <p:ph type="sldNum" sz="quarter" idx="12"/>
          </p:nvPr>
        </p:nvSpPr>
        <p:spPr/>
        <p:txBody>
          <a:bodyPr/>
          <a:lstStyle/>
          <a:p>
            <a:fld id="{C260D5AD-280D-4F23-8F09-5CDE2943111F}" type="slidenum">
              <a:rPr lang="en-GB" smtClean="0"/>
              <a:pPr/>
              <a:t>3</a:t>
            </a:fld>
            <a:endParaRPr lang="en-GB" dirty="0"/>
          </a:p>
        </p:txBody>
      </p:sp>
      <p:sp>
        <p:nvSpPr>
          <p:cNvPr id="47" name="TextBox 46"/>
          <p:cNvSpPr txBox="1"/>
          <p:nvPr/>
        </p:nvSpPr>
        <p:spPr>
          <a:xfrm>
            <a:off x="693697" y="3068236"/>
            <a:ext cx="787395" cy="369332"/>
          </a:xfrm>
          <a:prstGeom prst="rect">
            <a:avLst/>
          </a:prstGeom>
          <a:noFill/>
        </p:spPr>
        <p:txBody>
          <a:bodyPr wrap="none" rtlCol="0">
            <a:spAutoFit/>
          </a:bodyPr>
          <a:lstStyle/>
          <a:p>
            <a:pPr algn="ctr"/>
            <a:r>
              <a:rPr lang="en-US" dirty="0">
                <a:solidFill>
                  <a:schemeClr val="tx2"/>
                </a:solidFill>
              </a:rPr>
              <a:t>User 1</a:t>
            </a:r>
          </a:p>
        </p:txBody>
      </p:sp>
      <p:sp>
        <p:nvSpPr>
          <p:cNvPr id="68" name="TextBox 67"/>
          <p:cNvSpPr txBox="1"/>
          <p:nvPr/>
        </p:nvSpPr>
        <p:spPr>
          <a:xfrm>
            <a:off x="693697" y="3907532"/>
            <a:ext cx="787395" cy="369332"/>
          </a:xfrm>
          <a:prstGeom prst="rect">
            <a:avLst/>
          </a:prstGeom>
          <a:noFill/>
        </p:spPr>
        <p:txBody>
          <a:bodyPr wrap="none" rtlCol="0">
            <a:spAutoFit/>
          </a:bodyPr>
          <a:lstStyle/>
          <a:p>
            <a:pPr algn="ctr"/>
            <a:r>
              <a:rPr lang="en-US" dirty="0">
                <a:solidFill>
                  <a:schemeClr val="tx2"/>
                </a:solidFill>
              </a:rPr>
              <a:t>User 2</a:t>
            </a:r>
          </a:p>
        </p:txBody>
      </p:sp>
      <p:sp>
        <p:nvSpPr>
          <p:cNvPr id="99" name="Rectangle 98"/>
          <p:cNvSpPr/>
          <p:nvPr/>
        </p:nvSpPr>
        <p:spPr>
          <a:xfrm>
            <a:off x="951908" y="4528091"/>
            <a:ext cx="5112568" cy="1800200"/>
          </a:xfrm>
          <a:prstGeom prst="rect">
            <a:avLst/>
          </a:prstGeom>
        </p:spPr>
        <p:style>
          <a:lnRef idx="1">
            <a:schemeClr val="accent3"/>
          </a:lnRef>
          <a:fillRef idx="3">
            <a:schemeClr val="accent3"/>
          </a:fillRef>
          <a:effectRef idx="2">
            <a:schemeClr val="accent3"/>
          </a:effectRef>
          <a:fontRef idx="minor">
            <a:schemeClr val="lt1"/>
          </a:fontRef>
        </p:style>
        <p:txBody>
          <a:bodyPr rtlCol="0" anchor="t"/>
          <a:lstStyle/>
          <a:p>
            <a:r>
              <a:rPr lang="en-US" sz="2000" dirty="0">
                <a:latin typeface="Courier New" charset="0"/>
                <a:ea typeface="Courier New" charset="0"/>
                <a:cs typeface="Courier New" charset="0"/>
              </a:rPr>
              <a:t>SELECT </a:t>
            </a:r>
            <a:r>
              <a:rPr lang="en-US" sz="2000" dirty="0" err="1">
                <a:latin typeface="Courier New" charset="0"/>
                <a:ea typeface="Courier New" charset="0"/>
                <a:cs typeface="Courier New" charset="0"/>
              </a:rPr>
              <a:t>seatNo</a:t>
            </a:r>
            <a:endParaRPr lang="en-US" sz="2000" dirty="0">
              <a:latin typeface="Courier New" charset="0"/>
              <a:ea typeface="Courier New" charset="0"/>
              <a:cs typeface="Courier New" charset="0"/>
            </a:endParaRPr>
          </a:p>
          <a:p>
            <a:r>
              <a:rPr lang="en-US" sz="2000" dirty="0">
                <a:latin typeface="Courier New" charset="0"/>
                <a:ea typeface="Courier New" charset="0"/>
                <a:cs typeface="Courier New" charset="0"/>
              </a:rPr>
              <a:t>FROM   Flights</a:t>
            </a:r>
          </a:p>
          <a:p>
            <a:r>
              <a:rPr lang="en-US" sz="2000" dirty="0">
                <a:latin typeface="Courier New" charset="0"/>
                <a:ea typeface="Courier New" charset="0"/>
                <a:cs typeface="Courier New" charset="0"/>
              </a:rPr>
              <a:t>WHERE  </a:t>
            </a:r>
            <a:r>
              <a:rPr lang="en-US" sz="2000" dirty="0" err="1">
                <a:latin typeface="Courier New" charset="0"/>
                <a:ea typeface="Courier New" charset="0"/>
                <a:cs typeface="Courier New" charset="0"/>
              </a:rPr>
              <a:t>flightNo</a:t>
            </a:r>
            <a:r>
              <a:rPr lang="en-US" sz="2000" dirty="0">
                <a:latin typeface="Courier New" charset="0"/>
                <a:ea typeface="Courier New" charset="0"/>
                <a:cs typeface="Courier New" charset="0"/>
              </a:rPr>
              <a:t> = 123</a:t>
            </a:r>
          </a:p>
          <a:p>
            <a:r>
              <a:rPr lang="en-US" sz="2000" dirty="0">
                <a:latin typeface="Courier New" charset="0"/>
                <a:ea typeface="Courier New" charset="0"/>
                <a:cs typeface="Courier New" charset="0"/>
              </a:rPr>
              <a:t>   AND date = ’2020-10-30’</a:t>
            </a:r>
          </a:p>
          <a:p>
            <a:r>
              <a:rPr lang="en-US" sz="2000" dirty="0">
                <a:latin typeface="Courier New" charset="0"/>
                <a:ea typeface="Courier New" charset="0"/>
                <a:cs typeface="Courier New" charset="0"/>
              </a:rPr>
              <a:t>   AND </a:t>
            </a:r>
            <a:r>
              <a:rPr lang="en-US" sz="2000" dirty="0" err="1">
                <a:latin typeface="Courier New" charset="0"/>
                <a:ea typeface="Courier New" charset="0"/>
                <a:cs typeface="Courier New" charset="0"/>
              </a:rPr>
              <a:t>seatStatus</a:t>
            </a:r>
            <a:r>
              <a:rPr lang="en-US" sz="2000" dirty="0">
                <a:latin typeface="Courier New" charset="0"/>
                <a:ea typeface="Courier New" charset="0"/>
                <a:cs typeface="Courier New" charset="0"/>
              </a:rPr>
              <a:t> = ’available’;</a:t>
            </a:r>
          </a:p>
        </p:txBody>
      </p:sp>
      <p:sp>
        <p:nvSpPr>
          <p:cNvPr id="100" name="Rectangle 99"/>
          <p:cNvSpPr/>
          <p:nvPr/>
        </p:nvSpPr>
        <p:spPr>
          <a:xfrm>
            <a:off x="6295809" y="4532279"/>
            <a:ext cx="4970264" cy="1653591"/>
          </a:xfrm>
          <a:prstGeom prst="rect">
            <a:avLst/>
          </a:prstGeom>
        </p:spPr>
        <p:style>
          <a:lnRef idx="1">
            <a:schemeClr val="accent6"/>
          </a:lnRef>
          <a:fillRef idx="3">
            <a:schemeClr val="accent6"/>
          </a:fillRef>
          <a:effectRef idx="2">
            <a:schemeClr val="accent6"/>
          </a:effectRef>
          <a:fontRef idx="minor">
            <a:schemeClr val="lt1"/>
          </a:fontRef>
        </p:style>
        <p:txBody>
          <a:bodyPr rtlCol="0" anchor="t"/>
          <a:lstStyle/>
          <a:p>
            <a:r>
              <a:rPr lang="en-US" sz="2000" dirty="0">
                <a:latin typeface="Courier New" charset="0"/>
                <a:ea typeface="Courier New" charset="0"/>
                <a:cs typeface="Courier New" charset="0"/>
              </a:rPr>
              <a:t>UPDATE Flights</a:t>
            </a:r>
          </a:p>
          <a:p>
            <a:r>
              <a:rPr lang="en-US" sz="2000" dirty="0">
                <a:latin typeface="Courier New" charset="0"/>
                <a:ea typeface="Courier New" charset="0"/>
                <a:cs typeface="Courier New" charset="0"/>
              </a:rPr>
              <a:t>SET    </a:t>
            </a:r>
            <a:r>
              <a:rPr lang="en-US" sz="2000" dirty="0" err="1">
                <a:latin typeface="Courier New" charset="0"/>
                <a:ea typeface="Courier New" charset="0"/>
                <a:cs typeface="Courier New" charset="0"/>
              </a:rPr>
              <a:t>seatStatus</a:t>
            </a:r>
            <a:r>
              <a:rPr lang="en-US" sz="2000" dirty="0">
                <a:latin typeface="Courier New" charset="0"/>
                <a:ea typeface="Courier New" charset="0"/>
                <a:cs typeface="Courier New" charset="0"/>
              </a:rPr>
              <a:t> = ’occupied’</a:t>
            </a:r>
            <a:br>
              <a:rPr lang="en-US" sz="2000" dirty="0">
                <a:latin typeface="Courier New" charset="0"/>
                <a:ea typeface="Courier New" charset="0"/>
                <a:cs typeface="Courier New" charset="0"/>
              </a:rPr>
            </a:br>
            <a:r>
              <a:rPr lang="en-US" sz="2000" dirty="0">
                <a:latin typeface="Courier New" charset="0"/>
                <a:ea typeface="Courier New" charset="0"/>
                <a:cs typeface="Courier New" charset="0"/>
              </a:rPr>
              <a:t>WHERE  </a:t>
            </a:r>
            <a:r>
              <a:rPr lang="en-US" sz="2000" dirty="0" err="1">
                <a:latin typeface="Courier New" charset="0"/>
                <a:ea typeface="Courier New" charset="0"/>
                <a:cs typeface="Courier New" charset="0"/>
              </a:rPr>
              <a:t>flightNo</a:t>
            </a:r>
            <a:r>
              <a:rPr lang="en-US" sz="2000" dirty="0">
                <a:latin typeface="Courier New" charset="0"/>
                <a:ea typeface="Courier New" charset="0"/>
                <a:cs typeface="Courier New" charset="0"/>
              </a:rPr>
              <a:t> = 123 </a:t>
            </a:r>
            <a:br>
              <a:rPr lang="en-US" sz="2000" dirty="0">
                <a:latin typeface="Courier New" charset="0"/>
                <a:ea typeface="Courier New" charset="0"/>
                <a:cs typeface="Courier New" charset="0"/>
              </a:rPr>
            </a:br>
            <a:r>
              <a:rPr lang="en-US" sz="2000" dirty="0">
                <a:latin typeface="Courier New" charset="0"/>
                <a:ea typeface="Courier New" charset="0"/>
                <a:cs typeface="Courier New" charset="0"/>
              </a:rPr>
              <a:t>   AND date = ’2020-10-30’</a:t>
            </a:r>
          </a:p>
          <a:p>
            <a:r>
              <a:rPr lang="en-US" sz="2000" dirty="0">
                <a:latin typeface="Courier New" charset="0"/>
                <a:ea typeface="Courier New" charset="0"/>
                <a:cs typeface="Courier New" charset="0"/>
              </a:rPr>
              <a:t>   AND </a:t>
            </a:r>
            <a:r>
              <a:rPr lang="en-US" sz="2000" dirty="0" err="1">
                <a:latin typeface="Courier New" charset="0"/>
                <a:ea typeface="Courier New" charset="0"/>
                <a:cs typeface="Courier New" charset="0"/>
              </a:rPr>
              <a:t>seatNo</a:t>
            </a:r>
            <a:r>
              <a:rPr lang="en-US" sz="2000" dirty="0">
                <a:latin typeface="Courier New" charset="0"/>
                <a:ea typeface="Courier New" charset="0"/>
                <a:cs typeface="Courier New" charset="0"/>
              </a:rPr>
              <a:t> = ’14B’;</a:t>
            </a:r>
          </a:p>
        </p:txBody>
      </p:sp>
      <p:sp>
        <p:nvSpPr>
          <p:cNvPr id="101" name="TextBox 100"/>
          <p:cNvSpPr txBox="1"/>
          <p:nvPr/>
        </p:nvSpPr>
        <p:spPr>
          <a:xfrm>
            <a:off x="1805770" y="1781481"/>
            <a:ext cx="5509137" cy="461665"/>
          </a:xfrm>
          <a:prstGeom prst="rect">
            <a:avLst/>
          </a:prstGeom>
          <a:noFill/>
        </p:spPr>
        <p:txBody>
          <a:bodyPr wrap="none" rtlCol="0">
            <a:spAutoFit/>
          </a:bodyPr>
          <a:lstStyle/>
          <a:p>
            <a:r>
              <a:rPr lang="en-US" sz="2400" b="1" dirty="0"/>
              <a:t>Flights</a:t>
            </a:r>
            <a:r>
              <a:rPr lang="en-US" sz="2400" dirty="0"/>
              <a:t>(</a:t>
            </a:r>
            <a:r>
              <a:rPr lang="en-US" sz="2400" dirty="0" err="1"/>
              <a:t>flightNo</a:t>
            </a:r>
            <a:r>
              <a:rPr lang="en-US" sz="2400" dirty="0"/>
              <a:t>, date, </a:t>
            </a:r>
            <a:r>
              <a:rPr lang="en-US" sz="2400" dirty="0" err="1"/>
              <a:t>seatNo</a:t>
            </a:r>
            <a:r>
              <a:rPr lang="en-US" sz="2400" dirty="0"/>
              <a:t>, </a:t>
            </a:r>
            <a:r>
              <a:rPr lang="en-US" sz="2400" dirty="0" err="1"/>
              <a:t>seatStatus</a:t>
            </a:r>
            <a:r>
              <a:rPr lang="en-US" sz="2400" dirty="0"/>
              <a:t>)</a:t>
            </a:r>
          </a:p>
        </p:txBody>
      </p:sp>
      <p:grpSp>
        <p:nvGrpSpPr>
          <p:cNvPr id="5" name="Group 4"/>
          <p:cNvGrpSpPr/>
          <p:nvPr/>
        </p:nvGrpSpPr>
        <p:grpSpPr>
          <a:xfrm>
            <a:off x="746975" y="2564180"/>
            <a:ext cx="9697369" cy="369332"/>
            <a:chOff x="457200" y="2132856"/>
            <a:chExt cx="8463143" cy="369332"/>
          </a:xfrm>
        </p:grpSpPr>
        <p:cxnSp>
          <p:nvCxnSpPr>
            <p:cNvPr id="6" name="Straight Arrow Connector 5"/>
            <p:cNvCxnSpPr/>
            <p:nvPr/>
          </p:nvCxnSpPr>
          <p:spPr>
            <a:xfrm>
              <a:off x="457200" y="2324710"/>
              <a:ext cx="78488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8306072" y="2132856"/>
              <a:ext cx="614271" cy="369332"/>
            </a:xfrm>
            <a:prstGeom prst="rect">
              <a:avLst/>
            </a:prstGeom>
            <a:noFill/>
          </p:spPr>
          <p:txBody>
            <a:bodyPr wrap="none" rtlCol="0">
              <a:spAutoFit/>
            </a:bodyPr>
            <a:lstStyle/>
            <a:p>
              <a:r>
                <a:rPr lang="en-US" dirty="0">
                  <a:solidFill>
                    <a:schemeClr val="tx2"/>
                  </a:solidFill>
                </a:rPr>
                <a:t>time</a:t>
              </a:r>
            </a:p>
          </p:txBody>
        </p:sp>
      </p:grpSp>
      <p:grpSp>
        <p:nvGrpSpPr>
          <p:cNvPr id="10" name="Group 9"/>
          <p:cNvGrpSpPr/>
          <p:nvPr/>
        </p:nvGrpSpPr>
        <p:grpSpPr>
          <a:xfrm>
            <a:off x="3074825" y="2680549"/>
            <a:ext cx="2942023" cy="1873895"/>
            <a:chOff x="2812956" y="2249224"/>
            <a:chExt cx="2942023" cy="1873895"/>
          </a:xfrm>
        </p:grpSpPr>
        <p:sp>
          <p:nvSpPr>
            <p:cNvPr id="71" name="TextBox 70"/>
            <p:cNvSpPr txBox="1"/>
            <p:nvPr/>
          </p:nvSpPr>
          <p:spPr>
            <a:xfrm>
              <a:off x="2812956" y="3415233"/>
              <a:ext cx="2942023" cy="707886"/>
            </a:xfrm>
            <a:prstGeom prst="rect">
              <a:avLst/>
            </a:prstGeom>
            <a:noFill/>
          </p:spPr>
          <p:txBody>
            <a:bodyPr wrap="none" rtlCol="0">
              <a:spAutoFit/>
            </a:bodyPr>
            <a:lstStyle/>
            <a:p>
              <a:pPr algn="ctr"/>
              <a:r>
                <a:rPr lang="en-US" sz="2000" dirty="0">
                  <a:solidFill>
                    <a:schemeClr val="accent3">
                      <a:lumMod val="75000"/>
                    </a:schemeClr>
                  </a:solidFill>
                </a:rPr>
                <a:t>Which seats on flight ‘123’</a:t>
              </a:r>
            </a:p>
            <a:p>
              <a:pPr algn="ctr"/>
              <a:r>
                <a:rPr lang="en-US" sz="2000" dirty="0">
                  <a:solidFill>
                    <a:schemeClr val="accent3">
                      <a:lumMod val="75000"/>
                    </a:schemeClr>
                  </a:solidFill>
                </a:rPr>
                <a:t>are still available?</a:t>
              </a:r>
            </a:p>
          </p:txBody>
        </p:sp>
        <p:cxnSp>
          <p:nvCxnSpPr>
            <p:cNvPr id="78" name="Straight Connector 77"/>
            <p:cNvCxnSpPr/>
            <p:nvPr/>
          </p:nvCxnSpPr>
          <p:spPr>
            <a:xfrm flipV="1">
              <a:off x="4283968" y="2402067"/>
              <a:ext cx="0" cy="1074141"/>
            </a:xfrm>
            <a:prstGeom prst="line">
              <a:avLst/>
            </a:prstGeom>
            <a:ln>
              <a:solidFill>
                <a:schemeClr val="accent3">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283968" y="2249224"/>
              <a:ext cx="0" cy="144016"/>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5" name="Group 14"/>
          <p:cNvGrpSpPr/>
          <p:nvPr/>
        </p:nvGrpSpPr>
        <p:grpSpPr>
          <a:xfrm>
            <a:off x="8142899" y="2676838"/>
            <a:ext cx="1790170" cy="1630804"/>
            <a:chOff x="6618899" y="2245514"/>
            <a:chExt cx="1790170" cy="1630804"/>
          </a:xfrm>
        </p:grpSpPr>
        <p:sp>
          <p:nvSpPr>
            <p:cNvPr id="51" name="TextBox 50"/>
            <p:cNvSpPr txBox="1"/>
            <p:nvPr/>
          </p:nvSpPr>
          <p:spPr>
            <a:xfrm>
              <a:off x="6618899" y="3476208"/>
              <a:ext cx="1790170" cy="400110"/>
            </a:xfrm>
            <a:prstGeom prst="rect">
              <a:avLst/>
            </a:prstGeom>
            <a:noFill/>
          </p:spPr>
          <p:txBody>
            <a:bodyPr wrap="none" rtlCol="0">
              <a:spAutoFit/>
            </a:bodyPr>
            <a:lstStyle/>
            <a:p>
              <a:pPr algn="ctr"/>
              <a:r>
                <a:rPr lang="en-US" sz="2000" dirty="0">
                  <a:solidFill>
                    <a:schemeClr val="accent6"/>
                  </a:solidFill>
                </a:rPr>
                <a:t>Book seat ‘14B’</a:t>
              </a:r>
            </a:p>
          </p:txBody>
        </p:sp>
        <p:cxnSp>
          <p:nvCxnSpPr>
            <p:cNvPr id="92" name="Straight Connector 91"/>
            <p:cNvCxnSpPr>
              <a:endCxn id="51" idx="0"/>
            </p:cNvCxnSpPr>
            <p:nvPr/>
          </p:nvCxnSpPr>
          <p:spPr>
            <a:xfrm>
              <a:off x="7513984" y="2402067"/>
              <a:ext cx="0" cy="1074141"/>
            </a:xfrm>
            <a:prstGeom prst="line">
              <a:avLst/>
            </a:prstGeom>
            <a:ln>
              <a:solidFill>
                <a:schemeClr val="accent6"/>
              </a:solidFill>
              <a:prstDash val="sysDash"/>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7513984" y="2245514"/>
              <a:ext cx="0" cy="144016"/>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9" name="Group 8"/>
          <p:cNvGrpSpPr/>
          <p:nvPr/>
        </p:nvGrpSpPr>
        <p:grpSpPr>
          <a:xfrm>
            <a:off x="6990771" y="2680548"/>
            <a:ext cx="1790170" cy="787798"/>
            <a:chOff x="5466771" y="2249224"/>
            <a:chExt cx="1790170" cy="787798"/>
          </a:xfrm>
        </p:grpSpPr>
        <p:sp>
          <p:nvSpPr>
            <p:cNvPr id="52" name="TextBox 51"/>
            <p:cNvSpPr txBox="1"/>
            <p:nvPr/>
          </p:nvSpPr>
          <p:spPr>
            <a:xfrm>
              <a:off x="5466771" y="2636912"/>
              <a:ext cx="1790170" cy="400110"/>
            </a:xfrm>
            <a:prstGeom prst="rect">
              <a:avLst/>
            </a:prstGeom>
            <a:noFill/>
          </p:spPr>
          <p:txBody>
            <a:bodyPr wrap="none" rtlCol="0">
              <a:spAutoFit/>
            </a:bodyPr>
            <a:lstStyle/>
            <a:p>
              <a:pPr algn="ctr"/>
              <a:r>
                <a:rPr lang="en-US" sz="2000" dirty="0">
                  <a:solidFill>
                    <a:schemeClr val="accent6"/>
                  </a:solidFill>
                </a:rPr>
                <a:t>Book seat ‘14B’</a:t>
              </a:r>
            </a:p>
          </p:txBody>
        </p:sp>
        <p:cxnSp>
          <p:nvCxnSpPr>
            <p:cNvPr id="13" name="Straight Connector 12"/>
            <p:cNvCxnSpPr/>
            <p:nvPr/>
          </p:nvCxnSpPr>
          <p:spPr>
            <a:xfrm>
              <a:off x="6361856" y="2249224"/>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a:endCxn id="52" idx="0"/>
            </p:cNvCxnSpPr>
            <p:nvPr/>
          </p:nvCxnSpPr>
          <p:spPr>
            <a:xfrm>
              <a:off x="6361856" y="2389530"/>
              <a:ext cx="0" cy="247382"/>
            </a:xfrm>
            <a:prstGeom prst="line">
              <a:avLst/>
            </a:prstGeom>
            <a:ln>
              <a:solidFill>
                <a:schemeClr val="accent6"/>
              </a:solidFill>
              <a:prstDash val="sysDash"/>
            </a:ln>
          </p:spPr>
          <p:style>
            <a:lnRef idx="1">
              <a:schemeClr val="accent1"/>
            </a:lnRef>
            <a:fillRef idx="0">
              <a:schemeClr val="accent1"/>
            </a:fillRef>
            <a:effectRef idx="0">
              <a:schemeClr val="accent1"/>
            </a:effectRef>
            <a:fontRef idx="minor">
              <a:schemeClr val="tx1"/>
            </a:fontRef>
          </p:style>
        </p:cxnSp>
      </p:grpSp>
      <p:grpSp>
        <p:nvGrpSpPr>
          <p:cNvPr id="8" name="Group 7"/>
          <p:cNvGrpSpPr/>
          <p:nvPr/>
        </p:nvGrpSpPr>
        <p:grpSpPr>
          <a:xfrm>
            <a:off x="1555047" y="2689376"/>
            <a:ext cx="2942023" cy="1098941"/>
            <a:chOff x="1228780" y="2258051"/>
            <a:chExt cx="2942023" cy="1098941"/>
          </a:xfrm>
        </p:grpSpPr>
        <p:sp>
          <p:nvSpPr>
            <p:cNvPr id="29" name="TextBox 28"/>
            <p:cNvSpPr txBox="1"/>
            <p:nvPr/>
          </p:nvSpPr>
          <p:spPr>
            <a:xfrm>
              <a:off x="1228780" y="2649106"/>
              <a:ext cx="2942023" cy="707886"/>
            </a:xfrm>
            <a:prstGeom prst="rect">
              <a:avLst/>
            </a:prstGeom>
            <a:noFill/>
          </p:spPr>
          <p:txBody>
            <a:bodyPr wrap="none" rtlCol="0">
              <a:spAutoFit/>
            </a:bodyPr>
            <a:lstStyle/>
            <a:p>
              <a:pPr algn="ctr"/>
              <a:r>
                <a:rPr lang="en-US" sz="2000" dirty="0">
                  <a:solidFill>
                    <a:schemeClr val="accent3">
                      <a:lumMod val="75000"/>
                    </a:schemeClr>
                  </a:solidFill>
                </a:rPr>
                <a:t>Which seats on flight ‘123’</a:t>
              </a:r>
            </a:p>
            <a:p>
              <a:pPr algn="ctr"/>
              <a:r>
                <a:rPr lang="en-US" sz="2000" dirty="0">
                  <a:solidFill>
                    <a:schemeClr val="accent3">
                      <a:lumMod val="75000"/>
                    </a:schemeClr>
                  </a:solidFill>
                </a:rPr>
                <a:t>are still available?</a:t>
              </a:r>
            </a:p>
          </p:txBody>
        </p:sp>
        <p:cxnSp>
          <p:nvCxnSpPr>
            <p:cNvPr id="11" name="Straight Connector 10"/>
            <p:cNvCxnSpPr/>
            <p:nvPr/>
          </p:nvCxnSpPr>
          <p:spPr>
            <a:xfrm>
              <a:off x="2699792" y="2258051"/>
              <a:ext cx="0" cy="14401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29" idx="0"/>
            </p:cNvCxnSpPr>
            <p:nvPr/>
          </p:nvCxnSpPr>
          <p:spPr>
            <a:xfrm flipV="1">
              <a:off x="2699792" y="2353682"/>
              <a:ext cx="0" cy="295424"/>
            </a:xfrm>
            <a:prstGeom prst="line">
              <a:avLst/>
            </a:prstGeom>
            <a:ln>
              <a:solidFill>
                <a:schemeClr val="accent3">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sp>
        <p:nvSpPr>
          <p:cNvPr id="106" name="Rounded Rectangular Callout 105"/>
          <p:cNvSpPr/>
          <p:nvPr/>
        </p:nvSpPr>
        <p:spPr>
          <a:xfrm>
            <a:off x="7298794" y="1477769"/>
            <a:ext cx="3165363" cy="866888"/>
          </a:xfrm>
          <a:prstGeom prst="wedgeRoundRectCallout">
            <a:avLst>
              <a:gd name="adj1" fmla="val 5814"/>
              <a:gd name="adj2" fmla="val 88796"/>
              <a:gd name="adj3" fmla="val 1666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dirty="0"/>
              <a:t>Might lead to an</a:t>
            </a:r>
            <a:br>
              <a:rPr lang="en-US" sz="2400" dirty="0"/>
            </a:br>
            <a:r>
              <a:rPr lang="en-US" sz="2400" dirty="0"/>
              <a:t>inconsistent database</a:t>
            </a:r>
          </a:p>
        </p:txBody>
      </p:sp>
    </p:spTree>
    <p:extLst>
      <p:ext uri="{BB962C8B-B14F-4D97-AF65-F5344CB8AC3E}">
        <p14:creationId xmlns:p14="http://schemas.microsoft.com/office/powerpoint/2010/main" val="525465129"/>
      </p:ext>
    </p:extLst>
  </p:cSld>
  <p:clrMapOvr>
    <a:masterClrMapping/>
  </p:clrMapOvr>
  <mc:AlternateContent xmlns:mc="http://schemas.openxmlformats.org/markup-compatibility/2006" xmlns:p14="http://schemas.microsoft.com/office/powerpoint/2010/main">
    <mc:Choice Requires="p14">
      <p:transition spd="slow" p14:dur="2000" advTm="47220"/>
    </mc:Choice>
    <mc:Fallback xmlns="">
      <p:transition spd="slow" advTm="4722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8F41D-0E4F-438F-93C7-1A6663F27325}"/>
              </a:ext>
            </a:extLst>
          </p:cNvPr>
          <p:cNvSpPr>
            <a:spLocks noGrp="1"/>
          </p:cNvSpPr>
          <p:nvPr>
            <p:ph type="title"/>
          </p:nvPr>
        </p:nvSpPr>
        <p:spPr/>
        <p:txBody>
          <a:bodyPr/>
          <a:lstStyle/>
          <a:p>
            <a:r>
              <a:rPr lang="en-US" dirty="0"/>
              <a:t>What are the problems?</a:t>
            </a:r>
            <a:endParaRPr lang="en-GB" dirty="0"/>
          </a:p>
        </p:txBody>
      </p:sp>
      <p:sp>
        <p:nvSpPr>
          <p:cNvPr id="3" name="Content Placeholder 2">
            <a:extLst>
              <a:ext uri="{FF2B5EF4-FFF2-40B4-BE49-F238E27FC236}">
                <a16:creationId xmlns:a16="http://schemas.microsoft.com/office/drawing/2014/main" id="{160551DE-640A-4A75-9EE9-A2B22318018A}"/>
              </a:ext>
            </a:extLst>
          </p:cNvPr>
          <p:cNvSpPr>
            <a:spLocks noGrp="1"/>
          </p:cNvSpPr>
          <p:nvPr>
            <p:ph idx="1"/>
          </p:nvPr>
        </p:nvSpPr>
        <p:spPr/>
        <p:txBody>
          <a:bodyPr/>
          <a:lstStyle/>
          <a:p>
            <a:r>
              <a:rPr lang="en-US" dirty="0"/>
              <a:t>There is an issue with how the two transactions interact</a:t>
            </a:r>
          </a:p>
          <a:p>
            <a:pPr lvl="1"/>
            <a:r>
              <a:rPr lang="en-US" dirty="0"/>
              <a:t>Specifically, the two transactions are not </a:t>
            </a:r>
            <a:r>
              <a:rPr lang="en-US" b="1" dirty="0"/>
              <a:t>isolated</a:t>
            </a:r>
            <a:r>
              <a:rPr lang="en-US" dirty="0"/>
              <a:t> from each other</a:t>
            </a:r>
          </a:p>
          <a:p>
            <a:pPr lvl="1"/>
            <a:r>
              <a:rPr lang="en-US" dirty="0"/>
              <a:t>Alternately, the outcome is not </a:t>
            </a:r>
            <a:r>
              <a:rPr lang="en-US" b="1" dirty="0"/>
              <a:t>consistent</a:t>
            </a:r>
            <a:r>
              <a:rPr lang="en-US" dirty="0"/>
              <a:t> with the real world</a:t>
            </a:r>
          </a:p>
          <a:p>
            <a:r>
              <a:rPr lang="en-US" dirty="0"/>
              <a:t>What could we do to solve it?</a:t>
            </a:r>
          </a:p>
          <a:p>
            <a:pPr lvl="1"/>
            <a:r>
              <a:rPr lang="en-US" dirty="0"/>
              <a:t>We could just undo the second transaction when it tries to do the second operation</a:t>
            </a:r>
          </a:p>
          <a:p>
            <a:pPr lvl="1"/>
            <a:endParaRPr lang="en-US" dirty="0"/>
          </a:p>
          <a:p>
            <a:pPr lvl="1"/>
            <a:endParaRPr lang="en-US" dirty="0"/>
          </a:p>
          <a:p>
            <a:pPr lvl="1"/>
            <a:endParaRPr lang="en-GB" dirty="0"/>
          </a:p>
        </p:txBody>
      </p:sp>
      <p:sp>
        <p:nvSpPr>
          <p:cNvPr id="4" name="Slide Number Placeholder 3">
            <a:extLst>
              <a:ext uri="{FF2B5EF4-FFF2-40B4-BE49-F238E27FC236}">
                <a16:creationId xmlns:a16="http://schemas.microsoft.com/office/drawing/2014/main" id="{34F82D93-7783-47BB-9E42-FF3F4AA0B255}"/>
              </a:ext>
            </a:extLst>
          </p:cNvPr>
          <p:cNvSpPr>
            <a:spLocks noGrp="1"/>
          </p:cNvSpPr>
          <p:nvPr>
            <p:ph type="sldNum" sz="quarter" idx="12"/>
          </p:nvPr>
        </p:nvSpPr>
        <p:spPr>
          <a:xfrm>
            <a:off x="9900458" y="6459785"/>
            <a:ext cx="1312025" cy="365125"/>
          </a:xfrm>
        </p:spPr>
        <p:txBody>
          <a:bodyPr/>
          <a:lstStyle/>
          <a:p>
            <a:fld id="{C260D5AD-280D-4F23-8F09-5CDE2943111F}" type="slidenum">
              <a:rPr lang="en-GB" smtClean="0"/>
              <a:pPr/>
              <a:t>4</a:t>
            </a:fld>
            <a:endParaRPr lang="en-GB"/>
          </a:p>
        </p:txBody>
      </p:sp>
    </p:spTree>
    <p:custDataLst>
      <p:tags r:id="rId1"/>
    </p:custDataLst>
    <p:extLst>
      <p:ext uri="{BB962C8B-B14F-4D97-AF65-F5344CB8AC3E}">
        <p14:creationId xmlns:p14="http://schemas.microsoft.com/office/powerpoint/2010/main" val="2483863146"/>
      </p:ext>
    </p:extLst>
  </p:cSld>
  <p:clrMapOvr>
    <a:masterClrMapping/>
  </p:clrMapOvr>
  <mc:AlternateContent xmlns:mc="http://schemas.openxmlformats.org/markup-compatibility/2006" xmlns:p14="http://schemas.microsoft.com/office/powerpoint/2010/main">
    <mc:Choice Requires="p14">
      <p:transition spd="slow" p14:dur="2000" advTm="60707"/>
    </mc:Choice>
    <mc:Fallback xmlns="">
      <p:transition spd="slow" advTm="6070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Problem 2: Partial Execution</a:t>
            </a:r>
            <a:br>
              <a:rPr lang="en-US" dirty="0"/>
            </a:br>
            <a:r>
              <a:rPr lang="en-US" sz="2400" dirty="0"/>
              <a:t>(from the introduction to transactions video)</a:t>
            </a:r>
          </a:p>
        </p:txBody>
      </p:sp>
      <p:sp>
        <p:nvSpPr>
          <p:cNvPr id="4" name="Slide Number Placeholder 3"/>
          <p:cNvSpPr>
            <a:spLocks noGrp="1"/>
          </p:cNvSpPr>
          <p:nvPr>
            <p:ph type="sldNum" sz="quarter" idx="12"/>
          </p:nvPr>
        </p:nvSpPr>
        <p:spPr/>
        <p:txBody>
          <a:bodyPr/>
          <a:lstStyle/>
          <a:p>
            <a:fld id="{C260D5AD-280D-4F23-8F09-5CDE2943111F}" type="slidenum">
              <a:rPr lang="en-GB" smtClean="0"/>
              <a:pPr/>
              <a:t>5</a:t>
            </a:fld>
            <a:endParaRPr lang="en-GB"/>
          </a:p>
        </p:txBody>
      </p:sp>
      <p:sp>
        <p:nvSpPr>
          <p:cNvPr id="5" name="TextBox 4"/>
          <p:cNvSpPr txBox="1"/>
          <p:nvPr/>
        </p:nvSpPr>
        <p:spPr>
          <a:xfrm>
            <a:off x="1917300" y="1713611"/>
            <a:ext cx="5957528" cy="461665"/>
          </a:xfrm>
          <a:prstGeom prst="rect">
            <a:avLst/>
          </a:prstGeom>
          <a:noFill/>
        </p:spPr>
        <p:txBody>
          <a:bodyPr wrap="none" rtlCol="0">
            <a:spAutoFit/>
          </a:bodyPr>
          <a:lstStyle/>
          <a:p>
            <a:r>
              <a:rPr lang="en-US" sz="2400" b="1" dirty="0"/>
              <a:t>Accounts</a:t>
            </a:r>
            <a:r>
              <a:rPr lang="en-US" sz="2400" dirty="0"/>
              <a:t>(</a:t>
            </a:r>
            <a:r>
              <a:rPr lang="en-US" sz="2400" dirty="0" err="1"/>
              <a:t>accountNo</a:t>
            </a:r>
            <a:r>
              <a:rPr lang="en-US" sz="2400" dirty="0"/>
              <a:t>, </a:t>
            </a:r>
            <a:r>
              <a:rPr lang="en-US" sz="2400" dirty="0" err="1"/>
              <a:t>accountHolder</a:t>
            </a:r>
            <a:r>
              <a:rPr lang="en-US" sz="2400" dirty="0"/>
              <a:t>, balance)</a:t>
            </a:r>
          </a:p>
        </p:txBody>
      </p:sp>
      <p:cxnSp>
        <p:nvCxnSpPr>
          <p:cNvPr id="7" name="Straight Arrow Connector 6"/>
          <p:cNvCxnSpPr/>
          <p:nvPr/>
        </p:nvCxnSpPr>
        <p:spPr>
          <a:xfrm>
            <a:off x="1981200" y="2805048"/>
            <a:ext cx="78488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9830073" y="2613194"/>
            <a:ext cx="614271" cy="369332"/>
          </a:xfrm>
          <a:prstGeom prst="rect">
            <a:avLst/>
          </a:prstGeom>
          <a:noFill/>
        </p:spPr>
        <p:txBody>
          <a:bodyPr wrap="none" rtlCol="0">
            <a:spAutoFit/>
          </a:bodyPr>
          <a:lstStyle/>
          <a:p>
            <a:r>
              <a:rPr lang="en-US" dirty="0">
                <a:solidFill>
                  <a:schemeClr val="tx2"/>
                </a:solidFill>
              </a:rPr>
              <a:t>time</a:t>
            </a:r>
          </a:p>
        </p:txBody>
      </p:sp>
      <p:cxnSp>
        <p:nvCxnSpPr>
          <p:cNvPr id="9" name="Straight Connector 8"/>
          <p:cNvCxnSpPr/>
          <p:nvPr/>
        </p:nvCxnSpPr>
        <p:spPr>
          <a:xfrm>
            <a:off x="4223792" y="2738389"/>
            <a:ext cx="0" cy="14401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765033" y="3129444"/>
            <a:ext cx="2917530" cy="400110"/>
          </a:xfrm>
          <a:prstGeom prst="rect">
            <a:avLst/>
          </a:prstGeom>
          <a:noFill/>
        </p:spPr>
        <p:txBody>
          <a:bodyPr wrap="none" rtlCol="0">
            <a:spAutoFit/>
          </a:bodyPr>
          <a:lstStyle/>
          <a:p>
            <a:pPr algn="ctr"/>
            <a:r>
              <a:rPr lang="en-US" sz="2000" dirty="0">
                <a:solidFill>
                  <a:schemeClr val="accent3">
                    <a:lumMod val="75000"/>
                  </a:schemeClr>
                </a:solidFill>
              </a:rPr>
              <a:t>Add £100 to account ’456’</a:t>
            </a:r>
          </a:p>
        </p:txBody>
      </p:sp>
      <p:sp>
        <p:nvSpPr>
          <p:cNvPr id="14" name="Rectangle 13"/>
          <p:cNvSpPr/>
          <p:nvPr/>
        </p:nvSpPr>
        <p:spPr>
          <a:xfrm>
            <a:off x="243928" y="4150720"/>
            <a:ext cx="5112568" cy="1064010"/>
          </a:xfrm>
          <a:prstGeom prst="rect">
            <a:avLst/>
          </a:prstGeom>
        </p:spPr>
        <p:style>
          <a:lnRef idx="1">
            <a:schemeClr val="accent3"/>
          </a:lnRef>
          <a:fillRef idx="3">
            <a:schemeClr val="accent3"/>
          </a:fillRef>
          <a:effectRef idx="2">
            <a:schemeClr val="accent3"/>
          </a:effectRef>
          <a:fontRef idx="minor">
            <a:schemeClr val="lt1"/>
          </a:fontRef>
        </p:style>
        <p:txBody>
          <a:bodyPr rtlCol="0" anchor="t"/>
          <a:lstStyle/>
          <a:p>
            <a:r>
              <a:rPr lang="en-US" sz="2000" dirty="0">
                <a:latin typeface="Courier New" charset="0"/>
                <a:ea typeface="Courier New" charset="0"/>
                <a:cs typeface="Courier New" charset="0"/>
              </a:rPr>
              <a:t>UPDATE Accounts</a:t>
            </a:r>
          </a:p>
          <a:p>
            <a:r>
              <a:rPr lang="en-US" sz="2000" dirty="0">
                <a:latin typeface="Courier New" charset="0"/>
                <a:ea typeface="Courier New" charset="0"/>
                <a:cs typeface="Courier New" charset="0"/>
              </a:rPr>
              <a:t>SET    balance = balance + 100</a:t>
            </a:r>
          </a:p>
          <a:p>
            <a:r>
              <a:rPr lang="en-US" sz="2000" dirty="0">
                <a:latin typeface="Courier New" charset="0"/>
                <a:ea typeface="Courier New" charset="0"/>
                <a:cs typeface="Courier New" charset="0"/>
              </a:rPr>
              <a:t>WHERE  </a:t>
            </a:r>
            <a:r>
              <a:rPr lang="en-US" sz="2000" dirty="0" err="1">
                <a:latin typeface="Courier New" charset="0"/>
                <a:ea typeface="Courier New" charset="0"/>
                <a:cs typeface="Courier New" charset="0"/>
              </a:rPr>
              <a:t>accountNo</a:t>
            </a:r>
            <a:r>
              <a:rPr lang="en-US" sz="2000" dirty="0">
                <a:latin typeface="Courier New" charset="0"/>
                <a:ea typeface="Courier New" charset="0"/>
                <a:cs typeface="Courier New" charset="0"/>
              </a:rPr>
              <a:t> = 456;</a:t>
            </a:r>
          </a:p>
        </p:txBody>
      </p:sp>
      <p:cxnSp>
        <p:nvCxnSpPr>
          <p:cNvPr id="15" name="Straight Connector 14"/>
          <p:cNvCxnSpPr/>
          <p:nvPr/>
        </p:nvCxnSpPr>
        <p:spPr>
          <a:xfrm flipV="1">
            <a:off x="4223792" y="2834020"/>
            <a:ext cx="0" cy="295424"/>
          </a:xfrm>
          <a:prstGeom prst="line">
            <a:avLst/>
          </a:prstGeom>
          <a:ln>
            <a:solidFill>
              <a:schemeClr val="accent3">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4212456" y="4948933"/>
            <a:ext cx="4970264" cy="1087741"/>
          </a:xfrm>
          <a:prstGeom prst="rect">
            <a:avLst/>
          </a:prstGeom>
        </p:spPr>
        <p:style>
          <a:lnRef idx="1">
            <a:schemeClr val="accent6"/>
          </a:lnRef>
          <a:fillRef idx="3">
            <a:schemeClr val="accent6"/>
          </a:fillRef>
          <a:effectRef idx="2">
            <a:schemeClr val="accent6"/>
          </a:effectRef>
          <a:fontRef idx="minor">
            <a:schemeClr val="lt1"/>
          </a:fontRef>
        </p:style>
        <p:txBody>
          <a:bodyPr rtlCol="0" anchor="t"/>
          <a:lstStyle/>
          <a:p>
            <a:r>
              <a:rPr lang="en-US" sz="2000" dirty="0">
                <a:latin typeface="Courier New" charset="0"/>
                <a:ea typeface="Courier New" charset="0"/>
                <a:cs typeface="Courier New" charset="0"/>
              </a:rPr>
              <a:t>UPDATE Accounts</a:t>
            </a:r>
          </a:p>
          <a:p>
            <a:r>
              <a:rPr lang="en-US" sz="2000" dirty="0">
                <a:latin typeface="Courier New" charset="0"/>
                <a:ea typeface="Courier New" charset="0"/>
                <a:cs typeface="Courier New" charset="0"/>
              </a:rPr>
              <a:t>SET    balance = balance - 100</a:t>
            </a:r>
            <a:br>
              <a:rPr lang="en-US" sz="2000" dirty="0">
                <a:latin typeface="Courier New" charset="0"/>
                <a:ea typeface="Courier New" charset="0"/>
                <a:cs typeface="Courier New" charset="0"/>
              </a:rPr>
            </a:br>
            <a:r>
              <a:rPr lang="en-US" sz="2000" dirty="0">
                <a:latin typeface="Courier New" charset="0"/>
                <a:ea typeface="Courier New" charset="0"/>
                <a:cs typeface="Courier New" charset="0"/>
              </a:rPr>
              <a:t>WHERE  </a:t>
            </a:r>
            <a:r>
              <a:rPr lang="en-US" sz="2000" dirty="0" err="1">
                <a:latin typeface="Courier New" charset="0"/>
                <a:ea typeface="Courier New" charset="0"/>
                <a:cs typeface="Courier New" charset="0"/>
              </a:rPr>
              <a:t>acountNo</a:t>
            </a:r>
            <a:r>
              <a:rPr lang="en-US" sz="2000" dirty="0">
                <a:latin typeface="Courier New" charset="0"/>
                <a:ea typeface="Courier New" charset="0"/>
                <a:cs typeface="Courier New" charset="0"/>
              </a:rPr>
              <a:t> = 123;</a:t>
            </a:r>
          </a:p>
        </p:txBody>
      </p:sp>
      <p:grpSp>
        <p:nvGrpSpPr>
          <p:cNvPr id="27" name="Group 26"/>
          <p:cNvGrpSpPr/>
          <p:nvPr/>
        </p:nvGrpSpPr>
        <p:grpSpPr>
          <a:xfrm>
            <a:off x="6055170" y="2729562"/>
            <a:ext cx="3661387" cy="787798"/>
            <a:chOff x="4531169" y="2729562"/>
            <a:chExt cx="3661387" cy="787798"/>
          </a:xfrm>
        </p:grpSpPr>
        <p:cxnSp>
          <p:nvCxnSpPr>
            <p:cNvPr id="11" name="Straight Connector 10"/>
            <p:cNvCxnSpPr/>
            <p:nvPr/>
          </p:nvCxnSpPr>
          <p:spPr>
            <a:xfrm>
              <a:off x="6361856" y="2729562"/>
              <a:ext cx="0" cy="144016"/>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531169" y="3117250"/>
              <a:ext cx="3661387" cy="400110"/>
            </a:xfrm>
            <a:prstGeom prst="rect">
              <a:avLst/>
            </a:prstGeom>
            <a:noFill/>
          </p:spPr>
          <p:txBody>
            <a:bodyPr wrap="none" rtlCol="0">
              <a:spAutoFit/>
            </a:bodyPr>
            <a:lstStyle/>
            <a:p>
              <a:pPr algn="ctr"/>
              <a:r>
                <a:rPr lang="en-US" sz="2000" dirty="0">
                  <a:solidFill>
                    <a:schemeClr val="accent6"/>
                  </a:solidFill>
                </a:rPr>
                <a:t>Subtract £100 from account ‘123’</a:t>
              </a:r>
            </a:p>
          </p:txBody>
        </p:sp>
        <p:cxnSp>
          <p:nvCxnSpPr>
            <p:cNvPr id="18" name="Straight Connector 17"/>
            <p:cNvCxnSpPr/>
            <p:nvPr/>
          </p:nvCxnSpPr>
          <p:spPr>
            <a:xfrm>
              <a:off x="6361856" y="2882405"/>
              <a:ext cx="0" cy="234845"/>
            </a:xfrm>
            <a:prstGeom prst="line">
              <a:avLst/>
            </a:prstGeom>
            <a:ln>
              <a:solidFill>
                <a:schemeClr val="accent6"/>
              </a:solidFill>
              <a:prstDash val="sysDash"/>
            </a:ln>
          </p:spPr>
          <p:style>
            <a:lnRef idx="1">
              <a:schemeClr val="accent1"/>
            </a:lnRef>
            <a:fillRef idx="0">
              <a:schemeClr val="accent1"/>
            </a:fillRef>
            <a:effectRef idx="0">
              <a:schemeClr val="accent1"/>
            </a:effectRef>
            <a:fontRef idx="minor">
              <a:schemeClr val="tx1"/>
            </a:fontRef>
          </p:style>
        </p:cxnSp>
      </p:grpSp>
      <p:sp>
        <p:nvSpPr>
          <p:cNvPr id="19" name="TextBox 18"/>
          <p:cNvSpPr txBox="1"/>
          <p:nvPr/>
        </p:nvSpPr>
        <p:spPr>
          <a:xfrm>
            <a:off x="1917300" y="2145341"/>
            <a:ext cx="5968557" cy="400110"/>
          </a:xfrm>
          <a:prstGeom prst="rect">
            <a:avLst/>
          </a:prstGeom>
          <a:noFill/>
        </p:spPr>
        <p:txBody>
          <a:bodyPr wrap="none" rtlCol="0">
            <a:spAutoFit/>
          </a:bodyPr>
          <a:lstStyle/>
          <a:p>
            <a:r>
              <a:rPr lang="en-US" sz="2000" dirty="0">
                <a:solidFill>
                  <a:schemeClr val="tx2"/>
                </a:solidFill>
              </a:rPr>
              <a:t>Goal: Transfer £100 from account ‘123’ to account ‘456’</a:t>
            </a:r>
          </a:p>
        </p:txBody>
      </p:sp>
      <p:grpSp>
        <p:nvGrpSpPr>
          <p:cNvPr id="28" name="Group 27"/>
          <p:cNvGrpSpPr/>
          <p:nvPr/>
        </p:nvGrpSpPr>
        <p:grpSpPr>
          <a:xfrm>
            <a:off x="5356496" y="2564905"/>
            <a:ext cx="895478" cy="1688911"/>
            <a:chOff x="3832496" y="2564904"/>
            <a:chExt cx="895478" cy="1688911"/>
          </a:xfrm>
        </p:grpSpPr>
        <p:sp>
          <p:nvSpPr>
            <p:cNvPr id="20" name="Lightning Bolt 19"/>
            <p:cNvSpPr/>
            <p:nvPr/>
          </p:nvSpPr>
          <p:spPr>
            <a:xfrm>
              <a:off x="3832496" y="2564904"/>
              <a:ext cx="652111" cy="652111"/>
            </a:xfrm>
            <a:prstGeom prst="lightningBolt">
              <a:avLst/>
            </a:prstGeom>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cxnSp>
          <p:nvCxnSpPr>
            <p:cNvPr id="22" name="Straight Connector 21"/>
            <p:cNvCxnSpPr/>
            <p:nvPr/>
          </p:nvCxnSpPr>
          <p:spPr>
            <a:xfrm>
              <a:off x="4283968" y="3217015"/>
              <a:ext cx="0" cy="628955"/>
            </a:xfrm>
            <a:prstGeom prst="line">
              <a:avLst/>
            </a:prstGeom>
            <a:ln>
              <a:prstDash val="sysDash"/>
            </a:ln>
          </p:spPr>
          <p:style>
            <a:lnRef idx="1">
              <a:schemeClr val="accent2"/>
            </a:lnRef>
            <a:fillRef idx="0">
              <a:schemeClr val="accent2"/>
            </a:fillRef>
            <a:effectRef idx="0">
              <a:schemeClr val="accent2"/>
            </a:effectRef>
            <a:fontRef idx="minor">
              <a:schemeClr val="tx1"/>
            </a:fontRef>
          </p:style>
        </p:cxnSp>
        <p:sp>
          <p:nvSpPr>
            <p:cNvPr id="24" name="TextBox 23"/>
            <p:cNvSpPr txBox="1"/>
            <p:nvPr/>
          </p:nvSpPr>
          <p:spPr>
            <a:xfrm>
              <a:off x="3839974" y="3853705"/>
              <a:ext cx="888000" cy="400110"/>
            </a:xfrm>
            <a:prstGeom prst="rect">
              <a:avLst/>
            </a:prstGeom>
            <a:noFill/>
          </p:spPr>
          <p:txBody>
            <a:bodyPr wrap="none" rtlCol="0">
              <a:spAutoFit/>
            </a:bodyPr>
            <a:lstStyle/>
            <a:p>
              <a:pPr algn="ctr"/>
              <a:r>
                <a:rPr lang="en-US" sz="2000" dirty="0">
                  <a:solidFill>
                    <a:schemeClr val="accent2"/>
                  </a:solidFill>
                </a:rPr>
                <a:t>Failure</a:t>
              </a:r>
            </a:p>
          </p:txBody>
        </p:sp>
      </p:grpSp>
      <p:sp>
        <p:nvSpPr>
          <p:cNvPr id="26" name="Rounded Rectangular Callout 25"/>
          <p:cNvSpPr/>
          <p:nvPr/>
        </p:nvSpPr>
        <p:spPr>
          <a:xfrm>
            <a:off x="6697588" y="3676240"/>
            <a:ext cx="2796109" cy="792240"/>
          </a:xfrm>
          <a:prstGeom prst="wedgeRoundRectCallout">
            <a:avLst>
              <a:gd name="adj1" fmla="val -67872"/>
              <a:gd name="adj2" fmla="val -5579"/>
              <a:gd name="adj3" fmla="val 1666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dirty="0"/>
              <a:t>Leaves database in</a:t>
            </a:r>
            <a:br>
              <a:rPr lang="en-US" sz="2400" dirty="0"/>
            </a:br>
            <a:r>
              <a:rPr lang="en-US" sz="2400" dirty="0"/>
              <a:t>unacceptable state</a:t>
            </a:r>
          </a:p>
        </p:txBody>
      </p:sp>
      <p:grpSp>
        <p:nvGrpSpPr>
          <p:cNvPr id="23" name="Group 22"/>
          <p:cNvGrpSpPr/>
          <p:nvPr/>
        </p:nvGrpSpPr>
        <p:grpSpPr>
          <a:xfrm>
            <a:off x="7393980" y="2525358"/>
            <a:ext cx="995714" cy="1004196"/>
            <a:chOff x="6922443" y="2636912"/>
            <a:chExt cx="1198419" cy="1208628"/>
          </a:xfrm>
        </p:grpSpPr>
        <p:cxnSp>
          <p:nvCxnSpPr>
            <p:cNvPr id="25" name="Straight Connector 24"/>
            <p:cNvCxnSpPr/>
            <p:nvPr/>
          </p:nvCxnSpPr>
          <p:spPr>
            <a:xfrm flipH="1">
              <a:off x="6937781" y="2636912"/>
              <a:ext cx="1183081" cy="1208628"/>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29" name="Straight Connector 28"/>
            <p:cNvCxnSpPr/>
            <p:nvPr/>
          </p:nvCxnSpPr>
          <p:spPr>
            <a:xfrm>
              <a:off x="6922443" y="2636912"/>
              <a:ext cx="1183081" cy="1208628"/>
            </a:xfrm>
            <a:prstGeom prst="line">
              <a:avLst/>
            </a:prstGeom>
            <a:ln w="19050"/>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334788876"/>
      </p:ext>
    </p:extLst>
  </p:cSld>
  <p:clrMapOvr>
    <a:masterClrMapping/>
  </p:clrMapOvr>
  <mc:AlternateContent xmlns:mc="http://schemas.openxmlformats.org/markup-compatibility/2006" xmlns:p14="http://schemas.microsoft.com/office/powerpoint/2010/main">
    <mc:Choice Requires="p14">
      <p:transition spd="slow" p14:dur="2000" advTm="37324"/>
    </mc:Choice>
    <mc:Fallback xmlns="">
      <p:transition spd="slow" advTm="37324"/>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8F41D-0E4F-438F-93C7-1A6663F27325}"/>
              </a:ext>
            </a:extLst>
          </p:cNvPr>
          <p:cNvSpPr>
            <a:spLocks noGrp="1"/>
          </p:cNvSpPr>
          <p:nvPr>
            <p:ph type="title"/>
          </p:nvPr>
        </p:nvSpPr>
        <p:spPr/>
        <p:txBody>
          <a:bodyPr/>
          <a:lstStyle/>
          <a:p>
            <a:r>
              <a:rPr lang="en-US" dirty="0"/>
              <a:t>What is the problem?</a:t>
            </a:r>
            <a:endParaRPr lang="en-GB" dirty="0"/>
          </a:p>
        </p:txBody>
      </p:sp>
      <p:sp>
        <p:nvSpPr>
          <p:cNvPr id="3" name="Content Placeholder 2">
            <a:extLst>
              <a:ext uri="{FF2B5EF4-FFF2-40B4-BE49-F238E27FC236}">
                <a16:creationId xmlns:a16="http://schemas.microsoft.com/office/drawing/2014/main" id="{160551DE-640A-4A75-9EE9-A2B22318018A}"/>
              </a:ext>
            </a:extLst>
          </p:cNvPr>
          <p:cNvSpPr>
            <a:spLocks noGrp="1"/>
          </p:cNvSpPr>
          <p:nvPr>
            <p:ph idx="1"/>
          </p:nvPr>
        </p:nvSpPr>
        <p:spPr/>
        <p:txBody>
          <a:bodyPr/>
          <a:lstStyle/>
          <a:p>
            <a:r>
              <a:rPr lang="en-US" dirty="0"/>
              <a:t>There is an issue with how only parts of the transaction gets executed</a:t>
            </a:r>
          </a:p>
          <a:p>
            <a:pPr lvl="1"/>
            <a:r>
              <a:rPr lang="en-US" dirty="0"/>
              <a:t>A transaction should be </a:t>
            </a:r>
            <a:r>
              <a:rPr lang="en-US" b="1" dirty="0"/>
              <a:t>atomic</a:t>
            </a:r>
            <a:r>
              <a:rPr lang="en-US" dirty="0"/>
              <a:t> (=indivisible)</a:t>
            </a:r>
          </a:p>
          <a:p>
            <a:pPr lvl="1"/>
            <a:r>
              <a:rPr lang="en-US" dirty="0"/>
              <a:t>Maybe not </a:t>
            </a:r>
            <a:r>
              <a:rPr lang="en-US" b="1" dirty="0"/>
              <a:t>consistent</a:t>
            </a:r>
            <a:r>
              <a:rPr lang="en-US" dirty="0"/>
              <a:t> with the real world, depending on how you define that…</a:t>
            </a:r>
          </a:p>
          <a:p>
            <a:r>
              <a:rPr lang="en-US" dirty="0"/>
              <a:t>What could we do to solve it?</a:t>
            </a:r>
          </a:p>
          <a:p>
            <a:pPr lvl="1"/>
            <a:r>
              <a:rPr lang="en-US" dirty="0"/>
              <a:t>We could just undo the transaction when the computer comes back online</a:t>
            </a:r>
            <a:endParaRPr lang="en-GB" dirty="0"/>
          </a:p>
        </p:txBody>
      </p:sp>
      <p:sp>
        <p:nvSpPr>
          <p:cNvPr id="4" name="Slide Number Placeholder 3">
            <a:extLst>
              <a:ext uri="{FF2B5EF4-FFF2-40B4-BE49-F238E27FC236}">
                <a16:creationId xmlns:a16="http://schemas.microsoft.com/office/drawing/2014/main" id="{09161DD4-A564-4574-BFA3-FDAF26129F80}"/>
              </a:ext>
            </a:extLst>
          </p:cNvPr>
          <p:cNvSpPr>
            <a:spLocks noGrp="1"/>
          </p:cNvSpPr>
          <p:nvPr>
            <p:ph type="sldNum" sz="quarter" idx="12"/>
          </p:nvPr>
        </p:nvSpPr>
        <p:spPr>
          <a:xfrm>
            <a:off x="9900458" y="6459785"/>
            <a:ext cx="1312025" cy="365125"/>
          </a:xfrm>
        </p:spPr>
        <p:txBody>
          <a:bodyPr/>
          <a:lstStyle/>
          <a:p>
            <a:fld id="{C260D5AD-280D-4F23-8F09-5CDE2943111F}" type="slidenum">
              <a:rPr lang="en-GB" smtClean="0"/>
              <a:pPr/>
              <a:t>6</a:t>
            </a:fld>
            <a:endParaRPr lang="en-GB"/>
          </a:p>
        </p:txBody>
      </p:sp>
    </p:spTree>
    <p:custDataLst>
      <p:tags r:id="rId1"/>
    </p:custDataLst>
    <p:extLst>
      <p:ext uri="{BB962C8B-B14F-4D97-AF65-F5344CB8AC3E}">
        <p14:creationId xmlns:p14="http://schemas.microsoft.com/office/powerpoint/2010/main" val="635330088"/>
      </p:ext>
    </p:extLst>
  </p:cSld>
  <p:clrMapOvr>
    <a:masterClrMapping/>
  </p:clrMapOvr>
  <mc:AlternateContent xmlns:mc="http://schemas.openxmlformats.org/markup-compatibility/2006" xmlns:p14="http://schemas.microsoft.com/office/powerpoint/2010/main">
    <mc:Choice Requires="p14">
      <p:transition spd="slow" p14:dur="2000" advTm="69182"/>
    </mc:Choice>
    <mc:Fallback xmlns="">
      <p:transition spd="slow" advTm="6918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Problem 3: Currency &amp; Partial Execution</a:t>
            </a:r>
            <a:endParaRPr lang="en-US" sz="2800" dirty="0"/>
          </a:p>
        </p:txBody>
      </p:sp>
      <p:sp>
        <p:nvSpPr>
          <p:cNvPr id="4" name="Slide Number Placeholder 3"/>
          <p:cNvSpPr>
            <a:spLocks noGrp="1"/>
          </p:cNvSpPr>
          <p:nvPr>
            <p:ph type="sldNum" sz="quarter" idx="12"/>
          </p:nvPr>
        </p:nvSpPr>
        <p:spPr/>
        <p:txBody>
          <a:bodyPr/>
          <a:lstStyle/>
          <a:p>
            <a:fld id="{C260D5AD-280D-4F23-8F09-5CDE2943111F}" type="slidenum">
              <a:rPr lang="en-GB" smtClean="0"/>
              <a:pPr/>
              <a:t>7</a:t>
            </a:fld>
            <a:endParaRPr lang="en-GB"/>
          </a:p>
        </p:txBody>
      </p:sp>
      <p:sp>
        <p:nvSpPr>
          <p:cNvPr id="47" name="TextBox 46"/>
          <p:cNvSpPr txBox="1"/>
          <p:nvPr/>
        </p:nvSpPr>
        <p:spPr>
          <a:xfrm>
            <a:off x="1767681" y="2552328"/>
            <a:ext cx="787395" cy="369332"/>
          </a:xfrm>
          <a:prstGeom prst="rect">
            <a:avLst/>
          </a:prstGeom>
          <a:noFill/>
        </p:spPr>
        <p:txBody>
          <a:bodyPr wrap="none" rtlCol="0">
            <a:spAutoFit/>
          </a:bodyPr>
          <a:lstStyle/>
          <a:p>
            <a:pPr algn="ctr"/>
            <a:r>
              <a:rPr lang="en-US" dirty="0">
                <a:solidFill>
                  <a:schemeClr val="tx2"/>
                </a:solidFill>
              </a:rPr>
              <a:t>User 1</a:t>
            </a:r>
          </a:p>
        </p:txBody>
      </p:sp>
      <p:sp>
        <p:nvSpPr>
          <p:cNvPr id="68" name="TextBox 67"/>
          <p:cNvSpPr txBox="1"/>
          <p:nvPr/>
        </p:nvSpPr>
        <p:spPr>
          <a:xfrm>
            <a:off x="1775521" y="3247608"/>
            <a:ext cx="787395" cy="369332"/>
          </a:xfrm>
          <a:prstGeom prst="rect">
            <a:avLst/>
          </a:prstGeom>
          <a:noFill/>
        </p:spPr>
        <p:txBody>
          <a:bodyPr wrap="none" rtlCol="0">
            <a:spAutoFit/>
          </a:bodyPr>
          <a:lstStyle/>
          <a:p>
            <a:pPr algn="ctr"/>
            <a:r>
              <a:rPr lang="en-US" dirty="0">
                <a:solidFill>
                  <a:schemeClr val="tx2"/>
                </a:solidFill>
              </a:rPr>
              <a:t>User 2</a:t>
            </a:r>
          </a:p>
        </p:txBody>
      </p:sp>
      <p:grpSp>
        <p:nvGrpSpPr>
          <p:cNvPr id="5" name="Group 4"/>
          <p:cNvGrpSpPr/>
          <p:nvPr/>
        </p:nvGrpSpPr>
        <p:grpSpPr>
          <a:xfrm>
            <a:off x="1981201" y="1904256"/>
            <a:ext cx="8463143" cy="369332"/>
            <a:chOff x="457200" y="2132856"/>
            <a:chExt cx="8463143" cy="369332"/>
          </a:xfrm>
        </p:grpSpPr>
        <p:cxnSp>
          <p:nvCxnSpPr>
            <p:cNvPr id="6" name="Straight Arrow Connector 5"/>
            <p:cNvCxnSpPr/>
            <p:nvPr/>
          </p:nvCxnSpPr>
          <p:spPr>
            <a:xfrm>
              <a:off x="457200" y="2324710"/>
              <a:ext cx="78488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8306072" y="2132856"/>
              <a:ext cx="614271" cy="369332"/>
            </a:xfrm>
            <a:prstGeom prst="rect">
              <a:avLst/>
            </a:prstGeom>
            <a:noFill/>
          </p:spPr>
          <p:txBody>
            <a:bodyPr wrap="none" rtlCol="0">
              <a:spAutoFit/>
            </a:bodyPr>
            <a:lstStyle/>
            <a:p>
              <a:r>
                <a:rPr lang="en-US" dirty="0">
                  <a:solidFill>
                    <a:schemeClr val="tx2"/>
                  </a:solidFill>
                </a:rPr>
                <a:t>time</a:t>
              </a:r>
            </a:p>
          </p:txBody>
        </p:sp>
      </p:grpSp>
      <p:cxnSp>
        <p:nvCxnSpPr>
          <p:cNvPr id="14" name="Straight Connector 13"/>
          <p:cNvCxnSpPr/>
          <p:nvPr/>
        </p:nvCxnSpPr>
        <p:spPr>
          <a:xfrm>
            <a:off x="9593403" y="2016914"/>
            <a:ext cx="0" cy="144016"/>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a:off x="8256179" y="2020624"/>
            <a:ext cx="1696555" cy="1239590"/>
            <a:chOff x="5513581" y="2249224"/>
            <a:chExt cx="1696555" cy="1239590"/>
          </a:xfrm>
        </p:grpSpPr>
        <p:sp>
          <p:nvSpPr>
            <p:cNvPr id="52" name="TextBox 51"/>
            <p:cNvSpPr txBox="1"/>
            <p:nvPr/>
          </p:nvSpPr>
          <p:spPr>
            <a:xfrm>
              <a:off x="5513581" y="2780928"/>
              <a:ext cx="1696555" cy="707886"/>
            </a:xfrm>
            <a:prstGeom prst="rect">
              <a:avLst/>
            </a:prstGeom>
            <a:noFill/>
          </p:spPr>
          <p:txBody>
            <a:bodyPr wrap="none" rtlCol="0">
              <a:spAutoFit/>
            </a:bodyPr>
            <a:lstStyle/>
            <a:p>
              <a:pPr algn="ctr"/>
              <a:r>
                <a:rPr lang="en-US" sz="2000" dirty="0">
                  <a:solidFill>
                    <a:srgbClr val="00B0F0"/>
                  </a:solidFill>
                </a:rPr>
                <a:t>Subtract £100 </a:t>
              </a:r>
              <a:br>
                <a:rPr lang="en-US" sz="2000" dirty="0">
                  <a:solidFill>
                    <a:srgbClr val="00B0F0"/>
                  </a:solidFill>
                </a:rPr>
              </a:br>
              <a:r>
                <a:rPr lang="en-US" sz="2000" dirty="0">
                  <a:solidFill>
                    <a:srgbClr val="00B0F0"/>
                  </a:solidFill>
                </a:rPr>
                <a:t>from ‘123’</a:t>
              </a:r>
            </a:p>
          </p:txBody>
        </p:sp>
        <p:cxnSp>
          <p:nvCxnSpPr>
            <p:cNvPr id="13" name="Straight Connector 12"/>
            <p:cNvCxnSpPr/>
            <p:nvPr/>
          </p:nvCxnSpPr>
          <p:spPr>
            <a:xfrm>
              <a:off x="6361856" y="2249224"/>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a:endCxn id="52" idx="0"/>
            </p:cNvCxnSpPr>
            <p:nvPr/>
          </p:nvCxnSpPr>
          <p:spPr>
            <a:xfrm>
              <a:off x="6361859" y="2400197"/>
              <a:ext cx="0" cy="380731"/>
            </a:xfrm>
            <a:prstGeom prst="line">
              <a:avLst/>
            </a:prstGeom>
            <a:ln>
              <a:solidFill>
                <a:schemeClr val="accent6"/>
              </a:solidFill>
              <a:prstDash val="sysDash"/>
            </a:ln>
          </p:spPr>
          <p:style>
            <a:lnRef idx="1">
              <a:schemeClr val="accent1"/>
            </a:lnRef>
            <a:fillRef idx="0">
              <a:schemeClr val="accent1"/>
            </a:fillRef>
            <a:effectRef idx="0">
              <a:schemeClr val="accent1"/>
            </a:effectRef>
            <a:fontRef idx="minor">
              <a:schemeClr val="tx1"/>
            </a:fontRef>
          </p:style>
        </p:cxnSp>
      </p:grpSp>
      <p:grpSp>
        <p:nvGrpSpPr>
          <p:cNvPr id="16" name="Group 15"/>
          <p:cNvGrpSpPr/>
          <p:nvPr/>
        </p:nvGrpSpPr>
        <p:grpSpPr>
          <a:xfrm>
            <a:off x="7498861" y="1659796"/>
            <a:ext cx="899705" cy="1318980"/>
            <a:chOff x="6360258" y="1376998"/>
            <a:chExt cx="899705" cy="1318980"/>
          </a:xfrm>
        </p:grpSpPr>
        <p:sp>
          <p:nvSpPr>
            <p:cNvPr id="27" name="Lightning Bolt 26"/>
            <p:cNvSpPr/>
            <p:nvPr/>
          </p:nvSpPr>
          <p:spPr>
            <a:xfrm>
              <a:off x="6607852" y="2043867"/>
              <a:ext cx="652111" cy="652111"/>
            </a:xfrm>
            <a:prstGeom prst="lightningBolt">
              <a:avLst/>
            </a:prstGeom>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cxnSp>
          <p:nvCxnSpPr>
            <p:cNvPr id="28" name="Straight Connector 27"/>
            <p:cNvCxnSpPr/>
            <p:nvPr/>
          </p:nvCxnSpPr>
          <p:spPr>
            <a:xfrm>
              <a:off x="6804248" y="1783933"/>
              <a:ext cx="0" cy="132899"/>
            </a:xfrm>
            <a:prstGeom prst="line">
              <a:avLst/>
            </a:prstGeom>
            <a:ln>
              <a:prstDash val="sysDash"/>
            </a:ln>
          </p:spPr>
          <p:style>
            <a:lnRef idx="1">
              <a:schemeClr val="accent2"/>
            </a:lnRef>
            <a:fillRef idx="0">
              <a:schemeClr val="accent2"/>
            </a:fillRef>
            <a:effectRef idx="0">
              <a:schemeClr val="accent2"/>
            </a:effectRef>
            <a:fontRef idx="minor">
              <a:schemeClr val="tx1"/>
            </a:fontRef>
          </p:style>
        </p:cxnSp>
        <p:sp>
          <p:nvSpPr>
            <p:cNvPr id="30" name="TextBox 29"/>
            <p:cNvSpPr txBox="1"/>
            <p:nvPr/>
          </p:nvSpPr>
          <p:spPr>
            <a:xfrm>
              <a:off x="6360258" y="1376998"/>
              <a:ext cx="888000" cy="400110"/>
            </a:xfrm>
            <a:prstGeom prst="rect">
              <a:avLst/>
            </a:prstGeom>
            <a:noFill/>
          </p:spPr>
          <p:txBody>
            <a:bodyPr wrap="none" rtlCol="0">
              <a:spAutoFit/>
            </a:bodyPr>
            <a:lstStyle/>
            <a:p>
              <a:pPr algn="ctr"/>
              <a:r>
                <a:rPr lang="en-US" sz="2000" dirty="0">
                  <a:solidFill>
                    <a:schemeClr val="accent2"/>
                  </a:solidFill>
                </a:rPr>
                <a:t>Failure</a:t>
              </a:r>
            </a:p>
          </p:txBody>
        </p:sp>
      </p:grpSp>
      <p:grpSp>
        <p:nvGrpSpPr>
          <p:cNvPr id="18" name="Group 17"/>
          <p:cNvGrpSpPr/>
          <p:nvPr/>
        </p:nvGrpSpPr>
        <p:grpSpPr>
          <a:xfrm>
            <a:off x="2783632" y="2032668"/>
            <a:ext cx="1237838" cy="1227547"/>
            <a:chOff x="2080879" y="2738389"/>
            <a:chExt cx="1237838" cy="1227547"/>
          </a:xfrm>
        </p:grpSpPr>
        <p:cxnSp>
          <p:nvCxnSpPr>
            <p:cNvPr id="34" name="Straight Connector 33"/>
            <p:cNvCxnSpPr/>
            <p:nvPr/>
          </p:nvCxnSpPr>
          <p:spPr>
            <a:xfrm>
              <a:off x="2699792" y="2738389"/>
              <a:ext cx="0" cy="14401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2080879" y="3258050"/>
              <a:ext cx="1237838" cy="707886"/>
            </a:xfrm>
            <a:prstGeom prst="rect">
              <a:avLst/>
            </a:prstGeom>
            <a:noFill/>
          </p:spPr>
          <p:txBody>
            <a:bodyPr wrap="none" rtlCol="0">
              <a:spAutoFit/>
            </a:bodyPr>
            <a:lstStyle/>
            <a:p>
              <a:pPr algn="ctr"/>
              <a:r>
                <a:rPr lang="en-US" sz="2000" dirty="0">
                  <a:solidFill>
                    <a:schemeClr val="accent3">
                      <a:lumMod val="75000"/>
                    </a:schemeClr>
                  </a:solidFill>
                </a:rPr>
                <a:t>Add £</a:t>
              </a:r>
              <a:r>
                <a:rPr lang="en-US" sz="2000">
                  <a:solidFill>
                    <a:schemeClr val="accent3">
                      <a:lumMod val="75000"/>
                    </a:schemeClr>
                  </a:solidFill>
                </a:rPr>
                <a:t>100 </a:t>
              </a:r>
              <a:br>
                <a:rPr lang="en-US" sz="2000">
                  <a:solidFill>
                    <a:schemeClr val="accent3">
                      <a:lumMod val="75000"/>
                    </a:schemeClr>
                  </a:solidFill>
                </a:rPr>
              </a:br>
              <a:r>
                <a:rPr lang="en-US" sz="2000">
                  <a:solidFill>
                    <a:schemeClr val="accent3">
                      <a:lumMod val="75000"/>
                    </a:schemeClr>
                  </a:solidFill>
                </a:rPr>
                <a:t>to </a:t>
              </a:r>
              <a:r>
                <a:rPr lang="en-US" sz="2000" dirty="0">
                  <a:solidFill>
                    <a:schemeClr val="accent3">
                      <a:lumMod val="75000"/>
                    </a:schemeClr>
                  </a:solidFill>
                </a:rPr>
                <a:t>’456’</a:t>
              </a:r>
            </a:p>
          </p:txBody>
        </p:sp>
        <p:cxnSp>
          <p:nvCxnSpPr>
            <p:cNvPr id="36" name="Straight Connector 35"/>
            <p:cNvCxnSpPr>
              <a:stCxn id="35" idx="0"/>
            </p:cNvCxnSpPr>
            <p:nvPr/>
          </p:nvCxnSpPr>
          <p:spPr>
            <a:xfrm flipH="1" flipV="1">
              <a:off x="2699792" y="2882406"/>
              <a:ext cx="6" cy="375644"/>
            </a:xfrm>
            <a:prstGeom prst="line">
              <a:avLst/>
            </a:prstGeom>
            <a:ln>
              <a:solidFill>
                <a:schemeClr val="accent3">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grpSp>
        <p:nvGrpSpPr>
          <p:cNvPr id="53" name="Group 52"/>
          <p:cNvGrpSpPr/>
          <p:nvPr/>
        </p:nvGrpSpPr>
        <p:grpSpPr>
          <a:xfrm>
            <a:off x="5290210" y="2032668"/>
            <a:ext cx="1237838" cy="1892049"/>
            <a:chOff x="2080873" y="2738389"/>
            <a:chExt cx="1237838" cy="1892049"/>
          </a:xfrm>
        </p:grpSpPr>
        <p:cxnSp>
          <p:nvCxnSpPr>
            <p:cNvPr id="54" name="Straight Connector 53"/>
            <p:cNvCxnSpPr/>
            <p:nvPr/>
          </p:nvCxnSpPr>
          <p:spPr>
            <a:xfrm>
              <a:off x="2699792" y="2738389"/>
              <a:ext cx="0" cy="14401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2080873" y="3922552"/>
              <a:ext cx="1237838" cy="707886"/>
            </a:xfrm>
            <a:prstGeom prst="rect">
              <a:avLst/>
            </a:prstGeom>
            <a:noFill/>
          </p:spPr>
          <p:txBody>
            <a:bodyPr wrap="none" rtlCol="0">
              <a:spAutoFit/>
            </a:bodyPr>
            <a:lstStyle/>
            <a:p>
              <a:pPr algn="ctr"/>
              <a:r>
                <a:rPr lang="en-US" sz="2000" dirty="0">
                  <a:solidFill>
                    <a:schemeClr val="accent3">
                      <a:lumMod val="75000"/>
                    </a:schemeClr>
                  </a:solidFill>
                </a:rPr>
                <a:t>Add £100 </a:t>
              </a:r>
              <a:br>
                <a:rPr lang="en-US" sz="2000" dirty="0">
                  <a:solidFill>
                    <a:schemeClr val="accent3">
                      <a:lumMod val="75000"/>
                    </a:schemeClr>
                  </a:solidFill>
                </a:rPr>
              </a:br>
              <a:r>
                <a:rPr lang="en-US" sz="2000" dirty="0">
                  <a:solidFill>
                    <a:schemeClr val="accent3">
                      <a:lumMod val="75000"/>
                    </a:schemeClr>
                  </a:solidFill>
                </a:rPr>
                <a:t>to ’789’</a:t>
              </a:r>
            </a:p>
          </p:txBody>
        </p:sp>
        <p:cxnSp>
          <p:nvCxnSpPr>
            <p:cNvPr id="57" name="Straight Connector 56"/>
            <p:cNvCxnSpPr>
              <a:stCxn id="55" idx="0"/>
            </p:cNvCxnSpPr>
            <p:nvPr/>
          </p:nvCxnSpPr>
          <p:spPr>
            <a:xfrm flipV="1">
              <a:off x="2699792" y="2882406"/>
              <a:ext cx="0" cy="1040146"/>
            </a:xfrm>
            <a:prstGeom prst="line">
              <a:avLst/>
            </a:prstGeom>
            <a:ln>
              <a:solidFill>
                <a:schemeClr val="accent3">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6559686" y="2020624"/>
            <a:ext cx="1696555" cy="1904092"/>
            <a:chOff x="5513578" y="2249224"/>
            <a:chExt cx="1696555" cy="1904092"/>
          </a:xfrm>
        </p:grpSpPr>
        <p:sp>
          <p:nvSpPr>
            <p:cNvPr id="59" name="TextBox 58"/>
            <p:cNvSpPr txBox="1"/>
            <p:nvPr/>
          </p:nvSpPr>
          <p:spPr>
            <a:xfrm>
              <a:off x="5513578" y="3445430"/>
              <a:ext cx="1696555" cy="707886"/>
            </a:xfrm>
            <a:prstGeom prst="rect">
              <a:avLst/>
            </a:prstGeom>
            <a:noFill/>
          </p:spPr>
          <p:txBody>
            <a:bodyPr wrap="none" rtlCol="0">
              <a:spAutoFit/>
            </a:bodyPr>
            <a:lstStyle/>
            <a:p>
              <a:pPr algn="ctr"/>
              <a:r>
                <a:rPr lang="en-US" sz="2000" dirty="0">
                  <a:solidFill>
                    <a:srgbClr val="00B0F0"/>
                  </a:solidFill>
                </a:rPr>
                <a:t>Subtract £100 </a:t>
              </a:r>
              <a:br>
                <a:rPr lang="en-US" sz="2000" dirty="0">
                  <a:solidFill>
                    <a:srgbClr val="00B0F0"/>
                  </a:solidFill>
                </a:rPr>
              </a:br>
              <a:r>
                <a:rPr lang="en-US" sz="2000" dirty="0">
                  <a:solidFill>
                    <a:srgbClr val="00B0F0"/>
                  </a:solidFill>
                </a:rPr>
                <a:t>from ‘456’</a:t>
              </a:r>
            </a:p>
          </p:txBody>
        </p:sp>
        <p:cxnSp>
          <p:nvCxnSpPr>
            <p:cNvPr id="61" name="Straight Connector 60"/>
            <p:cNvCxnSpPr/>
            <p:nvPr/>
          </p:nvCxnSpPr>
          <p:spPr>
            <a:xfrm>
              <a:off x="6361856" y="2249224"/>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p:cNvCxnSpPr>
              <a:endCxn id="59" idx="0"/>
            </p:cNvCxnSpPr>
            <p:nvPr/>
          </p:nvCxnSpPr>
          <p:spPr>
            <a:xfrm>
              <a:off x="6361856" y="2405283"/>
              <a:ext cx="0" cy="1040147"/>
            </a:xfrm>
            <a:prstGeom prst="line">
              <a:avLst/>
            </a:prstGeom>
            <a:ln>
              <a:solidFill>
                <a:schemeClr val="accent6"/>
              </a:solidFill>
              <a:prstDash val="sysDash"/>
            </a:ln>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3863752" y="2028432"/>
            <a:ext cx="1375698" cy="1892049"/>
            <a:chOff x="2011946" y="2738389"/>
            <a:chExt cx="1375698" cy="1892049"/>
          </a:xfrm>
        </p:grpSpPr>
        <p:cxnSp>
          <p:nvCxnSpPr>
            <p:cNvPr id="74" name="Straight Connector 73"/>
            <p:cNvCxnSpPr/>
            <p:nvPr/>
          </p:nvCxnSpPr>
          <p:spPr>
            <a:xfrm>
              <a:off x="2699792" y="2738389"/>
              <a:ext cx="0" cy="14401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2011946" y="3922552"/>
              <a:ext cx="1375698" cy="707886"/>
            </a:xfrm>
            <a:prstGeom prst="rect">
              <a:avLst/>
            </a:prstGeom>
            <a:noFill/>
          </p:spPr>
          <p:txBody>
            <a:bodyPr wrap="none" rtlCol="0">
              <a:spAutoFit/>
            </a:bodyPr>
            <a:lstStyle/>
            <a:p>
              <a:pPr algn="ctr"/>
              <a:r>
                <a:rPr lang="en-US" sz="2000" dirty="0">
                  <a:solidFill>
                    <a:schemeClr val="tx2">
                      <a:lumMod val="60000"/>
                      <a:lumOff val="40000"/>
                    </a:schemeClr>
                  </a:solidFill>
                </a:rPr>
                <a:t>Does ‘456’</a:t>
              </a:r>
              <a:br>
                <a:rPr lang="en-US" sz="2000" dirty="0">
                  <a:solidFill>
                    <a:schemeClr val="tx2">
                      <a:lumMod val="60000"/>
                      <a:lumOff val="40000"/>
                    </a:schemeClr>
                  </a:solidFill>
                </a:rPr>
              </a:br>
              <a:r>
                <a:rPr lang="en-US" sz="2000" dirty="0">
                  <a:solidFill>
                    <a:schemeClr val="tx2">
                      <a:lumMod val="60000"/>
                      <a:lumOff val="40000"/>
                    </a:schemeClr>
                  </a:solidFill>
                </a:rPr>
                <a:t>have £100?</a:t>
              </a:r>
            </a:p>
          </p:txBody>
        </p:sp>
        <p:cxnSp>
          <p:nvCxnSpPr>
            <p:cNvPr id="76" name="Straight Connector 75"/>
            <p:cNvCxnSpPr>
              <a:stCxn id="75" idx="0"/>
            </p:cNvCxnSpPr>
            <p:nvPr/>
          </p:nvCxnSpPr>
          <p:spPr>
            <a:xfrm flipV="1">
              <a:off x="2699795" y="2882406"/>
              <a:ext cx="0" cy="1040146"/>
            </a:xfrm>
            <a:prstGeom prst="line">
              <a:avLst/>
            </a:prstGeom>
            <a:ln>
              <a:solidFill>
                <a:schemeClr val="tx2">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grpSp>
      <p:grpSp>
        <p:nvGrpSpPr>
          <p:cNvPr id="77" name="Group 76"/>
          <p:cNvGrpSpPr/>
          <p:nvPr/>
        </p:nvGrpSpPr>
        <p:grpSpPr>
          <a:xfrm>
            <a:off x="8655575" y="2303596"/>
            <a:ext cx="961161" cy="969349"/>
            <a:chOff x="6922443" y="2636912"/>
            <a:chExt cx="1198419" cy="1208628"/>
          </a:xfrm>
        </p:grpSpPr>
        <p:cxnSp>
          <p:nvCxnSpPr>
            <p:cNvPr id="79" name="Straight Connector 78"/>
            <p:cNvCxnSpPr/>
            <p:nvPr/>
          </p:nvCxnSpPr>
          <p:spPr>
            <a:xfrm flipH="1">
              <a:off x="6937781" y="2636912"/>
              <a:ext cx="1183081" cy="1208628"/>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80" name="Straight Connector 79"/>
            <p:cNvCxnSpPr/>
            <p:nvPr/>
          </p:nvCxnSpPr>
          <p:spPr>
            <a:xfrm>
              <a:off x="6922443" y="2636912"/>
              <a:ext cx="1183081" cy="1208628"/>
            </a:xfrm>
            <a:prstGeom prst="line">
              <a:avLst/>
            </a:prstGeom>
            <a:ln w="19050"/>
          </p:spPr>
          <p:style>
            <a:lnRef idx="1">
              <a:schemeClr val="accent2"/>
            </a:lnRef>
            <a:fillRef idx="0">
              <a:schemeClr val="accent2"/>
            </a:fillRef>
            <a:effectRef idx="0">
              <a:schemeClr val="accent2"/>
            </a:effectRef>
            <a:fontRef idx="minor">
              <a:schemeClr val="tx1"/>
            </a:fontRef>
          </p:style>
        </p:cxnSp>
      </p:grpSp>
      <p:sp>
        <p:nvSpPr>
          <p:cNvPr id="11" name="Rectangle 10">
            <a:extLst>
              <a:ext uri="{FF2B5EF4-FFF2-40B4-BE49-F238E27FC236}">
                <a16:creationId xmlns:a16="http://schemas.microsoft.com/office/drawing/2014/main" id="{A1597ADF-FD19-45EB-9DFD-F52DD721A295}"/>
              </a:ext>
            </a:extLst>
          </p:cNvPr>
          <p:cNvSpPr/>
          <p:nvPr/>
        </p:nvSpPr>
        <p:spPr>
          <a:xfrm>
            <a:off x="144983" y="3880627"/>
            <a:ext cx="5135309" cy="1064010"/>
          </a:xfrm>
          <a:prstGeom prst="rect">
            <a:avLst/>
          </a:prstGeom>
        </p:spPr>
        <p:style>
          <a:lnRef idx="1">
            <a:schemeClr val="accent3"/>
          </a:lnRef>
          <a:fillRef idx="3">
            <a:schemeClr val="accent3"/>
          </a:fillRef>
          <a:effectRef idx="2">
            <a:schemeClr val="accent3"/>
          </a:effectRef>
          <a:fontRef idx="minor">
            <a:schemeClr val="lt1"/>
          </a:fontRef>
        </p:style>
        <p:txBody>
          <a:bodyPr rtlCol="0" anchor="t"/>
          <a:lstStyle/>
          <a:p>
            <a:r>
              <a:rPr lang="en-US" sz="2000" dirty="0">
                <a:latin typeface="Courier New" charset="0"/>
                <a:ea typeface="Courier New" charset="0"/>
                <a:cs typeface="Courier New" charset="0"/>
              </a:rPr>
              <a:t>UPDATE Accounts</a:t>
            </a:r>
          </a:p>
          <a:p>
            <a:r>
              <a:rPr lang="en-US" sz="2000" dirty="0">
                <a:latin typeface="Courier New" charset="0"/>
                <a:ea typeface="Courier New" charset="0"/>
                <a:cs typeface="Courier New" charset="0"/>
              </a:rPr>
              <a:t>SET    balance = balance + 100</a:t>
            </a:r>
          </a:p>
          <a:p>
            <a:r>
              <a:rPr lang="en-US" sz="2000" dirty="0">
                <a:latin typeface="Courier New" charset="0"/>
                <a:ea typeface="Courier New" charset="0"/>
                <a:cs typeface="Courier New" charset="0"/>
              </a:rPr>
              <a:t>WHERE  </a:t>
            </a:r>
            <a:r>
              <a:rPr lang="en-US" sz="2000" dirty="0" err="1">
                <a:latin typeface="Courier New" charset="0"/>
                <a:ea typeface="Courier New" charset="0"/>
                <a:cs typeface="Courier New" charset="0"/>
              </a:rPr>
              <a:t>accountNo</a:t>
            </a:r>
            <a:r>
              <a:rPr lang="en-US" sz="2000" dirty="0">
                <a:latin typeface="Courier New" charset="0"/>
                <a:ea typeface="Courier New" charset="0"/>
                <a:cs typeface="Courier New" charset="0"/>
              </a:rPr>
              <a:t> = 456;</a:t>
            </a:r>
          </a:p>
        </p:txBody>
      </p:sp>
      <p:sp>
        <p:nvSpPr>
          <p:cNvPr id="12" name="Rectangle 11">
            <a:extLst>
              <a:ext uri="{FF2B5EF4-FFF2-40B4-BE49-F238E27FC236}">
                <a16:creationId xmlns:a16="http://schemas.microsoft.com/office/drawing/2014/main" id="{F37A68D8-A312-4326-99BC-70C240E09584}"/>
              </a:ext>
            </a:extLst>
          </p:cNvPr>
          <p:cNvSpPr/>
          <p:nvPr/>
        </p:nvSpPr>
        <p:spPr>
          <a:xfrm>
            <a:off x="1113817" y="5191724"/>
            <a:ext cx="5112568" cy="1087741"/>
          </a:xfrm>
          <a:prstGeom prst="rect">
            <a:avLst/>
          </a:prstGeom>
        </p:spPr>
        <p:style>
          <a:lnRef idx="1">
            <a:schemeClr val="accent6"/>
          </a:lnRef>
          <a:fillRef idx="3">
            <a:schemeClr val="accent6"/>
          </a:fillRef>
          <a:effectRef idx="2">
            <a:schemeClr val="accent6"/>
          </a:effectRef>
          <a:fontRef idx="minor">
            <a:schemeClr val="lt1"/>
          </a:fontRef>
        </p:style>
        <p:txBody>
          <a:bodyPr rtlCol="0" anchor="t"/>
          <a:lstStyle/>
          <a:p>
            <a:r>
              <a:rPr lang="en-US" sz="2000" dirty="0">
                <a:latin typeface="Courier New" charset="0"/>
                <a:ea typeface="Courier New" charset="0"/>
                <a:cs typeface="Courier New" charset="0"/>
              </a:rPr>
              <a:t>SELECT balance</a:t>
            </a:r>
          </a:p>
          <a:p>
            <a:r>
              <a:rPr lang="en-US" sz="2000" dirty="0">
                <a:latin typeface="Courier New" charset="0"/>
                <a:ea typeface="Courier New" charset="0"/>
                <a:cs typeface="Courier New" charset="0"/>
              </a:rPr>
              <a:t>FROM	 Accounts</a:t>
            </a:r>
          </a:p>
          <a:p>
            <a:r>
              <a:rPr lang="en-US" sz="2000" dirty="0">
                <a:latin typeface="Courier New" charset="0"/>
                <a:ea typeface="Courier New" charset="0"/>
                <a:cs typeface="Courier New" charset="0"/>
              </a:rPr>
              <a:t>WHERE	 </a:t>
            </a:r>
            <a:r>
              <a:rPr lang="en-US" sz="2000" dirty="0" err="1">
                <a:latin typeface="Courier New" charset="0"/>
                <a:ea typeface="Courier New" charset="0"/>
                <a:cs typeface="Courier New" charset="0"/>
              </a:rPr>
              <a:t>accountNo</a:t>
            </a:r>
            <a:r>
              <a:rPr lang="en-US" sz="2000" dirty="0">
                <a:latin typeface="Courier New" charset="0"/>
                <a:ea typeface="Courier New" charset="0"/>
                <a:cs typeface="Courier New" charset="0"/>
              </a:rPr>
              <a:t> = 456;</a:t>
            </a:r>
          </a:p>
        </p:txBody>
      </p:sp>
      <p:sp>
        <p:nvSpPr>
          <p:cNvPr id="17" name="Rectangle 16">
            <a:extLst>
              <a:ext uri="{FF2B5EF4-FFF2-40B4-BE49-F238E27FC236}">
                <a16:creationId xmlns:a16="http://schemas.microsoft.com/office/drawing/2014/main" id="{44229FBB-F267-43A1-BF79-F688FB5542CA}"/>
              </a:ext>
            </a:extLst>
          </p:cNvPr>
          <p:cNvSpPr/>
          <p:nvPr/>
        </p:nvSpPr>
        <p:spPr>
          <a:xfrm>
            <a:off x="3528328" y="4806645"/>
            <a:ext cx="5135309" cy="1064010"/>
          </a:xfrm>
          <a:prstGeom prst="rect">
            <a:avLst/>
          </a:prstGeom>
        </p:spPr>
        <p:style>
          <a:lnRef idx="1">
            <a:schemeClr val="accent3"/>
          </a:lnRef>
          <a:fillRef idx="3">
            <a:schemeClr val="accent3"/>
          </a:fillRef>
          <a:effectRef idx="2">
            <a:schemeClr val="accent3"/>
          </a:effectRef>
          <a:fontRef idx="minor">
            <a:schemeClr val="lt1"/>
          </a:fontRef>
        </p:style>
        <p:txBody>
          <a:bodyPr rtlCol="0" anchor="t"/>
          <a:lstStyle/>
          <a:p>
            <a:r>
              <a:rPr lang="en-US" sz="2000" dirty="0">
                <a:latin typeface="Courier New" charset="0"/>
                <a:ea typeface="Courier New" charset="0"/>
                <a:cs typeface="Courier New" charset="0"/>
              </a:rPr>
              <a:t>UPDATE Accounts</a:t>
            </a:r>
          </a:p>
          <a:p>
            <a:r>
              <a:rPr lang="en-US" sz="2000" dirty="0">
                <a:latin typeface="Courier New" charset="0"/>
                <a:ea typeface="Courier New" charset="0"/>
                <a:cs typeface="Courier New" charset="0"/>
              </a:rPr>
              <a:t>SET    balance = balance + 100</a:t>
            </a:r>
          </a:p>
          <a:p>
            <a:r>
              <a:rPr lang="en-US" sz="2000" dirty="0">
                <a:latin typeface="Courier New" charset="0"/>
                <a:ea typeface="Courier New" charset="0"/>
                <a:cs typeface="Courier New" charset="0"/>
              </a:rPr>
              <a:t>WHERE  </a:t>
            </a:r>
            <a:r>
              <a:rPr lang="en-US" sz="2000" dirty="0" err="1">
                <a:latin typeface="Courier New" charset="0"/>
                <a:ea typeface="Courier New" charset="0"/>
                <a:cs typeface="Courier New" charset="0"/>
              </a:rPr>
              <a:t>accountNo</a:t>
            </a:r>
            <a:r>
              <a:rPr lang="en-US" sz="2000" dirty="0">
                <a:latin typeface="Courier New" charset="0"/>
                <a:ea typeface="Courier New" charset="0"/>
                <a:cs typeface="Courier New" charset="0"/>
              </a:rPr>
              <a:t> = 789;</a:t>
            </a:r>
          </a:p>
        </p:txBody>
      </p:sp>
      <p:sp>
        <p:nvSpPr>
          <p:cNvPr id="20" name="Rectangle 19">
            <a:extLst>
              <a:ext uri="{FF2B5EF4-FFF2-40B4-BE49-F238E27FC236}">
                <a16:creationId xmlns:a16="http://schemas.microsoft.com/office/drawing/2014/main" id="{455EBF32-15B5-4ED7-8B6B-DB3642CE8AA7}"/>
              </a:ext>
            </a:extLst>
          </p:cNvPr>
          <p:cNvSpPr/>
          <p:nvPr/>
        </p:nvSpPr>
        <p:spPr>
          <a:xfrm>
            <a:off x="7273789" y="5434202"/>
            <a:ext cx="4877521" cy="919455"/>
          </a:xfrm>
          <a:prstGeom prst="rect">
            <a:avLst/>
          </a:prstGeom>
          <a:solidFill>
            <a:srgbClr val="002060"/>
          </a:solidFill>
        </p:spPr>
        <p:style>
          <a:lnRef idx="1">
            <a:schemeClr val="accent6"/>
          </a:lnRef>
          <a:fillRef idx="3">
            <a:schemeClr val="accent6"/>
          </a:fillRef>
          <a:effectRef idx="2">
            <a:schemeClr val="accent6"/>
          </a:effectRef>
          <a:fontRef idx="minor">
            <a:schemeClr val="lt1"/>
          </a:fontRef>
        </p:style>
        <p:txBody>
          <a:bodyPr rtlCol="0" anchor="t"/>
          <a:lstStyle/>
          <a:p>
            <a:r>
              <a:rPr lang="en-US" sz="2000" dirty="0">
                <a:latin typeface="Courier New" charset="0"/>
                <a:ea typeface="Courier New" charset="0"/>
                <a:cs typeface="Courier New" charset="0"/>
              </a:rPr>
              <a:t>UPDATE Accounts</a:t>
            </a:r>
          </a:p>
          <a:p>
            <a:r>
              <a:rPr lang="en-US" sz="2000" dirty="0">
                <a:latin typeface="Courier New" charset="0"/>
                <a:ea typeface="Courier New" charset="0"/>
                <a:cs typeface="Courier New" charset="0"/>
              </a:rPr>
              <a:t>SET    balance = balance - 100</a:t>
            </a:r>
          </a:p>
          <a:p>
            <a:r>
              <a:rPr lang="en-US" sz="2000" dirty="0">
                <a:latin typeface="Courier New" charset="0"/>
                <a:ea typeface="Courier New" charset="0"/>
                <a:cs typeface="Courier New" charset="0"/>
              </a:rPr>
              <a:t>WHERE  </a:t>
            </a:r>
            <a:r>
              <a:rPr lang="en-US" sz="2000" dirty="0" err="1">
                <a:latin typeface="Courier New" charset="0"/>
                <a:ea typeface="Courier New" charset="0"/>
                <a:cs typeface="Courier New" charset="0"/>
              </a:rPr>
              <a:t>accountNo</a:t>
            </a:r>
            <a:r>
              <a:rPr lang="en-US" sz="2000" dirty="0">
                <a:latin typeface="Courier New" charset="0"/>
                <a:ea typeface="Courier New" charset="0"/>
                <a:cs typeface="Courier New" charset="0"/>
              </a:rPr>
              <a:t> = 123;</a:t>
            </a:r>
          </a:p>
        </p:txBody>
      </p:sp>
      <p:sp>
        <p:nvSpPr>
          <p:cNvPr id="21" name="Rectangle 20">
            <a:extLst>
              <a:ext uri="{FF2B5EF4-FFF2-40B4-BE49-F238E27FC236}">
                <a16:creationId xmlns:a16="http://schemas.microsoft.com/office/drawing/2014/main" id="{87D0F67A-F060-4B0D-A9CA-2775E4F1726B}"/>
              </a:ext>
            </a:extLst>
          </p:cNvPr>
          <p:cNvSpPr/>
          <p:nvPr/>
        </p:nvSpPr>
        <p:spPr>
          <a:xfrm>
            <a:off x="6258753" y="4132601"/>
            <a:ext cx="4877521" cy="1059120"/>
          </a:xfrm>
          <a:prstGeom prst="rect">
            <a:avLst/>
          </a:prstGeom>
          <a:solidFill>
            <a:srgbClr val="002060"/>
          </a:solidFill>
        </p:spPr>
        <p:style>
          <a:lnRef idx="1">
            <a:schemeClr val="accent6"/>
          </a:lnRef>
          <a:fillRef idx="3">
            <a:schemeClr val="accent6"/>
          </a:fillRef>
          <a:effectRef idx="2">
            <a:schemeClr val="accent6"/>
          </a:effectRef>
          <a:fontRef idx="minor">
            <a:schemeClr val="lt1"/>
          </a:fontRef>
        </p:style>
        <p:txBody>
          <a:bodyPr rtlCol="0" anchor="t"/>
          <a:lstStyle/>
          <a:p>
            <a:r>
              <a:rPr lang="en-US" sz="2000" dirty="0">
                <a:latin typeface="Courier New" charset="0"/>
                <a:ea typeface="Courier New" charset="0"/>
                <a:cs typeface="Courier New" charset="0"/>
              </a:rPr>
              <a:t>UPDATE Accounts</a:t>
            </a:r>
          </a:p>
          <a:p>
            <a:r>
              <a:rPr lang="en-US" sz="2000" dirty="0">
                <a:latin typeface="Courier New" charset="0"/>
                <a:ea typeface="Courier New" charset="0"/>
                <a:cs typeface="Courier New" charset="0"/>
              </a:rPr>
              <a:t>SET    balance = balance - 100</a:t>
            </a:r>
          </a:p>
          <a:p>
            <a:r>
              <a:rPr lang="en-US" sz="2000" dirty="0">
                <a:latin typeface="Courier New" charset="0"/>
                <a:ea typeface="Courier New" charset="0"/>
                <a:cs typeface="Courier New" charset="0"/>
              </a:rPr>
              <a:t>WHERE  </a:t>
            </a:r>
            <a:r>
              <a:rPr lang="en-US" sz="2000" dirty="0" err="1">
                <a:latin typeface="Courier New" charset="0"/>
                <a:ea typeface="Courier New" charset="0"/>
                <a:cs typeface="Courier New" charset="0"/>
              </a:rPr>
              <a:t>accountNo</a:t>
            </a:r>
            <a:r>
              <a:rPr lang="en-US" sz="2000" dirty="0">
                <a:latin typeface="Courier New" charset="0"/>
                <a:ea typeface="Courier New" charset="0"/>
                <a:cs typeface="Courier New" charset="0"/>
              </a:rPr>
              <a:t> = 456;</a:t>
            </a:r>
          </a:p>
        </p:txBody>
      </p:sp>
    </p:spTree>
    <p:custDataLst>
      <p:tags r:id="rId1"/>
    </p:custDataLst>
    <p:extLst>
      <p:ext uri="{BB962C8B-B14F-4D97-AF65-F5344CB8AC3E}">
        <p14:creationId xmlns:p14="http://schemas.microsoft.com/office/powerpoint/2010/main" val="68161150"/>
      </p:ext>
    </p:extLst>
  </p:cSld>
  <p:clrMapOvr>
    <a:masterClrMapping/>
  </p:clrMapOvr>
  <mc:AlternateContent xmlns:mc="http://schemas.openxmlformats.org/markup-compatibility/2006" xmlns:p14="http://schemas.microsoft.com/office/powerpoint/2010/main">
    <mc:Choice Requires="p14">
      <p:transition spd="slow" p14:dur="2000" advTm="155146"/>
    </mc:Choice>
    <mc:Fallback xmlns="">
      <p:transition spd="slow" advTm="15514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7" grpId="0" animBg="1"/>
      <p:bldP spid="20" grpId="0" animBg="1"/>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8F41D-0E4F-438F-93C7-1A6663F27325}"/>
              </a:ext>
            </a:extLst>
          </p:cNvPr>
          <p:cNvSpPr>
            <a:spLocks noGrp="1"/>
          </p:cNvSpPr>
          <p:nvPr>
            <p:ph type="title"/>
          </p:nvPr>
        </p:nvSpPr>
        <p:spPr/>
        <p:txBody>
          <a:bodyPr/>
          <a:lstStyle/>
          <a:p>
            <a:r>
              <a:rPr lang="en-US" dirty="0"/>
              <a:t>What are the problems?</a:t>
            </a:r>
            <a:endParaRPr lang="en-GB" dirty="0"/>
          </a:p>
        </p:txBody>
      </p:sp>
      <p:sp>
        <p:nvSpPr>
          <p:cNvPr id="3" name="Content Placeholder 2">
            <a:extLst>
              <a:ext uri="{FF2B5EF4-FFF2-40B4-BE49-F238E27FC236}">
                <a16:creationId xmlns:a16="http://schemas.microsoft.com/office/drawing/2014/main" id="{160551DE-640A-4A75-9EE9-A2B22318018A}"/>
              </a:ext>
            </a:extLst>
          </p:cNvPr>
          <p:cNvSpPr>
            <a:spLocks noGrp="1"/>
          </p:cNvSpPr>
          <p:nvPr>
            <p:ph idx="1"/>
          </p:nvPr>
        </p:nvSpPr>
        <p:spPr/>
        <p:txBody>
          <a:bodyPr>
            <a:normAutofit/>
          </a:bodyPr>
          <a:lstStyle/>
          <a:p>
            <a:r>
              <a:rPr lang="en-US" dirty="0"/>
              <a:t>There is an issue with how only parts of the first transaction gets executed</a:t>
            </a:r>
          </a:p>
          <a:p>
            <a:pPr lvl="1"/>
            <a:r>
              <a:rPr lang="en-US" dirty="0"/>
              <a:t>A transaction should be </a:t>
            </a:r>
            <a:r>
              <a:rPr lang="en-US" b="1" dirty="0"/>
              <a:t>atomic</a:t>
            </a:r>
            <a:r>
              <a:rPr lang="en-US" dirty="0"/>
              <a:t> (=indivisible)</a:t>
            </a:r>
          </a:p>
          <a:p>
            <a:r>
              <a:rPr lang="en-US" dirty="0"/>
              <a:t>There is an issue with how the two transactions interact</a:t>
            </a:r>
          </a:p>
          <a:p>
            <a:pPr lvl="1"/>
            <a:r>
              <a:rPr lang="en-US" dirty="0"/>
              <a:t>There could be some problems with whether it is </a:t>
            </a:r>
            <a:r>
              <a:rPr lang="en-US" b="1" dirty="0"/>
              <a:t>consistent </a:t>
            </a:r>
            <a:r>
              <a:rPr lang="en-US" dirty="0"/>
              <a:t>(i.e. the check user 2 did should perhaps not have succeed, because user 1 had not committed yet)</a:t>
            </a:r>
            <a:endParaRPr lang="en-US" b="1" dirty="0"/>
          </a:p>
          <a:p>
            <a:pPr lvl="1"/>
            <a:r>
              <a:rPr lang="en-US" dirty="0"/>
              <a:t>Also, the two transactions are not </a:t>
            </a:r>
            <a:r>
              <a:rPr lang="en-US" b="1" dirty="0"/>
              <a:t>isolated</a:t>
            </a:r>
            <a:r>
              <a:rPr lang="en-US" dirty="0"/>
              <a:t> from each other</a:t>
            </a:r>
          </a:p>
          <a:p>
            <a:r>
              <a:rPr lang="en-US" dirty="0"/>
              <a:t>What could we do to solve it?</a:t>
            </a:r>
          </a:p>
          <a:p>
            <a:pPr lvl="1"/>
            <a:r>
              <a:rPr lang="en-US" dirty="0"/>
              <a:t>The short version is that there are no nice way to solve this (next slide has the long…)</a:t>
            </a:r>
          </a:p>
          <a:p>
            <a:pPr lvl="1"/>
            <a:endParaRPr lang="en-US" dirty="0"/>
          </a:p>
        </p:txBody>
      </p:sp>
      <p:sp>
        <p:nvSpPr>
          <p:cNvPr id="4" name="Slide Number Placeholder 3">
            <a:extLst>
              <a:ext uri="{FF2B5EF4-FFF2-40B4-BE49-F238E27FC236}">
                <a16:creationId xmlns:a16="http://schemas.microsoft.com/office/drawing/2014/main" id="{57E462FE-6EB5-4E56-B16E-436EAAE94019}"/>
              </a:ext>
            </a:extLst>
          </p:cNvPr>
          <p:cNvSpPr>
            <a:spLocks noGrp="1"/>
          </p:cNvSpPr>
          <p:nvPr>
            <p:ph type="sldNum" sz="quarter" idx="12"/>
          </p:nvPr>
        </p:nvSpPr>
        <p:spPr>
          <a:xfrm>
            <a:off x="9900458" y="6459785"/>
            <a:ext cx="1312025" cy="365125"/>
          </a:xfrm>
        </p:spPr>
        <p:txBody>
          <a:bodyPr/>
          <a:lstStyle/>
          <a:p>
            <a:fld id="{C260D5AD-280D-4F23-8F09-5CDE2943111F}" type="slidenum">
              <a:rPr lang="en-GB" smtClean="0"/>
              <a:pPr/>
              <a:t>8</a:t>
            </a:fld>
            <a:endParaRPr lang="en-GB"/>
          </a:p>
        </p:txBody>
      </p:sp>
    </p:spTree>
    <p:custDataLst>
      <p:tags r:id="rId1"/>
    </p:custDataLst>
    <p:extLst>
      <p:ext uri="{BB962C8B-B14F-4D97-AF65-F5344CB8AC3E}">
        <p14:creationId xmlns:p14="http://schemas.microsoft.com/office/powerpoint/2010/main" val="281092302"/>
      </p:ext>
    </p:extLst>
  </p:cSld>
  <p:clrMapOvr>
    <a:masterClrMapping/>
  </p:clrMapOvr>
  <mc:AlternateContent xmlns:mc="http://schemas.openxmlformats.org/markup-compatibility/2006" xmlns:p14="http://schemas.microsoft.com/office/powerpoint/2010/main">
    <mc:Choice Requires="p14">
      <p:transition spd="slow" p14:dur="2000" advTm="68900"/>
    </mc:Choice>
    <mc:Fallback xmlns="">
      <p:transition spd="slow" advTm="689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F9CA2-84DD-4C35-9285-E270298B0006}"/>
              </a:ext>
            </a:extLst>
          </p:cNvPr>
          <p:cNvSpPr>
            <a:spLocks noGrp="1"/>
          </p:cNvSpPr>
          <p:nvPr>
            <p:ph type="title"/>
          </p:nvPr>
        </p:nvSpPr>
        <p:spPr/>
        <p:txBody>
          <a:bodyPr/>
          <a:lstStyle/>
          <a:p>
            <a:r>
              <a:rPr lang="en-US" dirty="0"/>
              <a:t>No good solutions to the problem</a:t>
            </a:r>
            <a:endParaRPr lang="en-GB" dirty="0"/>
          </a:p>
        </p:txBody>
      </p:sp>
      <p:sp>
        <p:nvSpPr>
          <p:cNvPr id="3" name="Content Placeholder 2">
            <a:extLst>
              <a:ext uri="{FF2B5EF4-FFF2-40B4-BE49-F238E27FC236}">
                <a16:creationId xmlns:a16="http://schemas.microsoft.com/office/drawing/2014/main" id="{6C58B510-68F9-4C1B-9F44-564C6443A405}"/>
              </a:ext>
            </a:extLst>
          </p:cNvPr>
          <p:cNvSpPr>
            <a:spLocks noGrp="1"/>
          </p:cNvSpPr>
          <p:nvPr>
            <p:ph idx="1"/>
          </p:nvPr>
        </p:nvSpPr>
        <p:spPr/>
        <p:txBody>
          <a:bodyPr/>
          <a:lstStyle/>
          <a:p>
            <a:r>
              <a:rPr lang="en-US" dirty="0"/>
              <a:t>This is the long version!</a:t>
            </a:r>
          </a:p>
          <a:p>
            <a:r>
              <a:rPr lang="en-US" dirty="0"/>
              <a:t>Let us look at some options:</a:t>
            </a:r>
          </a:p>
          <a:p>
            <a:pPr lvl="1"/>
            <a:r>
              <a:rPr lang="en-US" dirty="0"/>
              <a:t>We could do nothing, but then the bank lost money </a:t>
            </a:r>
          </a:p>
          <a:p>
            <a:pPr lvl="2"/>
            <a:r>
              <a:rPr lang="en-US" dirty="0"/>
              <a:t>This would be the </a:t>
            </a:r>
            <a:r>
              <a:rPr lang="en-US" b="1" dirty="0"/>
              <a:t>atomicity</a:t>
            </a:r>
            <a:r>
              <a:rPr lang="en-US" dirty="0"/>
              <a:t> issue</a:t>
            </a:r>
          </a:p>
          <a:p>
            <a:pPr lvl="1"/>
            <a:r>
              <a:rPr lang="en-US" dirty="0"/>
              <a:t>We could undo the first transaction, but not the second, but then the second transaction might not be valid anymore, because there could be too little money on the account to transfer 100£</a:t>
            </a:r>
          </a:p>
          <a:p>
            <a:pPr lvl="2"/>
            <a:r>
              <a:rPr lang="en-US" dirty="0"/>
              <a:t>This would also give that </a:t>
            </a:r>
            <a:r>
              <a:rPr lang="en-US" b="1" dirty="0"/>
              <a:t>consistency</a:t>
            </a:r>
            <a:r>
              <a:rPr lang="en-US" dirty="0"/>
              <a:t> issue</a:t>
            </a:r>
          </a:p>
          <a:p>
            <a:pPr lvl="2"/>
            <a:r>
              <a:rPr lang="en-US" dirty="0"/>
              <a:t>This would be the </a:t>
            </a:r>
            <a:r>
              <a:rPr lang="en-US" b="1" dirty="0"/>
              <a:t>isolation</a:t>
            </a:r>
            <a:r>
              <a:rPr lang="en-US" dirty="0"/>
              <a:t> issue</a:t>
            </a:r>
          </a:p>
          <a:p>
            <a:pPr lvl="1"/>
            <a:r>
              <a:rPr lang="en-US" dirty="0"/>
              <a:t>We could undo both transactions, but the second one have finished and the person doing it might have already gone away (because everything looked good when he finished)</a:t>
            </a:r>
          </a:p>
          <a:p>
            <a:pPr lvl="2"/>
            <a:r>
              <a:rPr lang="en-US" dirty="0"/>
              <a:t>This is a new issue! We would expect that any change you made was </a:t>
            </a:r>
            <a:r>
              <a:rPr lang="en-US" b="1" dirty="0"/>
              <a:t>durable</a:t>
            </a:r>
            <a:r>
              <a:rPr lang="en-US" dirty="0"/>
              <a:t> (i.e. did not latter disappear after having finished/disappear based on something someone else did) in the database</a:t>
            </a:r>
          </a:p>
          <a:p>
            <a:endParaRPr lang="en-GB" dirty="0"/>
          </a:p>
        </p:txBody>
      </p:sp>
      <p:sp>
        <p:nvSpPr>
          <p:cNvPr id="4" name="Slide Number Placeholder 3">
            <a:extLst>
              <a:ext uri="{FF2B5EF4-FFF2-40B4-BE49-F238E27FC236}">
                <a16:creationId xmlns:a16="http://schemas.microsoft.com/office/drawing/2014/main" id="{3AE785EC-2F75-4F7D-92FA-C266617B7238}"/>
              </a:ext>
            </a:extLst>
          </p:cNvPr>
          <p:cNvSpPr>
            <a:spLocks noGrp="1"/>
          </p:cNvSpPr>
          <p:nvPr>
            <p:ph type="sldNum" sz="quarter" idx="12"/>
          </p:nvPr>
        </p:nvSpPr>
        <p:spPr>
          <a:xfrm>
            <a:off x="9900458" y="6459785"/>
            <a:ext cx="1312025" cy="365125"/>
          </a:xfrm>
        </p:spPr>
        <p:txBody>
          <a:bodyPr/>
          <a:lstStyle/>
          <a:p>
            <a:fld id="{C260D5AD-280D-4F23-8F09-5CDE2943111F}" type="slidenum">
              <a:rPr lang="en-GB" smtClean="0"/>
              <a:pPr/>
              <a:t>9</a:t>
            </a:fld>
            <a:endParaRPr lang="en-GB"/>
          </a:p>
        </p:txBody>
      </p:sp>
    </p:spTree>
    <p:custDataLst>
      <p:tags r:id="rId1"/>
    </p:custDataLst>
    <p:extLst>
      <p:ext uri="{BB962C8B-B14F-4D97-AF65-F5344CB8AC3E}">
        <p14:creationId xmlns:p14="http://schemas.microsoft.com/office/powerpoint/2010/main" val="3316262454"/>
      </p:ext>
    </p:extLst>
  </p:cSld>
  <p:clrMapOvr>
    <a:masterClrMapping/>
  </p:clrMapOvr>
  <mc:AlternateContent xmlns:mc="http://schemas.openxmlformats.org/markup-compatibility/2006" xmlns:p14="http://schemas.microsoft.com/office/powerpoint/2010/main">
    <mc:Choice Requires="p14">
      <p:transition spd="slow" p14:dur="2000" advTm="192415"/>
    </mc:Choice>
    <mc:Fallback xmlns="">
      <p:transition spd="slow" advTm="19241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A0CF9-2CE3-4EAA-85F6-DAF13FEC4239}"/>
              </a:ext>
            </a:extLst>
          </p:cNvPr>
          <p:cNvSpPr>
            <a:spLocks noGrp="1"/>
          </p:cNvSpPr>
          <p:nvPr>
            <p:ph type="title"/>
          </p:nvPr>
        </p:nvSpPr>
        <p:spPr/>
        <p:txBody>
          <a:bodyPr/>
          <a:lstStyle/>
          <a:p>
            <a:r>
              <a:rPr lang="en-US" dirty="0"/>
              <a:t>Summary - The ACID properties</a:t>
            </a:r>
            <a:endParaRPr lang="en-GB" dirty="0"/>
          </a:p>
        </p:txBody>
      </p:sp>
      <p:sp>
        <p:nvSpPr>
          <p:cNvPr id="3" name="Content Placeholder 2">
            <a:extLst>
              <a:ext uri="{FF2B5EF4-FFF2-40B4-BE49-F238E27FC236}">
                <a16:creationId xmlns:a16="http://schemas.microsoft.com/office/drawing/2014/main" id="{81DB3174-C277-4824-82C1-E756647C3D3D}"/>
              </a:ext>
            </a:extLst>
          </p:cNvPr>
          <p:cNvSpPr>
            <a:spLocks noGrp="1"/>
          </p:cNvSpPr>
          <p:nvPr>
            <p:ph idx="1"/>
          </p:nvPr>
        </p:nvSpPr>
        <p:spPr/>
        <p:txBody>
          <a:bodyPr/>
          <a:lstStyle/>
          <a:p>
            <a:r>
              <a:rPr lang="en-US" dirty="0"/>
              <a:t>These mentioned issues are together called the ACID properties in databases, i.e.</a:t>
            </a:r>
          </a:p>
          <a:p>
            <a:r>
              <a:rPr lang="en-GB" b="1" dirty="0"/>
              <a:t>A: Atomicity</a:t>
            </a:r>
            <a:r>
              <a:rPr lang="en-GB" dirty="0"/>
              <a:t>	</a:t>
            </a:r>
          </a:p>
          <a:p>
            <a:r>
              <a:rPr lang="en-GB" b="1" dirty="0"/>
              <a:t>C: Consistency </a:t>
            </a:r>
          </a:p>
          <a:p>
            <a:r>
              <a:rPr lang="en-GB" b="1" dirty="0"/>
              <a:t>I: Isolation </a:t>
            </a:r>
          </a:p>
          <a:p>
            <a:r>
              <a:rPr lang="en-GB" b="1" dirty="0"/>
              <a:t>D: Durability </a:t>
            </a:r>
            <a:r>
              <a:rPr lang="en-GB" dirty="0"/>
              <a:t>(or permanency)</a:t>
            </a:r>
          </a:p>
          <a:p>
            <a:r>
              <a:rPr lang="en-US" dirty="0"/>
              <a:t> </a:t>
            </a:r>
            <a:endParaRPr lang="en-GB" dirty="0"/>
          </a:p>
        </p:txBody>
      </p:sp>
    </p:spTree>
    <p:extLst>
      <p:ext uri="{BB962C8B-B14F-4D97-AF65-F5344CB8AC3E}">
        <p14:creationId xmlns:p14="http://schemas.microsoft.com/office/powerpoint/2010/main" val="599697639"/>
      </p:ext>
    </p:extLst>
  </p:cSld>
  <p:clrMapOvr>
    <a:masterClrMapping/>
  </p:clrMapOvr>
  <mc:AlternateContent xmlns:mc="http://schemas.openxmlformats.org/markup-compatibility/2006" xmlns:p14="http://schemas.microsoft.com/office/powerpoint/2010/main">
    <mc:Choice Requires="p14">
      <p:transition spd="slow" p14:dur="2000" advTm="110284"/>
    </mc:Choice>
    <mc:Fallback xmlns="">
      <p:transition spd="slow" advTm="110284"/>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9.4|9.2|17.9|4.1"/>
</p:tagLst>
</file>

<file path=ppt/tags/tag2.xml><?xml version="1.0" encoding="utf-8"?>
<p:tagLst xmlns:a="http://schemas.openxmlformats.org/drawingml/2006/main" xmlns:r="http://schemas.openxmlformats.org/officeDocument/2006/relationships" xmlns:p="http://schemas.openxmlformats.org/presentationml/2006/main">
  <p:tag name="TIMING" val="|6|10.5|21.5|3.4"/>
</p:tagLst>
</file>

<file path=ppt/tags/tag3.xml><?xml version="1.0" encoding="utf-8"?>
<p:tagLst xmlns:a="http://schemas.openxmlformats.org/drawingml/2006/main" xmlns:r="http://schemas.openxmlformats.org/officeDocument/2006/relationships" xmlns:p="http://schemas.openxmlformats.org/presentationml/2006/main">
  <p:tag name="TIMING" val="|90.2|9.8|10.7|11.1|5.8|11.8|0.1"/>
</p:tagLst>
</file>

<file path=ppt/tags/tag4.xml><?xml version="1.0" encoding="utf-8"?>
<p:tagLst xmlns:a="http://schemas.openxmlformats.org/drawingml/2006/main" xmlns:r="http://schemas.openxmlformats.org/officeDocument/2006/relationships" xmlns:p="http://schemas.openxmlformats.org/presentationml/2006/main">
  <p:tag name="TIMING" val="|9|6.1|3.5|15.7|12.2|2.5"/>
</p:tagLst>
</file>

<file path=ppt/tags/tag5.xml><?xml version="1.0" encoding="utf-8"?>
<p:tagLst xmlns:a="http://schemas.openxmlformats.org/drawingml/2006/main" xmlns:r="http://schemas.openxmlformats.org/officeDocument/2006/relationships" xmlns:p="http://schemas.openxmlformats.org/presentationml/2006/main">
  <p:tag name="TIMING" val="|12.4|2.3|7|10.8|18.3|17.8|13.7|53.8"/>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806</TotalTime>
  <Words>771</Words>
  <Application>Microsoft Office PowerPoint</Application>
  <PresentationFormat>Widescreen</PresentationFormat>
  <Paragraphs>107</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Calibri</vt:lpstr>
      <vt:lpstr>Calibri Light</vt:lpstr>
      <vt:lpstr>Courier New</vt:lpstr>
      <vt:lpstr>Retrospect</vt:lpstr>
      <vt:lpstr>Good schedules/transactions</vt:lpstr>
      <vt:lpstr>Overview of this video</vt:lpstr>
      <vt:lpstr>Problem 1: Concurrency (from the introduction to transactions video)</vt:lpstr>
      <vt:lpstr>What are the problems?</vt:lpstr>
      <vt:lpstr>Problem 2: Partial Execution (from the introduction to transactions video)</vt:lpstr>
      <vt:lpstr>What is the problem?</vt:lpstr>
      <vt:lpstr>Problem 3: Currency &amp; Partial Execution</vt:lpstr>
      <vt:lpstr>What are the problems?</vt:lpstr>
      <vt:lpstr>No good solutions to the problem</vt:lpstr>
      <vt:lpstr>Summary - The ACID properties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Good schedules/transactions</dc:title>
  <dc:creator>Rasmus Ibsen-Jensen</dc:creator>
  <cp:lastModifiedBy>Rasmus Ibsen-Jensen</cp:lastModifiedBy>
  <cp:revision>38</cp:revision>
  <dcterms:created xsi:type="dcterms:W3CDTF">2020-10-21T17:55:01Z</dcterms:created>
  <dcterms:modified xsi:type="dcterms:W3CDTF">2020-10-27T12:36:38Z</dcterms:modified>
</cp:coreProperties>
</file>