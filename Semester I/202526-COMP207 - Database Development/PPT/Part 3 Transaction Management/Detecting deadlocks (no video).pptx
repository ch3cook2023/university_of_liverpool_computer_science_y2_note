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619" r:id="rId3"/>
    <p:sldId id="626" r:id="rId4"/>
    <p:sldId id="614" r:id="rId5"/>
    <p:sldId id="615" r:id="rId6"/>
    <p:sldId id="616" r:id="rId7"/>
    <p:sldId id="617" r:id="rId8"/>
    <p:sldId id="618" r:id="rId9"/>
    <p:sldId id="624" r:id="rId10"/>
    <p:sldId id="62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6C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88" d="100"/>
          <a:sy n="88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C917-AA3D-41AC-A61D-119BCC06FA81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14-36C7-4DE0-984D-EB4398D4400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9652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C917-AA3D-41AC-A61D-119BCC06FA81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14-36C7-4DE0-984D-EB4398D44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423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C917-AA3D-41AC-A61D-119BCC06FA81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14-36C7-4DE0-984D-EB4398D4400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94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C917-AA3D-41AC-A61D-119BCC06FA81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14-36C7-4DE0-984D-EB4398D44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5805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C917-AA3D-41AC-A61D-119BCC06FA81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14-36C7-4DE0-984D-EB4398D44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311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C917-AA3D-41AC-A61D-119BCC06FA81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14-36C7-4DE0-984D-EB4398D44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561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C917-AA3D-41AC-A61D-119BCC06FA81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14-36C7-4DE0-984D-EB4398D44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6733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AD4C917-AA3D-41AC-A61D-119BCC06FA81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EC6E14-36C7-4DE0-984D-EB4398D44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5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C917-AA3D-41AC-A61D-119BCC06FA81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14-36C7-4DE0-984D-EB4398D44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283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C917-AA3D-41AC-A61D-119BCC06FA81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14-36C7-4DE0-984D-EB4398D44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54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C917-AA3D-41AC-A61D-119BCC06FA81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C6E14-36C7-4DE0-984D-EB4398D440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0222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AD4C917-AA3D-41AC-A61D-119BCC06FA81}" type="datetimeFigureOut">
              <a:rPr lang="en-GB" smtClean="0"/>
              <a:t>09/11/2020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BEC6E14-36C7-4DE0-984D-EB4398D44006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385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AB661-D64D-43FF-9BEE-22EB83393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Detecting deadlocks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1CE9E-44B0-4988-A8EE-9BBFE7D089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481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4DDFA-6E0C-49B3-9462-40A0A1ECC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8C3FB-96EE-414A-A8D4-267A87646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finally starting to deal with deadlocks. We will in this video see some techniques for finding them (which will also let you deal with them)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1966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A6845-BC86-4266-8149-7FFC9D80F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Strict 2PL and Deadlocks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2EE1C-AD50-41C5-8C34-01FBDE9E4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Strict 2PL yields </a:t>
            </a:r>
            <a:r>
              <a:rPr lang="en-US" b="1" dirty="0"/>
              <a:t>conflict-</a:t>
            </a:r>
            <a:r>
              <a:rPr lang="en-US" b="1" dirty="0" err="1"/>
              <a:t>serialisable</a:t>
            </a:r>
            <a:r>
              <a:rPr lang="en-US" dirty="0"/>
              <a:t>, </a:t>
            </a:r>
            <a:r>
              <a:rPr lang="en-US" b="1" dirty="0"/>
              <a:t>strict schedules</a:t>
            </a:r>
          </a:p>
          <a:p>
            <a:r>
              <a:rPr lang="en-US" dirty="0"/>
              <a:t>Problem: </a:t>
            </a:r>
            <a:r>
              <a:rPr lang="en-US" b="1" dirty="0"/>
              <a:t>deadlocks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>
              <a:spcBef>
                <a:spcPts val="2472"/>
              </a:spcBef>
            </a:pPr>
            <a:r>
              <a:rPr lang="en-US" dirty="0"/>
              <a:t>Two approaches for deadlock prevention:</a:t>
            </a:r>
          </a:p>
          <a:p>
            <a:pPr lvl="1"/>
            <a:r>
              <a:rPr lang="en-US" b="1" dirty="0"/>
              <a:t>Detect deadlocks &amp; fix them</a:t>
            </a:r>
          </a:p>
          <a:p>
            <a:pPr lvl="1"/>
            <a:r>
              <a:rPr lang="en-US" b="1" dirty="0"/>
              <a:t>Enforce deadlock-free schedules</a:t>
            </a:r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Rounded Rectangular Callout 6">
            <a:extLst>
              <a:ext uri="{FF2B5EF4-FFF2-40B4-BE49-F238E27FC236}">
                <a16:creationId xmlns:a16="http://schemas.microsoft.com/office/drawing/2014/main" id="{3B02499D-0496-4292-9E10-A766F74CAFDA}"/>
              </a:ext>
            </a:extLst>
          </p:cNvPr>
          <p:cNvSpPr/>
          <p:nvPr/>
        </p:nvSpPr>
        <p:spPr>
          <a:xfrm>
            <a:off x="4958700" y="5370511"/>
            <a:ext cx="2592288" cy="400244"/>
          </a:xfrm>
          <a:prstGeom prst="wedgeRoundRectCallout">
            <a:avLst>
              <a:gd name="adj1" fmla="val -58997"/>
              <a:gd name="adj2" fmla="val -2133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/>
              <a:t>Not</a:t>
            </a:r>
            <a:r>
              <a:rPr lang="en-US" dirty="0"/>
              <a:t> based on (strict) 2PL</a:t>
            </a:r>
          </a:p>
        </p:txBody>
      </p:sp>
      <p:sp>
        <p:nvSpPr>
          <p:cNvPr id="5" name="Rounded Rectangular Callout 9">
            <a:extLst>
              <a:ext uri="{FF2B5EF4-FFF2-40B4-BE49-F238E27FC236}">
                <a16:creationId xmlns:a16="http://schemas.microsoft.com/office/drawing/2014/main" id="{8BFA5B5E-53ED-48A3-9B75-69653A011BBD}"/>
              </a:ext>
            </a:extLst>
          </p:cNvPr>
          <p:cNvSpPr/>
          <p:nvPr/>
        </p:nvSpPr>
        <p:spPr>
          <a:xfrm>
            <a:off x="8016751" y="3679757"/>
            <a:ext cx="2483768" cy="710472"/>
          </a:xfrm>
          <a:prstGeom prst="wedgeRoundRectCallout">
            <a:avLst>
              <a:gd name="adj1" fmla="val 22633"/>
              <a:gd name="adj2" fmla="val -6838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Roll back (and restart) one of the transactions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50509C-8B4A-4931-BB5E-EDAEB84E0F0C}"/>
              </a:ext>
            </a:extLst>
          </p:cNvPr>
          <p:cNvSpPr/>
          <p:nvPr/>
        </p:nvSpPr>
        <p:spPr>
          <a:xfrm>
            <a:off x="7320136" y="2613206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l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(X); r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(X); w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(X);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E23F3F-750A-4EC6-81B7-B50C8DB5F7DD}"/>
              </a:ext>
            </a:extLst>
          </p:cNvPr>
          <p:cNvSpPr/>
          <p:nvPr/>
        </p:nvSpPr>
        <p:spPr>
          <a:xfrm>
            <a:off x="7330879" y="3014526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l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r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w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</a:t>
            </a:r>
            <a:endParaRPr lang="en-US" sz="2400" dirty="0">
              <a:solidFill>
                <a:srgbClr val="C00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C21891-346C-4069-965E-3E506284B8FF}"/>
              </a:ext>
            </a:extLst>
          </p:cNvPr>
          <p:cNvCxnSpPr/>
          <p:nvPr/>
        </p:nvCxnSpPr>
        <p:spPr>
          <a:xfrm>
            <a:off x="9612808" y="3394328"/>
            <a:ext cx="4645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B0FD0FD-4E97-4A79-A6F1-8AC257A579FF}"/>
              </a:ext>
            </a:extLst>
          </p:cNvPr>
          <p:cNvSpPr/>
          <p:nvPr/>
        </p:nvSpPr>
        <p:spPr>
          <a:xfrm>
            <a:off x="9681402" y="2980026"/>
            <a:ext cx="3273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?</a:t>
            </a:r>
            <a:endParaRPr lang="en-US" sz="24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B88CA1B-A134-4DC6-86AF-BF33BEE305E0}"/>
              </a:ext>
            </a:extLst>
          </p:cNvPr>
          <p:cNvGraphicFramePr>
            <a:graphicFrameLocks noGrp="1"/>
          </p:cNvGraphicFramePr>
          <p:nvPr/>
        </p:nvGraphicFramePr>
        <p:xfrm>
          <a:off x="2324861" y="2568437"/>
          <a:ext cx="2016224" cy="222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lock(X)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chemeClr val="tx1"/>
                          </a:solidFill>
                        </a:rPr>
                        <a:t>read_item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:= X + 100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write_item(X)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lock(Y)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BC04AEA-84DC-4F59-A270-144BD23F491D}"/>
              </a:ext>
            </a:extLst>
          </p:cNvPr>
          <p:cNvGraphicFramePr>
            <a:graphicFrameLocks noGrp="1"/>
          </p:cNvGraphicFramePr>
          <p:nvPr/>
        </p:nvGraphicFramePr>
        <p:xfrm>
          <a:off x="4632193" y="2568437"/>
          <a:ext cx="2016224" cy="222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lock(Y)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chemeClr val="tx1"/>
                          </a:solidFill>
                        </a:rPr>
                        <a:t>read_item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(Y)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:= Y + 100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write_item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lock(X)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6726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 Detection: Approaches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Timeouts </a:t>
            </a:r>
          </a:p>
          <a:p>
            <a:pPr lvl="1"/>
            <a:r>
              <a:rPr lang="en-US" dirty="0"/>
              <a:t>Assume a transaction is in a deadlock</a:t>
            </a:r>
            <a:br>
              <a:rPr lang="en-US" dirty="0"/>
            </a:br>
            <a:r>
              <a:rPr lang="en-US" dirty="0"/>
              <a:t>if it exceeds a given time limit</a:t>
            </a:r>
          </a:p>
          <a:p>
            <a:pPr>
              <a:spcBef>
                <a:spcPts val="2472"/>
              </a:spcBef>
            </a:pPr>
            <a:r>
              <a:rPr lang="en-US" b="1" dirty="0"/>
              <a:t>Wait-for graphs</a:t>
            </a:r>
            <a:endParaRPr lang="en-US" dirty="0"/>
          </a:p>
          <a:p>
            <a:pPr lvl="1"/>
            <a:r>
              <a:rPr lang="en-US" dirty="0"/>
              <a:t>Nodes: transactions</a:t>
            </a:r>
          </a:p>
          <a:p>
            <a:pPr lvl="1"/>
            <a:r>
              <a:rPr lang="en-US" dirty="0"/>
              <a:t>Edge from T</a:t>
            </a:r>
            <a:r>
              <a:rPr lang="en-US" baseline="-25000" dirty="0"/>
              <a:t>1</a:t>
            </a:r>
            <a:r>
              <a:rPr lang="en-US" dirty="0"/>
              <a:t> to T</a:t>
            </a:r>
            <a:r>
              <a:rPr lang="en-US" baseline="-25000" dirty="0"/>
              <a:t>2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if T</a:t>
            </a:r>
            <a:r>
              <a:rPr lang="en-US" baseline="-25000" dirty="0"/>
              <a:t>1</a:t>
            </a:r>
            <a:r>
              <a:rPr lang="en-US" dirty="0"/>
              <a:t> waits for T</a:t>
            </a:r>
            <a:r>
              <a:rPr lang="en-US" baseline="-25000" dirty="0"/>
              <a:t>2</a:t>
            </a:r>
            <a:r>
              <a:rPr lang="en-US" dirty="0"/>
              <a:t> to release a lock</a:t>
            </a:r>
          </a:p>
          <a:p>
            <a:pPr lvl="1"/>
            <a:r>
              <a:rPr lang="en-US" dirty="0"/>
              <a:t>Deadlocks correspond to cycles </a:t>
            </a:r>
          </a:p>
          <a:p>
            <a:pPr>
              <a:spcBef>
                <a:spcPts val="2472"/>
              </a:spcBef>
            </a:pPr>
            <a:r>
              <a:rPr lang="en-US" b="1" dirty="0"/>
              <a:t>Timestamp-based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7382963" y="3596163"/>
            <a:ext cx="504056" cy="4103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255171" y="3596163"/>
            <a:ext cx="504056" cy="4103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</a:t>
            </a:r>
            <a:r>
              <a:rPr lang="en-US" baseline="-25000"/>
              <a:t>2</a:t>
            </a:r>
            <a:endParaRPr lang="en-US" baseline="-25000" dirty="0"/>
          </a:p>
        </p:txBody>
      </p:sp>
      <p:cxnSp>
        <p:nvCxnSpPr>
          <p:cNvPr id="8" name="Straight Arrow Connector 7"/>
          <p:cNvCxnSpPr>
            <a:stCxn id="9" idx="3"/>
          </p:cNvCxnSpPr>
          <p:nvPr/>
        </p:nvCxnSpPr>
        <p:spPr>
          <a:xfrm>
            <a:off x="7887019" y="3801335"/>
            <a:ext cx="13681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031035" y="3438423"/>
            <a:ext cx="103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waits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5527" y="4371513"/>
            <a:ext cx="504056" cy="4103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3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8799583" y="4029450"/>
            <a:ext cx="455588" cy="3356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7887019" y="4012928"/>
            <a:ext cx="408508" cy="358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7392144" y="1596888"/>
            <a:ext cx="3024336" cy="1381554"/>
            <a:chOff x="5868144" y="1596888"/>
            <a:chExt cx="3024336" cy="1381554"/>
          </a:xfrm>
        </p:grpSpPr>
        <p:grpSp>
          <p:nvGrpSpPr>
            <p:cNvPr id="27" name="Group 26"/>
            <p:cNvGrpSpPr/>
            <p:nvPr/>
          </p:nvGrpSpPr>
          <p:grpSpPr>
            <a:xfrm>
              <a:off x="5868144" y="1818993"/>
              <a:ext cx="3024336" cy="835717"/>
              <a:chOff x="1043608" y="3717032"/>
              <a:chExt cx="3024336" cy="835717"/>
            </a:xfrm>
          </p:grpSpPr>
          <p:cxnSp>
            <p:nvCxnSpPr>
              <p:cNvPr id="28" name="Straight Connector 27"/>
              <p:cNvCxnSpPr/>
              <p:nvPr/>
            </p:nvCxnSpPr>
            <p:spPr>
              <a:xfrm>
                <a:off x="1475656" y="4005064"/>
                <a:ext cx="0" cy="547685"/>
              </a:xfrm>
              <a:prstGeom prst="line">
                <a:avLst/>
              </a:prstGeom>
              <a:ln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1835696" y="3717032"/>
                <a:ext cx="0" cy="691701"/>
              </a:xfrm>
              <a:prstGeom prst="line">
                <a:avLst/>
              </a:prstGeom>
              <a:ln/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1475656" y="4149080"/>
                <a:ext cx="2016224" cy="0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1835696" y="3861048"/>
                <a:ext cx="1800200" cy="0"/>
              </a:xfrm>
              <a:prstGeom prst="line">
                <a:avLst/>
              </a:prstGeom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3491880" y="4005064"/>
                <a:ext cx="0" cy="547685"/>
              </a:xfrm>
              <a:prstGeom prst="line">
                <a:avLst/>
              </a:prstGeom>
              <a:ln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3851920" y="3717032"/>
                <a:ext cx="0" cy="691701"/>
              </a:xfrm>
              <a:prstGeom prst="line">
                <a:avLst/>
              </a:prstGeom>
              <a:ln/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/>
              <p:nvPr/>
            </p:nvCxnSpPr>
            <p:spPr>
              <a:xfrm>
                <a:off x="1043608" y="4408733"/>
                <a:ext cx="302433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TextBox 35"/>
            <p:cNvSpPr txBox="1"/>
            <p:nvPr/>
          </p:nvSpPr>
          <p:spPr>
            <a:xfrm>
              <a:off x="6319323" y="189468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848982" y="2609110"/>
              <a:ext cx="9348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timeout</a:t>
              </a:r>
              <a:endParaRPr lang="en-US" baseline="-25000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668815" y="1596888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</a:t>
              </a:r>
              <a:r>
                <a:rPr lang="en-US" baseline="-25000" dirty="0"/>
                <a:t>2</a:t>
              </a:r>
            </a:p>
          </p:txBody>
        </p:sp>
      </p:grpSp>
      <p:sp>
        <p:nvSpPr>
          <p:cNvPr id="41" name="Oval 40"/>
          <p:cNvSpPr/>
          <p:nvPr/>
        </p:nvSpPr>
        <p:spPr>
          <a:xfrm>
            <a:off x="642257" y="4781857"/>
            <a:ext cx="3394720" cy="720080"/>
          </a:xfrm>
          <a:prstGeom prst="ellipse">
            <a:avLst/>
          </a:prstGeom>
          <a:noFill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910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  <p:bldP spid="7" grpId="0" animBg="1"/>
      <p:bldP spid="9" grpId="0"/>
      <p:bldP spid="10" grpId="0" animBg="1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Timestamps for Deadlock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transaction T is</a:t>
            </a:r>
            <a:r>
              <a:rPr lang="en-GB" dirty="0"/>
              <a:t> assigned a </a:t>
            </a:r>
            <a:r>
              <a:rPr lang="en-US" dirty="0"/>
              <a:t>unique integer </a:t>
            </a:r>
            <a:r>
              <a:rPr lang="en-US" b="1" dirty="0"/>
              <a:t>TS(T)</a:t>
            </a:r>
            <a:r>
              <a:rPr lang="en-US" dirty="0"/>
              <a:t> upon arrival (the </a:t>
            </a:r>
            <a:r>
              <a:rPr lang="en-US" b="1" dirty="0"/>
              <a:t>timestamp of T</a:t>
            </a:r>
            <a:r>
              <a:rPr lang="en-US" dirty="0"/>
              <a:t>).</a:t>
            </a:r>
          </a:p>
          <a:p>
            <a:r>
              <a:rPr lang="en-US" dirty="0"/>
              <a:t>If T</a:t>
            </a:r>
            <a:r>
              <a:rPr lang="en-US" baseline="-25000" dirty="0"/>
              <a:t>1</a:t>
            </a:r>
            <a:r>
              <a:rPr lang="en-US" dirty="0"/>
              <a:t> arrived earlier than T</a:t>
            </a:r>
            <a:r>
              <a:rPr lang="en-US" baseline="-25000" dirty="0"/>
              <a:t>2</a:t>
            </a:r>
            <a:r>
              <a:rPr lang="en-US" dirty="0"/>
              <a:t>, we require</a:t>
            </a:r>
            <a:r>
              <a:rPr lang="en-US" dirty="0">
                <a:sym typeface="Wingdings"/>
              </a:rPr>
              <a:t> </a:t>
            </a:r>
            <a:r>
              <a:rPr lang="en-US" b="1" dirty="0"/>
              <a:t>TS(T</a:t>
            </a:r>
            <a:r>
              <a:rPr lang="en-US" b="1" baseline="-25000" dirty="0"/>
              <a:t>1</a:t>
            </a:r>
            <a:r>
              <a:rPr lang="en-US" b="1" dirty="0"/>
              <a:t>) &lt; TS(T</a:t>
            </a:r>
            <a:r>
              <a:rPr lang="en-US" b="1" baseline="-25000" dirty="0"/>
              <a:t>2</a:t>
            </a:r>
            <a:r>
              <a:rPr lang="en-US" b="1" dirty="0"/>
              <a:t>)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Timestamps</a:t>
            </a:r>
            <a:r>
              <a:rPr lang="en-US" dirty="0"/>
              <a:t> </a:t>
            </a:r>
            <a:r>
              <a:rPr lang="en-US" b="1" dirty="0"/>
              <a:t>do not change </a:t>
            </a:r>
            <a:r>
              <a:rPr lang="en-US" dirty="0"/>
              <a:t>even after a restart!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9298154" y="4409760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time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509714" y="4409760"/>
            <a:ext cx="73448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85778" y="4141442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49863" y="4564197"/>
            <a:ext cx="1071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TS(T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 = 1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5606" y="4141442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49691" y="4564197"/>
            <a:ext cx="1071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TS(T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 = 2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5743413" y="4141442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207498" y="4564197"/>
            <a:ext cx="1071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TS(T</a:t>
            </a:r>
            <a:r>
              <a:rPr lang="en-US" baseline="-25000" dirty="0">
                <a:solidFill>
                  <a:schemeClr val="accent1"/>
                </a:solidFill>
              </a:rPr>
              <a:t>4</a:t>
            </a:r>
            <a:r>
              <a:rPr lang="en-US" dirty="0">
                <a:solidFill>
                  <a:schemeClr val="accent1"/>
                </a:solidFill>
              </a:rPr>
              <a:t>) = 4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8408174" y="4141442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72259" y="4564197"/>
            <a:ext cx="1071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TS(T</a:t>
            </a:r>
            <a:r>
              <a:rPr lang="en-US" b="1" baseline="-25000" dirty="0">
                <a:solidFill>
                  <a:schemeClr val="accent1"/>
                </a:solidFill>
              </a:rPr>
              <a:t>2</a:t>
            </a:r>
            <a:r>
              <a:rPr lang="en-US" b="1" dirty="0">
                <a:solidFill>
                  <a:schemeClr val="accent1"/>
                </a:solidFill>
              </a:rPr>
              <a:t>) = 2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7227254" y="4141442"/>
            <a:ext cx="0" cy="38457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556052" y="3690973"/>
            <a:ext cx="1059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 arrives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8754" y="3686405"/>
            <a:ext cx="1059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 arrives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3686" y="3679698"/>
            <a:ext cx="1059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4</a:t>
            </a:r>
            <a:r>
              <a:rPr lang="en-US" dirty="0">
                <a:solidFill>
                  <a:schemeClr val="accent1"/>
                </a:solidFill>
              </a:rPr>
              <a:t> arrives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2163" y="3675970"/>
            <a:ext cx="1370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 is aborted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8308" y="3671097"/>
            <a:ext cx="1139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 restarts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18754" y="3429000"/>
            <a:ext cx="1059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baseline="-25000" dirty="0">
                <a:solidFill>
                  <a:schemeClr val="accent1"/>
                </a:solidFill>
              </a:rPr>
              <a:t>3</a:t>
            </a:r>
            <a:r>
              <a:rPr lang="en-US" dirty="0">
                <a:solidFill>
                  <a:schemeClr val="accent1"/>
                </a:solidFill>
              </a:rPr>
              <a:t> arrives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9691" y="4829999"/>
            <a:ext cx="1071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TS(T</a:t>
            </a:r>
            <a:r>
              <a:rPr lang="en-US" baseline="-25000" dirty="0">
                <a:solidFill>
                  <a:schemeClr val="accent1"/>
                </a:solidFill>
              </a:rPr>
              <a:t>3</a:t>
            </a:r>
            <a:r>
              <a:rPr lang="en-US" dirty="0">
                <a:solidFill>
                  <a:schemeClr val="accent1"/>
                </a:solidFill>
              </a:rPr>
              <a:t>) = 3</a:t>
            </a:r>
          </a:p>
        </p:txBody>
      </p:sp>
      <p:sp>
        <p:nvSpPr>
          <p:cNvPr id="31" name="Rounded Rectangular Callout 30"/>
          <p:cNvSpPr/>
          <p:nvPr/>
        </p:nvSpPr>
        <p:spPr>
          <a:xfrm>
            <a:off x="1488278" y="2960423"/>
            <a:ext cx="2412600" cy="445255"/>
          </a:xfrm>
          <a:prstGeom prst="wedgeRoundRectCallout">
            <a:avLst>
              <a:gd name="adj1" fmla="val -36433"/>
              <a:gd name="adj2" fmla="val -7772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“T</a:t>
            </a:r>
            <a:r>
              <a:rPr lang="en-US" baseline="-25000" dirty="0"/>
              <a:t>2</a:t>
            </a:r>
            <a:r>
              <a:rPr lang="en-US" dirty="0"/>
              <a:t> is younger than T</a:t>
            </a:r>
            <a:r>
              <a:rPr lang="en-US" baseline="-25000" dirty="0"/>
              <a:t>1</a:t>
            </a:r>
            <a:r>
              <a:rPr lang="en-US" dirty="0"/>
              <a:t>”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1013452" y="2722307"/>
            <a:ext cx="3528392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2" name="Rounded Rectangular Callout 31"/>
          <p:cNvSpPr/>
          <p:nvPr/>
        </p:nvSpPr>
        <p:spPr>
          <a:xfrm>
            <a:off x="6396776" y="5355949"/>
            <a:ext cx="3378595" cy="975429"/>
          </a:xfrm>
          <a:prstGeom prst="wedgeRoundRectCallout">
            <a:avLst>
              <a:gd name="adj1" fmla="val -56894"/>
              <a:gd name="adj2" fmla="val -2080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Caution:</a:t>
            </a:r>
            <a:r>
              <a:rPr lang="en-US" dirty="0"/>
              <a:t> We will see a different</a:t>
            </a:r>
            <a:br>
              <a:rPr lang="en-US" dirty="0"/>
            </a:br>
            <a:r>
              <a:rPr lang="en-US" dirty="0"/>
              <a:t>timestamp-based method in the next video, where timestamps </a:t>
            </a:r>
            <a:r>
              <a:rPr lang="en-US" i="1" dirty="0"/>
              <a:t>do</a:t>
            </a:r>
            <a:r>
              <a:rPr lang="en-US" dirty="0"/>
              <a:t> change after restart</a:t>
            </a:r>
          </a:p>
        </p:txBody>
      </p:sp>
      <p:sp>
        <p:nvSpPr>
          <p:cNvPr id="34" name="Rounded Rectangular Callout 33"/>
          <p:cNvSpPr/>
          <p:nvPr/>
        </p:nvSpPr>
        <p:spPr>
          <a:xfrm>
            <a:off x="4021884" y="2963310"/>
            <a:ext cx="2074116" cy="445255"/>
          </a:xfrm>
          <a:prstGeom prst="wedgeRoundRectCallout">
            <a:avLst>
              <a:gd name="adj1" fmla="val -74334"/>
              <a:gd name="adj2" fmla="val -8655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“T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/>
              <a:t>is older than </a:t>
            </a:r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864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2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  <p:bldP spid="12" grpId="0"/>
      <p:bldP spid="18" grpId="0"/>
      <p:bldP spid="18" grpId="1"/>
      <p:bldP spid="20" grpId="0"/>
      <p:bldP spid="22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 animBg="1"/>
      <p:bldP spid="32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Are Timestamps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Want to prevent cyclic dependencies such as</a:t>
            </a:r>
          </a:p>
          <a:p>
            <a:pPr lvl="1"/>
            <a:r>
              <a:rPr lang="en-US" b="1" dirty="0"/>
              <a:t>T</a:t>
            </a:r>
            <a:r>
              <a:rPr lang="en-US" b="1" baseline="-25000" dirty="0"/>
              <a:t>1</a:t>
            </a:r>
            <a:r>
              <a:rPr lang="en-US" dirty="0"/>
              <a:t> holds a lock on X</a:t>
            </a:r>
            <a:r>
              <a:rPr lang="en-US" baseline="-25000" dirty="0"/>
              <a:t>1</a:t>
            </a:r>
            <a:r>
              <a:rPr lang="en-US" dirty="0"/>
              <a:t> and </a:t>
            </a:r>
            <a:r>
              <a:rPr lang="en-US" b="1" dirty="0"/>
              <a:t>waits for a lock on X</a:t>
            </a:r>
            <a:r>
              <a:rPr lang="en-US" b="1" baseline="-25000" dirty="0"/>
              <a:t>2</a:t>
            </a:r>
          </a:p>
          <a:p>
            <a:pPr lvl="1"/>
            <a:r>
              <a:rPr lang="en-US" b="1" dirty="0"/>
              <a:t>T</a:t>
            </a:r>
            <a:r>
              <a:rPr lang="en-US" b="1" baseline="-25000" dirty="0"/>
              <a:t>2</a:t>
            </a:r>
            <a:r>
              <a:rPr lang="en-US" dirty="0"/>
              <a:t> holds a lock on X</a:t>
            </a:r>
            <a:r>
              <a:rPr lang="en-US" baseline="-25000" dirty="0"/>
              <a:t>2</a:t>
            </a:r>
            <a:r>
              <a:rPr lang="en-US" dirty="0"/>
              <a:t> and </a:t>
            </a:r>
            <a:r>
              <a:rPr lang="en-US" b="1" dirty="0"/>
              <a:t>waits for a lock on X</a:t>
            </a:r>
            <a:r>
              <a:rPr lang="en-US" b="1" baseline="-25000" dirty="0"/>
              <a:t>3</a:t>
            </a:r>
            <a:endParaRPr lang="en-US" b="1" dirty="0"/>
          </a:p>
          <a:p>
            <a:pPr lvl="1"/>
            <a:r>
              <a:rPr lang="mr-IN" dirty="0"/>
              <a:t>…</a:t>
            </a:r>
            <a:endParaRPr lang="en-GB" dirty="0"/>
          </a:p>
          <a:p>
            <a:pPr lvl="1"/>
            <a:r>
              <a:rPr lang="en-US" b="1" dirty="0" err="1"/>
              <a:t>T</a:t>
            </a:r>
            <a:r>
              <a:rPr lang="en-US" b="1" baseline="-25000" dirty="0" err="1"/>
              <a:t>n</a:t>
            </a:r>
            <a:r>
              <a:rPr lang="en-US" dirty="0"/>
              <a:t> holds a lock on 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 and </a:t>
            </a:r>
            <a:r>
              <a:rPr lang="en-US" b="1" dirty="0"/>
              <a:t>waits for a lock on X</a:t>
            </a:r>
            <a:r>
              <a:rPr lang="en-US" b="1" baseline="-25000" dirty="0"/>
              <a:t>1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 timestamps to decide which transaction can wait further and which must abort to prevent deadlock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006350" y="3875583"/>
            <a:ext cx="504056" cy="4103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4878558" y="3875583"/>
            <a:ext cx="504056" cy="4103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</a:t>
            </a:r>
            <a:r>
              <a:rPr lang="en-US" baseline="-25000"/>
              <a:t>2</a:t>
            </a:r>
            <a:endParaRPr lang="en-US" baseline="-25000" dirty="0"/>
          </a:p>
        </p:txBody>
      </p:sp>
      <p:sp>
        <p:nvSpPr>
          <p:cNvPr id="7" name="Rectangle 6"/>
          <p:cNvSpPr/>
          <p:nvPr/>
        </p:nvSpPr>
        <p:spPr>
          <a:xfrm>
            <a:off x="8550966" y="3875583"/>
            <a:ext cx="504056" cy="4103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</a:t>
            </a:r>
            <a:r>
              <a:rPr lang="en-US" baseline="-25000" dirty="0" err="1"/>
              <a:t>n</a:t>
            </a:r>
            <a:endParaRPr lang="en-US" baseline="-25000" dirty="0"/>
          </a:p>
        </p:txBody>
      </p:sp>
      <p:sp>
        <p:nvSpPr>
          <p:cNvPr id="8" name="Rectangle 7"/>
          <p:cNvSpPr/>
          <p:nvPr/>
        </p:nvSpPr>
        <p:spPr>
          <a:xfrm>
            <a:off x="6732101" y="3875583"/>
            <a:ext cx="504056" cy="4103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r-IN" dirty="0"/>
              <a:t>…</a:t>
            </a:r>
            <a:endParaRPr lang="en-US" baseline="-25000" dirty="0"/>
          </a:p>
        </p:txBody>
      </p:sp>
      <p:cxnSp>
        <p:nvCxnSpPr>
          <p:cNvPr id="10" name="Straight Arrow Connector 9"/>
          <p:cNvCxnSpPr>
            <a:stCxn id="5" idx="3"/>
            <a:endCxn id="6" idx="1"/>
          </p:cNvCxnSpPr>
          <p:nvPr/>
        </p:nvCxnSpPr>
        <p:spPr>
          <a:xfrm>
            <a:off x="3510406" y="4080755"/>
            <a:ext cx="13681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3"/>
            <a:endCxn id="8" idx="1"/>
          </p:cNvCxnSpPr>
          <p:nvPr/>
        </p:nvCxnSpPr>
        <p:spPr>
          <a:xfrm>
            <a:off x="5382615" y="4080755"/>
            <a:ext cx="1349487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3"/>
            <a:endCxn id="7" idx="1"/>
          </p:cNvCxnSpPr>
          <p:nvPr/>
        </p:nvCxnSpPr>
        <p:spPr>
          <a:xfrm>
            <a:off x="7236158" y="4080755"/>
            <a:ext cx="1314809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stCxn id="7" idx="2"/>
            <a:endCxn id="5" idx="2"/>
          </p:cNvCxnSpPr>
          <p:nvPr/>
        </p:nvCxnSpPr>
        <p:spPr>
          <a:xfrm rot="5400000">
            <a:off x="6030686" y="1513619"/>
            <a:ext cx="12700" cy="5544616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54422" y="3717843"/>
            <a:ext cx="103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waits for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0837" y="3721180"/>
            <a:ext cx="103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waits for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2166" y="3717843"/>
            <a:ext cx="103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waits for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3006" y="4511606"/>
            <a:ext cx="103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waits for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3033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/>
      <p:bldP spid="26" grpId="0"/>
      <p:bldP spid="27" grpId="0"/>
      <p:bldP spid="28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Wait-Die Scheme</a:t>
            </a:r>
            <a:br>
              <a:rPr lang="en-US" dirty="0"/>
            </a:br>
            <a:r>
              <a:rPr lang="en-US" sz="2200" dirty="0"/>
              <a:t>(“older transactions </a:t>
            </a:r>
            <a:r>
              <a:rPr lang="en-US" sz="2200" i="1" dirty="0"/>
              <a:t>always</a:t>
            </a:r>
            <a:r>
              <a:rPr lang="en-US" sz="2200" dirty="0"/>
              <a:t> wait for unlocks”)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0858" y="2988367"/>
            <a:ext cx="8229600" cy="3836543"/>
          </a:xfrm>
        </p:spPr>
        <p:txBody>
          <a:bodyPr>
            <a:normAutofit/>
          </a:bodyPr>
          <a:lstStyle/>
          <a:p>
            <a:r>
              <a:rPr lang="en-US" b="1" dirty="0"/>
              <a:t>Case 1:</a:t>
            </a:r>
            <a:r>
              <a:rPr lang="en-US" dirty="0"/>
              <a:t> </a:t>
            </a:r>
            <a:r>
              <a:rPr lang="en-US" b="1" dirty="0">
                <a:solidFill>
                  <a:schemeClr val="accent2"/>
                </a:solidFill>
              </a:rPr>
              <a:t>T</a:t>
            </a:r>
            <a:r>
              <a:rPr lang="en-US" b="1" baseline="-25000" dirty="0">
                <a:solidFill>
                  <a:schemeClr val="accent2"/>
                </a:solidFill>
              </a:rPr>
              <a:t>1</a:t>
            </a:r>
            <a:r>
              <a:rPr lang="en-US" b="1" dirty="0"/>
              <a:t> is older than T</a:t>
            </a:r>
            <a:r>
              <a:rPr lang="en-US" b="1" baseline="-25000" dirty="0"/>
              <a:t>2</a:t>
            </a:r>
            <a:br>
              <a:rPr lang="en-US" b="1" dirty="0"/>
            </a:br>
            <a:r>
              <a:rPr lang="en-US" sz="2400" b="1" dirty="0">
                <a:solidFill>
                  <a:srgbClr val="C00000"/>
                </a:solidFill>
              </a:rPr>
              <a:t>T</a:t>
            </a:r>
            <a:r>
              <a:rPr lang="en-US" sz="2400" b="1" baseline="-25000" dirty="0">
                <a:solidFill>
                  <a:srgbClr val="C00000"/>
                </a:solidFill>
              </a:rPr>
              <a:t>1</a:t>
            </a:r>
            <a:r>
              <a:rPr lang="en-US" sz="2400" dirty="0"/>
              <a:t> is allowed to wait further</a:t>
            </a:r>
            <a:br>
              <a:rPr lang="en-US" sz="2400" dirty="0"/>
            </a:br>
            <a:r>
              <a:rPr lang="en-US" sz="2400" dirty="0"/>
              <a:t>for </a:t>
            </a:r>
            <a:r>
              <a:rPr lang="en-US" sz="2400" b="1" dirty="0"/>
              <a:t>T</a:t>
            </a:r>
            <a:r>
              <a:rPr lang="en-US" sz="2400" b="1" baseline="-25000" dirty="0"/>
              <a:t>2</a:t>
            </a:r>
            <a:r>
              <a:rPr lang="en-US" sz="2400" dirty="0"/>
              <a:t> to unlock</a:t>
            </a:r>
          </a:p>
          <a:p>
            <a:r>
              <a:rPr lang="en-US" b="1" dirty="0"/>
              <a:t>Case 2:</a:t>
            </a:r>
            <a:r>
              <a:rPr lang="en-US" dirty="0"/>
              <a:t> </a:t>
            </a:r>
            <a:r>
              <a:rPr lang="en-US" b="1" dirty="0">
                <a:solidFill>
                  <a:schemeClr val="accent2"/>
                </a:solidFill>
              </a:rPr>
              <a:t>T</a:t>
            </a:r>
            <a:r>
              <a:rPr lang="en-US" b="1" baseline="-25000" dirty="0">
                <a:solidFill>
                  <a:schemeClr val="accent2"/>
                </a:solidFill>
              </a:rPr>
              <a:t>1</a:t>
            </a:r>
            <a:r>
              <a:rPr lang="en-US" b="1" dirty="0"/>
              <a:t> is younger than T</a:t>
            </a:r>
            <a:r>
              <a:rPr lang="en-US" b="1" baseline="-25000" dirty="0"/>
              <a:t>2</a:t>
            </a:r>
            <a:br>
              <a:rPr lang="en-US" b="1" dirty="0"/>
            </a:br>
            <a:r>
              <a:rPr lang="en-US" sz="2400" b="1" dirty="0">
                <a:solidFill>
                  <a:srgbClr val="C00000"/>
                </a:solidFill>
              </a:rPr>
              <a:t>T</a:t>
            </a:r>
            <a:r>
              <a:rPr lang="en-US" sz="2400" b="1" baseline="-25000" dirty="0">
                <a:solidFill>
                  <a:srgbClr val="C00000"/>
                </a:solidFill>
              </a:rPr>
              <a:t>1</a:t>
            </a:r>
            <a:r>
              <a:rPr lang="en-US" sz="2400" dirty="0"/>
              <a:t> </a:t>
            </a:r>
            <a:r>
              <a:rPr lang="en-US" sz="2400" dirty="0">
                <a:sym typeface="Wingdings"/>
              </a:rPr>
              <a:t>is rolled back (“dies”)</a:t>
            </a:r>
          </a:p>
          <a:p>
            <a:pPr>
              <a:spcBef>
                <a:spcPts val="3072"/>
              </a:spcBef>
            </a:pPr>
            <a:r>
              <a:rPr lang="en-US" dirty="0">
                <a:sym typeface="Wingdings"/>
              </a:rPr>
              <a:t>Note: only older transactions are allowed to wait, </a:t>
            </a: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so no cyclic dependencies created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grpSp>
        <p:nvGrpSpPr>
          <p:cNvPr id="29" name="Group 28"/>
          <p:cNvGrpSpPr/>
          <p:nvPr/>
        </p:nvGrpSpPr>
        <p:grpSpPr>
          <a:xfrm>
            <a:off x="4453510" y="1933450"/>
            <a:ext cx="2664296" cy="641286"/>
            <a:chOff x="3491880" y="1570312"/>
            <a:chExt cx="2664296" cy="641286"/>
          </a:xfrm>
        </p:grpSpPr>
        <p:sp>
          <p:nvSpPr>
            <p:cNvPr id="5" name="Rectangle 4"/>
            <p:cNvSpPr/>
            <p:nvPr/>
          </p:nvSpPr>
          <p:spPr>
            <a:xfrm>
              <a:off x="3491880" y="1729246"/>
              <a:ext cx="504056" cy="48235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2"/>
                  </a:solidFill>
                </a:rPr>
                <a:t>T</a:t>
              </a:r>
              <a:r>
                <a:rPr lang="en-US" sz="2400" baseline="-25000" dirty="0">
                  <a:solidFill>
                    <a:schemeClr val="accent2"/>
                  </a:solidFill>
                </a:rPr>
                <a:t>1</a:t>
              </a:r>
              <a:endParaRPr lang="en-US" sz="20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5652120" y="1729246"/>
              <a:ext cx="504056" cy="48235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T</a:t>
              </a:r>
              <a:r>
                <a:rPr lang="en-US" sz="2400" baseline="-25000" dirty="0"/>
                <a:t>2</a:t>
              </a:r>
            </a:p>
          </p:txBody>
        </p:sp>
        <p:cxnSp>
          <p:nvCxnSpPr>
            <p:cNvPr id="7" name="Straight Arrow Connector 6"/>
            <p:cNvCxnSpPr>
              <a:cxnSpLocks/>
              <a:stCxn id="5" idx="3"/>
              <a:endCxn id="6" idx="1"/>
            </p:cNvCxnSpPr>
            <p:nvPr/>
          </p:nvCxnSpPr>
          <p:spPr>
            <a:xfrm>
              <a:off x="3995936" y="1970422"/>
              <a:ext cx="165618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4278814" y="1570312"/>
              <a:ext cx="10904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waits for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7153810" y="3013571"/>
            <a:ext cx="2581876" cy="839607"/>
            <a:chOff x="5940152" y="2564904"/>
            <a:chExt cx="2581876" cy="839607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5960211" y="3288259"/>
              <a:ext cx="25618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536275" y="3019940"/>
              <a:ext cx="0" cy="384571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836103" y="3019940"/>
              <a:ext cx="0" cy="384571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5940152" y="2569472"/>
              <a:ext cx="11922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2"/>
                  </a:solidFill>
                </a:rPr>
                <a:t>T</a:t>
              </a:r>
              <a:r>
                <a:rPr lang="en-US" sz="2000" baseline="-25000" dirty="0">
                  <a:solidFill>
                    <a:schemeClr val="accent2"/>
                  </a:solidFill>
                </a:rPr>
                <a:t>1</a:t>
              </a:r>
              <a:r>
                <a:rPr lang="en-US" sz="2000" dirty="0">
                  <a:solidFill>
                    <a:schemeClr val="accent1"/>
                  </a:solidFill>
                </a:rPr>
                <a:t> arrived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202854" y="2564904"/>
              <a:ext cx="11922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T</a:t>
              </a:r>
              <a:r>
                <a:rPr lang="en-US" sz="2000" baseline="-25000" dirty="0">
                  <a:solidFill>
                    <a:schemeClr val="accent1"/>
                  </a:solidFill>
                </a:rPr>
                <a:t>2</a:t>
              </a:r>
              <a:r>
                <a:rPr lang="en-US" sz="2000" dirty="0">
                  <a:solidFill>
                    <a:schemeClr val="accent1"/>
                  </a:solidFill>
                </a:rPr>
                <a:t> arrived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153810" y="4433190"/>
            <a:ext cx="2581876" cy="839607"/>
            <a:chOff x="5940152" y="3984523"/>
            <a:chExt cx="2581876" cy="839607"/>
          </a:xfrm>
        </p:grpSpPr>
        <p:cxnSp>
          <p:nvCxnSpPr>
            <p:cNvPr id="21" name="Straight Arrow Connector 20"/>
            <p:cNvCxnSpPr/>
            <p:nvPr/>
          </p:nvCxnSpPr>
          <p:spPr>
            <a:xfrm>
              <a:off x="5960211" y="4707878"/>
              <a:ext cx="25618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6536275" y="4439559"/>
              <a:ext cx="0" cy="384571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7836103" y="4439559"/>
              <a:ext cx="0" cy="384571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5940152" y="3989091"/>
              <a:ext cx="11922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T</a:t>
              </a:r>
              <a:r>
                <a:rPr lang="en-US" sz="2000" baseline="-25000" dirty="0">
                  <a:solidFill>
                    <a:schemeClr val="accent1"/>
                  </a:solidFill>
                </a:rPr>
                <a:t>2</a:t>
              </a:r>
              <a:r>
                <a:rPr lang="en-US" sz="2000" dirty="0">
                  <a:solidFill>
                    <a:schemeClr val="accent1"/>
                  </a:solidFill>
                </a:rPr>
                <a:t> arrived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202854" y="3984523"/>
              <a:ext cx="11922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2"/>
                  </a:solidFill>
                </a:rPr>
                <a:t>T</a:t>
              </a:r>
              <a:r>
                <a:rPr lang="en-US" sz="2000" baseline="-25000" dirty="0">
                  <a:solidFill>
                    <a:schemeClr val="accent2"/>
                  </a:solidFill>
                </a:rPr>
                <a:t>1</a:t>
              </a:r>
              <a:r>
                <a:rPr lang="en-US" sz="2000" dirty="0">
                  <a:solidFill>
                    <a:schemeClr val="accent1"/>
                  </a:solidFill>
                </a:rPr>
                <a:t> arrived</a:t>
              </a:r>
            </a:p>
          </p:txBody>
        </p:sp>
      </p:grpSp>
      <p:sp>
        <p:nvSpPr>
          <p:cNvPr id="28" name="Rounded Rectangular Callout 27"/>
          <p:cNvSpPr/>
          <p:nvPr/>
        </p:nvSpPr>
        <p:spPr>
          <a:xfrm>
            <a:off x="5407450" y="2585655"/>
            <a:ext cx="2412600" cy="615517"/>
          </a:xfrm>
          <a:prstGeom prst="wedgeRoundRectCallout">
            <a:avLst>
              <a:gd name="adj1" fmla="val -36433"/>
              <a:gd name="adj2" fmla="val -7772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request an item that is locked </a:t>
            </a:r>
            <a:r>
              <a:rPr lang="en-US"/>
              <a:t>by T</a:t>
            </a:r>
            <a:r>
              <a:rPr lang="en-US" baseline="-25000"/>
              <a:t>2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274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Wound-Wait Scheme</a:t>
            </a:r>
            <a:br>
              <a:rPr lang="en-US" dirty="0"/>
            </a:br>
            <a:r>
              <a:rPr lang="en-US" sz="2000" dirty="0"/>
              <a:t> </a:t>
            </a:r>
            <a:r>
              <a:rPr lang="en-US" sz="2200" dirty="0"/>
              <a:t>(“older transactions </a:t>
            </a:r>
            <a:r>
              <a:rPr lang="en-US" sz="2200" i="1" dirty="0"/>
              <a:t>never</a:t>
            </a:r>
            <a:r>
              <a:rPr lang="en-US" sz="2200" dirty="0"/>
              <a:t> wait for unlocks”)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32F1DA95-F37F-4115-9621-2F66D1F5CCBE}"/>
              </a:ext>
            </a:extLst>
          </p:cNvPr>
          <p:cNvSpPr txBox="1">
            <a:spLocks/>
          </p:cNvSpPr>
          <p:nvPr/>
        </p:nvSpPr>
        <p:spPr>
          <a:xfrm>
            <a:off x="1676402" y="2992708"/>
            <a:ext cx="8229600" cy="383654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Case 1:</a:t>
            </a:r>
            <a:r>
              <a:rPr lang="en-US"/>
              <a:t> </a:t>
            </a:r>
            <a:r>
              <a:rPr lang="en-US" b="1">
                <a:solidFill>
                  <a:schemeClr val="accent2"/>
                </a:solidFill>
              </a:rPr>
              <a:t>T</a:t>
            </a:r>
            <a:r>
              <a:rPr lang="en-US" b="1" baseline="-25000">
                <a:solidFill>
                  <a:schemeClr val="accent2"/>
                </a:solidFill>
              </a:rPr>
              <a:t>1</a:t>
            </a:r>
            <a:r>
              <a:rPr lang="en-US" b="1"/>
              <a:t> is older than T</a:t>
            </a:r>
            <a:r>
              <a:rPr lang="en-US" b="1" baseline="-25000"/>
              <a:t>2</a:t>
            </a:r>
            <a:br>
              <a:rPr lang="en-US" b="1"/>
            </a:br>
            <a:r>
              <a:rPr lang="en-US" sz="2400" b="1"/>
              <a:t>T</a:t>
            </a:r>
            <a:r>
              <a:rPr lang="en-US" sz="2400" b="1" baseline="-25000"/>
              <a:t>2</a:t>
            </a:r>
            <a:r>
              <a:rPr lang="en-US" sz="2400"/>
              <a:t> is rolled back unless it has finished</a:t>
            </a:r>
            <a:br>
              <a:rPr lang="en-US" sz="2400"/>
            </a:br>
            <a:r>
              <a:rPr lang="en-US" sz="2400"/>
              <a:t>(it is “wounded”)</a:t>
            </a:r>
            <a:endParaRPr lang="en-US" sz="2400" baseline="-25000"/>
          </a:p>
          <a:p>
            <a:r>
              <a:rPr lang="en-US" b="1"/>
              <a:t>Case 2:</a:t>
            </a:r>
            <a:r>
              <a:rPr lang="en-US"/>
              <a:t> </a:t>
            </a:r>
            <a:r>
              <a:rPr lang="en-US" b="1">
                <a:solidFill>
                  <a:schemeClr val="accent2"/>
                </a:solidFill>
              </a:rPr>
              <a:t>T</a:t>
            </a:r>
            <a:r>
              <a:rPr lang="en-US" b="1" baseline="-25000">
                <a:solidFill>
                  <a:schemeClr val="accent2"/>
                </a:solidFill>
              </a:rPr>
              <a:t>1</a:t>
            </a:r>
            <a:r>
              <a:rPr lang="en-US" b="1"/>
              <a:t> is younger than T</a:t>
            </a:r>
            <a:r>
              <a:rPr lang="en-US" b="1" baseline="-25000"/>
              <a:t>2</a:t>
            </a:r>
            <a:br>
              <a:rPr lang="en-US" b="1"/>
            </a:br>
            <a:r>
              <a:rPr lang="en-US" sz="2400" b="1">
                <a:solidFill>
                  <a:srgbClr val="C00000"/>
                </a:solidFill>
              </a:rPr>
              <a:t>T</a:t>
            </a:r>
            <a:r>
              <a:rPr lang="en-US" sz="2400" b="1" baseline="-25000">
                <a:solidFill>
                  <a:srgbClr val="C00000"/>
                </a:solidFill>
              </a:rPr>
              <a:t>1</a:t>
            </a:r>
            <a:r>
              <a:rPr lang="en-US" sz="2400"/>
              <a:t> </a:t>
            </a:r>
            <a:r>
              <a:rPr lang="en-US" sz="2400">
                <a:sym typeface="Wingdings"/>
              </a:rPr>
              <a:t>is allowed to wait further</a:t>
            </a:r>
            <a:br>
              <a:rPr lang="en-US" sz="2400">
                <a:sym typeface="Wingdings"/>
              </a:rPr>
            </a:br>
            <a:r>
              <a:rPr lang="en-US" sz="2400">
                <a:sym typeface="Wingdings"/>
              </a:rPr>
              <a:t>for </a:t>
            </a:r>
            <a:r>
              <a:rPr lang="en-US" sz="2400" b="1">
                <a:sym typeface="Wingdings"/>
              </a:rPr>
              <a:t>T</a:t>
            </a:r>
            <a:r>
              <a:rPr lang="en-US" sz="2400" b="1" baseline="-25000">
                <a:sym typeface="Wingdings"/>
              </a:rPr>
              <a:t>2</a:t>
            </a:r>
            <a:r>
              <a:rPr lang="en-US" sz="2400">
                <a:sym typeface="Wingdings"/>
              </a:rPr>
              <a:t> to unlock</a:t>
            </a:r>
            <a:endParaRPr lang="en-US" sz="2400" baseline="-25000">
              <a:sym typeface="Wingdings"/>
            </a:endParaRPr>
          </a:p>
          <a:p>
            <a:pPr>
              <a:spcBef>
                <a:spcPts val="3072"/>
              </a:spcBef>
            </a:pPr>
            <a:r>
              <a:rPr lang="en-US">
                <a:sym typeface="Wingdings"/>
              </a:rPr>
              <a:t>Note: only younger transactions are allowed to wait, </a:t>
            </a:r>
            <a:br>
              <a:rPr lang="en-US">
                <a:sym typeface="Wingdings"/>
              </a:rPr>
            </a:br>
            <a:r>
              <a:rPr lang="en-US">
                <a:sym typeface="Wingdings"/>
              </a:rPr>
              <a:t>so no cyclic dependencies created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9329626-6E73-434F-8AFB-91EF02B483D4}"/>
              </a:ext>
            </a:extLst>
          </p:cNvPr>
          <p:cNvGrpSpPr/>
          <p:nvPr/>
        </p:nvGrpSpPr>
        <p:grpSpPr>
          <a:xfrm>
            <a:off x="4459054" y="1937791"/>
            <a:ext cx="2664296" cy="641286"/>
            <a:chOff x="3491880" y="1570312"/>
            <a:chExt cx="2664296" cy="64128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63A473E-E61E-4FAC-B638-0EAC2C9D45E2}"/>
                </a:ext>
              </a:extLst>
            </p:cNvPr>
            <p:cNvSpPr/>
            <p:nvPr/>
          </p:nvSpPr>
          <p:spPr>
            <a:xfrm>
              <a:off x="3491880" y="1729246"/>
              <a:ext cx="504056" cy="48235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2"/>
                  </a:solidFill>
                </a:rPr>
                <a:t>T</a:t>
              </a:r>
              <a:r>
                <a:rPr lang="en-US" sz="2400" baseline="-25000" dirty="0">
                  <a:solidFill>
                    <a:schemeClr val="accent2"/>
                  </a:solidFill>
                </a:rPr>
                <a:t>1</a:t>
              </a:r>
              <a:endParaRPr lang="en-US" sz="20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81F7694-C3E5-4C80-92F0-E60CDC8AFE1A}"/>
                </a:ext>
              </a:extLst>
            </p:cNvPr>
            <p:cNvSpPr/>
            <p:nvPr/>
          </p:nvSpPr>
          <p:spPr>
            <a:xfrm>
              <a:off x="5652120" y="1729246"/>
              <a:ext cx="504056" cy="48235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T</a:t>
              </a:r>
              <a:r>
                <a:rPr lang="en-US" sz="2400" baseline="-25000" dirty="0"/>
                <a:t>2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E070E79-4DC1-42B7-9D33-68DCEAEE459B}"/>
                </a:ext>
              </a:extLst>
            </p:cNvPr>
            <p:cNvCxnSpPr>
              <a:stCxn id="31" idx="3"/>
              <a:endCxn id="32" idx="1"/>
            </p:cNvCxnSpPr>
            <p:nvPr/>
          </p:nvCxnSpPr>
          <p:spPr>
            <a:xfrm>
              <a:off x="3995936" y="1970422"/>
              <a:ext cx="165618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D8C1654-92C8-4E2B-836A-B4DB94E648EA}"/>
                </a:ext>
              </a:extLst>
            </p:cNvPr>
            <p:cNvSpPr txBox="1"/>
            <p:nvPr/>
          </p:nvSpPr>
          <p:spPr>
            <a:xfrm>
              <a:off x="4278814" y="1570312"/>
              <a:ext cx="10904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waits for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C2C94F1-EF1E-4CC9-94C8-4BD68F4645E9}"/>
              </a:ext>
            </a:extLst>
          </p:cNvPr>
          <p:cNvGrpSpPr/>
          <p:nvPr/>
        </p:nvGrpSpPr>
        <p:grpSpPr>
          <a:xfrm>
            <a:off x="7159354" y="3017912"/>
            <a:ext cx="2581876" cy="839607"/>
            <a:chOff x="5940152" y="2564904"/>
            <a:chExt cx="2581876" cy="839607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6147237-13F8-45A9-B142-059BD7097EC8}"/>
                </a:ext>
              </a:extLst>
            </p:cNvPr>
            <p:cNvCxnSpPr/>
            <p:nvPr/>
          </p:nvCxnSpPr>
          <p:spPr>
            <a:xfrm>
              <a:off x="5960211" y="3288259"/>
              <a:ext cx="25618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FF80166-6C53-493A-8154-59DDD6749961}"/>
                </a:ext>
              </a:extLst>
            </p:cNvPr>
            <p:cNvCxnSpPr/>
            <p:nvPr/>
          </p:nvCxnSpPr>
          <p:spPr>
            <a:xfrm>
              <a:off x="6536275" y="3019940"/>
              <a:ext cx="0" cy="384571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58F65EF-8F20-49A2-AF3B-181C4EC6A5A3}"/>
                </a:ext>
              </a:extLst>
            </p:cNvPr>
            <p:cNvCxnSpPr/>
            <p:nvPr/>
          </p:nvCxnSpPr>
          <p:spPr>
            <a:xfrm>
              <a:off x="7836103" y="3019940"/>
              <a:ext cx="0" cy="384571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78454AF-6316-46EC-94FC-636C2605FE6C}"/>
                </a:ext>
              </a:extLst>
            </p:cNvPr>
            <p:cNvSpPr txBox="1"/>
            <p:nvPr/>
          </p:nvSpPr>
          <p:spPr>
            <a:xfrm>
              <a:off x="5940152" y="2569472"/>
              <a:ext cx="11922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2"/>
                  </a:solidFill>
                </a:rPr>
                <a:t>T</a:t>
              </a:r>
              <a:r>
                <a:rPr lang="en-US" sz="2000" baseline="-25000" dirty="0">
                  <a:solidFill>
                    <a:schemeClr val="accent2"/>
                  </a:solidFill>
                </a:rPr>
                <a:t>1</a:t>
              </a:r>
              <a:r>
                <a:rPr lang="en-US" sz="2000" dirty="0">
                  <a:solidFill>
                    <a:schemeClr val="accent1"/>
                  </a:solidFill>
                </a:rPr>
                <a:t> arrived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A3F4FAC-F4F3-4E29-9E37-5F451CED80F7}"/>
                </a:ext>
              </a:extLst>
            </p:cNvPr>
            <p:cNvSpPr txBox="1"/>
            <p:nvPr/>
          </p:nvSpPr>
          <p:spPr>
            <a:xfrm>
              <a:off x="7202854" y="2564904"/>
              <a:ext cx="11922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T</a:t>
              </a:r>
              <a:r>
                <a:rPr lang="en-US" sz="2000" baseline="-25000" dirty="0">
                  <a:solidFill>
                    <a:schemeClr val="accent1"/>
                  </a:solidFill>
                </a:rPr>
                <a:t>2</a:t>
              </a:r>
              <a:r>
                <a:rPr lang="en-US" sz="2000" dirty="0">
                  <a:solidFill>
                    <a:schemeClr val="accent1"/>
                  </a:solidFill>
                </a:rPr>
                <a:t> arrived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D0F898F-22FD-4186-ACCE-8756EC5C5E79}"/>
              </a:ext>
            </a:extLst>
          </p:cNvPr>
          <p:cNvGrpSpPr/>
          <p:nvPr/>
        </p:nvGrpSpPr>
        <p:grpSpPr>
          <a:xfrm>
            <a:off x="7159354" y="4437531"/>
            <a:ext cx="2581876" cy="839607"/>
            <a:chOff x="5940152" y="3984523"/>
            <a:chExt cx="2581876" cy="839607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B1AD7C8-3448-4FB3-85FD-3BD7434A61A0}"/>
                </a:ext>
              </a:extLst>
            </p:cNvPr>
            <p:cNvCxnSpPr/>
            <p:nvPr/>
          </p:nvCxnSpPr>
          <p:spPr>
            <a:xfrm>
              <a:off x="5960211" y="4707878"/>
              <a:ext cx="25618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AABDBE2-6781-49C7-A366-9E56FC27DF7F}"/>
                </a:ext>
              </a:extLst>
            </p:cNvPr>
            <p:cNvCxnSpPr/>
            <p:nvPr/>
          </p:nvCxnSpPr>
          <p:spPr>
            <a:xfrm>
              <a:off x="6536275" y="4439559"/>
              <a:ext cx="0" cy="384571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EC83736-4FEE-44FD-BD96-4DB09CF69383}"/>
                </a:ext>
              </a:extLst>
            </p:cNvPr>
            <p:cNvCxnSpPr/>
            <p:nvPr/>
          </p:nvCxnSpPr>
          <p:spPr>
            <a:xfrm>
              <a:off x="7836103" y="4439559"/>
              <a:ext cx="0" cy="384571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86E6A83-F701-4F8C-8983-6824928318A3}"/>
                </a:ext>
              </a:extLst>
            </p:cNvPr>
            <p:cNvSpPr txBox="1"/>
            <p:nvPr/>
          </p:nvSpPr>
          <p:spPr>
            <a:xfrm>
              <a:off x="5940152" y="3989091"/>
              <a:ext cx="11922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T</a:t>
              </a:r>
              <a:r>
                <a:rPr lang="en-US" sz="2000" baseline="-25000" dirty="0">
                  <a:solidFill>
                    <a:schemeClr val="accent1"/>
                  </a:solidFill>
                </a:rPr>
                <a:t>2</a:t>
              </a:r>
              <a:r>
                <a:rPr lang="en-US" sz="2000" dirty="0">
                  <a:solidFill>
                    <a:schemeClr val="accent1"/>
                  </a:solidFill>
                </a:rPr>
                <a:t> arrived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DED4C90-1573-4952-8CD8-F8225026A675}"/>
                </a:ext>
              </a:extLst>
            </p:cNvPr>
            <p:cNvSpPr txBox="1"/>
            <p:nvPr/>
          </p:nvSpPr>
          <p:spPr>
            <a:xfrm>
              <a:off x="7202854" y="3984523"/>
              <a:ext cx="11922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2"/>
                  </a:solidFill>
                </a:rPr>
                <a:t>T</a:t>
              </a:r>
              <a:r>
                <a:rPr lang="en-US" sz="2000" baseline="-25000" dirty="0">
                  <a:solidFill>
                    <a:schemeClr val="accent2"/>
                  </a:solidFill>
                </a:rPr>
                <a:t>1</a:t>
              </a:r>
              <a:r>
                <a:rPr lang="en-US" sz="2000" dirty="0">
                  <a:solidFill>
                    <a:schemeClr val="accent1"/>
                  </a:solidFill>
                </a:rPr>
                <a:t> arrived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85900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Wound-Wait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At all times, the oldest transaction can move </a:t>
            </a:r>
          </a:p>
          <a:p>
            <a:r>
              <a:rPr lang="en-US" dirty="0"/>
              <a:t>Hence, eventually it finishes and there is one less transaction left and we are still doing Wound-Wait! </a:t>
            </a:r>
          </a:p>
          <a:p>
            <a:endParaRPr lang="en-US" dirty="0"/>
          </a:p>
          <a:p>
            <a:r>
              <a:rPr lang="en-US" dirty="0"/>
              <a:t>Wait-Die is similar, but we look at the oldest transaction or the transaction it (recursively) waits for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2102903" y="1845734"/>
            <a:ext cx="6030416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Eventually, any finite number of transactions finishes </a:t>
            </a:r>
            <a:r>
              <a:rPr lang="en-US" sz="2400"/>
              <a:t>under Wound-Wait</a:t>
            </a:r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1928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6034D-FD7F-4DCA-AA99-844AE89F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7B68B-6EC9-4B11-B471-1C03B895B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some typical approaches to finding deadlocks:</a:t>
            </a:r>
          </a:p>
          <a:p>
            <a:pPr lvl="1"/>
            <a:r>
              <a:rPr lang="en-US" dirty="0"/>
              <a:t>Timeout</a:t>
            </a:r>
          </a:p>
          <a:p>
            <a:pPr lvl="1"/>
            <a:r>
              <a:rPr lang="en-GB" dirty="0"/>
              <a:t>Wait-for graphs</a:t>
            </a:r>
          </a:p>
          <a:p>
            <a:pPr lvl="1"/>
            <a:r>
              <a:rPr lang="en-GB" dirty="0"/>
              <a:t>Timestamp based approaches (Die young!):</a:t>
            </a:r>
          </a:p>
          <a:p>
            <a:pPr lvl="2"/>
            <a:r>
              <a:rPr lang="en-GB" dirty="0"/>
              <a:t>Wait-Die: If </a:t>
            </a:r>
            <a:r>
              <a:rPr lang="en-GB" dirty="0">
                <a:solidFill>
                  <a:srgbClr val="C86C44"/>
                </a:solidFill>
              </a:rPr>
              <a:t>T</a:t>
            </a:r>
            <a:r>
              <a:rPr lang="en-GB" baseline="-25000" dirty="0">
                <a:solidFill>
                  <a:srgbClr val="C86C44"/>
                </a:solidFill>
              </a:rPr>
              <a:t>1</a:t>
            </a:r>
            <a:r>
              <a:rPr lang="en-GB" dirty="0"/>
              <a:t> is younger, abort it…</a:t>
            </a:r>
          </a:p>
          <a:p>
            <a:pPr lvl="2"/>
            <a:r>
              <a:rPr lang="en-GB" dirty="0"/>
              <a:t>Wound-Wait: If T</a:t>
            </a:r>
            <a:r>
              <a:rPr lang="en-GB" baseline="-25000" dirty="0"/>
              <a:t>2</a:t>
            </a:r>
            <a:r>
              <a:rPr lang="en-GB" dirty="0"/>
              <a:t> is younger, abort it…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BEA2C1-6E1A-42A9-89EE-112D25ED4A32}"/>
              </a:ext>
            </a:extLst>
          </p:cNvPr>
          <p:cNvGrpSpPr/>
          <p:nvPr/>
        </p:nvGrpSpPr>
        <p:grpSpPr>
          <a:xfrm>
            <a:off x="6619767" y="2776795"/>
            <a:ext cx="2664296" cy="641286"/>
            <a:chOff x="3491880" y="1570312"/>
            <a:chExt cx="2664296" cy="64128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0A3D753-52C4-4A9C-BAA4-002CBA679701}"/>
                </a:ext>
              </a:extLst>
            </p:cNvPr>
            <p:cNvSpPr/>
            <p:nvPr/>
          </p:nvSpPr>
          <p:spPr>
            <a:xfrm>
              <a:off x="3491880" y="1729246"/>
              <a:ext cx="504056" cy="48235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2"/>
                  </a:solidFill>
                </a:rPr>
                <a:t>T</a:t>
              </a:r>
              <a:r>
                <a:rPr lang="en-US" sz="2400" baseline="-25000" dirty="0">
                  <a:solidFill>
                    <a:schemeClr val="accent2"/>
                  </a:solidFill>
                </a:rPr>
                <a:t>1</a:t>
              </a:r>
              <a:endParaRPr lang="en-US" sz="20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9A83BA2-F6FB-4464-BA79-6D8EAFB1E498}"/>
                </a:ext>
              </a:extLst>
            </p:cNvPr>
            <p:cNvSpPr/>
            <p:nvPr/>
          </p:nvSpPr>
          <p:spPr>
            <a:xfrm>
              <a:off x="5652120" y="1729246"/>
              <a:ext cx="504056" cy="48235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T</a:t>
              </a:r>
              <a:r>
                <a:rPr lang="en-US" sz="2400" baseline="-25000" dirty="0"/>
                <a:t>2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E43A9BE-AE44-48DC-9239-034BA195127E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3995936" y="1970422"/>
              <a:ext cx="165618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3CCC38D-20BC-44DA-9270-D4AFCD2A2E21}"/>
                </a:ext>
              </a:extLst>
            </p:cNvPr>
            <p:cNvSpPr txBox="1"/>
            <p:nvPr/>
          </p:nvSpPr>
          <p:spPr>
            <a:xfrm>
              <a:off x="4278814" y="1570312"/>
              <a:ext cx="10904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/>
                  </a:solidFill>
                </a:rPr>
                <a:t>waits for</a:t>
              </a:r>
            </a:p>
          </p:txBody>
        </p:sp>
      </p:grpSp>
      <p:sp>
        <p:nvSpPr>
          <p:cNvPr id="9" name="Rounded Rectangular Callout 27">
            <a:extLst>
              <a:ext uri="{FF2B5EF4-FFF2-40B4-BE49-F238E27FC236}">
                <a16:creationId xmlns:a16="http://schemas.microsoft.com/office/drawing/2014/main" id="{5089C7B5-BD9F-48DE-ACDB-CF3A6E96C5E6}"/>
              </a:ext>
            </a:extLst>
          </p:cNvPr>
          <p:cNvSpPr/>
          <p:nvPr/>
        </p:nvSpPr>
        <p:spPr>
          <a:xfrm>
            <a:off x="7573707" y="3429000"/>
            <a:ext cx="2412600" cy="615517"/>
          </a:xfrm>
          <a:prstGeom prst="wedgeRoundRectCallout">
            <a:avLst>
              <a:gd name="adj1" fmla="val -36433"/>
              <a:gd name="adj2" fmla="val -7772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request an item that is locked </a:t>
            </a:r>
            <a:r>
              <a:rPr lang="en-US"/>
              <a:t>by T</a:t>
            </a:r>
            <a:r>
              <a:rPr lang="en-US" baseline="-25000"/>
              <a:t>2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3962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4|3.6|9|5.9|3|2.3|0.8|7|21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5|30.8|21.9|12.5|35.9|10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3|2.7|2.4|6.6|16.8|16|10.4|5|7.2|8.4|19.8|13|5.2|14.5|4.6|7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35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6|4.2|15.8|15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2|34.6|21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7|11.7|22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|11.6|31|14.5|9.1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154</TotalTime>
  <Words>711</Words>
  <Application>Microsoft Office PowerPoint</Application>
  <PresentationFormat>Widescreen</PresentationFormat>
  <Paragraphs>138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Retrospect</vt:lpstr>
      <vt:lpstr>Detecting deadlocks</vt:lpstr>
      <vt:lpstr>Overview of this video</vt:lpstr>
      <vt:lpstr>Strict 2PL and Deadlocks</vt:lpstr>
      <vt:lpstr>Deadlock Detection: Approaches</vt:lpstr>
      <vt:lpstr>Timestamps for Deadlock Detection</vt:lpstr>
      <vt:lpstr>How Are Timestamps Used?</vt:lpstr>
      <vt:lpstr>Wait-Die Scheme (“older transactions always wait for unlocks”)</vt:lpstr>
      <vt:lpstr>Wound-Wait Scheme  (“older transactions never wait for unlocks”)</vt:lpstr>
      <vt:lpstr>Why Wound-Wait Works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Detecting deadlocks</dc:title>
  <dc:creator>Rasmus Ibsen-Jensen</dc:creator>
  <cp:lastModifiedBy>Rasmus Ibsen-Jensen</cp:lastModifiedBy>
  <cp:revision>7</cp:revision>
  <dcterms:created xsi:type="dcterms:W3CDTF">2020-11-07T19:25:26Z</dcterms:created>
  <dcterms:modified xsi:type="dcterms:W3CDTF">2020-11-09T15:22:36Z</dcterms:modified>
</cp:coreProperties>
</file>