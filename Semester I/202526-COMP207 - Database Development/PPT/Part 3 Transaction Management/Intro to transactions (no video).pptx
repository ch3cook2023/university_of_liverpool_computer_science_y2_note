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354" r:id="rId3"/>
    <p:sldId id="334" r:id="rId4"/>
    <p:sldId id="363" r:id="rId5"/>
    <p:sldId id="388" r:id="rId6"/>
    <p:sldId id="386" r:id="rId7"/>
    <p:sldId id="365" r:id="rId8"/>
    <p:sldId id="370" r:id="rId9"/>
    <p:sldId id="362" r:id="rId10"/>
    <p:sldId id="390" r:id="rId11"/>
    <p:sldId id="39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3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33B9A-8945-49CF-84D9-2A79F40C2AB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BECD9-C992-4B4D-BCDE-4295A0E8E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71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34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5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124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205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787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74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45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32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45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76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302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DAD23E7-C419-4AF2-8EF2-5605C1538216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3561EA-58E8-41FF-8471-6D8D8F39734F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11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847F-D607-4403-B845-2D74588BD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029" y="758952"/>
            <a:ext cx="11092541" cy="3566160"/>
          </a:xfrm>
        </p:spPr>
        <p:txBody>
          <a:bodyPr/>
          <a:lstStyle/>
          <a:p>
            <a:r>
              <a:rPr lang="en-US" dirty="0"/>
              <a:t>Introduction to transactions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D2CF7-7EAA-4BF0-89E3-6B6CF3395E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 to Andre </a:t>
            </a:r>
            <a:r>
              <a:rPr lang="en-US" dirty="0" err="1"/>
              <a:t>Hernich</a:t>
            </a:r>
            <a:r>
              <a:rPr lang="en-US" dirty="0"/>
              <a:t> for borrowing some slides</a:t>
            </a:r>
          </a:p>
          <a:p>
            <a:r>
              <a:rPr lang="en-US" dirty="0"/>
              <a:t>New: Using camera!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252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013"/>
    </mc:Choice>
    <mc:Fallback xmlns="">
      <p:transition spd="slow" advTm="720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What is a transaction? </a:t>
            </a:r>
          </a:p>
          <a:p>
            <a:pPr lvl="1"/>
            <a:r>
              <a:rPr lang="en-US" sz="2800" dirty="0"/>
              <a:t>A sequence of queries</a:t>
            </a:r>
          </a:p>
          <a:p>
            <a:pPr marL="0" indent="0">
              <a:buNone/>
            </a:pPr>
            <a:r>
              <a:rPr lang="en-US" sz="3000" dirty="0"/>
              <a:t>That sounds very easy! </a:t>
            </a:r>
          </a:p>
          <a:p>
            <a:pPr lvl="1"/>
            <a:r>
              <a:rPr lang="en-US" sz="2600" dirty="0"/>
              <a:t>The complication arises from that many might happen at the same time and that computers can fail…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826"/>
    </mc:Choice>
    <mc:Fallback xmlns="">
      <p:transition spd="slow" advTm="388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2B944-DF20-D843-BF93-A781000A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Executing SQL Queries in ”Real Life”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137CF-554D-D649-BAD0-4FD8D48FB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 far: SQL queries in isolation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In practice, problems may arise due to</a:t>
            </a:r>
          </a:p>
          <a:p>
            <a:pPr lvl="1"/>
            <a:r>
              <a:rPr lang="en-GB" b="1" dirty="0"/>
              <a:t>Concurrency</a:t>
            </a:r>
            <a:r>
              <a:rPr lang="en-GB" dirty="0"/>
              <a:t>: SQL statements that overlap in time</a:t>
            </a:r>
          </a:p>
          <a:p>
            <a:pPr lvl="1"/>
            <a:r>
              <a:rPr lang="en-GB" b="1" dirty="0"/>
              <a:t>Partial execution</a:t>
            </a:r>
            <a:r>
              <a:rPr lang="en-GB" dirty="0"/>
              <a:t> of SQL statements (e.g., due to failures)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15D99-50BC-AF42-88BE-93E9E0DC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18" name="Picture 17" descr="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032" y="2838875"/>
            <a:ext cx="1180250" cy="1180250"/>
          </a:xfrm>
          <a:prstGeom prst="rect">
            <a:avLst/>
          </a:prstGeom>
        </p:spPr>
      </p:pic>
      <p:cxnSp>
        <p:nvCxnSpPr>
          <p:cNvPr id="39" name="Straight Arrow Connector 38"/>
          <p:cNvCxnSpPr/>
          <p:nvPr/>
        </p:nvCxnSpPr>
        <p:spPr>
          <a:xfrm>
            <a:off x="6449489" y="3400305"/>
            <a:ext cx="2026661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Lap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805" y="2980172"/>
            <a:ext cx="1045908" cy="8367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916119" y="2945625"/>
            <a:ext cx="1174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SQL Query</a:t>
            </a:r>
          </a:p>
        </p:txBody>
      </p:sp>
      <p:pic>
        <p:nvPicPr>
          <p:cNvPr id="54" name="Picture 53" descr="Lap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466" y="3747318"/>
            <a:ext cx="1045908" cy="836727"/>
          </a:xfrm>
          <a:prstGeom prst="rect">
            <a:avLst/>
          </a:prstGeom>
        </p:spPr>
      </p:pic>
      <p:cxnSp>
        <p:nvCxnSpPr>
          <p:cNvPr id="55" name="Straight Arrow Connector 54"/>
          <p:cNvCxnSpPr>
            <a:stCxn id="54" idx="3"/>
          </p:cNvCxnSpPr>
          <p:nvPr/>
        </p:nvCxnSpPr>
        <p:spPr>
          <a:xfrm flipV="1">
            <a:off x="7307375" y="3656735"/>
            <a:ext cx="1171699" cy="50894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Lap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535" y="1964656"/>
            <a:ext cx="1045908" cy="836727"/>
          </a:xfrm>
          <a:prstGeom prst="rect">
            <a:avLst/>
          </a:prstGeom>
        </p:spPr>
      </p:pic>
      <p:cxnSp>
        <p:nvCxnSpPr>
          <p:cNvPr id="62" name="Straight Arrow Connector 61"/>
          <p:cNvCxnSpPr/>
          <p:nvPr/>
        </p:nvCxnSpPr>
        <p:spPr>
          <a:xfrm>
            <a:off x="7039443" y="2452620"/>
            <a:ext cx="1436706" cy="651512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967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414"/>
    </mc:Choice>
    <mc:Fallback xmlns="">
      <p:transition spd="slow" advTm="814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1: Concurrency</a:t>
            </a:r>
            <a:endParaRPr lang="en-US" sz="3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7" name="TextBox 46"/>
          <p:cNvSpPr txBox="1"/>
          <p:nvPr/>
        </p:nvSpPr>
        <p:spPr>
          <a:xfrm>
            <a:off x="693697" y="306823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3697" y="390753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1908" y="4528091"/>
            <a:ext cx="5112568" cy="18002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  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’available’;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95809" y="4532279"/>
            <a:ext cx="4970264" cy="165359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’occupied’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 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’14B’;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05770" y="1781481"/>
            <a:ext cx="5509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Flights</a:t>
            </a:r>
            <a:r>
              <a:rPr lang="en-US" sz="2400" dirty="0"/>
              <a:t>(</a:t>
            </a:r>
            <a:r>
              <a:rPr lang="en-US" sz="2400" dirty="0" err="1"/>
              <a:t>flightNo</a:t>
            </a:r>
            <a:r>
              <a:rPr lang="en-US" sz="2400" dirty="0"/>
              <a:t>, date, </a:t>
            </a:r>
            <a:r>
              <a:rPr lang="en-US" sz="2400" dirty="0" err="1"/>
              <a:t>seatNo</a:t>
            </a:r>
            <a:r>
              <a:rPr lang="en-US" sz="2400" dirty="0"/>
              <a:t>, </a:t>
            </a:r>
            <a:r>
              <a:rPr lang="en-US" sz="2400" dirty="0" err="1"/>
              <a:t>seatStatus</a:t>
            </a:r>
            <a:r>
              <a:rPr lang="en-US" sz="2400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6975" y="2564180"/>
            <a:ext cx="9697369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74825" y="2680549"/>
            <a:ext cx="2942023" cy="1873895"/>
            <a:chOff x="2812956" y="2249224"/>
            <a:chExt cx="2942023" cy="1873895"/>
          </a:xfrm>
        </p:grpSpPr>
        <p:sp>
          <p:nvSpPr>
            <p:cNvPr id="71" name="TextBox 70"/>
            <p:cNvSpPr txBox="1"/>
            <p:nvPr/>
          </p:nvSpPr>
          <p:spPr>
            <a:xfrm>
              <a:off x="2812956" y="3415233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78" name="Straight Connector 77"/>
            <p:cNvCxnSpPr/>
            <p:nvPr/>
          </p:nvCxnSpPr>
          <p:spPr>
            <a:xfrm flipV="1">
              <a:off x="4283968" y="2402067"/>
              <a:ext cx="0" cy="1074141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283968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42899" y="2676838"/>
            <a:ext cx="1790170" cy="1630804"/>
            <a:chOff x="6618899" y="2245514"/>
            <a:chExt cx="1790170" cy="1630804"/>
          </a:xfrm>
        </p:grpSpPr>
        <p:sp>
          <p:nvSpPr>
            <p:cNvPr id="51" name="TextBox 50"/>
            <p:cNvSpPr txBox="1"/>
            <p:nvPr/>
          </p:nvSpPr>
          <p:spPr>
            <a:xfrm>
              <a:off x="6618899" y="3476208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92" name="Straight Connector 91"/>
            <p:cNvCxnSpPr>
              <a:endCxn id="51" idx="0"/>
            </p:cNvCxnSpPr>
            <p:nvPr/>
          </p:nvCxnSpPr>
          <p:spPr>
            <a:xfrm>
              <a:off x="7513984" y="2402067"/>
              <a:ext cx="0" cy="107414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513984" y="224551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990771" y="2680548"/>
            <a:ext cx="1790170" cy="787798"/>
            <a:chOff x="5466771" y="2249224"/>
            <a:chExt cx="1790170" cy="787798"/>
          </a:xfrm>
        </p:grpSpPr>
        <p:sp>
          <p:nvSpPr>
            <p:cNvPr id="52" name="TextBox 51"/>
            <p:cNvSpPr txBox="1"/>
            <p:nvPr/>
          </p:nvSpPr>
          <p:spPr>
            <a:xfrm>
              <a:off x="5466771" y="2636912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6" y="2389530"/>
              <a:ext cx="0" cy="247382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555047" y="2689376"/>
            <a:ext cx="2942023" cy="1098941"/>
            <a:chOff x="1228780" y="2258051"/>
            <a:chExt cx="2942023" cy="1098941"/>
          </a:xfrm>
        </p:grpSpPr>
        <p:sp>
          <p:nvSpPr>
            <p:cNvPr id="29" name="TextBox 28"/>
            <p:cNvSpPr txBox="1"/>
            <p:nvPr/>
          </p:nvSpPr>
          <p:spPr>
            <a:xfrm>
              <a:off x="1228780" y="2649106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2699792" y="2258051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29" idx="0"/>
            </p:cNvCxnSpPr>
            <p:nvPr/>
          </p:nvCxnSpPr>
          <p:spPr>
            <a:xfrm flipV="1">
              <a:off x="2699792" y="2353682"/>
              <a:ext cx="0" cy="29542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ounded Rectangular Callout 105"/>
          <p:cNvSpPr/>
          <p:nvPr/>
        </p:nvSpPr>
        <p:spPr>
          <a:xfrm>
            <a:off x="7298794" y="1477769"/>
            <a:ext cx="3165363" cy="866888"/>
          </a:xfrm>
          <a:prstGeom prst="wedgeRoundRectCallout">
            <a:avLst>
              <a:gd name="adj1" fmla="val 5814"/>
              <a:gd name="adj2" fmla="val 8879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Might lead to an</a:t>
            </a:r>
            <a:br>
              <a:rPr lang="en-US" sz="2400" dirty="0"/>
            </a:br>
            <a:r>
              <a:rPr lang="en-US" sz="2400" dirty="0"/>
              <a:t>inconsistent database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546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010"/>
    </mc:Choice>
    <mc:Fallback xmlns="">
      <p:transition spd="slow" advTm="1120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8" grpId="0"/>
      <p:bldP spid="99" grpId="0" animBg="1"/>
      <p:bldP spid="100" grpId="0" animBg="1"/>
      <p:bldP spid="101" grpId="0"/>
      <p:bldP spid="10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1: Concurrency</a:t>
            </a:r>
            <a:endParaRPr lang="en-US" sz="3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7" name="TextBox 46"/>
          <p:cNvSpPr txBox="1"/>
          <p:nvPr/>
        </p:nvSpPr>
        <p:spPr>
          <a:xfrm>
            <a:off x="693697" y="306823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3697" y="390753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1908" y="4528091"/>
            <a:ext cx="5112568" cy="18002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  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’available’;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95809" y="4532279"/>
            <a:ext cx="4970264" cy="165359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’occupied’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 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’14B’;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05770" y="1781481"/>
            <a:ext cx="5509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Flights</a:t>
            </a:r>
            <a:r>
              <a:rPr lang="en-US" sz="2400" dirty="0"/>
              <a:t>(</a:t>
            </a:r>
            <a:r>
              <a:rPr lang="en-US" sz="2400" dirty="0" err="1"/>
              <a:t>flightNo</a:t>
            </a:r>
            <a:r>
              <a:rPr lang="en-US" sz="2400" dirty="0"/>
              <a:t>, date, </a:t>
            </a:r>
            <a:r>
              <a:rPr lang="en-US" sz="2400" dirty="0" err="1"/>
              <a:t>seatNo</a:t>
            </a:r>
            <a:r>
              <a:rPr lang="en-US" sz="2400" dirty="0"/>
              <a:t>, </a:t>
            </a:r>
            <a:r>
              <a:rPr lang="en-US" sz="2400" dirty="0" err="1"/>
              <a:t>seatStatus</a:t>
            </a:r>
            <a:r>
              <a:rPr lang="en-US" sz="2400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6975" y="2564180"/>
            <a:ext cx="9697369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74825" y="2680549"/>
            <a:ext cx="2942023" cy="1873895"/>
            <a:chOff x="2812956" y="2249224"/>
            <a:chExt cx="2942023" cy="1873895"/>
          </a:xfrm>
        </p:grpSpPr>
        <p:sp>
          <p:nvSpPr>
            <p:cNvPr id="71" name="TextBox 70"/>
            <p:cNvSpPr txBox="1"/>
            <p:nvPr/>
          </p:nvSpPr>
          <p:spPr>
            <a:xfrm>
              <a:off x="2812956" y="3415233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78" name="Straight Connector 77"/>
            <p:cNvCxnSpPr/>
            <p:nvPr/>
          </p:nvCxnSpPr>
          <p:spPr>
            <a:xfrm flipV="1">
              <a:off x="4283968" y="2402067"/>
              <a:ext cx="0" cy="1074141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283968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42899" y="2676838"/>
            <a:ext cx="1790170" cy="1630804"/>
            <a:chOff x="6618899" y="2245514"/>
            <a:chExt cx="1790170" cy="1630804"/>
          </a:xfrm>
        </p:grpSpPr>
        <p:sp>
          <p:nvSpPr>
            <p:cNvPr id="51" name="TextBox 50"/>
            <p:cNvSpPr txBox="1"/>
            <p:nvPr/>
          </p:nvSpPr>
          <p:spPr>
            <a:xfrm>
              <a:off x="6618899" y="3476208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92" name="Straight Connector 91"/>
            <p:cNvCxnSpPr>
              <a:endCxn id="51" idx="0"/>
            </p:cNvCxnSpPr>
            <p:nvPr/>
          </p:nvCxnSpPr>
          <p:spPr>
            <a:xfrm>
              <a:off x="7513984" y="2402067"/>
              <a:ext cx="0" cy="107414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513984" y="224551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990771" y="2680548"/>
            <a:ext cx="1790170" cy="787798"/>
            <a:chOff x="5466771" y="2249224"/>
            <a:chExt cx="1790170" cy="787798"/>
          </a:xfrm>
        </p:grpSpPr>
        <p:sp>
          <p:nvSpPr>
            <p:cNvPr id="52" name="TextBox 51"/>
            <p:cNvSpPr txBox="1"/>
            <p:nvPr/>
          </p:nvSpPr>
          <p:spPr>
            <a:xfrm>
              <a:off x="5466771" y="2636912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6" y="2389530"/>
              <a:ext cx="0" cy="247382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555047" y="2689376"/>
            <a:ext cx="2942023" cy="1098941"/>
            <a:chOff x="1228780" y="2258051"/>
            <a:chExt cx="2942023" cy="1098941"/>
          </a:xfrm>
        </p:grpSpPr>
        <p:sp>
          <p:nvSpPr>
            <p:cNvPr id="29" name="TextBox 28"/>
            <p:cNvSpPr txBox="1"/>
            <p:nvPr/>
          </p:nvSpPr>
          <p:spPr>
            <a:xfrm>
              <a:off x="1228780" y="2649106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2699792" y="2258051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29" idx="0"/>
            </p:cNvCxnSpPr>
            <p:nvPr/>
          </p:nvCxnSpPr>
          <p:spPr>
            <a:xfrm flipV="1">
              <a:off x="2699792" y="2353682"/>
              <a:ext cx="0" cy="29542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15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57"/>
    </mc:Choice>
    <mc:Fallback xmlns="">
      <p:transition spd="slow" advTm="143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6 L 0.19231 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0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7 L -0.17942 3.7037E-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1: Concurrency</a:t>
            </a:r>
            <a:endParaRPr lang="en-US" sz="3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7" name="TextBox 46"/>
          <p:cNvSpPr txBox="1"/>
          <p:nvPr/>
        </p:nvSpPr>
        <p:spPr>
          <a:xfrm>
            <a:off x="693697" y="306823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3697" y="390753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1908" y="4528091"/>
            <a:ext cx="5112568" cy="18002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  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’available’;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95809" y="4532279"/>
            <a:ext cx="4970264" cy="165359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’occupied’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 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’14B’;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05770" y="1781481"/>
            <a:ext cx="5509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Flights</a:t>
            </a:r>
            <a:r>
              <a:rPr lang="en-US" sz="2400" dirty="0"/>
              <a:t>(</a:t>
            </a:r>
            <a:r>
              <a:rPr lang="en-US" sz="2400" dirty="0" err="1"/>
              <a:t>flightNo</a:t>
            </a:r>
            <a:r>
              <a:rPr lang="en-US" sz="2400" dirty="0"/>
              <a:t>, date, </a:t>
            </a:r>
            <a:r>
              <a:rPr lang="en-US" sz="2400" dirty="0" err="1"/>
              <a:t>seatNo</a:t>
            </a:r>
            <a:r>
              <a:rPr lang="en-US" sz="2400" dirty="0"/>
              <a:t>, </a:t>
            </a:r>
            <a:r>
              <a:rPr lang="en-US" sz="2400" dirty="0" err="1"/>
              <a:t>seatStatus</a:t>
            </a:r>
            <a:r>
              <a:rPr lang="en-US" sz="2400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6975" y="2564180"/>
            <a:ext cx="9697369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443816" y="2620325"/>
            <a:ext cx="2942023" cy="1873895"/>
            <a:chOff x="2812956" y="2249224"/>
            <a:chExt cx="2942023" cy="1873895"/>
          </a:xfrm>
        </p:grpSpPr>
        <p:sp>
          <p:nvSpPr>
            <p:cNvPr id="71" name="TextBox 70"/>
            <p:cNvSpPr txBox="1"/>
            <p:nvPr/>
          </p:nvSpPr>
          <p:spPr>
            <a:xfrm>
              <a:off x="2812956" y="3415233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78" name="Straight Connector 77"/>
            <p:cNvCxnSpPr/>
            <p:nvPr/>
          </p:nvCxnSpPr>
          <p:spPr>
            <a:xfrm flipV="1">
              <a:off x="4283968" y="2402067"/>
              <a:ext cx="0" cy="1074141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283968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42899" y="2676838"/>
            <a:ext cx="1790170" cy="1630804"/>
            <a:chOff x="6618899" y="2245514"/>
            <a:chExt cx="1790170" cy="1630804"/>
          </a:xfrm>
        </p:grpSpPr>
        <p:sp>
          <p:nvSpPr>
            <p:cNvPr id="51" name="TextBox 50"/>
            <p:cNvSpPr txBox="1"/>
            <p:nvPr/>
          </p:nvSpPr>
          <p:spPr>
            <a:xfrm>
              <a:off x="6618899" y="3476208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92" name="Straight Connector 91"/>
            <p:cNvCxnSpPr>
              <a:endCxn id="51" idx="0"/>
            </p:cNvCxnSpPr>
            <p:nvPr/>
          </p:nvCxnSpPr>
          <p:spPr>
            <a:xfrm>
              <a:off x="7513984" y="2402067"/>
              <a:ext cx="0" cy="107414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513984" y="224551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817777" y="2617543"/>
            <a:ext cx="1790170" cy="787798"/>
            <a:chOff x="5466771" y="2249224"/>
            <a:chExt cx="1790170" cy="787798"/>
          </a:xfrm>
        </p:grpSpPr>
        <p:sp>
          <p:nvSpPr>
            <p:cNvPr id="52" name="TextBox 51"/>
            <p:cNvSpPr txBox="1"/>
            <p:nvPr/>
          </p:nvSpPr>
          <p:spPr>
            <a:xfrm>
              <a:off x="5466771" y="2636912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6" y="2389530"/>
              <a:ext cx="0" cy="247382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555047" y="2689376"/>
            <a:ext cx="2942023" cy="1098941"/>
            <a:chOff x="1228780" y="2258051"/>
            <a:chExt cx="2942023" cy="1098941"/>
          </a:xfrm>
        </p:grpSpPr>
        <p:sp>
          <p:nvSpPr>
            <p:cNvPr id="29" name="TextBox 28"/>
            <p:cNvSpPr txBox="1"/>
            <p:nvPr/>
          </p:nvSpPr>
          <p:spPr>
            <a:xfrm>
              <a:off x="1228780" y="2649106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2699792" y="2258051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29" idx="0"/>
            </p:cNvCxnSpPr>
            <p:nvPr/>
          </p:nvCxnSpPr>
          <p:spPr>
            <a:xfrm flipV="1">
              <a:off x="2699792" y="2353682"/>
              <a:ext cx="0" cy="29542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ounded Rectangular Callout 44">
            <a:extLst>
              <a:ext uri="{FF2B5EF4-FFF2-40B4-BE49-F238E27FC236}">
                <a16:creationId xmlns:a16="http://schemas.microsoft.com/office/drawing/2014/main" id="{03E7E7AE-0C1B-475E-843F-8FE8CD982964}"/>
              </a:ext>
            </a:extLst>
          </p:cNvPr>
          <p:cNvSpPr/>
          <p:nvPr/>
        </p:nvSpPr>
        <p:spPr>
          <a:xfrm>
            <a:off x="8142900" y="1070467"/>
            <a:ext cx="2301443" cy="846429"/>
          </a:xfrm>
          <a:prstGeom prst="wedgeRoundRectCallout">
            <a:avLst>
              <a:gd name="adj1" fmla="val -11069"/>
              <a:gd name="adj2" fmla="val 86808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Cannot happen anymore</a:t>
            </a:r>
            <a:endParaRPr lang="en-US" sz="24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50B224-62AD-4218-8A62-57065F65F394}"/>
              </a:ext>
            </a:extLst>
          </p:cNvPr>
          <p:cNvGrpSpPr/>
          <p:nvPr/>
        </p:nvGrpSpPr>
        <p:grpSpPr>
          <a:xfrm>
            <a:off x="8446444" y="2636912"/>
            <a:ext cx="1198419" cy="1208628"/>
            <a:chOff x="6922443" y="2636912"/>
            <a:chExt cx="1198419" cy="120862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EA28089-0683-4CE0-80F5-AF28D0830920}"/>
                </a:ext>
              </a:extLst>
            </p:cNvPr>
            <p:cNvCxnSpPr/>
            <p:nvPr/>
          </p:nvCxnSpPr>
          <p:spPr>
            <a:xfrm flipH="1">
              <a:off x="6937781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F25BA9-65A6-4845-8EFC-72390AB71B5E}"/>
                </a:ext>
              </a:extLst>
            </p:cNvPr>
            <p:cNvCxnSpPr/>
            <p:nvPr/>
          </p:nvCxnSpPr>
          <p:spPr>
            <a:xfrm>
              <a:off x="6922443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345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60"/>
    </mc:Choice>
    <mc:Fallback xmlns="">
      <p:transition spd="slow" advTm="1586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 to the Rescue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499" y="1764196"/>
            <a:ext cx="8229600" cy="1290315"/>
          </a:xfrm>
        </p:spPr>
        <p:txBody>
          <a:bodyPr/>
          <a:lstStyle/>
          <a:p>
            <a:r>
              <a:rPr lang="en-US" dirty="0"/>
              <a:t>SQL allows us to state that a group of SQL statements must be executed so that no conflicts arise</a:t>
            </a:r>
            <a:br>
              <a:rPr lang="en-US" dirty="0"/>
            </a:br>
            <a:r>
              <a:rPr lang="en-US" sz="2000" dirty="0"/>
              <a:t>(we’ll see later how this is enforced)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279576" y="3212976"/>
            <a:ext cx="7787208" cy="13681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  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 AND date = ’ 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’available’;</a:t>
            </a:r>
          </a:p>
        </p:txBody>
      </p:sp>
      <p:sp>
        <p:nvSpPr>
          <p:cNvPr id="8" name="Rectangle 7"/>
          <p:cNvSpPr/>
          <p:nvPr/>
        </p:nvSpPr>
        <p:spPr>
          <a:xfrm>
            <a:off x="2279576" y="4653136"/>
            <a:ext cx="7787208" cy="13681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’occupied’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 AND date = ’ 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’14B’;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9576" y="2708920"/>
            <a:ext cx="7787208" cy="423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START TRANSACTION;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9576" y="6101680"/>
            <a:ext cx="7787208" cy="423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COMMIT;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7484742" y="2329583"/>
            <a:ext cx="2900906" cy="653157"/>
          </a:xfrm>
          <a:prstGeom prst="wedgeRoundRectCallout">
            <a:avLst>
              <a:gd name="adj1" fmla="val -61412"/>
              <a:gd name="adj2" fmla="val 3241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Can often </a:t>
            </a:r>
            <a:r>
              <a:rPr lang="en-US" sz="2400"/>
              <a:t>be omitted</a:t>
            </a:r>
            <a:endParaRPr lang="en-US" sz="2400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6712018" y="5445224"/>
            <a:ext cx="3673631" cy="1045346"/>
          </a:xfrm>
          <a:prstGeom prst="wedgeRoundRectCallout">
            <a:avLst>
              <a:gd name="adj1" fmla="val -61412"/>
              <a:gd name="adj2" fmla="val 3241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Before this, all changes to the database are tentative.</a:t>
            </a:r>
            <a:endParaRPr lang="en-US" sz="2400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6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507"/>
    </mc:Choice>
    <mc:Fallback xmlns="">
      <p:transition spd="slow" advTm="119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Transaction in SQL: </a:t>
            </a:r>
            <a:r>
              <a:rPr lang="en-US" dirty="0"/>
              <a:t>a sequence of SQL statements</a:t>
            </a:r>
          </a:p>
          <a:p>
            <a:pPr lvl="1"/>
            <a:r>
              <a:rPr lang="en-US" dirty="0"/>
              <a:t>Special case: each individual SQL statement is a transaction</a:t>
            </a:r>
          </a:p>
          <a:p>
            <a:r>
              <a:rPr lang="en-US" dirty="0"/>
              <a:t>By telling a DBMS that a sequence of SQL statements</a:t>
            </a:r>
            <a:br>
              <a:rPr lang="en-US" dirty="0"/>
            </a:br>
            <a:r>
              <a:rPr lang="en-US" dirty="0"/>
              <a:t>forms a transaction, it ensures </a:t>
            </a:r>
            <a:r>
              <a:rPr lang="en-US" i="1" dirty="0" err="1">
                <a:solidFill>
                  <a:srgbClr val="FF0000"/>
                </a:solidFill>
              </a:rPr>
              <a:t>serialisable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behaviour</a:t>
            </a:r>
            <a:endParaRPr lang="en-US" dirty="0"/>
          </a:p>
          <a:p>
            <a:pPr lvl="1"/>
            <a:r>
              <a:rPr lang="en-US" dirty="0"/>
              <a:t>The transaction is executed as if it was executed in isolation</a:t>
            </a:r>
            <a:br>
              <a:rPr lang="en-US" dirty="0"/>
            </a:br>
            <a:r>
              <a:rPr lang="en-US" dirty="0"/>
              <a:t>from all other transactions</a:t>
            </a:r>
          </a:p>
          <a:p>
            <a:pPr lvl="1"/>
            <a:r>
              <a:rPr lang="en-US" i="1" dirty="0"/>
              <a:t>Equivalently: </a:t>
            </a:r>
            <a:r>
              <a:rPr lang="mr-IN" dirty="0"/>
              <a:t>…</a:t>
            </a:r>
            <a:r>
              <a:rPr lang="en-GB" dirty="0"/>
              <a:t> as if all transactions were executed one</a:t>
            </a:r>
            <a:br>
              <a:rPr lang="en-GB" dirty="0"/>
            </a:br>
            <a:r>
              <a:rPr lang="en-GB" dirty="0"/>
              <a:t>after the other</a:t>
            </a:r>
            <a:endParaRPr lang="en-US" dirty="0"/>
          </a:p>
          <a:p>
            <a:r>
              <a:rPr lang="en-US" dirty="0"/>
              <a:t>It also ensures other properties</a:t>
            </a:r>
            <a:r>
              <a:rPr lang="mr-IN" dirty="0"/>
              <a:t>…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Rounded Rectangular Callout 25">
            <a:extLst>
              <a:ext uri="{FF2B5EF4-FFF2-40B4-BE49-F238E27FC236}">
                <a16:creationId xmlns:a16="http://schemas.microsoft.com/office/drawing/2014/main" id="{578A2F45-BF72-4DBD-A3EB-4812DAB802CB}"/>
              </a:ext>
            </a:extLst>
          </p:cNvPr>
          <p:cNvSpPr/>
          <p:nvPr/>
        </p:nvSpPr>
        <p:spPr>
          <a:xfrm>
            <a:off x="7470320" y="2910213"/>
            <a:ext cx="2796109" cy="792240"/>
          </a:xfrm>
          <a:prstGeom prst="wedgeRoundRectCallout">
            <a:avLst>
              <a:gd name="adj1" fmla="val -67872"/>
              <a:gd name="adj2" fmla="val -557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How strict can be set in SQL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758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013"/>
    </mc:Choice>
    <mc:Fallback xmlns="">
      <p:transition spd="slow" advTm="1210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2: Partial 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917300" y="1713611"/>
            <a:ext cx="5957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Accounts</a:t>
            </a:r>
            <a:r>
              <a:rPr lang="en-US" sz="2400" dirty="0"/>
              <a:t>(</a:t>
            </a:r>
            <a:r>
              <a:rPr lang="en-US" sz="2400" dirty="0" err="1"/>
              <a:t>accountNo</a:t>
            </a:r>
            <a:r>
              <a:rPr lang="en-US" sz="2400" dirty="0"/>
              <a:t>, </a:t>
            </a:r>
            <a:r>
              <a:rPr lang="en-US" sz="2400" dirty="0" err="1"/>
              <a:t>accountHolder</a:t>
            </a:r>
            <a:r>
              <a:rPr lang="en-US" sz="2400" dirty="0"/>
              <a:t>, balance)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981200" y="2805048"/>
            <a:ext cx="7848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830073" y="2613194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time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23792" y="2738389"/>
            <a:ext cx="0" cy="14401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65033" y="3129444"/>
            <a:ext cx="2917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Add £100 to account ’456’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928" y="4150720"/>
            <a:ext cx="5112568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223792" y="2834020"/>
            <a:ext cx="0" cy="295424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12456" y="4948933"/>
            <a:ext cx="4970264" cy="10877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123;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055170" y="2729562"/>
            <a:ext cx="3661387" cy="787798"/>
            <a:chOff x="4531169" y="2729562"/>
            <a:chExt cx="3661387" cy="787798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6361856" y="2729562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531169" y="3117250"/>
              <a:ext cx="3661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Subtract £100 from account ‘123’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361856" y="2882405"/>
              <a:ext cx="0" cy="234845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1917300" y="2145341"/>
            <a:ext cx="5968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Goal: Transfer £100 from account ‘123’ to account ‘456’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356496" y="2564905"/>
            <a:ext cx="895478" cy="1688911"/>
            <a:chOff x="3832496" y="2564904"/>
            <a:chExt cx="895478" cy="1688911"/>
          </a:xfrm>
        </p:grpSpPr>
        <p:sp>
          <p:nvSpPr>
            <p:cNvPr id="20" name="Lightning Bolt 19"/>
            <p:cNvSpPr/>
            <p:nvPr/>
          </p:nvSpPr>
          <p:spPr>
            <a:xfrm>
              <a:off x="3832496" y="2564904"/>
              <a:ext cx="652111" cy="652111"/>
            </a:xfrm>
            <a:prstGeom prst="lightningBol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4283968" y="3217015"/>
              <a:ext cx="0" cy="628955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839974" y="3853705"/>
              <a:ext cx="888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Failure</a:t>
              </a:r>
            </a:p>
          </p:txBody>
        </p:sp>
      </p:grpSp>
      <p:sp>
        <p:nvSpPr>
          <p:cNvPr id="26" name="Rounded Rectangular Callout 25"/>
          <p:cNvSpPr/>
          <p:nvPr/>
        </p:nvSpPr>
        <p:spPr>
          <a:xfrm>
            <a:off x="6697588" y="3676240"/>
            <a:ext cx="2796109" cy="792240"/>
          </a:xfrm>
          <a:prstGeom prst="wedgeRoundRectCallout">
            <a:avLst>
              <a:gd name="adj1" fmla="val -67872"/>
              <a:gd name="adj2" fmla="val -557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Leaves database in</a:t>
            </a:r>
            <a:br>
              <a:rPr lang="en-US" sz="2400" dirty="0"/>
            </a:br>
            <a:r>
              <a:rPr lang="en-US" sz="2400" dirty="0"/>
              <a:t>unacceptable state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7393980" y="2525358"/>
            <a:ext cx="995714" cy="1004196"/>
            <a:chOff x="6922443" y="2636912"/>
            <a:chExt cx="1198419" cy="1208628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6937781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922443" y="2636912"/>
              <a:ext cx="1183081" cy="1208628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478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827"/>
    </mc:Choice>
    <mc:Fallback xmlns="">
      <p:transition spd="slow" advTm="1208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3" grpId="0"/>
      <p:bldP spid="14" grpId="0" animBg="1"/>
      <p:bldP spid="17" grpId="0" animBg="1"/>
      <p:bldP spid="19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E603-F06D-4F04-91FA-7DDC530D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 to the Rescue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0DC5-3597-4A28-A3B6-1E2648191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allows us to state that a transaction must be executed atomically </a:t>
            </a:r>
            <a:r>
              <a:rPr lang="en-GB" dirty="0"/>
              <a:t>(</a:t>
            </a:r>
            <a:r>
              <a:rPr lang="en-US" dirty="0"/>
              <a:t>as a whole or not at all)</a:t>
            </a:r>
            <a:endParaRPr lang="en-US" sz="2000" dirty="0"/>
          </a:p>
          <a:p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CA8EEE0-500C-437A-B13E-096166D9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0BCD8-2145-49B0-8C02-1A5A7EA09272}"/>
              </a:ext>
            </a:extLst>
          </p:cNvPr>
          <p:cNvSpPr/>
          <p:nvPr/>
        </p:nvSpPr>
        <p:spPr>
          <a:xfrm>
            <a:off x="2279576" y="2433197"/>
            <a:ext cx="7787208" cy="423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START TRANSACTION;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F51F2-B34E-42B1-B6A4-17224B828466}"/>
              </a:ext>
            </a:extLst>
          </p:cNvPr>
          <p:cNvSpPr/>
          <p:nvPr/>
        </p:nvSpPr>
        <p:spPr>
          <a:xfrm>
            <a:off x="2279576" y="5241509"/>
            <a:ext cx="7787208" cy="423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COMMIT;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795B3-02FA-45C9-9E0D-FD2FC3939610}"/>
              </a:ext>
            </a:extLst>
          </p:cNvPr>
          <p:cNvSpPr/>
          <p:nvPr/>
        </p:nvSpPr>
        <p:spPr>
          <a:xfrm>
            <a:off x="2279576" y="2944979"/>
            <a:ext cx="7787208" cy="10640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+ 100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456;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802A27-2DCC-4063-AA80-81FCB00A4B4C}"/>
              </a:ext>
            </a:extLst>
          </p:cNvPr>
          <p:cNvSpPr/>
          <p:nvPr/>
        </p:nvSpPr>
        <p:spPr>
          <a:xfrm>
            <a:off x="2279576" y="4073377"/>
            <a:ext cx="7787208" cy="10877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Accounts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balance = balance - 100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acountNo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332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919"/>
    </mc:Choice>
    <mc:Fallback xmlns="">
      <p:transition spd="slow" advTm="469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708C-1E34-4AC9-A4EE-DAC3E2AD8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 in SQL - 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320AF-A7FB-4041-87F7-5A901066C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 in SQL: a sequence of SQL statements</a:t>
            </a:r>
          </a:p>
          <a:p>
            <a:pPr lvl="1"/>
            <a:r>
              <a:rPr lang="en-US" dirty="0"/>
              <a:t>Special case: each individual SQL statement is a transaction</a:t>
            </a:r>
          </a:p>
          <a:p>
            <a:pPr lvl="1"/>
            <a:r>
              <a:rPr lang="en-US" dirty="0"/>
              <a:t>General form: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58C26-35D2-4BA9-87CE-50842694D98C}"/>
              </a:ext>
            </a:extLst>
          </p:cNvPr>
          <p:cNvSpPr/>
          <p:nvPr/>
        </p:nvSpPr>
        <p:spPr>
          <a:xfrm>
            <a:off x="3071664" y="2852936"/>
            <a:ext cx="3024336" cy="423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>
                <a:latin typeface="Courier New" charset="0"/>
                <a:ea typeface="Courier New" charset="0"/>
                <a:cs typeface="Courier New" charset="0"/>
              </a:rPr>
              <a:t>START TRANSACTION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BE8632-C78C-4FCF-92A2-0C96570F853B}"/>
              </a:ext>
            </a:extLst>
          </p:cNvPr>
          <p:cNvSpPr/>
          <p:nvPr/>
        </p:nvSpPr>
        <p:spPr>
          <a:xfrm>
            <a:off x="3071664" y="3789040"/>
            <a:ext cx="3024336" cy="423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COMMIT;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195AF-66E8-4B42-A94E-CC73B8B8B63A}"/>
              </a:ext>
            </a:extLst>
          </p:cNvPr>
          <p:cNvSpPr/>
          <p:nvPr/>
        </p:nvSpPr>
        <p:spPr>
          <a:xfrm>
            <a:off x="3071664" y="3276600"/>
            <a:ext cx="3024336" cy="5040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ea typeface="Courier New" charset="0"/>
                <a:cs typeface="Courier New" charset="0"/>
              </a:rPr>
              <a:t>SQL statements</a:t>
            </a:r>
          </a:p>
        </p:txBody>
      </p:sp>
      <p:sp>
        <p:nvSpPr>
          <p:cNvPr id="7" name="Rounded Rectangular Callout 7">
            <a:extLst>
              <a:ext uri="{FF2B5EF4-FFF2-40B4-BE49-F238E27FC236}">
                <a16:creationId xmlns:a16="http://schemas.microsoft.com/office/drawing/2014/main" id="{6177F255-2A55-4E92-8E23-7183F245BD26}"/>
              </a:ext>
            </a:extLst>
          </p:cNvPr>
          <p:cNvSpPr/>
          <p:nvPr/>
        </p:nvSpPr>
        <p:spPr>
          <a:xfrm>
            <a:off x="6685118" y="2420288"/>
            <a:ext cx="2723250" cy="792240"/>
          </a:xfrm>
          <a:prstGeom prst="wedgeRoundRectCallout">
            <a:avLst>
              <a:gd name="adj1" fmla="val -68629"/>
              <a:gd name="adj2" fmla="val 3909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Starts a transaction</a:t>
            </a:r>
            <a:br>
              <a:rPr lang="en-US" sz="2000" dirty="0"/>
            </a:br>
            <a:r>
              <a:rPr lang="en-US" sz="2000" dirty="0"/>
              <a:t>(can often be omitted)</a:t>
            </a:r>
          </a:p>
        </p:txBody>
      </p:sp>
      <p:sp>
        <p:nvSpPr>
          <p:cNvPr id="8" name="Rounded Rectangular Callout 9">
            <a:extLst>
              <a:ext uri="{FF2B5EF4-FFF2-40B4-BE49-F238E27FC236}">
                <a16:creationId xmlns:a16="http://schemas.microsoft.com/office/drawing/2014/main" id="{7CC9D242-4167-4ADD-AF63-3C28DCB4ED25}"/>
              </a:ext>
            </a:extLst>
          </p:cNvPr>
          <p:cNvSpPr/>
          <p:nvPr/>
        </p:nvSpPr>
        <p:spPr>
          <a:xfrm>
            <a:off x="392744" y="4230654"/>
            <a:ext cx="3912116" cy="404531"/>
          </a:xfrm>
          <a:prstGeom prst="wedgeRoundRectCallout">
            <a:avLst>
              <a:gd name="adj1" fmla="val 33844"/>
              <a:gd name="adj2" fmla="val -84633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Writes all changes to the database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7698C1-2D22-4001-A9F5-7DA9BFBBC51F}"/>
              </a:ext>
            </a:extLst>
          </p:cNvPr>
          <p:cNvSpPr/>
          <p:nvPr/>
        </p:nvSpPr>
        <p:spPr>
          <a:xfrm>
            <a:off x="6816080" y="3783705"/>
            <a:ext cx="3024336" cy="423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ROLLBACK;</a:t>
            </a:r>
          </a:p>
        </p:txBody>
      </p:sp>
      <p:sp>
        <p:nvSpPr>
          <p:cNvPr id="10" name="Rounded Rectangular Callout 11">
            <a:extLst>
              <a:ext uri="{FF2B5EF4-FFF2-40B4-BE49-F238E27FC236}">
                <a16:creationId xmlns:a16="http://schemas.microsoft.com/office/drawing/2014/main" id="{578B18A0-F14D-461D-9F4D-95E8B4FF013A}"/>
              </a:ext>
            </a:extLst>
          </p:cNvPr>
          <p:cNvSpPr/>
          <p:nvPr/>
        </p:nvSpPr>
        <p:spPr>
          <a:xfrm>
            <a:off x="6960097" y="4432920"/>
            <a:ext cx="3034839" cy="580256"/>
          </a:xfrm>
          <a:prstGeom prst="wedgeRoundRectCallout">
            <a:avLst>
              <a:gd name="adj1" fmla="val 3886"/>
              <a:gd name="adj2" fmla="val -8266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Aborts </a:t>
            </a:r>
            <a:r>
              <a:rPr lang="en-US" sz="2000"/>
              <a:t>the transaction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A3DDF-4C06-4409-B198-5928857EE83E}"/>
              </a:ext>
            </a:extLst>
          </p:cNvPr>
          <p:cNvSpPr/>
          <p:nvPr/>
        </p:nvSpPr>
        <p:spPr>
          <a:xfrm>
            <a:off x="6096000" y="3789041"/>
            <a:ext cx="714247" cy="41832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ea typeface="Courier New" charset="0"/>
                <a:cs typeface="Courier New" charset="0"/>
              </a:rPr>
              <a:t>or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0DBE2C7-57DF-481E-91D9-77D6185A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829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572"/>
    </mc:Choice>
    <mc:Fallback xmlns="">
      <p:transition spd="slow" advTm="705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8|16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7.1|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7|4.6|3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7.5|8|17.6|4.5|23.2|4.4|5.5|24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|10.3|2.7|29.5|18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25.8|16.2|46|15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16.4|11.8|5.7|11.9|7.1|17.2|12.9|7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7|4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8|25.3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477</TotalTime>
  <Words>793</Words>
  <Application>Microsoft Office PowerPoint</Application>
  <PresentationFormat>Widescreen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Courier New</vt:lpstr>
      <vt:lpstr>Retrospect</vt:lpstr>
      <vt:lpstr>Introduction to transactions</vt:lpstr>
      <vt:lpstr>Overview of this video</vt:lpstr>
      <vt:lpstr>Executing SQL Queries in ”Real Life”</vt:lpstr>
      <vt:lpstr>Problem 1: Concurrency</vt:lpstr>
      <vt:lpstr>Problem 1: Concurrency</vt:lpstr>
      <vt:lpstr>Problem 1: Concurrency</vt:lpstr>
      <vt:lpstr>Transactions to the Rescue</vt:lpstr>
      <vt:lpstr>Transactions in SQL</vt:lpstr>
      <vt:lpstr>Problem 2: Partial Execution</vt:lpstr>
      <vt:lpstr>Transactions to the Rescue</vt:lpstr>
      <vt:lpstr>Transactions in SQL -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transactions and their management</dc:title>
  <dc:creator>Rasmus Ibsen-Jensen</dc:creator>
  <cp:lastModifiedBy>Rasmus Ibsen-Jensen</cp:lastModifiedBy>
  <cp:revision>17</cp:revision>
  <dcterms:created xsi:type="dcterms:W3CDTF">2020-10-17T22:42:12Z</dcterms:created>
  <dcterms:modified xsi:type="dcterms:W3CDTF">2020-10-27T12:33:05Z</dcterms:modified>
</cp:coreProperties>
</file>