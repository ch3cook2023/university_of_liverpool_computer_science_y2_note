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91" r:id="rId3"/>
    <p:sldId id="505" r:id="rId4"/>
    <p:sldId id="547" r:id="rId5"/>
    <p:sldId id="548" r:id="rId6"/>
    <p:sldId id="492" r:id="rId7"/>
    <p:sldId id="337" r:id="rId8"/>
    <p:sldId id="495" r:id="rId9"/>
    <p:sldId id="482" r:id="rId10"/>
    <p:sldId id="483" r:id="rId11"/>
    <p:sldId id="484" r:id="rId12"/>
    <p:sldId id="342" r:id="rId13"/>
    <p:sldId id="485" r:id="rId14"/>
    <p:sldId id="494" r:id="rId15"/>
    <p:sldId id="487" r:id="rId16"/>
    <p:sldId id="488" r:id="rId17"/>
    <p:sldId id="489" r:id="rId18"/>
    <p:sldId id="490" r:id="rId19"/>
    <p:sldId id="349" r:id="rId20"/>
    <p:sldId id="54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16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08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98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72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467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56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622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750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28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7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99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30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5449D71-37C6-4177-8877-AACDB6E7D82A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04C17E5-572A-40D7-9ABF-15743DD3287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63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BEC8-A0A2-40FC-9C8E-A269E0D872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More flexible locks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C99D5-53C2-4CF1-97AB-0371B45BD8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29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74"/>
    </mc:Choice>
    <mc:Fallback xmlns="">
      <p:transition spd="slow" advTm="1807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1D59-7F34-4114-96D5-83E28C4B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9FF44-F559-4F85-BC8A-980561D3E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locks are very simple, but not very precise (as an example, even if we just want to read we need a full lock, even though conflicts does not happen on read-read)</a:t>
            </a:r>
          </a:p>
          <a:p>
            <a:r>
              <a:rPr lang="en-US" dirty="0"/>
              <a:t>We will also see a basic problem with locks, called </a:t>
            </a:r>
            <a:r>
              <a:rPr lang="en-US" b="1" dirty="0"/>
              <a:t>deadlocks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It is present with all the kind of locks we will see, but we will come back to it later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BEAD3-F733-41C7-B927-4E08EDFC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754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495"/>
    </mc:Choice>
    <mc:Fallback xmlns="">
      <p:transition spd="slow" advTm="804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Still Some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2PL ensures conflict-serializability, but might lead to</a:t>
            </a:r>
          </a:p>
          <a:p>
            <a:pPr lvl="1"/>
            <a:r>
              <a:rPr lang="en-GB" b="1" dirty="0"/>
              <a:t>Deadlocks</a:t>
            </a:r>
            <a:r>
              <a:rPr lang="en-GB" dirty="0"/>
              <a:t>: transactions might be forced to wait forever</a:t>
            </a:r>
          </a:p>
          <a:p>
            <a:pPr lvl="1"/>
            <a:r>
              <a:rPr lang="en-GB" dirty="0"/>
              <a:t>Other issues (in later video)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445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819"/>
    </mc:Choice>
    <mc:Fallback xmlns="">
      <p:transition spd="slow" advTm="6981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01B2-48EE-4F24-8B5C-A61A88FF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of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4E01B-F652-40D6-8E9F-2816735A5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C1B3CF-0B60-4F8B-92EB-10501101AE54}"/>
              </a:ext>
            </a:extLst>
          </p:cNvPr>
          <p:cNvGraphicFramePr>
            <a:graphicFrameLocks noGrp="1"/>
          </p:cNvGraphicFramePr>
          <p:nvPr/>
        </p:nvGraphicFramePr>
        <p:xfrm>
          <a:off x="3094669" y="190926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2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421D1BB-CE67-4A4D-ABFF-525BAF14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B2373C-F60E-4524-AC2B-8DD44BB521A2}"/>
              </a:ext>
            </a:extLst>
          </p:cNvPr>
          <p:cNvGraphicFramePr>
            <a:graphicFrameLocks noGrp="1"/>
          </p:cNvGraphicFramePr>
          <p:nvPr/>
        </p:nvGraphicFramePr>
        <p:xfrm>
          <a:off x="5603117" y="1909262"/>
          <a:ext cx="1524000" cy="349587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Y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:= 2*Y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6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unlock(Y)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X := 2*X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11FA0A5-7012-4FB0-90D7-AD43076F5D73}"/>
              </a:ext>
            </a:extLst>
          </p:cNvPr>
          <p:cNvSpPr/>
          <p:nvPr/>
        </p:nvSpPr>
        <p:spPr>
          <a:xfrm>
            <a:off x="2783633" y="554705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</a:t>
            </a:r>
            <a:r>
              <a:rPr lang="en-GB" sz="2400">
                <a:solidFill>
                  <a:schemeClr val="tx2"/>
                </a:solidFill>
              </a:rPr>
              <a:t>); r</a:t>
            </a:r>
            <a:r>
              <a:rPr lang="en-GB" sz="2400" baseline="-25000">
                <a:solidFill>
                  <a:schemeClr val="tx2"/>
                </a:solidFill>
              </a:rPr>
              <a:t>1</a:t>
            </a:r>
            <a:r>
              <a:rPr lang="en-GB" sz="2400">
                <a:solidFill>
                  <a:schemeClr val="tx2"/>
                </a:solidFill>
              </a:rPr>
              <a:t>(X); w</a:t>
            </a:r>
            <a:r>
              <a:rPr lang="en-GB" sz="2400" baseline="-25000">
                <a:solidFill>
                  <a:schemeClr val="tx2"/>
                </a:solidFill>
              </a:rPr>
              <a:t>1</a:t>
            </a:r>
            <a:r>
              <a:rPr lang="en-GB" sz="2400">
                <a:solidFill>
                  <a:schemeClr val="tx2"/>
                </a:solidFill>
              </a:rPr>
              <a:t>(X);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CB7FF7-9F33-42CD-8CA0-5F2C442915EE}"/>
              </a:ext>
            </a:extLst>
          </p:cNvPr>
          <p:cNvSpPr/>
          <p:nvPr/>
        </p:nvSpPr>
        <p:spPr>
          <a:xfrm>
            <a:off x="5015880" y="5551858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9" name="Rounded Rectangular Callout 42">
            <a:extLst>
              <a:ext uri="{FF2B5EF4-FFF2-40B4-BE49-F238E27FC236}">
                <a16:creationId xmlns:a16="http://schemas.microsoft.com/office/drawing/2014/main" id="{F437B898-A1BD-4F6E-AEF2-C7E96D6DC7AD}"/>
              </a:ext>
            </a:extLst>
          </p:cNvPr>
          <p:cNvSpPr/>
          <p:nvPr/>
        </p:nvSpPr>
        <p:spPr>
          <a:xfrm>
            <a:off x="7967639" y="4923680"/>
            <a:ext cx="1817957" cy="665561"/>
          </a:xfrm>
          <a:prstGeom prst="wedgeRoundRectCallout">
            <a:avLst>
              <a:gd name="adj1" fmla="val -64642"/>
              <a:gd name="adj2" fmla="val 5063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’s request for lock on X denied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77830E-CB62-48CE-815A-76CF17AD5053}"/>
              </a:ext>
            </a:extLst>
          </p:cNvPr>
          <p:cNvCxnSpPr/>
          <p:nvPr/>
        </p:nvCxnSpPr>
        <p:spPr>
          <a:xfrm>
            <a:off x="7297809" y="5931660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6FBC3-C130-4C1F-A655-020D811A7DF7}"/>
              </a:ext>
            </a:extLst>
          </p:cNvPr>
          <p:cNvSpPr/>
          <p:nvPr/>
        </p:nvSpPr>
        <p:spPr>
          <a:xfrm>
            <a:off x="7366403" y="5517358"/>
            <a:ext cx="327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?</a:t>
            </a:r>
            <a:endParaRPr lang="en-US" sz="2400" dirty="0"/>
          </a:p>
        </p:txBody>
      </p:sp>
      <p:sp>
        <p:nvSpPr>
          <p:cNvPr id="12" name="Rounded Rectangular Callout 48">
            <a:extLst>
              <a:ext uri="{FF2B5EF4-FFF2-40B4-BE49-F238E27FC236}">
                <a16:creationId xmlns:a16="http://schemas.microsoft.com/office/drawing/2014/main" id="{2F9E7CFA-1302-4D71-9099-987E90B96BFA}"/>
              </a:ext>
            </a:extLst>
          </p:cNvPr>
          <p:cNvSpPr/>
          <p:nvPr/>
        </p:nvSpPr>
        <p:spPr>
          <a:xfrm>
            <a:off x="8154295" y="5748190"/>
            <a:ext cx="1817957" cy="665561"/>
          </a:xfrm>
          <a:prstGeom prst="wedgeRoundRectCallout">
            <a:avLst>
              <a:gd name="adj1" fmla="val -63020"/>
              <a:gd name="adj2" fmla="val -3209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’s request for lock on Y denied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010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2055"/>
    </mc:Choice>
    <mc:Fallback xmlns="">
      <p:transition spd="slow" advTm="1520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1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01B2-48EE-4F24-8B5C-A61A88FF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of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4E01B-F652-40D6-8E9F-2816735A5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C1B3CF-0B60-4F8B-92EB-10501101AE54}"/>
              </a:ext>
            </a:extLst>
          </p:cNvPr>
          <p:cNvGraphicFramePr>
            <a:graphicFrameLocks noGrp="1"/>
          </p:cNvGraphicFramePr>
          <p:nvPr/>
        </p:nvGraphicFramePr>
        <p:xfrm>
          <a:off x="3094669" y="190926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2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421D1BB-CE67-4A4D-ABFF-525BAF14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B2373C-F60E-4524-AC2B-8DD44BB521A2}"/>
              </a:ext>
            </a:extLst>
          </p:cNvPr>
          <p:cNvGraphicFramePr>
            <a:graphicFrameLocks noGrp="1"/>
          </p:cNvGraphicFramePr>
          <p:nvPr/>
        </p:nvGraphicFramePr>
        <p:xfrm>
          <a:off x="5603117" y="1909262"/>
          <a:ext cx="1524000" cy="349587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Y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:= 2*Y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6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unlock(Y)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X := 2*X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11FA0A5-7012-4FB0-90D7-AD43076F5D73}"/>
              </a:ext>
            </a:extLst>
          </p:cNvPr>
          <p:cNvSpPr/>
          <p:nvPr/>
        </p:nvSpPr>
        <p:spPr>
          <a:xfrm>
            <a:off x="2783633" y="554705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</a:t>
            </a:r>
            <a:r>
              <a:rPr lang="en-GB" sz="2400">
                <a:solidFill>
                  <a:schemeClr val="tx2"/>
                </a:solidFill>
              </a:rPr>
              <a:t>); r</a:t>
            </a:r>
            <a:r>
              <a:rPr lang="en-GB" sz="2400" baseline="-25000">
                <a:solidFill>
                  <a:schemeClr val="tx2"/>
                </a:solidFill>
              </a:rPr>
              <a:t>1</a:t>
            </a:r>
            <a:r>
              <a:rPr lang="en-GB" sz="2400">
                <a:solidFill>
                  <a:schemeClr val="tx2"/>
                </a:solidFill>
              </a:rPr>
              <a:t>(X); w</a:t>
            </a:r>
            <a:r>
              <a:rPr lang="en-GB" sz="2400" baseline="-25000">
                <a:solidFill>
                  <a:schemeClr val="tx2"/>
                </a:solidFill>
              </a:rPr>
              <a:t>1</a:t>
            </a:r>
            <a:r>
              <a:rPr lang="en-GB" sz="2400">
                <a:solidFill>
                  <a:schemeClr val="tx2"/>
                </a:solidFill>
              </a:rPr>
              <a:t>(X);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CB7FF7-9F33-42CD-8CA0-5F2C442915EE}"/>
              </a:ext>
            </a:extLst>
          </p:cNvPr>
          <p:cNvSpPr/>
          <p:nvPr/>
        </p:nvSpPr>
        <p:spPr>
          <a:xfrm>
            <a:off x="5015880" y="5551858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9" name="Rounded Rectangular Callout 42">
            <a:extLst>
              <a:ext uri="{FF2B5EF4-FFF2-40B4-BE49-F238E27FC236}">
                <a16:creationId xmlns:a16="http://schemas.microsoft.com/office/drawing/2014/main" id="{F437B898-A1BD-4F6E-AEF2-C7E96D6DC7AD}"/>
              </a:ext>
            </a:extLst>
          </p:cNvPr>
          <p:cNvSpPr/>
          <p:nvPr/>
        </p:nvSpPr>
        <p:spPr>
          <a:xfrm>
            <a:off x="7967639" y="4923680"/>
            <a:ext cx="1817957" cy="665561"/>
          </a:xfrm>
          <a:prstGeom prst="wedgeRoundRectCallout">
            <a:avLst>
              <a:gd name="adj1" fmla="val -64642"/>
              <a:gd name="adj2" fmla="val 5063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’s request for lock on X denied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77830E-CB62-48CE-815A-76CF17AD5053}"/>
              </a:ext>
            </a:extLst>
          </p:cNvPr>
          <p:cNvCxnSpPr/>
          <p:nvPr/>
        </p:nvCxnSpPr>
        <p:spPr>
          <a:xfrm>
            <a:off x="7297809" y="5931660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6FBC3-C130-4C1F-A655-020D811A7DF7}"/>
              </a:ext>
            </a:extLst>
          </p:cNvPr>
          <p:cNvSpPr/>
          <p:nvPr/>
        </p:nvSpPr>
        <p:spPr>
          <a:xfrm>
            <a:off x="7366403" y="5517358"/>
            <a:ext cx="327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?</a:t>
            </a:r>
            <a:endParaRPr lang="en-US" sz="2400" dirty="0"/>
          </a:p>
        </p:txBody>
      </p:sp>
      <p:sp>
        <p:nvSpPr>
          <p:cNvPr id="12" name="Rounded Rectangular Callout 48">
            <a:extLst>
              <a:ext uri="{FF2B5EF4-FFF2-40B4-BE49-F238E27FC236}">
                <a16:creationId xmlns:a16="http://schemas.microsoft.com/office/drawing/2014/main" id="{2F9E7CFA-1302-4D71-9099-987E90B96BFA}"/>
              </a:ext>
            </a:extLst>
          </p:cNvPr>
          <p:cNvSpPr/>
          <p:nvPr/>
        </p:nvSpPr>
        <p:spPr>
          <a:xfrm>
            <a:off x="8154295" y="5748190"/>
            <a:ext cx="1817957" cy="665561"/>
          </a:xfrm>
          <a:prstGeom prst="wedgeRoundRectCallout">
            <a:avLst>
              <a:gd name="adj1" fmla="val -63020"/>
              <a:gd name="adj2" fmla="val -3209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’s request for lock on Y denied</a:t>
            </a:r>
          </a:p>
        </p:txBody>
      </p:sp>
      <p:sp>
        <p:nvSpPr>
          <p:cNvPr id="13" name="Rounded Rectangular Callout 11">
            <a:extLst>
              <a:ext uri="{FF2B5EF4-FFF2-40B4-BE49-F238E27FC236}">
                <a16:creationId xmlns:a16="http://schemas.microsoft.com/office/drawing/2014/main" id="{B873EDD7-24BE-4352-9182-C3A79425820F}"/>
              </a:ext>
            </a:extLst>
          </p:cNvPr>
          <p:cNvSpPr/>
          <p:nvPr/>
        </p:nvSpPr>
        <p:spPr>
          <a:xfrm>
            <a:off x="5808871" y="1020101"/>
            <a:ext cx="2345424" cy="807299"/>
          </a:xfrm>
          <a:prstGeom prst="wedgeRoundRectCallout">
            <a:avLst>
              <a:gd name="adj1" fmla="val -56844"/>
              <a:gd name="adj2" fmla="val -20728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 will see in a later  video how to solve this problem.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435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4"/>
    </mc:Choice>
    <mc:Fallback xmlns="">
      <p:transition spd="slow" advTm="1544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469ADF59-557A-432A-B789-972E54752419}"/>
              </a:ext>
            </a:extLst>
          </p:cNvPr>
          <p:cNvSpPr txBox="1">
            <a:spLocks/>
          </p:cNvSpPr>
          <p:nvPr/>
        </p:nvSpPr>
        <p:spPr>
          <a:xfrm>
            <a:off x="2209800" y="1988841"/>
            <a:ext cx="7772400" cy="147002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can we make 2PL more flexible?</a:t>
            </a:r>
            <a:br>
              <a:rPr lang="en-US"/>
            </a:br>
            <a:r>
              <a:rPr lang="en-US" sz="2000"/>
              <a:t>(e.g., allow read-only access by multiple transactions)</a:t>
            </a:r>
            <a:endParaRPr lang="en-US" sz="2000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FA8531E-1106-4660-B4E2-A139B49FBBF1}"/>
              </a:ext>
            </a:extLst>
          </p:cNvPr>
          <p:cNvSpPr txBox="1">
            <a:spLocks/>
          </p:cNvSpPr>
          <p:nvPr/>
        </p:nvSpPr>
        <p:spPr>
          <a:xfrm>
            <a:off x="2209800" y="3637832"/>
            <a:ext cx="7772400" cy="943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Solution: </a:t>
            </a:r>
            <a:r>
              <a:rPr lang="en-US" b="1" dirty="0"/>
              <a:t>different</a:t>
            </a:r>
            <a:r>
              <a:rPr lang="en-US" dirty="0"/>
              <a:t> </a:t>
            </a:r>
            <a:r>
              <a:rPr lang="en-US" b="1" dirty="0"/>
              <a:t>lock modes</a:t>
            </a:r>
            <a:br>
              <a:rPr lang="en-US" dirty="0"/>
            </a:br>
            <a:endParaRPr lang="en-US" sz="15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F0089-8A55-4A91-AE30-4E2D0E26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7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16"/>
    </mc:Choice>
    <mc:Fallback xmlns="">
      <p:transition spd="slow" advTm="291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&amp; Exclusive Locks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Shared lock (“read lock”): </a:t>
            </a:r>
          </a:p>
          <a:p>
            <a:pPr lvl="1"/>
            <a:r>
              <a:rPr lang="en-US" dirty="0"/>
              <a:t>Requested by transactions to read an item X</a:t>
            </a:r>
          </a:p>
          <a:p>
            <a:pPr lvl="1"/>
            <a:r>
              <a:rPr lang="en-US" dirty="0"/>
              <a:t>Granted to </a:t>
            </a:r>
            <a:r>
              <a:rPr lang="en-US" i="1" dirty="0"/>
              <a:t>several transactions at the same time</a:t>
            </a:r>
          </a:p>
          <a:p>
            <a:r>
              <a:rPr lang="en-US" b="1" dirty="0"/>
              <a:t>Exclusive lock (“write lock”): </a:t>
            </a:r>
          </a:p>
          <a:p>
            <a:pPr lvl="1"/>
            <a:r>
              <a:rPr lang="en-US" dirty="0"/>
              <a:t>Requested by transactions to write an item X</a:t>
            </a:r>
          </a:p>
          <a:p>
            <a:pPr lvl="1"/>
            <a:r>
              <a:rPr lang="en-US" dirty="0"/>
              <a:t>Granted to </a:t>
            </a:r>
            <a:r>
              <a:rPr lang="en-US" i="1" dirty="0"/>
              <a:t>at most one transaction at a time</a:t>
            </a:r>
            <a:endParaRPr lang="en-US" dirty="0"/>
          </a:p>
          <a:p>
            <a:r>
              <a:rPr lang="en-US" dirty="0"/>
              <a:t>Additional rules:</a:t>
            </a:r>
          </a:p>
          <a:p>
            <a:pPr lvl="1"/>
            <a:r>
              <a:rPr lang="en-US" dirty="0"/>
              <a:t>Shared lock on X is granted only if no </a:t>
            </a:r>
            <a:r>
              <a:rPr lang="en-US" i="1" dirty="0"/>
              <a:t>other</a:t>
            </a:r>
            <a:r>
              <a:rPr lang="en-US" dirty="0"/>
              <a:t> transaction holds an exclusive lock on X.</a:t>
            </a:r>
          </a:p>
          <a:p>
            <a:pPr lvl="1"/>
            <a:r>
              <a:rPr lang="en-US" dirty="0"/>
              <a:t>Exclusive lock on X is granted only if no </a:t>
            </a:r>
            <a:r>
              <a:rPr lang="en-US" i="1" dirty="0"/>
              <a:t>other</a:t>
            </a:r>
            <a:r>
              <a:rPr lang="en-US" dirty="0"/>
              <a:t> transaction holds a lock (of any kind) on X.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Rounded Rectangular Callout 5"/>
          <p:cNvSpPr/>
          <p:nvPr/>
        </p:nvSpPr>
        <p:spPr>
          <a:xfrm>
            <a:off x="9120336" y="1837684"/>
            <a:ext cx="1265312" cy="665561"/>
          </a:xfrm>
          <a:prstGeom prst="wedgeRoundRectCallout">
            <a:avLst>
              <a:gd name="adj1" fmla="val -69621"/>
              <a:gd name="adj2" fmla="val -2081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Operation: </a:t>
            </a:r>
            <a:br>
              <a:rPr lang="en-US" dirty="0"/>
            </a:br>
            <a:r>
              <a:rPr lang="en-US" b="1" dirty="0"/>
              <a:t>s-lock(X)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9120336" y="3356993"/>
            <a:ext cx="1265312" cy="665561"/>
          </a:xfrm>
          <a:prstGeom prst="wedgeRoundRectCallout">
            <a:avLst>
              <a:gd name="adj1" fmla="val -69621"/>
              <a:gd name="adj2" fmla="val -2081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Operation: </a:t>
            </a:r>
            <a:br>
              <a:rPr lang="en-US" dirty="0"/>
            </a:br>
            <a:r>
              <a:rPr lang="en-US" b="1" dirty="0"/>
              <a:t>x-lock(X)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775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517"/>
    </mc:Choice>
    <mc:Fallback xmlns="">
      <p:transition spd="slow" advTm="945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D096-F6A1-499C-A62F-4C94260A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Schedules With Shared/Exclusive 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57E11-9910-45E8-98BE-56960CEC2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5228835"/>
          </a:xfrm>
        </p:spPr>
        <p:txBody>
          <a:bodyPr>
            <a:normAutofit/>
          </a:bodyPr>
          <a:lstStyle/>
          <a:p>
            <a:r>
              <a:rPr lang="en-US" dirty="0"/>
              <a:t>Shorthand notation:</a:t>
            </a:r>
          </a:p>
          <a:p>
            <a:pPr lvl="1"/>
            <a:r>
              <a:rPr lang="en-US" b="1" dirty="0" err="1">
                <a:solidFill>
                  <a:srgbClr val="FF0000"/>
                </a:solidFill>
              </a:rPr>
              <a:t>sl</a:t>
            </a:r>
            <a:r>
              <a:rPr lang="en-US" b="1" baseline="-25000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(X)</a:t>
            </a:r>
            <a:r>
              <a:rPr lang="en-US" dirty="0"/>
              <a:t>: transaction </a:t>
            </a:r>
            <a:r>
              <a:rPr lang="en-US" dirty="0" err="1"/>
              <a:t>i</a:t>
            </a:r>
            <a:r>
              <a:rPr lang="en-US" dirty="0"/>
              <a:t> requests a </a:t>
            </a:r>
            <a:r>
              <a:rPr lang="en-US" i="1" dirty="0"/>
              <a:t>shared</a:t>
            </a:r>
            <a:r>
              <a:rPr lang="en-US" dirty="0"/>
              <a:t> lock for item X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xl</a:t>
            </a:r>
            <a:r>
              <a:rPr lang="en-US" b="1" baseline="-25000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(X)</a:t>
            </a:r>
            <a:r>
              <a:rPr lang="en-US" dirty="0"/>
              <a:t>: transaction </a:t>
            </a:r>
            <a:r>
              <a:rPr lang="en-US" dirty="0" err="1"/>
              <a:t>i</a:t>
            </a:r>
            <a:r>
              <a:rPr lang="en-US" dirty="0"/>
              <a:t> requests an </a:t>
            </a:r>
            <a:r>
              <a:rPr lang="en-US" i="1" dirty="0"/>
              <a:t>exclusive </a:t>
            </a:r>
            <a:r>
              <a:rPr lang="en-US" dirty="0"/>
              <a:t>lock for item X</a:t>
            </a:r>
          </a:p>
          <a:p>
            <a:pPr lvl="1"/>
            <a:r>
              <a:rPr lang="en-US" b="1" dirty="0" err="1">
                <a:solidFill>
                  <a:srgbClr val="00B050"/>
                </a:solidFill>
              </a:rPr>
              <a:t>u</a:t>
            </a:r>
            <a:r>
              <a:rPr lang="en-US" b="1" baseline="-25000" dirty="0" err="1">
                <a:solidFill>
                  <a:srgbClr val="00B050"/>
                </a:solidFill>
              </a:rPr>
              <a:t>i</a:t>
            </a:r>
            <a:r>
              <a:rPr lang="en-US" b="1" dirty="0">
                <a:solidFill>
                  <a:srgbClr val="00B050"/>
                </a:solidFill>
              </a:rPr>
              <a:t>(X)</a:t>
            </a:r>
            <a:r>
              <a:rPr lang="en-US" dirty="0"/>
              <a:t>: transaction </a:t>
            </a:r>
            <a:r>
              <a:rPr lang="en-US" dirty="0" err="1"/>
              <a:t>i</a:t>
            </a:r>
            <a:r>
              <a:rPr lang="en-US" dirty="0"/>
              <a:t> releases all locks on item X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4272"/>
              </a:spcBef>
            </a:pPr>
            <a:br>
              <a:rPr lang="en-US" dirty="0"/>
            </a:br>
            <a:r>
              <a:rPr lang="en-US" dirty="0"/>
              <a:t>Note: An individual transaction may hold both a shared lock and an exclusive lock for the same item X.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1A625-CA77-40A3-8BC7-988DBAC3926F}"/>
              </a:ext>
            </a:extLst>
          </p:cNvPr>
          <p:cNvSpPr/>
          <p:nvPr/>
        </p:nvSpPr>
        <p:spPr>
          <a:xfrm>
            <a:off x="7343536" y="3645024"/>
            <a:ext cx="25202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>
                <a:solidFill>
                  <a:srgbClr val="FF0000"/>
                </a:solidFill>
              </a:rPr>
              <a:t>sl</a:t>
            </a:r>
            <a:r>
              <a:rPr lang="en-GB" sz="2400" b="1" baseline="-25000" dirty="0">
                <a:solidFill>
                  <a:srgbClr val="FF0000"/>
                </a:solidFill>
              </a:rPr>
              <a:t>1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1</a:t>
            </a:r>
            <a:r>
              <a:rPr lang="en-GB" sz="2400" b="1" dirty="0"/>
              <a:t>(X); </a:t>
            </a:r>
            <a:br>
              <a:rPr lang="en-GB" sz="2400" b="1" dirty="0"/>
            </a:br>
            <a:r>
              <a:rPr lang="en-GB" sz="2400" b="1" dirty="0">
                <a:solidFill>
                  <a:srgbClr val="FF0000"/>
                </a:solidFill>
              </a:rPr>
              <a:t>sl</a:t>
            </a:r>
            <a:r>
              <a:rPr lang="en-GB" sz="2400" b="1" baseline="-25000" dirty="0">
                <a:solidFill>
                  <a:srgbClr val="FF0000"/>
                </a:solidFill>
              </a:rPr>
              <a:t>2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2</a:t>
            </a:r>
            <a:r>
              <a:rPr lang="en-GB" sz="2400" b="1" dirty="0"/>
              <a:t>(X); </a:t>
            </a:r>
            <a:br>
              <a:rPr lang="en-GB" sz="2400" b="1" dirty="0"/>
            </a:br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b="1" baseline="-25000" dirty="0">
                <a:solidFill>
                  <a:srgbClr val="00B050"/>
                </a:solidFill>
              </a:rPr>
              <a:t>1</a:t>
            </a:r>
            <a:r>
              <a:rPr lang="en-GB" sz="2400" b="1" dirty="0">
                <a:solidFill>
                  <a:srgbClr val="00B050"/>
                </a:solidFill>
              </a:rPr>
              <a:t>(X)</a:t>
            </a:r>
            <a:r>
              <a:rPr lang="en-GB" sz="2400" b="1" dirty="0"/>
              <a:t>; </a:t>
            </a:r>
            <a:br>
              <a:rPr lang="en-GB" sz="2400" b="1" dirty="0"/>
            </a:br>
            <a:r>
              <a:rPr lang="en-GB" sz="2400" b="1" dirty="0">
                <a:solidFill>
                  <a:srgbClr val="FF0000"/>
                </a:solidFill>
              </a:rPr>
              <a:t>xl</a:t>
            </a:r>
            <a:r>
              <a:rPr lang="en-GB" sz="2400" b="1" baseline="-25000" dirty="0">
                <a:solidFill>
                  <a:srgbClr val="FF0000"/>
                </a:solidFill>
              </a:rPr>
              <a:t>2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w</a:t>
            </a:r>
            <a:r>
              <a:rPr lang="en-GB" sz="2400" b="1" baseline="-25000" dirty="0"/>
              <a:t>2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b="1" baseline="-25000" dirty="0">
                <a:solidFill>
                  <a:srgbClr val="00B050"/>
                </a:solidFill>
              </a:rPr>
              <a:t>2</a:t>
            </a:r>
            <a:r>
              <a:rPr lang="en-GB" sz="2400" b="1" dirty="0">
                <a:solidFill>
                  <a:srgbClr val="00B050"/>
                </a:solidFill>
              </a:rPr>
              <a:t>(X)</a:t>
            </a:r>
            <a:r>
              <a:rPr lang="en-GB" sz="2400" b="1" dirty="0"/>
              <a:t> </a:t>
            </a:r>
            <a:endParaRPr lang="en-GB" sz="2400" b="1" baseline="-25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E33CBC-5B6D-41B9-96F1-DE27EA43AEB0}"/>
              </a:ext>
            </a:extLst>
          </p:cNvPr>
          <p:cNvGraphicFramePr>
            <a:graphicFrameLocks noGrp="1"/>
          </p:cNvGraphicFramePr>
          <p:nvPr/>
        </p:nvGraphicFramePr>
        <p:xfrm>
          <a:off x="2927648" y="3717032"/>
          <a:ext cx="1524000" cy="1270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/>
                        <a:t>s-lock(X)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F6F997-0F7E-4BBB-8D4A-32D7CD2DFD89}"/>
              </a:ext>
            </a:extLst>
          </p:cNvPr>
          <p:cNvGraphicFramePr>
            <a:graphicFrameLocks noGrp="1"/>
          </p:cNvGraphicFramePr>
          <p:nvPr/>
        </p:nvGraphicFramePr>
        <p:xfrm>
          <a:off x="5051388" y="3717032"/>
          <a:ext cx="1524000" cy="1905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x-lock(X)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F3FE4BF-445A-49D3-9C22-B60EBB937786}"/>
              </a:ext>
            </a:extLst>
          </p:cNvPr>
          <p:cNvSpPr/>
          <p:nvPr/>
        </p:nvSpPr>
        <p:spPr>
          <a:xfrm>
            <a:off x="6955840" y="3645024"/>
            <a:ext cx="504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/>
              <a:t>S:</a:t>
            </a:r>
            <a:endParaRPr lang="en-GB" sz="2400" b="1" baseline="-250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66AD9E4-80D6-44C9-B0EC-2C9823900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041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903"/>
    </mc:Choice>
    <mc:Fallback xmlns="">
      <p:transition spd="slow" advTm="1249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”Upgrading” 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shared lock on an item X can be upgraded later </a:t>
            </a:r>
            <a:br>
              <a:rPr lang="en-US" dirty="0"/>
            </a:br>
            <a:r>
              <a:rPr lang="en-US" dirty="0"/>
              <a:t>to an exclusive lock on X.</a:t>
            </a:r>
          </a:p>
          <a:p>
            <a:r>
              <a:rPr lang="en-US" dirty="0"/>
              <a:t>Can use this to be “friendly” to other transactions.</a:t>
            </a:r>
          </a:p>
          <a:p>
            <a:r>
              <a:rPr lang="en-US" dirty="0"/>
              <a:t>Caveat: risk of deadlock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4295800" y="5880564"/>
            <a:ext cx="3227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>
                <a:solidFill>
                  <a:srgbClr val="FF0000"/>
                </a:solidFill>
              </a:rPr>
              <a:t>sl</a:t>
            </a:r>
            <a:r>
              <a:rPr lang="en-GB" sz="2400" b="1" baseline="-25000" dirty="0">
                <a:solidFill>
                  <a:srgbClr val="FF0000"/>
                </a:solidFill>
              </a:rPr>
              <a:t>1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1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FF0000"/>
                </a:solidFill>
              </a:rPr>
              <a:t>sl</a:t>
            </a:r>
            <a:r>
              <a:rPr lang="en-GB" sz="2400" b="1" baseline="-25000" dirty="0">
                <a:solidFill>
                  <a:srgbClr val="FF0000"/>
                </a:solidFill>
              </a:rPr>
              <a:t>2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2</a:t>
            </a:r>
            <a:r>
              <a:rPr lang="en-GB" sz="2400" b="1" dirty="0"/>
              <a:t>(X);</a:t>
            </a:r>
            <a:endParaRPr lang="en-GB" sz="2400" b="1" baseline="-25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56040" y="3681680"/>
          <a:ext cx="1524000" cy="1905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x-lock(X)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60292" y="3681680"/>
          <a:ext cx="1524000" cy="1905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x-lock(X)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7454246" y="6291575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522840" y="5877273"/>
            <a:ext cx="327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?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170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249"/>
    </mc:Choice>
    <mc:Fallback xmlns="">
      <p:transition spd="slow" advTm="1112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Locks to the Rescue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Update lock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Requested by transactions to read (not write) an item</a:t>
            </a:r>
          </a:p>
          <a:p>
            <a:pPr lvl="1"/>
            <a:r>
              <a:rPr lang="en-US" dirty="0"/>
              <a:t>May be upgraded later to an exclusive lock</a:t>
            </a:r>
            <a:br>
              <a:rPr lang="en-US" dirty="0"/>
            </a:br>
            <a:r>
              <a:rPr lang="en-US" dirty="0"/>
              <a:t>(shared locks can no longer be upgraded)</a:t>
            </a:r>
          </a:p>
          <a:p>
            <a:pPr lvl="1"/>
            <a:r>
              <a:rPr lang="en-US" dirty="0"/>
              <a:t>Granted to </a:t>
            </a:r>
            <a:r>
              <a:rPr lang="en-US" i="1" dirty="0"/>
              <a:t>at most one transaction at a time</a:t>
            </a:r>
            <a:endParaRPr lang="en-US" dirty="0"/>
          </a:p>
          <a:p>
            <a:r>
              <a:rPr lang="en-US" dirty="0"/>
              <a:t>New upgrading policy: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22715" y="5045624"/>
          <a:ext cx="3984105" cy="1479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3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Exclusive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Exclusive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Left Brace 6"/>
          <p:cNvSpPr/>
          <p:nvPr/>
        </p:nvSpPr>
        <p:spPr>
          <a:xfrm flipH="1">
            <a:off x="7040354" y="5434912"/>
            <a:ext cx="205680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57472" y="5513307"/>
            <a:ext cx="3087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Grant if the only types of locks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held by </a:t>
            </a:r>
            <a:r>
              <a:rPr lang="en-US" i="1" dirty="0">
                <a:solidFill>
                  <a:schemeClr val="accent1"/>
                </a:solidFill>
              </a:rPr>
              <a:t>other</a:t>
            </a:r>
            <a:r>
              <a:rPr lang="en-US" dirty="0">
                <a:solidFill>
                  <a:schemeClr val="accent1"/>
                </a:solidFill>
              </a:rPr>
              <a:t> transactions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are those with a “yes”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7389" y="4235169"/>
            <a:ext cx="349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Transaction requests lock of type </a:t>
            </a:r>
            <a:r>
              <a:rPr lang="mr-IN" dirty="0">
                <a:solidFill>
                  <a:schemeClr val="accent1"/>
                </a:solidFill>
              </a:rPr>
              <a:t>…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" name="Left Brace 10"/>
          <p:cNvSpPr/>
          <p:nvPr/>
        </p:nvSpPr>
        <p:spPr>
          <a:xfrm rot="5400000">
            <a:off x="5296878" y="3342113"/>
            <a:ext cx="193833" cy="2826051"/>
          </a:xfrm>
          <a:prstGeom prst="leftBrace">
            <a:avLst>
              <a:gd name="adj1" fmla="val 8333"/>
              <a:gd name="adj2" fmla="val 5032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6806820" y="1737360"/>
            <a:ext cx="1543500" cy="1398950"/>
          </a:xfrm>
          <a:prstGeom prst="wedgeRoundRectCallout">
            <a:avLst>
              <a:gd name="adj1" fmla="val -98105"/>
              <a:gd name="adj2" fmla="val -3103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Operation: </a:t>
            </a:r>
            <a:br>
              <a:rPr lang="en-US" dirty="0"/>
            </a:br>
            <a:r>
              <a:rPr lang="en-US" b="1" dirty="0"/>
              <a:t>u-lock(X)</a:t>
            </a:r>
          </a:p>
          <a:p>
            <a:pPr algn="ctr"/>
            <a:r>
              <a:rPr lang="en-US" dirty="0"/>
              <a:t>or</a:t>
            </a:r>
          </a:p>
          <a:p>
            <a:pPr algn="ctr"/>
            <a:r>
              <a:rPr lang="en-US" b="1" dirty="0" err="1"/>
              <a:t>ul</a:t>
            </a:r>
            <a:r>
              <a:rPr lang="en-US" b="1" baseline="-25000" dirty="0" err="1"/>
              <a:t>i</a:t>
            </a:r>
            <a:r>
              <a:rPr lang="en-US" b="1" dirty="0"/>
              <a:t>(X)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1818427" y="4460736"/>
            <a:ext cx="1971241" cy="439526"/>
          </a:xfrm>
          <a:prstGeom prst="wedgeRoundRectCallout">
            <a:avLst>
              <a:gd name="adj1" fmla="val -2570"/>
              <a:gd name="adj2" fmla="val 11110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 symmetric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138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038"/>
    </mc:Choice>
    <mc:Fallback xmlns="">
      <p:transition spd="slow" advTm="2070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/>
      <p:bldP spid="10" grpId="0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Avoiding the Deadlock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56040" y="1739904"/>
          <a:ext cx="1524000" cy="1905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x-lock(X)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60292" y="1739904"/>
          <a:ext cx="1524000" cy="1905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x-lock(X)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ounded Rectangular Callout 15"/>
          <p:cNvSpPr/>
          <p:nvPr/>
        </p:nvSpPr>
        <p:spPr>
          <a:xfrm>
            <a:off x="1655658" y="1844824"/>
            <a:ext cx="2268760" cy="1482846"/>
          </a:xfrm>
          <a:prstGeom prst="wedgeRoundRectCallout">
            <a:avLst>
              <a:gd name="adj1" fmla="val 60962"/>
              <a:gd name="adj2" fmla="val 1963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 longer possible: Shared locks can no</a:t>
            </a:r>
            <a:br>
              <a:rPr lang="en-US" dirty="0"/>
            </a:br>
            <a:r>
              <a:rPr lang="en-US" dirty="0"/>
              <a:t>longer be upgraded.</a:t>
            </a:r>
            <a:br>
              <a:rPr lang="en-US" dirty="0"/>
            </a:br>
            <a:r>
              <a:rPr lang="en-US" dirty="0"/>
              <a:t>This now requires an</a:t>
            </a:r>
            <a:br>
              <a:rPr lang="en-US" dirty="0"/>
            </a:br>
            <a:r>
              <a:rPr lang="en-US" dirty="0"/>
              <a:t>update lock.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449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92"/>
    </mc:Choice>
    <mc:Fallback xmlns="">
      <p:transition spd="slow" advTm="383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Avoiding the Deadlock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071664" y="4653137"/>
            <a:ext cx="17281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>
                <a:solidFill>
                  <a:srgbClr val="FF0000"/>
                </a:solidFill>
              </a:rPr>
              <a:t>ul</a:t>
            </a:r>
            <a:r>
              <a:rPr lang="en-GB" sz="2400" b="1" baseline="-25000" dirty="0">
                <a:solidFill>
                  <a:srgbClr val="FF0000"/>
                </a:solidFill>
              </a:rPr>
              <a:t>1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1</a:t>
            </a:r>
            <a:r>
              <a:rPr lang="en-GB" sz="2400" b="1" dirty="0"/>
              <a:t>(X); </a:t>
            </a:r>
            <a:endParaRPr lang="en-GB" sz="2400" b="1" baseline="-250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4802774" y="5047950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ounded Rectangular Callout 16"/>
          <p:cNvSpPr/>
          <p:nvPr/>
        </p:nvSpPr>
        <p:spPr>
          <a:xfrm>
            <a:off x="5591944" y="4144664"/>
            <a:ext cx="1944216" cy="839847"/>
          </a:xfrm>
          <a:prstGeom prst="wedgeRoundRectCallout">
            <a:avLst>
              <a:gd name="adj1" fmla="val -61820"/>
              <a:gd name="adj2" fmla="val 364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’s request for update lock on X </a:t>
            </a:r>
            <a:br>
              <a:rPr lang="en-US" dirty="0"/>
            </a:br>
            <a:r>
              <a:rPr lang="en-US"/>
              <a:t>is denied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359696" y="5139921"/>
            <a:ext cx="2592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>
                <a:solidFill>
                  <a:srgbClr val="FF0000"/>
                </a:solidFill>
              </a:rPr>
              <a:t>xl</a:t>
            </a:r>
            <a:r>
              <a:rPr lang="en-GB" sz="2400" b="1" baseline="-25000" dirty="0">
                <a:solidFill>
                  <a:srgbClr val="FF0000"/>
                </a:solidFill>
              </a:rPr>
              <a:t>1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w</a:t>
            </a:r>
            <a:r>
              <a:rPr lang="en-GB" sz="2400" b="1" baseline="-25000" dirty="0"/>
              <a:t>1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b="1" baseline="-25000" dirty="0">
                <a:solidFill>
                  <a:srgbClr val="00B050"/>
                </a:solidFill>
              </a:rPr>
              <a:t>1</a:t>
            </a:r>
            <a:r>
              <a:rPr lang="en-GB" sz="2400" b="1" dirty="0">
                <a:solidFill>
                  <a:srgbClr val="00B050"/>
                </a:solidFill>
              </a:rPr>
              <a:t>(X)</a:t>
            </a:r>
            <a:r>
              <a:rPr lang="en-GB" sz="2400" b="1" dirty="0"/>
              <a:t>;</a:t>
            </a:r>
            <a:endParaRPr lang="en-GB" sz="2400" b="1" baseline="-25000" dirty="0"/>
          </a:p>
        </p:txBody>
      </p:sp>
      <p:sp>
        <p:nvSpPr>
          <p:cNvPr id="19" name="Rectangle 18"/>
          <p:cNvSpPr/>
          <p:nvPr/>
        </p:nvSpPr>
        <p:spPr>
          <a:xfrm>
            <a:off x="3359696" y="5626705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>
                <a:solidFill>
                  <a:srgbClr val="FF0000"/>
                </a:solidFill>
              </a:rPr>
              <a:t>ul</a:t>
            </a:r>
            <a:r>
              <a:rPr lang="en-GB" sz="2400" b="1" baseline="-25000" dirty="0">
                <a:solidFill>
                  <a:srgbClr val="FF0000"/>
                </a:solidFill>
              </a:rPr>
              <a:t>2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2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FF0000"/>
                </a:solidFill>
              </a:rPr>
              <a:t>xl</a:t>
            </a:r>
            <a:r>
              <a:rPr lang="en-GB" sz="2400" b="1" baseline="-25000" dirty="0">
                <a:solidFill>
                  <a:srgbClr val="FF0000"/>
                </a:solidFill>
              </a:rPr>
              <a:t>2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w</a:t>
            </a:r>
            <a:r>
              <a:rPr lang="en-GB" sz="2400" b="1" baseline="-25000" dirty="0"/>
              <a:t>2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b="1" baseline="-25000" dirty="0">
                <a:solidFill>
                  <a:srgbClr val="00B050"/>
                </a:solidFill>
              </a:rPr>
              <a:t>2</a:t>
            </a:r>
            <a:r>
              <a:rPr lang="en-GB" sz="2400" b="1" dirty="0">
                <a:solidFill>
                  <a:srgbClr val="00B050"/>
                </a:solidFill>
              </a:rPr>
              <a:t>(X)</a:t>
            </a:r>
            <a:endParaRPr lang="en-GB" sz="2400" b="1" baseline="-25000" dirty="0">
              <a:solidFill>
                <a:srgbClr val="00B050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56040" y="1739904"/>
          <a:ext cx="1524000" cy="1905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u-lock(X)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x-lock(X)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60292" y="1739904"/>
          <a:ext cx="1524000" cy="1905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u-lock(X)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x-lock(X)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242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68"/>
    </mc:Choice>
    <mc:Fallback xmlns="">
      <p:transition spd="slow" advTm="843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 animBg="1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19936" y="1787799"/>
          <a:ext cx="1524000" cy="1905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x-lock(X)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43672" y="1787799"/>
          <a:ext cx="1524000" cy="1270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071664" y="4653137"/>
            <a:ext cx="32403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>
                <a:solidFill>
                  <a:srgbClr val="FF0000"/>
                </a:solidFill>
              </a:rPr>
              <a:t>sl</a:t>
            </a:r>
            <a:r>
              <a:rPr lang="en-GB" sz="2400" b="1" baseline="-25000" dirty="0">
                <a:solidFill>
                  <a:srgbClr val="FF0000"/>
                </a:solidFill>
              </a:rPr>
              <a:t>1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1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FF0000"/>
                </a:solidFill>
              </a:rPr>
              <a:t>ul</a:t>
            </a:r>
            <a:r>
              <a:rPr lang="en-GB" sz="2400" b="1" baseline="-25000" dirty="0">
                <a:solidFill>
                  <a:srgbClr val="FF0000"/>
                </a:solidFill>
              </a:rPr>
              <a:t>2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2</a:t>
            </a:r>
            <a:r>
              <a:rPr lang="en-GB" sz="2400" b="1" dirty="0"/>
              <a:t>(X); </a:t>
            </a:r>
            <a:endParaRPr lang="en-GB" sz="2400" b="1" baseline="-250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312025" y="5013176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ounded Rectangular Callout 16"/>
          <p:cNvSpPr/>
          <p:nvPr/>
        </p:nvSpPr>
        <p:spPr>
          <a:xfrm>
            <a:off x="6148536" y="3834917"/>
            <a:ext cx="3475856" cy="676220"/>
          </a:xfrm>
          <a:prstGeom prst="wedgeRoundRectCallout">
            <a:avLst>
              <a:gd name="adj1" fmla="val -36492"/>
              <a:gd name="adj2" fmla="val 8431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’s request for exclusive lock on X </a:t>
            </a:r>
            <a:br>
              <a:rPr lang="en-US" dirty="0"/>
            </a:br>
            <a:r>
              <a:rPr lang="en-US" dirty="0"/>
              <a:t>is denied (</a:t>
            </a:r>
            <a:r>
              <a:rPr lang="en-US"/>
              <a:t>T</a:t>
            </a:r>
            <a:r>
              <a:rPr lang="en-US" baseline="-25000"/>
              <a:t>1</a:t>
            </a:r>
            <a:r>
              <a:rPr lang="en-US"/>
              <a:t> holds </a:t>
            </a:r>
            <a:r>
              <a:rPr lang="en-US" dirty="0"/>
              <a:t>shared lock)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9696" y="5139921"/>
            <a:ext cx="33843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b="1" baseline="-25000" dirty="0">
                <a:solidFill>
                  <a:srgbClr val="00B050"/>
                </a:solidFill>
              </a:rPr>
              <a:t>1</a:t>
            </a:r>
            <a:r>
              <a:rPr lang="en-GB" sz="2400" b="1" dirty="0">
                <a:solidFill>
                  <a:srgbClr val="00B050"/>
                </a:solidFill>
              </a:rPr>
              <a:t>(X)</a:t>
            </a:r>
            <a:r>
              <a:rPr lang="en-GB" sz="2400" b="1" dirty="0"/>
              <a:t>;</a:t>
            </a:r>
            <a:r>
              <a:rPr lang="en-GB" sz="2400" b="1" baseline="-25000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xl</a:t>
            </a:r>
            <a:r>
              <a:rPr lang="en-GB" sz="2400" b="1" baseline="-25000" dirty="0">
                <a:solidFill>
                  <a:srgbClr val="FF0000"/>
                </a:solidFill>
              </a:rPr>
              <a:t>2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w</a:t>
            </a:r>
            <a:r>
              <a:rPr lang="en-GB" sz="2400" b="1" baseline="-25000" dirty="0"/>
              <a:t>2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b="1" baseline="-25000" dirty="0">
                <a:solidFill>
                  <a:srgbClr val="00B050"/>
                </a:solidFill>
              </a:rPr>
              <a:t>2</a:t>
            </a:r>
            <a:r>
              <a:rPr lang="en-GB" sz="2400" b="1" dirty="0">
                <a:solidFill>
                  <a:srgbClr val="00B050"/>
                </a:solidFill>
              </a:rPr>
              <a:t>(X)</a:t>
            </a:r>
            <a:r>
              <a:rPr lang="en-GB" sz="2400" b="1" dirty="0"/>
              <a:t>;</a:t>
            </a:r>
            <a:r>
              <a:rPr lang="en-GB" sz="2400" b="1" baseline="-25000" dirty="0"/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9696" y="5626705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>
                <a:solidFill>
                  <a:srgbClr val="FF0000"/>
                </a:solidFill>
              </a:rPr>
              <a:t>sl</a:t>
            </a:r>
            <a:r>
              <a:rPr lang="en-GB" sz="2400" b="1" baseline="-25000" dirty="0">
                <a:solidFill>
                  <a:srgbClr val="FF0000"/>
                </a:solidFill>
              </a:rPr>
              <a:t>3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3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b="1" baseline="-25000" dirty="0">
                <a:solidFill>
                  <a:srgbClr val="00B050"/>
                </a:solidFill>
              </a:rPr>
              <a:t>3</a:t>
            </a:r>
            <a:r>
              <a:rPr lang="en-GB" sz="2400" b="1" dirty="0">
                <a:solidFill>
                  <a:srgbClr val="00B050"/>
                </a:solidFill>
              </a:rPr>
              <a:t>(X)</a:t>
            </a:r>
            <a:endParaRPr lang="en-GB" sz="2400" b="1" baseline="-25000" dirty="0">
              <a:solidFill>
                <a:srgbClr val="00B050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896200" y="1787799"/>
          <a:ext cx="1524000" cy="1270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s-lock(X)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ular Callout 13"/>
          <p:cNvSpPr/>
          <p:nvPr/>
        </p:nvSpPr>
        <p:spPr>
          <a:xfrm>
            <a:off x="1847528" y="3834917"/>
            <a:ext cx="3996444" cy="676220"/>
          </a:xfrm>
          <a:prstGeom prst="wedgeRoundRectCallout">
            <a:avLst>
              <a:gd name="adj1" fmla="val 30334"/>
              <a:gd name="adj2" fmla="val 7598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can request an update lock on X</a:t>
            </a:r>
            <a:br>
              <a:rPr lang="en-US" dirty="0"/>
            </a:br>
            <a:r>
              <a:rPr lang="en-US" dirty="0"/>
              <a:t>even though T</a:t>
            </a:r>
            <a:r>
              <a:rPr lang="en-US" baseline="-25000" dirty="0"/>
              <a:t>1</a:t>
            </a:r>
            <a:r>
              <a:rPr lang="en-US" dirty="0"/>
              <a:t> holds a shared lock on X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7043936" y="4730811"/>
            <a:ext cx="3228528" cy="714413"/>
          </a:xfrm>
          <a:prstGeom prst="wedgeRoundRectCallout">
            <a:avLst>
              <a:gd name="adj1" fmla="val -55345"/>
              <a:gd name="adj2" fmla="val -2329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3</a:t>
            </a:r>
            <a:r>
              <a:rPr lang="en-US" dirty="0"/>
              <a:t>’s request for shared lock on X </a:t>
            </a:r>
            <a:br>
              <a:rPr lang="en-US" dirty="0"/>
            </a:br>
            <a:r>
              <a:rPr lang="en-US" dirty="0"/>
              <a:t>is denied (T</a:t>
            </a:r>
            <a:r>
              <a:rPr lang="en-US" baseline="-25000" dirty="0"/>
              <a:t>2</a:t>
            </a:r>
            <a:r>
              <a:rPr lang="en-US" dirty="0"/>
              <a:t> holds update lock)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89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063"/>
    </mc:Choice>
    <mc:Fallback xmlns="">
      <p:transition spd="slow" advTm="1600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 animBg="1"/>
      <p:bldP spid="18" grpId="0"/>
      <p:bldP spid="19" grpId="0"/>
      <p:bldP spid="14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8BD6-6CD9-4723-BD46-C5C28C7FA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Two-Phase Locking (2PL)</a:t>
            </a:r>
            <a:br>
              <a:rPr lang="en-US" dirty="0"/>
            </a:br>
            <a:r>
              <a:rPr lang="en-US" dirty="0"/>
              <a:t>With Shared/Exclusive/Update 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33CC9-25FA-4A18-9CD1-DF4F954E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Straightforward </a:t>
            </a:r>
            <a:r>
              <a:rPr lang="en-US" dirty="0" err="1"/>
              <a:t>generalisation</a:t>
            </a:r>
            <a:r>
              <a:rPr lang="en-US" dirty="0"/>
              <a:t>: </a:t>
            </a:r>
            <a:br>
              <a:rPr lang="en-US" dirty="0"/>
            </a:br>
            <a:r>
              <a:rPr lang="en-US" sz="2000" dirty="0"/>
              <a:t>In each transaction, all lock operations (i.e., shared, exclusive, or update lock requests) precede all unlocks.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Still guarantees conflict-serializability – same argument</a:t>
            </a:r>
          </a:p>
          <a:p>
            <a:endParaRPr lang="en-GB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68C2945-1D57-4751-8374-C68DD219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9FC6188-ACD6-4C20-9EA8-C5C199FDE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423071"/>
              </p:ext>
            </p:extLst>
          </p:nvPr>
        </p:nvGraphicFramePr>
        <p:xfrm>
          <a:off x="5287870" y="2643663"/>
          <a:ext cx="2664296" cy="2598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Transaction</a:t>
                      </a:r>
                      <a:endParaRPr lang="en-US" baseline="-25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br>
                        <a:rPr lang="en-US" dirty="0">
                          <a:solidFill>
                            <a:schemeClr val="tx2"/>
                          </a:solidFill>
                        </a:rPr>
                      </a:b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br>
                        <a:rPr lang="en-US" dirty="0">
                          <a:solidFill>
                            <a:schemeClr val="tx2"/>
                          </a:solidFill>
                        </a:rPr>
                      </a:b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44D1B60-AD11-4221-93BC-E0C27A8B1EF3}"/>
              </a:ext>
            </a:extLst>
          </p:cNvPr>
          <p:cNvSpPr txBox="1"/>
          <p:nvPr/>
        </p:nvSpPr>
        <p:spPr>
          <a:xfrm>
            <a:off x="5366534" y="3003703"/>
            <a:ext cx="25069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Phase 1:</a:t>
            </a:r>
            <a:r>
              <a:rPr lang="en-US" sz="2000" dirty="0">
                <a:solidFill>
                  <a:schemeClr val="tx2"/>
                </a:solidFill>
              </a:rPr>
              <a:t> request locks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D963C3-D7BC-453C-8CD9-0425E110D9CE}"/>
              </a:ext>
            </a:extLst>
          </p:cNvPr>
          <p:cNvSpPr txBox="1"/>
          <p:nvPr/>
        </p:nvSpPr>
        <p:spPr>
          <a:xfrm>
            <a:off x="5708550" y="4155831"/>
            <a:ext cx="1822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Phase 2:</a:t>
            </a:r>
            <a:r>
              <a:rPr lang="en-US" sz="2000" dirty="0">
                <a:solidFill>
                  <a:schemeClr val="tx2"/>
                </a:solidFill>
              </a:rPr>
              <a:t> unlock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2566A485-FEA0-4EA5-8600-5B4C4942D4F0}"/>
              </a:ext>
            </a:extLst>
          </p:cNvPr>
          <p:cNvSpPr/>
          <p:nvPr/>
        </p:nvSpPr>
        <p:spPr>
          <a:xfrm>
            <a:off x="4787510" y="2643663"/>
            <a:ext cx="150665" cy="25984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33EA71-9B3F-4048-AF6F-F93C18F81DC9}"/>
              </a:ext>
            </a:extLst>
          </p:cNvPr>
          <p:cNvSpPr txBox="1"/>
          <p:nvPr/>
        </p:nvSpPr>
        <p:spPr>
          <a:xfrm>
            <a:off x="2676104" y="3755721"/>
            <a:ext cx="200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“2PL transaction”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E04818-BDCF-4960-8E9A-FFA5C4CE6E28}"/>
              </a:ext>
            </a:extLst>
          </p:cNvPr>
          <p:cNvSpPr/>
          <p:nvPr/>
        </p:nvSpPr>
        <p:spPr>
          <a:xfrm>
            <a:off x="5477389" y="3363744"/>
            <a:ext cx="2285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+ possibly other read/write operations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42B7BB-EE23-4896-A3BC-779343BCBAED}"/>
              </a:ext>
            </a:extLst>
          </p:cNvPr>
          <p:cNvSpPr/>
          <p:nvPr/>
        </p:nvSpPr>
        <p:spPr>
          <a:xfrm>
            <a:off x="5477389" y="4515872"/>
            <a:ext cx="2285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+ possibly other read/write operations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177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121"/>
    </mc:Choice>
    <mc:Fallback xmlns="">
      <p:transition spd="slow" advTm="1081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 animBg="1"/>
      <p:bldP spid="16" grpId="0"/>
      <p:bldP spid="18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 With Multiple 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DBMS may use locks at different levels of granularity</a:t>
            </a:r>
          </a:p>
          <a:p>
            <a:pPr lvl="1"/>
            <a:r>
              <a:rPr lang="en-US" dirty="0"/>
              <a:t>May lock relations</a:t>
            </a:r>
          </a:p>
          <a:p>
            <a:pPr lvl="1"/>
            <a:r>
              <a:rPr lang="en-US" dirty="0"/>
              <a:t>May lock disk blocks</a:t>
            </a:r>
          </a:p>
          <a:p>
            <a:pPr lvl="1"/>
            <a:r>
              <a:rPr lang="en-US" dirty="0"/>
              <a:t>May lock tuples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>
              <a:spcBef>
                <a:spcPts val="2472"/>
              </a:spcBef>
            </a:pPr>
            <a:r>
              <a:rPr lang="en-US" dirty="0"/>
              <a:t>Examples:</a:t>
            </a:r>
          </a:p>
          <a:p>
            <a:pPr lvl="1"/>
            <a:r>
              <a:rPr lang="en-US" dirty="0"/>
              <a:t>SELECT name FROM Student WHERE </a:t>
            </a:r>
            <a:r>
              <a:rPr lang="en-US" dirty="0" err="1"/>
              <a:t>studentID</a:t>
            </a:r>
            <a:r>
              <a:rPr lang="en-US" dirty="0"/>
              <a:t> = 123456;</a:t>
            </a:r>
          </a:p>
          <a:p>
            <a:pPr lvl="1"/>
            <a:r>
              <a:rPr lang="en-US" dirty="0"/>
              <a:t>SELECT </a:t>
            </a:r>
            <a:r>
              <a:rPr lang="en-US" dirty="0" err="1"/>
              <a:t>avg</a:t>
            </a:r>
            <a:r>
              <a:rPr lang="en-US" dirty="0"/>
              <a:t>(salary) FROM Employee;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5" name="Rounded Rectangular Callout 54"/>
          <p:cNvSpPr/>
          <p:nvPr/>
        </p:nvSpPr>
        <p:spPr>
          <a:xfrm>
            <a:off x="4416001" y="3701665"/>
            <a:ext cx="1665295" cy="714485"/>
          </a:xfrm>
          <a:prstGeom prst="wedgeRoundRectCallout">
            <a:avLst>
              <a:gd name="adj1" fmla="val 39833"/>
              <a:gd name="adj2" fmla="val 9696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Shared lock on tuple suffices</a:t>
            </a:r>
          </a:p>
        </p:txBody>
      </p:sp>
      <p:sp>
        <p:nvSpPr>
          <p:cNvPr id="56" name="Rounded Rectangular Callout 55"/>
          <p:cNvSpPr/>
          <p:nvPr/>
        </p:nvSpPr>
        <p:spPr>
          <a:xfrm>
            <a:off x="5297595" y="5152292"/>
            <a:ext cx="2474609" cy="714485"/>
          </a:xfrm>
          <a:prstGeom prst="wedgeRoundRectCallout">
            <a:avLst>
              <a:gd name="adj1" fmla="val -59266"/>
              <a:gd name="adj2" fmla="val -3714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Shared lock on relation might be necessary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6367504" y="2102603"/>
            <a:ext cx="3856993" cy="2682879"/>
            <a:chOff x="4843503" y="2102602"/>
            <a:chExt cx="3856993" cy="2682879"/>
          </a:xfrm>
        </p:grpSpPr>
        <p:sp>
          <p:nvSpPr>
            <p:cNvPr id="7" name="Rectangle 6"/>
            <p:cNvSpPr/>
            <p:nvPr/>
          </p:nvSpPr>
          <p:spPr>
            <a:xfrm>
              <a:off x="5636823" y="2512502"/>
              <a:ext cx="1728192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Relation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032867" y="4001328"/>
              <a:ext cx="936104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Tuple 2</a:t>
              </a:r>
              <a:endParaRPr lang="en-US" sz="16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244427" y="3256915"/>
              <a:ext cx="792088" cy="43204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mr-IN" sz="1600" dirty="0"/>
                <a:t>…</a:t>
              </a:r>
              <a:endParaRPr lang="en-US" sz="16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36315" y="3256915"/>
              <a:ext cx="792088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Block 2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228203" y="3256915"/>
              <a:ext cx="792088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Block 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229762" y="4001327"/>
              <a:ext cx="936104" cy="43204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mr-IN" sz="1600" dirty="0"/>
                <a:t>…</a:t>
              </a:r>
              <a:endParaRPr lang="en-US" sz="16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43503" y="4001327"/>
              <a:ext cx="936104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Tuple 1</a:t>
              </a:r>
            </a:p>
          </p:txBody>
        </p:sp>
        <p:cxnSp>
          <p:nvCxnSpPr>
            <p:cNvPr id="25" name="Elbow Connector 24"/>
            <p:cNvCxnSpPr>
              <a:stCxn id="7" idx="2"/>
              <a:endCxn id="16" idx="0"/>
            </p:cNvCxnSpPr>
            <p:nvPr/>
          </p:nvCxnSpPr>
          <p:spPr>
            <a:xfrm rot="5400000">
              <a:off x="5906401" y="2662396"/>
              <a:ext cx="312365" cy="87667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/>
            <p:cNvCxnSpPr>
              <a:stCxn id="7" idx="2"/>
              <a:endCxn id="15" idx="0"/>
            </p:cNvCxnSpPr>
            <p:nvPr/>
          </p:nvCxnSpPr>
          <p:spPr>
            <a:xfrm rot="16200000" flipH="1">
              <a:off x="6410457" y="3035012"/>
              <a:ext cx="312365" cy="13144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/>
            <p:cNvCxnSpPr>
              <a:stCxn id="7" idx="2"/>
              <a:endCxn id="12" idx="0"/>
            </p:cNvCxnSpPr>
            <p:nvPr/>
          </p:nvCxnSpPr>
          <p:spPr>
            <a:xfrm rot="16200000" flipH="1">
              <a:off x="6914513" y="2530956"/>
              <a:ext cx="312365" cy="113955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>
              <a:stCxn id="16" idx="2"/>
              <a:endCxn id="21" idx="0"/>
            </p:cNvCxnSpPr>
            <p:nvPr/>
          </p:nvCxnSpPr>
          <p:spPr>
            <a:xfrm rot="5400000">
              <a:off x="5311719" y="3688799"/>
              <a:ext cx="312364" cy="31269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lbow Connector 46"/>
            <p:cNvCxnSpPr>
              <a:stCxn id="16" idx="2"/>
              <a:endCxn id="10" idx="0"/>
            </p:cNvCxnSpPr>
            <p:nvPr/>
          </p:nvCxnSpPr>
          <p:spPr>
            <a:xfrm rot="16200000" flipH="1">
              <a:off x="5906401" y="3406809"/>
              <a:ext cx="312365" cy="87667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lbow Connector 48"/>
            <p:cNvCxnSpPr>
              <a:stCxn id="16" idx="2"/>
              <a:endCxn id="20" idx="0"/>
            </p:cNvCxnSpPr>
            <p:nvPr/>
          </p:nvCxnSpPr>
          <p:spPr>
            <a:xfrm rot="16200000" flipH="1">
              <a:off x="6504848" y="2808361"/>
              <a:ext cx="312364" cy="207356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>
              <a:off x="8297645" y="2512502"/>
              <a:ext cx="0" cy="192087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878540" y="2102602"/>
              <a:ext cx="821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coarse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 rot="5400000">
              <a:off x="7906054" y="3288272"/>
              <a:ext cx="1201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granularity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017319" y="4416149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fine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3762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450"/>
    </mc:Choice>
    <mc:Fallback xmlns="">
      <p:transition spd="slow" advTm="694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5" grpId="0" animBg="1"/>
      <p:bldP spid="5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Locking at </a:t>
            </a:r>
            <a:r>
              <a:rPr lang="en-US" b="1" dirty="0"/>
              <a:t>too coarse </a:t>
            </a:r>
            <a:r>
              <a:rPr lang="en-US" dirty="0"/>
              <a:t>granularity: </a:t>
            </a:r>
          </a:p>
          <a:p>
            <a:pPr lvl="1"/>
            <a:r>
              <a:rPr lang="en-US" dirty="0"/>
              <a:t>Low overhead</a:t>
            </a:r>
            <a:r>
              <a:rPr lang="en-US" dirty="0">
                <a:sym typeface="Wingdings"/>
              </a:rPr>
              <a:t> (don’t need to store too much information)</a:t>
            </a:r>
          </a:p>
          <a:p>
            <a:pPr lvl="1"/>
            <a:r>
              <a:rPr lang="en-US" dirty="0">
                <a:sym typeface="Wingdings"/>
              </a:rPr>
              <a:t>Less degree of concurrency: may cause unnecessary delays</a:t>
            </a:r>
          </a:p>
          <a:p>
            <a:r>
              <a:rPr lang="en-US" dirty="0"/>
              <a:t>Locking at </a:t>
            </a:r>
            <a:r>
              <a:rPr lang="en-US" b="1" dirty="0"/>
              <a:t>too fine </a:t>
            </a:r>
            <a:r>
              <a:rPr lang="en-US" dirty="0"/>
              <a:t>granularity:</a:t>
            </a:r>
          </a:p>
          <a:p>
            <a:pPr lvl="1"/>
            <a:r>
              <a:rPr lang="en-US" dirty="0"/>
              <a:t>High overhead: need to keep track of all locked items</a:t>
            </a:r>
          </a:p>
          <a:p>
            <a:pPr lvl="1"/>
            <a:r>
              <a:rPr lang="en-US" dirty="0"/>
              <a:t>High degree of concurrency: no unnecessary delays</a:t>
            </a:r>
          </a:p>
          <a:p>
            <a:r>
              <a:rPr lang="en-US" dirty="0"/>
              <a:t>Need to prevent issues such as the following </a:t>
            </a:r>
            <a:br>
              <a:rPr lang="en-US" dirty="0"/>
            </a:br>
            <a:r>
              <a:rPr lang="en-US" dirty="0"/>
              <a:t>to guarantee (conflict-) </a:t>
            </a:r>
            <a:r>
              <a:rPr lang="en-US" dirty="0" err="1"/>
              <a:t>serialisability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 transactions holds shared lock for a tuple.</a:t>
            </a:r>
          </a:p>
          <a:p>
            <a:pPr lvl="1"/>
            <a:r>
              <a:rPr lang="en-US" dirty="0"/>
              <a:t>Another transaction holds exclusive lock for the 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980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570"/>
    </mc:Choice>
    <mc:Fallback xmlns="">
      <p:transition spd="slow" advTm="1455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Intention Locks </a:t>
            </a:r>
            <a:br>
              <a:rPr lang="en-US" dirty="0"/>
            </a:br>
            <a:r>
              <a:rPr lang="en-US" sz="2700" dirty="0"/>
              <a:t>(a.k.a. Warning Locks)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shared and exclusive locks (no update locks)</a:t>
            </a:r>
          </a:p>
          <a:p>
            <a:r>
              <a:rPr lang="en-US" dirty="0"/>
              <a:t>New </a:t>
            </a:r>
            <a:r>
              <a:rPr lang="en-US" b="1" dirty="0"/>
              <a:t>intention locks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IS</a:t>
            </a:r>
            <a:r>
              <a:rPr lang="en-US" dirty="0"/>
              <a:t>: Intention to request a shared lock on a sub-item </a:t>
            </a:r>
          </a:p>
          <a:p>
            <a:pPr lvl="1"/>
            <a:r>
              <a:rPr lang="en-US" b="1" dirty="0"/>
              <a:t>IX</a:t>
            </a:r>
            <a:r>
              <a:rPr lang="en-US" dirty="0"/>
              <a:t>: Intention to request an exclusive lock on a sub-item</a:t>
            </a:r>
          </a:p>
          <a:p>
            <a:r>
              <a:rPr lang="en-US" dirty="0"/>
              <a:t>Rules:</a:t>
            </a:r>
          </a:p>
          <a:p>
            <a:pPr lvl="1"/>
            <a:r>
              <a:rPr lang="en-US" dirty="0"/>
              <a:t>If a transaction wants to lock an item X, </a:t>
            </a:r>
            <a:br>
              <a:rPr lang="en-US" dirty="0"/>
            </a:br>
            <a:r>
              <a:rPr lang="en-US" dirty="0"/>
              <a:t>it must </a:t>
            </a:r>
            <a:r>
              <a:rPr lang="en-US" i="1" dirty="0"/>
              <a:t>first</a:t>
            </a:r>
            <a:r>
              <a:rPr lang="en-US" dirty="0"/>
              <a:t> put an intention lock </a:t>
            </a:r>
            <a:br>
              <a:rPr lang="en-US" dirty="0"/>
            </a:br>
            <a:r>
              <a:rPr lang="en-US" dirty="0"/>
              <a:t>on the super-items of X.</a:t>
            </a:r>
          </a:p>
          <a:p>
            <a:pPr lvl="1"/>
            <a:r>
              <a:rPr lang="en-US" dirty="0"/>
              <a:t>Shared locks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IS</a:t>
            </a:r>
          </a:p>
          <a:p>
            <a:pPr lvl="1"/>
            <a:r>
              <a:rPr lang="en-US" dirty="0"/>
              <a:t>Exclusive locks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17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7414973" y="4426265"/>
            <a:ext cx="3322363" cy="1920874"/>
            <a:chOff x="4843503" y="2512502"/>
            <a:chExt cx="3322363" cy="1920874"/>
          </a:xfrm>
        </p:grpSpPr>
        <p:sp>
          <p:nvSpPr>
            <p:cNvPr id="7" name="Rectangle 6"/>
            <p:cNvSpPr/>
            <p:nvPr/>
          </p:nvSpPr>
          <p:spPr>
            <a:xfrm>
              <a:off x="5636823" y="2512502"/>
              <a:ext cx="1728192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Relation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032867" y="4001328"/>
              <a:ext cx="936104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Tuple 2</a:t>
              </a:r>
              <a:endParaRPr lang="en-US" sz="16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244427" y="3256915"/>
              <a:ext cx="792088" cy="43204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6315" y="3256915"/>
              <a:ext cx="792088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Block 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28203" y="3256915"/>
              <a:ext cx="792088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Block 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229762" y="4001327"/>
              <a:ext cx="936104" cy="43204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43503" y="4001327"/>
              <a:ext cx="936104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Tuple 1</a:t>
              </a:r>
            </a:p>
          </p:txBody>
        </p:sp>
        <p:cxnSp>
          <p:nvCxnSpPr>
            <p:cNvPr id="14" name="Elbow Connector 13"/>
            <p:cNvCxnSpPr>
              <a:stCxn id="11" idx="2"/>
            </p:cNvCxnSpPr>
            <p:nvPr/>
          </p:nvCxnSpPr>
          <p:spPr>
            <a:xfrm rot="5400000">
              <a:off x="5906401" y="2662396"/>
              <a:ext cx="312365" cy="87667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lbow Connector 14"/>
            <p:cNvCxnSpPr>
              <a:stCxn id="11" idx="2"/>
              <a:endCxn id="19" idx="0"/>
            </p:cNvCxnSpPr>
            <p:nvPr/>
          </p:nvCxnSpPr>
          <p:spPr>
            <a:xfrm rot="16200000" flipH="1">
              <a:off x="6410457" y="3035012"/>
              <a:ext cx="312365" cy="13144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>
              <a:stCxn id="11" idx="2"/>
              <a:endCxn id="16" idx="0"/>
            </p:cNvCxnSpPr>
            <p:nvPr/>
          </p:nvCxnSpPr>
          <p:spPr>
            <a:xfrm rot="16200000" flipH="1">
              <a:off x="6914513" y="2530956"/>
              <a:ext cx="312365" cy="113955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/>
            <p:nvPr/>
          </p:nvCxnSpPr>
          <p:spPr>
            <a:xfrm rot="5400000">
              <a:off x="5311719" y="3688799"/>
              <a:ext cx="312364" cy="31269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/>
            <p:cNvCxnSpPr>
              <a:endCxn id="14" idx="0"/>
            </p:cNvCxnSpPr>
            <p:nvPr/>
          </p:nvCxnSpPr>
          <p:spPr>
            <a:xfrm rot="16200000" flipH="1">
              <a:off x="5906401" y="3406809"/>
              <a:ext cx="312365" cy="87667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18"/>
            <p:cNvCxnSpPr/>
            <p:nvPr/>
          </p:nvCxnSpPr>
          <p:spPr>
            <a:xfrm rot="16200000" flipH="1">
              <a:off x="6504848" y="2808361"/>
              <a:ext cx="312364" cy="207356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ounded Rectangular Callout 23"/>
          <p:cNvSpPr/>
          <p:nvPr/>
        </p:nvSpPr>
        <p:spPr>
          <a:xfrm>
            <a:off x="4813921" y="6060129"/>
            <a:ext cx="2340260" cy="422410"/>
          </a:xfrm>
          <a:prstGeom prst="wedgeRoundRectCallout">
            <a:avLst>
              <a:gd name="adj1" fmla="val 58143"/>
              <a:gd name="adj2" fmla="val -2498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3. </a:t>
            </a:r>
            <a:r>
              <a:rPr lang="en-US" dirty="0"/>
              <a:t>Request shared lock</a:t>
            </a:r>
          </a:p>
        </p:txBody>
      </p:sp>
      <p:sp>
        <p:nvSpPr>
          <p:cNvPr id="25" name="Rounded Rectangular Callout 24"/>
          <p:cNvSpPr/>
          <p:nvPr/>
        </p:nvSpPr>
        <p:spPr>
          <a:xfrm>
            <a:off x="6182074" y="5184859"/>
            <a:ext cx="1436347" cy="422410"/>
          </a:xfrm>
          <a:prstGeom prst="wedgeRoundRectCallout">
            <a:avLst>
              <a:gd name="adj1" fmla="val 58143"/>
              <a:gd name="adj2" fmla="val -2498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2. Request IS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7799673" y="3863604"/>
            <a:ext cx="1509587" cy="422410"/>
          </a:xfrm>
          <a:prstGeom prst="wedgeRoundRectCallout">
            <a:avLst>
              <a:gd name="adj1" fmla="val 14369"/>
              <a:gd name="adj2" fmla="val 7459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 Request 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437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889"/>
    </mc:Choice>
    <mc:Fallback xmlns="">
      <p:transition spd="slow" advTm="1018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4" grpId="0" animBg="1"/>
      <p:bldP spid="25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Intention Locks </a:t>
            </a:r>
            <a:br>
              <a:rPr lang="en-US" dirty="0"/>
            </a:br>
            <a:r>
              <a:rPr lang="en-US" sz="2700" dirty="0"/>
              <a:t>(a.k.a. Warning Locks)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shared and exclusive locks (no update locks)</a:t>
            </a:r>
          </a:p>
          <a:p>
            <a:r>
              <a:rPr lang="en-US" dirty="0"/>
              <a:t>New </a:t>
            </a:r>
            <a:r>
              <a:rPr lang="en-US" b="1" dirty="0"/>
              <a:t>intention locks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IS</a:t>
            </a:r>
            <a:r>
              <a:rPr lang="en-US" dirty="0"/>
              <a:t>: Intention to request a shared lock on a sub-item </a:t>
            </a:r>
          </a:p>
          <a:p>
            <a:pPr lvl="1"/>
            <a:r>
              <a:rPr lang="en-US" b="1" dirty="0"/>
              <a:t>IX</a:t>
            </a:r>
            <a:r>
              <a:rPr lang="en-US" dirty="0"/>
              <a:t>: Intention to request an exclusive lock on a sub-item</a:t>
            </a:r>
          </a:p>
          <a:p>
            <a:r>
              <a:rPr lang="en-US" dirty="0"/>
              <a:t>Rules:</a:t>
            </a:r>
          </a:p>
          <a:p>
            <a:pPr lvl="1"/>
            <a:r>
              <a:rPr lang="en-US" dirty="0"/>
              <a:t>If a transaction wants to lock an item X, </a:t>
            </a:r>
            <a:br>
              <a:rPr lang="en-US" dirty="0"/>
            </a:br>
            <a:r>
              <a:rPr lang="en-US" dirty="0"/>
              <a:t>it must </a:t>
            </a:r>
            <a:r>
              <a:rPr lang="en-US" i="1" dirty="0"/>
              <a:t>first</a:t>
            </a:r>
            <a:r>
              <a:rPr lang="en-US" dirty="0"/>
              <a:t> put an intention lock </a:t>
            </a:r>
            <a:br>
              <a:rPr lang="en-US" dirty="0"/>
            </a:br>
            <a:r>
              <a:rPr lang="en-US" dirty="0"/>
              <a:t>on the super-items of X.</a:t>
            </a:r>
          </a:p>
          <a:p>
            <a:pPr lvl="1"/>
            <a:r>
              <a:rPr lang="en-US" dirty="0"/>
              <a:t>Shared locks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IS</a:t>
            </a:r>
          </a:p>
          <a:p>
            <a:pPr lvl="1"/>
            <a:r>
              <a:rPr lang="en-US" dirty="0"/>
              <a:t>Exclusive locks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18</a:t>
            </a:fld>
            <a:endParaRPr lang="en-GB" dirty="0"/>
          </a:p>
        </p:txBody>
      </p:sp>
      <p:grpSp>
        <p:nvGrpSpPr>
          <p:cNvPr id="43" name="Group 42"/>
          <p:cNvGrpSpPr/>
          <p:nvPr/>
        </p:nvGrpSpPr>
        <p:grpSpPr>
          <a:xfrm>
            <a:off x="7414973" y="4426265"/>
            <a:ext cx="3322363" cy="1920874"/>
            <a:chOff x="4843503" y="2512502"/>
            <a:chExt cx="3322363" cy="1920874"/>
          </a:xfrm>
        </p:grpSpPr>
        <p:sp>
          <p:nvSpPr>
            <p:cNvPr id="44" name="Rectangle 43"/>
            <p:cNvSpPr/>
            <p:nvPr/>
          </p:nvSpPr>
          <p:spPr>
            <a:xfrm>
              <a:off x="5636823" y="2512502"/>
              <a:ext cx="1728192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Relation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032867" y="4001328"/>
              <a:ext cx="936104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Tuple 2</a:t>
              </a:r>
              <a:endParaRPr lang="en-US" sz="16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244427" y="3256915"/>
              <a:ext cx="792088" cy="43204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236315" y="3256915"/>
              <a:ext cx="792088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Block 2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228203" y="3256915"/>
              <a:ext cx="792088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Block 1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229762" y="4001327"/>
              <a:ext cx="936104" cy="43204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843503" y="4001327"/>
              <a:ext cx="936104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Tuple 1</a:t>
              </a:r>
            </a:p>
          </p:txBody>
        </p:sp>
        <p:cxnSp>
          <p:nvCxnSpPr>
            <p:cNvPr id="51" name="Elbow Connector 50"/>
            <p:cNvCxnSpPr>
              <a:stCxn id="52" idx="2"/>
            </p:cNvCxnSpPr>
            <p:nvPr/>
          </p:nvCxnSpPr>
          <p:spPr>
            <a:xfrm rot="5400000">
              <a:off x="5906401" y="2662396"/>
              <a:ext cx="312365" cy="87667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/>
            <p:cNvCxnSpPr>
              <a:stCxn id="52" idx="2"/>
            </p:cNvCxnSpPr>
            <p:nvPr/>
          </p:nvCxnSpPr>
          <p:spPr>
            <a:xfrm rot="16200000" flipH="1">
              <a:off x="6410457" y="3035012"/>
              <a:ext cx="312365" cy="13144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lbow Connector 52"/>
            <p:cNvCxnSpPr>
              <a:stCxn id="52" idx="2"/>
            </p:cNvCxnSpPr>
            <p:nvPr/>
          </p:nvCxnSpPr>
          <p:spPr>
            <a:xfrm rot="16200000" flipH="1">
              <a:off x="6914513" y="2530956"/>
              <a:ext cx="312365" cy="113955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/>
            <p:cNvCxnSpPr/>
            <p:nvPr/>
          </p:nvCxnSpPr>
          <p:spPr>
            <a:xfrm rot="5400000">
              <a:off x="5311719" y="3688799"/>
              <a:ext cx="312364" cy="31269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Elbow Connector 54"/>
            <p:cNvCxnSpPr>
              <a:endCxn id="55" idx="0"/>
            </p:cNvCxnSpPr>
            <p:nvPr/>
          </p:nvCxnSpPr>
          <p:spPr>
            <a:xfrm rot="16200000" flipH="1">
              <a:off x="5906401" y="3406809"/>
              <a:ext cx="312365" cy="87667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Elbow Connector 55"/>
            <p:cNvCxnSpPr/>
            <p:nvPr/>
          </p:nvCxnSpPr>
          <p:spPr>
            <a:xfrm rot="16200000" flipH="1">
              <a:off x="6504848" y="2808361"/>
              <a:ext cx="312364" cy="207356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ounded Rectangular Callout 57"/>
          <p:cNvSpPr/>
          <p:nvPr/>
        </p:nvSpPr>
        <p:spPr>
          <a:xfrm>
            <a:off x="9079919" y="5498907"/>
            <a:ext cx="1529676" cy="561222"/>
          </a:xfrm>
          <a:prstGeom prst="wedgeRoundRectCallout">
            <a:avLst>
              <a:gd name="adj1" fmla="val -57161"/>
              <a:gd name="adj2" fmla="val -41764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5. Request </a:t>
            </a:r>
            <a:br>
              <a:rPr lang="en-US" dirty="0"/>
            </a:br>
            <a:r>
              <a:rPr lang="en-US" dirty="0"/>
              <a:t>exclusive lock</a:t>
            </a:r>
          </a:p>
        </p:txBody>
      </p:sp>
      <p:sp>
        <p:nvSpPr>
          <p:cNvPr id="59" name="Rounded Rectangular Callout 58"/>
          <p:cNvSpPr/>
          <p:nvPr/>
        </p:nvSpPr>
        <p:spPr>
          <a:xfrm>
            <a:off x="8964481" y="3361049"/>
            <a:ext cx="1509587" cy="422410"/>
          </a:xfrm>
          <a:prstGeom prst="wedgeRoundRectCallout">
            <a:avLst>
              <a:gd name="adj1" fmla="val 5283"/>
              <a:gd name="adj2" fmla="val 195819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4. Request IX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7799673" y="3863604"/>
            <a:ext cx="1509587" cy="422410"/>
          </a:xfrm>
          <a:prstGeom prst="wedgeRoundRectCallout">
            <a:avLst>
              <a:gd name="adj1" fmla="val 14369"/>
              <a:gd name="adj2" fmla="val 7459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 Request IS</a:t>
            </a:r>
          </a:p>
        </p:txBody>
      </p:sp>
      <p:sp>
        <p:nvSpPr>
          <p:cNvPr id="26" name="Rounded Rectangular Callout 25"/>
          <p:cNvSpPr/>
          <p:nvPr/>
        </p:nvSpPr>
        <p:spPr>
          <a:xfrm>
            <a:off x="4813921" y="6060129"/>
            <a:ext cx="2340260" cy="422410"/>
          </a:xfrm>
          <a:prstGeom prst="wedgeRoundRectCallout">
            <a:avLst>
              <a:gd name="adj1" fmla="val 58143"/>
              <a:gd name="adj2" fmla="val -2498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3. </a:t>
            </a:r>
            <a:r>
              <a:rPr lang="en-US" dirty="0"/>
              <a:t>Request shared lock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182074" y="5184859"/>
            <a:ext cx="1436347" cy="422410"/>
          </a:xfrm>
          <a:prstGeom prst="wedgeRoundRectCallout">
            <a:avLst>
              <a:gd name="adj1" fmla="val 58143"/>
              <a:gd name="adj2" fmla="val -2498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2. Request 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779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00"/>
    </mc:Choice>
    <mc:Fallback xmlns="">
      <p:transition spd="slow" advTm="17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Policy for Granting 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19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35560" y="2636912"/>
          <a:ext cx="4896546" cy="1850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8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(S)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Exclusive (X)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IX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Shared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Exclusive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Left Brace 5"/>
          <p:cNvSpPr/>
          <p:nvPr/>
        </p:nvSpPr>
        <p:spPr>
          <a:xfrm flipH="1">
            <a:off x="7176122" y="2996952"/>
            <a:ext cx="217118" cy="14905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29480" y="3284984"/>
            <a:ext cx="3087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Grant if the only types of locks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held by </a:t>
            </a:r>
            <a:r>
              <a:rPr lang="en-US" i="1" dirty="0">
                <a:solidFill>
                  <a:schemeClr val="accent1"/>
                </a:solidFill>
              </a:rPr>
              <a:t>other</a:t>
            </a:r>
            <a:r>
              <a:rPr lang="en-US" dirty="0">
                <a:solidFill>
                  <a:schemeClr val="accent1"/>
                </a:solidFill>
              </a:rPr>
              <a:t> transactions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are those with a “yes”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3710" y="1871618"/>
            <a:ext cx="349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Transaction requests lock of type </a:t>
            </a:r>
            <a:r>
              <a:rPr lang="mr-IN" dirty="0">
                <a:solidFill>
                  <a:schemeClr val="accent1"/>
                </a:solidFill>
              </a:rPr>
              <a:t>…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5400000">
            <a:off x="5162458" y="623249"/>
            <a:ext cx="210901" cy="3528394"/>
          </a:xfrm>
          <a:prstGeom prst="leftBrace">
            <a:avLst>
              <a:gd name="adj1" fmla="val 8333"/>
              <a:gd name="adj2" fmla="val 5032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507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488"/>
    </mc:Choice>
    <mc:Fallback xmlns="">
      <p:transition spd="slow" advTm="1424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F39F7-EB5A-4578-BC11-3D1E2387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B2607-4BE3-490C-B84E-D0283AB4E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explained deadlocks </a:t>
            </a:r>
          </a:p>
          <a:p>
            <a:pPr lvl="1"/>
            <a:r>
              <a:rPr lang="en-US" dirty="0"/>
              <a:t>Where a schedule gets stuck because multiple transactions are each waiting for one of the others to release a lock</a:t>
            </a:r>
          </a:p>
          <a:p>
            <a:r>
              <a:rPr lang="en-US" dirty="0"/>
              <a:t>Also, shared/exclusive/update locks </a:t>
            </a:r>
          </a:p>
          <a:p>
            <a:pPr lvl="1"/>
            <a:r>
              <a:rPr lang="en-US" dirty="0"/>
              <a:t>You only needed a shared or update lock to read, but an exclusive lock to write</a:t>
            </a:r>
          </a:p>
          <a:p>
            <a:r>
              <a:rPr lang="en-US" dirty="0"/>
              <a:t>Finally, discussed intention locks to handle different levels of precision on locks</a:t>
            </a:r>
          </a:p>
          <a:p>
            <a:pPr lvl="1"/>
            <a:r>
              <a:rPr lang="en-US" dirty="0"/>
              <a:t>I.e. tuple vs. relation level of locks</a:t>
            </a:r>
            <a:endParaRPr lang="en-GB" dirty="0"/>
          </a:p>
          <a:p>
            <a:pPr lvl="1"/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833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67"/>
    </mc:Choice>
    <mc:Fallback xmlns="">
      <p:transition spd="slow" advTm="642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39.7|13.1|15.1|11.8|21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39.7|13.1|15.1|11.8|21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8.8|6.5|8.2|12.4|4.4|8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32.4|6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9|8.7|2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8|27|21.8|21|18.4|7.1|43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30|3.6|5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2|9.5|35|11.1|26.9|9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|17.9|13.5|6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32.3|9.6|9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51.3|33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13.9|16.5|1.8|6.5|4.4|10.3|4.9|13.6|19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4|17.5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309</TotalTime>
  <Words>1777</Words>
  <Application>Microsoft Office PowerPoint</Application>
  <PresentationFormat>Widescreen</PresentationFormat>
  <Paragraphs>339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Calibri</vt:lpstr>
      <vt:lpstr>Calibri Light</vt:lpstr>
      <vt:lpstr>Retrospect</vt:lpstr>
      <vt:lpstr>More flexible locks</vt:lpstr>
      <vt:lpstr>Overview of video</vt:lpstr>
      <vt:lpstr>Still Some Issues</vt:lpstr>
      <vt:lpstr>Risk of Deadlocks</vt:lpstr>
      <vt:lpstr>Risk of Deadlocks</vt:lpstr>
      <vt:lpstr>PowerPoint Presentation</vt:lpstr>
      <vt:lpstr>Shared &amp; Exclusive Locks</vt:lpstr>
      <vt:lpstr>Schedules With Shared/Exclusive Locks</vt:lpstr>
      <vt:lpstr>Problems With ”Upgrading” Locks</vt:lpstr>
      <vt:lpstr>Update Locks to the Rescue</vt:lpstr>
      <vt:lpstr>Example 1: Avoiding the Deadlock</vt:lpstr>
      <vt:lpstr>Example 1: Avoiding the Deadlock</vt:lpstr>
      <vt:lpstr>Example 2</vt:lpstr>
      <vt:lpstr>Two-Phase Locking (2PL) With Shared/Exclusive/Update Locks</vt:lpstr>
      <vt:lpstr>Locks With Multiple Granularity</vt:lpstr>
      <vt:lpstr>Trade-Offs</vt:lpstr>
      <vt:lpstr>Intention Locks  (a.k.a. Warning Locks)</vt:lpstr>
      <vt:lpstr>Intention Locks  (a.k.a. Warning Locks)</vt:lpstr>
      <vt:lpstr>Policy for Granting Locks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flexible locks</dc:title>
  <dc:creator>Rasmus Ibsen-Jensen</dc:creator>
  <cp:lastModifiedBy>Rasmus Ibsen-Jensen</cp:lastModifiedBy>
  <cp:revision>11</cp:revision>
  <dcterms:created xsi:type="dcterms:W3CDTF">2020-10-29T14:01:53Z</dcterms:created>
  <dcterms:modified xsi:type="dcterms:W3CDTF">2020-11-02T23:56:07Z</dcterms:modified>
</cp:coreProperties>
</file>