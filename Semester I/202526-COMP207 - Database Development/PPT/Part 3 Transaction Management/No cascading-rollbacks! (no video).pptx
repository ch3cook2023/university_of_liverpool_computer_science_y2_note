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4" r:id="rId2"/>
  </p:sldMasterIdLst>
  <p:notesMasterIdLst>
    <p:notesMasterId r:id="rId23"/>
  </p:notesMasterIdLst>
  <p:sldIdLst>
    <p:sldId id="256" r:id="rId3"/>
    <p:sldId id="613" r:id="rId4"/>
    <p:sldId id="597" r:id="rId5"/>
    <p:sldId id="598" r:id="rId6"/>
    <p:sldId id="599" r:id="rId7"/>
    <p:sldId id="600" r:id="rId8"/>
    <p:sldId id="601" r:id="rId9"/>
    <p:sldId id="617" r:id="rId10"/>
    <p:sldId id="603" r:id="rId11"/>
    <p:sldId id="604" r:id="rId12"/>
    <p:sldId id="605" r:id="rId13"/>
    <p:sldId id="606" r:id="rId14"/>
    <p:sldId id="607" r:id="rId15"/>
    <p:sldId id="608" r:id="rId16"/>
    <p:sldId id="609" r:id="rId17"/>
    <p:sldId id="611" r:id="rId18"/>
    <p:sldId id="612" r:id="rId19"/>
    <p:sldId id="610" r:id="rId20"/>
    <p:sldId id="616" r:id="rId21"/>
    <p:sldId id="6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B881A-8B3A-4061-B718-37E4E027793A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27FD4-5A75-4DFB-A343-5F91CFD07A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91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0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172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8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12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36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2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85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5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250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90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50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178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181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246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89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604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146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942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162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68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1198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64905"/>
            <a:ext cx="10363200" cy="1470025"/>
          </a:xfrm>
        </p:spPr>
        <p:txBody>
          <a:bodyPr>
            <a:normAutofit/>
          </a:bodyPr>
          <a:lstStyle>
            <a:lvl1pPr>
              <a:defRPr sz="3200" i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D9BC-8396-488D-9172-794401FB89F2}" type="datetime1">
              <a:rPr lang="en-US" smtClean="0"/>
              <a:pPr/>
              <a:t>11/9/2020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73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76972F-7E1B-4D3C-945A-01739097C04B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B68D47B-1FA4-4136-B3EC-474FF377021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38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4409-9499-425B-ABFA-498ECA129E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 cascading-rollbacks!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DD281-81C7-47CF-A587-6EE3050C96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14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D55D-8FA6-42D8-B246-BD38C058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A7265-277F-4DE3-ACA6-D5FFEDFD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video: Recoverable schedules </a:t>
            </a:r>
          </a:p>
          <a:p>
            <a:pPr lvl="1"/>
            <a:r>
              <a:rPr lang="en-US" dirty="0"/>
              <a:t>I.e. if we follow those, we can avoid breaking durability (because of cascading rollbacks)</a:t>
            </a:r>
          </a:p>
          <a:p>
            <a:r>
              <a:rPr lang="en-US" dirty="0"/>
              <a:t>This video: </a:t>
            </a:r>
            <a:r>
              <a:rPr lang="en-US" dirty="0" err="1"/>
              <a:t>Cascadeless</a:t>
            </a:r>
            <a:r>
              <a:rPr lang="en-US" dirty="0"/>
              <a:t> schedules </a:t>
            </a:r>
          </a:p>
          <a:p>
            <a:pPr lvl="1"/>
            <a:r>
              <a:rPr lang="en-US" dirty="0"/>
              <a:t>I.e. if we follow those, we can avoid cascading rollbacks!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358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Recoverable schedules still cascades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recoverable schedule: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rolls back </a:t>
            </a:r>
            <a:r>
              <a:rPr lang="en-US" dirty="0">
                <a:sym typeface="Wingdings"/>
              </a:rPr>
              <a:t> T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 has to be rolled 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791745" y="2276873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US" sz="2400" baseline="-25000" dirty="0"/>
              <a:t>4</a:t>
            </a:r>
            <a:r>
              <a:rPr lang="en-US" sz="2400" dirty="0"/>
              <a:t>: w</a:t>
            </a:r>
            <a:r>
              <a:rPr lang="en-US" sz="2400" baseline="-25000" dirty="0"/>
              <a:t>1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(Y); c</a:t>
            </a:r>
            <a:r>
              <a:rPr lang="en-US" sz="2400" baseline="-25000" dirty="0"/>
              <a:t>1</a:t>
            </a:r>
            <a:r>
              <a:rPr lang="en-US" sz="2400" dirty="0"/>
              <a:t>; c</a:t>
            </a:r>
            <a:r>
              <a:rPr lang="en-US" sz="2400" baseline="-25000" dirty="0"/>
              <a:t>2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8173141" y="2738538"/>
            <a:ext cx="0" cy="618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68009" y="3390453"/>
            <a:ext cx="4010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Suppose </a:t>
            </a:r>
            <a:r>
              <a:rPr lang="en-US" dirty="0">
                <a:solidFill>
                  <a:schemeClr val="accent2"/>
                </a:solidFill>
              </a:rPr>
              <a:t>T</a:t>
            </a:r>
            <a:r>
              <a:rPr lang="en-US" baseline="-25000" dirty="0">
                <a:solidFill>
                  <a:schemeClr val="accent2"/>
                </a:solidFill>
              </a:rPr>
              <a:t>1</a:t>
            </a:r>
            <a:r>
              <a:rPr lang="en-US" dirty="0">
                <a:solidFill>
                  <a:schemeClr val="accent2"/>
                </a:solidFill>
              </a:rPr>
              <a:t> needs to be rolled back here</a:t>
            </a:r>
            <a:endParaRPr lang="en-US" baseline="-25000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8173140" y="2276873"/>
            <a:ext cx="0" cy="4616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099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Cascadeless</a:t>
            </a:r>
            <a:r>
              <a:rPr lang="en-US" dirty="0"/>
              <a:t>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schedule is </a:t>
            </a:r>
            <a:r>
              <a:rPr lang="en-US" b="1" dirty="0" err="1"/>
              <a:t>cascadeless</a:t>
            </a:r>
            <a:r>
              <a:rPr lang="en-US" dirty="0"/>
              <a:t> if each transaction in it reads only values that were written by transactions that have already committed.</a:t>
            </a:r>
            <a:r>
              <a:rPr lang="en-US" b="1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43672" y="3717032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084332" y="3717032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47908" y="4101243"/>
            <a:ext cx="127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commits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07178" y="3717033"/>
            <a:ext cx="1272849" cy="757859"/>
            <a:chOff x="4683177" y="3717032"/>
            <a:chExt cx="1272849" cy="757859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5316437" y="3717032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683177" y="4105559"/>
              <a:ext cx="1272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  <a:r>
                <a:rPr lang="en-US" b="1" baseline="-25000" dirty="0"/>
                <a:t>2</a:t>
              </a:r>
              <a:r>
                <a:rPr lang="en-US" b="1" dirty="0"/>
                <a:t> commits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986192" y="3729597"/>
            <a:ext cx="1116203" cy="745295"/>
            <a:chOff x="3462191" y="3729596"/>
            <a:chExt cx="1116203" cy="745295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462191" y="4105559"/>
              <a:ext cx="111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reads X</a:t>
              </a:r>
            </a:p>
          </p:txBody>
        </p:sp>
      </p:grpSp>
      <p:cxnSp>
        <p:nvCxnSpPr>
          <p:cNvPr id="13" name="Straight Connector 12"/>
          <p:cNvCxnSpPr/>
          <p:nvPr/>
        </p:nvCxnSpPr>
        <p:spPr>
          <a:xfrm>
            <a:off x="4061258" y="3751451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1546" y="4109388"/>
            <a:ext cx="117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writes 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172" y="3516977"/>
            <a:ext cx="30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S</a:t>
            </a:r>
            <a:endParaRPr lang="en-US" sz="2000" dirty="0">
              <a:solidFill>
                <a:schemeClr val="accent1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5159896" y="3516978"/>
            <a:ext cx="1878602" cy="1064150"/>
            <a:chOff x="3635896" y="3516978"/>
            <a:chExt cx="1878602" cy="1064150"/>
          </a:xfrm>
        </p:grpSpPr>
        <p:cxnSp>
          <p:nvCxnSpPr>
            <p:cNvPr id="25" name="Straight Connector 24"/>
            <p:cNvCxnSpPr/>
            <p:nvPr/>
          </p:nvCxnSpPr>
          <p:spPr>
            <a:xfrm flipV="1">
              <a:off x="3635896" y="3516978"/>
              <a:ext cx="1872208" cy="106415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3642290" y="3516978"/>
              <a:ext cx="1872208" cy="106415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0" name="Rounded Rectangular Callout 29"/>
          <p:cNvSpPr/>
          <p:nvPr/>
        </p:nvSpPr>
        <p:spPr>
          <a:xfrm>
            <a:off x="7752184" y="2492896"/>
            <a:ext cx="2695128" cy="744412"/>
          </a:xfrm>
          <a:prstGeom prst="wedgeRoundRectCallout">
            <a:avLst>
              <a:gd name="adj1" fmla="val -35564"/>
              <a:gd name="adj2" fmla="val -772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 reading of “dirty data”.</a:t>
            </a:r>
            <a:br>
              <a:rPr lang="en-US" dirty="0"/>
            </a:br>
            <a:r>
              <a:rPr lang="en-US" dirty="0"/>
              <a:t>No cascading rollbacks.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033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-0.10664 0.00092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0" y="-139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0.15325 -0.00371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56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4" grpId="0"/>
      <p:bldP spid="15" grpId="0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Cascadeless</a:t>
            </a:r>
            <a:r>
              <a:rPr lang="en-US" dirty="0"/>
              <a:t>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schedule is </a:t>
            </a:r>
            <a:r>
              <a:rPr lang="en-US" b="1" dirty="0" err="1"/>
              <a:t>cascadeless</a:t>
            </a:r>
            <a:r>
              <a:rPr lang="en-US" dirty="0"/>
              <a:t> if each transaction in it reads only values that were written by transactions that have already committed.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As for recoverable schedules:</a:t>
            </a:r>
            <a:br>
              <a:rPr lang="en-US" dirty="0"/>
            </a:br>
            <a:r>
              <a:rPr lang="en-US" dirty="0"/>
              <a:t>Log records have to reach disk in the right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ounded Rectangular Callout 4"/>
          <p:cNvSpPr/>
          <p:nvPr/>
        </p:nvSpPr>
        <p:spPr>
          <a:xfrm>
            <a:off x="7752184" y="2492896"/>
            <a:ext cx="2695128" cy="744412"/>
          </a:xfrm>
          <a:prstGeom prst="wedgeRoundRectCallout">
            <a:avLst>
              <a:gd name="adj1" fmla="val -35564"/>
              <a:gd name="adj2" fmla="val -772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 reading of “dirty data”.</a:t>
            </a:r>
            <a:br>
              <a:rPr lang="en-US" dirty="0"/>
            </a:br>
            <a:r>
              <a:rPr lang="en-US" dirty="0"/>
              <a:t>No cascading rollbacks.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43672" y="3717032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084332" y="3717032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47908" y="4101243"/>
            <a:ext cx="127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commits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061258" y="3751451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1546" y="4109388"/>
            <a:ext cx="117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writes 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172" y="3516977"/>
            <a:ext cx="30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S</a:t>
            </a:r>
            <a:endParaRPr lang="en-US" sz="2000" dirty="0">
              <a:solidFill>
                <a:schemeClr val="accent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679136" y="3711101"/>
            <a:ext cx="1272849" cy="757859"/>
            <a:chOff x="4683177" y="3717032"/>
            <a:chExt cx="1272849" cy="757859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5316437" y="3717032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683177" y="4105559"/>
              <a:ext cx="1272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  <a:r>
                <a:rPr lang="en-US" b="1" baseline="-25000" dirty="0"/>
                <a:t>2</a:t>
              </a:r>
              <a:r>
                <a:rPr lang="en-US" b="1" dirty="0"/>
                <a:t> commits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816081" y="3725281"/>
            <a:ext cx="1116203" cy="745295"/>
            <a:chOff x="3462191" y="3729596"/>
            <a:chExt cx="1116203" cy="745295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462191" y="4105559"/>
              <a:ext cx="111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reads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12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schedules S</a:t>
            </a:r>
            <a:r>
              <a:rPr lang="en-US" baseline="-25000" dirty="0"/>
              <a:t>1</a:t>
            </a:r>
            <a:r>
              <a:rPr lang="en-US" dirty="0"/>
              <a:t>-S</a:t>
            </a:r>
            <a:r>
              <a:rPr lang="en-US" baseline="-25000" dirty="0"/>
              <a:t>4</a:t>
            </a:r>
            <a:r>
              <a:rPr lang="en-US" dirty="0"/>
              <a:t> in previous video are </a:t>
            </a:r>
            <a:br>
              <a:rPr lang="en-US" dirty="0"/>
            </a:br>
            <a:r>
              <a:rPr lang="en-US" b="1" dirty="0"/>
              <a:t>not </a:t>
            </a:r>
            <a:r>
              <a:rPr lang="en-US" b="1" dirty="0" err="1"/>
              <a:t>cascadeless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3672"/>
              </a:spcBef>
            </a:pPr>
            <a:r>
              <a:rPr lang="en-US" dirty="0"/>
              <a:t>This variant of S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b="1" dirty="0" err="1"/>
              <a:t>cascadeless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spcBef>
                <a:spcPts val="3672"/>
              </a:spcBef>
            </a:pPr>
            <a:r>
              <a:rPr lang="en-US" dirty="0"/>
              <a:t>Note: S</a:t>
            </a:r>
            <a:r>
              <a:rPr lang="en-US" baseline="-25000" dirty="0"/>
              <a:t>5</a:t>
            </a:r>
            <a:r>
              <a:rPr lang="en-US" dirty="0"/>
              <a:t> is </a:t>
            </a:r>
            <a:r>
              <a:rPr lang="en-US" b="1" dirty="0"/>
              <a:t>not </a:t>
            </a:r>
            <a:r>
              <a:rPr lang="en-US" b="1" dirty="0" err="1"/>
              <a:t>serialisable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927649" y="2420889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: w</a:t>
            </a:r>
            <a:r>
              <a:rPr lang="en-US" sz="2400" baseline="-25000" dirty="0"/>
              <a:t>2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1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(Y); c</a:t>
            </a:r>
            <a:r>
              <a:rPr lang="en-US" sz="2400" baseline="-25000" dirty="0"/>
              <a:t>1</a:t>
            </a:r>
            <a:r>
              <a:rPr lang="en-US" sz="2400" dirty="0"/>
              <a:t>; c</a:t>
            </a:r>
            <a:r>
              <a:rPr lang="en-US" sz="2400" baseline="-25000" dirty="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7648" y="2882554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: w</a:t>
            </a:r>
            <a:r>
              <a:rPr lang="en-US" sz="2400" baseline="-25000" dirty="0"/>
              <a:t>1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(Y); c</a:t>
            </a:r>
            <a:r>
              <a:rPr lang="en-US" sz="2400" baseline="-25000" dirty="0"/>
              <a:t>2</a:t>
            </a:r>
            <a:r>
              <a:rPr lang="en-US" sz="2400" dirty="0"/>
              <a:t>; c</a:t>
            </a:r>
            <a:r>
              <a:rPr lang="en-US" sz="2400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7647" y="3346198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US" sz="2400" baseline="-25000" dirty="0"/>
              <a:t>3</a:t>
            </a:r>
            <a:r>
              <a:rPr lang="en-US" sz="2400" dirty="0"/>
              <a:t>: w</a:t>
            </a:r>
            <a:r>
              <a:rPr lang="en-US" sz="2400" baseline="-25000" dirty="0"/>
              <a:t>2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1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(Y); c</a:t>
            </a:r>
            <a:r>
              <a:rPr lang="en-US" sz="2400" baseline="-25000" dirty="0"/>
              <a:t>2</a:t>
            </a:r>
            <a:r>
              <a:rPr lang="en-US" sz="2400" dirty="0"/>
              <a:t>; c</a:t>
            </a:r>
            <a:r>
              <a:rPr lang="en-US" sz="2400" baseline="-25000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7647" y="3805884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US" sz="2400" baseline="-25000" dirty="0"/>
              <a:t>4</a:t>
            </a:r>
            <a:r>
              <a:rPr lang="en-US" sz="2400" dirty="0"/>
              <a:t>: w</a:t>
            </a:r>
            <a:r>
              <a:rPr lang="en-US" sz="2400" baseline="-25000" dirty="0"/>
              <a:t>1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(X); r</a:t>
            </a:r>
            <a:r>
              <a:rPr lang="en-US" sz="2400" baseline="-25000" dirty="0"/>
              <a:t>2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(Y); c</a:t>
            </a:r>
            <a:r>
              <a:rPr lang="en-US" sz="2400" baseline="-25000" dirty="0"/>
              <a:t>1</a:t>
            </a:r>
            <a:r>
              <a:rPr lang="en-US" sz="2400" dirty="0"/>
              <a:t>; c</a:t>
            </a:r>
            <a:r>
              <a:rPr lang="en-US" sz="2400" baseline="-25000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7646" y="5085185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US" sz="2400" baseline="-25000" dirty="0"/>
              <a:t>5</a:t>
            </a:r>
            <a:r>
              <a:rPr lang="en-US" sz="2400" dirty="0"/>
              <a:t>: w</a:t>
            </a:r>
            <a:r>
              <a:rPr lang="en-US" sz="2400" baseline="-25000" dirty="0"/>
              <a:t>2</a:t>
            </a:r>
            <a:r>
              <a:rPr lang="en-US" sz="2400" dirty="0"/>
              <a:t>(X); w</a:t>
            </a:r>
            <a:r>
              <a:rPr lang="en-US" sz="2400" baseline="-25000" dirty="0"/>
              <a:t>1</a:t>
            </a:r>
            <a:r>
              <a:rPr lang="en-US" sz="2400" dirty="0"/>
              <a:t>(Y); w</a:t>
            </a:r>
            <a:r>
              <a:rPr lang="en-US" sz="2400" baseline="-25000" dirty="0"/>
              <a:t>1</a:t>
            </a:r>
            <a:r>
              <a:rPr lang="en-US" sz="2400" dirty="0"/>
              <a:t>(X); c</a:t>
            </a:r>
            <a:r>
              <a:rPr lang="en-US" sz="2400" baseline="-25000" dirty="0"/>
              <a:t>1</a:t>
            </a:r>
            <a:r>
              <a:rPr lang="en-US" sz="2400" dirty="0"/>
              <a:t>; r</a:t>
            </a:r>
            <a:r>
              <a:rPr lang="en-US" sz="2400" baseline="-25000" dirty="0"/>
              <a:t>2</a:t>
            </a:r>
            <a:r>
              <a:rPr lang="en-US" sz="2400" dirty="0"/>
              <a:t>(Y); w</a:t>
            </a:r>
            <a:r>
              <a:rPr lang="en-US" sz="2400" baseline="-25000" dirty="0"/>
              <a:t>2</a:t>
            </a:r>
            <a:r>
              <a:rPr lang="en-US" sz="2400" dirty="0"/>
              <a:t>(Y); c</a:t>
            </a:r>
            <a:r>
              <a:rPr lang="en-US" sz="2400" baseline="-25000" dirty="0"/>
              <a:t>2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168008" y="2264098"/>
            <a:ext cx="360040" cy="22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28048" y="1970420"/>
            <a:ext cx="3321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reads uncommitted data from T</a:t>
            </a:r>
            <a:r>
              <a:rPr lang="en-US" baseline="-25000" dirty="0">
                <a:solidFill>
                  <a:schemeClr val="accent2"/>
                </a:solidFill>
              </a:rPr>
              <a:t>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6528048" y="5542772"/>
            <a:ext cx="216024" cy="150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2065" y="5593758"/>
            <a:ext cx="2995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reads committed data from T</a:t>
            </a:r>
            <a:r>
              <a:rPr lang="en-US" baseline="-25000" dirty="0">
                <a:solidFill>
                  <a:schemeClr val="accent2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07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11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Cascadeless</a:t>
            </a:r>
            <a:r>
              <a:rPr lang="en-US" dirty="0"/>
              <a:t> Schedules: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Cascadeless</a:t>
            </a:r>
            <a:r>
              <a:rPr lang="en-US" dirty="0"/>
              <a:t> schedules are </a:t>
            </a:r>
            <a:r>
              <a:rPr lang="en-US" b="1" dirty="0"/>
              <a:t>recoverable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Cascadeless</a:t>
            </a:r>
            <a:r>
              <a:rPr lang="en-US" dirty="0"/>
              <a:t> schedules are in general </a:t>
            </a:r>
            <a:r>
              <a:rPr lang="en-US" b="1" dirty="0"/>
              <a:t>not </a:t>
            </a:r>
            <a:r>
              <a:rPr lang="en-US" b="1" dirty="0" err="1"/>
              <a:t>serialisable</a:t>
            </a:r>
            <a:r>
              <a:rPr lang="en-US" dirty="0"/>
              <a:t>.</a:t>
            </a:r>
            <a:br>
              <a:rPr lang="en-US" b="1" dirty="0"/>
            </a:br>
            <a:r>
              <a:rPr lang="en-US" sz="2400" dirty="0"/>
              <a:t>(recall example on previous slide)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400591" y="2620943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341251" y="2620943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04827" y="3005154"/>
            <a:ext cx="127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commits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318177" y="2655362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28465" y="3013299"/>
            <a:ext cx="117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writes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4091" y="2420888"/>
            <a:ext cx="30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S</a:t>
            </a:r>
            <a:endParaRPr lang="en-US" sz="2000" dirty="0">
              <a:solidFill>
                <a:schemeClr val="accent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936055" y="2615012"/>
            <a:ext cx="1272849" cy="757859"/>
            <a:chOff x="4683177" y="3717032"/>
            <a:chExt cx="1272849" cy="757859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5316437" y="3717032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683177" y="4105559"/>
              <a:ext cx="1272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  <a:r>
                <a:rPr lang="en-US" b="1" baseline="-25000" dirty="0"/>
                <a:t>2</a:t>
              </a:r>
              <a:r>
                <a:rPr lang="en-US" b="1" dirty="0"/>
                <a:t> commits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073000" y="2629192"/>
            <a:ext cx="1116203" cy="745295"/>
            <a:chOff x="3462191" y="3729596"/>
            <a:chExt cx="1116203" cy="74529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462191" y="4105559"/>
              <a:ext cx="111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reads X</a:t>
              </a:r>
            </a:p>
          </p:txBody>
        </p:sp>
      </p:grpSp>
      <p:sp>
        <p:nvSpPr>
          <p:cNvPr id="17" name="Rounded Rectangular Callout 16"/>
          <p:cNvSpPr/>
          <p:nvPr/>
        </p:nvSpPr>
        <p:spPr>
          <a:xfrm>
            <a:off x="1974369" y="2950053"/>
            <a:ext cx="1356581" cy="476302"/>
          </a:xfrm>
          <a:prstGeom prst="wedgeRoundRectCallout">
            <a:avLst>
              <a:gd name="adj1" fmla="val 33929"/>
              <a:gd name="adj2" fmla="val -8718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cascadeless</a:t>
            </a:r>
            <a:endParaRPr lang="en-US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4897650" y="3536835"/>
            <a:ext cx="2622507" cy="476302"/>
          </a:xfrm>
          <a:prstGeom prst="wedgeRoundRectCallout">
            <a:avLst>
              <a:gd name="adj1" fmla="val -24670"/>
              <a:gd name="adj2" fmla="val -9294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So, T</a:t>
            </a:r>
            <a:r>
              <a:rPr lang="en-US" baseline="-25000" dirty="0"/>
              <a:t>2</a:t>
            </a:r>
            <a:r>
              <a:rPr lang="en-US" dirty="0"/>
              <a:t> commits before T</a:t>
            </a:r>
            <a:r>
              <a:rPr lang="en-US" baseline="-25000" dirty="0"/>
              <a:t>1</a:t>
            </a:r>
            <a:r>
              <a:rPr lang="en-US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247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  <p:bldP spid="10" grpId="0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35F8869-E23B-403E-B934-E65665318640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Can We Have Both?</a:t>
            </a:r>
          </a:p>
          <a:p>
            <a:r>
              <a:rPr lang="en-US" dirty="0"/>
              <a:t>No Cascading Aborts &amp; </a:t>
            </a:r>
            <a:r>
              <a:rPr lang="en-US" dirty="0" err="1"/>
              <a:t>Serialisability</a:t>
            </a:r>
            <a:r>
              <a:rPr lang="en-US" dirty="0"/>
              <a:t>?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7B5C221-8BE2-4A18-8B54-318560EF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317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Strict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schedule is</a:t>
            </a:r>
            <a:r>
              <a:rPr lang="en-GB" b="1" dirty="0"/>
              <a:t> strict </a:t>
            </a:r>
            <a:r>
              <a:rPr lang="en-GB" dirty="0"/>
              <a:t>if </a:t>
            </a:r>
            <a:r>
              <a:rPr lang="en-US" dirty="0"/>
              <a:t>each transaction in it reads and writes only values that were written by transactions that have already committed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15680" y="3717032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156340" y="3717032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19916" y="4101243"/>
            <a:ext cx="127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commits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143673" y="3751452"/>
            <a:ext cx="1179425" cy="727269"/>
            <a:chOff x="1619672" y="3751451"/>
            <a:chExt cx="1179425" cy="727269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619672" y="4109388"/>
              <a:ext cx="1179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2</a:t>
              </a:r>
              <a:r>
                <a:rPr lang="en-US" dirty="0"/>
                <a:t> writes X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2769180" y="3516977"/>
            <a:ext cx="30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S</a:t>
            </a:r>
            <a:endParaRPr lang="en-US" sz="2000" dirty="0">
              <a:solidFill>
                <a:schemeClr val="accent1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667592" y="3770151"/>
            <a:ext cx="1272849" cy="757859"/>
            <a:chOff x="4683177" y="3717032"/>
            <a:chExt cx="1272849" cy="757859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5316437" y="3717032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683177" y="4105559"/>
              <a:ext cx="1272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  <a:r>
                <a:rPr lang="en-US" b="1" baseline="-25000" dirty="0"/>
                <a:t>2</a:t>
              </a:r>
              <a:r>
                <a:rPr lang="en-US" b="1" dirty="0"/>
                <a:t> commits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888089" y="3725281"/>
            <a:ext cx="1116203" cy="745295"/>
            <a:chOff x="3462191" y="3729596"/>
            <a:chExt cx="1116203" cy="745295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462191" y="4105559"/>
              <a:ext cx="111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reads X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412520" y="3736741"/>
            <a:ext cx="1179425" cy="745295"/>
            <a:chOff x="3462191" y="3729596"/>
            <a:chExt cx="1179425" cy="745295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3462191" y="4105559"/>
              <a:ext cx="1179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writes X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655840" y="3516978"/>
            <a:ext cx="1878602" cy="1064150"/>
            <a:chOff x="3635896" y="3516978"/>
            <a:chExt cx="1878602" cy="1064150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3635896" y="3516978"/>
              <a:ext cx="1872208" cy="106415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 flipV="1">
              <a:off x="3642290" y="3516978"/>
              <a:ext cx="1872208" cy="106415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3" name="Rounded Rectangular Callout 42"/>
          <p:cNvSpPr/>
          <p:nvPr/>
        </p:nvSpPr>
        <p:spPr>
          <a:xfrm>
            <a:off x="4151784" y="4744152"/>
            <a:ext cx="3528392" cy="629064"/>
          </a:xfrm>
          <a:prstGeom prst="wedgeRoundRectCallout">
            <a:avLst>
              <a:gd name="adj1" fmla="val -23633"/>
              <a:gd name="adj2" fmla="val -740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Possible in a </a:t>
            </a:r>
            <a:r>
              <a:rPr lang="en-US" dirty="0" err="1"/>
              <a:t>cascadeless</a:t>
            </a:r>
            <a:r>
              <a:rPr lang="en-US" dirty="0"/>
              <a:t> schedule,</a:t>
            </a:r>
          </a:p>
          <a:p>
            <a:r>
              <a:rPr lang="en-US" i="1" dirty="0"/>
              <a:t>not</a:t>
            </a:r>
            <a:r>
              <a:rPr lang="en-US" dirty="0"/>
              <a:t> in a strict schedule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809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11111E-6 L -0.10677 -0.00579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-2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07407E-6 L 0.09062 -0.0016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21" grpId="0"/>
      <p:bldP spid="43" grpId="0" animBg="1"/>
      <p:bldP spid="4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Strict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schedule is</a:t>
            </a:r>
            <a:r>
              <a:rPr lang="en-GB" b="1" dirty="0"/>
              <a:t> strict </a:t>
            </a:r>
            <a:r>
              <a:rPr lang="en-GB" dirty="0"/>
              <a:t>if </a:t>
            </a:r>
            <a:r>
              <a:rPr lang="en-US" dirty="0"/>
              <a:t>each transaction in it reads and writes only values that were written by transactions that have already committed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Of course, log records have to reach disk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01448" y="3708784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142108" y="3708784"/>
            <a:ext cx="0" cy="36004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05684" y="4092995"/>
            <a:ext cx="127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commits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129441" y="3743204"/>
            <a:ext cx="1179425" cy="727269"/>
            <a:chOff x="1619672" y="3751451"/>
            <a:chExt cx="1179425" cy="727269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619672" y="4109388"/>
              <a:ext cx="1179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2</a:t>
              </a:r>
              <a:r>
                <a:rPr lang="en-US" dirty="0"/>
                <a:t> writes X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2754948" y="3508729"/>
            <a:ext cx="30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S</a:t>
            </a:r>
            <a:endParaRPr lang="en-US" sz="2000" dirty="0">
              <a:solidFill>
                <a:schemeClr val="accent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6873857" y="3717033"/>
            <a:ext cx="1116203" cy="745295"/>
            <a:chOff x="3462191" y="3729596"/>
            <a:chExt cx="1116203" cy="745295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462191" y="4105559"/>
              <a:ext cx="111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reads X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281569" y="3708785"/>
            <a:ext cx="1272849" cy="757859"/>
            <a:chOff x="4683177" y="3717032"/>
            <a:chExt cx="1272849" cy="757859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5316437" y="3717032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4683177" y="4105559"/>
              <a:ext cx="1272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  <a:r>
                <a:rPr lang="en-US" b="1" baseline="-25000" dirty="0"/>
                <a:t>2</a:t>
              </a:r>
              <a:r>
                <a:rPr lang="en-US" b="1" dirty="0"/>
                <a:t> commits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478408" y="3728493"/>
            <a:ext cx="1179425" cy="745295"/>
            <a:chOff x="3462191" y="3729596"/>
            <a:chExt cx="1179425" cy="745295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4020293" y="3729596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3462191" y="4105559"/>
              <a:ext cx="1179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writes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7410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Strict Two-Phase Locking (Strict 2PL)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popular variant of two-phase locking (2PL)</a:t>
            </a:r>
          </a:p>
          <a:p>
            <a:r>
              <a:rPr lang="en-US" dirty="0"/>
              <a:t>Enforces both:</a:t>
            </a:r>
          </a:p>
          <a:p>
            <a:pPr lvl="1"/>
            <a:r>
              <a:rPr lang="en-US" dirty="0"/>
              <a:t>Conflict-</a:t>
            </a:r>
            <a:r>
              <a:rPr lang="en-US" dirty="0" err="1"/>
              <a:t>serialisability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Strict schedules</a:t>
            </a:r>
          </a:p>
          <a:p>
            <a:pPr>
              <a:spcBef>
                <a:spcPts val="1872"/>
              </a:spcBef>
            </a:pPr>
            <a:r>
              <a:rPr lang="en-GB" b="1" dirty="0"/>
              <a:t>Strict locking</a:t>
            </a:r>
            <a:r>
              <a:rPr lang="en-GB" dirty="0"/>
              <a:t> condition </a:t>
            </a:r>
            <a:br>
              <a:rPr lang="en-GB" dirty="0"/>
            </a:br>
            <a:r>
              <a:rPr lang="en-GB" sz="2000" dirty="0"/>
              <a:t>(in addition to 2PL condition):</a:t>
            </a:r>
            <a:endParaRPr lang="en-US" sz="20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207568" y="4437112"/>
            <a:ext cx="8064896" cy="190830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A transaction T </a:t>
            </a:r>
            <a:r>
              <a:rPr lang="en-US" sz="2400" b="1" dirty="0"/>
              <a:t>must not release any lock (that allows T to write data) </a:t>
            </a:r>
            <a:r>
              <a:rPr lang="en-US" sz="2400" dirty="0"/>
              <a:t>until:</a:t>
            </a:r>
          </a:p>
          <a:p>
            <a:pPr marL="342900" indent="-342900">
              <a:spcBef>
                <a:spcPts val="600"/>
              </a:spcBef>
              <a:buFont typeface="Arial" charset="0"/>
              <a:buChar char="•"/>
            </a:pPr>
            <a:r>
              <a:rPr lang="en-US" sz="2400" dirty="0"/>
              <a:t>T has committed or aborted, and</a:t>
            </a:r>
          </a:p>
          <a:p>
            <a:pPr marL="342900" indent="-342900">
              <a:spcBef>
                <a:spcPts val="600"/>
              </a:spcBef>
              <a:buFont typeface="Arial" charset="0"/>
              <a:buChar char="•"/>
            </a:pPr>
            <a:r>
              <a:rPr lang="en-US" sz="2400" dirty="0"/>
              <a:t>the commit/abort log record has been written to disk.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7073280" y="3068960"/>
            <a:ext cx="3312368" cy="1217296"/>
          </a:xfrm>
          <a:prstGeom prst="wedgeRoundRectCallout">
            <a:avLst>
              <a:gd name="adj1" fmla="val -38214"/>
              <a:gd name="adj2" fmla="val 725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with simple locking: </a:t>
            </a:r>
            <a:r>
              <a:rPr lang="en-US" b="1" dirty="0"/>
              <a:t>any lock</a:t>
            </a:r>
          </a:p>
          <a:p>
            <a:pPr marL="285750" indent="-285750">
              <a:spcBef>
                <a:spcPts val="600"/>
              </a:spcBef>
              <a:buFont typeface="Arial" charset="0"/>
              <a:buChar char="•"/>
            </a:pPr>
            <a:r>
              <a:rPr lang="en-US" dirty="0"/>
              <a:t>with shared/exclusive locks:</a:t>
            </a:r>
            <a:br>
              <a:rPr lang="en-US" dirty="0"/>
            </a:br>
            <a:r>
              <a:rPr lang="en-US" b="1" dirty="0"/>
              <a:t>just exclusive locks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33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55640" y="2060848"/>
          <a:ext cx="1728192" cy="381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Transaction T</a:t>
                      </a:r>
                      <a:endParaRPr lang="en-US" baseline="-25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read_item(X)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read_item(Y)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commit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087888" y="4797152"/>
            <a:ext cx="4545696" cy="1217296"/>
          </a:xfrm>
          <a:prstGeom prst="wedgeRoundRectCallout">
            <a:avLst>
              <a:gd name="adj1" fmla="val -58267"/>
              <a:gd name="adj2" fmla="val 2294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For undo logging, we assume that </a:t>
            </a:r>
            <a:r>
              <a:rPr lang="en-US" b="1" dirty="0"/>
              <a:t>commit</a:t>
            </a:r>
            <a:r>
              <a:rPr lang="mr-IN" dirty="0"/>
              <a:t>…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Writes all log records to disk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Writes all modified database items to disk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Writes the commit record to disk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2855640" y="1311568"/>
            <a:ext cx="1728192" cy="376465"/>
          </a:xfrm>
          <a:prstGeom prst="wedgeRoundRectCallout">
            <a:avLst>
              <a:gd name="adj1" fmla="val -22288"/>
              <a:gd name="adj2" fmla="val 11281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2PL transaction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4871864" y="1311568"/>
            <a:ext cx="1512168" cy="376465"/>
          </a:xfrm>
          <a:prstGeom prst="wedgeRoundRectCallout">
            <a:avLst>
              <a:gd name="adj1" fmla="val -58343"/>
              <a:gd name="adj2" fmla="val 11038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/>
              <a:t>Not strict 2PL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57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36160" y="2060848"/>
          <a:ext cx="2016224" cy="381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New transaction T’</a:t>
                      </a:r>
                      <a:endParaRPr lang="en-US" baseline="-25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read_item(X)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read_item(Y)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Y := Y</a:t>
                      </a:r>
                      <a:r>
                        <a:rPr lang="en-GB" baseline="0" dirty="0">
                          <a:solidFill>
                            <a:schemeClr val="tx1"/>
                          </a:solidFill>
                        </a:rPr>
                        <a:t>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commit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55640" y="2060848"/>
          <a:ext cx="1728192" cy="381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Transaction T</a:t>
                      </a:r>
                      <a:endParaRPr lang="en-US" baseline="-25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read_item(X)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read_item(Y)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commit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Rounded Rectangular Callout 11"/>
          <p:cNvSpPr/>
          <p:nvPr/>
        </p:nvSpPr>
        <p:spPr>
          <a:xfrm>
            <a:off x="2855640" y="1311568"/>
            <a:ext cx="1728192" cy="376465"/>
          </a:xfrm>
          <a:prstGeom prst="wedgeRoundRectCallout">
            <a:avLst>
              <a:gd name="adj1" fmla="val -22288"/>
              <a:gd name="adj2" fmla="val 11281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2PL transaction</a:t>
            </a:r>
            <a:endParaRPr lang="en-US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7562800" y="1311568"/>
            <a:ext cx="2205608" cy="376465"/>
          </a:xfrm>
          <a:prstGeom prst="wedgeRoundRectCallout">
            <a:avLst>
              <a:gd name="adj1" fmla="val -23117"/>
              <a:gd name="adj2" fmla="val 11524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i="1" dirty="0"/>
              <a:t>Strict</a:t>
            </a:r>
            <a:r>
              <a:rPr lang="en-GB" dirty="0"/>
              <a:t> 2PL transaction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655840" y="5085184"/>
            <a:ext cx="2808312" cy="576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638704" y="4114518"/>
            <a:ext cx="2825448" cy="1258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638704" y="5373218"/>
            <a:ext cx="2825448" cy="288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Rounded Rectangular Callout 41"/>
          <p:cNvSpPr/>
          <p:nvPr/>
        </p:nvSpPr>
        <p:spPr>
          <a:xfrm>
            <a:off x="3418328" y="5966317"/>
            <a:ext cx="4176464" cy="664497"/>
          </a:xfrm>
          <a:prstGeom prst="wedgeRoundRectCallout">
            <a:avLst>
              <a:gd name="adj1" fmla="val 43833"/>
              <a:gd name="adj2" fmla="val -8121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Locks released only after fully committed, and all log records written to disk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027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With Shared/Exclusive 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912" y="2130292"/>
          <a:ext cx="1656184" cy="31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Transaction T</a:t>
                      </a:r>
                      <a:endParaRPr lang="en-US" baseline="-25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s-lock(X)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read_item(X)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x-lock(Y)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Y := X + 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commit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Rounded Rectangular Callout 12"/>
          <p:cNvSpPr/>
          <p:nvPr/>
        </p:nvSpPr>
        <p:spPr>
          <a:xfrm>
            <a:off x="7319892" y="2130293"/>
            <a:ext cx="1152128" cy="376465"/>
          </a:xfrm>
          <a:prstGeom prst="wedgeRoundRectCallout">
            <a:avLst>
              <a:gd name="adj1" fmla="val -72553"/>
              <a:gd name="adj2" fmla="val -2077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/>
              <a:t>Strict 2PL</a:t>
            </a:r>
            <a:endParaRPr lang="en-US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7319892" y="4976585"/>
            <a:ext cx="2988576" cy="601006"/>
          </a:xfrm>
          <a:prstGeom prst="wedgeRoundRectCallout">
            <a:avLst>
              <a:gd name="adj1" fmla="val -60020"/>
              <a:gd name="adj2" fmla="val -2077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 is allowed to release the </a:t>
            </a:r>
            <a:br>
              <a:rPr lang="en-GB"/>
            </a:br>
            <a:r>
              <a:rPr lang="en-GB"/>
              <a:t>exclusive lock on Y only here.</a:t>
            </a:r>
            <a:endParaRPr lang="en-US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7283888" y="7522210"/>
            <a:ext cx="2772552" cy="601006"/>
          </a:xfrm>
          <a:prstGeom prst="wedgeRoundRectCallout">
            <a:avLst>
              <a:gd name="adj1" fmla="val -60020"/>
              <a:gd name="adj2" fmla="val -2077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 is allowed to release the </a:t>
            </a:r>
            <a:br>
              <a:rPr lang="en-GB"/>
            </a:br>
            <a:r>
              <a:rPr lang="en-GB"/>
              <a:t>exclusive lock only here.</a:t>
            </a:r>
            <a:endParaRPr lang="en-US" dirty="0"/>
          </a:p>
        </p:txBody>
      </p:sp>
      <p:sp>
        <p:nvSpPr>
          <p:cNvPr id="19" name="Rounded Rectangular Callout 18"/>
          <p:cNvSpPr/>
          <p:nvPr/>
        </p:nvSpPr>
        <p:spPr>
          <a:xfrm>
            <a:off x="7319892" y="3280375"/>
            <a:ext cx="2988576" cy="936148"/>
          </a:xfrm>
          <a:prstGeom prst="wedgeRoundRectCallout">
            <a:avLst>
              <a:gd name="adj1" fmla="val -60020"/>
              <a:gd name="adj2" fmla="val -2077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 can release the shared lock on X here (shared locks do not allow T to write data)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0888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Strict Two-Phase Locking </a:t>
            </a:r>
            <a:r>
              <a:rPr lang="en-US" i="1" dirty="0"/>
              <a:t>Enforces</a:t>
            </a:r>
            <a:r>
              <a:rPr lang="en-US" dirty="0"/>
              <a:t> Conflict-</a:t>
            </a:r>
            <a:r>
              <a:rPr lang="en-US" dirty="0" err="1"/>
              <a:t>Serialisable</a:t>
            </a:r>
            <a:r>
              <a:rPr lang="en-US" dirty="0"/>
              <a:t> &amp; Strict Schedules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700809"/>
            <a:ext cx="8229600" cy="2102158"/>
          </a:xfrm>
        </p:spPr>
        <p:txBody>
          <a:bodyPr/>
          <a:lstStyle/>
          <a:p>
            <a:r>
              <a:rPr lang="en-US" dirty="0"/>
              <a:t>If S is a schedule consisting of strict 2PL transactions:</a:t>
            </a:r>
          </a:p>
          <a:p>
            <a:pPr lvl="1"/>
            <a:r>
              <a:rPr lang="en-US" dirty="0"/>
              <a:t>S is conflict-</a:t>
            </a:r>
            <a:r>
              <a:rPr lang="en-US" dirty="0" err="1"/>
              <a:t>serialisable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 is strict.</a:t>
            </a:r>
          </a:p>
          <a:p>
            <a:r>
              <a:rPr lang="en-US" dirty="0"/>
              <a:t>Strictness: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215680" y="4395504"/>
            <a:ext cx="6408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3927745" y="4429923"/>
            <a:ext cx="705642" cy="735918"/>
            <a:chOff x="1868876" y="3751451"/>
            <a:chExt cx="705642" cy="735918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68876" y="4118037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w</a:t>
              </a:r>
              <a:r>
                <a:rPr lang="en-US" b="1" baseline="-25000" dirty="0"/>
                <a:t>2</a:t>
              </a:r>
              <a:r>
                <a:rPr lang="en-US" b="1" dirty="0"/>
                <a:t>(X)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2769180" y="4195449"/>
            <a:ext cx="30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accent1"/>
                </a:solidFill>
              </a:rPr>
              <a:t>S</a:t>
            </a:r>
            <a:endParaRPr lang="en-US" sz="2000" dirty="0">
              <a:solidFill>
                <a:schemeClr val="accent1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3222093" y="4429923"/>
            <a:ext cx="676788" cy="735918"/>
            <a:chOff x="1883304" y="3751451"/>
            <a:chExt cx="676788" cy="735918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883304" y="4118037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xl</a:t>
              </a:r>
              <a:r>
                <a:rPr lang="en-US" baseline="-25000" dirty="0"/>
                <a:t>2</a:t>
              </a:r>
              <a:r>
                <a:rPr lang="en-US" dirty="0"/>
                <a:t>(X)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953726" y="4425277"/>
            <a:ext cx="646331" cy="735918"/>
            <a:chOff x="1898531" y="3751451"/>
            <a:chExt cx="646331" cy="73591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898531" y="411803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u</a:t>
              </a:r>
              <a:r>
                <a:rPr lang="en-US" baseline="-25000" dirty="0"/>
                <a:t>2</a:t>
              </a:r>
              <a:r>
                <a:rPr lang="en-US" dirty="0"/>
                <a:t>(X)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414597" y="4425277"/>
            <a:ext cx="705642" cy="735918"/>
            <a:chOff x="1868876" y="3751451"/>
            <a:chExt cx="705642" cy="735918"/>
          </a:xfrm>
        </p:grpSpPr>
        <p:cxnSp>
          <p:nvCxnSpPr>
            <p:cNvPr id="35" name="Straight Connector 34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1868876" y="4118037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w</a:t>
              </a:r>
              <a:r>
                <a:rPr lang="en-US" b="1" baseline="-25000" dirty="0"/>
                <a:t>1</a:t>
              </a:r>
              <a:r>
                <a:rPr lang="en-US" b="1" dirty="0"/>
                <a:t>(X)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699990" y="4421402"/>
            <a:ext cx="692818" cy="735918"/>
            <a:chOff x="1875288" y="3751451"/>
            <a:chExt cx="692818" cy="735918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875288" y="4118037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xl</a:t>
              </a:r>
              <a:r>
                <a:rPr lang="en-US" baseline="-25000" dirty="0"/>
                <a:t>1</a:t>
              </a:r>
              <a:r>
                <a:rPr lang="en-US" dirty="0"/>
                <a:t>(X)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448320" y="4437112"/>
            <a:ext cx="360996" cy="735918"/>
            <a:chOff x="2041198" y="3751451"/>
            <a:chExt cx="360996" cy="735918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2209385" y="3751451"/>
              <a:ext cx="0" cy="36004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041198" y="4118037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</a:t>
              </a:r>
              <a:r>
                <a:rPr lang="en-US" b="1" baseline="-25000" dirty="0"/>
                <a:t>2</a:t>
              </a:r>
              <a:endParaRPr lang="en-US" b="1" dirty="0"/>
            </a:p>
          </p:txBody>
        </p:sp>
      </p:grpSp>
      <p:sp>
        <p:nvSpPr>
          <p:cNvPr id="46" name="Rounded Rectangular Callout 45"/>
          <p:cNvSpPr/>
          <p:nvPr/>
        </p:nvSpPr>
        <p:spPr>
          <a:xfrm>
            <a:off x="5075385" y="5371112"/>
            <a:ext cx="1930127" cy="651968"/>
          </a:xfrm>
          <a:prstGeom prst="wedgeRoundRectCallout">
            <a:avLst>
              <a:gd name="adj1" fmla="val -21532"/>
              <a:gd name="adj2" fmla="val -764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Enforced by strict locking condition</a:t>
            </a:r>
            <a:endParaRPr lang="en-US" dirty="0"/>
          </a:p>
        </p:txBody>
      </p:sp>
      <p:sp>
        <p:nvSpPr>
          <p:cNvPr id="47" name="Rounded Rectangular Callout 46"/>
          <p:cNvSpPr/>
          <p:nvPr/>
        </p:nvSpPr>
        <p:spPr>
          <a:xfrm>
            <a:off x="7414597" y="5369321"/>
            <a:ext cx="2497828" cy="376465"/>
          </a:xfrm>
          <a:prstGeom prst="wedgeRoundRectCallout">
            <a:avLst>
              <a:gd name="adj1" fmla="val -32781"/>
              <a:gd name="adj2" fmla="val -9607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Same argument for r</a:t>
            </a:r>
            <a:r>
              <a:rPr lang="en-GB" baseline="-25000" dirty="0"/>
              <a:t>1</a:t>
            </a:r>
            <a:r>
              <a:rPr lang="en-GB" dirty="0"/>
              <a:t>(X)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66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1" grpId="0"/>
      <p:bldP spid="46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How the Types of Schedules are Related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1998987" y="1772816"/>
            <a:ext cx="4464496" cy="410445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727848" y="3429000"/>
            <a:ext cx="1008112" cy="1008112"/>
          </a:xfrm>
          <a:prstGeom prst="ellipse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dirty="0"/>
              <a:t>Serial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6810" y="5691674"/>
            <a:ext cx="13692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serializable</a:t>
            </a:r>
            <a:br>
              <a:rPr lang="en-US" sz="2000" dirty="0"/>
            </a:br>
            <a:r>
              <a:rPr lang="en-US" sz="2000" dirty="0"/>
              <a:t>schedules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2503043" y="4908150"/>
            <a:ext cx="1" cy="84495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50463" y="3356993"/>
            <a:ext cx="18024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strict schedules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generated by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strict 2PL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6031435" y="3573016"/>
            <a:ext cx="1819028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59227" y="2966011"/>
            <a:ext cx="2088232" cy="19781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3439147" y="2204864"/>
            <a:ext cx="3456384" cy="3384376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67834" y="2452826"/>
            <a:ext cx="2516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5"/>
                </a:solidFill>
              </a:rPr>
              <a:t>cascadeless</a:t>
            </a:r>
            <a:r>
              <a:rPr lang="en-US" sz="2000" dirty="0">
                <a:solidFill>
                  <a:schemeClr val="accent5"/>
                </a:solidFill>
              </a:rPr>
              <a:t> schedules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6175452" y="2668850"/>
            <a:ext cx="1692383" cy="0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863083" y="1844824"/>
            <a:ext cx="4536504" cy="4536504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7834" y="1628800"/>
            <a:ext cx="2548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</a:rPr>
              <a:t>recoverable schedules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6175452" y="1844824"/>
            <a:ext cx="169238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412208" y="2223096"/>
            <a:ext cx="3955658" cy="338437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704F37-2A43-411F-A22F-9B623FB6710E}"/>
              </a:ext>
            </a:extLst>
          </p:cNvPr>
          <p:cNvSpPr txBox="1"/>
          <p:nvPr/>
        </p:nvSpPr>
        <p:spPr>
          <a:xfrm>
            <a:off x="224173" y="2178129"/>
            <a:ext cx="2280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Conflict-serializable </a:t>
            </a:r>
          </a:p>
          <a:p>
            <a:r>
              <a:rPr lang="en-US" sz="2000" dirty="0">
                <a:solidFill>
                  <a:srgbClr val="7030A0"/>
                </a:solidFill>
              </a:rPr>
              <a:t>schedules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0F4868F-1ECD-4AC2-81F7-E0ACBBA94272}"/>
              </a:ext>
            </a:extLst>
          </p:cNvPr>
          <p:cNvCxnSpPr/>
          <p:nvPr/>
        </p:nvCxnSpPr>
        <p:spPr>
          <a:xfrm flipH="1">
            <a:off x="1293412" y="2668850"/>
            <a:ext cx="1692383" cy="0"/>
          </a:xfrm>
          <a:prstGeom prst="line">
            <a:avLst/>
          </a:prstGeom>
          <a:ln>
            <a:solidFill>
              <a:srgbClr val="7030A0"/>
            </a:solidFill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4789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2" grpId="0"/>
      <p:bldP spid="14" grpId="0" animBg="1"/>
      <p:bldP spid="20" grpId="0" animBg="1"/>
      <p:bldP spid="21" grpId="0"/>
      <p:bldP spid="23" grpId="0" animBg="1"/>
      <p:bldP spid="28" grpId="0"/>
      <p:bldP spid="18" grpId="0" animBg="1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Examples for serializable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5219" y="1750517"/>
            <a:ext cx="9641562" cy="510748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800" dirty="0"/>
              <a:t>1. example: w</a:t>
            </a:r>
            <a:r>
              <a:rPr lang="en-US" sz="2800" baseline="-25000" dirty="0"/>
              <a:t>2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(Y); w</a:t>
            </a:r>
            <a:r>
              <a:rPr lang="en-US" sz="2800" baseline="-25000" dirty="0"/>
              <a:t>2</a:t>
            </a:r>
            <a:r>
              <a:rPr lang="en-US" sz="2800" dirty="0"/>
              <a:t>(Y); r</a:t>
            </a:r>
            <a:r>
              <a:rPr lang="en-US" sz="2800" baseline="-25000" dirty="0"/>
              <a:t>3</a:t>
            </a:r>
            <a:r>
              <a:rPr lang="en-US" sz="2800" dirty="0"/>
              <a:t>(Y); w</a:t>
            </a:r>
            <a:r>
              <a:rPr lang="en-US" sz="2800" baseline="-25000" dirty="0"/>
              <a:t>3</a:t>
            </a:r>
            <a:r>
              <a:rPr lang="en-US" sz="2800" dirty="0"/>
              <a:t>(X); c</a:t>
            </a:r>
            <a:r>
              <a:rPr lang="en-US" sz="2800" baseline="-25000" dirty="0"/>
              <a:t>3</a:t>
            </a:r>
            <a:r>
              <a:rPr lang="en-US" sz="2800" dirty="0"/>
              <a:t>; c</a:t>
            </a:r>
            <a:r>
              <a:rPr lang="en-US" sz="2800" baseline="-25000" dirty="0"/>
              <a:t>2</a:t>
            </a:r>
            <a:r>
              <a:rPr lang="en-US" sz="2800" dirty="0"/>
              <a:t>; c</a:t>
            </a:r>
            <a:r>
              <a:rPr lang="en-US" sz="2800" baseline="-25000" dirty="0"/>
              <a:t>1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is serializable, but not conflict-serializable or recoverable</a:t>
            </a:r>
            <a:endParaRPr lang="en-US" sz="2000" baseline="-250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800" dirty="0"/>
              <a:t>2. example: w</a:t>
            </a:r>
            <a:r>
              <a:rPr lang="en-US" sz="2800" baseline="-25000" dirty="0"/>
              <a:t>1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(Y); w</a:t>
            </a:r>
            <a:r>
              <a:rPr lang="en-US" sz="2800" baseline="-25000" dirty="0"/>
              <a:t>2</a:t>
            </a:r>
            <a:r>
              <a:rPr lang="en-US" sz="2800" dirty="0"/>
              <a:t>(X); w</a:t>
            </a:r>
            <a:r>
              <a:rPr lang="en-US" sz="2800" baseline="-25000" dirty="0"/>
              <a:t>2</a:t>
            </a:r>
            <a:r>
              <a:rPr lang="en-US" sz="2800" dirty="0"/>
              <a:t>(Y); r</a:t>
            </a:r>
            <a:r>
              <a:rPr lang="en-US" sz="2800" baseline="-25000" dirty="0"/>
              <a:t>3</a:t>
            </a:r>
            <a:r>
              <a:rPr lang="en-US" sz="2800" dirty="0"/>
              <a:t>(Y); w</a:t>
            </a:r>
            <a:r>
              <a:rPr lang="en-US" sz="2800" baseline="-25000" dirty="0"/>
              <a:t>3</a:t>
            </a:r>
            <a:r>
              <a:rPr lang="en-US" sz="2800" dirty="0"/>
              <a:t>(X); c</a:t>
            </a:r>
            <a:r>
              <a:rPr lang="en-US" sz="2800" baseline="-25000" dirty="0"/>
              <a:t>3</a:t>
            </a:r>
            <a:r>
              <a:rPr lang="en-US" sz="2800" dirty="0"/>
              <a:t>; c</a:t>
            </a:r>
            <a:r>
              <a:rPr lang="en-US" sz="2800" baseline="-25000" dirty="0"/>
              <a:t>2</a:t>
            </a:r>
            <a:r>
              <a:rPr lang="en-US" sz="2800" dirty="0"/>
              <a:t>; c</a:t>
            </a:r>
            <a:r>
              <a:rPr lang="en-US" sz="2800" baseline="-25000" dirty="0"/>
              <a:t>1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is conflict-serializable, but not recoverable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800" dirty="0"/>
              <a:t>3. example: w</a:t>
            </a:r>
            <a:r>
              <a:rPr lang="en-US" sz="2800" baseline="-25000" dirty="0"/>
              <a:t>2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(Y); w</a:t>
            </a:r>
            <a:r>
              <a:rPr lang="en-US" sz="2800" baseline="-25000" dirty="0"/>
              <a:t>2</a:t>
            </a:r>
            <a:r>
              <a:rPr lang="en-US" sz="2800" dirty="0"/>
              <a:t>(Y); r</a:t>
            </a:r>
            <a:r>
              <a:rPr lang="en-US" sz="2800" baseline="-25000" dirty="0"/>
              <a:t>3</a:t>
            </a:r>
            <a:r>
              <a:rPr lang="en-US" sz="2800" dirty="0"/>
              <a:t>(Y); w</a:t>
            </a:r>
            <a:r>
              <a:rPr lang="en-US" sz="2800" baseline="-25000" dirty="0"/>
              <a:t>3</a:t>
            </a:r>
            <a:r>
              <a:rPr lang="en-US" sz="2800" dirty="0"/>
              <a:t>(X); c</a:t>
            </a:r>
            <a:r>
              <a:rPr lang="en-US" sz="2800" baseline="-25000" dirty="0"/>
              <a:t>2</a:t>
            </a:r>
            <a:r>
              <a:rPr lang="en-US" sz="2800" dirty="0"/>
              <a:t>; c</a:t>
            </a:r>
            <a:r>
              <a:rPr lang="en-US" sz="2800" baseline="-25000" dirty="0"/>
              <a:t>3</a:t>
            </a:r>
            <a:r>
              <a:rPr lang="en-US" sz="2800" dirty="0"/>
              <a:t>; c</a:t>
            </a:r>
            <a:r>
              <a:rPr lang="en-US" sz="2800" baseline="-25000" dirty="0"/>
              <a:t>1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is recoverable and serializable, but not conflict-serializable nor </a:t>
            </a:r>
            <a:r>
              <a:rPr lang="en-US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cascadeless</a:t>
            </a:r>
            <a:endParaRPr lang="en-US" sz="2800" baseline="-250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800" dirty="0"/>
              <a:t>4. example: w</a:t>
            </a:r>
            <a:r>
              <a:rPr lang="en-US" sz="2800" baseline="-25000" dirty="0"/>
              <a:t>1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(Y); w</a:t>
            </a:r>
            <a:r>
              <a:rPr lang="en-US" sz="2800" baseline="-25000" dirty="0"/>
              <a:t>2</a:t>
            </a:r>
            <a:r>
              <a:rPr lang="en-US" sz="2800" dirty="0"/>
              <a:t>(X); w</a:t>
            </a:r>
            <a:r>
              <a:rPr lang="en-US" sz="2800" baseline="-25000" dirty="0"/>
              <a:t>2</a:t>
            </a:r>
            <a:r>
              <a:rPr lang="en-US" sz="2800" dirty="0"/>
              <a:t>(Y); r</a:t>
            </a:r>
            <a:r>
              <a:rPr lang="en-US" sz="2800" baseline="-25000" dirty="0"/>
              <a:t>3</a:t>
            </a:r>
            <a:r>
              <a:rPr lang="en-US" sz="2800" dirty="0"/>
              <a:t>(Y); w</a:t>
            </a:r>
            <a:r>
              <a:rPr lang="en-US" sz="2800" baseline="-25000" dirty="0"/>
              <a:t>3</a:t>
            </a:r>
            <a:r>
              <a:rPr lang="en-US" sz="2800" dirty="0"/>
              <a:t>(X); c</a:t>
            </a:r>
            <a:r>
              <a:rPr lang="en-US" sz="2800" baseline="-25000" dirty="0"/>
              <a:t>2</a:t>
            </a:r>
            <a:r>
              <a:rPr lang="en-US" sz="2800" dirty="0"/>
              <a:t>; c</a:t>
            </a:r>
            <a:r>
              <a:rPr lang="en-US" sz="2800" baseline="-25000" dirty="0"/>
              <a:t>3</a:t>
            </a:r>
            <a:r>
              <a:rPr lang="en-US" sz="2800" dirty="0"/>
              <a:t>; c</a:t>
            </a:r>
            <a:r>
              <a:rPr lang="en-US" sz="2800" baseline="-25000" dirty="0"/>
              <a:t>1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is recoverable and conflict-serializable, but not </a:t>
            </a:r>
            <a:r>
              <a:rPr lang="en-US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cascadeless</a:t>
            </a:r>
            <a:endParaRPr lang="en-US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800" dirty="0"/>
              <a:t>5: example: w</a:t>
            </a:r>
            <a:r>
              <a:rPr lang="en-US" sz="2800" baseline="-25000" dirty="0"/>
              <a:t>2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(Y); w</a:t>
            </a:r>
            <a:r>
              <a:rPr lang="en-US" sz="2800" baseline="-25000" dirty="0"/>
              <a:t>2</a:t>
            </a:r>
            <a:r>
              <a:rPr lang="en-US" sz="2800" dirty="0"/>
              <a:t>(Y); c</a:t>
            </a:r>
            <a:r>
              <a:rPr lang="en-US" sz="2800" baseline="-25000" dirty="0"/>
              <a:t>2</a:t>
            </a:r>
            <a:r>
              <a:rPr lang="en-US" sz="2800" dirty="0"/>
              <a:t>; r</a:t>
            </a:r>
            <a:r>
              <a:rPr lang="en-US" sz="2800" baseline="-25000" dirty="0"/>
              <a:t>3</a:t>
            </a:r>
            <a:r>
              <a:rPr lang="en-US" sz="2800" dirty="0"/>
              <a:t>(Y); w</a:t>
            </a:r>
            <a:r>
              <a:rPr lang="en-US" sz="2800" baseline="-25000" dirty="0"/>
              <a:t>3</a:t>
            </a:r>
            <a:r>
              <a:rPr lang="en-US" sz="2800" dirty="0"/>
              <a:t>(X); c</a:t>
            </a:r>
            <a:r>
              <a:rPr lang="en-US" sz="2800" baseline="-25000" dirty="0"/>
              <a:t>3</a:t>
            </a:r>
            <a:r>
              <a:rPr lang="en-US" sz="2800" dirty="0"/>
              <a:t>; c</a:t>
            </a:r>
            <a:r>
              <a:rPr lang="en-US" sz="2800" baseline="-25000" dirty="0"/>
              <a:t>1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is </a:t>
            </a:r>
            <a:r>
              <a:rPr lang="en-US" sz="16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cascadeless</a:t>
            </a:r>
            <a:r>
              <a:rPr 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and serializable, but not conflict-serializable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800" dirty="0"/>
              <a:t>6: example: w</a:t>
            </a:r>
            <a:r>
              <a:rPr lang="en-US" sz="2800" baseline="-25000" dirty="0"/>
              <a:t>1</a:t>
            </a:r>
            <a:r>
              <a:rPr lang="en-US" sz="2800" dirty="0"/>
              <a:t>(X); w</a:t>
            </a:r>
            <a:r>
              <a:rPr lang="en-US" sz="2800" baseline="-25000" dirty="0"/>
              <a:t>1</a:t>
            </a:r>
            <a:r>
              <a:rPr lang="en-US" sz="2800" dirty="0"/>
              <a:t>(Y); w</a:t>
            </a:r>
            <a:r>
              <a:rPr lang="en-US" sz="2800" baseline="-25000" dirty="0"/>
              <a:t>2</a:t>
            </a:r>
            <a:r>
              <a:rPr lang="en-US" sz="2800" dirty="0"/>
              <a:t>(X); w</a:t>
            </a:r>
            <a:r>
              <a:rPr lang="en-US" sz="2800" baseline="-25000" dirty="0"/>
              <a:t>2</a:t>
            </a:r>
            <a:r>
              <a:rPr lang="en-US" sz="2800" dirty="0"/>
              <a:t>(Y); c</a:t>
            </a:r>
            <a:r>
              <a:rPr lang="en-US" sz="2800" baseline="-25000" dirty="0"/>
              <a:t>2</a:t>
            </a:r>
            <a:r>
              <a:rPr lang="en-US" sz="2800" dirty="0"/>
              <a:t>; r</a:t>
            </a:r>
            <a:r>
              <a:rPr lang="en-US" sz="2800" baseline="-25000" dirty="0"/>
              <a:t>3</a:t>
            </a:r>
            <a:r>
              <a:rPr lang="en-US" sz="2800" dirty="0"/>
              <a:t>(Y); w</a:t>
            </a:r>
            <a:r>
              <a:rPr lang="en-US" sz="2800" baseline="-25000" dirty="0"/>
              <a:t>3</a:t>
            </a:r>
            <a:r>
              <a:rPr lang="en-US" sz="2800" dirty="0"/>
              <a:t>(X); c</a:t>
            </a:r>
            <a:r>
              <a:rPr lang="en-US" sz="2800" baseline="-25000" dirty="0"/>
              <a:t>3</a:t>
            </a:r>
            <a:r>
              <a:rPr lang="en-US" sz="2800" dirty="0"/>
              <a:t>; c</a:t>
            </a:r>
            <a:r>
              <a:rPr lang="en-US" sz="2800" baseline="-25000" dirty="0"/>
              <a:t>1</a:t>
            </a:r>
            <a:endParaRPr lang="en-US" sz="28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2975315" y="1792610"/>
            <a:ext cx="1872208" cy="745220"/>
            <a:chOff x="2339752" y="1412776"/>
            <a:chExt cx="1872208" cy="745220"/>
          </a:xfrm>
        </p:grpSpPr>
        <p:sp>
          <p:nvSpPr>
            <p:cNvPr id="6" name="Rectangle 5"/>
            <p:cNvSpPr/>
            <p:nvPr/>
          </p:nvSpPr>
          <p:spPr>
            <a:xfrm>
              <a:off x="2339752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47864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2660904" y="1865376"/>
              <a:ext cx="1161288" cy="292620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19531" y="1792610"/>
            <a:ext cx="1803592" cy="745220"/>
            <a:chOff x="2339752" y="1412776"/>
            <a:chExt cx="1803592" cy="745220"/>
          </a:xfrm>
        </p:grpSpPr>
        <p:sp>
          <p:nvSpPr>
            <p:cNvPr id="14" name="Rectangle 13"/>
            <p:cNvSpPr/>
            <p:nvPr/>
          </p:nvSpPr>
          <p:spPr>
            <a:xfrm>
              <a:off x="2339752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79248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2660904" y="1865376"/>
              <a:ext cx="1161288" cy="292620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Freeform 16"/>
          <p:cNvSpPr/>
          <p:nvPr/>
        </p:nvSpPr>
        <p:spPr>
          <a:xfrm>
            <a:off x="8736003" y="2199490"/>
            <a:ext cx="402336" cy="118902"/>
          </a:xfrm>
          <a:custGeom>
            <a:avLst/>
            <a:gdLst>
              <a:gd name="connsiteX0" fmla="*/ 0 w 402336"/>
              <a:gd name="connsiteY0" fmla="*/ 9144 h 118902"/>
              <a:gd name="connsiteX1" fmla="*/ 219456 w 402336"/>
              <a:gd name="connsiteY1" fmla="*/ 118872 h 118902"/>
              <a:gd name="connsiteX2" fmla="*/ 402336 w 402336"/>
              <a:gd name="connsiteY2" fmla="*/ 0 h 118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118902">
                <a:moveTo>
                  <a:pt x="0" y="9144"/>
                </a:moveTo>
                <a:cubicBezTo>
                  <a:pt x="76200" y="64770"/>
                  <a:pt x="152400" y="120396"/>
                  <a:pt x="219456" y="118872"/>
                </a:cubicBezTo>
                <a:cubicBezTo>
                  <a:pt x="286512" y="117348"/>
                  <a:pt x="402336" y="0"/>
                  <a:pt x="402336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8706857" y="3062031"/>
            <a:ext cx="402336" cy="118902"/>
          </a:xfrm>
          <a:custGeom>
            <a:avLst/>
            <a:gdLst>
              <a:gd name="connsiteX0" fmla="*/ 0 w 402336"/>
              <a:gd name="connsiteY0" fmla="*/ 9144 h 118902"/>
              <a:gd name="connsiteX1" fmla="*/ 219456 w 402336"/>
              <a:gd name="connsiteY1" fmla="*/ 118872 h 118902"/>
              <a:gd name="connsiteX2" fmla="*/ 402336 w 402336"/>
              <a:gd name="connsiteY2" fmla="*/ 0 h 118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118902">
                <a:moveTo>
                  <a:pt x="0" y="9144"/>
                </a:moveTo>
                <a:cubicBezTo>
                  <a:pt x="76200" y="64770"/>
                  <a:pt x="152400" y="120396"/>
                  <a:pt x="219456" y="118872"/>
                </a:cubicBezTo>
                <a:cubicBezTo>
                  <a:pt x="286512" y="117348"/>
                  <a:pt x="402336" y="0"/>
                  <a:pt x="402336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2986250" y="3506961"/>
            <a:ext cx="1872208" cy="745220"/>
            <a:chOff x="2339752" y="1412776"/>
            <a:chExt cx="1872208" cy="745220"/>
          </a:xfrm>
        </p:grpSpPr>
        <p:sp>
          <p:nvSpPr>
            <p:cNvPr id="22" name="Rectangle 21"/>
            <p:cNvSpPr/>
            <p:nvPr/>
          </p:nvSpPr>
          <p:spPr>
            <a:xfrm>
              <a:off x="2339752" y="1412776"/>
              <a:ext cx="932712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47864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660904" y="1865376"/>
              <a:ext cx="1161288" cy="292620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915226" y="3499341"/>
            <a:ext cx="1803592" cy="745220"/>
            <a:chOff x="2339752" y="1412776"/>
            <a:chExt cx="1803592" cy="745220"/>
          </a:xfrm>
        </p:grpSpPr>
        <p:sp>
          <p:nvSpPr>
            <p:cNvPr id="26" name="Rectangle 25"/>
            <p:cNvSpPr/>
            <p:nvPr/>
          </p:nvSpPr>
          <p:spPr>
            <a:xfrm>
              <a:off x="2339752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79248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2660904" y="1865376"/>
              <a:ext cx="1161288" cy="292620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021035" y="5136614"/>
            <a:ext cx="1872208" cy="745220"/>
            <a:chOff x="2339752" y="1412776"/>
            <a:chExt cx="1872208" cy="745220"/>
          </a:xfrm>
        </p:grpSpPr>
        <p:sp>
          <p:nvSpPr>
            <p:cNvPr id="33" name="Rectangle 32"/>
            <p:cNvSpPr/>
            <p:nvPr/>
          </p:nvSpPr>
          <p:spPr>
            <a:xfrm>
              <a:off x="2339752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75779" y="1412776"/>
              <a:ext cx="936181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660904" y="1865376"/>
              <a:ext cx="1161288" cy="292620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919531" y="5144234"/>
            <a:ext cx="1803592" cy="745220"/>
            <a:chOff x="2339752" y="1412776"/>
            <a:chExt cx="1803592" cy="745220"/>
          </a:xfrm>
        </p:grpSpPr>
        <p:sp>
          <p:nvSpPr>
            <p:cNvPr id="37" name="Rectangle 36"/>
            <p:cNvSpPr/>
            <p:nvPr/>
          </p:nvSpPr>
          <p:spPr>
            <a:xfrm>
              <a:off x="2339752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79248" y="1412776"/>
              <a:ext cx="864096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660904" y="1865376"/>
              <a:ext cx="1161288" cy="292620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798447" y="3491024"/>
            <a:ext cx="2188113" cy="745220"/>
            <a:chOff x="2339752" y="1412776"/>
            <a:chExt cx="2188113" cy="745220"/>
          </a:xfrm>
        </p:grpSpPr>
        <p:sp>
          <p:nvSpPr>
            <p:cNvPr id="45" name="Rectangle 44"/>
            <p:cNvSpPr/>
            <p:nvPr/>
          </p:nvSpPr>
          <p:spPr>
            <a:xfrm>
              <a:off x="2339752" y="1412776"/>
              <a:ext cx="710920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027594" y="1412776"/>
              <a:ext cx="500271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660903" y="1863988"/>
              <a:ext cx="1566307" cy="294008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E63DE54-0AF4-4C92-83F0-7F54161F241E}"/>
              </a:ext>
            </a:extLst>
          </p:cNvPr>
          <p:cNvGrpSpPr/>
          <p:nvPr/>
        </p:nvGrpSpPr>
        <p:grpSpPr>
          <a:xfrm>
            <a:off x="6813687" y="4364522"/>
            <a:ext cx="2188113" cy="745220"/>
            <a:chOff x="2339752" y="1412776"/>
            <a:chExt cx="2188113" cy="74522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EC6C660-EDE8-4B49-8D69-EC20BEB3AA6B}"/>
                </a:ext>
              </a:extLst>
            </p:cNvPr>
            <p:cNvSpPr/>
            <p:nvPr/>
          </p:nvSpPr>
          <p:spPr>
            <a:xfrm>
              <a:off x="2339752" y="1412776"/>
              <a:ext cx="710920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FDD2482-ABEC-48D1-8DF9-290C2844AF1B}"/>
                </a:ext>
              </a:extLst>
            </p:cNvPr>
            <p:cNvSpPr/>
            <p:nvPr/>
          </p:nvSpPr>
          <p:spPr>
            <a:xfrm>
              <a:off x="4027594" y="1412776"/>
              <a:ext cx="500271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E5A23335-139C-4BC9-B0AB-4BC4DF5FE862}"/>
                </a:ext>
              </a:extLst>
            </p:cNvPr>
            <p:cNvSpPr/>
            <p:nvPr/>
          </p:nvSpPr>
          <p:spPr>
            <a:xfrm>
              <a:off x="2660903" y="1863988"/>
              <a:ext cx="1566307" cy="294008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41AA58A-4A56-4D7D-9485-C85D09FAD0B4}"/>
              </a:ext>
            </a:extLst>
          </p:cNvPr>
          <p:cNvGrpSpPr/>
          <p:nvPr/>
        </p:nvGrpSpPr>
        <p:grpSpPr>
          <a:xfrm>
            <a:off x="5854720" y="5714617"/>
            <a:ext cx="3868400" cy="678128"/>
            <a:chOff x="3626169" y="1185860"/>
            <a:chExt cx="2622481" cy="67812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DED85D9-0099-4710-A95C-60B1C5A7735B}"/>
                </a:ext>
              </a:extLst>
            </p:cNvPr>
            <p:cNvSpPr/>
            <p:nvPr/>
          </p:nvSpPr>
          <p:spPr>
            <a:xfrm>
              <a:off x="6031687" y="1412776"/>
              <a:ext cx="216963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1F78082-C7F8-4621-AE8C-F84395C6ABD9}"/>
                </a:ext>
              </a:extLst>
            </p:cNvPr>
            <p:cNvSpPr/>
            <p:nvPr/>
          </p:nvSpPr>
          <p:spPr>
            <a:xfrm>
              <a:off x="3626169" y="1412776"/>
              <a:ext cx="585791" cy="45121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0FD17A1C-87A5-425A-BAA3-0D87BB6D55EC}"/>
                </a:ext>
              </a:extLst>
            </p:cNvPr>
            <p:cNvSpPr/>
            <p:nvPr/>
          </p:nvSpPr>
          <p:spPr>
            <a:xfrm flipH="1" flipV="1">
              <a:off x="3822192" y="1185860"/>
              <a:ext cx="2312829" cy="226916"/>
            </a:xfrm>
            <a:custGeom>
              <a:avLst/>
              <a:gdLst>
                <a:gd name="connsiteX0" fmla="*/ 0 w 1161288"/>
                <a:gd name="connsiteY0" fmla="*/ 9144 h 292620"/>
                <a:gd name="connsiteX1" fmla="*/ 576072 w 1161288"/>
                <a:gd name="connsiteY1" fmla="*/ 292608 h 292620"/>
                <a:gd name="connsiteX2" fmla="*/ 1161288 w 1161288"/>
                <a:gd name="connsiteY2" fmla="*/ 0 h 29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1288" h="292620">
                  <a:moveTo>
                    <a:pt x="0" y="9144"/>
                  </a:moveTo>
                  <a:cubicBezTo>
                    <a:pt x="191262" y="151638"/>
                    <a:pt x="382524" y="294132"/>
                    <a:pt x="576072" y="292608"/>
                  </a:cubicBezTo>
                  <a:cubicBezTo>
                    <a:pt x="769620" y="291084"/>
                    <a:pt x="1161288" y="0"/>
                    <a:pt x="1161288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ounded Rectangular Callout 14">
            <a:extLst>
              <a:ext uri="{FF2B5EF4-FFF2-40B4-BE49-F238E27FC236}">
                <a16:creationId xmlns:a16="http://schemas.microsoft.com/office/drawing/2014/main" id="{183E885E-E414-4C14-BF49-42FFBDDB7730}"/>
              </a:ext>
            </a:extLst>
          </p:cNvPr>
          <p:cNvSpPr/>
          <p:nvPr/>
        </p:nvSpPr>
        <p:spPr>
          <a:xfrm>
            <a:off x="9884323" y="5144234"/>
            <a:ext cx="2208617" cy="1022905"/>
          </a:xfrm>
          <a:prstGeom prst="wedgeRoundRectCallout">
            <a:avLst>
              <a:gd name="adj1" fmla="val -72512"/>
              <a:gd name="adj2" fmla="val 377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Conflict-serializable and </a:t>
            </a:r>
            <a:r>
              <a:rPr lang="en-US" dirty="0" err="1"/>
              <a:t>cascadeless</a:t>
            </a:r>
            <a:r>
              <a:rPr lang="en-US" dirty="0"/>
              <a:t> but not strict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150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</a:t>
            </a:r>
            <a:r>
              <a:rPr lang="mr-IN" dirty="0"/>
              <a:t>…</a:t>
            </a:r>
            <a:r>
              <a:rPr lang="en-GB" dirty="0"/>
              <a:t> </a:t>
            </a:r>
            <a:r>
              <a:rPr lang="en-US" dirty="0"/>
              <a:t>Risk of Deadlocks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450237"/>
              </p:ext>
            </p:extLst>
          </p:nvPr>
        </p:nvGraphicFramePr>
        <p:xfrm>
          <a:off x="3412434" y="1832618"/>
          <a:ext cx="2016224" cy="381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read_item(Y)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Y := Y</a:t>
                      </a:r>
                      <a:r>
                        <a:rPr lang="en-GB" baseline="0" dirty="0">
                          <a:solidFill>
                            <a:schemeClr val="tx1"/>
                          </a:solidFill>
                        </a:rPr>
                        <a:t>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commit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551576"/>
              </p:ext>
            </p:extLst>
          </p:nvPr>
        </p:nvGraphicFramePr>
        <p:xfrm>
          <a:off x="6580786" y="1832618"/>
          <a:ext cx="2016224" cy="381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:= Y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X := X</a:t>
                      </a:r>
                      <a:r>
                        <a:rPr lang="en-GB" baseline="0" dirty="0">
                          <a:solidFill>
                            <a:schemeClr val="tx1"/>
                          </a:solidFill>
                        </a:rPr>
                        <a:t>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commit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83633" y="5730657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5015880" y="5735460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7967639" y="5107282"/>
            <a:ext cx="1817957" cy="665561"/>
          </a:xfrm>
          <a:prstGeom prst="wedgeRoundRectCallout">
            <a:avLst>
              <a:gd name="adj1" fmla="val -64642"/>
              <a:gd name="adj2" fmla="val 506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lock on X denied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297809" y="6115262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66403" y="5700960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8154295" y="5931792"/>
            <a:ext cx="1817957" cy="665561"/>
          </a:xfrm>
          <a:prstGeom prst="wedgeRoundRectCallout">
            <a:avLst>
              <a:gd name="adj1" fmla="val -63020"/>
              <a:gd name="adj2" fmla="val -320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’s request for lock on Y denied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603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4" grpId="0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6845-BC86-4266-8149-7FFC9D80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2PL and Deadlocks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EE1C-AD50-41C5-8C34-01FBDE9E4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Strict 2PL yields </a:t>
            </a:r>
            <a:r>
              <a:rPr lang="en-US" b="1" dirty="0"/>
              <a:t>conflict-</a:t>
            </a:r>
            <a:r>
              <a:rPr lang="en-US" b="1" dirty="0" err="1"/>
              <a:t>serialisable</a:t>
            </a:r>
            <a:r>
              <a:rPr lang="en-US" dirty="0"/>
              <a:t>, </a:t>
            </a:r>
            <a:r>
              <a:rPr lang="en-US" b="1" dirty="0"/>
              <a:t>strict schedules</a:t>
            </a:r>
          </a:p>
          <a:p>
            <a:r>
              <a:rPr lang="en-US" dirty="0"/>
              <a:t>Problem: </a:t>
            </a:r>
            <a:r>
              <a:rPr lang="en-US" b="1" dirty="0"/>
              <a:t>deadlocks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>
              <a:spcBef>
                <a:spcPts val="2472"/>
              </a:spcBef>
            </a:pPr>
            <a:r>
              <a:rPr lang="en-US" dirty="0"/>
              <a:t>Two approaches for deadlock prevention:</a:t>
            </a:r>
          </a:p>
          <a:p>
            <a:pPr lvl="1"/>
            <a:r>
              <a:rPr lang="en-US" b="1" dirty="0"/>
              <a:t>Detect deadlocks &amp; fix them</a:t>
            </a:r>
          </a:p>
          <a:p>
            <a:pPr lvl="1"/>
            <a:r>
              <a:rPr lang="en-US" b="1" dirty="0"/>
              <a:t>Enforce deadlock-free schedules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Rounded Rectangular Callout 6">
            <a:extLst>
              <a:ext uri="{FF2B5EF4-FFF2-40B4-BE49-F238E27FC236}">
                <a16:creationId xmlns:a16="http://schemas.microsoft.com/office/drawing/2014/main" id="{3B02499D-0496-4292-9E10-A766F74CAFDA}"/>
              </a:ext>
            </a:extLst>
          </p:cNvPr>
          <p:cNvSpPr/>
          <p:nvPr/>
        </p:nvSpPr>
        <p:spPr>
          <a:xfrm>
            <a:off x="4958700" y="5370511"/>
            <a:ext cx="2592288" cy="400244"/>
          </a:xfrm>
          <a:prstGeom prst="wedgeRoundRectCallout">
            <a:avLst>
              <a:gd name="adj1" fmla="val -58997"/>
              <a:gd name="adj2" fmla="val -2133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Not</a:t>
            </a:r>
            <a:r>
              <a:rPr lang="en-US" dirty="0"/>
              <a:t> based on (strict) 2PL</a:t>
            </a:r>
          </a:p>
        </p:txBody>
      </p:sp>
      <p:sp>
        <p:nvSpPr>
          <p:cNvPr id="5" name="Rounded Rectangular Callout 9">
            <a:extLst>
              <a:ext uri="{FF2B5EF4-FFF2-40B4-BE49-F238E27FC236}">
                <a16:creationId xmlns:a16="http://schemas.microsoft.com/office/drawing/2014/main" id="{8BFA5B5E-53ED-48A3-9B75-69653A011BBD}"/>
              </a:ext>
            </a:extLst>
          </p:cNvPr>
          <p:cNvSpPr/>
          <p:nvPr/>
        </p:nvSpPr>
        <p:spPr>
          <a:xfrm>
            <a:off x="8016751" y="3679757"/>
            <a:ext cx="2483768" cy="710472"/>
          </a:xfrm>
          <a:prstGeom prst="wedgeRoundRectCallout">
            <a:avLst>
              <a:gd name="adj1" fmla="val 22633"/>
              <a:gd name="adj2" fmla="val -683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Roll back (and restart) one of the 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0509C-8B4A-4931-BB5E-EDAEB84E0F0C}"/>
              </a:ext>
            </a:extLst>
          </p:cNvPr>
          <p:cNvSpPr/>
          <p:nvPr/>
        </p:nvSpPr>
        <p:spPr>
          <a:xfrm>
            <a:off x="7320136" y="2613206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23F3F-750A-4EC6-81B7-B50C8DB5F7DD}"/>
              </a:ext>
            </a:extLst>
          </p:cNvPr>
          <p:cNvSpPr/>
          <p:nvPr/>
        </p:nvSpPr>
        <p:spPr>
          <a:xfrm>
            <a:off x="7330879" y="3014526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C21891-346C-4069-965E-3E506284B8FF}"/>
              </a:ext>
            </a:extLst>
          </p:cNvPr>
          <p:cNvCxnSpPr/>
          <p:nvPr/>
        </p:nvCxnSpPr>
        <p:spPr>
          <a:xfrm>
            <a:off x="9612808" y="3394328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B0FD0FD-4E97-4A79-A6F1-8AC257A579FF}"/>
              </a:ext>
            </a:extLst>
          </p:cNvPr>
          <p:cNvSpPr/>
          <p:nvPr/>
        </p:nvSpPr>
        <p:spPr>
          <a:xfrm>
            <a:off x="9681402" y="2980026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88CA1B-A134-4DC6-86AF-BF33BEE30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41412"/>
              </p:ext>
            </p:extLst>
          </p:nvPr>
        </p:nvGraphicFramePr>
        <p:xfrm>
          <a:off x="2324861" y="2568437"/>
          <a:ext cx="2016224" cy="222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C04AEA-84DC-4F59-A270-144BD23F4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498634"/>
              </p:ext>
            </p:extLst>
          </p:nvPr>
        </p:nvGraphicFramePr>
        <p:xfrm>
          <a:off x="4632193" y="2568437"/>
          <a:ext cx="2016224" cy="222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:= Y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26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AE9C-BAA2-41F7-A274-DDFD7E12F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E0A21-371C-4B3F-891B-CDDB13916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Cascadeless</a:t>
            </a:r>
            <a:r>
              <a:rPr lang="en-US" dirty="0"/>
              <a:t> schedules are a more restrictive form of schedules</a:t>
            </a:r>
          </a:p>
          <a:p>
            <a:pPr lvl="1"/>
            <a:r>
              <a:rPr lang="en-US" dirty="0"/>
              <a:t>You can only read things that are already committed</a:t>
            </a:r>
          </a:p>
          <a:p>
            <a:r>
              <a:rPr lang="en-US" dirty="0"/>
              <a:t>Instead of implementing that, we use Strict</a:t>
            </a:r>
          </a:p>
          <a:p>
            <a:pPr lvl="1"/>
            <a:r>
              <a:rPr lang="en-US" dirty="0"/>
              <a:t>You can only read or overwrite things that are already committed</a:t>
            </a:r>
          </a:p>
          <a:p>
            <a:r>
              <a:rPr lang="en-US" dirty="0"/>
              <a:t>We then finally use Strict 2PL</a:t>
            </a:r>
          </a:p>
          <a:p>
            <a:pPr lvl="1"/>
            <a:r>
              <a:rPr lang="en-US" dirty="0"/>
              <a:t>Like 2PL, but where you can only unlock (locks that </a:t>
            </a:r>
            <a:r>
              <a:rPr lang="en-US"/>
              <a:t>could write) </a:t>
            </a:r>
            <a:r>
              <a:rPr lang="en-US" dirty="0"/>
              <a:t>after commit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A7274-F7D0-4188-BB82-8AE627C8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820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9|9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3|17.5|28.8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7.5|20.1|15|1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5.8|5.4|15.4|17.3|19.7|6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13.2|18.8|9.9|1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6.3|11.4|3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9.3|1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|2.7|0.8|2.8|12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8.5|17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1.5|1.1|2.1|6.1|5.7|9.6|22.9|7.4|15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11.1|17|25.7|21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5.1|107.2|22.7|12|4.3|30.9|9.2|4.4|36.7|12.3|10.8|4.4|38|12.2|2.4|37.6|7.7|9.7|21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0.7|12.6|14.1|4.7|10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9|24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1624</Words>
  <Application>Microsoft Office PowerPoint</Application>
  <PresentationFormat>Widescreen</PresentationFormat>
  <Paragraphs>286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Retrospect</vt:lpstr>
      <vt:lpstr>1_Retrospect</vt:lpstr>
      <vt:lpstr>No cascading-rollbacks!</vt:lpstr>
      <vt:lpstr>Overview over this video</vt:lpstr>
      <vt:lpstr>Recoverable schedules still cascades</vt:lpstr>
      <vt:lpstr>Cascadeless Schedules</vt:lpstr>
      <vt:lpstr>Cascadeless Schedules</vt:lpstr>
      <vt:lpstr>Example</vt:lpstr>
      <vt:lpstr>Cascadeless Schedules: Properties</vt:lpstr>
      <vt:lpstr>PowerPoint Presentation</vt:lpstr>
      <vt:lpstr>Strict Schedules</vt:lpstr>
      <vt:lpstr>Strict Schedules</vt:lpstr>
      <vt:lpstr>Strict Two-Phase Locking (Strict 2PL)</vt:lpstr>
      <vt:lpstr>Example 1</vt:lpstr>
      <vt:lpstr>Example 2</vt:lpstr>
      <vt:lpstr>Example With Shared/Exclusive Locks</vt:lpstr>
      <vt:lpstr>Strict Two-Phase Locking Enforces Conflict-Serialisable &amp; Strict Schedules</vt:lpstr>
      <vt:lpstr>How the Types of Schedules are Related </vt:lpstr>
      <vt:lpstr>Examples for serializable schedules</vt:lpstr>
      <vt:lpstr>Still… Risk of Deadlocks</vt:lpstr>
      <vt:lpstr>Strict 2PL and Deadlocks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cascading-rollbacks!</dc:title>
  <dc:creator>Rasmus Ibsen-Jensen</dc:creator>
  <cp:lastModifiedBy>Rasmus Ibsen-Jensen</cp:lastModifiedBy>
  <cp:revision>17</cp:revision>
  <dcterms:created xsi:type="dcterms:W3CDTF">2020-11-07T16:00:51Z</dcterms:created>
  <dcterms:modified xsi:type="dcterms:W3CDTF">2020-11-09T15:22:15Z</dcterms:modified>
</cp:coreProperties>
</file>