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452" r:id="rId3"/>
    <p:sldId id="449" r:id="rId4"/>
    <p:sldId id="457" r:id="rId5"/>
    <p:sldId id="442" r:id="rId6"/>
    <p:sldId id="443" r:id="rId7"/>
    <p:sldId id="450" r:id="rId8"/>
    <p:sldId id="451" r:id="rId9"/>
    <p:sldId id="453" r:id="rId10"/>
    <p:sldId id="445" r:id="rId11"/>
    <p:sldId id="456" r:id="rId12"/>
    <p:sldId id="454" r:id="rId13"/>
    <p:sldId id="447" r:id="rId14"/>
    <p:sldId id="448" r:id="rId15"/>
    <p:sldId id="45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88" d="100"/>
          <a:sy n="88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C463E7-A258-4EDE-9AAE-A0D49F757417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977B72-69EB-474C-8089-72AF2507C4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34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confined to DBMS.</a:t>
            </a:r>
          </a:p>
          <a:p>
            <a:endParaRPr lang="en-US" dirty="0"/>
          </a:p>
          <a:p>
            <a:r>
              <a:rPr lang="en-US" dirty="0"/>
              <a:t>Same</a:t>
            </a:r>
            <a:r>
              <a:rPr lang="en-US" baseline="0" dirty="0"/>
              <a:t> problems whenever users or systems share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3752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8B26-7FB4-43E3-8F93-3D8991695565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30AD4-BE51-4FFD-B07C-DC21A8B2EBD3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229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8B26-7FB4-43E3-8F93-3D8991695565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30AD4-BE51-4FFD-B07C-DC21A8B2EB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188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8B26-7FB4-43E3-8F93-3D8991695565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30AD4-BE51-4FFD-B07C-DC21A8B2EBD3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47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8B26-7FB4-43E3-8F93-3D8991695565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30AD4-BE51-4FFD-B07C-DC21A8B2EB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096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8B26-7FB4-43E3-8F93-3D8991695565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30AD4-BE51-4FFD-B07C-DC21A8B2EB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8B26-7FB4-43E3-8F93-3D8991695565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30AD4-BE51-4FFD-B07C-DC21A8B2EB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503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8B26-7FB4-43E3-8F93-3D8991695565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30AD4-BE51-4FFD-B07C-DC21A8B2EB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108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F98B26-7FB4-43E3-8F93-3D8991695565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230AD4-BE51-4FFD-B07C-DC21A8B2EB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47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8B26-7FB4-43E3-8F93-3D8991695565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30AD4-BE51-4FFD-B07C-DC21A8B2EB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555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8B26-7FB4-43E3-8F93-3D8991695565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30AD4-BE51-4FFD-B07C-DC21A8B2EB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005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8B26-7FB4-43E3-8F93-3D8991695565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30AD4-BE51-4FFD-B07C-DC21A8B2EB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688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4F98B26-7FB4-43E3-8F93-3D8991695565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1230AD4-BE51-4FFD-B07C-DC21A8B2EBD3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515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310D-7F38-497E-BE70-7C2F2FF5B7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would the DBMS implementations do?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915F78-0A6D-4AF4-B225-B3463ED22E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There is also an review over this part, because it was so long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0706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65D4-CB76-432F-B682-B7870268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over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A1848-FBB3-40D0-B22F-4DCCF613A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video, we will look at how the different implementations implement ACID!</a:t>
            </a:r>
          </a:p>
          <a:p>
            <a:r>
              <a:rPr lang="en-US" dirty="0"/>
              <a:t>We will also see a review over this part, since it is fairly big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49AF7-65C9-4763-BC55-32A26538E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288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Support in DBMS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Widespread ACID support in major DBMSs</a:t>
            </a:r>
          </a:p>
          <a:p>
            <a:pPr lvl="1"/>
            <a:r>
              <a:rPr lang="en-US" dirty="0"/>
              <a:t>Fully ACID compliant: PostgreSQL, Oracle DB, IBM DB2, </a:t>
            </a:r>
            <a:r>
              <a:rPr lang="mr-IN" dirty="0"/>
              <a:t>…</a:t>
            </a:r>
            <a:endParaRPr lang="en-US" dirty="0"/>
          </a:p>
          <a:p>
            <a:pPr lvl="1"/>
            <a:r>
              <a:rPr lang="en-US" dirty="0"/>
              <a:t>Partly ACID compliant: MySQL (full compliance requires additional engines like </a:t>
            </a:r>
            <a:r>
              <a:rPr lang="en-US" dirty="0" err="1"/>
              <a:t>InnoDB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r>
              <a:rPr lang="en-US" dirty="0"/>
              <a:t>Some does strict 2PL, e.g. PostgreSQL and MySQL/</a:t>
            </a:r>
            <a:r>
              <a:rPr lang="en-US" dirty="0" err="1"/>
              <a:t>InnoDB</a:t>
            </a:r>
            <a:r>
              <a:rPr lang="en-US" dirty="0"/>
              <a:t> (the latter only on the highest – i.e. serializable – isolation level)</a:t>
            </a:r>
          </a:p>
          <a:p>
            <a:r>
              <a:rPr lang="en-US" dirty="0"/>
              <a:t>Most, however does MVCC (incl. MySQL/</a:t>
            </a:r>
            <a:r>
              <a:rPr lang="en-US" dirty="0" err="1"/>
              <a:t>InnoDB</a:t>
            </a:r>
            <a:r>
              <a:rPr lang="en-US" dirty="0"/>
              <a:t> on lower isolation levels)</a:t>
            </a:r>
          </a:p>
          <a:p>
            <a:pPr lvl="1"/>
            <a:r>
              <a:rPr lang="en-US" dirty="0"/>
              <a:t>Database requires more storage, but relative little delay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186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DDF67C1-BBBB-48BF-9EAB-9FB18A424DC1}"/>
              </a:ext>
            </a:extLst>
          </p:cNvPr>
          <p:cNvSpPr txBox="1">
            <a:spLocks/>
          </p:cNvSpPr>
          <p:nvPr/>
        </p:nvSpPr>
        <p:spPr>
          <a:xfrm>
            <a:off x="914400" y="2564905"/>
            <a:ext cx="10363200" cy="14700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Deadlocks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CCE8A59-BB2A-43E5-8932-20DB1393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2785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MySQL (with </a:t>
            </a:r>
            <a:r>
              <a:rPr lang="en-US" dirty="0" err="1"/>
              <a:t>InnoDB</a:t>
            </a:r>
            <a:r>
              <a:rPr lang="en-US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Uses Wait-For graphs </a:t>
            </a:r>
          </a:p>
          <a:p>
            <a:r>
              <a:rPr lang="en-US" dirty="0"/>
              <a:t>Except: If transaction has line of length &gt; 200 it is rolled back </a:t>
            </a:r>
          </a:p>
          <a:p>
            <a:r>
              <a:rPr lang="en-US" dirty="0"/>
              <a:t>E.g. T</a:t>
            </a:r>
            <a:r>
              <a:rPr lang="en-US" baseline="-25000" dirty="0"/>
              <a:t>1</a:t>
            </a:r>
            <a:r>
              <a:rPr lang="en-US" dirty="0"/>
              <a:t> is rolled back in this case: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cycle: rollback the smallest transaction </a:t>
            </a:r>
          </a:p>
          <a:p>
            <a:r>
              <a:rPr lang="en-US" dirty="0"/>
              <a:t>Deadlock detection can be switched off, in which case time-out is used (on locks)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2556722" y="3429000"/>
            <a:ext cx="504056" cy="4103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8930" y="3429000"/>
            <a:ext cx="504056" cy="4103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</a:t>
            </a:r>
            <a:r>
              <a:rPr lang="en-US" baseline="-25000"/>
              <a:t>2</a:t>
            </a:r>
            <a:endParaRPr lang="en-US" baseline="-25000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060778" y="3634172"/>
            <a:ext cx="13681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04794" y="3271260"/>
            <a:ext cx="1033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waits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30948" y="3429000"/>
            <a:ext cx="529584" cy="4103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</a:t>
            </a:r>
            <a:r>
              <a:rPr lang="en-US" baseline="-25000"/>
              <a:t>201</a:t>
            </a:r>
            <a:endParaRPr lang="en-US" baseline="-25000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4932986" y="3634172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74344" y="3421811"/>
            <a:ext cx="343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…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6373146" y="3646339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ular Callout 19"/>
          <p:cNvSpPr/>
          <p:nvPr/>
        </p:nvSpPr>
        <p:spPr>
          <a:xfrm>
            <a:off x="7743684" y="1255043"/>
            <a:ext cx="2075028" cy="1711456"/>
          </a:xfrm>
          <a:prstGeom prst="wedgeRoundRectCallout">
            <a:avLst>
              <a:gd name="adj1" fmla="val -117468"/>
              <a:gd name="adj2" fmla="val -3476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ym typeface="Wingdings"/>
              </a:rPr>
              <a:t>Also uses a timestamp based approach to ensure that reads do not </a:t>
            </a:r>
            <a:r>
              <a:rPr lang="en-US" dirty="0" err="1">
                <a:sym typeface="Wingdings"/>
              </a:rPr>
              <a:t>interfer</a:t>
            </a:r>
            <a:r>
              <a:rPr lang="en-US" dirty="0">
                <a:sym typeface="Wingdings"/>
              </a:rPr>
              <a:t> with writes</a:t>
            </a:r>
            <a:endParaRPr lang="en-US" baseline="-25000" dirty="0">
              <a:sym typeface="Wingding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762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14" grpId="0" animBg="1"/>
      <p:bldP spid="18" grpId="0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4100" b="1" dirty="0"/>
              <a:t>PostgreSQL</a:t>
            </a:r>
          </a:p>
          <a:p>
            <a:r>
              <a:rPr lang="en-US" dirty="0"/>
              <a:t>Uses timeout on locks followed by Wait-For graphs </a:t>
            </a:r>
          </a:p>
          <a:p>
            <a:r>
              <a:rPr lang="en-US" dirty="0"/>
              <a:t>Like MySQL: Uses a timestamp based approach for ensuring that reads do not interfere with writes </a:t>
            </a:r>
          </a:p>
          <a:p>
            <a:pPr marL="0" indent="0">
              <a:buNone/>
            </a:pPr>
            <a:r>
              <a:rPr lang="en-US" sz="4100" b="1" dirty="0"/>
              <a:t>Oracle DB </a:t>
            </a:r>
            <a:endParaRPr lang="en-US" sz="4100" dirty="0"/>
          </a:p>
          <a:p>
            <a:r>
              <a:rPr lang="en-US" dirty="0"/>
              <a:t>Uses timeout directly or timeout followed by Wait-For graphs </a:t>
            </a:r>
          </a:p>
          <a:p>
            <a:r>
              <a:rPr lang="en-US" dirty="0"/>
              <a:t>Does not use locks on read </a:t>
            </a:r>
          </a:p>
          <a:p>
            <a:pPr marL="0" indent="0">
              <a:buNone/>
            </a:pPr>
            <a:r>
              <a:rPr lang="en-US" sz="4100" b="1" dirty="0"/>
              <a:t>IBM DB2 </a:t>
            </a:r>
            <a:endParaRPr lang="en-US" sz="4100" dirty="0"/>
          </a:p>
          <a:p>
            <a:r>
              <a:rPr lang="en-US" dirty="0"/>
              <a:t>Uses lock timeout or global time-out followed by Wait-For graphs </a:t>
            </a:r>
          </a:p>
          <a:p>
            <a:r>
              <a:rPr lang="en-US" dirty="0"/>
              <a:t>Uses update-locks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9278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Transactions Beyond DBMS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techniques covered in this chapter are not confined to DBMS</a:t>
            </a:r>
          </a:p>
          <a:p>
            <a:pPr>
              <a:spcBef>
                <a:spcPts val="1872"/>
              </a:spcBef>
            </a:pPr>
            <a:r>
              <a:rPr lang="en-US" dirty="0"/>
              <a:t>Similar issues whenever systems share resources</a:t>
            </a:r>
          </a:p>
          <a:p>
            <a:pPr>
              <a:spcBef>
                <a:spcPts val="1872"/>
              </a:spcBef>
            </a:pPr>
            <a:r>
              <a:rPr lang="en-US" dirty="0"/>
              <a:t>Some example scenarios:</a:t>
            </a:r>
          </a:p>
          <a:p>
            <a:pPr lvl="1"/>
            <a:r>
              <a:rPr lang="en-US" dirty="0"/>
              <a:t>Processes in an operating system that access the same files, network resources, etc.</a:t>
            </a:r>
          </a:p>
          <a:p>
            <a:pPr lvl="1"/>
            <a:r>
              <a:rPr lang="en-US" dirty="0"/>
              <a:t>Users editing the same document online</a:t>
            </a:r>
          </a:p>
          <a:p>
            <a:pPr lvl="1"/>
            <a:r>
              <a:rPr lang="en-US" dirty="0"/>
              <a:t>Document versioning systems like subversion, </a:t>
            </a:r>
            <a:r>
              <a:rPr lang="en-US" dirty="0" err="1"/>
              <a:t>git</a:t>
            </a:r>
            <a:r>
              <a:rPr lang="en-US" dirty="0"/>
              <a:t>, etc.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0012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it out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2400" dirty="0">
                <a:solidFill>
                  <a:schemeClr val="accent1"/>
                </a:solidFill>
              </a:rPr>
              <a:t>CREATE TABLE </a:t>
            </a:r>
            <a:r>
              <a:rPr lang="en-GB" sz="2400" dirty="0"/>
              <a:t>Student (id </a:t>
            </a:r>
            <a:r>
              <a:rPr lang="en-GB" sz="2400" dirty="0">
                <a:solidFill>
                  <a:schemeClr val="accent1"/>
                </a:solidFill>
              </a:rPr>
              <a:t>INT NOT NULL</a:t>
            </a:r>
            <a:r>
              <a:rPr lang="en-GB" sz="2400" dirty="0"/>
              <a:t>, name </a:t>
            </a:r>
            <a:r>
              <a:rPr lang="mr-IN" sz="2400" dirty="0"/>
              <a:t>…</a:t>
            </a:r>
            <a:r>
              <a:rPr lang="en-GB" sz="2400" dirty="0"/>
              <a:t>);</a:t>
            </a:r>
          </a:p>
          <a:p>
            <a:r>
              <a:rPr lang="en-GB" sz="2400" dirty="0">
                <a:solidFill>
                  <a:schemeClr val="accent1"/>
                </a:solidFill>
              </a:rPr>
              <a:t>INSERT</a:t>
            </a:r>
            <a:r>
              <a:rPr lang="en-GB" sz="2400" b="1" dirty="0">
                <a:solidFill>
                  <a:schemeClr val="accent1"/>
                </a:solidFill>
              </a:rPr>
              <a:t> </a:t>
            </a:r>
            <a:r>
              <a:rPr lang="en-GB" sz="2400" dirty="0">
                <a:solidFill>
                  <a:schemeClr val="accent1"/>
                </a:solidFill>
              </a:rPr>
              <a:t>INTO</a:t>
            </a:r>
            <a:r>
              <a:rPr lang="en-GB" sz="2400" b="1" dirty="0">
                <a:solidFill>
                  <a:schemeClr val="accent1"/>
                </a:solidFill>
              </a:rPr>
              <a:t> </a:t>
            </a:r>
            <a:r>
              <a:rPr lang="en-GB" sz="2400" dirty="0"/>
              <a:t>Student </a:t>
            </a:r>
            <a:r>
              <a:rPr lang="en-GB" sz="2400" dirty="0">
                <a:solidFill>
                  <a:schemeClr val="accent1"/>
                </a:solidFill>
              </a:rPr>
              <a:t>VALUES</a:t>
            </a:r>
            <a:r>
              <a:rPr lang="en-GB" sz="2400" dirty="0"/>
              <a:t> (1, ‘Anna’, </a:t>
            </a:r>
            <a:r>
              <a:rPr lang="mr-IN" sz="2400" dirty="0"/>
              <a:t>…</a:t>
            </a:r>
            <a:r>
              <a:rPr lang="en-GB" sz="2400" dirty="0"/>
              <a:t>);</a:t>
            </a:r>
            <a:br>
              <a:rPr lang="en-GB" sz="2400" dirty="0"/>
            </a:br>
            <a:r>
              <a:rPr lang="en-GB" sz="2400" dirty="0">
                <a:solidFill>
                  <a:schemeClr val="accent1"/>
                </a:solidFill>
              </a:rPr>
              <a:t>SELECT</a:t>
            </a:r>
            <a:r>
              <a:rPr lang="en-GB" sz="2400" dirty="0"/>
              <a:t> * </a:t>
            </a:r>
            <a:r>
              <a:rPr lang="en-GB" sz="2400" dirty="0">
                <a:solidFill>
                  <a:schemeClr val="accent1"/>
                </a:solidFill>
              </a:rPr>
              <a:t>FROM</a:t>
            </a:r>
            <a:r>
              <a:rPr lang="en-GB" sz="2400" dirty="0"/>
              <a:t> Student;</a:t>
            </a:r>
          </a:p>
          <a:p>
            <a:r>
              <a:rPr lang="en-GB" sz="2400" b="1" dirty="0"/>
              <a:t>START TRANSACTION</a:t>
            </a:r>
            <a:r>
              <a:rPr lang="en-GB" sz="2400" dirty="0"/>
              <a:t>;</a:t>
            </a:r>
            <a:br>
              <a:rPr lang="en-GB" sz="2400" dirty="0"/>
            </a:br>
            <a:r>
              <a:rPr lang="en-GB" sz="2400" dirty="0">
                <a:solidFill>
                  <a:schemeClr val="accent1"/>
                </a:solidFill>
              </a:rPr>
              <a:t>INSERT INTO </a:t>
            </a:r>
            <a:r>
              <a:rPr lang="en-GB" sz="2400" dirty="0"/>
              <a:t>Student </a:t>
            </a:r>
            <a:r>
              <a:rPr lang="en-GB" sz="2400" dirty="0">
                <a:solidFill>
                  <a:schemeClr val="accent1"/>
                </a:solidFill>
              </a:rPr>
              <a:t>VALUES</a:t>
            </a:r>
            <a:r>
              <a:rPr lang="en-GB" sz="2400" dirty="0"/>
              <a:t> (2, ‘Ben’, </a:t>
            </a:r>
            <a:r>
              <a:rPr lang="mr-IN" sz="2400" dirty="0"/>
              <a:t>…</a:t>
            </a:r>
            <a:r>
              <a:rPr lang="en-GB" sz="2400" dirty="0"/>
              <a:t>);</a:t>
            </a:r>
            <a:br>
              <a:rPr lang="en-GB" sz="2400" dirty="0"/>
            </a:br>
            <a:r>
              <a:rPr lang="en-GB" sz="2400" dirty="0">
                <a:solidFill>
                  <a:schemeClr val="accent1"/>
                </a:solidFill>
              </a:rPr>
              <a:t>INSERT INTO </a:t>
            </a:r>
            <a:r>
              <a:rPr lang="en-GB" sz="2400" dirty="0"/>
              <a:t>Student </a:t>
            </a:r>
            <a:r>
              <a:rPr lang="en-GB" sz="2400" dirty="0">
                <a:solidFill>
                  <a:schemeClr val="accent1"/>
                </a:solidFill>
              </a:rPr>
              <a:t>VALUES</a:t>
            </a:r>
            <a:r>
              <a:rPr lang="en-GB" sz="2400" dirty="0"/>
              <a:t> (3, ‘Chloe’, </a:t>
            </a:r>
            <a:r>
              <a:rPr lang="mr-IN" sz="2400" dirty="0"/>
              <a:t>…</a:t>
            </a:r>
            <a:r>
              <a:rPr lang="en-GB" sz="2400" dirty="0"/>
              <a:t>);</a:t>
            </a:r>
            <a:br>
              <a:rPr lang="en-US" sz="2400" dirty="0"/>
            </a:br>
            <a:r>
              <a:rPr lang="en-US" sz="2400" b="1" dirty="0"/>
              <a:t>ROLLBACK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>
                <a:solidFill>
                  <a:schemeClr val="accent1"/>
                </a:solidFill>
              </a:rPr>
              <a:t>SELECT</a:t>
            </a:r>
            <a:r>
              <a:rPr lang="en-US" sz="2400" dirty="0"/>
              <a:t> * </a:t>
            </a:r>
            <a:r>
              <a:rPr lang="en-US" sz="2400" dirty="0">
                <a:solidFill>
                  <a:schemeClr val="accent1"/>
                </a:solidFill>
              </a:rPr>
              <a:t>FROM</a:t>
            </a:r>
            <a:r>
              <a:rPr lang="en-US" sz="2400" dirty="0"/>
              <a:t> Student;</a:t>
            </a:r>
          </a:p>
          <a:p>
            <a:r>
              <a:rPr lang="en-GB" sz="2400" dirty="0"/>
              <a:t>Try out reads, writes, different isolation levels, dirty reads, look up the documentation, ...</a:t>
            </a:r>
          </a:p>
          <a:p>
            <a:r>
              <a:rPr lang="en-GB" sz="2400" dirty="0"/>
              <a:t>Experiment with more complex scenarios</a:t>
            </a:r>
            <a:r>
              <a:rPr lang="mr-IN" sz="2400" dirty="0"/>
              <a:t>…</a:t>
            </a: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7" name="Rounded Rectangular Callout 5">
            <a:extLst>
              <a:ext uri="{FF2B5EF4-FFF2-40B4-BE49-F238E27FC236}">
                <a16:creationId xmlns:a16="http://schemas.microsoft.com/office/drawing/2014/main" id="{150BE730-637C-48A3-948D-F7E0D7AF5B9E}"/>
              </a:ext>
            </a:extLst>
          </p:cNvPr>
          <p:cNvSpPr/>
          <p:nvPr/>
        </p:nvSpPr>
        <p:spPr>
          <a:xfrm>
            <a:off x="6602828" y="5104000"/>
            <a:ext cx="4458952" cy="984365"/>
          </a:xfrm>
          <a:prstGeom prst="wedgeRoundRectCallout">
            <a:avLst>
              <a:gd name="adj1" fmla="val -62013"/>
              <a:gd name="adj2" fmla="val -2102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ym typeface="Wingdings"/>
              </a:rPr>
              <a:t>I would suggest to use some programming language for interacting with it, if you want to try with multiple transactions at a time…</a:t>
            </a:r>
            <a:endParaRPr lang="en-US" baseline="-25000" dirty="0">
              <a:sym typeface="Wingding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232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CC5A7-19FB-45CD-8D29-1CF305104777}"/>
              </a:ext>
            </a:extLst>
          </p:cNvPr>
          <p:cNvSpPr txBox="1">
            <a:spLocks/>
          </p:cNvSpPr>
          <p:nvPr/>
        </p:nvSpPr>
        <p:spPr>
          <a:xfrm>
            <a:off x="914400" y="2564905"/>
            <a:ext cx="10363200" cy="14700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41E889-1F0E-4153-8394-9B3EB5265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690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Relational DBMS Components </a:t>
            </a:r>
            <a:br>
              <a:rPr lang="en-US" dirty="0"/>
            </a:br>
            <a:r>
              <a:rPr lang="en-US" sz="2700" dirty="0"/>
              <a:t>(Simplified from Content video)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5479428" y="2276872"/>
            <a:ext cx="1800200" cy="5577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Transaction manager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482084" y="3188629"/>
            <a:ext cx="1800200" cy="5577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Logging and recovery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0216" y="3181663"/>
            <a:ext cx="1800200" cy="5577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Concurrency control</a:t>
            </a:r>
            <a:endParaRPr lang="en-US" dirty="0"/>
          </a:p>
        </p:txBody>
      </p:sp>
      <p:sp>
        <p:nvSpPr>
          <p:cNvPr id="13" name="Can 12"/>
          <p:cNvSpPr/>
          <p:nvPr/>
        </p:nvSpPr>
        <p:spPr>
          <a:xfrm>
            <a:off x="5629760" y="5418959"/>
            <a:ext cx="1512168" cy="115212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Storage</a:t>
            </a:r>
          </a:p>
        </p:txBody>
      </p:sp>
      <p:sp>
        <p:nvSpPr>
          <p:cNvPr id="42" name="Can 41"/>
          <p:cNvSpPr/>
          <p:nvPr/>
        </p:nvSpPr>
        <p:spPr>
          <a:xfrm>
            <a:off x="5940902" y="4416653"/>
            <a:ext cx="877252" cy="66838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Buffers</a:t>
            </a:r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2997073" y="1905513"/>
            <a:ext cx="1741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User/application</a:t>
            </a:r>
          </a:p>
        </p:txBody>
      </p:sp>
      <p:cxnSp>
        <p:nvCxnSpPr>
          <p:cNvPr id="83" name="Straight Arrow Connector 82"/>
          <p:cNvCxnSpPr>
            <a:cxnSpLocks/>
            <a:stCxn id="53" idx="3"/>
          </p:cNvCxnSpPr>
          <p:nvPr/>
        </p:nvCxnSpPr>
        <p:spPr>
          <a:xfrm>
            <a:off x="4738191" y="2090179"/>
            <a:ext cx="715553" cy="480757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9" idx="2"/>
            <a:endCxn id="10" idx="0"/>
          </p:cNvCxnSpPr>
          <p:nvPr/>
        </p:nvCxnSpPr>
        <p:spPr>
          <a:xfrm>
            <a:off x="6379528" y="2834641"/>
            <a:ext cx="2656" cy="353989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7305312" y="2834641"/>
            <a:ext cx="734904" cy="347023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>
            <a:stCxn id="10" idx="2"/>
            <a:endCxn id="42" idx="1"/>
          </p:cNvCxnSpPr>
          <p:nvPr/>
        </p:nvCxnSpPr>
        <p:spPr>
          <a:xfrm flipH="1">
            <a:off x="6379528" y="3746397"/>
            <a:ext cx="2656" cy="670256"/>
          </a:xfrm>
          <a:prstGeom prst="straightConnector1">
            <a:avLst/>
          </a:prstGeom>
          <a:ln w="19050"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410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Support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 of SQL: </a:t>
            </a:r>
          </a:p>
          <a:p>
            <a:pPr lvl="1"/>
            <a:r>
              <a:rPr lang="en-US" dirty="0"/>
              <a:t>Begin/end transactions, isolation levels, auto commit, </a:t>
            </a:r>
            <a:r>
              <a:rPr lang="mr-IN" dirty="0"/>
              <a:t>…</a:t>
            </a:r>
            <a:endParaRPr lang="en-US" dirty="0"/>
          </a:p>
          <a:p>
            <a:pPr lvl="1"/>
            <a:r>
              <a:rPr lang="en-US" dirty="0"/>
              <a:t>Need to understand the consequences of these commands</a:t>
            </a:r>
            <a:br>
              <a:rPr lang="en-US" dirty="0"/>
            </a:br>
            <a:r>
              <a:rPr lang="en-US" dirty="0"/>
              <a:t>to make effective use of DBMS</a:t>
            </a:r>
          </a:p>
          <a:p>
            <a:pPr lvl="2"/>
            <a:r>
              <a:rPr lang="en-US" dirty="0"/>
              <a:t>When to combine different SQL statements into a transaction?</a:t>
            </a:r>
          </a:p>
          <a:p>
            <a:pPr lvl="2"/>
            <a:r>
              <a:rPr lang="en-US" dirty="0"/>
              <a:t>When do we need (conflict) </a:t>
            </a:r>
            <a:r>
              <a:rPr lang="en-US" dirty="0" err="1"/>
              <a:t>serialisability</a:t>
            </a:r>
            <a:r>
              <a:rPr lang="en-US" dirty="0"/>
              <a:t>? When is a weaker isolation level fine?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4080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66D5-37AD-479D-AD5A-3A78EA1DC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Management Review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3A824-DBE3-4045-AE4C-7B3D47FD0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Dealing with </a:t>
            </a:r>
            <a:r>
              <a:rPr lang="en-US" b="1" dirty="0"/>
              <a:t>transactions</a:t>
            </a:r>
            <a:r>
              <a:rPr lang="en-US" dirty="0"/>
              <a:t> is a core task of DBMS</a:t>
            </a:r>
          </a:p>
          <a:p>
            <a:pPr lvl="1"/>
            <a:r>
              <a:rPr lang="en-US" dirty="0"/>
              <a:t>Many things can go wrong when processing transactions,</a:t>
            </a:r>
            <a:br>
              <a:rPr lang="en-US" dirty="0"/>
            </a:br>
            <a:r>
              <a:rPr lang="en-US" dirty="0"/>
              <a:t>even when executing single SQL statements.</a:t>
            </a:r>
          </a:p>
          <a:p>
            <a:pPr lvl="1"/>
            <a:r>
              <a:rPr lang="en-US" dirty="0"/>
              <a:t>Need to ensure </a:t>
            </a:r>
            <a:r>
              <a:rPr lang="en-US" b="1" dirty="0"/>
              <a:t>ACID properties</a:t>
            </a:r>
          </a:p>
          <a:p>
            <a:r>
              <a:rPr lang="en-US" dirty="0"/>
              <a:t>Requires careful </a:t>
            </a:r>
            <a:r>
              <a:rPr lang="en-US" b="1" dirty="0"/>
              <a:t>scheduling</a:t>
            </a:r>
            <a:r>
              <a:rPr lang="en-US" dirty="0"/>
              <a:t> of transactions and </a:t>
            </a:r>
            <a:r>
              <a:rPr lang="en-US" b="1" dirty="0"/>
              <a:t>logging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of relevant information</a:t>
            </a:r>
          </a:p>
          <a:p>
            <a:pPr lvl="1"/>
            <a:r>
              <a:rPr lang="en-US" dirty="0"/>
              <a:t>Schedules should be </a:t>
            </a:r>
            <a:r>
              <a:rPr lang="en-US" b="1" dirty="0"/>
              <a:t>conflict-</a:t>
            </a:r>
            <a:r>
              <a:rPr lang="en-US" b="1" dirty="0" err="1"/>
              <a:t>serialisable</a:t>
            </a:r>
            <a:endParaRPr lang="en-US" b="1" dirty="0"/>
          </a:p>
          <a:p>
            <a:pPr lvl="1"/>
            <a:r>
              <a:rPr lang="en-US" dirty="0"/>
              <a:t>Schedules should be </a:t>
            </a:r>
            <a:r>
              <a:rPr lang="en-US" b="1" dirty="0"/>
              <a:t>strict</a:t>
            </a:r>
          </a:p>
          <a:p>
            <a:r>
              <a:rPr lang="en-US" dirty="0"/>
              <a:t>Methods for enforcing conflict-</a:t>
            </a:r>
            <a:r>
              <a:rPr lang="en-US" dirty="0" err="1"/>
              <a:t>serialisability</a:t>
            </a:r>
            <a:r>
              <a:rPr lang="en-US" dirty="0"/>
              <a:t> &amp; strictness:</a:t>
            </a:r>
          </a:p>
          <a:p>
            <a:pPr lvl="1"/>
            <a:r>
              <a:rPr lang="en-US" b="1" dirty="0"/>
              <a:t>Strict two-phase locking </a:t>
            </a:r>
            <a:r>
              <a:rPr lang="en-US" dirty="0"/>
              <a:t>&amp; </a:t>
            </a:r>
            <a:r>
              <a:rPr lang="en-US" b="1" dirty="0"/>
              <a:t>deadlock prevention</a:t>
            </a:r>
            <a:r>
              <a:rPr lang="en-US" dirty="0"/>
              <a:t> methods</a:t>
            </a:r>
          </a:p>
          <a:p>
            <a:pPr lvl="1"/>
            <a:r>
              <a:rPr lang="en-US" b="1" dirty="0"/>
              <a:t>Timestamping</a:t>
            </a:r>
          </a:p>
          <a:p>
            <a:endParaRPr lang="en-GB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73C90B6D-B6B4-4F4C-8A83-CDE18B17D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8116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b="1" dirty="0">
                <a:solidFill>
                  <a:srgbClr val="00B050"/>
                </a:solidFill>
              </a:rPr>
              <a:t>I</a:t>
            </a:r>
            <a:r>
              <a:rPr lang="en-US" b="1" dirty="0"/>
              <a:t>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A</a:t>
            </a:r>
            <a:r>
              <a:rPr lang="en-US" dirty="0"/>
              <a:t>tomicity</a:t>
            </a:r>
          </a:p>
          <a:p>
            <a:pPr lvl="1"/>
            <a:r>
              <a:rPr lang="en-US" dirty="0"/>
              <a:t>Transactions are fully executed or not at all</a:t>
            </a:r>
          </a:p>
          <a:p>
            <a:pPr lvl="1"/>
            <a:r>
              <a:rPr lang="en-US" dirty="0"/>
              <a:t>Ensured by Undo logging, Undo/Redo logging or Force</a:t>
            </a:r>
          </a:p>
          <a:p>
            <a:r>
              <a:rPr lang="en-US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</a:t>
            </a:r>
            <a:r>
              <a:rPr lang="en-US" dirty="0"/>
              <a:t>onsistency</a:t>
            </a:r>
          </a:p>
          <a:p>
            <a:pPr lvl="1"/>
            <a:r>
              <a:rPr lang="en-US" dirty="0"/>
              <a:t>Schedule executes transactions equivalent to a serial schedule</a:t>
            </a:r>
          </a:p>
          <a:p>
            <a:pPr lvl="1"/>
            <a:r>
              <a:rPr lang="en-US" dirty="0"/>
              <a:t>(needs two assumptions for this: non-database operations can be ignored and if a schedule is serial, then it is consistent)</a:t>
            </a:r>
          </a:p>
          <a:p>
            <a:pPr lvl="1"/>
            <a:r>
              <a:rPr lang="en-US" dirty="0"/>
              <a:t>Ensured by </a:t>
            </a:r>
            <a:r>
              <a:rPr lang="en-US" dirty="0" err="1"/>
              <a:t>Serializability</a:t>
            </a:r>
            <a:r>
              <a:rPr lang="en-US" dirty="0"/>
              <a:t>, Conflict-</a:t>
            </a:r>
            <a:r>
              <a:rPr lang="en-US" dirty="0" err="1"/>
              <a:t>Serializability</a:t>
            </a:r>
            <a:r>
              <a:rPr lang="en-US" dirty="0"/>
              <a:t>, 2PL and Timestamp-based Scheduling (also Strict versions of the last two)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5" name="Rounded Rectangular Callout 4"/>
          <p:cNvSpPr/>
          <p:nvPr/>
        </p:nvSpPr>
        <p:spPr>
          <a:xfrm>
            <a:off x="8184232" y="2492896"/>
            <a:ext cx="2232248" cy="686608"/>
          </a:xfrm>
          <a:prstGeom prst="wedgeRoundRectCallout">
            <a:avLst>
              <a:gd name="adj1" fmla="val -64973"/>
              <a:gd name="adj2" fmla="val 4158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ym typeface="Wingdings"/>
              </a:rPr>
              <a:t>This is intuition. Exact def. is different</a:t>
            </a:r>
            <a:endParaRPr lang="en-US" baseline="-25000" dirty="0">
              <a:sym typeface="Wingding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1745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b="1" dirty="0">
                <a:solidFill>
                  <a:srgbClr val="00B050"/>
                </a:solidFill>
              </a:rPr>
              <a:t>I</a:t>
            </a:r>
            <a:r>
              <a:rPr lang="en-US" b="1" dirty="0"/>
              <a:t>D </a:t>
            </a:r>
            <a:r>
              <a:rPr lang="en-US" dirty="0"/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dirty="0"/>
              <a:t>solation</a:t>
            </a:r>
          </a:p>
          <a:p>
            <a:pPr lvl="1"/>
            <a:r>
              <a:rPr lang="en-US" dirty="0"/>
              <a:t>Transactions are isolated from each other (how well depends on level!)</a:t>
            </a:r>
          </a:p>
          <a:p>
            <a:pPr lvl="1"/>
            <a:r>
              <a:rPr lang="en-US" dirty="0"/>
              <a:t>Ensured by </a:t>
            </a:r>
            <a:r>
              <a:rPr lang="en-US" dirty="0" err="1"/>
              <a:t>Cascadeless</a:t>
            </a:r>
            <a:r>
              <a:rPr lang="en-US" dirty="0"/>
              <a:t> and Strict schedules (incl. Strict 2PL and Strict Timestamp-based schedules)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D</a:t>
            </a:r>
            <a:r>
              <a:rPr lang="en-US" dirty="0"/>
              <a:t>urability</a:t>
            </a:r>
          </a:p>
          <a:p>
            <a:pPr lvl="1"/>
            <a:r>
              <a:rPr lang="en-US" dirty="0"/>
              <a:t>If a transaction is committed, it does not disappear</a:t>
            </a:r>
          </a:p>
          <a:p>
            <a:pPr lvl="1"/>
            <a:r>
              <a:rPr lang="en-US" dirty="0"/>
              <a:t>Ensured by Redo logging, Undo/Redo logging or No Steal</a:t>
            </a:r>
          </a:p>
          <a:p>
            <a:pPr lvl="1"/>
            <a:r>
              <a:rPr lang="en-US" dirty="0"/>
              <a:t>Recoverable schedules are also required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3F8E22-49C7-46A2-A2C3-CAF60DC0A1C3}"/>
              </a:ext>
            </a:extLst>
          </p:cNvPr>
          <p:cNvSpPr/>
          <p:nvPr/>
        </p:nvSpPr>
        <p:spPr>
          <a:xfrm>
            <a:off x="2844754" y="3349299"/>
            <a:ext cx="5904656" cy="1008112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SET TRANSACTION READ WRITE</a:t>
            </a:r>
            <a:br>
              <a:rPr lang="en-US" sz="2000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    ISOLATION LEVEL READ UNCOMMITTED;</a:t>
            </a:r>
          </a:p>
        </p:txBody>
      </p:sp>
      <p:sp>
        <p:nvSpPr>
          <p:cNvPr id="6" name="Rounded Rectangular Callout 105">
            <a:extLst>
              <a:ext uri="{FF2B5EF4-FFF2-40B4-BE49-F238E27FC236}">
                <a16:creationId xmlns:a16="http://schemas.microsoft.com/office/drawing/2014/main" id="{60BE8CBF-2160-47D2-9BAA-8B47BEB350AD}"/>
              </a:ext>
            </a:extLst>
          </p:cNvPr>
          <p:cNvSpPr/>
          <p:nvPr/>
        </p:nvSpPr>
        <p:spPr>
          <a:xfrm>
            <a:off x="9132613" y="3517561"/>
            <a:ext cx="2950529" cy="1764586"/>
          </a:xfrm>
          <a:prstGeom prst="wedgeRoundRectCallout">
            <a:avLst>
              <a:gd name="adj1" fmla="val -63884"/>
              <a:gd name="adj2" fmla="val 815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Alternately:</a:t>
            </a:r>
            <a:br>
              <a:rPr lang="en-US" sz="2400" dirty="0"/>
            </a:br>
            <a:r>
              <a:rPr lang="en-US" sz="2400" dirty="0"/>
              <a:t>READ COMMITTED,</a:t>
            </a:r>
            <a:br>
              <a:rPr lang="en-US" sz="2400" dirty="0"/>
            </a:br>
            <a:r>
              <a:rPr lang="en-US" sz="2400" dirty="0"/>
              <a:t>REPEATABLE  READ,</a:t>
            </a:r>
          </a:p>
          <a:p>
            <a:r>
              <a:rPr lang="en-US" sz="2400" dirty="0"/>
              <a:t>SERIALIZABLE </a:t>
            </a:r>
          </a:p>
        </p:txBody>
      </p:sp>
      <p:sp>
        <p:nvSpPr>
          <p:cNvPr id="7" name="Rounded Rectangular Callout 105">
            <a:extLst>
              <a:ext uri="{FF2B5EF4-FFF2-40B4-BE49-F238E27FC236}">
                <a16:creationId xmlns:a16="http://schemas.microsoft.com/office/drawing/2014/main" id="{5FC7FAFE-E0E6-4F46-9D70-8F3EAF714D54}"/>
              </a:ext>
            </a:extLst>
          </p:cNvPr>
          <p:cNvSpPr/>
          <p:nvPr/>
        </p:nvSpPr>
        <p:spPr>
          <a:xfrm>
            <a:off x="7060372" y="2971535"/>
            <a:ext cx="1832479" cy="866888"/>
          </a:xfrm>
          <a:prstGeom prst="wedgeRoundRectCallout">
            <a:avLst>
              <a:gd name="adj1" fmla="val -56224"/>
              <a:gd name="adj2" fmla="val 34402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Can also be:</a:t>
            </a:r>
          </a:p>
          <a:p>
            <a:pPr algn="ctr"/>
            <a:r>
              <a:rPr lang="en-US" sz="2400" dirty="0"/>
              <a:t>READ ONLY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724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8D00-C9CE-4208-83B2-BFE3AFBB3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DB285-A8C1-47C4-BB86-DA025E5C9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different database implementations do things differently in regards to transactions</a:t>
            </a:r>
          </a:p>
          <a:p>
            <a:r>
              <a:rPr lang="en-US" dirty="0"/>
              <a:t>In this part we saw how DBMS ensures the ACID properties (far too much to summarize)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1B2CA-EDDC-4126-BF1B-7340BB4C1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15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6648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|59.3|18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11.2|10.3|17.6|19.8|2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|5.2|26.2|2.4|20.7|7.2|2.7|24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9.2|14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|25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7|34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|63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6.7|103|1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0.8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215</TotalTime>
  <Words>845</Words>
  <Application>Microsoft Office PowerPoint</Application>
  <PresentationFormat>Widescreen</PresentationFormat>
  <Paragraphs>122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Calibri Light</vt:lpstr>
      <vt:lpstr>Courier New</vt:lpstr>
      <vt:lpstr>Retrospect</vt:lpstr>
      <vt:lpstr>What would the DBMS implementations do?</vt:lpstr>
      <vt:lpstr>Overview over this video</vt:lpstr>
      <vt:lpstr>Transaction Support in DBMS</vt:lpstr>
      <vt:lpstr>PowerPoint Presentation</vt:lpstr>
      <vt:lpstr>MySQL (with InnoDB) </vt:lpstr>
      <vt:lpstr>Other DBMS</vt:lpstr>
      <vt:lpstr>Transactions Beyond DBMS</vt:lpstr>
      <vt:lpstr>Try it out…</vt:lpstr>
      <vt:lpstr>PowerPoint Presentation</vt:lpstr>
      <vt:lpstr>Relational DBMS Components  (Simplified from Content video)</vt:lpstr>
      <vt:lpstr>Transaction Support</vt:lpstr>
      <vt:lpstr>Transaction Management Review</vt:lpstr>
      <vt:lpstr>ACID</vt:lpstr>
      <vt:lpstr>ACID continued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would the DBMS implementations do?</dc:title>
  <dc:creator>Rasmus Ibsen-Jensen</dc:creator>
  <cp:lastModifiedBy>Rasmus Ibsen-Jensen</cp:lastModifiedBy>
  <cp:revision>13</cp:revision>
  <dcterms:created xsi:type="dcterms:W3CDTF">2020-11-07T20:12:31Z</dcterms:created>
  <dcterms:modified xsi:type="dcterms:W3CDTF">2020-11-10T14:41:37Z</dcterms:modified>
</cp:coreProperties>
</file>