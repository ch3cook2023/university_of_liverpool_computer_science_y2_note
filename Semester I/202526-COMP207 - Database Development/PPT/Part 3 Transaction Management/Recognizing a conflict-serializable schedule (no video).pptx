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54" r:id="rId3"/>
    <p:sldId id="483" r:id="rId4"/>
    <p:sldId id="426" r:id="rId5"/>
    <p:sldId id="475" r:id="rId6"/>
    <p:sldId id="428" r:id="rId7"/>
    <p:sldId id="476" r:id="rId8"/>
    <p:sldId id="430" r:id="rId9"/>
    <p:sldId id="477" r:id="rId10"/>
    <p:sldId id="478" r:id="rId11"/>
    <p:sldId id="479" r:id="rId12"/>
    <p:sldId id="480" r:id="rId13"/>
    <p:sldId id="481" r:id="rId14"/>
    <p:sldId id="48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C5718-48F8-4F8F-8CC1-7B4A9EC45F3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DB55-3D5A-4A87-93F1-D7E0A5E8962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755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C5718-48F8-4F8F-8CC1-7B4A9EC45F3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DB55-3D5A-4A87-93F1-D7E0A5E896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842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C5718-48F8-4F8F-8CC1-7B4A9EC45F3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DB55-3D5A-4A87-93F1-D7E0A5E8962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510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C5718-48F8-4F8F-8CC1-7B4A9EC45F3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DB55-3D5A-4A87-93F1-D7E0A5E896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868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C5718-48F8-4F8F-8CC1-7B4A9EC45F3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DB55-3D5A-4A87-93F1-D7E0A5E896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9096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C5718-48F8-4F8F-8CC1-7B4A9EC45F3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DB55-3D5A-4A87-93F1-D7E0A5E896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421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C5718-48F8-4F8F-8CC1-7B4A9EC45F3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DB55-3D5A-4A87-93F1-D7E0A5E896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63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D5C5718-48F8-4F8F-8CC1-7B4A9EC45F3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42DB55-3D5A-4A87-93F1-D7E0A5E896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246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C5718-48F8-4F8F-8CC1-7B4A9EC45F3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DB55-3D5A-4A87-93F1-D7E0A5E896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842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C5718-48F8-4F8F-8CC1-7B4A9EC45F3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DB55-3D5A-4A87-93F1-D7E0A5E896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234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C5718-48F8-4F8F-8CC1-7B4A9EC45F3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2DB55-3D5A-4A87-93F1-D7E0A5E896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497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D5C5718-48F8-4F8F-8CC1-7B4A9EC45F32}" type="datetimeFigureOut">
              <a:rPr lang="en-GB" smtClean="0"/>
              <a:t>27/10/2020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D42DB55-3D5A-4A87-93F1-D7E0A5E89626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892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CD70-C605-4E96-957D-4DD6842F09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Recognizing a conflict-serializable schedule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CB53F-56FC-4891-90E0-322CC5D63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34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35"/>
    </mc:Choice>
    <mc:Fallback xmlns="">
      <p:transition spd="slow" advTm="1783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87AB-00C3-4F0C-ABD5-3827C052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0F842-B16B-4A9E-872B-51714976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This video will show you how to recognize if a schedule is conflict-serializable or not</a:t>
            </a:r>
            <a:endParaRPr lang="en-US" sz="2600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69FEF2EB-739F-4A39-9129-CE882C363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45271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40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43"/>
    </mc:Choice>
    <mc:Fallback xmlns="">
      <p:transition spd="slow" advTm="1294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6786-B901-4A89-BF5A-F2C5553B1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1DBBC-7C1F-4B70-815D-EBA95FBFF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schedule that is </a:t>
            </a:r>
            <a:r>
              <a:rPr lang="en-US" b="1" dirty="0"/>
              <a:t>not </a:t>
            </a:r>
            <a:r>
              <a:rPr lang="en-US" dirty="0"/>
              <a:t>conflict-serializable, but serializable: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spcBef>
                <a:spcPts val="3072"/>
              </a:spcBef>
              <a:buNone/>
            </a:pPr>
            <a:r>
              <a:rPr lang="en-US" dirty="0"/>
              <a:t>How to show: Not conflict-serializable?</a:t>
            </a:r>
          </a:p>
          <a:p>
            <a:r>
              <a:rPr lang="en-US" dirty="0"/>
              <a:t>Identify the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transactions </a:t>
            </a:r>
            <a:r>
              <a:rPr lang="en-US" dirty="0"/>
              <a:t>in S</a:t>
            </a:r>
          </a:p>
          <a:p>
            <a:r>
              <a:rPr lang="en-US" dirty="0"/>
              <a:t>Identify the </a:t>
            </a:r>
            <a:r>
              <a:rPr lang="en-US" dirty="0">
                <a:solidFill>
                  <a:schemeClr val="accent2"/>
                </a:solidFill>
              </a:rPr>
              <a:t>conflicts</a:t>
            </a:r>
            <a:r>
              <a:rPr lang="en-US" dirty="0"/>
              <a:t> in S</a:t>
            </a:r>
          </a:p>
          <a:p>
            <a:r>
              <a:rPr lang="en-US" dirty="0"/>
              <a:t>Conflicts </a:t>
            </a:r>
            <a:r>
              <a:rPr lang="en-US" dirty="0">
                <a:solidFill>
                  <a:schemeClr val="accent3"/>
                </a:solidFill>
              </a:rPr>
              <a:t>impose constraints </a:t>
            </a:r>
            <a:r>
              <a:rPr lang="en-US" dirty="0"/>
              <a:t>on the order of the transactions </a:t>
            </a:r>
            <a:br>
              <a:rPr lang="en-US" dirty="0"/>
            </a:br>
            <a:r>
              <a:rPr lang="en-US" dirty="0"/>
              <a:t>in any conflict-equivalent serial schedule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8A2FD6-2059-48CE-BF7E-4FFA2AE7227B}"/>
              </a:ext>
            </a:extLst>
          </p:cNvPr>
          <p:cNvSpPr/>
          <p:nvPr/>
        </p:nvSpPr>
        <p:spPr>
          <a:xfrm>
            <a:off x="4438246" y="2422578"/>
            <a:ext cx="35413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w</a:t>
            </a:r>
            <a:r>
              <a:rPr lang="en-US" sz="2000" baseline="-25000" dirty="0"/>
              <a:t>2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(Y); w</a:t>
            </a:r>
            <a:r>
              <a:rPr lang="en-US" sz="2000" baseline="-25000" dirty="0"/>
              <a:t>3</a:t>
            </a:r>
            <a:r>
              <a:rPr lang="en-US" sz="2000" dirty="0"/>
              <a:t>(X);</a:t>
            </a:r>
            <a:endParaRPr lang="en-US" sz="2000" baseline="-25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34797D-4EFC-4B4A-9176-5CFF01C909E2}"/>
              </a:ext>
            </a:extLst>
          </p:cNvPr>
          <p:cNvSpPr/>
          <p:nvPr/>
        </p:nvSpPr>
        <p:spPr>
          <a:xfrm>
            <a:off x="3111729" y="2422578"/>
            <a:ext cx="3722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S:</a:t>
            </a:r>
            <a:endParaRPr lang="en-US" sz="1600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D5F6A28-3969-4C57-9C11-907FBFAEA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B1D3DA-FF43-430D-B1BB-8FA286F262D4}"/>
              </a:ext>
            </a:extLst>
          </p:cNvPr>
          <p:cNvSpPr/>
          <p:nvPr/>
        </p:nvSpPr>
        <p:spPr>
          <a:xfrm>
            <a:off x="5378841" y="3576077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C281FF-5A05-473A-9246-D3BDD2C83602}"/>
              </a:ext>
            </a:extLst>
          </p:cNvPr>
          <p:cNvSpPr/>
          <p:nvPr/>
        </p:nvSpPr>
        <p:spPr>
          <a:xfrm>
            <a:off x="6996588" y="3573648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9CC312-B2BB-4585-A581-EA3A57D4B2B1}"/>
              </a:ext>
            </a:extLst>
          </p:cNvPr>
          <p:cNvSpPr/>
          <p:nvPr/>
        </p:nvSpPr>
        <p:spPr>
          <a:xfrm>
            <a:off x="8614335" y="3571219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AD8D10-7028-4039-A7F7-E96D3D0E71A5}"/>
              </a:ext>
            </a:extLst>
          </p:cNvPr>
          <p:cNvCxnSpPr/>
          <p:nvPr/>
        </p:nvCxnSpPr>
        <p:spPr>
          <a:xfrm flipV="1">
            <a:off x="5818386" y="3804481"/>
            <a:ext cx="1178203" cy="242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F49B37-1E24-4C36-A034-3A37ED62B07D}"/>
              </a:ext>
            </a:extLst>
          </p:cNvPr>
          <p:cNvCxnSpPr/>
          <p:nvPr/>
        </p:nvCxnSpPr>
        <p:spPr>
          <a:xfrm flipV="1">
            <a:off x="7436133" y="3813628"/>
            <a:ext cx="1178203" cy="2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" name="Curved Connector 10">
            <a:extLst>
              <a:ext uri="{FF2B5EF4-FFF2-40B4-BE49-F238E27FC236}">
                <a16:creationId xmlns:a16="http://schemas.microsoft.com/office/drawing/2014/main" id="{9E10A3B2-0ECD-43C1-9835-9915600EF3F4}"/>
              </a:ext>
            </a:extLst>
          </p:cNvPr>
          <p:cNvCxnSpPr/>
          <p:nvPr/>
        </p:nvCxnSpPr>
        <p:spPr>
          <a:xfrm rot="16200000" flipH="1" flipV="1">
            <a:off x="6406273" y="2765988"/>
            <a:ext cx="2429" cy="1617747"/>
          </a:xfrm>
          <a:prstGeom prst="curvedConnector3">
            <a:avLst>
              <a:gd name="adj1" fmla="val -9411280"/>
            </a:avLst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5" name="Freeform 13">
            <a:extLst>
              <a:ext uri="{FF2B5EF4-FFF2-40B4-BE49-F238E27FC236}">
                <a16:creationId xmlns:a16="http://schemas.microsoft.com/office/drawing/2014/main" id="{53E6C638-E4D1-48BA-A2CA-D5C97800379E}"/>
              </a:ext>
            </a:extLst>
          </p:cNvPr>
          <p:cNvSpPr/>
          <p:nvPr/>
        </p:nvSpPr>
        <p:spPr>
          <a:xfrm>
            <a:off x="5602570" y="4072709"/>
            <a:ext cx="3240742" cy="430306"/>
          </a:xfrm>
          <a:custGeom>
            <a:avLst/>
            <a:gdLst>
              <a:gd name="connsiteX0" fmla="*/ 0 w 3240742"/>
              <a:gd name="connsiteY0" fmla="*/ 0 h 430306"/>
              <a:gd name="connsiteX1" fmla="*/ 1680883 w 3240742"/>
              <a:gd name="connsiteY1" fmla="*/ 430306 h 430306"/>
              <a:gd name="connsiteX2" fmla="*/ 3240742 w 3240742"/>
              <a:gd name="connsiteY2" fmla="*/ 0 h 430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40742" h="430306">
                <a:moveTo>
                  <a:pt x="0" y="0"/>
                </a:moveTo>
                <a:cubicBezTo>
                  <a:pt x="570379" y="215153"/>
                  <a:pt x="1140759" y="430306"/>
                  <a:pt x="1680883" y="430306"/>
                </a:cubicBezTo>
                <a:cubicBezTo>
                  <a:pt x="2221007" y="430306"/>
                  <a:pt x="3240742" y="0"/>
                  <a:pt x="3240742" y="0"/>
                </a:cubicBezTo>
              </a:path>
            </a:pathLst>
          </a:cu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ular Callout 12">
            <a:extLst>
              <a:ext uri="{FF2B5EF4-FFF2-40B4-BE49-F238E27FC236}">
                <a16:creationId xmlns:a16="http://schemas.microsoft.com/office/drawing/2014/main" id="{779D9EC2-14B0-43C0-880C-77C50A06222C}"/>
              </a:ext>
            </a:extLst>
          </p:cNvPr>
          <p:cNvSpPr/>
          <p:nvPr/>
        </p:nvSpPr>
        <p:spPr>
          <a:xfrm>
            <a:off x="7625831" y="2842557"/>
            <a:ext cx="2867187" cy="727072"/>
          </a:xfrm>
          <a:prstGeom prst="wedgeRoundRectCallout">
            <a:avLst>
              <a:gd name="adj1" fmla="val -60706"/>
              <a:gd name="adj2" fmla="val 3122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a cycle </a:t>
            </a:r>
            <a:r>
              <a:rPr lang="en-US" dirty="0">
                <a:sym typeface="Wingdings"/>
              </a:rPr>
              <a:t> 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S is </a:t>
            </a:r>
            <a:r>
              <a:rPr lang="en-US" b="1" dirty="0">
                <a:sym typeface="Wingdings"/>
              </a:rPr>
              <a:t>not</a:t>
            </a:r>
            <a:r>
              <a:rPr lang="en-US" dirty="0">
                <a:sym typeface="Wingdings"/>
              </a:rPr>
              <a:t> conflict-</a:t>
            </a:r>
            <a:r>
              <a:rPr lang="en-US" dirty="0" err="1">
                <a:sym typeface="Wingdings"/>
              </a:rPr>
              <a:t>serialisable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8D548E-258F-481D-813B-6D4F35119608}"/>
              </a:ext>
            </a:extLst>
          </p:cNvPr>
          <p:cNvSpPr/>
          <p:nvPr/>
        </p:nvSpPr>
        <p:spPr>
          <a:xfrm>
            <a:off x="4503987" y="2476963"/>
            <a:ext cx="694322" cy="365594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67D525-1938-4D52-B6FC-C4C23CB1BB3F}"/>
              </a:ext>
            </a:extLst>
          </p:cNvPr>
          <p:cNvSpPr/>
          <p:nvPr/>
        </p:nvSpPr>
        <p:spPr>
          <a:xfrm>
            <a:off x="7216359" y="2475792"/>
            <a:ext cx="694322" cy="365594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5C251A-6640-4D96-B79D-DDFEC65B2FDD}"/>
              </a:ext>
            </a:extLst>
          </p:cNvPr>
          <p:cNvSpPr/>
          <p:nvPr/>
        </p:nvSpPr>
        <p:spPr>
          <a:xfrm>
            <a:off x="5198309" y="2476963"/>
            <a:ext cx="694322" cy="365594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B0A948-F56B-4029-B555-170CBF4CFF92}"/>
              </a:ext>
            </a:extLst>
          </p:cNvPr>
          <p:cNvSpPr/>
          <p:nvPr/>
        </p:nvSpPr>
        <p:spPr>
          <a:xfrm>
            <a:off x="5892631" y="2476963"/>
            <a:ext cx="635987" cy="36559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0A868B-DA30-4F10-84CC-8C39EA7DA510}"/>
              </a:ext>
            </a:extLst>
          </p:cNvPr>
          <p:cNvSpPr/>
          <p:nvPr/>
        </p:nvSpPr>
        <p:spPr>
          <a:xfrm>
            <a:off x="6528618" y="2476963"/>
            <a:ext cx="687741" cy="36559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71A2843-9F90-4DC7-ABB1-6F19BB04B156}"/>
              </a:ext>
            </a:extLst>
          </p:cNvPr>
          <p:cNvSpPr/>
          <p:nvPr/>
        </p:nvSpPr>
        <p:spPr>
          <a:xfrm>
            <a:off x="4828939" y="2259550"/>
            <a:ext cx="717917" cy="211597"/>
          </a:xfrm>
          <a:custGeom>
            <a:avLst/>
            <a:gdLst>
              <a:gd name="connsiteX0" fmla="*/ 0 w 717917"/>
              <a:gd name="connsiteY0" fmla="*/ 211597 h 211597"/>
              <a:gd name="connsiteX1" fmla="*/ 340066 w 717917"/>
              <a:gd name="connsiteY1" fmla="*/ 0 h 211597"/>
              <a:gd name="connsiteX2" fmla="*/ 717917 w 717917"/>
              <a:gd name="connsiteY2" fmla="*/ 211597 h 211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7917" h="211597">
                <a:moveTo>
                  <a:pt x="0" y="211597"/>
                </a:moveTo>
                <a:cubicBezTo>
                  <a:pt x="110206" y="105798"/>
                  <a:pt x="220413" y="0"/>
                  <a:pt x="340066" y="0"/>
                </a:cubicBezTo>
                <a:cubicBezTo>
                  <a:pt x="459719" y="0"/>
                  <a:pt x="588818" y="105798"/>
                  <a:pt x="717917" y="21159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E478D71-CE94-4C51-8A66-CD73F13F7CFA}"/>
              </a:ext>
            </a:extLst>
          </p:cNvPr>
          <p:cNvSpPr/>
          <p:nvPr/>
        </p:nvSpPr>
        <p:spPr>
          <a:xfrm>
            <a:off x="6152608" y="2268934"/>
            <a:ext cx="717917" cy="211597"/>
          </a:xfrm>
          <a:custGeom>
            <a:avLst/>
            <a:gdLst>
              <a:gd name="connsiteX0" fmla="*/ 0 w 717917"/>
              <a:gd name="connsiteY0" fmla="*/ 211597 h 211597"/>
              <a:gd name="connsiteX1" fmla="*/ 340066 w 717917"/>
              <a:gd name="connsiteY1" fmla="*/ 0 h 211597"/>
              <a:gd name="connsiteX2" fmla="*/ 717917 w 717917"/>
              <a:gd name="connsiteY2" fmla="*/ 211597 h 211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7917" h="211597">
                <a:moveTo>
                  <a:pt x="0" y="211597"/>
                </a:moveTo>
                <a:cubicBezTo>
                  <a:pt x="110206" y="105798"/>
                  <a:pt x="220413" y="0"/>
                  <a:pt x="340066" y="0"/>
                </a:cubicBezTo>
                <a:cubicBezTo>
                  <a:pt x="459719" y="0"/>
                  <a:pt x="588818" y="105798"/>
                  <a:pt x="717917" y="211597"/>
                </a:cubicBezTo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8C7090-B58E-4D8F-BC90-56DDFEFD600E}"/>
              </a:ext>
            </a:extLst>
          </p:cNvPr>
          <p:cNvSpPr/>
          <p:nvPr/>
        </p:nvSpPr>
        <p:spPr>
          <a:xfrm>
            <a:off x="5570441" y="2156779"/>
            <a:ext cx="1941242" cy="314367"/>
          </a:xfrm>
          <a:custGeom>
            <a:avLst/>
            <a:gdLst>
              <a:gd name="connsiteX0" fmla="*/ 0 w 717917"/>
              <a:gd name="connsiteY0" fmla="*/ 211597 h 211597"/>
              <a:gd name="connsiteX1" fmla="*/ 340066 w 717917"/>
              <a:gd name="connsiteY1" fmla="*/ 0 h 211597"/>
              <a:gd name="connsiteX2" fmla="*/ 717917 w 717917"/>
              <a:gd name="connsiteY2" fmla="*/ 211597 h 211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7917" h="211597">
                <a:moveTo>
                  <a:pt x="0" y="211597"/>
                </a:moveTo>
                <a:cubicBezTo>
                  <a:pt x="110206" y="105798"/>
                  <a:pt x="220413" y="0"/>
                  <a:pt x="340066" y="0"/>
                </a:cubicBezTo>
                <a:cubicBezTo>
                  <a:pt x="459719" y="0"/>
                  <a:pt x="588818" y="105798"/>
                  <a:pt x="717917" y="21159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1F77713-092C-490E-9F25-1D85F8C08BCA}"/>
              </a:ext>
            </a:extLst>
          </p:cNvPr>
          <p:cNvSpPr/>
          <p:nvPr/>
        </p:nvSpPr>
        <p:spPr>
          <a:xfrm rot="10800000">
            <a:off x="4851146" y="2836391"/>
            <a:ext cx="2660535" cy="278017"/>
          </a:xfrm>
          <a:custGeom>
            <a:avLst/>
            <a:gdLst>
              <a:gd name="connsiteX0" fmla="*/ 0 w 717917"/>
              <a:gd name="connsiteY0" fmla="*/ 211597 h 211597"/>
              <a:gd name="connsiteX1" fmla="*/ 340066 w 717917"/>
              <a:gd name="connsiteY1" fmla="*/ 0 h 211597"/>
              <a:gd name="connsiteX2" fmla="*/ 717917 w 717917"/>
              <a:gd name="connsiteY2" fmla="*/ 211597 h 211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7917" h="211597">
                <a:moveTo>
                  <a:pt x="0" y="211597"/>
                </a:moveTo>
                <a:cubicBezTo>
                  <a:pt x="110206" y="105798"/>
                  <a:pt x="220413" y="0"/>
                  <a:pt x="340066" y="0"/>
                </a:cubicBezTo>
                <a:cubicBezTo>
                  <a:pt x="459719" y="0"/>
                  <a:pt x="588818" y="105798"/>
                  <a:pt x="717917" y="21159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845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7030"/>
    </mc:Choice>
    <mc:Fallback xmlns="">
      <p:transition spd="slow" advTm="2470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4" grpId="0" animBg="1"/>
      <p:bldP spid="5" grpId="0" animBg="1"/>
      <p:bldP spid="23" grpId="0" animBg="1"/>
      <p:bldP spid="25" grpId="0" animBg="1"/>
      <p:bldP spid="27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Precedence Graph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precedence graph </a:t>
            </a:r>
            <a:r>
              <a:rPr lang="en-US" sz="2400" dirty="0"/>
              <a:t>for a schedule S</a:t>
            </a:r>
            <a:r>
              <a:rPr lang="en-GB" sz="2400" dirty="0"/>
              <a:t> is defined as follows:</a:t>
            </a:r>
            <a:endParaRPr lang="en-US" sz="2400" dirty="0"/>
          </a:p>
          <a:p>
            <a:pPr lvl="1"/>
            <a:r>
              <a:rPr lang="en-US" sz="2000" dirty="0"/>
              <a:t>It is a </a:t>
            </a:r>
            <a:r>
              <a:rPr lang="en-US" sz="2000" b="1" dirty="0"/>
              <a:t>directed graph.</a:t>
            </a:r>
          </a:p>
          <a:p>
            <a:pPr lvl="1"/>
            <a:r>
              <a:rPr lang="en-US" sz="2000" dirty="0"/>
              <a:t>Its </a:t>
            </a:r>
            <a:r>
              <a:rPr lang="en-US" sz="2000" b="1" dirty="0"/>
              <a:t>nodes</a:t>
            </a:r>
            <a:r>
              <a:rPr lang="en-US" sz="2000" dirty="0"/>
              <a:t> are the transactions that occur in S.</a:t>
            </a:r>
          </a:p>
          <a:p>
            <a:pPr lvl="1"/>
            <a:r>
              <a:rPr lang="en-US" sz="2000" dirty="0"/>
              <a:t>It has an </a:t>
            </a:r>
            <a:r>
              <a:rPr lang="en-US" sz="2000" b="1" dirty="0"/>
              <a:t>edge</a:t>
            </a:r>
            <a:r>
              <a:rPr lang="en-US" sz="2000" dirty="0"/>
              <a:t> from transaction </a:t>
            </a:r>
            <a:r>
              <a:rPr lang="en-US" sz="2000" dirty="0" err="1"/>
              <a:t>T</a:t>
            </a:r>
            <a:r>
              <a:rPr lang="en-US" sz="2000" baseline="-25000" dirty="0" err="1"/>
              <a:t>i</a:t>
            </a:r>
            <a:r>
              <a:rPr lang="en-US" sz="2000" dirty="0"/>
              <a:t> to transaction </a:t>
            </a:r>
            <a:r>
              <a:rPr lang="en-US" sz="2000" dirty="0" err="1"/>
              <a:t>T</a:t>
            </a:r>
            <a:r>
              <a:rPr lang="en-US" sz="2000" baseline="-25000" dirty="0" err="1"/>
              <a:t>j</a:t>
            </a:r>
            <a:r>
              <a:rPr lang="en-US" sz="2000" dirty="0"/>
              <a:t> if there is a conflicting pair of operations op</a:t>
            </a:r>
            <a:r>
              <a:rPr lang="en-US" sz="2000" baseline="-25000" dirty="0"/>
              <a:t>1</a:t>
            </a:r>
            <a:r>
              <a:rPr lang="en-US" sz="2000" dirty="0"/>
              <a:t> and op</a:t>
            </a:r>
            <a:r>
              <a:rPr lang="en-US" sz="2000" baseline="-25000" dirty="0"/>
              <a:t>2</a:t>
            </a:r>
            <a:r>
              <a:rPr lang="en-US" sz="2000" dirty="0"/>
              <a:t> in S such that </a:t>
            </a:r>
          </a:p>
          <a:p>
            <a:pPr lvl="2"/>
            <a:r>
              <a:rPr lang="en-US" sz="1800" dirty="0"/>
              <a:t>op</a:t>
            </a:r>
            <a:r>
              <a:rPr lang="en-US" sz="1800" baseline="-25000" dirty="0"/>
              <a:t>1</a:t>
            </a:r>
            <a:r>
              <a:rPr lang="en-US" sz="1800" dirty="0"/>
              <a:t> appears before op</a:t>
            </a:r>
            <a:r>
              <a:rPr lang="en-US" sz="1800" baseline="-25000" dirty="0"/>
              <a:t>2</a:t>
            </a:r>
            <a:r>
              <a:rPr lang="en-US" sz="1800" dirty="0"/>
              <a:t> in S</a:t>
            </a:r>
          </a:p>
          <a:p>
            <a:pPr lvl="2"/>
            <a:r>
              <a:rPr lang="en-US" sz="1800" dirty="0"/>
              <a:t>op</a:t>
            </a:r>
            <a:r>
              <a:rPr lang="en-US" sz="1800" baseline="-25000" dirty="0"/>
              <a:t>1</a:t>
            </a:r>
            <a:r>
              <a:rPr lang="en-US" sz="1800" dirty="0"/>
              <a:t> belongs to transaction </a:t>
            </a:r>
            <a:r>
              <a:rPr lang="en-US" sz="1800" dirty="0" err="1"/>
              <a:t>T</a:t>
            </a:r>
            <a:r>
              <a:rPr lang="en-US" sz="1800" baseline="-25000" dirty="0" err="1"/>
              <a:t>i</a:t>
            </a:r>
            <a:endParaRPr lang="en-US" sz="1800" dirty="0"/>
          </a:p>
          <a:p>
            <a:pPr lvl="2"/>
            <a:r>
              <a:rPr lang="en-US" sz="1800" dirty="0"/>
              <a:t>op</a:t>
            </a:r>
            <a:r>
              <a:rPr lang="en-US" sz="1800" baseline="-25000" dirty="0"/>
              <a:t>2</a:t>
            </a:r>
            <a:r>
              <a:rPr lang="en-US" sz="1800" dirty="0"/>
              <a:t> belongs to transaction </a:t>
            </a:r>
            <a:r>
              <a:rPr lang="en-US" sz="1800" dirty="0" err="1"/>
              <a:t>T</a:t>
            </a:r>
            <a:r>
              <a:rPr lang="en-US" sz="1800" baseline="-25000" dirty="0" err="1"/>
              <a:t>j</a:t>
            </a:r>
            <a:r>
              <a:rPr lang="en-US" sz="1800" dirty="0"/>
              <a:t>.</a:t>
            </a:r>
          </a:p>
          <a:p>
            <a:r>
              <a:rPr lang="en-US" sz="2400" dirty="0"/>
              <a:t>Example: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3791744" y="4746959"/>
            <a:ext cx="5113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r</a:t>
            </a:r>
            <a:r>
              <a:rPr lang="en-US" sz="2000" baseline="-25000" dirty="0"/>
              <a:t>2</a:t>
            </a:r>
            <a:r>
              <a:rPr lang="en-US" sz="2000" dirty="0"/>
              <a:t>(X); r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(X); r</a:t>
            </a:r>
            <a:r>
              <a:rPr lang="en-US" sz="2000" baseline="-25000" dirty="0"/>
              <a:t>2</a:t>
            </a:r>
            <a:r>
              <a:rPr lang="en-US" sz="2000" dirty="0"/>
              <a:t>(Y); r</a:t>
            </a:r>
            <a:r>
              <a:rPr lang="en-US" sz="2000" baseline="-25000" dirty="0"/>
              <a:t>3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3</a:t>
            </a:r>
            <a:r>
              <a:rPr lang="en-US" sz="2000" dirty="0"/>
              <a:t>(X); w</a:t>
            </a:r>
            <a:r>
              <a:rPr lang="en-US" sz="2000" baseline="-25000" dirty="0"/>
              <a:t>2</a:t>
            </a:r>
            <a:r>
              <a:rPr lang="en-US" sz="2000" dirty="0"/>
              <a:t>(Y)</a:t>
            </a:r>
            <a:endParaRPr lang="en-US" sz="2000" baseline="-25000" dirty="0"/>
          </a:p>
        </p:txBody>
      </p:sp>
      <p:sp>
        <p:nvSpPr>
          <p:cNvPr id="9" name="Rectangle 8"/>
          <p:cNvSpPr/>
          <p:nvPr/>
        </p:nvSpPr>
        <p:spPr>
          <a:xfrm>
            <a:off x="3339554" y="4746959"/>
            <a:ext cx="3722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S:</a:t>
            </a:r>
            <a:endParaRPr lang="en-US" sz="1600" dirty="0"/>
          </a:p>
        </p:txBody>
      </p:sp>
      <p:sp>
        <p:nvSpPr>
          <p:cNvPr id="14" name="Rectangle 13"/>
          <p:cNvSpPr/>
          <p:nvPr/>
        </p:nvSpPr>
        <p:spPr>
          <a:xfrm>
            <a:off x="1216841" y="5453049"/>
            <a:ext cx="26605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Precedence graph for S:</a:t>
            </a:r>
            <a:endParaRPr lang="en-US" sz="1600" dirty="0"/>
          </a:p>
        </p:txBody>
      </p:sp>
      <p:sp>
        <p:nvSpPr>
          <p:cNvPr id="17" name="Rectangle 16"/>
          <p:cNvSpPr/>
          <p:nvPr/>
        </p:nvSpPr>
        <p:spPr>
          <a:xfrm>
            <a:off x="6753368" y="7548616"/>
            <a:ext cx="4395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T</a:t>
            </a:r>
            <a:r>
              <a:rPr lang="en-US" dirty="0"/>
              <a:t>1</a:t>
            </a:r>
            <a:endParaRPr lang="en-US" sz="1600" dirty="0"/>
          </a:p>
        </p:txBody>
      </p:sp>
      <p:grpSp>
        <p:nvGrpSpPr>
          <p:cNvPr id="5" name="Group 4"/>
          <p:cNvGrpSpPr/>
          <p:nvPr/>
        </p:nvGrpSpPr>
        <p:grpSpPr>
          <a:xfrm>
            <a:off x="4639586" y="5555561"/>
            <a:ext cx="3675038" cy="466523"/>
            <a:chOff x="3228602" y="5994924"/>
            <a:chExt cx="3675038" cy="466523"/>
          </a:xfrm>
        </p:grpSpPr>
        <p:sp>
          <p:nvSpPr>
            <p:cNvPr id="18" name="Rectangle 17"/>
            <p:cNvSpPr/>
            <p:nvPr/>
          </p:nvSpPr>
          <p:spPr>
            <a:xfrm>
              <a:off x="3228602" y="5999782"/>
              <a:ext cx="439544" cy="46166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2400" dirty="0"/>
                <a:t>T</a:t>
              </a:r>
              <a:r>
                <a:rPr lang="en-US" sz="2400" baseline="-25000" dirty="0"/>
                <a:t>1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846349" y="5997353"/>
              <a:ext cx="439544" cy="46166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2400" dirty="0"/>
                <a:t>T</a:t>
              </a:r>
              <a:r>
                <a:rPr lang="en-US" sz="2400" baseline="-25000" dirty="0"/>
                <a:t>2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464096" y="5994924"/>
              <a:ext cx="439544" cy="46166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2400" dirty="0"/>
                <a:t>T</a:t>
              </a:r>
              <a:r>
                <a:rPr lang="en-US" sz="2400" baseline="-25000" dirty="0"/>
                <a:t>3</a:t>
              </a: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 flipV="1">
              <a:off x="3668146" y="6228186"/>
              <a:ext cx="1178203" cy="24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5285893" y="6237333"/>
              <a:ext cx="1178203" cy="24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0" name="Curved Connector 29"/>
            <p:cNvCxnSpPr/>
            <p:nvPr/>
          </p:nvCxnSpPr>
          <p:spPr>
            <a:xfrm rot="16200000" flipH="1" flipV="1">
              <a:off x="4256033" y="5189693"/>
              <a:ext cx="2429" cy="1617747"/>
            </a:xfrm>
            <a:prstGeom prst="curvedConnector3">
              <a:avLst>
                <a:gd name="adj1" fmla="val -9411280"/>
              </a:avLst>
            </a:prstGeom>
            <a:ln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8544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209"/>
    </mc:Choice>
    <mc:Fallback xmlns="">
      <p:transition spd="slow" advTm="972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097BE-4EC9-4DF4-AA6A-1449055DB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Conflict-Serializability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604FA-D77A-4727-AD9C-598C859D7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To test if a schedule S is </a:t>
            </a:r>
            <a:r>
              <a:rPr lang="en-US" sz="2400" b="1" dirty="0"/>
              <a:t>conflict-serializable</a:t>
            </a:r>
            <a:r>
              <a:rPr lang="en-GB" sz="2400" dirty="0"/>
              <a:t>:</a:t>
            </a:r>
          </a:p>
          <a:p>
            <a:pPr lvl="1"/>
            <a:r>
              <a:rPr lang="en-GB" sz="2000" dirty="0"/>
              <a:t>Construct </a:t>
            </a:r>
            <a:r>
              <a:rPr lang="en-US" sz="2000" dirty="0"/>
              <a:t>the precedence graph for S.</a:t>
            </a:r>
          </a:p>
          <a:p>
            <a:pPr lvl="1"/>
            <a:r>
              <a:rPr lang="en-US" sz="2000" dirty="0"/>
              <a:t>If the precedence graph is </a:t>
            </a:r>
            <a:r>
              <a:rPr lang="en-US" sz="2000" b="1" dirty="0"/>
              <a:t>no cycle</a:t>
            </a:r>
            <a:r>
              <a:rPr lang="en-US" sz="2000" dirty="0"/>
              <a:t>, then S is conflict-serializable. </a:t>
            </a:r>
            <a:br>
              <a:rPr lang="en-US" sz="2000" dirty="0"/>
            </a:br>
            <a:r>
              <a:rPr lang="en-US" sz="2000" dirty="0"/>
              <a:t>Otherwise not. </a:t>
            </a:r>
          </a:p>
          <a:p>
            <a:pPr>
              <a:spcBef>
                <a:spcPts val="2472"/>
              </a:spcBef>
            </a:pPr>
            <a:r>
              <a:rPr lang="en-US" sz="2400" dirty="0"/>
              <a:t>Example 1: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Example 2:</a:t>
            </a:r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F737D7-48D5-4785-9D19-048F83495B2C}"/>
              </a:ext>
            </a:extLst>
          </p:cNvPr>
          <p:cNvSpPr/>
          <p:nvPr/>
        </p:nvSpPr>
        <p:spPr>
          <a:xfrm>
            <a:off x="4079776" y="3222118"/>
            <a:ext cx="54457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S:  r</a:t>
            </a:r>
            <a:r>
              <a:rPr lang="en-US" sz="2000" baseline="-25000" dirty="0"/>
              <a:t>1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(X); r</a:t>
            </a:r>
            <a:r>
              <a:rPr lang="en-US" sz="2000" baseline="-25000" dirty="0"/>
              <a:t>2</a:t>
            </a:r>
            <a:r>
              <a:rPr lang="en-US" sz="2000" dirty="0"/>
              <a:t>(X); w</a:t>
            </a:r>
            <a:r>
              <a:rPr lang="en-US" sz="2000" baseline="-25000" dirty="0"/>
              <a:t>2</a:t>
            </a:r>
            <a:r>
              <a:rPr lang="en-US" sz="2000" dirty="0"/>
              <a:t>(X); r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1</a:t>
            </a:r>
            <a:r>
              <a:rPr lang="en-US" sz="2000" dirty="0"/>
              <a:t>(Y); r</a:t>
            </a:r>
            <a:r>
              <a:rPr lang="en-US" sz="2000" baseline="-25000" dirty="0"/>
              <a:t>2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(Y)</a:t>
            </a:r>
            <a:endParaRPr lang="en-US" sz="2000" baseline="-25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39B39C-CB29-44FD-9A66-CB3A87EEC7E0}"/>
              </a:ext>
            </a:extLst>
          </p:cNvPr>
          <p:cNvSpPr/>
          <p:nvPr/>
        </p:nvSpPr>
        <p:spPr>
          <a:xfrm>
            <a:off x="4092849" y="3614078"/>
            <a:ext cx="26605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Precedence graph for S:</a:t>
            </a:r>
            <a:endParaRPr lang="en-US" sz="16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1CFBF41-F633-4859-88DF-3807DD399D58}"/>
              </a:ext>
            </a:extLst>
          </p:cNvPr>
          <p:cNvSpPr/>
          <p:nvPr/>
        </p:nvSpPr>
        <p:spPr>
          <a:xfrm>
            <a:off x="5571240" y="4170895"/>
            <a:ext cx="144016" cy="14401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D58092-8185-4DBD-B7D9-2583F2D6F2C5}"/>
              </a:ext>
            </a:extLst>
          </p:cNvPr>
          <p:cNvSpPr/>
          <p:nvPr/>
        </p:nvSpPr>
        <p:spPr>
          <a:xfrm>
            <a:off x="7136857" y="4170895"/>
            <a:ext cx="144016" cy="14401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894EF0-212B-4548-95A4-9E92DA778B9A}"/>
              </a:ext>
            </a:extLst>
          </p:cNvPr>
          <p:cNvSpPr/>
          <p:nvPr/>
        </p:nvSpPr>
        <p:spPr>
          <a:xfrm>
            <a:off x="5457139" y="4325034"/>
            <a:ext cx="3962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T</a:t>
            </a:r>
            <a:r>
              <a:rPr lang="en-US" sz="2000" baseline="-25000" dirty="0"/>
              <a:t>1</a:t>
            </a:r>
            <a:endParaRPr lang="en-US" baseline="-25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F305B3-4507-4334-9EBE-0724A4F3ED8B}"/>
              </a:ext>
            </a:extLst>
          </p:cNvPr>
          <p:cNvSpPr/>
          <p:nvPr/>
        </p:nvSpPr>
        <p:spPr>
          <a:xfrm>
            <a:off x="7010734" y="4314911"/>
            <a:ext cx="3962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T</a:t>
            </a:r>
            <a:r>
              <a:rPr lang="en-US" sz="2000" baseline="-25000" dirty="0"/>
              <a:t>2</a:t>
            </a:r>
            <a:endParaRPr lang="en-US" sz="1600" baseline="-25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391FEC9-BE8C-4695-AD29-BDD0C852F6A8}"/>
              </a:ext>
            </a:extLst>
          </p:cNvPr>
          <p:cNvCxnSpPr/>
          <p:nvPr/>
        </p:nvCxnSpPr>
        <p:spPr>
          <a:xfrm>
            <a:off x="5715257" y="4242903"/>
            <a:ext cx="14216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AD43FEB-AB2B-40D3-8E06-EF3986CE4B6D}"/>
              </a:ext>
            </a:extLst>
          </p:cNvPr>
          <p:cNvSpPr/>
          <p:nvPr/>
        </p:nvSpPr>
        <p:spPr>
          <a:xfrm>
            <a:off x="4079776" y="4931063"/>
            <a:ext cx="54457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S:  r</a:t>
            </a:r>
            <a:r>
              <a:rPr lang="en-US" sz="2000" baseline="-25000" dirty="0"/>
              <a:t>2</a:t>
            </a:r>
            <a:r>
              <a:rPr lang="en-US" sz="2000" dirty="0"/>
              <a:t>(X); r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(X); r</a:t>
            </a:r>
            <a:r>
              <a:rPr lang="en-US" sz="2000" baseline="-25000" dirty="0"/>
              <a:t>2</a:t>
            </a:r>
            <a:r>
              <a:rPr lang="en-US" sz="2000" dirty="0"/>
              <a:t>(Y); r</a:t>
            </a:r>
            <a:r>
              <a:rPr lang="en-US" sz="2000" baseline="-25000" dirty="0"/>
              <a:t>3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3</a:t>
            </a:r>
            <a:r>
              <a:rPr lang="en-US" sz="2000" dirty="0"/>
              <a:t>(X); w</a:t>
            </a:r>
            <a:r>
              <a:rPr lang="en-US" sz="2000" baseline="-25000" dirty="0"/>
              <a:t>2</a:t>
            </a:r>
            <a:r>
              <a:rPr lang="en-US" sz="2000" dirty="0"/>
              <a:t>(Y)</a:t>
            </a:r>
            <a:endParaRPr lang="en-US" sz="2000" baseline="-25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888EFD-082C-4383-8C04-9800167CD5ED}"/>
              </a:ext>
            </a:extLst>
          </p:cNvPr>
          <p:cNvSpPr/>
          <p:nvPr/>
        </p:nvSpPr>
        <p:spPr>
          <a:xfrm>
            <a:off x="4083638" y="5323023"/>
            <a:ext cx="26605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Precedence graph for S:</a:t>
            </a:r>
            <a:endParaRPr lang="en-US" sz="16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B60342F-D075-44DC-AEDD-EED454D72068}"/>
              </a:ext>
            </a:extLst>
          </p:cNvPr>
          <p:cNvSpPr/>
          <p:nvPr/>
        </p:nvSpPr>
        <p:spPr>
          <a:xfrm>
            <a:off x="5562029" y="6115111"/>
            <a:ext cx="144016" cy="14401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2BFDF8-49EE-40F1-8271-E7C509A8E0E7}"/>
              </a:ext>
            </a:extLst>
          </p:cNvPr>
          <p:cNvSpPr/>
          <p:nvPr/>
        </p:nvSpPr>
        <p:spPr>
          <a:xfrm>
            <a:off x="7127646" y="6115111"/>
            <a:ext cx="144016" cy="14401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BFB167-FD52-428F-A296-6CA36E4DAB98}"/>
              </a:ext>
            </a:extLst>
          </p:cNvPr>
          <p:cNvSpPr/>
          <p:nvPr/>
        </p:nvSpPr>
        <p:spPr>
          <a:xfrm>
            <a:off x="8693263" y="6127489"/>
            <a:ext cx="144016" cy="14401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A363EF-91A7-4CE3-A03E-525D7C101882}"/>
              </a:ext>
            </a:extLst>
          </p:cNvPr>
          <p:cNvCxnSpPr/>
          <p:nvPr/>
        </p:nvCxnSpPr>
        <p:spPr>
          <a:xfrm>
            <a:off x="7271663" y="6187119"/>
            <a:ext cx="1421601" cy="12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25">
            <a:extLst>
              <a:ext uri="{FF2B5EF4-FFF2-40B4-BE49-F238E27FC236}">
                <a16:creationId xmlns:a16="http://schemas.microsoft.com/office/drawing/2014/main" id="{8D037114-84FF-44F2-B9F6-39CDDB074CEB}"/>
              </a:ext>
            </a:extLst>
          </p:cNvPr>
          <p:cNvCxnSpPr/>
          <p:nvPr/>
        </p:nvCxnSpPr>
        <p:spPr>
          <a:xfrm rot="16200000" flipV="1">
            <a:off x="6416846" y="5404311"/>
            <a:ext cx="12700" cy="1463783"/>
          </a:xfrm>
          <a:prstGeom prst="curvedConnector3">
            <a:avLst>
              <a:gd name="adj1" fmla="val 19660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AC6504-F9BD-49C5-9A38-E981F60C145B}"/>
              </a:ext>
            </a:extLst>
          </p:cNvPr>
          <p:cNvCxnSpPr/>
          <p:nvPr/>
        </p:nvCxnSpPr>
        <p:spPr>
          <a:xfrm>
            <a:off x="5706046" y="6187119"/>
            <a:ext cx="14216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ular Callout 27">
            <a:extLst>
              <a:ext uri="{FF2B5EF4-FFF2-40B4-BE49-F238E27FC236}">
                <a16:creationId xmlns:a16="http://schemas.microsoft.com/office/drawing/2014/main" id="{A91ED0FC-7E37-41D8-9FA4-DB32B987D6F1}"/>
              </a:ext>
            </a:extLst>
          </p:cNvPr>
          <p:cNvSpPr/>
          <p:nvPr/>
        </p:nvSpPr>
        <p:spPr>
          <a:xfrm>
            <a:off x="7568103" y="3807440"/>
            <a:ext cx="2514973" cy="727072"/>
          </a:xfrm>
          <a:prstGeom prst="wedgeRoundRectCallout">
            <a:avLst>
              <a:gd name="adj1" fmla="val -58013"/>
              <a:gd name="adj2" fmla="val 1958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no cycle </a:t>
            </a:r>
            <a:r>
              <a:rPr lang="en-US" dirty="0">
                <a:sym typeface="Wingdings"/>
              </a:rPr>
              <a:t> 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S is conflict-serializable</a:t>
            </a:r>
            <a:endParaRPr lang="en-US" dirty="0"/>
          </a:p>
        </p:txBody>
      </p:sp>
      <p:sp>
        <p:nvSpPr>
          <p:cNvPr id="20" name="Rounded Rectangular Callout 28">
            <a:extLst>
              <a:ext uri="{FF2B5EF4-FFF2-40B4-BE49-F238E27FC236}">
                <a16:creationId xmlns:a16="http://schemas.microsoft.com/office/drawing/2014/main" id="{56C37D6E-816B-4A29-BE35-E98C8A23E6F9}"/>
              </a:ext>
            </a:extLst>
          </p:cNvPr>
          <p:cNvSpPr/>
          <p:nvPr/>
        </p:nvSpPr>
        <p:spPr>
          <a:xfrm>
            <a:off x="7409568" y="5342305"/>
            <a:ext cx="2862896" cy="727072"/>
          </a:xfrm>
          <a:prstGeom prst="wedgeRoundRectCallout">
            <a:avLst>
              <a:gd name="adj1" fmla="val -58013"/>
              <a:gd name="adj2" fmla="val 3937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contains a cycle </a:t>
            </a:r>
            <a:r>
              <a:rPr lang="en-US" dirty="0">
                <a:sym typeface="Wingdings"/>
              </a:rPr>
              <a:t> 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S is not conflict-serializable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865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034"/>
    </mc:Choice>
    <mc:Fallback xmlns="">
      <p:transition spd="slow" advTm="1370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/>
      <p:bldP spid="9" grpId="0"/>
      <p:bldP spid="11" grpId="0"/>
      <p:bldP spid="12" grpId="0"/>
      <p:bldP spid="13" grpId="0" animBg="1"/>
      <p:bldP spid="14" grpId="0" animBg="1"/>
      <p:bldP spid="15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does this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says:</a:t>
            </a:r>
          </a:p>
          <a:p>
            <a:r>
              <a:rPr lang="en-US" dirty="0"/>
              <a:t>There is a conflict between an operation in T</a:t>
            </a:r>
            <a:r>
              <a:rPr lang="en-US" baseline="-25000" dirty="0"/>
              <a:t>1</a:t>
            </a:r>
            <a:r>
              <a:rPr lang="en-US" dirty="0"/>
              <a:t> (that appears first) and an operation in T</a:t>
            </a:r>
            <a:r>
              <a:rPr lang="en-US" baseline="-25000" dirty="0"/>
              <a:t>2</a:t>
            </a:r>
            <a:r>
              <a:rPr lang="en-US" dirty="0"/>
              <a:t> 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2385155" y="4149081"/>
            <a:ext cx="7632848" cy="83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All conflict-equivalent schedulers: operation in T</a:t>
            </a:r>
            <a:r>
              <a:rPr lang="en-US" sz="2400" baseline="-25000" dirty="0"/>
              <a:t>1</a:t>
            </a:r>
            <a:r>
              <a:rPr lang="en-US" sz="2400" dirty="0"/>
              <a:t> is before operation in T</a:t>
            </a:r>
            <a:r>
              <a:rPr lang="en-US" sz="2400" baseline="-25000" dirty="0"/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CFDAC9-D4A9-4A57-94FA-C6D3A4C6A06F}"/>
              </a:ext>
            </a:extLst>
          </p:cNvPr>
          <p:cNvSpPr/>
          <p:nvPr/>
        </p:nvSpPr>
        <p:spPr>
          <a:xfrm>
            <a:off x="4694277" y="1821295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4A7359-4A96-47F3-93FC-09659003FB75}"/>
              </a:ext>
            </a:extLst>
          </p:cNvPr>
          <p:cNvSpPr/>
          <p:nvPr/>
        </p:nvSpPr>
        <p:spPr>
          <a:xfrm>
            <a:off x="6312024" y="1818866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CC192D-ED24-4AC7-9236-E9E661392F8C}"/>
              </a:ext>
            </a:extLst>
          </p:cNvPr>
          <p:cNvCxnSpPr/>
          <p:nvPr/>
        </p:nvCxnSpPr>
        <p:spPr>
          <a:xfrm flipV="1">
            <a:off x="5133822" y="2049699"/>
            <a:ext cx="1178203" cy="2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744717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071"/>
    </mc:Choice>
    <mc:Fallback xmlns="">
      <p:transition spd="slow" advTm="680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2CE2D-0506-482C-9249-BC6CECFC0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this work?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EEE99-1BE9-4F18-BA5A-CF82024E4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Proof by contradiction: Assume there is a conflict-equivalent schedule S’ where this is not so</a:t>
            </a:r>
          </a:p>
          <a:p>
            <a:r>
              <a:rPr lang="en-US" dirty="0"/>
              <a:t>Consider first </a:t>
            </a:r>
            <a:r>
              <a:rPr lang="en-US" i="1" dirty="0"/>
              <a:t>consecutive</a:t>
            </a:r>
            <a:r>
              <a:rPr lang="en-US" dirty="0"/>
              <a:t> swap between S and S’ where x goes from being before y to being after y</a:t>
            </a:r>
          </a:p>
          <a:p>
            <a:r>
              <a:rPr lang="en-US" dirty="0"/>
              <a:t>In that swap, either:</a:t>
            </a:r>
          </a:p>
          <a:p>
            <a:pPr lvl="1"/>
            <a:r>
              <a:rPr lang="en-US" dirty="0"/>
              <a:t>We swap x and y (not legal since they conflict)</a:t>
            </a:r>
          </a:p>
          <a:p>
            <a:pPr lvl="1"/>
            <a:r>
              <a:rPr lang="en-US" dirty="0"/>
              <a:t>Or we swap at most 1 of them, but then either x is swapped with something before y or y is swapped with something after x and in either cases that swap can’t have put y before x. This is a contradiction! This means that our assumption is wrong and there is no such schedule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8AA018-78C2-4FF8-AC6D-8422258A519E}"/>
              </a:ext>
            </a:extLst>
          </p:cNvPr>
          <p:cNvSpPr/>
          <p:nvPr/>
        </p:nvSpPr>
        <p:spPr>
          <a:xfrm>
            <a:off x="2161093" y="2376669"/>
            <a:ext cx="7632848" cy="83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All conflict-equivalent schedulers: operation x in T</a:t>
            </a:r>
            <a:r>
              <a:rPr lang="en-US" sz="2400" baseline="-25000" dirty="0"/>
              <a:t>1</a:t>
            </a:r>
            <a:r>
              <a:rPr lang="en-US" sz="2400" dirty="0"/>
              <a:t> is before operation y in T</a:t>
            </a:r>
            <a:r>
              <a:rPr lang="en-US" sz="2400" baseline="-25000" dirty="0"/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EB702-723E-490D-BB86-0B765C64779E}"/>
              </a:ext>
            </a:extLst>
          </p:cNvPr>
          <p:cNvSpPr/>
          <p:nvPr/>
        </p:nvSpPr>
        <p:spPr>
          <a:xfrm>
            <a:off x="4694277" y="1821295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7BE69D-E8D0-472C-AFEB-8F1C765D4D21}"/>
              </a:ext>
            </a:extLst>
          </p:cNvPr>
          <p:cNvSpPr/>
          <p:nvPr/>
        </p:nvSpPr>
        <p:spPr>
          <a:xfrm>
            <a:off x="6312024" y="1818866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3D78B3E-9FA3-4C43-9EEF-DA83AECFF75E}"/>
              </a:ext>
            </a:extLst>
          </p:cNvPr>
          <p:cNvCxnSpPr/>
          <p:nvPr/>
        </p:nvCxnSpPr>
        <p:spPr>
          <a:xfrm flipV="1">
            <a:off x="5133822" y="2049699"/>
            <a:ext cx="1178203" cy="2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541C7B7-3EC3-4B09-AB60-412FBAFD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2734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646"/>
    </mc:Choice>
    <mc:Fallback xmlns="">
      <p:transition spd="slow" advTm="1506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 of a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cycle in the precedence graph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Consider some serial schedule</a:t>
            </a:r>
          </a:p>
          <a:p>
            <a:r>
              <a:rPr lang="en-US" dirty="0"/>
              <a:t>It must put some transaction T in the cycle first by definition</a:t>
            </a:r>
          </a:p>
          <a:p>
            <a:r>
              <a:rPr lang="en-US" dirty="0"/>
              <a:t>Since there is a cycle, there must be a transaction S in the cycle that points to T</a:t>
            </a:r>
          </a:p>
          <a:p>
            <a:r>
              <a:rPr lang="en-US" dirty="0"/>
              <a:t>By last slide, one of the operations in S must be before one of the operations in T</a:t>
            </a:r>
          </a:p>
          <a:p>
            <a:r>
              <a:rPr lang="en-US" dirty="0"/>
              <a:t>But then T is not the first transaction in the cycle</a:t>
            </a:r>
          </a:p>
          <a:p>
            <a:r>
              <a:rPr lang="en-US" dirty="0"/>
              <a:t>That is a contradiction, and we can therefore not have any serial schedule</a:t>
            </a:r>
            <a:endParaRPr lang="en-US" sz="2000" baseline="-25000" dirty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4436068" y="2351311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6053815" y="2348882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2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75613" y="2579715"/>
            <a:ext cx="1178203" cy="2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" name="Curved Connector 7"/>
          <p:cNvCxnSpPr/>
          <p:nvPr/>
        </p:nvCxnSpPr>
        <p:spPr>
          <a:xfrm rot="16200000" flipH="1" flipV="1">
            <a:off x="5463500" y="1541222"/>
            <a:ext cx="2429" cy="1617747"/>
          </a:xfrm>
          <a:prstGeom prst="curvedConnector3">
            <a:avLst>
              <a:gd name="adj1" fmla="val -9411280"/>
            </a:avLst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64148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612"/>
    </mc:Choice>
    <mc:Fallback xmlns="">
      <p:transition spd="slow" advTm="936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AD436-3327-4E86-833F-32AC92CE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4964A-9777-4FDE-9C89-878EFF722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this schedule from before: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8A01E0-052B-450D-8B80-0F39A4EA04F9}"/>
              </a:ext>
            </a:extLst>
          </p:cNvPr>
          <p:cNvSpPr txBox="1"/>
          <p:nvPr/>
        </p:nvSpPr>
        <p:spPr>
          <a:xfrm>
            <a:off x="4079776" y="2375654"/>
            <a:ext cx="37866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S: w</a:t>
            </a:r>
            <a:r>
              <a:rPr lang="en-US" sz="2000" baseline="-25000" dirty="0"/>
              <a:t>2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(X); w</a:t>
            </a:r>
            <a:r>
              <a:rPr lang="en-US" sz="2000" baseline="-25000" dirty="0"/>
              <a:t>1</a:t>
            </a:r>
            <a:r>
              <a:rPr lang="en-US" sz="2000" dirty="0"/>
              <a:t>(Y); w</a:t>
            </a:r>
            <a:r>
              <a:rPr lang="en-US" sz="2000" baseline="-25000" dirty="0"/>
              <a:t>2</a:t>
            </a:r>
            <a:r>
              <a:rPr lang="en-US" sz="2000" dirty="0"/>
              <a:t>(Y); w</a:t>
            </a:r>
            <a:r>
              <a:rPr lang="en-US" sz="2000" baseline="-25000" dirty="0"/>
              <a:t>3</a:t>
            </a:r>
            <a:r>
              <a:rPr lang="en-US" sz="2000" dirty="0"/>
              <a:t>(X);</a:t>
            </a:r>
            <a:endParaRPr lang="en-US" sz="2000" baseline="-25000" dirty="0"/>
          </a:p>
          <a:p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BFDB8-AACD-4D78-8E80-8496D2206B36}"/>
              </a:ext>
            </a:extLst>
          </p:cNvPr>
          <p:cNvSpPr/>
          <p:nvPr/>
        </p:nvSpPr>
        <p:spPr>
          <a:xfrm>
            <a:off x="4366200" y="4014230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C8DB52-EA13-4221-B9BC-26FA2B164EC7}"/>
              </a:ext>
            </a:extLst>
          </p:cNvPr>
          <p:cNvSpPr/>
          <p:nvPr/>
        </p:nvSpPr>
        <p:spPr>
          <a:xfrm>
            <a:off x="5983947" y="4011801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F208D7-AD84-4638-B549-8A43F3E2C020}"/>
              </a:ext>
            </a:extLst>
          </p:cNvPr>
          <p:cNvSpPr/>
          <p:nvPr/>
        </p:nvSpPr>
        <p:spPr>
          <a:xfrm>
            <a:off x="7601694" y="4009372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E54E281-F72E-40B5-BDEE-07238440FD54}"/>
              </a:ext>
            </a:extLst>
          </p:cNvPr>
          <p:cNvCxnSpPr/>
          <p:nvPr/>
        </p:nvCxnSpPr>
        <p:spPr>
          <a:xfrm flipV="1">
            <a:off x="4805745" y="4242634"/>
            <a:ext cx="1178203" cy="2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D0DEC9-221D-4DFC-9BD2-B1FDBD72036F}"/>
              </a:ext>
            </a:extLst>
          </p:cNvPr>
          <p:cNvCxnSpPr/>
          <p:nvPr/>
        </p:nvCxnSpPr>
        <p:spPr>
          <a:xfrm flipV="1">
            <a:off x="6423492" y="4251781"/>
            <a:ext cx="1178203" cy="2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36B01EB9-DA21-4FE1-A2C7-D5DD136878AB}"/>
              </a:ext>
            </a:extLst>
          </p:cNvPr>
          <p:cNvCxnSpPr/>
          <p:nvPr/>
        </p:nvCxnSpPr>
        <p:spPr>
          <a:xfrm rot="16200000" flipH="1" flipV="1">
            <a:off x="5393632" y="3204141"/>
            <a:ext cx="2429" cy="1617747"/>
          </a:xfrm>
          <a:prstGeom prst="curvedConnector3">
            <a:avLst>
              <a:gd name="adj1" fmla="val -9411280"/>
            </a:avLst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" name="Freeform 13">
            <a:extLst>
              <a:ext uri="{FF2B5EF4-FFF2-40B4-BE49-F238E27FC236}">
                <a16:creationId xmlns:a16="http://schemas.microsoft.com/office/drawing/2014/main" id="{732C8727-F009-4898-A6B7-418ABBA42C43}"/>
              </a:ext>
            </a:extLst>
          </p:cNvPr>
          <p:cNvSpPr/>
          <p:nvPr/>
        </p:nvSpPr>
        <p:spPr>
          <a:xfrm>
            <a:off x="4589929" y="4510862"/>
            <a:ext cx="3240742" cy="430306"/>
          </a:xfrm>
          <a:custGeom>
            <a:avLst/>
            <a:gdLst>
              <a:gd name="connsiteX0" fmla="*/ 0 w 3240742"/>
              <a:gd name="connsiteY0" fmla="*/ 0 h 430306"/>
              <a:gd name="connsiteX1" fmla="*/ 1680883 w 3240742"/>
              <a:gd name="connsiteY1" fmla="*/ 430306 h 430306"/>
              <a:gd name="connsiteX2" fmla="*/ 3240742 w 3240742"/>
              <a:gd name="connsiteY2" fmla="*/ 0 h 430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40742" h="430306">
                <a:moveTo>
                  <a:pt x="0" y="0"/>
                </a:moveTo>
                <a:cubicBezTo>
                  <a:pt x="570379" y="215153"/>
                  <a:pt x="1140759" y="430306"/>
                  <a:pt x="1680883" y="430306"/>
                </a:cubicBezTo>
                <a:cubicBezTo>
                  <a:pt x="2221007" y="430306"/>
                  <a:pt x="3240742" y="0"/>
                  <a:pt x="3240742" y="0"/>
                </a:cubicBezTo>
              </a:path>
            </a:pathLst>
          </a:cu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805CE340-FFE7-4D75-BD68-EF304A9582E1}"/>
              </a:ext>
            </a:extLst>
          </p:cNvPr>
          <p:cNvSpPr/>
          <p:nvPr/>
        </p:nvSpPr>
        <p:spPr>
          <a:xfrm>
            <a:off x="6613190" y="3280710"/>
            <a:ext cx="2867187" cy="727072"/>
          </a:xfrm>
          <a:prstGeom prst="wedgeRoundRectCallout">
            <a:avLst>
              <a:gd name="adj1" fmla="val -60706"/>
              <a:gd name="adj2" fmla="val 3122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a cycle </a:t>
            </a:r>
            <a:r>
              <a:rPr lang="en-US" dirty="0">
                <a:sym typeface="Wingdings"/>
              </a:rPr>
              <a:t> 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S is </a:t>
            </a:r>
            <a:r>
              <a:rPr lang="en-US" b="1">
                <a:sym typeface="Wingdings"/>
              </a:rPr>
              <a:t>not</a:t>
            </a:r>
            <a:r>
              <a:rPr lang="en-US">
                <a:sym typeface="Wingdings"/>
              </a:rPr>
              <a:t> conflict-</a:t>
            </a:r>
            <a:r>
              <a:rPr lang="en-US" dirty="0" err="1">
                <a:sym typeface="Wingdings"/>
              </a:rPr>
              <a:t>serialisable</a:t>
            </a:r>
            <a:endParaRPr lang="en-US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52591C5F-82FF-4D29-AD9A-D711C6E90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816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766"/>
    </mc:Choice>
    <mc:Fallback xmlns="">
      <p:transition spd="slow" advTm="367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63651-45B2-4A62-A59D-909873B4E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12F60-D84D-4961-A74C-B84C5E9F3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schedule: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606A6-C4B7-42C5-8D1D-60D2AD208734}"/>
              </a:ext>
            </a:extLst>
          </p:cNvPr>
          <p:cNvSpPr txBox="1"/>
          <p:nvPr/>
        </p:nvSpPr>
        <p:spPr>
          <a:xfrm>
            <a:off x="2871422" y="2407326"/>
            <a:ext cx="65101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S:  r</a:t>
            </a:r>
            <a:r>
              <a:rPr lang="en-US" sz="2000" baseline="-25000" dirty="0"/>
              <a:t>1</a:t>
            </a:r>
            <a:r>
              <a:rPr lang="en-US" sz="2000" dirty="0"/>
              <a:t>(Y), r</a:t>
            </a:r>
            <a:r>
              <a:rPr lang="en-US" sz="2000" baseline="-25000" dirty="0"/>
              <a:t>3</a:t>
            </a:r>
            <a:r>
              <a:rPr lang="en-US" sz="2000" dirty="0"/>
              <a:t>(Y), r</a:t>
            </a:r>
            <a:r>
              <a:rPr lang="en-US" sz="2000" baseline="-25000" dirty="0"/>
              <a:t>1</a:t>
            </a:r>
            <a:r>
              <a:rPr lang="en-US" sz="2000" dirty="0"/>
              <a:t>(X), r</a:t>
            </a:r>
            <a:r>
              <a:rPr lang="en-US" sz="2000" baseline="-25000" dirty="0"/>
              <a:t>2</a:t>
            </a:r>
            <a:r>
              <a:rPr lang="en-US" sz="2000" dirty="0"/>
              <a:t>(X), w</a:t>
            </a:r>
            <a:r>
              <a:rPr lang="en-US" sz="2000" baseline="-25000" dirty="0"/>
              <a:t>2</a:t>
            </a:r>
            <a:r>
              <a:rPr lang="en-US" sz="2000" dirty="0"/>
              <a:t>(X), r</a:t>
            </a:r>
            <a:r>
              <a:rPr lang="en-US" sz="2000" baseline="-25000" dirty="0"/>
              <a:t>3</a:t>
            </a:r>
            <a:r>
              <a:rPr lang="en-US" sz="2000" dirty="0"/>
              <a:t>(Z), w</a:t>
            </a:r>
            <a:r>
              <a:rPr lang="en-US" sz="2000" baseline="-25000" dirty="0"/>
              <a:t>3</a:t>
            </a:r>
            <a:r>
              <a:rPr lang="en-US" sz="2000" dirty="0"/>
              <a:t>(Z), r</a:t>
            </a:r>
            <a:r>
              <a:rPr lang="en-US" sz="2000" baseline="-25000" dirty="0"/>
              <a:t>1</a:t>
            </a:r>
            <a:r>
              <a:rPr lang="en-US" sz="2000" dirty="0"/>
              <a:t>(Z), w</a:t>
            </a:r>
            <a:r>
              <a:rPr lang="en-US" sz="2000" baseline="-25000" dirty="0"/>
              <a:t>1</a:t>
            </a:r>
            <a:r>
              <a:rPr lang="en-US" sz="2000" dirty="0"/>
              <a:t>(Y), r</a:t>
            </a:r>
            <a:r>
              <a:rPr lang="en-US" sz="2000" baseline="-25000" dirty="0"/>
              <a:t>2</a:t>
            </a:r>
            <a:r>
              <a:rPr lang="en-US" sz="2000" dirty="0"/>
              <a:t>(Z)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D11210-0399-470F-9683-B14CE2753E37}"/>
              </a:ext>
            </a:extLst>
          </p:cNvPr>
          <p:cNvSpPr/>
          <p:nvPr/>
        </p:nvSpPr>
        <p:spPr>
          <a:xfrm>
            <a:off x="3287688" y="3968456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E81D6A-5CB4-4768-88A3-38DF09BF09B4}"/>
              </a:ext>
            </a:extLst>
          </p:cNvPr>
          <p:cNvSpPr/>
          <p:nvPr/>
        </p:nvSpPr>
        <p:spPr>
          <a:xfrm>
            <a:off x="4905435" y="3966027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545F0F-31D0-4924-88C0-16D5CD677A0D}"/>
              </a:ext>
            </a:extLst>
          </p:cNvPr>
          <p:cNvSpPr/>
          <p:nvPr/>
        </p:nvSpPr>
        <p:spPr>
          <a:xfrm>
            <a:off x="6523182" y="3966026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E7FEC3-1CD2-4C1B-A6C2-B8374A3C0FC5}"/>
              </a:ext>
            </a:extLst>
          </p:cNvPr>
          <p:cNvCxnSpPr/>
          <p:nvPr/>
        </p:nvCxnSpPr>
        <p:spPr>
          <a:xfrm flipV="1">
            <a:off x="3727233" y="4196860"/>
            <a:ext cx="1178203" cy="2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59CE7F-D52E-44C1-AC26-11061F9CB3C0}"/>
              </a:ext>
            </a:extLst>
          </p:cNvPr>
          <p:cNvCxnSpPr/>
          <p:nvPr/>
        </p:nvCxnSpPr>
        <p:spPr>
          <a:xfrm flipH="1">
            <a:off x="5344980" y="4196859"/>
            <a:ext cx="11782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9">
            <a:extLst>
              <a:ext uri="{FF2B5EF4-FFF2-40B4-BE49-F238E27FC236}">
                <a16:creationId xmlns:a16="http://schemas.microsoft.com/office/drawing/2014/main" id="{0C5D160E-201F-45F5-AEFF-71FFA928E7B8}"/>
              </a:ext>
            </a:extLst>
          </p:cNvPr>
          <p:cNvCxnSpPr>
            <a:endCxn id="11" idx="0"/>
          </p:cNvCxnSpPr>
          <p:nvPr/>
        </p:nvCxnSpPr>
        <p:spPr>
          <a:xfrm rot="16200000" flipH="1" flipV="1">
            <a:off x="5123992" y="2349493"/>
            <a:ext cx="2430" cy="3235494"/>
          </a:xfrm>
          <a:prstGeom prst="curvedConnector3">
            <a:avLst>
              <a:gd name="adj1" fmla="val -1933744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ular Callout 12">
            <a:extLst>
              <a:ext uri="{FF2B5EF4-FFF2-40B4-BE49-F238E27FC236}">
                <a16:creationId xmlns:a16="http://schemas.microsoft.com/office/drawing/2014/main" id="{D8EAF5CB-E878-494D-8607-0CDF64607BFD}"/>
              </a:ext>
            </a:extLst>
          </p:cNvPr>
          <p:cNvSpPr/>
          <p:nvPr/>
        </p:nvSpPr>
        <p:spPr>
          <a:xfrm>
            <a:off x="7463476" y="3429000"/>
            <a:ext cx="2514973" cy="727072"/>
          </a:xfrm>
          <a:prstGeom prst="wedgeRoundRectCallout">
            <a:avLst>
              <a:gd name="adj1" fmla="val -60706"/>
              <a:gd name="adj2" fmla="val 3122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no cycle </a:t>
            </a:r>
            <a:r>
              <a:rPr lang="en-US" dirty="0">
                <a:sym typeface="Wingdings"/>
              </a:rPr>
              <a:t> 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S is conflict-</a:t>
            </a:r>
            <a:r>
              <a:rPr lang="en-US" dirty="0" err="1">
                <a:sym typeface="Wingdings"/>
              </a:rPr>
              <a:t>serialisable</a:t>
            </a:r>
            <a:endParaRPr lang="en-US" dirty="0"/>
          </a:p>
        </p:txBody>
      </p:sp>
      <p:sp>
        <p:nvSpPr>
          <p:cNvPr id="19" name="Rounded Rectangular Callout 13">
            <a:extLst>
              <a:ext uri="{FF2B5EF4-FFF2-40B4-BE49-F238E27FC236}">
                <a16:creationId xmlns:a16="http://schemas.microsoft.com/office/drawing/2014/main" id="{93FD68FD-3F81-4DFD-8FAA-35A175C31CD9}"/>
              </a:ext>
            </a:extLst>
          </p:cNvPr>
          <p:cNvSpPr/>
          <p:nvPr/>
        </p:nvSpPr>
        <p:spPr>
          <a:xfrm>
            <a:off x="6962726" y="4427691"/>
            <a:ext cx="4098472" cy="727072"/>
          </a:xfrm>
          <a:prstGeom prst="wedgeRoundRectCallout">
            <a:avLst>
              <a:gd name="adj1" fmla="val -47934"/>
              <a:gd name="adj2" fmla="val -7000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Any topological ordering yields </a:t>
            </a:r>
            <a:br>
              <a:rPr lang="en-US" dirty="0"/>
            </a:br>
            <a:r>
              <a:rPr lang="en-US" dirty="0"/>
              <a:t>a conflict-equivalent serial schedule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43F73C98-7BF7-407E-8F9D-B7CE72896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628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829"/>
    </mc:Choice>
    <mc:Fallback xmlns="">
      <p:transition spd="slow" advTm="1208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4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63651-45B2-4A62-A59D-909873B4E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12F60-D84D-4961-A74C-B84C5E9F3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609495"/>
          </a:xfrm>
        </p:spPr>
        <p:txBody>
          <a:bodyPr>
            <a:normAutofit/>
          </a:bodyPr>
          <a:lstStyle/>
          <a:p>
            <a:r>
              <a:rPr lang="en-US" dirty="0"/>
              <a:t>Consider the following schedule: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US" dirty="0"/>
              <a:t>Find serial schedule: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Find a transaction with only outgoing edges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You put it next in your schedule, remove it and all outgoing edges from the graph and repeat</a:t>
            </a:r>
          </a:p>
          <a:p>
            <a:pPr marL="0" indent="0">
              <a:buNone/>
            </a:pPr>
            <a:r>
              <a:rPr lang="en-US" dirty="0"/>
              <a:t>Serial schedule: r</a:t>
            </a:r>
            <a:r>
              <a:rPr lang="en-US" baseline="-25000" dirty="0"/>
              <a:t>3</a:t>
            </a:r>
            <a:r>
              <a:rPr lang="en-US" dirty="0"/>
              <a:t>(Y), r</a:t>
            </a:r>
            <a:r>
              <a:rPr lang="en-US" baseline="-25000" dirty="0"/>
              <a:t>3</a:t>
            </a:r>
            <a:r>
              <a:rPr lang="en-US" dirty="0"/>
              <a:t>(Z), w</a:t>
            </a:r>
            <a:r>
              <a:rPr lang="en-US" baseline="-25000" dirty="0"/>
              <a:t>3</a:t>
            </a:r>
            <a:r>
              <a:rPr lang="en-US" dirty="0"/>
              <a:t>(Z)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606A6-C4B7-42C5-8D1D-60D2AD208734}"/>
              </a:ext>
            </a:extLst>
          </p:cNvPr>
          <p:cNvSpPr txBox="1"/>
          <p:nvPr/>
        </p:nvSpPr>
        <p:spPr>
          <a:xfrm>
            <a:off x="2871422" y="2407326"/>
            <a:ext cx="65101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S:  r</a:t>
            </a:r>
            <a:r>
              <a:rPr lang="en-US" sz="2000" baseline="-25000" dirty="0"/>
              <a:t>1</a:t>
            </a:r>
            <a:r>
              <a:rPr lang="en-US" sz="2000" dirty="0"/>
              <a:t>(Y), r</a:t>
            </a:r>
            <a:r>
              <a:rPr lang="en-US" sz="2000" baseline="-25000" dirty="0"/>
              <a:t>3</a:t>
            </a:r>
            <a:r>
              <a:rPr lang="en-US" sz="2000" dirty="0"/>
              <a:t>(Y), r</a:t>
            </a:r>
            <a:r>
              <a:rPr lang="en-US" sz="2000" baseline="-25000" dirty="0"/>
              <a:t>1</a:t>
            </a:r>
            <a:r>
              <a:rPr lang="en-US" sz="2000" dirty="0"/>
              <a:t>(X), r</a:t>
            </a:r>
            <a:r>
              <a:rPr lang="en-US" sz="2000" baseline="-25000" dirty="0"/>
              <a:t>2</a:t>
            </a:r>
            <a:r>
              <a:rPr lang="en-US" sz="2000" dirty="0"/>
              <a:t>(X), w</a:t>
            </a:r>
            <a:r>
              <a:rPr lang="en-US" sz="2000" baseline="-25000" dirty="0"/>
              <a:t>2</a:t>
            </a:r>
            <a:r>
              <a:rPr lang="en-US" sz="2000" dirty="0"/>
              <a:t>(X), r</a:t>
            </a:r>
            <a:r>
              <a:rPr lang="en-US" sz="2000" baseline="-25000" dirty="0"/>
              <a:t>3</a:t>
            </a:r>
            <a:r>
              <a:rPr lang="en-US" sz="2000" dirty="0"/>
              <a:t>(Z), w</a:t>
            </a:r>
            <a:r>
              <a:rPr lang="en-US" sz="2000" baseline="-25000" dirty="0"/>
              <a:t>3</a:t>
            </a:r>
            <a:r>
              <a:rPr lang="en-US" sz="2000" dirty="0"/>
              <a:t>(Z), r</a:t>
            </a:r>
            <a:r>
              <a:rPr lang="en-US" sz="2000" baseline="-25000" dirty="0"/>
              <a:t>1</a:t>
            </a:r>
            <a:r>
              <a:rPr lang="en-US" sz="2000" dirty="0"/>
              <a:t>(Z), w</a:t>
            </a:r>
            <a:r>
              <a:rPr lang="en-US" sz="2000" baseline="-25000" dirty="0"/>
              <a:t>1</a:t>
            </a:r>
            <a:r>
              <a:rPr lang="en-US" sz="2000" dirty="0"/>
              <a:t>(Y), r</a:t>
            </a:r>
            <a:r>
              <a:rPr lang="en-US" sz="2000" baseline="-25000" dirty="0"/>
              <a:t>2</a:t>
            </a:r>
            <a:r>
              <a:rPr lang="en-US" sz="2000" dirty="0"/>
              <a:t>(Z)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D11210-0399-470F-9683-B14CE2753E37}"/>
              </a:ext>
            </a:extLst>
          </p:cNvPr>
          <p:cNvSpPr/>
          <p:nvPr/>
        </p:nvSpPr>
        <p:spPr>
          <a:xfrm>
            <a:off x="3287688" y="3968456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E81D6A-5CB4-4768-88A3-38DF09BF09B4}"/>
              </a:ext>
            </a:extLst>
          </p:cNvPr>
          <p:cNvSpPr/>
          <p:nvPr/>
        </p:nvSpPr>
        <p:spPr>
          <a:xfrm>
            <a:off x="4905435" y="3966027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545F0F-31D0-4924-88C0-16D5CD677A0D}"/>
              </a:ext>
            </a:extLst>
          </p:cNvPr>
          <p:cNvSpPr/>
          <p:nvPr/>
        </p:nvSpPr>
        <p:spPr>
          <a:xfrm>
            <a:off x="6523182" y="3966026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E7FEC3-1CD2-4C1B-A6C2-B8374A3C0FC5}"/>
              </a:ext>
            </a:extLst>
          </p:cNvPr>
          <p:cNvCxnSpPr/>
          <p:nvPr/>
        </p:nvCxnSpPr>
        <p:spPr>
          <a:xfrm flipV="1">
            <a:off x="3727233" y="4196860"/>
            <a:ext cx="1178203" cy="2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59CE7F-D52E-44C1-AC26-11061F9CB3C0}"/>
              </a:ext>
            </a:extLst>
          </p:cNvPr>
          <p:cNvCxnSpPr/>
          <p:nvPr/>
        </p:nvCxnSpPr>
        <p:spPr>
          <a:xfrm flipH="1">
            <a:off x="5344980" y="4196859"/>
            <a:ext cx="11782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9">
            <a:extLst>
              <a:ext uri="{FF2B5EF4-FFF2-40B4-BE49-F238E27FC236}">
                <a16:creationId xmlns:a16="http://schemas.microsoft.com/office/drawing/2014/main" id="{0C5D160E-201F-45F5-AEFF-71FFA928E7B8}"/>
              </a:ext>
            </a:extLst>
          </p:cNvPr>
          <p:cNvCxnSpPr>
            <a:endCxn id="11" idx="0"/>
          </p:cNvCxnSpPr>
          <p:nvPr/>
        </p:nvCxnSpPr>
        <p:spPr>
          <a:xfrm rot="16200000" flipH="1" flipV="1">
            <a:off x="5123992" y="2349493"/>
            <a:ext cx="2430" cy="3235494"/>
          </a:xfrm>
          <a:prstGeom prst="curvedConnector3">
            <a:avLst>
              <a:gd name="adj1" fmla="val -1933744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ular Callout 12">
            <a:extLst>
              <a:ext uri="{FF2B5EF4-FFF2-40B4-BE49-F238E27FC236}">
                <a16:creationId xmlns:a16="http://schemas.microsoft.com/office/drawing/2014/main" id="{D8EAF5CB-E878-494D-8607-0CDF64607BFD}"/>
              </a:ext>
            </a:extLst>
          </p:cNvPr>
          <p:cNvSpPr/>
          <p:nvPr/>
        </p:nvSpPr>
        <p:spPr>
          <a:xfrm>
            <a:off x="7463476" y="3429000"/>
            <a:ext cx="2514973" cy="727072"/>
          </a:xfrm>
          <a:prstGeom prst="wedgeRoundRectCallout">
            <a:avLst>
              <a:gd name="adj1" fmla="val -60706"/>
              <a:gd name="adj2" fmla="val 3122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no cycle </a:t>
            </a:r>
            <a:r>
              <a:rPr lang="en-US" dirty="0">
                <a:sym typeface="Wingdings"/>
              </a:rPr>
              <a:t> 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S is conflict-</a:t>
            </a:r>
            <a:r>
              <a:rPr lang="en-US" dirty="0" err="1">
                <a:sym typeface="Wingdings"/>
              </a:rPr>
              <a:t>serialisable</a:t>
            </a:r>
            <a:endParaRPr lang="en-US" dirty="0"/>
          </a:p>
        </p:txBody>
      </p:sp>
      <p:sp>
        <p:nvSpPr>
          <p:cNvPr id="15" name="Rounded Rectangular Callout 13">
            <a:extLst>
              <a:ext uri="{FF2B5EF4-FFF2-40B4-BE49-F238E27FC236}">
                <a16:creationId xmlns:a16="http://schemas.microsoft.com/office/drawing/2014/main" id="{105FFF67-21A3-47F4-8B4D-67ADADA1832E}"/>
              </a:ext>
            </a:extLst>
          </p:cNvPr>
          <p:cNvSpPr/>
          <p:nvPr/>
        </p:nvSpPr>
        <p:spPr>
          <a:xfrm>
            <a:off x="6962726" y="4427691"/>
            <a:ext cx="4098472" cy="727072"/>
          </a:xfrm>
          <a:prstGeom prst="wedgeRoundRectCallout">
            <a:avLst>
              <a:gd name="adj1" fmla="val -47934"/>
              <a:gd name="adj2" fmla="val -7000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Any topological ordering yields </a:t>
            </a:r>
            <a:br>
              <a:rPr lang="en-US" dirty="0"/>
            </a:br>
            <a:r>
              <a:rPr lang="en-US" dirty="0"/>
              <a:t>a conflict-equivalent serial schedule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7FDA5653-F84A-4E8C-BBF6-CFD6E87A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398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459"/>
    </mc:Choice>
    <mc:Fallback xmlns="">
      <p:transition spd="slow" advTm="554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63651-45B2-4A62-A59D-909873B4E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12F60-D84D-4961-A74C-B84C5E9F3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609495"/>
          </a:xfrm>
        </p:spPr>
        <p:txBody>
          <a:bodyPr>
            <a:normAutofit/>
          </a:bodyPr>
          <a:lstStyle/>
          <a:p>
            <a:r>
              <a:rPr lang="en-US" dirty="0"/>
              <a:t>Consider the following schedule: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US" dirty="0"/>
              <a:t>Find serial schedule: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Find a transaction with only outgoing edges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You put it next in your schedule, remove it and all outgoing edges from the graph and repeat</a:t>
            </a:r>
          </a:p>
          <a:p>
            <a:pPr marL="0" indent="0">
              <a:buNone/>
            </a:pPr>
            <a:r>
              <a:rPr lang="en-US" dirty="0"/>
              <a:t>Serial schedule: r</a:t>
            </a:r>
            <a:r>
              <a:rPr lang="en-US" baseline="-25000" dirty="0"/>
              <a:t>3</a:t>
            </a:r>
            <a:r>
              <a:rPr lang="en-US" dirty="0"/>
              <a:t>(Y), r</a:t>
            </a:r>
            <a:r>
              <a:rPr lang="en-US" baseline="-25000" dirty="0"/>
              <a:t>3</a:t>
            </a:r>
            <a:r>
              <a:rPr lang="en-US" dirty="0"/>
              <a:t>(Z), w</a:t>
            </a:r>
            <a:r>
              <a:rPr lang="en-US" baseline="-25000" dirty="0"/>
              <a:t>3</a:t>
            </a:r>
            <a:r>
              <a:rPr lang="en-US" dirty="0"/>
              <a:t>(Z), r</a:t>
            </a:r>
            <a:r>
              <a:rPr lang="en-US" baseline="-25000" dirty="0"/>
              <a:t>1</a:t>
            </a:r>
            <a:r>
              <a:rPr lang="en-US" dirty="0"/>
              <a:t>(Y), r</a:t>
            </a:r>
            <a:r>
              <a:rPr lang="en-US" baseline="-25000" dirty="0"/>
              <a:t>1</a:t>
            </a:r>
            <a:r>
              <a:rPr lang="en-US" dirty="0"/>
              <a:t>(X), r</a:t>
            </a:r>
            <a:r>
              <a:rPr lang="en-US" baseline="-25000" dirty="0"/>
              <a:t>1</a:t>
            </a:r>
            <a:r>
              <a:rPr lang="en-US" dirty="0"/>
              <a:t>(Z), w</a:t>
            </a:r>
            <a:r>
              <a:rPr lang="en-US" baseline="-25000" dirty="0"/>
              <a:t>1</a:t>
            </a:r>
            <a:r>
              <a:rPr lang="en-US" dirty="0"/>
              <a:t>(Y) 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606A6-C4B7-42C5-8D1D-60D2AD208734}"/>
              </a:ext>
            </a:extLst>
          </p:cNvPr>
          <p:cNvSpPr txBox="1"/>
          <p:nvPr/>
        </p:nvSpPr>
        <p:spPr>
          <a:xfrm>
            <a:off x="2871422" y="2407326"/>
            <a:ext cx="65101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S:  r</a:t>
            </a:r>
            <a:r>
              <a:rPr lang="en-US" sz="2000" baseline="-25000" dirty="0"/>
              <a:t>1</a:t>
            </a:r>
            <a:r>
              <a:rPr lang="en-US" sz="2000" dirty="0"/>
              <a:t>(Y), r</a:t>
            </a:r>
            <a:r>
              <a:rPr lang="en-US" sz="2000" baseline="-25000" dirty="0"/>
              <a:t>3</a:t>
            </a:r>
            <a:r>
              <a:rPr lang="en-US" sz="2000" dirty="0"/>
              <a:t>(Y), r</a:t>
            </a:r>
            <a:r>
              <a:rPr lang="en-US" sz="2000" baseline="-25000" dirty="0"/>
              <a:t>1</a:t>
            </a:r>
            <a:r>
              <a:rPr lang="en-US" sz="2000" dirty="0"/>
              <a:t>(X), r</a:t>
            </a:r>
            <a:r>
              <a:rPr lang="en-US" sz="2000" baseline="-25000" dirty="0"/>
              <a:t>2</a:t>
            </a:r>
            <a:r>
              <a:rPr lang="en-US" sz="2000" dirty="0"/>
              <a:t>(X), w</a:t>
            </a:r>
            <a:r>
              <a:rPr lang="en-US" sz="2000" baseline="-25000" dirty="0"/>
              <a:t>2</a:t>
            </a:r>
            <a:r>
              <a:rPr lang="en-US" sz="2000" dirty="0"/>
              <a:t>(X), r</a:t>
            </a:r>
            <a:r>
              <a:rPr lang="en-US" sz="2000" baseline="-25000" dirty="0"/>
              <a:t>3</a:t>
            </a:r>
            <a:r>
              <a:rPr lang="en-US" sz="2000" dirty="0"/>
              <a:t>(Z), w</a:t>
            </a:r>
            <a:r>
              <a:rPr lang="en-US" sz="2000" baseline="-25000" dirty="0"/>
              <a:t>3</a:t>
            </a:r>
            <a:r>
              <a:rPr lang="en-US" sz="2000" dirty="0"/>
              <a:t>(Z), r</a:t>
            </a:r>
            <a:r>
              <a:rPr lang="en-US" sz="2000" baseline="-25000" dirty="0"/>
              <a:t>1</a:t>
            </a:r>
            <a:r>
              <a:rPr lang="en-US" sz="2000" dirty="0"/>
              <a:t>(Z), w</a:t>
            </a:r>
            <a:r>
              <a:rPr lang="en-US" sz="2000" baseline="-25000" dirty="0"/>
              <a:t>1</a:t>
            </a:r>
            <a:r>
              <a:rPr lang="en-US" sz="2000" dirty="0"/>
              <a:t>(Y), r</a:t>
            </a:r>
            <a:r>
              <a:rPr lang="en-US" sz="2000" baseline="-25000" dirty="0"/>
              <a:t>2</a:t>
            </a:r>
            <a:r>
              <a:rPr lang="en-US" sz="2000" dirty="0"/>
              <a:t>(Z)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D11210-0399-470F-9683-B14CE2753E37}"/>
              </a:ext>
            </a:extLst>
          </p:cNvPr>
          <p:cNvSpPr/>
          <p:nvPr/>
        </p:nvSpPr>
        <p:spPr>
          <a:xfrm>
            <a:off x="3287688" y="3968456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E81D6A-5CB4-4768-88A3-38DF09BF09B4}"/>
              </a:ext>
            </a:extLst>
          </p:cNvPr>
          <p:cNvSpPr/>
          <p:nvPr/>
        </p:nvSpPr>
        <p:spPr>
          <a:xfrm>
            <a:off x="4905435" y="3966027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E7FEC3-1CD2-4C1B-A6C2-B8374A3C0FC5}"/>
              </a:ext>
            </a:extLst>
          </p:cNvPr>
          <p:cNvCxnSpPr/>
          <p:nvPr/>
        </p:nvCxnSpPr>
        <p:spPr>
          <a:xfrm flipV="1">
            <a:off x="3727233" y="4196860"/>
            <a:ext cx="1178203" cy="2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8B5CCF27-5F02-4C46-87EA-1DB5A2C5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471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556"/>
    </mc:Choice>
    <mc:Fallback xmlns="">
      <p:transition spd="slow" advTm="235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63651-45B2-4A62-A59D-909873B4E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12F60-D84D-4961-A74C-B84C5E9F3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609495"/>
          </a:xfrm>
        </p:spPr>
        <p:txBody>
          <a:bodyPr>
            <a:normAutofit/>
          </a:bodyPr>
          <a:lstStyle/>
          <a:p>
            <a:r>
              <a:rPr lang="en-US" dirty="0"/>
              <a:t>Consider the following schedule: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US" dirty="0"/>
              <a:t>Find serial schedule: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Find a transaction with only outgoing edges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You put it next in your schedule, remove it and all outgoing edges from the graph and repeat</a:t>
            </a:r>
          </a:p>
          <a:p>
            <a:pPr marL="0" indent="0">
              <a:buNone/>
            </a:pPr>
            <a:r>
              <a:rPr lang="en-US" dirty="0"/>
              <a:t>Serial schedule: r</a:t>
            </a:r>
            <a:r>
              <a:rPr lang="en-US" baseline="-25000" dirty="0"/>
              <a:t>3</a:t>
            </a:r>
            <a:r>
              <a:rPr lang="en-US" dirty="0"/>
              <a:t>(Y), r</a:t>
            </a:r>
            <a:r>
              <a:rPr lang="en-US" baseline="-25000" dirty="0"/>
              <a:t>3</a:t>
            </a:r>
            <a:r>
              <a:rPr lang="en-US" dirty="0"/>
              <a:t>(Z), w</a:t>
            </a:r>
            <a:r>
              <a:rPr lang="en-US" baseline="-25000" dirty="0"/>
              <a:t>3</a:t>
            </a:r>
            <a:r>
              <a:rPr lang="en-US" dirty="0"/>
              <a:t>(Z), r</a:t>
            </a:r>
            <a:r>
              <a:rPr lang="en-US" baseline="-25000" dirty="0"/>
              <a:t>1</a:t>
            </a:r>
            <a:r>
              <a:rPr lang="en-US" dirty="0"/>
              <a:t>(Y), r</a:t>
            </a:r>
            <a:r>
              <a:rPr lang="en-US" baseline="-25000" dirty="0"/>
              <a:t>1</a:t>
            </a:r>
            <a:r>
              <a:rPr lang="en-US" dirty="0"/>
              <a:t>(X), r</a:t>
            </a:r>
            <a:r>
              <a:rPr lang="en-US" baseline="-25000" dirty="0"/>
              <a:t>1</a:t>
            </a:r>
            <a:r>
              <a:rPr lang="en-US" dirty="0"/>
              <a:t>(Z), w</a:t>
            </a:r>
            <a:r>
              <a:rPr lang="en-US" baseline="-25000" dirty="0"/>
              <a:t>1</a:t>
            </a:r>
            <a:r>
              <a:rPr lang="en-US" dirty="0"/>
              <a:t>(Y), r</a:t>
            </a:r>
            <a:r>
              <a:rPr lang="en-US" baseline="-25000" dirty="0"/>
              <a:t>2</a:t>
            </a:r>
            <a:r>
              <a:rPr lang="en-US" dirty="0"/>
              <a:t>(X), w</a:t>
            </a:r>
            <a:r>
              <a:rPr lang="en-US" baseline="-25000" dirty="0"/>
              <a:t>2</a:t>
            </a:r>
            <a:r>
              <a:rPr lang="en-US" dirty="0"/>
              <a:t>(X), r</a:t>
            </a:r>
            <a:r>
              <a:rPr lang="en-US" baseline="-25000" dirty="0"/>
              <a:t>2</a:t>
            </a:r>
            <a:r>
              <a:rPr lang="en-US" dirty="0"/>
              <a:t>(Z)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606A6-C4B7-42C5-8D1D-60D2AD208734}"/>
              </a:ext>
            </a:extLst>
          </p:cNvPr>
          <p:cNvSpPr txBox="1"/>
          <p:nvPr/>
        </p:nvSpPr>
        <p:spPr>
          <a:xfrm>
            <a:off x="2871422" y="2407326"/>
            <a:ext cx="65101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S:  r</a:t>
            </a:r>
            <a:r>
              <a:rPr lang="en-US" sz="2000" baseline="-25000" dirty="0"/>
              <a:t>1</a:t>
            </a:r>
            <a:r>
              <a:rPr lang="en-US" sz="2000" dirty="0"/>
              <a:t>(Y), r</a:t>
            </a:r>
            <a:r>
              <a:rPr lang="en-US" sz="2000" baseline="-25000" dirty="0"/>
              <a:t>3</a:t>
            </a:r>
            <a:r>
              <a:rPr lang="en-US" sz="2000" dirty="0"/>
              <a:t>(Y), r</a:t>
            </a:r>
            <a:r>
              <a:rPr lang="en-US" sz="2000" baseline="-25000" dirty="0"/>
              <a:t>1</a:t>
            </a:r>
            <a:r>
              <a:rPr lang="en-US" sz="2000" dirty="0"/>
              <a:t>(X), r</a:t>
            </a:r>
            <a:r>
              <a:rPr lang="en-US" sz="2000" baseline="-25000" dirty="0"/>
              <a:t>2</a:t>
            </a:r>
            <a:r>
              <a:rPr lang="en-US" sz="2000" dirty="0"/>
              <a:t>(X), w</a:t>
            </a:r>
            <a:r>
              <a:rPr lang="en-US" sz="2000" baseline="-25000" dirty="0"/>
              <a:t>2</a:t>
            </a:r>
            <a:r>
              <a:rPr lang="en-US" sz="2000" dirty="0"/>
              <a:t>(X), r</a:t>
            </a:r>
            <a:r>
              <a:rPr lang="en-US" sz="2000" baseline="-25000" dirty="0"/>
              <a:t>3</a:t>
            </a:r>
            <a:r>
              <a:rPr lang="en-US" sz="2000" dirty="0"/>
              <a:t>(Z), w</a:t>
            </a:r>
            <a:r>
              <a:rPr lang="en-US" sz="2000" baseline="-25000" dirty="0"/>
              <a:t>3</a:t>
            </a:r>
            <a:r>
              <a:rPr lang="en-US" sz="2000" dirty="0"/>
              <a:t>(Z), r</a:t>
            </a:r>
            <a:r>
              <a:rPr lang="en-US" sz="2000" baseline="-25000" dirty="0"/>
              <a:t>1</a:t>
            </a:r>
            <a:r>
              <a:rPr lang="en-US" sz="2000" dirty="0"/>
              <a:t>(Z), w</a:t>
            </a:r>
            <a:r>
              <a:rPr lang="en-US" sz="2000" baseline="-25000" dirty="0"/>
              <a:t>1</a:t>
            </a:r>
            <a:r>
              <a:rPr lang="en-US" sz="2000" dirty="0"/>
              <a:t>(Y), r</a:t>
            </a:r>
            <a:r>
              <a:rPr lang="en-US" sz="2000" baseline="-25000" dirty="0"/>
              <a:t>2</a:t>
            </a:r>
            <a:r>
              <a:rPr lang="en-US" sz="2000" dirty="0"/>
              <a:t>(Z)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E81D6A-5CB4-4768-88A3-38DF09BF09B4}"/>
              </a:ext>
            </a:extLst>
          </p:cNvPr>
          <p:cNvSpPr/>
          <p:nvPr/>
        </p:nvSpPr>
        <p:spPr>
          <a:xfrm>
            <a:off x="4905435" y="3966027"/>
            <a:ext cx="43954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T</a:t>
            </a:r>
            <a:r>
              <a:rPr lang="en-US" sz="2400" baseline="-25000" dirty="0"/>
              <a:t>2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F983E8D-3AA8-4B6F-8981-6F66C08B1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0405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953"/>
    </mc:Choice>
    <mc:Fallback xmlns="">
      <p:transition spd="slow" advTm="339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15F54-E5BA-46E8-A427-4D9B244E6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6749F-0B26-4E7A-8140-053C90B49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schedule is conflict-serializable if there is no cycle in the precedence graph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precedence graph is defined as follows:</a:t>
            </a:r>
          </a:p>
          <a:p>
            <a:r>
              <a:rPr lang="en-GB" dirty="0"/>
              <a:t>Have a state for each transaction</a:t>
            </a:r>
          </a:p>
          <a:p>
            <a:r>
              <a:rPr lang="en-GB" dirty="0"/>
              <a:t>There is an edge from transaction 1 to transaction 2 </a:t>
            </a:r>
            <a:r>
              <a:rPr lang="en-GB" dirty="0" err="1"/>
              <a:t>iff</a:t>
            </a:r>
            <a:r>
              <a:rPr lang="en-GB" dirty="0"/>
              <a:t> there is a conflict involving them with the operation from transaction 1 being the first occurring one in the schedule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69C8C6-49EB-48D5-A1CB-233659431DCF}"/>
              </a:ext>
            </a:extLst>
          </p:cNvPr>
          <p:cNvSpPr/>
          <p:nvPr/>
        </p:nvSpPr>
        <p:spPr>
          <a:xfrm>
            <a:off x="1795563" y="2228671"/>
            <a:ext cx="7632848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RECALL: A </a:t>
            </a:r>
            <a:r>
              <a:rPr lang="en-US" sz="2400" b="1" dirty="0"/>
              <a:t>conflict</a:t>
            </a:r>
            <a:r>
              <a:rPr lang="en-US" sz="2400" dirty="0"/>
              <a:t> in a schedule is a pair of operations from different transactions </a:t>
            </a:r>
            <a:r>
              <a:rPr lang="en-US" sz="2400" i="1" dirty="0"/>
              <a:t>that cannot be swapped </a:t>
            </a:r>
            <a:r>
              <a:rPr lang="en-US" sz="2400" dirty="0"/>
              <a:t>without changing the </a:t>
            </a:r>
            <a:r>
              <a:rPr lang="en-US" sz="2400" dirty="0" err="1"/>
              <a:t>behaviour</a:t>
            </a:r>
            <a:r>
              <a:rPr lang="en-US" sz="2400" dirty="0"/>
              <a:t> of at least one of the transactions</a:t>
            </a:r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06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636"/>
    </mc:Choice>
    <mc:Fallback xmlns="">
      <p:transition spd="slow" advTm="686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1|19.4|13|10|7.2|13.8|8.8|8.5|52.2|30.6|14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2.1|13.1|33.9|3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|5.1|5.5|40.2|9.8|2|3.1|10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10.3|1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2|18.2|47.3|2.5|12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3|3|15.6|12.7|26.6|2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2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7.9|5.9|26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3|1.8|8.3|18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|7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4|11.2|4.4|2.4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1302</TotalTime>
  <Words>1184</Words>
  <Application>Microsoft Office PowerPoint</Application>
  <PresentationFormat>Widescreen</PresentationFormat>
  <Paragraphs>166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Calibri</vt:lpstr>
      <vt:lpstr>Calibri Light</vt:lpstr>
      <vt:lpstr>Retrospect</vt:lpstr>
      <vt:lpstr>Recognizing a conflict-serializable schedule</vt:lpstr>
      <vt:lpstr>Overview of this video</vt:lpstr>
      <vt:lpstr>Example</vt:lpstr>
      <vt:lpstr>Precedence Graph</vt:lpstr>
      <vt:lpstr>Testing Conflict-Serializability</vt:lpstr>
      <vt:lpstr>Why does this work?</vt:lpstr>
      <vt:lpstr>Why does this work?</vt:lpstr>
      <vt:lpstr>Implication of a cycle</vt:lpstr>
      <vt:lpstr>Example 1</vt:lpstr>
      <vt:lpstr>Example 2</vt:lpstr>
      <vt:lpstr>Example 2</vt:lpstr>
      <vt:lpstr>Example 2</vt:lpstr>
      <vt:lpstr>Example 2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Recognizing a conflict-serializable schedule</dc:title>
  <dc:creator>Rasmus Ibsen-Jensen</dc:creator>
  <cp:lastModifiedBy>Rasmus Ibsen-Jensen</cp:lastModifiedBy>
  <cp:revision>7</cp:revision>
  <dcterms:created xsi:type="dcterms:W3CDTF">2020-10-25T21:42:38Z</dcterms:created>
  <dcterms:modified xsi:type="dcterms:W3CDTF">2020-10-27T23:50:48Z</dcterms:modified>
</cp:coreProperties>
</file>