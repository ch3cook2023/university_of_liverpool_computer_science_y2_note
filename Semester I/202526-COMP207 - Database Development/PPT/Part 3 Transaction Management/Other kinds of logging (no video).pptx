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309" r:id="rId4"/>
    <p:sldId id="310" r:id="rId5"/>
    <p:sldId id="311" r:id="rId6"/>
    <p:sldId id="360" r:id="rId7"/>
    <p:sldId id="357" r:id="rId8"/>
    <p:sldId id="314" r:id="rId9"/>
    <p:sldId id="291" r:id="rId10"/>
    <p:sldId id="358" r:id="rId11"/>
    <p:sldId id="341" r:id="rId12"/>
    <p:sldId id="356" r:id="rId13"/>
    <p:sldId id="343" r:id="rId14"/>
    <p:sldId id="344" r:id="rId15"/>
    <p:sldId id="345" r:id="rId16"/>
    <p:sldId id="35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8" d="100"/>
          <a:sy n="88" d="100"/>
        </p:scale>
        <p:origin x="1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D276F-DE2C-45DB-B70B-03DB99D6029F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11D80-9095-4D12-B6DB-8B9FFF9F6A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638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551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157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C716-ED76-44EE-A5E4-ED997CC180F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9E77-197D-44AD-B69F-D6A4559F359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490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C716-ED76-44EE-A5E4-ED997CC180F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9E77-197D-44AD-B69F-D6A4559F35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59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C716-ED76-44EE-A5E4-ED997CC180F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9E77-197D-44AD-B69F-D6A4559F359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181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C716-ED76-44EE-A5E4-ED997CC180F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9E77-197D-44AD-B69F-D6A4559F35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018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C716-ED76-44EE-A5E4-ED997CC180F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9E77-197D-44AD-B69F-D6A4559F35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194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C716-ED76-44EE-A5E4-ED997CC180F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9E77-197D-44AD-B69F-D6A4559F35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379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C716-ED76-44EE-A5E4-ED997CC180F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9E77-197D-44AD-B69F-D6A4559F35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7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4EC716-ED76-44EE-A5E4-ED997CC180F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799E77-197D-44AD-B69F-D6A4559F35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44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C716-ED76-44EE-A5E4-ED997CC180F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9E77-197D-44AD-B69F-D6A4559F35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859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C716-ED76-44EE-A5E4-ED997CC180F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9E77-197D-44AD-B69F-D6A4559F35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064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C716-ED76-44EE-A5E4-ED997CC180F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9E77-197D-44AD-B69F-D6A4559F35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5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4EC716-ED76-44EE-A5E4-ED997CC180F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B799E77-197D-44AD-B69F-D6A4559F3594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09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19D9-A824-4712-9FE9-2F6F87001B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kinds of logging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BBE87-ABFF-44F8-BFE2-F0BE653C8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66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40"/>
    </mc:Choice>
    <mc:Fallback xmlns="">
      <p:transition spd="slow" advTm="434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C962-E2FE-41FB-AB0B-EEE669D1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65D22-6A96-4F75-919C-EDDB61E71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video, we will look at other kinds of logging (redo and undo/redo) and how to get atomicity and durability from logging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923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62"/>
    </mc:Choice>
    <mc:Fallback xmlns="">
      <p:transition spd="slow" advTm="1306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Redo Logging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Logs activities with the goal of </a:t>
            </a:r>
            <a:r>
              <a:rPr lang="en-US" i="1" dirty="0"/>
              <a:t>restoring</a:t>
            </a:r>
            <a:r>
              <a:rPr lang="en-US" dirty="0"/>
              <a:t> committed transactions (ignores incomplete transactions).</a:t>
            </a:r>
          </a:p>
          <a:p>
            <a:r>
              <a:rPr lang="en-US" dirty="0"/>
              <a:t>Log records:</a:t>
            </a:r>
          </a:p>
          <a:p>
            <a:pPr lvl="1"/>
            <a:r>
              <a:rPr lang="en-US" dirty="0"/>
              <a:t>Same as before, but</a:t>
            </a:r>
            <a:r>
              <a:rPr lang="mr-IN" dirty="0"/>
              <a:t>…</a:t>
            </a:r>
            <a:endParaRPr lang="en-US" dirty="0"/>
          </a:p>
          <a:p>
            <a:pPr lvl="1"/>
            <a:r>
              <a:rPr lang="en-US" dirty="0"/>
              <a:t>New meaning of </a:t>
            </a:r>
            <a:r>
              <a:rPr lang="en-US" b="1" dirty="0">
                <a:solidFill>
                  <a:schemeClr val="accent2"/>
                </a:solidFill>
              </a:rPr>
              <a:t>&lt;T, X, v&gt;</a:t>
            </a:r>
            <a:r>
              <a:rPr lang="en-US" dirty="0"/>
              <a:t>: “Transaction T has updated </a:t>
            </a:r>
            <a:br>
              <a:rPr lang="en-US" dirty="0"/>
            </a:br>
            <a:r>
              <a:rPr lang="en-US" dirty="0"/>
              <a:t>the value of database item X &amp; the new value of X is v.”</a:t>
            </a:r>
          </a:p>
          <a:p>
            <a:pPr lvl="2"/>
            <a:r>
              <a:rPr lang="en-US" dirty="0"/>
              <a:t>Direct response to </a:t>
            </a:r>
            <a:r>
              <a:rPr lang="en-US" b="1" dirty="0"/>
              <a:t>write(X)</a:t>
            </a:r>
          </a:p>
          <a:p>
            <a:pPr lvl="2"/>
            <a:r>
              <a:rPr lang="en-US" dirty="0"/>
              <a:t>Haven’t changed X on disk yet!</a:t>
            </a:r>
          </a:p>
          <a:p>
            <a:r>
              <a:rPr lang="en-US" dirty="0"/>
              <a:t>Have to modify the logging procedure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7717470" y="5013176"/>
            <a:ext cx="14401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17470" y="5517232"/>
            <a:ext cx="14401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008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020"/>
    </mc:Choice>
    <mc:Fallback xmlns="">
      <p:transition spd="slow" advTm="690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04182" y="4099920"/>
            <a:ext cx="1728192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sz="2000"/>
              <a:t>…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8824140" y="4098776"/>
            <a:ext cx="1283166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sz="2000" dirty="0"/>
              <a:t>…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Redo Logging: Procedure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T first writes all log records for all updates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 writes &lt;COMMIT T&gt; to the log on disk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 writes all committed updates to disk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5218294" y="3642235"/>
            <a:ext cx="1728192" cy="8321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&lt;COMMIT T&gt; written </a:t>
            </a:r>
            <a:r>
              <a:rPr lang="en-US" sz="2000"/>
              <a:t>to disk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124663" y="3957968"/>
            <a:ext cx="4313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265952" y="3666728"/>
            <a:ext cx="2353120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outcom</a:t>
            </a:r>
            <a:r>
              <a:rPr lang="en-US" sz="2000" dirty="0"/>
              <a:t> (Y)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558670" y="3709134"/>
            <a:ext cx="1728192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&lt;T, Y, v&gt;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7680354" y="3212976"/>
            <a:ext cx="2353983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outcom</a:t>
            </a:r>
            <a:r>
              <a:rPr lang="en-US" sz="2000" dirty="0"/>
              <a:t>(X)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79576" y="3212976"/>
            <a:ext cx="1728192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&lt;T, X, v&gt;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532374" y="395796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A356993E-8A0D-414C-B8F6-93CD9209132B}"/>
              </a:ext>
            </a:extLst>
          </p:cNvPr>
          <p:cNvSpPr/>
          <p:nvPr/>
        </p:nvSpPr>
        <p:spPr>
          <a:xfrm>
            <a:off x="8166787" y="1884359"/>
            <a:ext cx="2597872" cy="1262794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Outputs last committed value from buffer to disk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37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351"/>
    </mc:Choice>
    <mc:Fallback xmlns="">
      <p:transition spd="slow" advTm="503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4" grpId="0" animBg="1"/>
      <p:bldP spid="3" grpId="0" build="p"/>
      <p:bldP spid="9" grpId="0" animBg="1"/>
      <p:bldP spid="28" grpId="0" animBg="1"/>
      <p:bldP spid="17" grpId="0" animBg="1"/>
      <p:bldP spid="26" grpId="0" animBg="1"/>
      <p:bldP spid="6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875458"/>
              </p:ext>
            </p:extLst>
          </p:nvPr>
        </p:nvGraphicFramePr>
        <p:xfrm>
          <a:off x="2053208" y="2001491"/>
          <a:ext cx="8147248" cy="415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018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24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Time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(buffer)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(disk)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read(X)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X := X*2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write(X)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read(Y)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5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Y := Y*2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6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write(Y)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7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8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flush_log</a:t>
                      </a:r>
                      <a:endParaRPr lang="en-US" sz="1800" b="1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9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outcom</a:t>
                      </a:r>
                      <a:r>
                        <a:rPr lang="en-US" sz="1800" b="1" dirty="0"/>
                        <a:t>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10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outcom</a:t>
                      </a:r>
                      <a:r>
                        <a:rPr lang="en-US" sz="1800" b="1" dirty="0"/>
                        <a:t>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Right Brace 8"/>
          <p:cNvSpPr/>
          <p:nvPr/>
        </p:nvSpPr>
        <p:spPr>
          <a:xfrm rot="16200000">
            <a:off x="4915954" y="1384858"/>
            <a:ext cx="199851" cy="864096"/>
          </a:xfrm>
          <a:prstGeom prst="rightBrace">
            <a:avLst>
              <a:gd name="adj1" fmla="val 8333"/>
              <a:gd name="adj2" fmla="val 488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684024" y="1353899"/>
            <a:ext cx="66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3695" y="1353899"/>
            <a:ext cx="76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Buffer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02955" y="1347648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Database</a:t>
            </a:r>
          </a:p>
        </p:txBody>
      </p:sp>
      <p:sp>
        <p:nvSpPr>
          <p:cNvPr id="86" name="Right Brace 85"/>
          <p:cNvSpPr/>
          <p:nvPr/>
        </p:nvSpPr>
        <p:spPr>
          <a:xfrm rot="16200000">
            <a:off x="5924067" y="1380901"/>
            <a:ext cx="199851" cy="864096"/>
          </a:xfrm>
          <a:prstGeom prst="rightBrace">
            <a:avLst>
              <a:gd name="adj1" fmla="val 8333"/>
              <a:gd name="adj2" fmla="val 488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ight Brace 86"/>
          <p:cNvSpPr/>
          <p:nvPr/>
        </p:nvSpPr>
        <p:spPr>
          <a:xfrm rot="16200000">
            <a:off x="6932180" y="1376944"/>
            <a:ext cx="199851" cy="864096"/>
          </a:xfrm>
          <a:prstGeom prst="rightBrace">
            <a:avLst>
              <a:gd name="adj1" fmla="val 8333"/>
              <a:gd name="adj2" fmla="val 488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600063" y="2314823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04121" y="2314823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83831" y="26822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591947" y="26822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00063" y="26822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92" name="Rectangle 91"/>
          <p:cNvSpPr/>
          <p:nvPr/>
        </p:nvSpPr>
        <p:spPr>
          <a:xfrm>
            <a:off x="7104121" y="26822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83831" y="30496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91947" y="30496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6600063" y="30496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>
            <a:off x="7104121" y="30496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83831" y="34170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91947" y="34170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00063" y="34170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04" name="Rectangle 103"/>
          <p:cNvSpPr/>
          <p:nvPr/>
        </p:nvSpPr>
        <p:spPr>
          <a:xfrm>
            <a:off x="7104121" y="34170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83831" y="37170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87889" y="37170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591947" y="37170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096005" y="37170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600063" y="37170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10" name="Rectangle 109"/>
          <p:cNvSpPr/>
          <p:nvPr/>
        </p:nvSpPr>
        <p:spPr>
          <a:xfrm>
            <a:off x="7104121" y="37170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83831" y="40709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087889" y="40709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91947" y="40709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096005" y="40709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00063" y="40709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28" name="Rectangle 127"/>
          <p:cNvSpPr/>
          <p:nvPr/>
        </p:nvSpPr>
        <p:spPr>
          <a:xfrm>
            <a:off x="7104121" y="40709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83831" y="44248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87889" y="44248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591947" y="44248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096005" y="44248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600063" y="44248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34" name="Rectangle 133"/>
          <p:cNvSpPr/>
          <p:nvPr/>
        </p:nvSpPr>
        <p:spPr>
          <a:xfrm>
            <a:off x="7104121" y="44248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583831" y="54452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87889" y="54452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91947" y="54452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096005" y="54452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00063" y="54452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104121" y="54452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83831" y="57959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087889" y="57959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591947" y="57959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096005" y="57959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600063" y="57959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104121" y="57959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536160" y="2312915"/>
            <a:ext cx="1213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T&gt;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547328" y="3417095"/>
            <a:ext cx="9866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&lt;T, X, 2&gt;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547328" y="4424844"/>
            <a:ext cx="10852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&lt;T, Y, 20&gt;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547326" y="4764981"/>
            <a:ext cx="14906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T&gt;</a:t>
            </a:r>
          </a:p>
        </p:txBody>
      </p:sp>
      <p:cxnSp>
        <p:nvCxnSpPr>
          <p:cNvPr id="177" name="Straight Arrow Connector 176"/>
          <p:cNvCxnSpPr/>
          <p:nvPr/>
        </p:nvCxnSpPr>
        <p:spPr>
          <a:xfrm flipH="1" flipV="1">
            <a:off x="5951983" y="2880432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8" name="Straight Arrow Connector 177"/>
          <p:cNvCxnSpPr/>
          <p:nvPr/>
        </p:nvCxnSpPr>
        <p:spPr>
          <a:xfrm flipH="1" flipV="1">
            <a:off x="4962417" y="2880431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9" name="Straight Arrow Connector 178"/>
          <p:cNvCxnSpPr/>
          <p:nvPr/>
        </p:nvCxnSpPr>
        <p:spPr>
          <a:xfrm flipV="1">
            <a:off x="4982939" y="3603853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/>
          <p:nvPr/>
        </p:nvCxnSpPr>
        <p:spPr>
          <a:xfrm flipH="1">
            <a:off x="6528052" y="3903791"/>
            <a:ext cx="5760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H="1">
            <a:off x="5519935" y="3906138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/>
          <p:nvPr/>
        </p:nvCxnSpPr>
        <p:spPr>
          <a:xfrm>
            <a:off x="5519935" y="4609510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cxnSpLocks/>
          </p:cNvCxnSpPr>
          <p:nvPr/>
        </p:nvCxnSpPr>
        <p:spPr>
          <a:xfrm flipH="1">
            <a:off x="6898105" y="3717032"/>
            <a:ext cx="1272282" cy="1849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>
            <a:cxnSpLocks/>
          </p:cNvCxnSpPr>
          <p:nvPr/>
        </p:nvCxnSpPr>
        <p:spPr>
          <a:xfrm flipH="1">
            <a:off x="7363326" y="4684295"/>
            <a:ext cx="914401" cy="1235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8170386" y="2682248"/>
            <a:ext cx="1731694" cy="2618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>
            <a:off x="8062374" y="3786428"/>
            <a:ext cx="1695690" cy="1514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8632577" y="4609510"/>
            <a:ext cx="1039627" cy="691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>
            <a:off x="9037984" y="4978842"/>
            <a:ext cx="504056" cy="322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6146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958"/>
    </mc:Choice>
    <mc:Fallback xmlns="">
      <p:transition spd="slow" advTm="949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/>
      <p:bldP spid="86" grpId="0" animBg="1"/>
      <p:bldP spid="87" grpId="0" animBg="1"/>
      <p:bldP spid="17" grpId="0"/>
      <p:bldP spid="18" grpId="0"/>
      <p:bldP spid="85" grpId="0"/>
      <p:bldP spid="89" grpId="0"/>
      <p:bldP spid="91" grpId="0"/>
      <p:bldP spid="92" grpId="0"/>
      <p:bldP spid="93" grpId="0"/>
      <p:bldP spid="95" grpId="0"/>
      <p:bldP spid="97" grpId="0"/>
      <p:bldP spid="98" grpId="0"/>
      <p:bldP spid="99" grpId="0"/>
      <p:bldP spid="101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65" grpId="0"/>
      <p:bldP spid="168" grpId="0"/>
      <p:bldP spid="171" grpId="0"/>
      <p:bldP spid="1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04182" y="4099920"/>
            <a:ext cx="1728192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sz="2000"/>
              <a:t>…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8824140" y="4098776"/>
            <a:ext cx="1283166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sz="2000" dirty="0"/>
              <a:t>…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Redo Logging: Procedure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T first writes all log records for all updates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 writes &lt;COMMIT T&gt; to the log on disk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 writes all committed updates to disk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5218294" y="3642235"/>
            <a:ext cx="1728192" cy="8321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&lt;COMMIT T&gt; written </a:t>
            </a:r>
            <a:r>
              <a:rPr lang="en-US" sz="2000"/>
              <a:t>to disk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124663" y="3957968"/>
            <a:ext cx="4313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265952" y="3666728"/>
            <a:ext cx="2353120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outcom</a:t>
            </a:r>
            <a:r>
              <a:rPr lang="en-US" sz="2000" dirty="0"/>
              <a:t> (Y)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558670" y="3709134"/>
            <a:ext cx="1728192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&lt;T, Y, v&gt;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7680354" y="3212976"/>
            <a:ext cx="2353983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outcom</a:t>
            </a:r>
            <a:r>
              <a:rPr lang="en-US" sz="2000" dirty="0"/>
              <a:t>(X)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79576" y="3212976"/>
            <a:ext cx="1728192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&lt;T, X, v&gt;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532374" y="395796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A356993E-8A0D-414C-B8F6-93CD9209132B}"/>
              </a:ext>
            </a:extLst>
          </p:cNvPr>
          <p:cNvSpPr/>
          <p:nvPr/>
        </p:nvSpPr>
        <p:spPr>
          <a:xfrm>
            <a:off x="8166787" y="1884359"/>
            <a:ext cx="2597872" cy="1262794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Outputs last committed value from buffer to disk</a:t>
            </a:r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5288C1-DA92-4932-9B39-8B2F91E8755B}"/>
              </a:ext>
            </a:extLst>
          </p:cNvPr>
          <p:cNvSpPr/>
          <p:nvPr/>
        </p:nvSpPr>
        <p:spPr>
          <a:xfrm>
            <a:off x="2157954" y="5229201"/>
            <a:ext cx="8052846" cy="116955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/>
              <a:t>Fundamental property of redo logs:</a:t>
            </a:r>
          </a:p>
          <a:p>
            <a:pPr marL="285750" indent="-285750">
              <a:spcBef>
                <a:spcPts val="600"/>
              </a:spcBef>
              <a:buFont typeface="Arial" charset="0"/>
              <a:buChar char="•"/>
            </a:pPr>
            <a:r>
              <a:rPr lang="en-US" sz="2000" dirty="0"/>
              <a:t>&lt;COMMIT T&gt; occurs in log </a:t>
            </a:r>
            <a:r>
              <a:rPr lang="en-US" sz="2000" dirty="0">
                <a:sym typeface="Wingdings"/>
              </a:rPr>
              <a:t> log contains complete information on T</a:t>
            </a:r>
            <a:endParaRPr lang="en-US" sz="2000" dirty="0"/>
          </a:p>
          <a:p>
            <a:pPr marL="285750" indent="-285750">
              <a:spcBef>
                <a:spcPts val="600"/>
              </a:spcBef>
              <a:buFont typeface="Arial" charset="0"/>
              <a:buChar char="•"/>
            </a:pPr>
            <a:r>
              <a:rPr lang="en-US" sz="2000" dirty="0"/>
              <a:t>&lt;COMMIT T&gt; doesn’t occur in log </a:t>
            </a:r>
            <a:r>
              <a:rPr lang="en-US" sz="2000" dirty="0">
                <a:sym typeface="Wingdings"/>
              </a:rPr>
              <a:t> T hasn’t written anything to disk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219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54"/>
    </mc:Choice>
    <mc:Fallback xmlns="">
      <p:transition spd="slow" advTm="451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3D10-27CA-43D9-8DE3-06B7EC151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Recovery With Redo Logs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47BE6-61B4-4612-8D73-A47BEC11A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Essentially: reverse of undo logging</a:t>
            </a:r>
          </a:p>
          <a:p>
            <a:r>
              <a:rPr lang="en-US" dirty="0"/>
              <a:t>Procedure:</a:t>
            </a:r>
          </a:p>
          <a:p>
            <a:pPr lvl="1"/>
            <a:r>
              <a:rPr lang="en-US" dirty="0"/>
              <a:t>Identify all the transactions with a </a:t>
            </a:r>
            <a:r>
              <a:rPr lang="en-US" b="1" dirty="0"/>
              <a:t>COMMIT</a:t>
            </a:r>
            <a:r>
              <a:rPr lang="en-US" dirty="0"/>
              <a:t> log record.</a:t>
            </a:r>
          </a:p>
          <a:p>
            <a:pPr lvl="1"/>
            <a:r>
              <a:rPr lang="en-US" dirty="0"/>
              <a:t>Traverse the log from first to the last item.</a:t>
            </a:r>
          </a:p>
          <a:p>
            <a:pPr lvl="1"/>
            <a:r>
              <a:rPr lang="en-US" dirty="0"/>
              <a:t>If we see </a:t>
            </a:r>
            <a:r>
              <a:rPr lang="en-US" b="1" dirty="0"/>
              <a:t>&lt;T, X, v&gt;</a:t>
            </a:r>
            <a:r>
              <a:rPr lang="en-US" dirty="0"/>
              <a:t> and T has a COMMIT log record, </a:t>
            </a:r>
            <a:br>
              <a:rPr lang="en-US" dirty="0"/>
            </a:br>
            <a:r>
              <a:rPr lang="en-US" dirty="0"/>
              <a:t>then change the value of X on disk to v.</a:t>
            </a:r>
          </a:p>
          <a:p>
            <a:pPr lvl="1"/>
            <a:r>
              <a:rPr lang="en-US" dirty="0"/>
              <a:t>For each </a:t>
            </a:r>
            <a:r>
              <a:rPr lang="en-US" i="1" dirty="0"/>
              <a:t>incomplete </a:t>
            </a:r>
            <a:r>
              <a:rPr lang="en-US" dirty="0"/>
              <a:t>transaction T, write </a:t>
            </a:r>
            <a:r>
              <a:rPr lang="en-US" b="1" dirty="0"/>
              <a:t>&lt;ABORT T&gt; </a:t>
            </a:r>
            <a:br>
              <a:rPr lang="en-US" b="1" dirty="0"/>
            </a:br>
            <a:r>
              <a:rPr lang="en-US" dirty="0"/>
              <a:t>into the log on disk.</a:t>
            </a:r>
          </a:p>
          <a:p>
            <a:endParaRPr lang="en-GB" dirty="0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78A86CB-9676-4253-BB2F-CB7BBF60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4522" y="6448252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647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26"/>
    </mc:Choice>
    <mc:Fallback xmlns="">
      <p:transition spd="slow" advTm="500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Redo Logging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81200" y="4941169"/>
            <a:ext cx="8229600" cy="1507083"/>
          </a:xfrm>
        </p:spPr>
        <p:txBody>
          <a:bodyPr/>
          <a:lstStyle/>
          <a:p>
            <a:r>
              <a:rPr lang="en-US" dirty="0"/>
              <a:t>How does redo logging work on this schedule?</a:t>
            </a:r>
          </a:p>
          <a:p>
            <a:pPr lvl="1"/>
            <a:r>
              <a:rPr lang="en-US" dirty="0"/>
              <a:t>Which </a:t>
            </a:r>
            <a:r>
              <a:rPr lang="en-US" b="1" dirty="0"/>
              <a:t>log entries </a:t>
            </a:r>
            <a:r>
              <a:rPr lang="en-US" dirty="0"/>
              <a:t>are written to buffer/disk &amp; when?</a:t>
            </a:r>
          </a:p>
          <a:p>
            <a:pPr lvl="1"/>
            <a:r>
              <a:rPr lang="en-US" dirty="0"/>
              <a:t>Which </a:t>
            </a:r>
            <a:r>
              <a:rPr lang="en-US" b="1" dirty="0"/>
              <a:t>other operations </a:t>
            </a:r>
            <a:r>
              <a:rPr lang="en-US" dirty="0"/>
              <a:t>must be executed &amp; when?</a:t>
            </a:r>
          </a:p>
          <a:p>
            <a:pPr lvl="1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204122"/>
              </p:ext>
            </p:extLst>
          </p:nvPr>
        </p:nvGraphicFramePr>
        <p:xfrm>
          <a:off x="3729844" y="1787664"/>
          <a:ext cx="4275112" cy="310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 T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 T</a:t>
                      </a:r>
                      <a:r>
                        <a:rPr lang="en-US" sz="1800" baseline="-25000" dirty="0"/>
                        <a:t>2</a:t>
                      </a: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 := X * 2</a:t>
                      </a:r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read(X)</a:t>
                      </a:r>
                      <a:endParaRPr lang="en-US" sz="1800" i="1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X := X *</a:t>
                      </a:r>
                      <a:r>
                        <a:rPr lang="en-GB" sz="1800" baseline="0" dirty="0"/>
                        <a:t> 3</a:t>
                      </a: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 := X + Y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885712" y="2653811"/>
            <a:ext cx="6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1</a:t>
            </a:r>
          </a:p>
          <a:p>
            <a:r>
              <a:rPr lang="en-US" dirty="0"/>
              <a:t>Y = 2</a:t>
            </a:r>
          </a:p>
        </p:txBody>
      </p:sp>
      <p:sp>
        <p:nvSpPr>
          <p:cNvPr id="2" name="Oval 1"/>
          <p:cNvSpPr/>
          <p:nvPr/>
        </p:nvSpPr>
        <p:spPr>
          <a:xfrm>
            <a:off x="8616280" y="2505496"/>
            <a:ext cx="1224136" cy="93610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4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48"/>
    </mc:Choice>
    <mc:Fallback xmlns="">
      <p:transition spd="slow" advTm="994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07752" y="130173"/>
          <a:ext cx="6984776" cy="651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296">
                <a:tc>
                  <a:txBody>
                    <a:bodyPr/>
                    <a:lstStyle/>
                    <a:p>
                      <a:r>
                        <a:rPr lang="en-US" sz="1800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 T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 T</a:t>
                      </a:r>
                      <a:r>
                        <a:rPr lang="en-US" sz="1800" baseline="-25000" dirty="0"/>
                        <a:t>2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(buffer)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(disk)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 := X</a:t>
                      </a:r>
                      <a:r>
                        <a:rPr lang="en-US" sz="1800" baseline="0" dirty="0"/>
                        <a:t> * 2</a:t>
                      </a:r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i="0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i="1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read(X)</a:t>
                      </a:r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i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i="1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X := X * 3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 := X + Y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912812" y="1737683"/>
            <a:ext cx="6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1</a:t>
            </a:r>
          </a:p>
          <a:p>
            <a:r>
              <a:rPr lang="en-US" dirty="0"/>
              <a:t>Y = 2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824192" y="764704"/>
            <a:ext cx="1152128" cy="3619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824192" y="1556793"/>
            <a:ext cx="1092272" cy="2778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680176" y="2060849"/>
            <a:ext cx="1236288" cy="2274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752184" y="3068961"/>
            <a:ext cx="1164280" cy="1287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7752184" y="3717033"/>
            <a:ext cx="1164280" cy="639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8124376" y="4057586"/>
            <a:ext cx="792088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8134649" y="5225438"/>
            <a:ext cx="738477" cy="332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756225" y="404664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56225" y="1340367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, X, 2&gt;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0783" y="1670782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56224" y="2882352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, X, 6&gt;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56223" y="3505158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, Y, 4&gt;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18529" y="3861048"/>
            <a:ext cx="1572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18529" y="5047143"/>
            <a:ext cx="1572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15681" y="4120254"/>
            <a:ext cx="1152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flush_log</a:t>
            </a:r>
            <a:endParaRPr lang="en-US" b="1" dirty="0"/>
          </a:p>
        </p:txBody>
      </p:sp>
      <p:sp>
        <p:nvSpPr>
          <p:cNvPr id="45" name="Rectangle 44"/>
          <p:cNvSpPr/>
          <p:nvPr/>
        </p:nvSpPr>
        <p:spPr>
          <a:xfrm>
            <a:off x="3227459" y="4427820"/>
            <a:ext cx="1272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outcom</a:t>
            </a:r>
            <a:r>
              <a:rPr lang="en-US" b="1" dirty="0"/>
              <a:t>(X)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27459" y="4722211"/>
            <a:ext cx="14374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outcom</a:t>
            </a:r>
            <a:r>
              <a:rPr lang="en-US" b="1" dirty="0"/>
              <a:t>(Y)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83829" y="5373216"/>
            <a:ext cx="1152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flush_log</a:t>
            </a:r>
            <a:endParaRPr lang="en-US" b="1" dirty="0"/>
          </a:p>
        </p:txBody>
      </p:sp>
      <p:sp>
        <p:nvSpPr>
          <p:cNvPr id="50" name="Rectangle 49"/>
          <p:cNvSpPr/>
          <p:nvPr/>
        </p:nvSpPr>
        <p:spPr>
          <a:xfrm>
            <a:off x="4992713" y="5641124"/>
            <a:ext cx="1303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outcom</a:t>
            </a:r>
            <a:r>
              <a:rPr lang="en-US" b="1" dirty="0"/>
              <a:t>(X)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1698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064"/>
    </mc:Choice>
    <mc:Fallback xmlns="">
      <p:transition spd="slow" advTm="1350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5" grpId="0"/>
      <p:bldP spid="46" grpId="0"/>
      <p:bldP spid="48" grpId="0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8588F-0515-4330-84C7-46AD2E1C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Undo/Redo Logging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F03BB-9087-4118-8C77-8ACB7DF41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properties of undo logging and redo logging</a:t>
            </a:r>
          </a:p>
          <a:p>
            <a:r>
              <a:rPr lang="en-US" dirty="0"/>
              <a:t>Log records:</a:t>
            </a:r>
          </a:p>
          <a:p>
            <a:pPr lvl="1"/>
            <a:r>
              <a:rPr lang="en-US" dirty="0"/>
              <a:t>Same as before, but replace </a:t>
            </a:r>
            <a:r>
              <a:rPr lang="en-US" b="1" dirty="0"/>
              <a:t>&lt;T, X, v&gt;</a:t>
            </a: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&lt;T, X, v, w&gt;</a:t>
            </a:r>
            <a:r>
              <a:rPr lang="en-US" dirty="0"/>
              <a:t>: “Transaction T has updated the value of database item X, and the </a:t>
            </a:r>
            <a:r>
              <a:rPr lang="en-US" b="1" dirty="0"/>
              <a:t>old</a:t>
            </a:r>
            <a:r>
              <a:rPr lang="en-US" dirty="0"/>
              <a:t>/</a:t>
            </a:r>
            <a:r>
              <a:rPr lang="en-US" b="1" dirty="0"/>
              <a:t>new </a:t>
            </a:r>
            <a:r>
              <a:rPr lang="en-US" dirty="0"/>
              <a:t>value of X is v/w.”</a:t>
            </a:r>
          </a:p>
          <a:p>
            <a:r>
              <a:rPr lang="en-US" dirty="0"/>
              <a:t>Procedure:</a:t>
            </a:r>
          </a:p>
          <a:p>
            <a:pPr lvl="1"/>
            <a:r>
              <a:rPr lang="en-US" dirty="0"/>
              <a:t>Write all log records for all updates to database items first</a:t>
            </a:r>
          </a:p>
          <a:p>
            <a:pPr lvl="1"/>
            <a:r>
              <a:rPr lang="en-US" dirty="0"/>
              <a:t>Then write updates to disk</a:t>
            </a:r>
          </a:p>
          <a:p>
            <a:pPr lvl="1"/>
            <a:r>
              <a:rPr lang="en-US" dirty="0"/>
              <a:t>&lt;COMMIT T&gt; can be written to disk before or after </a:t>
            </a:r>
            <a:br>
              <a:rPr lang="en-US" dirty="0"/>
            </a:br>
            <a:r>
              <a:rPr lang="en-US" dirty="0"/>
              <a:t>all changes have been written to disk</a:t>
            </a:r>
          </a:p>
          <a:p>
            <a:r>
              <a:rPr lang="en-US" dirty="0"/>
              <a:t>Recovery needs to process log in both directions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A7800-C23F-4A7E-B210-42585F8E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930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393"/>
    </mc:Choice>
    <mc:Fallback xmlns="">
      <p:transition spd="slow" advTm="1733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Undo/Redo Logging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81200" y="4941169"/>
            <a:ext cx="8229600" cy="1507083"/>
          </a:xfrm>
        </p:spPr>
        <p:txBody>
          <a:bodyPr/>
          <a:lstStyle/>
          <a:p>
            <a:r>
              <a:rPr lang="en-US" dirty="0"/>
              <a:t>How does undo/redo logging work on this schedule?</a:t>
            </a:r>
          </a:p>
          <a:p>
            <a:pPr lvl="1"/>
            <a:r>
              <a:rPr lang="en-US" dirty="0"/>
              <a:t>Which </a:t>
            </a:r>
            <a:r>
              <a:rPr lang="en-US" b="1" dirty="0"/>
              <a:t>log entries </a:t>
            </a:r>
            <a:r>
              <a:rPr lang="en-US" dirty="0"/>
              <a:t>are written to buffer/disk &amp; when?</a:t>
            </a:r>
          </a:p>
          <a:p>
            <a:pPr lvl="1"/>
            <a:r>
              <a:rPr lang="en-US" dirty="0"/>
              <a:t>Which </a:t>
            </a:r>
            <a:r>
              <a:rPr lang="en-US" b="1" dirty="0"/>
              <a:t>other operations </a:t>
            </a:r>
            <a:r>
              <a:rPr lang="en-US" dirty="0"/>
              <a:t>must be executed &amp; when?</a:t>
            </a:r>
          </a:p>
          <a:p>
            <a:pPr lvl="1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539938"/>
              </p:ext>
            </p:extLst>
          </p:nvPr>
        </p:nvGraphicFramePr>
        <p:xfrm>
          <a:off x="3958444" y="1793683"/>
          <a:ext cx="4275112" cy="310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 T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 T</a:t>
                      </a:r>
                      <a:r>
                        <a:rPr lang="en-US" sz="1800" baseline="-25000" dirty="0"/>
                        <a:t>2</a:t>
                      </a: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 := X * 2</a:t>
                      </a:r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read(X)</a:t>
                      </a:r>
                      <a:endParaRPr lang="en-US" sz="1800" i="1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X := X *</a:t>
                      </a:r>
                      <a:r>
                        <a:rPr lang="en-GB" sz="1800" baseline="0" dirty="0"/>
                        <a:t> 3</a:t>
                      </a: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 := X + Y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885712" y="2653811"/>
            <a:ext cx="6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1</a:t>
            </a:r>
          </a:p>
          <a:p>
            <a:r>
              <a:rPr lang="en-US" dirty="0"/>
              <a:t>Y = 2</a:t>
            </a:r>
          </a:p>
        </p:txBody>
      </p:sp>
      <p:sp>
        <p:nvSpPr>
          <p:cNvPr id="2" name="Oval 1"/>
          <p:cNvSpPr/>
          <p:nvPr/>
        </p:nvSpPr>
        <p:spPr>
          <a:xfrm>
            <a:off x="8616280" y="2505496"/>
            <a:ext cx="1224136" cy="93610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4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45"/>
    </mc:Choice>
    <mc:Fallback xmlns="">
      <p:transition spd="slow" advTm="1094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31504" y="116632"/>
          <a:ext cx="8784976" cy="646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1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1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17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17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60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60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Transaction</a:t>
                      </a:r>
                      <a:r>
                        <a:rPr lang="en-US" baseline="0" dirty="0"/>
                        <a:t> 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Transaction</a:t>
                      </a:r>
                      <a:r>
                        <a:rPr lang="en-US" baseline="0" dirty="0"/>
                        <a:t> 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L="72000" marR="0" marT="0" marB="0"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Local 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L="7200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Local 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L="7200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Buffer</a:t>
                      </a:r>
                    </a:p>
                  </a:txBody>
                  <a:tcPr marL="7200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Disk</a:t>
                      </a:r>
                    </a:p>
                  </a:txBody>
                  <a:tcPr marL="7200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Buffer log</a:t>
                      </a:r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 := X</a:t>
                      </a:r>
                      <a:r>
                        <a:rPr lang="en-US" sz="1800" baseline="0" dirty="0"/>
                        <a:t> * 2</a:t>
                      </a:r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read(X)</a:t>
                      </a:r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X := X * 3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 := X + Y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7200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80" name="TextBox 179"/>
          <p:cNvSpPr txBox="1"/>
          <p:nvPr/>
        </p:nvSpPr>
        <p:spPr>
          <a:xfrm>
            <a:off x="8686400" y="59223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681223" y="42775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8777539" y="5855801"/>
            <a:ext cx="310125" cy="208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950993" y="758716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7504" y="1700808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, X, 1, 2&gt;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27504" y="2026648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27504" y="3347700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, X, 2, 6&gt;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7504" y="4016084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, Y, 2, 4&gt;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91134" y="4334032"/>
            <a:ext cx="1572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6462" y="5609094"/>
            <a:ext cx="1572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306" y="10414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3260" y="10414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48688" y="4653136"/>
            <a:ext cx="1152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flush_log</a:t>
            </a:r>
            <a:endParaRPr lang="en-US" b="1" dirty="0"/>
          </a:p>
        </p:txBody>
      </p:sp>
      <p:sp>
        <p:nvSpPr>
          <p:cNvPr id="37" name="Rectangle 36"/>
          <p:cNvSpPr/>
          <p:nvPr/>
        </p:nvSpPr>
        <p:spPr>
          <a:xfrm>
            <a:off x="2360466" y="4960702"/>
            <a:ext cx="114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output(X)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60466" y="5255093"/>
            <a:ext cx="114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output(Y)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77461" y="5939424"/>
            <a:ext cx="1152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flush_log</a:t>
            </a:r>
            <a:endParaRPr lang="en-US" b="1" dirty="0"/>
          </a:p>
        </p:txBody>
      </p:sp>
      <p:sp>
        <p:nvSpPr>
          <p:cNvPr id="40" name="Rectangle 39"/>
          <p:cNvSpPr/>
          <p:nvPr/>
        </p:nvSpPr>
        <p:spPr>
          <a:xfrm>
            <a:off x="3886345" y="6207332"/>
            <a:ext cx="114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output(X)</a:t>
            </a:r>
          </a:p>
        </p:txBody>
      </p:sp>
      <p:cxnSp>
        <p:nvCxnSpPr>
          <p:cNvPr id="45" name="Straight Arrow Connector 44"/>
          <p:cNvCxnSpPr>
            <a:stCxn id="52" idx="1"/>
            <a:endCxn id="54" idx="3"/>
          </p:cNvCxnSpPr>
          <p:nvPr/>
        </p:nvCxnSpPr>
        <p:spPr>
          <a:xfrm flipH="1">
            <a:off x="5807969" y="1228110"/>
            <a:ext cx="1558711" cy="92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52" idx="3"/>
          </p:cNvCxnSpPr>
          <p:nvPr/>
        </p:nvCxnSpPr>
        <p:spPr>
          <a:xfrm flipH="1">
            <a:off x="7668366" y="1226152"/>
            <a:ext cx="580941" cy="1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366679" y="1043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6282" y="1052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2960" y="1392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66914" y="13922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80333" y="1394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19936" y="14034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2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533590" y="17033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8256673" y="1707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60627" y="1707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5807968" y="1916977"/>
            <a:ext cx="16561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393987" y="1694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47597" y="20474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8270680" y="20515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74634" y="20515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07994" y="20381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47597" y="23581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0680" y="23622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74634" y="23622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07994" y="23488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</a:p>
        </p:txBody>
      </p:sp>
      <p:cxnSp>
        <p:nvCxnSpPr>
          <p:cNvPr id="81" name="Straight Arrow Connector 80"/>
          <p:cNvCxnSpPr/>
          <p:nvPr/>
        </p:nvCxnSpPr>
        <p:spPr>
          <a:xfrm flipH="1">
            <a:off x="6744073" y="2533546"/>
            <a:ext cx="655217" cy="92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488918" y="23488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cxnSp>
        <p:nvCxnSpPr>
          <p:cNvPr id="84" name="Straight Arrow Connector 83"/>
          <p:cNvCxnSpPr/>
          <p:nvPr/>
        </p:nvCxnSpPr>
        <p:spPr>
          <a:xfrm flipH="1">
            <a:off x="6208916" y="2875408"/>
            <a:ext cx="1558711" cy="92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flipH="1">
            <a:off x="8069313" y="2873450"/>
            <a:ext cx="580941" cy="1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5547597" y="26955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7068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74634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07994" y="26862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88918" y="26862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16882" y="26898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69065" y="27064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47597" y="30062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70680" y="3010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74634" y="3010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07994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16882" y="30005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69065" y="30171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99310" y="2996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47597" y="33367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70680" y="33408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74634" y="33408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07994" y="3327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16882" y="33310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69065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99310" y="3327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cxnSp>
        <p:nvCxnSpPr>
          <p:cNvPr id="108" name="Straight Arrow Connector 107"/>
          <p:cNvCxnSpPr>
            <a:stCxn id="107" idx="3"/>
            <a:endCxn id="104" idx="1"/>
          </p:cNvCxnSpPr>
          <p:nvPr/>
        </p:nvCxnSpPr>
        <p:spPr>
          <a:xfrm>
            <a:off x="6800996" y="3512133"/>
            <a:ext cx="6069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547597" y="36543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70680" y="3658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74634" y="3658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07994" y="36450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16882" y="36486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969065" y="36652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99310" y="36450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547597" y="39848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70680" y="39889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74634" y="39889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407994" y="39755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816882" y="39791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969065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99310" y="39755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cxnSp>
        <p:nvCxnSpPr>
          <p:cNvPr id="125" name="Straight Arrow Connector 124"/>
          <p:cNvCxnSpPr>
            <a:stCxn id="123" idx="3"/>
            <a:endCxn id="122" idx="1"/>
          </p:cNvCxnSpPr>
          <p:nvPr/>
        </p:nvCxnSpPr>
        <p:spPr>
          <a:xfrm flipV="1">
            <a:off x="6270752" y="4163816"/>
            <a:ext cx="1546131" cy="166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flipH="1">
            <a:off x="8715254" y="968798"/>
            <a:ext cx="333074" cy="3898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8674635" y="1957279"/>
            <a:ext cx="399020" cy="2832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8796034" y="3483297"/>
            <a:ext cx="216291" cy="1256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8777538" y="4162216"/>
            <a:ext cx="221608" cy="679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8777784" y="4581129"/>
            <a:ext cx="173208" cy="219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8734703" y="2373451"/>
            <a:ext cx="352961" cy="2419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5546116" y="4272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69199" y="42769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06513" y="42635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15401" y="42671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  <a:endParaRPr lang="en-US" dirty="0"/>
          </a:p>
        </p:txBody>
      </p:sp>
      <p:sp>
        <p:nvSpPr>
          <p:cNvPr id="138" name="TextBox 137"/>
          <p:cNvSpPr txBox="1"/>
          <p:nvPr/>
        </p:nvSpPr>
        <p:spPr>
          <a:xfrm>
            <a:off x="5967584" y="42838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97829" y="42635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1862" y="46329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94945" y="46370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32259" y="4623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841147" y="46272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  <a:endParaRPr lang="en-US" dirty="0"/>
          </a:p>
        </p:txBody>
      </p:sp>
      <p:sp>
        <p:nvSpPr>
          <p:cNvPr id="144" name="TextBox 143"/>
          <p:cNvSpPr txBox="1"/>
          <p:nvPr/>
        </p:nvSpPr>
        <p:spPr>
          <a:xfrm>
            <a:off x="5993330" y="46438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523575" y="4623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666318" y="46261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80178" y="49504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303261" y="49545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6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7440575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849463" y="4944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  <a:endParaRPr lang="en-US" dirty="0"/>
          </a:p>
        </p:txBody>
      </p:sp>
      <p:sp>
        <p:nvSpPr>
          <p:cNvPr id="151" name="TextBox 150"/>
          <p:cNvSpPr txBox="1"/>
          <p:nvPr/>
        </p:nvSpPr>
        <p:spPr>
          <a:xfrm>
            <a:off x="6001646" y="49614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531891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674634" y="49437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154" name="Straight Arrow Connector 153"/>
          <p:cNvCxnSpPr>
            <a:endCxn id="148" idx="1"/>
          </p:cNvCxnSpPr>
          <p:nvPr/>
        </p:nvCxnSpPr>
        <p:spPr>
          <a:xfrm>
            <a:off x="7672441" y="5128716"/>
            <a:ext cx="630820" cy="10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5580178" y="52809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03261" y="52850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158" name="TextBox 157"/>
          <p:cNvSpPr txBox="1"/>
          <p:nvPr/>
        </p:nvSpPr>
        <p:spPr>
          <a:xfrm>
            <a:off x="7440575" y="52716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849463" y="52752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  <a:endParaRPr lang="en-US" dirty="0"/>
          </a:p>
        </p:txBody>
      </p:sp>
      <p:sp>
        <p:nvSpPr>
          <p:cNvPr id="160" name="TextBox 159"/>
          <p:cNvSpPr txBox="1"/>
          <p:nvPr/>
        </p:nvSpPr>
        <p:spPr>
          <a:xfrm>
            <a:off x="6001646" y="52919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531891" y="52716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674634" y="52742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cxnSp>
        <p:nvCxnSpPr>
          <p:cNvPr id="163" name="Straight Arrow Connector 162"/>
          <p:cNvCxnSpPr>
            <a:stCxn id="159" idx="3"/>
            <a:endCxn id="162" idx="1"/>
          </p:cNvCxnSpPr>
          <p:nvPr/>
        </p:nvCxnSpPr>
        <p:spPr>
          <a:xfrm flipV="1">
            <a:off x="8151150" y="5458909"/>
            <a:ext cx="523485" cy="10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5580178" y="5598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303261" y="56026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168" name="TextBox 167"/>
          <p:cNvSpPr txBox="1"/>
          <p:nvPr/>
        </p:nvSpPr>
        <p:spPr>
          <a:xfrm>
            <a:off x="7440575" y="5589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849463" y="55928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  <a:endParaRPr lang="en-US" dirty="0"/>
          </a:p>
        </p:txBody>
      </p:sp>
      <p:sp>
        <p:nvSpPr>
          <p:cNvPr id="170" name="TextBox 169"/>
          <p:cNvSpPr txBox="1"/>
          <p:nvPr/>
        </p:nvSpPr>
        <p:spPr>
          <a:xfrm>
            <a:off x="6001646" y="56094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531891" y="5589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674634" y="55917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591944" y="59290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315027" y="59331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176" name="TextBox 175"/>
          <p:cNvSpPr txBox="1"/>
          <p:nvPr/>
        </p:nvSpPr>
        <p:spPr>
          <a:xfrm>
            <a:off x="7452341" y="59197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861229" y="59233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  <a:endParaRPr lang="en-US" dirty="0"/>
          </a:p>
        </p:txBody>
      </p:sp>
      <p:sp>
        <p:nvSpPr>
          <p:cNvPr id="178" name="TextBox 177"/>
          <p:cNvSpPr txBox="1"/>
          <p:nvPr/>
        </p:nvSpPr>
        <p:spPr>
          <a:xfrm>
            <a:off x="601341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543657" y="59197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591944" y="6289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315027" y="62931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183" name="TextBox 182"/>
          <p:cNvSpPr txBox="1"/>
          <p:nvPr/>
        </p:nvSpPr>
        <p:spPr>
          <a:xfrm>
            <a:off x="7452341" y="6279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861229" y="62834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  <a:endParaRPr lang="en-US" dirty="0"/>
          </a:p>
        </p:txBody>
      </p:sp>
      <p:sp>
        <p:nvSpPr>
          <p:cNvPr id="185" name="TextBox 184"/>
          <p:cNvSpPr txBox="1"/>
          <p:nvPr/>
        </p:nvSpPr>
        <p:spPr>
          <a:xfrm>
            <a:off x="6013412" y="63000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543657" y="6279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686400" y="62823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88" name="Rounded Rectangular Callout 187"/>
          <p:cNvSpPr/>
          <p:nvPr/>
        </p:nvSpPr>
        <p:spPr>
          <a:xfrm>
            <a:off x="3313745" y="4314473"/>
            <a:ext cx="2232248" cy="1046658"/>
          </a:xfrm>
          <a:prstGeom prst="wedgeRoundRectCallout">
            <a:avLst>
              <a:gd name="adj1" fmla="val -70279"/>
              <a:gd name="adj2" fmla="val 3017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Why are DBMS using Undo/Redo?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6869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215"/>
    </mc:Choice>
    <mc:Fallback xmlns="">
      <p:transition spd="slow" advTm="2612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/>
      <p:bldP spid="133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52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3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4" grpId="0"/>
      <p:bldP spid="175" grpId="0"/>
      <p:bldP spid="176" grpId="0"/>
      <p:bldP spid="177" grpId="0"/>
      <p:bldP spid="178" grpId="0"/>
      <p:bldP spid="179" grpId="0"/>
      <p:bldP spid="181" grpId="0"/>
      <p:bldP spid="182" grpId="0"/>
      <p:bldP spid="183" grpId="0"/>
      <p:bldP spid="184" grpId="0"/>
      <p:bldP spid="185" grpId="0"/>
      <p:bldP spid="186" grpId="0"/>
      <p:bldP spid="187" grpId="0"/>
      <p:bldP spid="18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Undo without Redo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Undo essentially ensures Atomicity</a:t>
            </a:r>
          </a:p>
          <a:p>
            <a:r>
              <a:rPr lang="en-US" dirty="0"/>
              <a:t>Can ensure durability using Force</a:t>
            </a:r>
          </a:p>
          <a:p>
            <a:pPr lvl="1"/>
            <a:r>
              <a:rPr lang="en-US" b="1" dirty="0"/>
              <a:t>Force</a:t>
            </a:r>
            <a:r>
              <a:rPr lang="en-US" dirty="0"/>
              <a:t> the writing of updates to disk before commit</a:t>
            </a:r>
          </a:p>
          <a:p>
            <a:pPr lvl="1"/>
            <a:r>
              <a:rPr lang="en-US" dirty="0"/>
              <a:t>(</a:t>
            </a:r>
            <a:r>
              <a:rPr lang="en-US" b="1" dirty="0"/>
              <a:t>No Force </a:t>
            </a:r>
            <a:r>
              <a:rPr lang="en-US" dirty="0"/>
              <a:t>is not to require this)</a:t>
            </a:r>
          </a:p>
          <a:p>
            <a:pPr lvl="1"/>
            <a:r>
              <a:rPr lang="en-US" dirty="0"/>
              <a:t>Force is expensive in disk operations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939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497"/>
    </mc:Choice>
    <mc:Fallback xmlns="">
      <p:transition spd="slow" advTm="764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Redo without Undo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Redo essentially ensures Durability</a:t>
            </a:r>
          </a:p>
          <a:p>
            <a:r>
              <a:rPr lang="en-US" dirty="0"/>
              <a:t>Can ensure atomicity using No Steal</a:t>
            </a:r>
          </a:p>
          <a:p>
            <a:pPr lvl="1"/>
            <a:r>
              <a:rPr lang="en-US" b="1" dirty="0"/>
              <a:t>No Steal</a:t>
            </a:r>
            <a:r>
              <a:rPr lang="en-US" dirty="0"/>
              <a:t> means that uncommitted data may not overwrite committed data on disk</a:t>
            </a:r>
          </a:p>
          <a:p>
            <a:pPr lvl="1"/>
            <a:r>
              <a:rPr lang="en-US" dirty="0"/>
              <a:t>(</a:t>
            </a:r>
            <a:r>
              <a:rPr lang="en-US" b="1" dirty="0"/>
              <a:t>Steal </a:t>
            </a:r>
            <a:r>
              <a:rPr lang="en-US" dirty="0"/>
              <a:t>is not to require this)</a:t>
            </a:r>
          </a:p>
          <a:p>
            <a:pPr lvl="1"/>
            <a:r>
              <a:rPr lang="en-US" b="1" dirty="0"/>
              <a:t>No Steal</a:t>
            </a:r>
            <a:r>
              <a:rPr lang="en-US" dirty="0"/>
              <a:t> is expensive to ensure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250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69"/>
    </mc:Choice>
    <mc:Fallback xmlns="">
      <p:transition spd="slow" advTm="993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atomicity and 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Could ensure Atomicity and Durability without log using No Steal/Force</a:t>
            </a:r>
          </a:p>
          <a:p>
            <a:pPr lvl="1"/>
            <a:r>
              <a:rPr lang="en-US" dirty="0"/>
              <a:t>Very hard and expensive to ensure</a:t>
            </a:r>
          </a:p>
          <a:p>
            <a:pPr lvl="1"/>
            <a:r>
              <a:rPr lang="en-US" dirty="0"/>
              <a:t>(Must write every change to disk made by the transaction while performing the commit statement!)</a:t>
            </a:r>
          </a:p>
          <a:p>
            <a:r>
              <a:rPr lang="en-US" dirty="0"/>
              <a:t>In practice:</a:t>
            </a:r>
          </a:p>
          <a:p>
            <a:pPr lvl="1"/>
            <a:r>
              <a:rPr lang="en-US" dirty="0"/>
              <a:t>Want Steal/No Force (cheapest in time) → Use Undo/Redo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17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981"/>
    </mc:Choice>
    <mc:Fallback xmlns="">
      <p:transition spd="slow" advTm="779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D506-8B59-4FB7-A093-C95AB77E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E634-0957-45EF-9A98-631F5B776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covered Redo logging and Undo/Redo logging </a:t>
            </a:r>
          </a:p>
          <a:p>
            <a:pPr lvl="1"/>
            <a:r>
              <a:rPr lang="en-US" dirty="0"/>
              <a:t>i.e. basically the kind of logging you should do to be able to do </a:t>
            </a:r>
            <a:r>
              <a:rPr lang="en-US" dirty="0" err="1"/>
              <a:t>redos</a:t>
            </a:r>
            <a:r>
              <a:rPr lang="en-US" dirty="0"/>
              <a:t> or </a:t>
            </a:r>
            <a:r>
              <a:rPr lang="en-US" dirty="0" err="1"/>
              <a:t>undos</a:t>
            </a:r>
            <a:r>
              <a:rPr lang="en-US" dirty="0"/>
              <a:t> and </a:t>
            </a:r>
            <a:r>
              <a:rPr lang="en-US" dirty="0" err="1"/>
              <a:t>redos</a:t>
            </a:r>
            <a:endParaRPr lang="en-US" dirty="0"/>
          </a:p>
          <a:p>
            <a:r>
              <a:rPr lang="en-US" dirty="0"/>
              <a:t>Also covered why DBMS uses Undo/Redo logging (even if it is the more complex option)</a:t>
            </a:r>
          </a:p>
          <a:p>
            <a:pPr lvl="1"/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023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719"/>
    </mc:Choice>
    <mc:Fallback xmlns="">
      <p:transition spd="slow" advTm="327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26.8|1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9.5|8.8|12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16.2|3.1|21.9|22.1|2.2|5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11.3|13.1|2.4|26|9.5|3.2|1.2|4.7|24.7|5|1.9|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2|51.3|64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|6.3|4.3|5.2|2.8|1|4.4|2.4|2.5|3.7|4.2|9.5|4.9|1.7|6.2|2.2|6.8|4.9|2|2.3|1.4|7.3|1.9|3.4|3.7|0.4|7.3|19.4|1.9|7.5|0.7|0.9|4.1|9.9|2.8|2.6|6.2|1.2|4.5|8.6|4.5|6.3|0.6|5.4|0.9|2.6|1|12.8|10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9|15.6|12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2|12|5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3|4|26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7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</TotalTime>
  <Words>1386</Words>
  <Application>Microsoft Office PowerPoint</Application>
  <PresentationFormat>Widescreen</PresentationFormat>
  <Paragraphs>439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Retrospect</vt:lpstr>
      <vt:lpstr>Other kinds of logging</vt:lpstr>
      <vt:lpstr>Overview over this video</vt:lpstr>
      <vt:lpstr>Redo Logging</vt:lpstr>
      <vt:lpstr>Redo Logging: Procedure</vt:lpstr>
      <vt:lpstr>Example</vt:lpstr>
      <vt:lpstr>Redo Logging: Procedure</vt:lpstr>
      <vt:lpstr>Recovery With Redo Logs</vt:lpstr>
      <vt:lpstr>Example with Redo Logging</vt:lpstr>
      <vt:lpstr>PowerPoint Presentation</vt:lpstr>
      <vt:lpstr>Undo/Redo Logging</vt:lpstr>
      <vt:lpstr>Example with Undo/Redo Logging</vt:lpstr>
      <vt:lpstr>PowerPoint Presentation</vt:lpstr>
      <vt:lpstr>Undo without Redo</vt:lpstr>
      <vt:lpstr>Redo without Undo</vt:lpstr>
      <vt:lpstr>Ensuring atomicity and durability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Other kinds of logging</dc:title>
  <dc:creator>Rasmus Ibsen-Jensen</dc:creator>
  <cp:lastModifiedBy>Rasmus Ibsen-Jensen</cp:lastModifiedBy>
  <cp:revision>10</cp:revision>
  <dcterms:created xsi:type="dcterms:W3CDTF">2020-11-01T16:53:26Z</dcterms:created>
  <dcterms:modified xsi:type="dcterms:W3CDTF">2020-11-03T20:39:56Z</dcterms:modified>
</cp:coreProperties>
</file>