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354" r:id="rId3"/>
    <p:sldId id="353" r:id="rId4"/>
    <p:sldId id="396" r:id="rId5"/>
    <p:sldId id="311" r:id="rId6"/>
    <p:sldId id="392" r:id="rId7"/>
    <p:sldId id="277" r:id="rId8"/>
    <p:sldId id="395" r:id="rId9"/>
    <p:sldId id="299" r:id="rId10"/>
    <p:sldId id="397" r:id="rId11"/>
    <p:sldId id="398" r:id="rId12"/>
    <p:sldId id="404" r:id="rId13"/>
    <p:sldId id="402" r:id="rId14"/>
    <p:sldId id="40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D46AF-09B8-4B35-94E6-CCD244F8A53F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FB2C5-BB44-4E34-A36B-1101C65866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97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6D102-C7B5-4C39-881A-32E48D51DFBB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5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6D102-C7B5-4C39-881A-32E48D51DFB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207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50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78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56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813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83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03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69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797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902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51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985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30508F4-06D9-4A22-AF5D-8356DFDAF581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DC6BFC7-07C4-48A4-B15F-E0AAADD0C029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6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EC48-2DA0-416E-B3E7-8358AA3999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Schedules, a low-level view and notation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12E6E-2999-49DB-ADE9-E21C84665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28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70"/>
    </mc:Choice>
    <mc:Fallback xmlns="">
      <p:transition spd="slow" advTm="917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87AB-00C3-4F0C-ABD5-3827C052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F842-B16B-4A9E-872B-51714976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The video will introduce a simplified and lower level view of </a:t>
            </a:r>
            <a:r>
              <a:rPr lang="en-US" sz="3000"/>
              <a:t>transactions as </a:t>
            </a:r>
            <a:r>
              <a:rPr lang="en-US" sz="3000" dirty="0"/>
              <a:t>well as schedules and notations for all of these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91940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37"/>
    </mc:Choice>
    <mc:Fallback xmlns="">
      <p:transition spd="slow" advTm="2143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Translating SQL into Low-Level Operations</a:t>
            </a:r>
            <a:endParaRPr lang="en-GB" sz="16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022588" y="1628800"/>
            <a:ext cx="4040188" cy="639762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960924" y="2284822"/>
            <a:ext cx="4040188" cy="3951288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en-GB" b="1" dirty="0"/>
              <a:t>Two SQL Statements</a:t>
            </a:r>
          </a:p>
          <a:p>
            <a:pPr marL="0">
              <a:spcBef>
                <a:spcPts val="2472"/>
              </a:spcBef>
              <a:buNone/>
            </a:pPr>
            <a:r>
              <a:rPr lang="en-GB" sz="2000" b="1" dirty="0">
                <a:solidFill>
                  <a:srgbClr val="00B050"/>
                </a:solidFill>
                <a:latin typeface="Courier New" charset="0"/>
                <a:ea typeface="Courier New" charset="0"/>
                <a:cs typeface="Courier New" charset="0"/>
              </a:rPr>
              <a:t>SELECT</a:t>
            </a:r>
            <a:r>
              <a:rPr lang="en-GB" sz="2000" dirty="0">
                <a:latin typeface="Courier New" charset="0"/>
                <a:ea typeface="Courier New" charset="0"/>
                <a:cs typeface="Courier New" charset="0"/>
              </a:rPr>
              <a:t> salary</a:t>
            </a:r>
            <a:br>
              <a:rPr lang="en-GB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GB" sz="2000" dirty="0">
                <a:latin typeface="Courier New" charset="0"/>
                <a:ea typeface="Courier New" charset="0"/>
                <a:cs typeface="Courier New" charset="0"/>
              </a:rPr>
              <a:t>FROM Employees </a:t>
            </a:r>
            <a:br>
              <a:rPr lang="en-GB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GB" sz="2000" dirty="0">
                <a:latin typeface="Courier New" charset="0"/>
                <a:ea typeface="Courier New" charset="0"/>
                <a:cs typeface="Courier New" charset="0"/>
              </a:rPr>
              <a:t>WHERE </a:t>
            </a:r>
            <a:r>
              <a:rPr lang="en-GB" sz="2000" dirty="0" err="1">
                <a:latin typeface="Courier New" charset="0"/>
                <a:ea typeface="Courier New" charset="0"/>
                <a:cs typeface="Courier New" charset="0"/>
              </a:rPr>
              <a:t>e_id</a:t>
            </a:r>
            <a:r>
              <a:rPr lang="en-GB" sz="2000" dirty="0">
                <a:latin typeface="Courier New" charset="0"/>
                <a:ea typeface="Courier New" charset="0"/>
                <a:cs typeface="Courier New" charset="0"/>
              </a:rPr>
              <a:t> = 1234;</a:t>
            </a:r>
            <a:endParaRPr lang="en-GB" dirty="0"/>
          </a:p>
          <a:p>
            <a:pPr marL="0">
              <a:spcBef>
                <a:spcPts val="2472"/>
              </a:spcBef>
              <a:buNone/>
            </a:pPr>
            <a:r>
              <a:rPr lang="en-GB" sz="2000" b="1" dirty="0">
                <a:solidFill>
                  <a:srgbClr val="00B0F0"/>
                </a:solidFill>
                <a:latin typeface="Courier New" charset="0"/>
                <a:ea typeface="Courier New" charset="0"/>
                <a:cs typeface="Courier New" charset="0"/>
              </a:rPr>
              <a:t>UPDATE</a:t>
            </a:r>
            <a:r>
              <a:rPr lang="en-GB" sz="2000" dirty="0">
                <a:latin typeface="Courier New" charset="0"/>
                <a:ea typeface="Courier New" charset="0"/>
                <a:cs typeface="Courier New" charset="0"/>
              </a:rPr>
              <a:t> Employees</a:t>
            </a:r>
            <a:br>
              <a:rPr lang="en-GB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GB" sz="2000" b="1" dirty="0">
                <a:solidFill>
                  <a:srgbClr val="7030A0"/>
                </a:solidFill>
                <a:latin typeface="Courier New" charset="0"/>
                <a:ea typeface="Courier New" charset="0"/>
                <a:cs typeface="Courier New" charset="0"/>
              </a:rPr>
              <a:t>SET salary = salary*1.1</a:t>
            </a:r>
            <a:r>
              <a:rPr lang="en-GB" sz="2000" b="1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GB" sz="2000" dirty="0">
                <a:latin typeface="Courier New" charset="0"/>
                <a:ea typeface="Courier New" charset="0"/>
                <a:cs typeface="Courier New" charset="0"/>
              </a:rPr>
              <a:t>WHERE </a:t>
            </a:r>
            <a:r>
              <a:rPr lang="en-GB" dirty="0" err="1">
                <a:latin typeface="Courier New" charset="0"/>
                <a:ea typeface="Courier New" charset="0"/>
                <a:cs typeface="Courier New" charset="0"/>
              </a:rPr>
              <a:t>e_id</a:t>
            </a:r>
            <a:r>
              <a:rPr lang="en-GB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GB" sz="2000" dirty="0">
                <a:latin typeface="Courier New" charset="0"/>
                <a:ea typeface="Courier New" charset="0"/>
                <a:cs typeface="Courier New" charset="0"/>
              </a:rPr>
              <a:t>= 1234;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210414" y="2119127"/>
            <a:ext cx="4041775" cy="639762"/>
          </a:xfrm>
        </p:spPr>
        <p:txBody>
          <a:bodyPr>
            <a:normAutofit/>
          </a:bodyPr>
          <a:lstStyle/>
          <a:p>
            <a:r>
              <a:rPr lang="en-GB" dirty="0"/>
              <a:t>Three Transaction Operations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221429" y="2557188"/>
            <a:ext cx="5732032" cy="411217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rgbClr val="00B050"/>
                </a:solidFill>
              </a:rPr>
              <a:t>read</a:t>
            </a:r>
            <a:r>
              <a:rPr lang="en-GB" dirty="0"/>
              <a:t>(</a:t>
            </a:r>
            <a:r>
              <a:rPr lang="en-GB" dirty="0" err="1"/>
              <a:t>e_id</a:t>
            </a:r>
            <a:r>
              <a:rPr lang="en-GB" dirty="0"/>
              <a:t>=1234, salary);</a:t>
            </a:r>
          </a:p>
          <a:p>
            <a:pPr marL="457200" indent="-457200">
              <a:spcBef>
                <a:spcPts val="672"/>
              </a:spcBef>
              <a:buFont typeface="+mj-lt"/>
              <a:buAutoNum type="arabicPeriod"/>
            </a:pPr>
            <a:r>
              <a:rPr lang="en-GB" dirty="0">
                <a:solidFill>
                  <a:srgbClr val="7030A0"/>
                </a:solidFill>
              </a:rPr>
              <a:t>salary=</a:t>
            </a:r>
            <a:r>
              <a:rPr lang="en-GB" dirty="0"/>
              <a:t>salary*1.1;</a:t>
            </a:r>
          </a:p>
          <a:p>
            <a:pPr marL="457200" indent="-457200">
              <a:spcBef>
                <a:spcPts val="672"/>
              </a:spcBef>
              <a:buFont typeface="+mj-lt"/>
              <a:buAutoNum type="arabicPeriod"/>
            </a:pPr>
            <a:r>
              <a:rPr lang="en-GB" dirty="0">
                <a:solidFill>
                  <a:srgbClr val="00B0F0"/>
                </a:solidFill>
              </a:rPr>
              <a:t>write</a:t>
            </a:r>
            <a:r>
              <a:rPr lang="en-GB" dirty="0"/>
              <a:t>(</a:t>
            </a:r>
            <a:r>
              <a:rPr lang="en-GB" dirty="0" err="1"/>
              <a:t>e_id</a:t>
            </a:r>
            <a:r>
              <a:rPr lang="en-GB" dirty="0"/>
              <a:t>=1234, salary);</a:t>
            </a:r>
          </a:p>
          <a:p>
            <a:pPr marL="0" indent="0">
              <a:spcBef>
                <a:spcPts val="3072"/>
              </a:spcBef>
              <a:buNone/>
            </a:pPr>
            <a:r>
              <a:rPr lang="en-GB" b="1" dirty="0"/>
              <a:t>Notes:</a:t>
            </a:r>
          </a:p>
          <a:p>
            <a:pPr>
              <a:spcBef>
                <a:spcPts val="672"/>
              </a:spcBef>
            </a:pPr>
            <a:r>
              <a:rPr lang="en-GB" dirty="0"/>
              <a:t>Abstraction (at a low level) </a:t>
            </a:r>
          </a:p>
          <a:p>
            <a:pPr>
              <a:spcBef>
                <a:spcPts val="672"/>
              </a:spcBef>
            </a:pPr>
            <a:r>
              <a:rPr lang="en-GB" dirty="0"/>
              <a:t>Read data item ‘salary’ from tuple with primary key 1234</a:t>
            </a:r>
          </a:p>
          <a:p>
            <a:pPr>
              <a:spcBef>
                <a:spcPts val="672"/>
              </a:spcBef>
            </a:pPr>
            <a:r>
              <a:rPr lang="en-GB" b="1" dirty="0"/>
              <a:t>Two database operations: </a:t>
            </a:r>
            <a:r>
              <a:rPr lang="en-GB" dirty="0">
                <a:solidFill>
                  <a:srgbClr val="00B050"/>
                </a:solidFill>
              </a:rPr>
              <a:t>op1</a:t>
            </a:r>
            <a:r>
              <a:rPr lang="en-GB" dirty="0"/>
              <a:t> (</a:t>
            </a:r>
            <a:r>
              <a:rPr lang="en-GB" b="1" dirty="0">
                <a:solidFill>
                  <a:srgbClr val="00B050"/>
                </a:solidFill>
              </a:rPr>
              <a:t>read</a:t>
            </a:r>
            <a:r>
              <a:rPr lang="en-GB" dirty="0"/>
              <a:t>) and </a:t>
            </a:r>
            <a:r>
              <a:rPr lang="en-GB" dirty="0">
                <a:solidFill>
                  <a:srgbClr val="00B0F0"/>
                </a:solidFill>
              </a:rPr>
              <a:t>op3</a:t>
            </a:r>
            <a:r>
              <a:rPr lang="en-GB" dirty="0"/>
              <a:t> (</a:t>
            </a:r>
            <a:r>
              <a:rPr lang="en-GB" b="1" dirty="0">
                <a:solidFill>
                  <a:srgbClr val="00B0F0"/>
                </a:solidFill>
              </a:rPr>
              <a:t>write</a:t>
            </a:r>
            <a:r>
              <a:rPr lang="en-GB" dirty="0"/>
              <a:t>)</a:t>
            </a:r>
          </a:p>
          <a:p>
            <a:pPr>
              <a:spcBef>
                <a:spcPts val="672"/>
              </a:spcBef>
            </a:pPr>
            <a:r>
              <a:rPr lang="en-GB" b="1" dirty="0"/>
              <a:t>One non-database operation: </a:t>
            </a:r>
            <a:r>
              <a:rPr lang="en-GB" dirty="0">
                <a:solidFill>
                  <a:srgbClr val="7030A0"/>
                </a:solidFill>
              </a:rPr>
              <a:t>op2 </a:t>
            </a:r>
            <a:r>
              <a:rPr lang="en-GB" dirty="0"/>
              <a:t>(</a:t>
            </a:r>
            <a:r>
              <a:rPr lang="en-GB" dirty="0">
                <a:solidFill>
                  <a:srgbClr val="7030A0"/>
                </a:solidFill>
              </a:rPr>
              <a:t>the calculation</a:t>
            </a:r>
            <a:r>
              <a:rPr lang="en-GB" dirty="0"/>
              <a:t>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871864" y="2462944"/>
            <a:ext cx="1265524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987108" y="2039235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produces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570" y="1746787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Employees(</a:t>
            </a:r>
            <a:r>
              <a:rPr lang="en-GB" u="sng" dirty="0" err="1"/>
              <a:t>e_id</a:t>
            </a:r>
            <a:r>
              <a:rPr lang="en-GB" dirty="0"/>
              <a:t>, </a:t>
            </a:r>
            <a:r>
              <a:rPr lang="en-GB" dirty="0" err="1"/>
              <a:t>first_name</a:t>
            </a:r>
            <a:r>
              <a:rPr lang="en-GB" dirty="0"/>
              <a:t>, </a:t>
            </a:r>
            <a:r>
              <a:rPr lang="en-GB" dirty="0" err="1"/>
              <a:t>last_name</a:t>
            </a:r>
            <a:r>
              <a:rPr lang="en-GB" dirty="0"/>
              <a:t>, </a:t>
            </a:r>
            <a:r>
              <a:rPr lang="en-GB" dirty="0" err="1"/>
              <a:t>birth_day</a:t>
            </a:r>
            <a:r>
              <a:rPr lang="en-GB" dirty="0"/>
              <a:t>, salary)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481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546"/>
    </mc:Choice>
    <mc:Fallback xmlns="">
      <p:transition spd="slow" advTm="1165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build="p"/>
      <p:bldP spid="7" grpId="0" uiExpand="1" build="p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Simplifying Low-level Operations</a:t>
            </a:r>
            <a:endParaRPr lang="en-GB" sz="16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022588" y="1628800"/>
            <a:ext cx="4040188" cy="639762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979517" y="2132376"/>
            <a:ext cx="4041775" cy="639762"/>
          </a:xfrm>
        </p:spPr>
        <p:txBody>
          <a:bodyPr>
            <a:normAutofit/>
          </a:bodyPr>
          <a:lstStyle/>
          <a:p>
            <a:r>
              <a:rPr lang="en-GB" dirty="0"/>
              <a:t>Three Transaction Operations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990532" y="2570437"/>
            <a:ext cx="5732032" cy="411217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rgbClr val="00B050"/>
                </a:solidFill>
              </a:rPr>
              <a:t>read</a:t>
            </a:r>
            <a:r>
              <a:rPr lang="en-GB" dirty="0"/>
              <a:t>(</a:t>
            </a:r>
            <a:r>
              <a:rPr lang="en-GB" dirty="0" err="1"/>
              <a:t>e_id</a:t>
            </a:r>
            <a:r>
              <a:rPr lang="en-GB" dirty="0"/>
              <a:t>=1234, salary);</a:t>
            </a:r>
          </a:p>
          <a:p>
            <a:pPr marL="457200" indent="-457200">
              <a:spcBef>
                <a:spcPts val="672"/>
              </a:spcBef>
              <a:buFont typeface="+mj-lt"/>
              <a:buAutoNum type="arabicPeriod"/>
            </a:pPr>
            <a:r>
              <a:rPr lang="en-GB" dirty="0">
                <a:solidFill>
                  <a:srgbClr val="7030A0"/>
                </a:solidFill>
              </a:rPr>
              <a:t>salary=</a:t>
            </a:r>
            <a:r>
              <a:rPr lang="en-GB" dirty="0"/>
              <a:t>salary*1.1;</a:t>
            </a:r>
          </a:p>
          <a:p>
            <a:pPr marL="457200" indent="-457200">
              <a:spcBef>
                <a:spcPts val="672"/>
              </a:spcBef>
              <a:buFont typeface="+mj-lt"/>
              <a:buAutoNum type="arabicPeriod"/>
            </a:pPr>
            <a:r>
              <a:rPr lang="en-GB" dirty="0">
                <a:solidFill>
                  <a:srgbClr val="00B0F0"/>
                </a:solidFill>
              </a:rPr>
              <a:t>write</a:t>
            </a:r>
            <a:r>
              <a:rPr lang="en-GB" dirty="0"/>
              <a:t>(</a:t>
            </a:r>
            <a:r>
              <a:rPr lang="en-GB" dirty="0" err="1"/>
              <a:t>e_id</a:t>
            </a:r>
            <a:r>
              <a:rPr lang="en-GB" dirty="0"/>
              <a:t>=1234, salary);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871864" y="2462944"/>
            <a:ext cx="1265524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987108" y="2039235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produces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D1295152-0CAC-4ACD-A782-AAE98C04111B}"/>
              </a:ext>
            </a:extLst>
          </p:cNvPr>
          <p:cNvSpPr txBox="1">
            <a:spLocks/>
          </p:cNvSpPr>
          <p:nvPr/>
        </p:nvSpPr>
        <p:spPr>
          <a:xfrm>
            <a:off x="6459968" y="2570437"/>
            <a:ext cx="5732032" cy="411217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rgbClr val="00B050"/>
                </a:solidFill>
              </a:rPr>
              <a:t>read</a:t>
            </a:r>
            <a:r>
              <a:rPr lang="en-GB" dirty="0"/>
              <a:t>(X);</a:t>
            </a:r>
          </a:p>
          <a:p>
            <a:pPr marL="457200" indent="-457200">
              <a:spcBef>
                <a:spcPts val="672"/>
              </a:spcBef>
              <a:buFont typeface="+mj-lt"/>
              <a:buAutoNum type="arabicPeriod"/>
            </a:pPr>
            <a:r>
              <a:rPr lang="en-GB" dirty="0">
                <a:solidFill>
                  <a:srgbClr val="7030A0"/>
                </a:solidFill>
              </a:rPr>
              <a:t>X=</a:t>
            </a:r>
            <a:r>
              <a:rPr lang="en-GB" dirty="0"/>
              <a:t>X*1.1;</a:t>
            </a:r>
          </a:p>
          <a:p>
            <a:pPr marL="457200" indent="-457200">
              <a:spcBef>
                <a:spcPts val="672"/>
              </a:spcBef>
              <a:buFont typeface="+mj-lt"/>
              <a:buAutoNum type="arabicPeriod"/>
            </a:pPr>
            <a:r>
              <a:rPr lang="en-GB" dirty="0">
                <a:solidFill>
                  <a:srgbClr val="00B0F0"/>
                </a:solidFill>
              </a:rPr>
              <a:t>write</a:t>
            </a:r>
            <a:r>
              <a:rPr lang="en-GB" dirty="0"/>
              <a:t>(X);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DF43A05B-EF2E-4A93-8088-17825E7D9236}"/>
              </a:ext>
            </a:extLst>
          </p:cNvPr>
          <p:cNvSpPr txBox="1">
            <a:spLocks/>
          </p:cNvSpPr>
          <p:nvPr/>
        </p:nvSpPr>
        <p:spPr>
          <a:xfrm>
            <a:off x="6332856" y="2115875"/>
            <a:ext cx="5562364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Three SIMPLIFIED Transaction Operations</a:t>
            </a:r>
          </a:p>
        </p:txBody>
      </p:sp>
      <p:sp>
        <p:nvSpPr>
          <p:cNvPr id="15" name="Rounded Rectangular Callout 4">
            <a:extLst>
              <a:ext uri="{FF2B5EF4-FFF2-40B4-BE49-F238E27FC236}">
                <a16:creationId xmlns:a16="http://schemas.microsoft.com/office/drawing/2014/main" id="{DD5B109F-D30A-49F2-82D5-FF4536A18B3C}"/>
              </a:ext>
            </a:extLst>
          </p:cNvPr>
          <p:cNvSpPr/>
          <p:nvPr/>
        </p:nvSpPr>
        <p:spPr>
          <a:xfrm>
            <a:off x="6722564" y="4178769"/>
            <a:ext cx="4104093" cy="540353"/>
          </a:xfrm>
          <a:prstGeom prst="wedgeRoundRectCallout">
            <a:avLst>
              <a:gd name="adj1" fmla="val -28763"/>
              <a:gd name="adj2" fmla="val -15206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X is in this case </a:t>
            </a:r>
            <a:r>
              <a:rPr lang="en-GB" dirty="0" err="1"/>
              <a:t>e_id</a:t>
            </a:r>
            <a:r>
              <a:rPr lang="en-GB" dirty="0"/>
              <a:t> 1234’s salary, but it does not really matter and we omit 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599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036"/>
    </mc:Choice>
    <mc:Fallback xmlns="">
      <p:transition spd="slow" advTm="63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uiExpand="1" build="p"/>
      <p:bldP spid="2" grpId="0"/>
      <p:bldP spid="13" grpId="0" uiExpand="1" build="p"/>
      <p:bldP spid="14" grpId="0" build="p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GB" dirty="0"/>
            </a:br>
            <a:r>
              <a:rPr lang="en-GB" dirty="0"/>
              <a:t>Basic Operations of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read(X): </a:t>
            </a:r>
            <a:r>
              <a:rPr lang="en-GB" dirty="0"/>
              <a:t>Reads a database item X into a program variable (also named X, for simplicity)</a:t>
            </a:r>
          </a:p>
          <a:p>
            <a:pPr lvl="1"/>
            <a:r>
              <a:rPr lang="en-GB" dirty="0"/>
              <a:t>Find the address of the disk block (page) that contains item X</a:t>
            </a:r>
          </a:p>
          <a:p>
            <a:pPr lvl="1"/>
            <a:r>
              <a:rPr lang="en-GB" dirty="0"/>
              <a:t>Copy that disk block into a buffer in main memory</a:t>
            </a:r>
          </a:p>
          <a:p>
            <a:pPr lvl="2"/>
            <a:r>
              <a:rPr lang="en-GB" dirty="0"/>
              <a:t>if that disk block is not already in some main memory buffer</a:t>
            </a:r>
          </a:p>
          <a:p>
            <a:pPr lvl="1"/>
            <a:r>
              <a:rPr lang="en-GB" dirty="0"/>
              <a:t>Copy item X from the buffer to the program variable X</a:t>
            </a:r>
          </a:p>
          <a:p>
            <a:pPr lvl="1"/>
            <a:endParaRPr lang="en-GB" dirty="0"/>
          </a:p>
          <a:p>
            <a:r>
              <a:rPr lang="en-GB" b="1" dirty="0"/>
              <a:t>write(X): </a:t>
            </a:r>
            <a:r>
              <a:rPr lang="en-GB" dirty="0"/>
              <a:t>Writes the value of program variable</a:t>
            </a:r>
            <a:r>
              <a:rPr lang="en-GB" b="1" dirty="0"/>
              <a:t> </a:t>
            </a:r>
            <a:r>
              <a:rPr lang="en-GB" dirty="0"/>
              <a:t>X into the database item named X</a:t>
            </a:r>
          </a:p>
          <a:p>
            <a:pPr lvl="1"/>
            <a:r>
              <a:rPr lang="en-GB" dirty="0"/>
              <a:t>Find the address of the disk block (page) that contains item X.</a:t>
            </a:r>
          </a:p>
          <a:p>
            <a:pPr lvl="1"/>
            <a:r>
              <a:rPr lang="en-GB" dirty="0"/>
              <a:t>Copy that disk block into a buffer in main memory</a:t>
            </a:r>
          </a:p>
          <a:p>
            <a:pPr lvl="2"/>
            <a:r>
              <a:rPr lang="en-GB" dirty="0"/>
              <a:t>if that disk block is not already in some main memory buffer.</a:t>
            </a:r>
          </a:p>
          <a:p>
            <a:pPr lvl="2"/>
            <a:r>
              <a:rPr lang="en-GB" dirty="0"/>
              <a:t>Copy item X from the program variable X into its correct location in the buffer</a:t>
            </a:r>
          </a:p>
          <a:p>
            <a:pPr lvl="2"/>
            <a:r>
              <a:rPr lang="en-GB" dirty="0"/>
              <a:t>Store the updated block from the buffer back to disk either immediately or at some later point in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01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746"/>
    </mc:Choice>
    <mc:Fallback xmlns="">
      <p:transition spd="slow" advTm="15374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Transactions (in general)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logical unit of processing using access operations  </a:t>
            </a:r>
          </a:p>
          <a:p>
            <a:pPr lvl="1"/>
            <a:r>
              <a:rPr lang="en-GB" dirty="0"/>
              <a:t>Begin</a:t>
            </a:r>
          </a:p>
          <a:p>
            <a:pPr lvl="1"/>
            <a:r>
              <a:rPr lang="en-GB" dirty="0"/>
              <a:t>End </a:t>
            </a:r>
          </a:p>
          <a:p>
            <a:pPr lvl="1"/>
            <a:r>
              <a:rPr lang="en-GB" dirty="0"/>
              <a:t>read(retrieval – SELECT etc.)</a:t>
            </a:r>
          </a:p>
          <a:p>
            <a:pPr lvl="1"/>
            <a:r>
              <a:rPr lang="en-GB" dirty="0"/>
              <a:t>write(insert, update, or delete)</a:t>
            </a:r>
          </a:p>
          <a:p>
            <a:pPr lvl="1"/>
            <a:r>
              <a:rPr lang="en-GB" dirty="0"/>
              <a:t>+ other non-database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Rounded Rectangular Callout 4"/>
          <p:cNvSpPr/>
          <p:nvPr/>
        </p:nvSpPr>
        <p:spPr>
          <a:xfrm>
            <a:off x="6994848" y="1988840"/>
            <a:ext cx="3349624" cy="1152128"/>
          </a:xfrm>
          <a:prstGeom prst="wedgeRoundRectCallout">
            <a:avLst>
              <a:gd name="adj1" fmla="val -62379"/>
              <a:gd name="adj2" fmla="val -2275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Begin/end are </a:t>
            </a:r>
            <a:r>
              <a:rPr lang="en-GB" dirty="0" err="1"/>
              <a:t>are</a:t>
            </a:r>
            <a:r>
              <a:rPr lang="en-GB" dirty="0"/>
              <a:t> omitted </a:t>
            </a:r>
            <a:br>
              <a:rPr lang="en-GB" dirty="0"/>
            </a:br>
            <a:r>
              <a:rPr lang="en-GB" dirty="0"/>
              <a:t>when the beginning/end </a:t>
            </a:r>
            <a:br>
              <a:rPr lang="en-GB" dirty="0"/>
            </a:br>
            <a:r>
              <a:rPr lang="en-GB" dirty="0"/>
              <a:t>of a transaction are understood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83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875"/>
    </mc:Choice>
    <mc:Fallback xmlns="">
      <p:transition spd="slow" advTm="678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Schedules hold many transactions for execution</a:t>
            </a:r>
          </a:p>
          <a:p>
            <a:r>
              <a:rPr lang="en-GB" dirty="0"/>
              <a:t>The operations making up the transactions are then executed by the schedule in some order</a:t>
            </a:r>
          </a:p>
          <a:p>
            <a:pPr lvl="1"/>
            <a:r>
              <a:rPr lang="en-GB" dirty="0"/>
              <a:t>It </a:t>
            </a:r>
            <a:r>
              <a:rPr lang="en-GB" b="1" dirty="0"/>
              <a:t>must</a:t>
            </a:r>
            <a:r>
              <a:rPr lang="en-GB" dirty="0"/>
              <a:t> preserve that the operations in each transaction happens in the right order!</a:t>
            </a:r>
          </a:p>
          <a:p>
            <a:r>
              <a:rPr lang="en-GB" dirty="0"/>
              <a:t>Two types:</a:t>
            </a:r>
          </a:p>
          <a:p>
            <a:pPr lvl="1"/>
            <a:r>
              <a:rPr lang="en-GB" dirty="0"/>
              <a:t>Serial Schedules</a:t>
            </a:r>
          </a:p>
          <a:p>
            <a:pPr lvl="2"/>
            <a:r>
              <a:rPr lang="en-GB" dirty="0"/>
              <a:t>Executes the transactions one after another (i.e. first each operation of the first schedule, then each operation of the second and so on)</a:t>
            </a:r>
          </a:p>
          <a:p>
            <a:pPr lvl="1"/>
            <a:r>
              <a:rPr lang="en-GB" dirty="0"/>
              <a:t>Concurrent Schedules</a:t>
            </a:r>
          </a:p>
          <a:p>
            <a:pPr lvl="2"/>
            <a:r>
              <a:rPr lang="en-GB" dirty="0"/>
              <a:t>Can interleave operations from the transactions (while still preserving that the operations in each transaction happens in the right order) - formally speaking, a serial schedule is therefore also concurrent…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78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966"/>
    </mc:Choice>
    <mc:Fallback xmlns="">
      <p:transition spd="slow" advTm="9696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E6C7-4436-4080-BFD9-E9354DB7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Serial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88A24-A8D3-4917-89D8-AA952E0FB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Executes all operations in transaction</a:t>
            </a:r>
            <a:r>
              <a:rPr lang="en-GB" sz="2000" dirty="0">
                <a:solidFill>
                  <a:srgbClr val="00B050"/>
                </a:solidFill>
              </a:rPr>
              <a:t> T1</a:t>
            </a:r>
            <a:r>
              <a:rPr lang="en-GB" sz="2000" dirty="0"/>
              <a:t>, </a:t>
            </a:r>
            <a:br>
              <a:rPr lang="en-GB" sz="2000" dirty="0"/>
            </a:br>
            <a:r>
              <a:rPr lang="en-GB" sz="2000" dirty="0"/>
              <a:t>then all operations in transaction</a:t>
            </a:r>
            <a:r>
              <a:rPr lang="en-GB" sz="2000" dirty="0">
                <a:solidFill>
                  <a:srgbClr val="0070C0"/>
                </a:solidFill>
              </a:rPr>
              <a:t> T2</a:t>
            </a:r>
            <a:r>
              <a:rPr lang="en-GB" sz="2000" dirty="0"/>
              <a:t>.  </a:t>
            </a:r>
          </a:p>
          <a:p>
            <a:r>
              <a:rPr lang="en-GB" sz="2000" dirty="0"/>
              <a:t>For simplicity we will typically ignore </a:t>
            </a:r>
            <a:br>
              <a:rPr lang="en-GB" sz="2000" dirty="0"/>
            </a:br>
            <a:r>
              <a:rPr lang="en-GB" sz="2000" dirty="0"/>
              <a:t>the non-database operations…</a:t>
            </a:r>
          </a:p>
          <a:p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15780B-58F7-49EA-8AEF-F9AAD1FFCB38}"/>
              </a:ext>
            </a:extLst>
          </p:cNvPr>
          <p:cNvSpPr txBox="1">
            <a:spLocks/>
          </p:cNvSpPr>
          <p:nvPr/>
        </p:nvSpPr>
        <p:spPr>
          <a:xfrm>
            <a:off x="7148362" y="286603"/>
            <a:ext cx="4114800" cy="5849502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B050"/>
                </a:solidFill>
              </a:rPr>
              <a:t>Begin (T1)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B050"/>
                </a:solidFill>
              </a:rPr>
              <a:t>	read(X);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B050"/>
                </a:solidFill>
              </a:rPr>
              <a:t>	X := X + 100;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B050"/>
                </a:solidFill>
              </a:rPr>
              <a:t>	write(X);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B050"/>
                </a:solidFill>
              </a:rPr>
              <a:t>	read(Y);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B050"/>
                </a:solidFill>
              </a:rPr>
              <a:t>	Y := Y + 50;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B050"/>
                </a:solidFill>
              </a:rPr>
              <a:t>	write(Y);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B050"/>
                </a:solidFill>
              </a:rPr>
              <a:t>	commit;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B050"/>
                </a:solidFill>
              </a:rPr>
              <a:t>End (T1)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70C0"/>
                </a:solidFill>
              </a:rPr>
              <a:t>Begin (T2)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70C0"/>
                </a:solidFill>
              </a:rPr>
              <a:t>	read(X);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70C0"/>
                </a:solidFill>
              </a:rPr>
              <a:t>	read(Y);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70C0"/>
                </a:solidFill>
              </a:rPr>
              <a:t>	X := X + Y;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70C0"/>
                </a:solidFill>
              </a:rPr>
              <a:t>	write(X);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70C0"/>
                </a:solidFill>
              </a:rPr>
              <a:t>	commit;</a:t>
            </a:r>
          </a:p>
          <a:p>
            <a:pPr>
              <a:spcBef>
                <a:spcPts val="500"/>
              </a:spcBef>
              <a:buFont typeface="Calibri" panose="020F0502020204030204" pitchFamily="34" charset="0"/>
              <a:buNone/>
            </a:pPr>
            <a:r>
              <a:rPr lang="en-GB" dirty="0">
                <a:solidFill>
                  <a:srgbClr val="0070C0"/>
                </a:solidFill>
              </a:rPr>
              <a:t>End (T2)</a:t>
            </a:r>
          </a:p>
        </p:txBody>
      </p:sp>
    </p:spTree>
    <p:extLst>
      <p:ext uri="{BB962C8B-B14F-4D97-AF65-F5344CB8AC3E}">
        <p14:creationId xmlns:p14="http://schemas.microsoft.com/office/powerpoint/2010/main" val="274037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16"/>
    </mc:Choice>
    <mc:Fallback xmlns="">
      <p:transition spd="slow" advTm="6401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Shorthand Notation for Schedules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349531" y="1759740"/>
            <a:ext cx="6220202" cy="5107483"/>
          </a:xfrm>
        </p:spPr>
        <p:txBody>
          <a:bodyPr>
            <a:normAutofit/>
          </a:bodyPr>
          <a:lstStyle/>
          <a:p>
            <a:r>
              <a:rPr lang="en-GB" sz="2400" dirty="0"/>
              <a:t>Shorthand notation for this schedule: 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sz="2400" dirty="0"/>
              <a:t>Symbols:</a:t>
            </a:r>
          </a:p>
          <a:p>
            <a:pPr lvl="1"/>
            <a:r>
              <a:rPr lang="en-GB" sz="2000" b="1" dirty="0"/>
              <a:t>S</a:t>
            </a:r>
            <a:r>
              <a:rPr lang="en-GB" sz="2000" b="1" i="1" baseline="-25000" dirty="0"/>
              <a:t>id</a:t>
            </a:r>
            <a:r>
              <a:rPr lang="en-GB" sz="2000" dirty="0"/>
              <a:t> = schedule (</a:t>
            </a:r>
            <a:r>
              <a:rPr lang="en-GB" sz="2000" i="1" dirty="0"/>
              <a:t>id</a:t>
            </a:r>
            <a:r>
              <a:rPr lang="en-GB" sz="2000" dirty="0"/>
              <a:t> is the schedule ID)</a:t>
            </a:r>
          </a:p>
          <a:p>
            <a:pPr lvl="1"/>
            <a:r>
              <a:rPr lang="en-GB" sz="2000" b="1" dirty="0" err="1"/>
              <a:t>r</a:t>
            </a:r>
            <a:r>
              <a:rPr lang="en-GB" sz="2000" b="1" i="1" baseline="-25000" dirty="0" err="1"/>
              <a:t>i</a:t>
            </a:r>
            <a:r>
              <a:rPr lang="en-GB" sz="2000" b="1" dirty="0"/>
              <a:t>(X)</a:t>
            </a:r>
            <a:r>
              <a:rPr lang="en-GB" sz="2000" dirty="0"/>
              <a:t> = read(X) in transaction </a:t>
            </a:r>
            <a:r>
              <a:rPr lang="en-GB" sz="2000" i="1" dirty="0" err="1"/>
              <a:t>i</a:t>
            </a:r>
            <a:endParaRPr lang="en-GB" sz="2000" i="1" dirty="0"/>
          </a:p>
          <a:p>
            <a:pPr lvl="1"/>
            <a:r>
              <a:rPr lang="en-GB" sz="2000" b="1" dirty="0" err="1"/>
              <a:t>w</a:t>
            </a:r>
            <a:r>
              <a:rPr lang="en-GB" sz="2000" b="1" i="1" baseline="-25000" dirty="0" err="1"/>
              <a:t>i</a:t>
            </a:r>
            <a:r>
              <a:rPr lang="en-GB" sz="2000" b="1" dirty="0"/>
              <a:t>(X)</a:t>
            </a:r>
            <a:r>
              <a:rPr lang="en-GB" sz="2000" dirty="0"/>
              <a:t> = write(X) in transaction </a:t>
            </a:r>
            <a:r>
              <a:rPr lang="en-GB" sz="2000" i="1" dirty="0" err="1"/>
              <a:t>i</a:t>
            </a:r>
            <a:endParaRPr lang="en-GB" sz="2000" dirty="0"/>
          </a:p>
          <a:p>
            <a:pPr lvl="1"/>
            <a:r>
              <a:rPr lang="en-GB" sz="2000" b="1" dirty="0"/>
              <a:t>c</a:t>
            </a:r>
            <a:r>
              <a:rPr lang="en-GB" sz="2000" b="1" i="1" baseline="-25000" dirty="0"/>
              <a:t>i</a:t>
            </a:r>
            <a:r>
              <a:rPr lang="en-GB" sz="2000" dirty="0"/>
              <a:t> = commit in transaction </a:t>
            </a:r>
            <a:r>
              <a:rPr lang="en-GB" sz="2000" i="1" dirty="0" err="1"/>
              <a:t>i</a:t>
            </a:r>
            <a:endParaRPr lang="en-GB" sz="2000" i="1" dirty="0"/>
          </a:p>
          <a:p>
            <a:pPr lvl="1"/>
            <a:r>
              <a:rPr lang="en-GB" sz="2000" b="1" dirty="0"/>
              <a:t>a</a:t>
            </a:r>
            <a:r>
              <a:rPr lang="en-GB" sz="2000" b="1" i="1" baseline="-25000" dirty="0"/>
              <a:t>i</a:t>
            </a:r>
            <a:r>
              <a:rPr lang="en-GB" sz="2000" dirty="0"/>
              <a:t> = abort (“rollback”) in transaction </a:t>
            </a:r>
            <a:r>
              <a:rPr lang="en-GB" sz="2000" i="1" dirty="0" err="1"/>
              <a:t>i</a:t>
            </a:r>
            <a:endParaRPr lang="en-GB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3E55-D42A-41AF-9F6E-8A8A2E703B4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109464" y="2245332"/>
            <a:ext cx="56036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000" b="1" dirty="0"/>
              <a:t>S</a:t>
            </a:r>
            <a:r>
              <a:rPr lang="en-GB" sz="2000" b="1" baseline="-25000" dirty="0"/>
              <a:t>a</a:t>
            </a:r>
            <a:r>
              <a:rPr lang="en-GB" sz="2000" b="1" dirty="0"/>
              <a:t>:  </a:t>
            </a:r>
            <a:r>
              <a:rPr lang="en-GB" sz="2000" b="1" dirty="0">
                <a:solidFill>
                  <a:srgbClr val="00B050"/>
                </a:solidFill>
              </a:rPr>
              <a:t>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c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; </a:t>
            </a:r>
            <a:r>
              <a:rPr lang="en-GB" sz="2000" b="1" dirty="0">
                <a:solidFill>
                  <a:srgbClr val="00B0F0"/>
                </a:solidFill>
              </a:rPr>
              <a:t>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 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(Y); w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 c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9791047" y="467018"/>
            <a:ext cx="1981201" cy="561662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272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Begin (T1)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read(X);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X := X + 100;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write(X);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read(Y);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Y := Y + 50;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write(Y);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commit;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End (T1)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Begin (T2)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	read(X);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	read(Y);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	X := X + Y;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	write(X);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	commit;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End (T2)</a:t>
            </a:r>
          </a:p>
        </p:txBody>
      </p:sp>
    </p:spTree>
    <p:extLst>
      <p:ext uri="{BB962C8B-B14F-4D97-AF65-F5344CB8AC3E}">
        <p14:creationId xmlns:p14="http://schemas.microsoft.com/office/powerpoint/2010/main" val="49975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2508">
        <p:fade/>
      </p:transition>
    </mc:Choice>
    <mc:Fallback xmlns="">
      <p:transition spd="med" advTm="102508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Another Example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770083"/>
              </p:ext>
            </p:extLst>
          </p:nvPr>
        </p:nvGraphicFramePr>
        <p:xfrm>
          <a:off x="3763506" y="1772654"/>
          <a:ext cx="466498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</a:t>
                      </a:r>
                      <a:r>
                        <a:rPr lang="en-GB" baseline="-25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X =</a:t>
                      </a:r>
                      <a:r>
                        <a:rPr lang="en-GB" baseline="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X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write(X)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read(X)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X =</a:t>
                      </a:r>
                      <a:r>
                        <a:rPr lang="en-GB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X *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write(X)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905543" y="5482575"/>
            <a:ext cx="6380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is the shorthand notation for this schedule?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915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46"/>
    </mc:Choice>
    <mc:Fallback xmlns="">
      <p:transition spd="slow" advTm="305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Another Example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2905543" y="5482575"/>
            <a:ext cx="6380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is the shorthand notation for this schedule?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00B859-DA74-4F56-8824-AE04D5E02379}"/>
              </a:ext>
            </a:extLst>
          </p:cNvPr>
          <p:cNvSpPr/>
          <p:nvPr/>
        </p:nvSpPr>
        <p:spPr>
          <a:xfrm>
            <a:off x="4151785" y="5919664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S</a:t>
            </a:r>
            <a:r>
              <a:rPr lang="en-GB" sz="2400" baseline="-25000" dirty="0"/>
              <a:t>b</a:t>
            </a:r>
            <a:r>
              <a:rPr lang="en-GB" sz="2400" dirty="0"/>
              <a:t>: </a:t>
            </a:r>
            <a:r>
              <a:rPr lang="en-GB" sz="2400" dirty="0">
                <a:solidFill>
                  <a:srgbClr val="C00000"/>
                </a:solidFill>
              </a:rPr>
              <a:t>r</a:t>
            </a:r>
            <a:r>
              <a:rPr lang="en-GB" sz="2400" baseline="-25000" dirty="0">
                <a:solidFill>
                  <a:srgbClr val="C00000"/>
                </a:solidFill>
              </a:rPr>
              <a:t>1</a:t>
            </a:r>
            <a:r>
              <a:rPr lang="en-GB" sz="2400" dirty="0">
                <a:solidFill>
                  <a:srgbClr val="C00000"/>
                </a:solidFill>
              </a:rPr>
              <a:t>(x); w</a:t>
            </a:r>
            <a:r>
              <a:rPr lang="en-GB" sz="2400" baseline="-25000" dirty="0">
                <a:solidFill>
                  <a:srgbClr val="C00000"/>
                </a:solidFill>
              </a:rPr>
              <a:t>1</a:t>
            </a:r>
            <a:r>
              <a:rPr lang="en-GB" sz="2400" dirty="0">
                <a:solidFill>
                  <a:srgbClr val="C00000"/>
                </a:solidFill>
              </a:rPr>
              <a:t>(x); c</a:t>
            </a:r>
            <a:r>
              <a:rPr lang="en-GB" sz="2400" baseline="-25000" dirty="0">
                <a:solidFill>
                  <a:srgbClr val="C00000"/>
                </a:solidFill>
              </a:rPr>
              <a:t>1</a:t>
            </a:r>
            <a:r>
              <a:rPr lang="en-GB" sz="2400" dirty="0">
                <a:solidFill>
                  <a:srgbClr val="C00000"/>
                </a:solidFill>
              </a:rPr>
              <a:t>; </a:t>
            </a:r>
            <a:r>
              <a:rPr lang="en-GB" sz="2400" dirty="0">
                <a:solidFill>
                  <a:srgbClr val="002060"/>
                </a:solidFill>
              </a:rPr>
              <a:t>r</a:t>
            </a:r>
            <a:r>
              <a:rPr lang="en-GB" sz="2400" baseline="-25000" dirty="0">
                <a:solidFill>
                  <a:srgbClr val="002060"/>
                </a:solidFill>
              </a:rPr>
              <a:t>2</a:t>
            </a:r>
            <a:r>
              <a:rPr lang="en-GB" sz="2400" dirty="0">
                <a:solidFill>
                  <a:srgbClr val="002060"/>
                </a:solidFill>
              </a:rPr>
              <a:t>(x); w</a:t>
            </a:r>
            <a:r>
              <a:rPr lang="en-GB" sz="2400" baseline="-25000" dirty="0">
                <a:solidFill>
                  <a:srgbClr val="002060"/>
                </a:solidFill>
              </a:rPr>
              <a:t>2</a:t>
            </a:r>
            <a:r>
              <a:rPr lang="en-GB" sz="2400" dirty="0">
                <a:solidFill>
                  <a:srgbClr val="002060"/>
                </a:solidFill>
              </a:rPr>
              <a:t>(x); c</a:t>
            </a:r>
            <a:r>
              <a:rPr lang="en-GB" sz="2400" baseline="-25000" dirty="0">
                <a:solidFill>
                  <a:srgbClr val="002060"/>
                </a:solidFill>
              </a:rPr>
              <a:t>2</a:t>
            </a: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093A07-E017-4EDD-8EB8-B7CD526C0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888772"/>
              </p:ext>
            </p:extLst>
          </p:nvPr>
        </p:nvGraphicFramePr>
        <p:xfrm>
          <a:off x="3763506" y="1772654"/>
          <a:ext cx="466498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</a:t>
                      </a:r>
                      <a:r>
                        <a:rPr lang="en-GB" baseline="-25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X =</a:t>
                      </a:r>
                      <a:r>
                        <a:rPr lang="en-GB" baseline="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X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write(X)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read(X)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X =</a:t>
                      </a:r>
                      <a:r>
                        <a:rPr lang="en-GB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X *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write(X)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62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652"/>
    </mc:Choice>
    <mc:Fallback xmlns="">
      <p:transition spd="slow" advTm="7565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Order matters: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093A07-E017-4EDD-8EB8-B7CD526C0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834675"/>
              </p:ext>
            </p:extLst>
          </p:nvPr>
        </p:nvGraphicFramePr>
        <p:xfrm>
          <a:off x="6547495" y="1957711"/>
          <a:ext cx="466498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</a:t>
                      </a:r>
                      <a:r>
                        <a:rPr lang="en-GB" baseline="-25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read(X)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X = X *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write(X)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GB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GB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read(X)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GB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X = X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write(X)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4DA943-1D8C-452C-B2AF-5F0B4E314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99665"/>
              </p:ext>
            </p:extLst>
          </p:nvPr>
        </p:nvGraphicFramePr>
        <p:xfrm>
          <a:off x="1276435" y="1957711"/>
          <a:ext cx="466498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</a:t>
                      </a:r>
                      <a:r>
                        <a:rPr lang="en-GB" baseline="-25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X =</a:t>
                      </a:r>
                      <a:r>
                        <a:rPr lang="en-GB" baseline="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X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write(X)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read(X)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X =</a:t>
                      </a:r>
                      <a:r>
                        <a:rPr lang="en-GB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X *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write(X)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2060"/>
                          </a:solidFill>
                        </a:rPr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A4D8473-FBCA-40D6-9193-FE3F46EFD717}"/>
              </a:ext>
            </a:extLst>
          </p:cNvPr>
          <p:cNvSpPr txBox="1"/>
          <p:nvPr/>
        </p:nvSpPr>
        <p:spPr>
          <a:xfrm>
            <a:off x="6074228" y="4136571"/>
            <a:ext cx="435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vs.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764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274"/>
    </mc:Choice>
    <mc:Fallback xmlns="">
      <p:transition spd="slow" advTm="532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Concurrent Schedule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349530" y="1759740"/>
            <a:ext cx="6711627" cy="5107483"/>
          </a:xfrm>
        </p:spPr>
        <p:txBody>
          <a:bodyPr>
            <a:normAutofit/>
          </a:bodyPr>
          <a:lstStyle/>
          <a:p>
            <a:r>
              <a:rPr lang="en-GB" sz="2400" dirty="0"/>
              <a:t>Shorthand notation for schedule: 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endParaRPr lang="en-GB" dirty="0"/>
          </a:p>
          <a:p>
            <a:r>
              <a:rPr lang="en-GB" dirty="0"/>
              <a:t>Note that these are serial schedules as well as a concurrent schedules (in that all serial schedules are concurrent schedules)</a:t>
            </a:r>
          </a:p>
          <a:p>
            <a:r>
              <a:rPr lang="en-GB" dirty="0"/>
              <a:t>Examples of other concurrent schedules (that are not serial):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Examples of something that is </a:t>
            </a:r>
            <a:r>
              <a:rPr lang="en-GB" b="1" dirty="0"/>
              <a:t>not</a:t>
            </a:r>
            <a:r>
              <a:rPr lang="en-GB" dirty="0"/>
              <a:t> a schedule: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3E55-D42A-41AF-9F6E-8A8A2E703B49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109464" y="2245332"/>
            <a:ext cx="56036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000" b="1" dirty="0"/>
              <a:t>S</a:t>
            </a:r>
            <a:r>
              <a:rPr lang="en-GB" sz="2000" b="1" baseline="-25000" dirty="0"/>
              <a:t>a</a:t>
            </a:r>
            <a:r>
              <a:rPr lang="en-GB" sz="2000" b="1" dirty="0"/>
              <a:t>:  </a:t>
            </a:r>
            <a:r>
              <a:rPr lang="en-GB" sz="2000" b="1" dirty="0">
                <a:solidFill>
                  <a:srgbClr val="00B050"/>
                </a:solidFill>
              </a:rPr>
              <a:t>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c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; </a:t>
            </a:r>
            <a:r>
              <a:rPr lang="en-GB" sz="2000" b="1" dirty="0">
                <a:solidFill>
                  <a:srgbClr val="00B0F0"/>
                </a:solidFill>
              </a:rPr>
              <a:t>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 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(Y); w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 c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72C71-6E90-460C-B00F-7E5B1A9FCCA9}"/>
              </a:ext>
            </a:extLst>
          </p:cNvPr>
          <p:cNvSpPr/>
          <p:nvPr/>
        </p:nvSpPr>
        <p:spPr>
          <a:xfrm>
            <a:off x="2156051" y="4317775"/>
            <a:ext cx="56036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000" b="1" dirty="0"/>
              <a:t>S</a:t>
            </a:r>
            <a:r>
              <a:rPr lang="en-GB" sz="2000" b="1" baseline="-25000" dirty="0"/>
              <a:t>e</a:t>
            </a:r>
            <a:r>
              <a:rPr lang="en-GB" sz="2000" b="1" dirty="0"/>
              <a:t>:</a:t>
            </a:r>
            <a:r>
              <a:rPr lang="en-GB" sz="2000" b="1" dirty="0">
                <a:solidFill>
                  <a:srgbClr val="00B050"/>
                </a:solidFill>
              </a:rPr>
              <a:t>  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</a:t>
            </a:r>
            <a:r>
              <a:rPr lang="en-GB" sz="2000" b="1" dirty="0">
                <a:solidFill>
                  <a:srgbClr val="00B0F0"/>
                </a:solidFill>
              </a:rPr>
              <a:t>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</a:t>
            </a:r>
            <a:r>
              <a:rPr lang="en-GB" sz="2000" b="1" dirty="0">
                <a:solidFill>
                  <a:srgbClr val="00B050"/>
                </a:solidFill>
              </a:rPr>
              <a:t> 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c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; </a:t>
            </a:r>
            <a:r>
              <a:rPr lang="en-GB" sz="2000" b="1" dirty="0">
                <a:solidFill>
                  <a:srgbClr val="00B0F0"/>
                </a:solidFill>
              </a:rPr>
              <a:t>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(Y); w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 c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E0EA4A-2870-492D-B848-A7703DA79C1F}"/>
              </a:ext>
            </a:extLst>
          </p:cNvPr>
          <p:cNvSpPr/>
          <p:nvPr/>
        </p:nvSpPr>
        <p:spPr>
          <a:xfrm>
            <a:off x="2156051" y="4740265"/>
            <a:ext cx="56036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000" b="1" dirty="0"/>
              <a:t>S</a:t>
            </a:r>
            <a:r>
              <a:rPr lang="en-GB" sz="2000" b="1" baseline="-25000" dirty="0"/>
              <a:t>f</a:t>
            </a:r>
            <a:r>
              <a:rPr lang="en-GB" sz="2000" b="1" dirty="0"/>
              <a:t>:  </a:t>
            </a:r>
            <a:r>
              <a:rPr lang="en-GB" sz="2000" b="1" dirty="0">
                <a:solidFill>
                  <a:srgbClr val="00B050"/>
                </a:solidFill>
              </a:rPr>
              <a:t>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</a:t>
            </a:r>
            <a:r>
              <a:rPr lang="en-GB" sz="2000" b="1" dirty="0">
                <a:solidFill>
                  <a:srgbClr val="00B0F0"/>
                </a:solidFill>
              </a:rPr>
              <a:t>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 </a:t>
            </a:r>
            <a:r>
              <a:rPr lang="en-GB" sz="2000" b="1" dirty="0">
                <a:solidFill>
                  <a:srgbClr val="00B050"/>
                </a:solidFill>
              </a:rPr>
              <a:t>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</a:t>
            </a:r>
            <a:r>
              <a:rPr lang="en-GB" sz="2000" b="1" dirty="0">
                <a:solidFill>
                  <a:srgbClr val="00B0F0"/>
                </a:solidFill>
              </a:rPr>
              <a:t>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(Y);</a:t>
            </a:r>
            <a:r>
              <a:rPr lang="en-GB" sz="2000" b="1" dirty="0">
                <a:solidFill>
                  <a:srgbClr val="00B050"/>
                </a:solidFill>
              </a:rPr>
              <a:t> 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</a:t>
            </a:r>
            <a:r>
              <a:rPr lang="en-GB" sz="2000" b="1" dirty="0">
                <a:solidFill>
                  <a:srgbClr val="00B0F0"/>
                </a:solidFill>
              </a:rPr>
              <a:t>w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 </a:t>
            </a:r>
            <a:r>
              <a:rPr lang="en-GB" sz="2000" b="1" dirty="0">
                <a:solidFill>
                  <a:srgbClr val="00B050"/>
                </a:solidFill>
              </a:rPr>
              <a:t>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</a:t>
            </a:r>
            <a:r>
              <a:rPr lang="en-GB" sz="2000" b="1" dirty="0">
                <a:solidFill>
                  <a:srgbClr val="00B0F0"/>
                </a:solidFill>
              </a:rPr>
              <a:t>c</a:t>
            </a:r>
            <a:r>
              <a:rPr lang="en-GB" sz="2000" b="1" baseline="-25000" dirty="0">
                <a:solidFill>
                  <a:srgbClr val="00B0F0"/>
                </a:solidFill>
              </a:rPr>
              <a:t>2 </a:t>
            </a:r>
            <a:r>
              <a:rPr lang="en-GB" sz="2000" b="1" dirty="0">
                <a:solidFill>
                  <a:srgbClr val="00B0F0"/>
                </a:solidFill>
              </a:rPr>
              <a:t>;</a:t>
            </a:r>
            <a:r>
              <a:rPr lang="en-GB" sz="2000" b="1" dirty="0">
                <a:solidFill>
                  <a:srgbClr val="00B050"/>
                </a:solidFill>
              </a:rPr>
              <a:t>c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endParaRPr lang="en-GB" sz="2000" b="1" baseline="-25000" dirty="0">
              <a:solidFill>
                <a:srgbClr val="00B0F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61EF74-487A-4C41-8016-C6437A284D4A}"/>
              </a:ext>
            </a:extLst>
          </p:cNvPr>
          <p:cNvSpPr/>
          <p:nvPr/>
        </p:nvSpPr>
        <p:spPr>
          <a:xfrm>
            <a:off x="2156051" y="5690064"/>
            <a:ext cx="56036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000" b="1" dirty="0"/>
              <a:t>S</a:t>
            </a:r>
            <a:r>
              <a:rPr lang="en-GB" sz="2000" b="1" baseline="-25000" dirty="0"/>
              <a:t>g</a:t>
            </a:r>
            <a:r>
              <a:rPr lang="en-GB" sz="2000" b="1" dirty="0"/>
              <a:t>:  </a:t>
            </a:r>
            <a:r>
              <a:rPr lang="en-GB" sz="2000" b="1" dirty="0">
                <a:solidFill>
                  <a:srgbClr val="00B050"/>
                </a:solidFill>
              </a:rPr>
              <a:t>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</a:t>
            </a:r>
            <a:r>
              <a:rPr lang="en-GB" sz="2000" b="1" dirty="0">
                <a:solidFill>
                  <a:srgbClr val="00B0F0"/>
                </a:solidFill>
              </a:rPr>
              <a:t>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(Y); </a:t>
            </a:r>
            <a:r>
              <a:rPr lang="en-GB" sz="2000" b="1" dirty="0">
                <a:solidFill>
                  <a:srgbClr val="00B050"/>
                </a:solidFill>
              </a:rPr>
              <a:t>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</a:t>
            </a:r>
            <a:r>
              <a:rPr lang="en-GB" sz="2000" b="1" dirty="0">
                <a:solidFill>
                  <a:srgbClr val="00B0F0"/>
                </a:solidFill>
              </a:rPr>
              <a:t>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</a:t>
            </a:r>
            <a:r>
              <a:rPr lang="en-GB" sz="2000" b="1" dirty="0">
                <a:solidFill>
                  <a:srgbClr val="00B050"/>
                </a:solidFill>
              </a:rPr>
              <a:t> 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</a:t>
            </a:r>
            <a:r>
              <a:rPr lang="en-GB" sz="2000" b="1" dirty="0">
                <a:solidFill>
                  <a:srgbClr val="00B0F0"/>
                </a:solidFill>
              </a:rPr>
              <a:t>w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 </a:t>
            </a:r>
            <a:r>
              <a:rPr lang="en-GB" sz="2000" b="1" dirty="0">
                <a:solidFill>
                  <a:srgbClr val="00B050"/>
                </a:solidFill>
              </a:rPr>
              <a:t>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</a:t>
            </a:r>
            <a:r>
              <a:rPr lang="en-GB" sz="2000" b="1" dirty="0">
                <a:solidFill>
                  <a:srgbClr val="00B0F0"/>
                </a:solidFill>
              </a:rPr>
              <a:t>c</a:t>
            </a:r>
            <a:r>
              <a:rPr lang="en-GB" sz="2000" b="1" baseline="-25000" dirty="0">
                <a:solidFill>
                  <a:srgbClr val="00B0F0"/>
                </a:solidFill>
              </a:rPr>
              <a:t>2 </a:t>
            </a:r>
            <a:r>
              <a:rPr lang="en-GB" sz="2000" b="1" dirty="0">
                <a:solidFill>
                  <a:srgbClr val="00B0F0"/>
                </a:solidFill>
              </a:rPr>
              <a:t>;</a:t>
            </a:r>
            <a:r>
              <a:rPr lang="en-GB" sz="2000" b="1" dirty="0">
                <a:solidFill>
                  <a:srgbClr val="00B050"/>
                </a:solidFill>
              </a:rPr>
              <a:t>c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endParaRPr lang="en-GB" sz="2000" b="1" baseline="-25000" dirty="0">
              <a:solidFill>
                <a:srgbClr val="00B0F0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948B3C7-7F32-4BF0-A8C7-1321A08A4257}"/>
              </a:ext>
            </a:extLst>
          </p:cNvPr>
          <p:cNvSpPr txBox="1">
            <a:spLocks/>
          </p:cNvSpPr>
          <p:nvPr/>
        </p:nvSpPr>
        <p:spPr>
          <a:xfrm>
            <a:off x="7823004" y="1834344"/>
            <a:ext cx="1981201" cy="318931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272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Begin (T1)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read(X);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X := X + 100;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write(X);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read(Y);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Y := Y + 50;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write(Y);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	commit;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B050"/>
                </a:solidFill>
              </a:rPr>
              <a:t>End (T1)</a:t>
            </a:r>
          </a:p>
          <a:p>
            <a:pPr>
              <a:spcBef>
                <a:spcPts val="500"/>
              </a:spcBef>
              <a:buNone/>
            </a:pPr>
            <a:endParaRPr lang="en-GB" sz="1800" dirty="0">
              <a:solidFill>
                <a:srgbClr val="0070C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8EC5626-74F6-4354-9879-064552AA8115}"/>
              </a:ext>
            </a:extLst>
          </p:cNvPr>
          <p:cNvSpPr txBox="1">
            <a:spLocks/>
          </p:cNvSpPr>
          <p:nvPr/>
        </p:nvSpPr>
        <p:spPr>
          <a:xfrm>
            <a:off x="9723994" y="1845847"/>
            <a:ext cx="1981201" cy="318931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1272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Begin (T2)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	read(X);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	read(Y);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	X := X + Y;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	write(X);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	commit;</a:t>
            </a:r>
          </a:p>
          <a:p>
            <a:pPr>
              <a:spcBef>
                <a:spcPts val="500"/>
              </a:spcBef>
              <a:buNone/>
            </a:pPr>
            <a:r>
              <a:rPr lang="en-GB" sz="1800" dirty="0">
                <a:solidFill>
                  <a:srgbClr val="0070C0"/>
                </a:solidFill>
              </a:rPr>
              <a:t>End (T2)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417E5F-1DF4-46E4-B6E7-515CF466233D}"/>
              </a:ext>
            </a:extLst>
          </p:cNvPr>
          <p:cNvSpPr/>
          <p:nvPr/>
        </p:nvSpPr>
        <p:spPr>
          <a:xfrm>
            <a:off x="2092733" y="2707163"/>
            <a:ext cx="56036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000" b="1" dirty="0"/>
              <a:t>S</a:t>
            </a:r>
            <a:r>
              <a:rPr lang="en-GB" sz="2000" b="1" baseline="-25000" dirty="0"/>
              <a:t>d</a:t>
            </a:r>
            <a:r>
              <a:rPr lang="en-GB" sz="2000" b="1" dirty="0"/>
              <a:t>:  </a:t>
            </a:r>
            <a:r>
              <a:rPr lang="en-GB" sz="2000" b="1" dirty="0">
                <a:solidFill>
                  <a:srgbClr val="00B0F0"/>
                </a:solidFill>
              </a:rPr>
              <a:t>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 r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(Y); w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(X); c</a:t>
            </a:r>
            <a:r>
              <a:rPr lang="en-GB" sz="2000" b="1" baseline="-25000" dirty="0">
                <a:solidFill>
                  <a:srgbClr val="00B0F0"/>
                </a:solidFill>
              </a:rPr>
              <a:t>2</a:t>
            </a:r>
            <a:r>
              <a:rPr lang="en-GB" sz="2000" b="1" dirty="0">
                <a:solidFill>
                  <a:srgbClr val="00B0F0"/>
                </a:solidFill>
              </a:rPr>
              <a:t>;</a:t>
            </a:r>
            <a:r>
              <a:rPr lang="en-GB" sz="2000" b="1" dirty="0">
                <a:solidFill>
                  <a:srgbClr val="00B050"/>
                </a:solidFill>
              </a:rPr>
              <a:t> 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(X); r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w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(y); c</a:t>
            </a:r>
            <a:r>
              <a:rPr lang="en-GB" sz="2000" b="1" baseline="-25000" dirty="0">
                <a:solidFill>
                  <a:srgbClr val="00B050"/>
                </a:solidFill>
              </a:rPr>
              <a:t>1</a:t>
            </a:r>
            <a:r>
              <a:rPr lang="en-GB" sz="2000" b="1" dirty="0">
                <a:solidFill>
                  <a:srgbClr val="00B050"/>
                </a:solidFill>
              </a:rPr>
              <a:t> </a:t>
            </a:r>
            <a:endParaRPr lang="en-GB" sz="2000" b="1" baseline="-25000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149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48828">
        <p:fade/>
      </p:transition>
    </mc:Choice>
    <mc:Fallback xmlns="">
      <p:transition spd="med" advTm="14882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BE79-E00A-47A6-8BFE-0B74D5D5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CF354-20FE-48DA-A520-09A0A2268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focus on low-level details (i.e. reads and writes) and their interaction over high-level (i.e. queries) when we talk about transactions (which is a sequence of queries) and schedules (which is a set of transactions that should be executed, so that each operation in each transaction comes in order)</a:t>
            </a:r>
          </a:p>
          <a:p>
            <a:r>
              <a:rPr lang="en-US" dirty="0"/>
              <a:t>We have a notations for such, using symbols:</a:t>
            </a:r>
          </a:p>
          <a:p>
            <a:pPr lvl="1"/>
            <a:r>
              <a:rPr lang="en-GB" sz="2000" b="1" dirty="0"/>
              <a:t>S</a:t>
            </a:r>
            <a:r>
              <a:rPr lang="en-GB" sz="2000" b="1" i="1" baseline="-25000" dirty="0"/>
              <a:t>id</a:t>
            </a:r>
            <a:r>
              <a:rPr lang="en-GB" sz="2000" dirty="0"/>
              <a:t> = schedule (</a:t>
            </a:r>
            <a:r>
              <a:rPr lang="en-GB" sz="2000" i="1" dirty="0"/>
              <a:t>id</a:t>
            </a:r>
            <a:r>
              <a:rPr lang="en-GB" sz="2000" dirty="0"/>
              <a:t> is the schedule ID)</a:t>
            </a:r>
          </a:p>
          <a:p>
            <a:pPr lvl="1"/>
            <a:r>
              <a:rPr lang="en-GB" sz="2000" b="1" dirty="0" err="1"/>
              <a:t>r</a:t>
            </a:r>
            <a:r>
              <a:rPr lang="en-GB" sz="2000" b="1" i="1" baseline="-25000" dirty="0" err="1"/>
              <a:t>i</a:t>
            </a:r>
            <a:r>
              <a:rPr lang="en-GB" sz="2000" b="1" dirty="0"/>
              <a:t>(X)</a:t>
            </a:r>
            <a:r>
              <a:rPr lang="en-GB" sz="2000" dirty="0"/>
              <a:t> = read(X) in transaction </a:t>
            </a:r>
            <a:r>
              <a:rPr lang="en-GB" sz="2000" i="1" dirty="0" err="1"/>
              <a:t>i</a:t>
            </a:r>
            <a:endParaRPr lang="en-GB" sz="2000" i="1" dirty="0"/>
          </a:p>
          <a:p>
            <a:pPr lvl="1"/>
            <a:r>
              <a:rPr lang="en-GB" sz="2000" b="1" dirty="0" err="1"/>
              <a:t>w</a:t>
            </a:r>
            <a:r>
              <a:rPr lang="en-GB" sz="2000" b="1" i="1" baseline="-25000" dirty="0" err="1"/>
              <a:t>i</a:t>
            </a:r>
            <a:r>
              <a:rPr lang="en-GB" sz="2000" b="1" dirty="0"/>
              <a:t>(X)</a:t>
            </a:r>
            <a:r>
              <a:rPr lang="en-GB" sz="2000" dirty="0"/>
              <a:t> = write(X) in transaction </a:t>
            </a:r>
            <a:r>
              <a:rPr lang="en-GB" sz="2000" i="1" dirty="0" err="1"/>
              <a:t>i</a:t>
            </a:r>
            <a:endParaRPr lang="en-GB" sz="2000" dirty="0"/>
          </a:p>
          <a:p>
            <a:pPr lvl="1"/>
            <a:r>
              <a:rPr lang="en-GB" sz="2000" b="1" dirty="0"/>
              <a:t>c</a:t>
            </a:r>
            <a:r>
              <a:rPr lang="en-GB" sz="2000" b="1" i="1" baseline="-25000" dirty="0"/>
              <a:t>i</a:t>
            </a:r>
            <a:r>
              <a:rPr lang="en-GB" sz="2000" dirty="0"/>
              <a:t> = commit in transaction </a:t>
            </a:r>
            <a:r>
              <a:rPr lang="en-GB" sz="2000" i="1" dirty="0" err="1"/>
              <a:t>i</a:t>
            </a:r>
            <a:endParaRPr lang="en-GB" sz="2000" i="1" dirty="0"/>
          </a:p>
          <a:p>
            <a:pPr lvl="1"/>
            <a:r>
              <a:rPr lang="en-GB" sz="2000" b="1" dirty="0"/>
              <a:t>a</a:t>
            </a:r>
            <a:r>
              <a:rPr lang="en-GB" sz="2000" b="1" i="1" baseline="-25000" dirty="0"/>
              <a:t>i</a:t>
            </a:r>
            <a:r>
              <a:rPr lang="en-GB" sz="2000" dirty="0"/>
              <a:t> = abort (“rollback”) in transaction </a:t>
            </a:r>
            <a:r>
              <a:rPr lang="en-GB" sz="2000" i="1" dirty="0" err="1"/>
              <a:t>i</a:t>
            </a:r>
            <a:endParaRPr lang="en-GB" sz="2000" i="1" dirty="0"/>
          </a:p>
          <a:p>
            <a:endParaRPr lang="en-US" dirty="0"/>
          </a:p>
          <a:p>
            <a:endParaRPr lang="en-GB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554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176"/>
    </mc:Choice>
    <mc:Fallback xmlns="">
      <p:transition spd="slow" advTm="851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2|23|5.7|33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13.7|2.3|19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3|17.8|17.3|7.1|32|17.8|3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8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343</TotalTime>
  <Words>1519</Words>
  <Application>Microsoft Office PowerPoint</Application>
  <PresentationFormat>Widescreen</PresentationFormat>
  <Paragraphs>276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Retrospect</vt:lpstr>
      <vt:lpstr>Schedules, a low-level view and notation</vt:lpstr>
      <vt:lpstr>Overview of this video</vt:lpstr>
      <vt:lpstr>Translating SQL into Low-Level Operations</vt:lpstr>
      <vt:lpstr>Simplifying Low-level Operations</vt:lpstr>
      <vt:lpstr> Basic Operations of Transactions</vt:lpstr>
      <vt:lpstr>Transactions (in general)</vt:lpstr>
      <vt:lpstr>Schedules</vt:lpstr>
      <vt:lpstr>A Serial Schedule</vt:lpstr>
      <vt:lpstr>Shorthand Notation for Schedules</vt:lpstr>
      <vt:lpstr>Another Example</vt:lpstr>
      <vt:lpstr>Another Example</vt:lpstr>
      <vt:lpstr>Order matters:</vt:lpstr>
      <vt:lpstr>Concurrent Schedule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Schedulers and a low-level view</dc:title>
  <dc:creator>Rasmus Ibsen-Jensen</dc:creator>
  <cp:lastModifiedBy>Rasmus Ibsen-Jensen</cp:lastModifiedBy>
  <cp:revision>16</cp:revision>
  <dcterms:created xsi:type="dcterms:W3CDTF">2020-10-21T14:13:10Z</dcterms:created>
  <dcterms:modified xsi:type="dcterms:W3CDTF">2020-10-27T12:34:56Z</dcterms:modified>
</cp:coreProperties>
</file>