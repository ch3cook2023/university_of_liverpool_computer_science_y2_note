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548" r:id="rId3"/>
    <p:sldId id="313" r:id="rId4"/>
    <p:sldId id="536" r:id="rId5"/>
    <p:sldId id="537" r:id="rId6"/>
    <p:sldId id="538" r:id="rId7"/>
    <p:sldId id="539" r:id="rId8"/>
    <p:sldId id="540" r:id="rId9"/>
    <p:sldId id="541" r:id="rId10"/>
    <p:sldId id="542" r:id="rId11"/>
    <p:sldId id="544" r:id="rId12"/>
    <p:sldId id="54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D7D4-137B-4197-A689-19E86CD03BE0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0D9A6-5B78-4D4C-80F9-CCFAFACF2432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784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D7D4-137B-4197-A689-19E86CD03BE0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0D9A6-5B78-4D4C-80F9-CCFAFACF24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548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D7D4-137B-4197-A689-19E86CD03BE0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0D9A6-5B78-4D4C-80F9-CCFAFACF2432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302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D7D4-137B-4197-A689-19E86CD03BE0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0D9A6-5B78-4D4C-80F9-CCFAFACF24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458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D7D4-137B-4197-A689-19E86CD03BE0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0D9A6-5B78-4D4C-80F9-CCFAFACF24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380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D7D4-137B-4197-A689-19E86CD03BE0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0D9A6-5B78-4D4C-80F9-CCFAFACF24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5303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D7D4-137B-4197-A689-19E86CD03BE0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0D9A6-5B78-4D4C-80F9-CCFAFACF24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9700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AB8D7D4-137B-4197-A689-19E86CD03BE0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40D9A6-5B78-4D4C-80F9-CCFAFACF24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139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D7D4-137B-4197-A689-19E86CD03BE0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0D9A6-5B78-4D4C-80F9-CCFAFACF24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113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D7D4-137B-4197-A689-19E86CD03BE0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0D9A6-5B78-4D4C-80F9-CCFAFACF24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8849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D7D4-137B-4197-A689-19E86CD03BE0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0D9A6-5B78-4D4C-80F9-CCFAFACF24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4540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AB8D7D4-137B-4197-A689-19E86CD03BE0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C40D9A6-5B78-4D4C-80F9-CCFAFACF2432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47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12477-7442-49E2-8DB8-D50E77BDCA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2PL ensures conflict-serializability 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AF2426-1D66-4390-97E9-93ED41CCDA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53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761"/>
    </mc:Choice>
    <mc:Fallback xmlns="">
      <p:transition spd="slow" advTm="1076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4C00C-D488-4F4E-8D98-405C641AD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F8DBE-8DFE-4E98-BEE4-B57802D49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show that 2PL schedules are conflict-serializability </a:t>
            </a:r>
            <a:endParaRPr lang="en-GB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2761999A-53DA-4DEA-9502-A5468743A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821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49"/>
    </mc:Choice>
    <mc:Fallback xmlns="">
      <p:transition spd="slow" advTm="1694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Two-Phase Locking (2PL)</a:t>
            </a:r>
            <a:br>
              <a:rPr lang="en-US" dirty="0"/>
            </a:br>
            <a:r>
              <a:rPr lang="en-US" sz="2400" dirty="0"/>
              <a:t>(From video on Locking conflict-serializable schedules)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modification of the simple locking mechanism that </a:t>
            </a:r>
            <a:r>
              <a:rPr lang="en-US" i="1" dirty="0"/>
              <a:t>guarantees conflict-serializability</a:t>
            </a:r>
            <a:endParaRPr lang="en-US" dirty="0"/>
          </a:p>
          <a:p>
            <a:r>
              <a:rPr lang="en-US" b="1" dirty="0"/>
              <a:t>Two-phase locking (2PL) condition: </a:t>
            </a:r>
            <a:br>
              <a:rPr lang="en-US" b="1" dirty="0"/>
            </a:br>
            <a:r>
              <a:rPr lang="en-US" sz="2400" dirty="0"/>
              <a:t>In each transaction, all lock operations precede all unlocks.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102439"/>
              </p:ext>
            </p:extLst>
          </p:nvPr>
        </p:nvGraphicFramePr>
        <p:xfrm>
          <a:off x="5064894" y="3043078"/>
          <a:ext cx="2664296" cy="31471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664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Transaction</a:t>
                      </a:r>
                      <a:endParaRPr lang="en-US" baseline="-25000" dirty="0"/>
                    </a:p>
                  </a:txBody>
                  <a:tcPr marT="21600" marB="2160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br>
                        <a:rPr lang="en-US" dirty="0">
                          <a:solidFill>
                            <a:schemeClr val="tx2"/>
                          </a:solidFill>
                        </a:rPr>
                      </a:br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br>
                        <a:rPr lang="en-US" dirty="0">
                          <a:solidFill>
                            <a:schemeClr val="tx2"/>
                          </a:solidFill>
                        </a:rPr>
                      </a:b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143558" y="3524518"/>
            <a:ext cx="25069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</a:rPr>
              <a:t>Phase 1:</a:t>
            </a:r>
            <a:r>
              <a:rPr lang="en-US" sz="2000" dirty="0">
                <a:solidFill>
                  <a:schemeClr val="tx2"/>
                </a:solidFill>
              </a:rPr>
              <a:t> request 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5574" y="4964678"/>
            <a:ext cx="18229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</a:rPr>
              <a:t>Phase 2:</a:t>
            </a:r>
            <a:r>
              <a:rPr lang="en-US" sz="2000" dirty="0">
                <a:solidFill>
                  <a:schemeClr val="tx2"/>
                </a:solidFill>
              </a:rPr>
              <a:t> unlock</a:t>
            </a:r>
          </a:p>
        </p:txBody>
      </p:sp>
      <p:sp>
        <p:nvSpPr>
          <p:cNvPr id="9" name="Left Brace 8"/>
          <p:cNvSpPr/>
          <p:nvPr/>
        </p:nvSpPr>
        <p:spPr>
          <a:xfrm>
            <a:off x="4564534" y="3043078"/>
            <a:ext cx="158343" cy="31471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439268" y="4404583"/>
            <a:ext cx="2000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“2PL transaction”</a:t>
            </a:r>
            <a:endParaRPr lang="en-US" sz="2000" dirty="0"/>
          </a:p>
        </p:txBody>
      </p:sp>
      <p:sp>
        <p:nvSpPr>
          <p:cNvPr id="11" name="Rectangle 10"/>
          <p:cNvSpPr/>
          <p:nvPr/>
        </p:nvSpPr>
        <p:spPr>
          <a:xfrm>
            <a:off x="5254413" y="3958308"/>
            <a:ext cx="22852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+ possibly other read/write operations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254413" y="5375985"/>
            <a:ext cx="22852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+ possibly other read/write operations</a:t>
            </a:r>
            <a:endParaRPr lang="en-US" dirty="0"/>
          </a:p>
        </p:txBody>
      </p:sp>
      <p:sp>
        <p:nvSpPr>
          <p:cNvPr id="13" name="Rounded Rectangular Callout 34">
            <a:extLst>
              <a:ext uri="{FF2B5EF4-FFF2-40B4-BE49-F238E27FC236}">
                <a16:creationId xmlns:a16="http://schemas.microsoft.com/office/drawing/2014/main" id="{561FB3FC-1FBC-430F-945B-DCB37EC428AB}"/>
              </a:ext>
            </a:extLst>
          </p:cNvPr>
          <p:cNvSpPr/>
          <p:nvPr/>
        </p:nvSpPr>
        <p:spPr>
          <a:xfrm>
            <a:off x="7875944" y="2255861"/>
            <a:ext cx="1738068" cy="425234"/>
          </a:xfrm>
          <a:prstGeom prst="wedgeRoundRectCallout">
            <a:avLst>
              <a:gd name="adj1" fmla="val -15513"/>
              <a:gd name="adj2" fmla="val -8379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This video!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8609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485"/>
    </mc:Choice>
    <mc:Fallback xmlns="">
      <p:transition spd="slow" advTm="664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79352-2C9F-4A28-A04E-1F9D85ECB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2PL Ensures Conflict-Serializability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7C55A-0245-4DC7-9FAA-6E9912803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If S is a schedule containing only 2PL transactions, then S is conflict-serializable.</a:t>
            </a:r>
          </a:p>
          <a:p>
            <a:r>
              <a:rPr lang="en-US" dirty="0">
                <a:solidFill>
                  <a:schemeClr val="tx1"/>
                </a:solidFill>
              </a:rPr>
              <a:t>Proof idea:</a:t>
            </a:r>
          </a:p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DDD9D-B9D9-4C33-8787-AFA80EA63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C693C5-AA1A-4A06-AC8E-C1365B5DD142}"/>
              </a:ext>
            </a:extLst>
          </p:cNvPr>
          <p:cNvSpPr txBox="1"/>
          <p:nvPr/>
        </p:nvSpPr>
        <p:spPr>
          <a:xfrm>
            <a:off x="2711624" y="4062265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S:</a:t>
            </a:r>
            <a:endParaRPr lang="en-US" sz="20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4C99BAE-FA83-4F6F-BDE7-F097234EA1A7}"/>
              </a:ext>
            </a:extLst>
          </p:cNvPr>
          <p:cNvCxnSpPr>
            <a:stCxn id="5" idx="3"/>
          </p:cNvCxnSpPr>
          <p:nvPr/>
        </p:nvCxnSpPr>
        <p:spPr>
          <a:xfrm flipV="1">
            <a:off x="3119108" y="4293097"/>
            <a:ext cx="637458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0BA40B-F25B-4BAF-A381-C65F8A393526}"/>
              </a:ext>
            </a:extLst>
          </p:cNvPr>
          <p:cNvCxnSpPr/>
          <p:nvPr/>
        </p:nvCxnSpPr>
        <p:spPr>
          <a:xfrm>
            <a:off x="7320136" y="4185084"/>
            <a:ext cx="0" cy="2160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C004A3-D196-4DE9-AC25-67080A402619}"/>
              </a:ext>
            </a:extLst>
          </p:cNvPr>
          <p:cNvCxnSpPr/>
          <p:nvPr/>
        </p:nvCxnSpPr>
        <p:spPr>
          <a:xfrm>
            <a:off x="7320136" y="3645024"/>
            <a:ext cx="0" cy="525252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7CE87A7-BF9F-4EEB-B21A-E9A742A16685}"/>
              </a:ext>
            </a:extLst>
          </p:cNvPr>
          <p:cNvSpPr txBox="1"/>
          <p:nvPr/>
        </p:nvSpPr>
        <p:spPr>
          <a:xfrm>
            <a:off x="6691629" y="3229526"/>
            <a:ext cx="1257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First unlock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9D5AEE-36F1-48AB-B928-DB113107CE3A}"/>
              </a:ext>
            </a:extLst>
          </p:cNvPr>
          <p:cNvSpPr txBox="1"/>
          <p:nvPr/>
        </p:nvSpPr>
        <p:spPr>
          <a:xfrm>
            <a:off x="7009794" y="4407197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</a:t>
            </a:r>
            <a:r>
              <a:rPr lang="en-US" baseline="-25000" dirty="0" err="1"/>
              <a:t>i</a:t>
            </a:r>
            <a:r>
              <a:rPr lang="en-US" dirty="0"/>
              <a:t>(X)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9B31EE-E2A4-4374-AF8F-8A2D1FF1D490}"/>
              </a:ext>
            </a:extLst>
          </p:cNvPr>
          <p:cNvSpPr txBox="1"/>
          <p:nvPr/>
        </p:nvSpPr>
        <p:spPr>
          <a:xfrm>
            <a:off x="2829488" y="5392040"/>
            <a:ext cx="69538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Claim: We can move all operations of </a:t>
            </a:r>
            <a:r>
              <a:rPr lang="en-US" sz="2000" dirty="0" err="1"/>
              <a:t>T</a:t>
            </a:r>
            <a:r>
              <a:rPr lang="en-US" sz="2000" baseline="-25000" dirty="0" err="1"/>
              <a:t>i</a:t>
            </a:r>
            <a:r>
              <a:rPr lang="en-US" sz="2000" dirty="0"/>
              <a:t> to beginning of schedule (using swaps of consecutive non-conflicting operations).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9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671"/>
    </mc:Choice>
    <mc:Fallback xmlns="">
      <p:transition spd="slow" advTm="776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79352-2C9F-4A28-A04E-1F9D85ECB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2PL Ensures Conflict-Serializability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7C55A-0245-4DC7-9FAA-6E9912803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If S is a schedule containing only 2PL transactions, then S is conflict-serializable.</a:t>
            </a:r>
          </a:p>
          <a:p>
            <a:r>
              <a:rPr lang="en-US" dirty="0"/>
              <a:t>Proof idea: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DDD9D-B9D9-4C33-8787-AFA80EA63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9B31EE-E2A4-4374-AF8F-8A2D1FF1D490}"/>
              </a:ext>
            </a:extLst>
          </p:cNvPr>
          <p:cNvSpPr txBox="1"/>
          <p:nvPr/>
        </p:nvSpPr>
        <p:spPr>
          <a:xfrm>
            <a:off x="2829488" y="5392040"/>
            <a:ext cx="69538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Claim: We can move all operations of </a:t>
            </a:r>
            <a:r>
              <a:rPr lang="en-US" sz="2000" dirty="0" err="1"/>
              <a:t>T</a:t>
            </a:r>
            <a:r>
              <a:rPr lang="en-US" sz="2000" baseline="-25000" dirty="0" err="1"/>
              <a:t>i</a:t>
            </a:r>
            <a:r>
              <a:rPr lang="en-US" sz="2000" dirty="0"/>
              <a:t> to beginning of schedule (using swaps of consecutive non-conflicting operations).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B15B01-A4EE-4153-AEE8-8344C5B081BF}"/>
              </a:ext>
            </a:extLst>
          </p:cNvPr>
          <p:cNvSpPr txBox="1"/>
          <p:nvPr/>
        </p:nvSpPr>
        <p:spPr>
          <a:xfrm>
            <a:off x="2711624" y="4062265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S:</a:t>
            </a:r>
            <a:endParaRPr lang="en-US" sz="20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4944F7D-2288-4B20-AA73-61CA6236F97E}"/>
              </a:ext>
            </a:extLst>
          </p:cNvPr>
          <p:cNvCxnSpPr>
            <a:stCxn id="12" idx="3"/>
          </p:cNvCxnSpPr>
          <p:nvPr/>
        </p:nvCxnSpPr>
        <p:spPr>
          <a:xfrm flipV="1">
            <a:off x="3119108" y="4293097"/>
            <a:ext cx="637458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57E6212-D960-4A4F-BC27-8CD53B8A0FFE}"/>
              </a:ext>
            </a:extLst>
          </p:cNvPr>
          <p:cNvCxnSpPr/>
          <p:nvPr/>
        </p:nvCxnSpPr>
        <p:spPr>
          <a:xfrm>
            <a:off x="7320136" y="4185084"/>
            <a:ext cx="0" cy="2160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62364F-5B8A-4A92-B547-8A5497A49490}"/>
              </a:ext>
            </a:extLst>
          </p:cNvPr>
          <p:cNvCxnSpPr/>
          <p:nvPr/>
        </p:nvCxnSpPr>
        <p:spPr>
          <a:xfrm>
            <a:off x="7320136" y="3645024"/>
            <a:ext cx="0" cy="525252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AD75EEE-4C92-4E01-B9F3-9D6337B2D8EF}"/>
              </a:ext>
            </a:extLst>
          </p:cNvPr>
          <p:cNvSpPr txBox="1"/>
          <p:nvPr/>
        </p:nvSpPr>
        <p:spPr>
          <a:xfrm>
            <a:off x="6691629" y="3229526"/>
            <a:ext cx="1257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First unlock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4F2F87E-AA41-47DD-A430-1A08F7650F30}"/>
              </a:ext>
            </a:extLst>
          </p:cNvPr>
          <p:cNvCxnSpPr/>
          <p:nvPr/>
        </p:nvCxnSpPr>
        <p:spPr>
          <a:xfrm>
            <a:off x="6186829" y="4186399"/>
            <a:ext cx="0" cy="2160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7A742C9-D8E0-4D0D-B7BD-9F99B27773F2}"/>
              </a:ext>
            </a:extLst>
          </p:cNvPr>
          <p:cNvSpPr txBox="1"/>
          <p:nvPr/>
        </p:nvSpPr>
        <p:spPr>
          <a:xfrm>
            <a:off x="7009794" y="4407197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</a:t>
            </a:r>
            <a:r>
              <a:rPr lang="en-US" baseline="-25000" dirty="0" err="1"/>
              <a:t>i</a:t>
            </a:r>
            <a:r>
              <a:rPr lang="en-US" dirty="0"/>
              <a:t>(X)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F73702-A8E7-4ECC-8F7A-0C74B2365CDB}"/>
              </a:ext>
            </a:extLst>
          </p:cNvPr>
          <p:cNvSpPr txBox="1"/>
          <p:nvPr/>
        </p:nvSpPr>
        <p:spPr>
          <a:xfrm>
            <a:off x="5929796" y="4401108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r</a:t>
            </a:r>
            <a:r>
              <a:rPr lang="en-US" baseline="-25000" dirty="0" err="1"/>
              <a:t>i</a:t>
            </a:r>
            <a:r>
              <a:rPr lang="en-US" dirty="0"/>
              <a:t>(Y)</a:t>
            </a:r>
          </a:p>
        </p:txBody>
      </p:sp>
    </p:spTree>
    <p:extLst>
      <p:ext uri="{BB962C8B-B14F-4D97-AF65-F5344CB8AC3E}">
        <p14:creationId xmlns:p14="http://schemas.microsoft.com/office/powerpoint/2010/main" val="3575719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541"/>
    </mc:Choice>
    <mc:Fallback xmlns="">
      <p:transition spd="slow" advTm="185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79352-2C9F-4A28-A04E-1F9D85ECB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2PL Ensures Conflict-Serializability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7C55A-0245-4DC7-9FAA-6E9912803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If S is a schedule containing only 2PL transactions, then S is conflict-serializable.</a:t>
            </a:r>
          </a:p>
          <a:p>
            <a:r>
              <a:rPr lang="en-US" dirty="0">
                <a:solidFill>
                  <a:schemeClr val="tx1"/>
                </a:solidFill>
              </a:rPr>
              <a:t>Proof idea:</a:t>
            </a:r>
          </a:p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DDD9D-B9D9-4C33-8787-AFA80EA63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9B31EE-E2A4-4374-AF8F-8A2D1FF1D490}"/>
              </a:ext>
            </a:extLst>
          </p:cNvPr>
          <p:cNvSpPr txBox="1"/>
          <p:nvPr/>
        </p:nvSpPr>
        <p:spPr>
          <a:xfrm>
            <a:off x="2829488" y="5392040"/>
            <a:ext cx="69538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Claim: We can move all operations of </a:t>
            </a:r>
            <a:r>
              <a:rPr lang="en-US" sz="2000" dirty="0" err="1"/>
              <a:t>T</a:t>
            </a:r>
            <a:r>
              <a:rPr lang="en-US" sz="2000" baseline="-25000" dirty="0" err="1"/>
              <a:t>i</a:t>
            </a:r>
            <a:r>
              <a:rPr lang="en-US" sz="2000" dirty="0"/>
              <a:t> to beginning of schedule (using swaps of consecutive non-conflicting operations).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3CEF65-356E-4F11-9721-EDA9D7F77645}"/>
              </a:ext>
            </a:extLst>
          </p:cNvPr>
          <p:cNvSpPr txBox="1"/>
          <p:nvPr/>
        </p:nvSpPr>
        <p:spPr>
          <a:xfrm>
            <a:off x="2711624" y="4062265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S:</a:t>
            </a:r>
            <a:endParaRPr lang="en-US" sz="20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C90612E-56F6-4C90-B436-5DD0BAB17D1C}"/>
              </a:ext>
            </a:extLst>
          </p:cNvPr>
          <p:cNvCxnSpPr>
            <a:stCxn id="20" idx="3"/>
          </p:cNvCxnSpPr>
          <p:nvPr/>
        </p:nvCxnSpPr>
        <p:spPr>
          <a:xfrm flipV="1">
            <a:off x="3119108" y="4293097"/>
            <a:ext cx="637458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C9DFF9B-7230-4876-956D-3B0B6101FB5A}"/>
              </a:ext>
            </a:extLst>
          </p:cNvPr>
          <p:cNvCxnSpPr/>
          <p:nvPr/>
        </p:nvCxnSpPr>
        <p:spPr>
          <a:xfrm>
            <a:off x="7320136" y="4185084"/>
            <a:ext cx="0" cy="2160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FF9DEEB-B21F-4446-9A34-03D6DB95B484}"/>
              </a:ext>
            </a:extLst>
          </p:cNvPr>
          <p:cNvCxnSpPr/>
          <p:nvPr/>
        </p:nvCxnSpPr>
        <p:spPr>
          <a:xfrm>
            <a:off x="7320136" y="3645024"/>
            <a:ext cx="0" cy="525252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7F3E405-1076-4E7C-A6D1-B1F68E58EA4C}"/>
              </a:ext>
            </a:extLst>
          </p:cNvPr>
          <p:cNvSpPr txBox="1"/>
          <p:nvPr/>
        </p:nvSpPr>
        <p:spPr>
          <a:xfrm>
            <a:off x="6691629" y="3229526"/>
            <a:ext cx="1257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First unlock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983FE77-2E52-4EA4-B9BC-3410C44101CC}"/>
              </a:ext>
            </a:extLst>
          </p:cNvPr>
          <p:cNvCxnSpPr/>
          <p:nvPr/>
        </p:nvCxnSpPr>
        <p:spPr>
          <a:xfrm>
            <a:off x="6186829" y="4186399"/>
            <a:ext cx="0" cy="2160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C1271B6-B3B6-4B97-842A-C94537CE94B7}"/>
              </a:ext>
            </a:extLst>
          </p:cNvPr>
          <p:cNvCxnSpPr/>
          <p:nvPr/>
        </p:nvCxnSpPr>
        <p:spPr>
          <a:xfrm>
            <a:off x="5591944" y="4187714"/>
            <a:ext cx="0" cy="21602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F2E4EFC-F32F-4462-8F8F-D1F7AEEA7A79}"/>
              </a:ext>
            </a:extLst>
          </p:cNvPr>
          <p:cNvCxnSpPr/>
          <p:nvPr/>
        </p:nvCxnSpPr>
        <p:spPr>
          <a:xfrm>
            <a:off x="5591944" y="3637185"/>
            <a:ext cx="0" cy="525252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CE33907-719F-4AC9-B557-978AA63004ED}"/>
              </a:ext>
            </a:extLst>
          </p:cNvPr>
          <p:cNvSpPr txBox="1"/>
          <p:nvPr/>
        </p:nvSpPr>
        <p:spPr>
          <a:xfrm>
            <a:off x="5060962" y="3221687"/>
            <a:ext cx="1061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Conflict 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ECD3EE-6B0C-473B-814E-438D76EACFB5}"/>
              </a:ext>
            </a:extLst>
          </p:cNvPr>
          <p:cNvSpPr txBox="1"/>
          <p:nvPr/>
        </p:nvSpPr>
        <p:spPr>
          <a:xfrm>
            <a:off x="5249000" y="4401108"/>
            <a:ext cx="63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</a:t>
            </a:r>
            <a:r>
              <a:rPr lang="en-US" baseline="-25000" dirty="0" err="1"/>
              <a:t>j</a:t>
            </a:r>
            <a:r>
              <a:rPr lang="en-US" dirty="0"/>
              <a:t>(Y)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A75E67-0AC6-435B-8A47-B9137DF4D698}"/>
              </a:ext>
            </a:extLst>
          </p:cNvPr>
          <p:cNvSpPr txBox="1"/>
          <p:nvPr/>
        </p:nvSpPr>
        <p:spPr>
          <a:xfrm>
            <a:off x="7009794" y="4407197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</a:t>
            </a:r>
            <a:r>
              <a:rPr lang="en-US" baseline="-25000" dirty="0" err="1"/>
              <a:t>i</a:t>
            </a:r>
            <a:r>
              <a:rPr lang="en-US" dirty="0"/>
              <a:t>(X)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A5312E-7546-4077-8082-539951EC1C89}"/>
              </a:ext>
            </a:extLst>
          </p:cNvPr>
          <p:cNvSpPr txBox="1"/>
          <p:nvPr/>
        </p:nvSpPr>
        <p:spPr>
          <a:xfrm>
            <a:off x="5929796" y="4401108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r</a:t>
            </a:r>
            <a:r>
              <a:rPr lang="en-US" baseline="-25000" dirty="0" err="1"/>
              <a:t>i</a:t>
            </a:r>
            <a:r>
              <a:rPr lang="en-US" dirty="0"/>
              <a:t>(Y)</a:t>
            </a:r>
          </a:p>
        </p:txBody>
      </p:sp>
    </p:spTree>
    <p:extLst>
      <p:ext uri="{BB962C8B-B14F-4D97-AF65-F5344CB8AC3E}">
        <p14:creationId xmlns:p14="http://schemas.microsoft.com/office/powerpoint/2010/main" val="1361270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861"/>
    </mc:Choice>
    <mc:Fallback xmlns="">
      <p:transition spd="slow" advTm="368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79352-2C9F-4A28-A04E-1F9D85ECB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2PL Ensures Conflict-Serializability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7C55A-0245-4DC7-9FAA-6E9912803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If S is a schedule containing only 2PL transactions, then S is conflict-serializable.</a:t>
            </a:r>
          </a:p>
          <a:p>
            <a:r>
              <a:rPr lang="en-US" dirty="0">
                <a:solidFill>
                  <a:schemeClr val="tx1"/>
                </a:solidFill>
              </a:rPr>
              <a:t>Proof idea:</a:t>
            </a:r>
          </a:p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DDD9D-B9D9-4C33-8787-AFA80EA63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9B31EE-E2A4-4374-AF8F-8A2D1FF1D490}"/>
              </a:ext>
            </a:extLst>
          </p:cNvPr>
          <p:cNvSpPr txBox="1"/>
          <p:nvPr/>
        </p:nvSpPr>
        <p:spPr>
          <a:xfrm>
            <a:off x="2829488" y="5392040"/>
            <a:ext cx="69538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Claim: We can move all operations of </a:t>
            </a:r>
            <a:r>
              <a:rPr lang="en-US" sz="2000" dirty="0" err="1"/>
              <a:t>T</a:t>
            </a:r>
            <a:r>
              <a:rPr lang="en-US" sz="2000" baseline="-25000" dirty="0" err="1"/>
              <a:t>i</a:t>
            </a:r>
            <a:r>
              <a:rPr lang="en-US" sz="2000" dirty="0"/>
              <a:t> to beginning of schedule (using swaps of consecutive non-conflicting operations).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63F974-B47B-4A06-89AD-6347497A9505}"/>
              </a:ext>
            </a:extLst>
          </p:cNvPr>
          <p:cNvSpPr txBox="1"/>
          <p:nvPr/>
        </p:nvSpPr>
        <p:spPr>
          <a:xfrm>
            <a:off x="2711624" y="4062265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S:</a:t>
            </a:r>
            <a:endParaRPr lang="en-US" sz="20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ECF3BD2-9675-4888-9C00-C129A680B8F9}"/>
              </a:ext>
            </a:extLst>
          </p:cNvPr>
          <p:cNvCxnSpPr>
            <a:stCxn id="18" idx="3"/>
          </p:cNvCxnSpPr>
          <p:nvPr/>
        </p:nvCxnSpPr>
        <p:spPr>
          <a:xfrm flipV="1">
            <a:off x="3119108" y="4293097"/>
            <a:ext cx="637458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5BAAD53-BA4D-47B4-A730-5EE31360A630}"/>
              </a:ext>
            </a:extLst>
          </p:cNvPr>
          <p:cNvCxnSpPr/>
          <p:nvPr/>
        </p:nvCxnSpPr>
        <p:spPr>
          <a:xfrm>
            <a:off x="7320136" y="4185084"/>
            <a:ext cx="0" cy="2160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0715EAF-EFD3-4DC2-BE3C-CBE3910C6083}"/>
              </a:ext>
            </a:extLst>
          </p:cNvPr>
          <p:cNvCxnSpPr/>
          <p:nvPr/>
        </p:nvCxnSpPr>
        <p:spPr>
          <a:xfrm>
            <a:off x="7320136" y="3645024"/>
            <a:ext cx="0" cy="525252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6F1FA16-7134-4E82-81C6-CDF2A5D0194C}"/>
              </a:ext>
            </a:extLst>
          </p:cNvPr>
          <p:cNvSpPr txBox="1"/>
          <p:nvPr/>
        </p:nvSpPr>
        <p:spPr>
          <a:xfrm>
            <a:off x="6691629" y="3229526"/>
            <a:ext cx="1257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First unlock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C84BFE3-C0B5-43C3-BA4F-E015B837E9DE}"/>
              </a:ext>
            </a:extLst>
          </p:cNvPr>
          <p:cNvCxnSpPr/>
          <p:nvPr/>
        </p:nvCxnSpPr>
        <p:spPr>
          <a:xfrm>
            <a:off x="5591944" y="4187714"/>
            <a:ext cx="0" cy="21602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47D416B-6D88-4D63-B902-19422D09AB08}"/>
              </a:ext>
            </a:extLst>
          </p:cNvPr>
          <p:cNvCxnSpPr/>
          <p:nvPr/>
        </p:nvCxnSpPr>
        <p:spPr>
          <a:xfrm>
            <a:off x="5591944" y="3637185"/>
            <a:ext cx="0" cy="525252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0B2D516-C8DF-4E20-8DDF-1E4B5E9E5923}"/>
              </a:ext>
            </a:extLst>
          </p:cNvPr>
          <p:cNvSpPr txBox="1"/>
          <p:nvPr/>
        </p:nvSpPr>
        <p:spPr>
          <a:xfrm>
            <a:off x="5060962" y="3221687"/>
            <a:ext cx="1061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Conflict 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83D74E-7691-4263-BFD2-E54908C322B2}"/>
              </a:ext>
            </a:extLst>
          </p:cNvPr>
          <p:cNvSpPr txBox="1"/>
          <p:nvPr/>
        </p:nvSpPr>
        <p:spPr>
          <a:xfrm>
            <a:off x="5249000" y="4401108"/>
            <a:ext cx="63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</a:t>
            </a:r>
            <a:r>
              <a:rPr lang="en-US" baseline="-25000" dirty="0" err="1"/>
              <a:t>j</a:t>
            </a:r>
            <a:r>
              <a:rPr lang="en-US" dirty="0"/>
              <a:t>(Y)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14B2A3-867E-4055-99F6-AF7F75BDC22D}"/>
              </a:ext>
            </a:extLst>
          </p:cNvPr>
          <p:cNvSpPr txBox="1"/>
          <p:nvPr/>
        </p:nvSpPr>
        <p:spPr>
          <a:xfrm>
            <a:off x="7009794" y="4407197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</a:t>
            </a:r>
            <a:r>
              <a:rPr lang="en-US" baseline="-25000" dirty="0" err="1"/>
              <a:t>i</a:t>
            </a:r>
            <a:r>
              <a:rPr lang="en-US" dirty="0"/>
              <a:t>(X)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443F23-3299-4209-AD49-696BF22A5E39}"/>
              </a:ext>
            </a:extLst>
          </p:cNvPr>
          <p:cNvSpPr txBox="1"/>
          <p:nvPr/>
        </p:nvSpPr>
        <p:spPr>
          <a:xfrm>
            <a:off x="5929796" y="4401108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r</a:t>
            </a:r>
            <a:r>
              <a:rPr lang="en-US" baseline="-25000" dirty="0" err="1"/>
              <a:t>i</a:t>
            </a:r>
            <a:r>
              <a:rPr lang="en-US" dirty="0"/>
              <a:t>(Y)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2BFADBC-8BEF-490E-AA5F-42A8E1912CDB}"/>
              </a:ext>
            </a:extLst>
          </p:cNvPr>
          <p:cNvCxnSpPr/>
          <p:nvPr/>
        </p:nvCxnSpPr>
        <p:spPr>
          <a:xfrm>
            <a:off x="6186829" y="4186399"/>
            <a:ext cx="0" cy="2160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A6FEC6F-5A2D-4329-8860-D2545E61B835}"/>
              </a:ext>
            </a:extLst>
          </p:cNvPr>
          <p:cNvSpPr txBox="1"/>
          <p:nvPr/>
        </p:nvSpPr>
        <p:spPr>
          <a:xfrm>
            <a:off x="5887316" y="4939534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baseline="-25000" dirty="0"/>
              <a:t>i</a:t>
            </a:r>
            <a:r>
              <a:rPr lang="en-US" dirty="0"/>
              <a:t>(Y)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7FC14B6-3751-4A0A-8CB5-6286E75C8830}"/>
              </a:ext>
            </a:extLst>
          </p:cNvPr>
          <p:cNvSpPr txBox="1"/>
          <p:nvPr/>
        </p:nvSpPr>
        <p:spPr>
          <a:xfrm>
            <a:off x="5296036" y="4939534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</a:t>
            </a:r>
            <a:r>
              <a:rPr lang="en-US" baseline="-25000" dirty="0" err="1"/>
              <a:t>j</a:t>
            </a:r>
            <a:r>
              <a:rPr lang="en-US" dirty="0"/>
              <a:t>(Y)</a:t>
            </a:r>
          </a:p>
        </p:txBody>
      </p:sp>
      <p:cxnSp>
        <p:nvCxnSpPr>
          <p:cNvPr id="44" name="Elbow Connector 34">
            <a:extLst>
              <a:ext uri="{FF2B5EF4-FFF2-40B4-BE49-F238E27FC236}">
                <a16:creationId xmlns:a16="http://schemas.microsoft.com/office/drawing/2014/main" id="{836D515A-F214-41E6-ABC4-CBD336CFCB8E}"/>
              </a:ext>
            </a:extLst>
          </p:cNvPr>
          <p:cNvCxnSpPr/>
          <p:nvPr/>
        </p:nvCxnSpPr>
        <p:spPr>
          <a:xfrm rot="5400000">
            <a:off x="5416791" y="4508296"/>
            <a:ext cx="608001" cy="254474"/>
          </a:xfrm>
          <a:prstGeom prst="bentConnector3">
            <a:avLst>
              <a:gd name="adj1" fmla="val 77491"/>
            </a:avLst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35">
            <a:extLst>
              <a:ext uri="{FF2B5EF4-FFF2-40B4-BE49-F238E27FC236}">
                <a16:creationId xmlns:a16="http://schemas.microsoft.com/office/drawing/2014/main" id="{87FFEBB0-E86F-482B-8A91-7E0646F097F4}"/>
              </a:ext>
            </a:extLst>
          </p:cNvPr>
          <p:cNvCxnSpPr/>
          <p:nvPr/>
        </p:nvCxnSpPr>
        <p:spPr>
          <a:xfrm rot="16200000" flipH="1">
            <a:off x="5736362" y="4525528"/>
            <a:ext cx="608002" cy="220011"/>
          </a:xfrm>
          <a:prstGeom prst="bentConnector3">
            <a:avLst>
              <a:gd name="adj1" fmla="val 77491"/>
            </a:avLst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530740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192"/>
    </mc:Choice>
    <mc:Fallback xmlns="">
      <p:transition spd="slow" advTm="941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1.48148E-6 L 0.25 1.48148E-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22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24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26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28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30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2" grpId="0"/>
      <p:bldP spid="42" grpId="1"/>
      <p:bldP spid="43" grpId="0"/>
      <p:bldP spid="4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79352-2C9F-4A28-A04E-1F9D85ECB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2PL Ensures Conflict-Serializability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7C55A-0245-4DC7-9FAA-6E9912803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If S is a schedule containing only 2PL transactions, then S is conflict-serializable.</a:t>
            </a:r>
          </a:p>
          <a:p>
            <a:r>
              <a:rPr lang="en-US" dirty="0">
                <a:solidFill>
                  <a:schemeClr val="tx1"/>
                </a:solidFill>
              </a:rPr>
              <a:t>Proof idea:</a:t>
            </a:r>
          </a:p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DDD9D-B9D9-4C33-8787-AFA80EA63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9B31EE-E2A4-4374-AF8F-8A2D1FF1D490}"/>
              </a:ext>
            </a:extLst>
          </p:cNvPr>
          <p:cNvSpPr txBox="1"/>
          <p:nvPr/>
        </p:nvSpPr>
        <p:spPr>
          <a:xfrm>
            <a:off x="2829488" y="5392040"/>
            <a:ext cx="69538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Claim: We can move all operations of </a:t>
            </a:r>
            <a:r>
              <a:rPr lang="en-US" sz="2000" dirty="0" err="1"/>
              <a:t>T</a:t>
            </a:r>
            <a:r>
              <a:rPr lang="en-US" sz="2000" baseline="-25000" dirty="0" err="1"/>
              <a:t>i</a:t>
            </a:r>
            <a:r>
              <a:rPr lang="en-US" sz="2000" dirty="0"/>
              <a:t> to beginning of schedule (using swaps of consecutive non-conflicting operations).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582DB7-F86B-4EA0-92DE-DCE1A02D44B4}"/>
              </a:ext>
            </a:extLst>
          </p:cNvPr>
          <p:cNvSpPr txBox="1"/>
          <p:nvPr/>
        </p:nvSpPr>
        <p:spPr>
          <a:xfrm>
            <a:off x="2711624" y="4062265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S:</a:t>
            </a:r>
            <a:endParaRPr lang="en-US" sz="20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72655B9-355C-43DE-AFBD-903929AD7535}"/>
              </a:ext>
            </a:extLst>
          </p:cNvPr>
          <p:cNvCxnSpPr>
            <a:stCxn id="22" idx="3"/>
          </p:cNvCxnSpPr>
          <p:nvPr/>
        </p:nvCxnSpPr>
        <p:spPr>
          <a:xfrm flipV="1">
            <a:off x="3119108" y="4293097"/>
            <a:ext cx="637458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1D5A054-7F48-46D8-92EB-6B03652F404F}"/>
              </a:ext>
            </a:extLst>
          </p:cNvPr>
          <p:cNvCxnSpPr/>
          <p:nvPr/>
        </p:nvCxnSpPr>
        <p:spPr>
          <a:xfrm>
            <a:off x="7320136" y="4185084"/>
            <a:ext cx="0" cy="2160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67B9FA-2BDA-4799-8938-7A52F3451274}"/>
              </a:ext>
            </a:extLst>
          </p:cNvPr>
          <p:cNvCxnSpPr/>
          <p:nvPr/>
        </p:nvCxnSpPr>
        <p:spPr>
          <a:xfrm>
            <a:off x="7320136" y="3645024"/>
            <a:ext cx="0" cy="525252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E090953-03D0-40FB-862B-D6E8BD248CCA}"/>
              </a:ext>
            </a:extLst>
          </p:cNvPr>
          <p:cNvSpPr txBox="1"/>
          <p:nvPr/>
        </p:nvSpPr>
        <p:spPr>
          <a:xfrm>
            <a:off x="6691629" y="3229526"/>
            <a:ext cx="1257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First unlock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434D1B7-C638-4DD5-B894-B9994007D99E}"/>
              </a:ext>
            </a:extLst>
          </p:cNvPr>
          <p:cNvCxnSpPr/>
          <p:nvPr/>
        </p:nvCxnSpPr>
        <p:spPr>
          <a:xfrm>
            <a:off x="5591944" y="4187714"/>
            <a:ext cx="0" cy="21602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8308753-EC25-4B47-AC72-21FBE7BF9F2A}"/>
              </a:ext>
            </a:extLst>
          </p:cNvPr>
          <p:cNvCxnSpPr/>
          <p:nvPr/>
        </p:nvCxnSpPr>
        <p:spPr>
          <a:xfrm>
            <a:off x="5591944" y="3637185"/>
            <a:ext cx="0" cy="525252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DA2D08F-AE60-42F9-8D5E-B447F671A2E7}"/>
              </a:ext>
            </a:extLst>
          </p:cNvPr>
          <p:cNvSpPr txBox="1"/>
          <p:nvPr/>
        </p:nvSpPr>
        <p:spPr>
          <a:xfrm>
            <a:off x="5060962" y="3221687"/>
            <a:ext cx="1061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Conflict 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CC5C14-F9A7-4963-8753-FC1596BF84E8}"/>
              </a:ext>
            </a:extLst>
          </p:cNvPr>
          <p:cNvSpPr txBox="1"/>
          <p:nvPr/>
        </p:nvSpPr>
        <p:spPr>
          <a:xfrm>
            <a:off x="5249000" y="4401108"/>
            <a:ext cx="63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</a:t>
            </a:r>
            <a:r>
              <a:rPr lang="en-US" baseline="-25000" dirty="0" err="1"/>
              <a:t>j</a:t>
            </a:r>
            <a:r>
              <a:rPr lang="en-US" dirty="0"/>
              <a:t>(Y)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BC1324-D259-4C9A-AFB7-B4A0E5BB5632}"/>
              </a:ext>
            </a:extLst>
          </p:cNvPr>
          <p:cNvSpPr txBox="1"/>
          <p:nvPr/>
        </p:nvSpPr>
        <p:spPr>
          <a:xfrm>
            <a:off x="7009794" y="4407197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</a:t>
            </a:r>
            <a:r>
              <a:rPr lang="en-US" baseline="-25000" dirty="0" err="1"/>
              <a:t>i</a:t>
            </a:r>
            <a:r>
              <a:rPr lang="en-US" dirty="0"/>
              <a:t>(X)</a:t>
            </a:r>
          </a:p>
        </p:txBody>
      </p:sp>
      <p:cxnSp>
        <p:nvCxnSpPr>
          <p:cNvPr id="46" name="Elbow Connector 21">
            <a:extLst>
              <a:ext uri="{FF2B5EF4-FFF2-40B4-BE49-F238E27FC236}">
                <a16:creationId xmlns:a16="http://schemas.microsoft.com/office/drawing/2014/main" id="{E62FAB05-4621-45D4-8BC4-11BA6F186691}"/>
              </a:ext>
            </a:extLst>
          </p:cNvPr>
          <p:cNvCxnSpPr/>
          <p:nvPr/>
        </p:nvCxnSpPr>
        <p:spPr>
          <a:xfrm rot="5400000">
            <a:off x="7705201" y="4511854"/>
            <a:ext cx="608001" cy="254474"/>
          </a:xfrm>
          <a:prstGeom prst="bentConnector3">
            <a:avLst>
              <a:gd name="adj1" fmla="val 77491"/>
            </a:avLst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24">
            <a:extLst>
              <a:ext uri="{FF2B5EF4-FFF2-40B4-BE49-F238E27FC236}">
                <a16:creationId xmlns:a16="http://schemas.microsoft.com/office/drawing/2014/main" id="{08934166-C509-49B2-B38A-BF7C2FD5A978}"/>
              </a:ext>
            </a:extLst>
          </p:cNvPr>
          <p:cNvCxnSpPr/>
          <p:nvPr/>
        </p:nvCxnSpPr>
        <p:spPr>
          <a:xfrm rot="16200000" flipH="1">
            <a:off x="8022000" y="4525528"/>
            <a:ext cx="608002" cy="220011"/>
          </a:xfrm>
          <a:prstGeom prst="bentConnector3">
            <a:avLst>
              <a:gd name="adj1" fmla="val 77491"/>
            </a:avLst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57C8B50-BE7D-4119-981F-BB7D38A99AC2}"/>
              </a:ext>
            </a:extLst>
          </p:cNvPr>
          <p:cNvSpPr txBox="1"/>
          <p:nvPr/>
        </p:nvSpPr>
        <p:spPr>
          <a:xfrm>
            <a:off x="8184000" y="4943092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baseline="-25000" dirty="0"/>
              <a:t>i</a:t>
            </a:r>
            <a:r>
              <a:rPr lang="en-US" dirty="0"/>
              <a:t>(Y)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E47AEA-9795-4513-9AA2-5F8298F5A571}"/>
              </a:ext>
            </a:extLst>
          </p:cNvPr>
          <p:cNvSpPr txBox="1"/>
          <p:nvPr/>
        </p:nvSpPr>
        <p:spPr>
          <a:xfrm>
            <a:off x="7590001" y="4943092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</a:t>
            </a:r>
            <a:r>
              <a:rPr lang="en-US" baseline="-25000" dirty="0" err="1"/>
              <a:t>j</a:t>
            </a:r>
            <a:r>
              <a:rPr lang="en-US" dirty="0"/>
              <a:t>(Y)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E8D855-5F99-44C0-8779-67ED65B07896}"/>
              </a:ext>
            </a:extLst>
          </p:cNvPr>
          <p:cNvSpPr txBox="1"/>
          <p:nvPr/>
        </p:nvSpPr>
        <p:spPr>
          <a:xfrm>
            <a:off x="8213222" y="4407197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r</a:t>
            </a:r>
            <a:r>
              <a:rPr lang="en-US" baseline="-25000" dirty="0" err="1"/>
              <a:t>i</a:t>
            </a:r>
            <a:r>
              <a:rPr lang="en-US" dirty="0"/>
              <a:t>(Y)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4EA1D04-2A20-4BD5-814B-05179DED370C}"/>
              </a:ext>
            </a:extLst>
          </p:cNvPr>
          <p:cNvCxnSpPr/>
          <p:nvPr/>
        </p:nvCxnSpPr>
        <p:spPr>
          <a:xfrm>
            <a:off x="8470255" y="4192488"/>
            <a:ext cx="0" cy="2160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ular Callout 34">
            <a:extLst>
              <a:ext uri="{FF2B5EF4-FFF2-40B4-BE49-F238E27FC236}">
                <a16:creationId xmlns:a16="http://schemas.microsoft.com/office/drawing/2014/main" id="{E56CAAC4-0ED1-463B-A5F9-AC44B84B2A85}"/>
              </a:ext>
            </a:extLst>
          </p:cNvPr>
          <p:cNvSpPr/>
          <p:nvPr/>
        </p:nvSpPr>
        <p:spPr>
          <a:xfrm>
            <a:off x="7755628" y="5448631"/>
            <a:ext cx="1738068" cy="425234"/>
          </a:xfrm>
          <a:prstGeom prst="wedgeRoundRectCallout">
            <a:avLst>
              <a:gd name="adj1" fmla="val -15513"/>
              <a:gd name="adj2" fmla="val -8379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contradicts 2PL!</a:t>
            </a:r>
          </a:p>
        </p:txBody>
      </p:sp>
    </p:spTree>
    <p:extLst>
      <p:ext uri="{BB962C8B-B14F-4D97-AF65-F5344CB8AC3E}">
        <p14:creationId xmlns:p14="http://schemas.microsoft.com/office/powerpoint/2010/main" val="2774604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488"/>
    </mc:Choice>
    <mc:Fallback xmlns="">
      <p:transition spd="slow" advTm="224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79352-2C9F-4A28-A04E-1F9D85ECB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2PL Ensures Conflict-Serializability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7C55A-0245-4DC7-9FAA-6E9912803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If S is a schedule containing only 2PL transactions, then S is conflict-serializable.</a:t>
            </a:r>
          </a:p>
          <a:p>
            <a:r>
              <a:rPr lang="en-US" dirty="0">
                <a:solidFill>
                  <a:schemeClr val="tx1"/>
                </a:solidFill>
              </a:rPr>
              <a:t>Proof idea:</a:t>
            </a:r>
          </a:p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DDD9D-B9D9-4C33-8787-AFA80EA63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9B31EE-E2A4-4374-AF8F-8A2D1FF1D490}"/>
              </a:ext>
            </a:extLst>
          </p:cNvPr>
          <p:cNvSpPr txBox="1"/>
          <p:nvPr/>
        </p:nvSpPr>
        <p:spPr>
          <a:xfrm>
            <a:off x="2829488" y="5392040"/>
            <a:ext cx="69538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Claim: We can move all operations of </a:t>
            </a:r>
            <a:r>
              <a:rPr lang="en-US" sz="2000" dirty="0" err="1"/>
              <a:t>T</a:t>
            </a:r>
            <a:r>
              <a:rPr lang="en-US" sz="2000" baseline="-25000" dirty="0" err="1"/>
              <a:t>i</a:t>
            </a:r>
            <a:r>
              <a:rPr lang="en-US" sz="2000" dirty="0"/>
              <a:t> to beginning of schedule (using swaps of consecutive non-conflicting operations).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79AF7B-1DDB-4020-866A-2F8C555E9DE4}"/>
              </a:ext>
            </a:extLst>
          </p:cNvPr>
          <p:cNvSpPr txBox="1"/>
          <p:nvPr/>
        </p:nvSpPr>
        <p:spPr>
          <a:xfrm>
            <a:off x="2711624" y="4062265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S:</a:t>
            </a:r>
            <a:endParaRPr lang="en-US" sz="20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0D098D4-CCCB-4829-9101-91F5A0687686}"/>
              </a:ext>
            </a:extLst>
          </p:cNvPr>
          <p:cNvCxnSpPr>
            <a:stCxn id="32" idx="3"/>
          </p:cNvCxnSpPr>
          <p:nvPr/>
        </p:nvCxnSpPr>
        <p:spPr>
          <a:xfrm flipV="1">
            <a:off x="3119108" y="4293097"/>
            <a:ext cx="637458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1D6B462-651D-43C9-8E6E-6F41CA2F0E8D}"/>
              </a:ext>
            </a:extLst>
          </p:cNvPr>
          <p:cNvCxnSpPr/>
          <p:nvPr/>
        </p:nvCxnSpPr>
        <p:spPr>
          <a:xfrm>
            <a:off x="7320136" y="4185084"/>
            <a:ext cx="0" cy="2160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C02B8F4-2950-4BAE-81BC-D8CC54E9D481}"/>
              </a:ext>
            </a:extLst>
          </p:cNvPr>
          <p:cNvCxnSpPr/>
          <p:nvPr/>
        </p:nvCxnSpPr>
        <p:spPr>
          <a:xfrm>
            <a:off x="7320136" y="3645024"/>
            <a:ext cx="0" cy="525252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80C7BC8-CC33-4158-81FF-EACDD3C61116}"/>
              </a:ext>
            </a:extLst>
          </p:cNvPr>
          <p:cNvSpPr txBox="1"/>
          <p:nvPr/>
        </p:nvSpPr>
        <p:spPr>
          <a:xfrm>
            <a:off x="6691629" y="3229526"/>
            <a:ext cx="1257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First unlock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C086FBD-2196-4AD7-B8B7-664AF51C0D48}"/>
              </a:ext>
            </a:extLst>
          </p:cNvPr>
          <p:cNvCxnSpPr/>
          <p:nvPr/>
        </p:nvCxnSpPr>
        <p:spPr>
          <a:xfrm>
            <a:off x="6186829" y="4186399"/>
            <a:ext cx="0" cy="2160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58B1B61-EAFD-4242-BB17-973434F534ED}"/>
              </a:ext>
            </a:extLst>
          </p:cNvPr>
          <p:cNvSpPr txBox="1"/>
          <p:nvPr/>
        </p:nvSpPr>
        <p:spPr>
          <a:xfrm>
            <a:off x="7009794" y="4407197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</a:t>
            </a:r>
            <a:r>
              <a:rPr lang="en-US" baseline="-25000" dirty="0" err="1"/>
              <a:t>i</a:t>
            </a:r>
            <a:r>
              <a:rPr lang="en-US" dirty="0"/>
              <a:t>(X)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7D2EAB-6B6C-4FFE-B3D3-F9A0A4D5B4A1}"/>
              </a:ext>
            </a:extLst>
          </p:cNvPr>
          <p:cNvSpPr txBox="1"/>
          <p:nvPr/>
        </p:nvSpPr>
        <p:spPr>
          <a:xfrm>
            <a:off x="5929796" y="4401108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r</a:t>
            </a:r>
            <a:r>
              <a:rPr lang="en-US" baseline="-25000" dirty="0" err="1"/>
              <a:t>i</a:t>
            </a:r>
            <a:r>
              <a:rPr lang="en-US" dirty="0"/>
              <a:t>(Y)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73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43"/>
    </mc:Choice>
    <mc:Fallback xmlns="">
      <p:transition spd="slow" advTm="117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1.48148E-6 L -0.25 1.48148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79352-2C9F-4A28-A04E-1F9D85ECB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2PL Ensures Conflict-Serializability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7C55A-0245-4DC7-9FAA-6E9912803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If S is a schedule containing only 2PL transactions, then S is conflict-serializable.</a:t>
            </a:r>
          </a:p>
          <a:p>
            <a:r>
              <a:rPr lang="en-US" dirty="0">
                <a:solidFill>
                  <a:schemeClr val="tx1"/>
                </a:solidFill>
              </a:rPr>
              <a:t>Proof idea:</a:t>
            </a:r>
          </a:p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DDD9D-B9D9-4C33-8787-AFA80EA63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9B31EE-E2A4-4374-AF8F-8A2D1FF1D490}"/>
              </a:ext>
            </a:extLst>
          </p:cNvPr>
          <p:cNvSpPr txBox="1"/>
          <p:nvPr/>
        </p:nvSpPr>
        <p:spPr>
          <a:xfrm>
            <a:off x="2829488" y="5392040"/>
            <a:ext cx="69538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Claim: We can move all operations of </a:t>
            </a:r>
            <a:r>
              <a:rPr lang="en-US" sz="2000" dirty="0" err="1"/>
              <a:t>T</a:t>
            </a:r>
            <a:r>
              <a:rPr lang="en-US" sz="2000" baseline="-25000" dirty="0" err="1"/>
              <a:t>i</a:t>
            </a:r>
            <a:r>
              <a:rPr lang="en-US" sz="2000" dirty="0"/>
              <a:t> to beginning of schedule (using swaps of consecutive non-conflicting operations).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7BF753-E52D-4F11-8FA9-BC5AD49C1FFE}"/>
              </a:ext>
            </a:extLst>
          </p:cNvPr>
          <p:cNvSpPr txBox="1"/>
          <p:nvPr/>
        </p:nvSpPr>
        <p:spPr>
          <a:xfrm>
            <a:off x="2711624" y="4062265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S:</a:t>
            </a:r>
            <a:endParaRPr lang="en-US" sz="20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B4977B2-4778-4838-9CA1-709FAE6D614B}"/>
              </a:ext>
            </a:extLst>
          </p:cNvPr>
          <p:cNvCxnSpPr>
            <a:stCxn id="14" idx="3"/>
          </p:cNvCxnSpPr>
          <p:nvPr/>
        </p:nvCxnSpPr>
        <p:spPr>
          <a:xfrm flipV="1">
            <a:off x="3119108" y="4293097"/>
            <a:ext cx="637458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1D93EAA-3A6B-4116-A50C-E4AE6ECB2579}"/>
              </a:ext>
            </a:extLst>
          </p:cNvPr>
          <p:cNvCxnSpPr/>
          <p:nvPr/>
        </p:nvCxnSpPr>
        <p:spPr>
          <a:xfrm>
            <a:off x="7320136" y="4185084"/>
            <a:ext cx="0" cy="2160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7D3DF76-F7AB-46B8-95CA-969FDF609AB4}"/>
              </a:ext>
            </a:extLst>
          </p:cNvPr>
          <p:cNvCxnSpPr/>
          <p:nvPr/>
        </p:nvCxnSpPr>
        <p:spPr>
          <a:xfrm>
            <a:off x="7320136" y="3645024"/>
            <a:ext cx="0" cy="525252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B337B9A-2B6E-42B4-9C26-148DC8FB4CE1}"/>
              </a:ext>
            </a:extLst>
          </p:cNvPr>
          <p:cNvSpPr txBox="1"/>
          <p:nvPr/>
        </p:nvSpPr>
        <p:spPr>
          <a:xfrm>
            <a:off x="6691629" y="3229526"/>
            <a:ext cx="1257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First unlock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8239C4-ABBF-4F29-BF6D-76DE361CBC98}"/>
              </a:ext>
            </a:extLst>
          </p:cNvPr>
          <p:cNvSpPr txBox="1"/>
          <p:nvPr/>
        </p:nvSpPr>
        <p:spPr>
          <a:xfrm>
            <a:off x="7009794" y="4407197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</a:t>
            </a:r>
            <a:r>
              <a:rPr lang="en-US" baseline="-25000" dirty="0" err="1"/>
              <a:t>i</a:t>
            </a:r>
            <a:r>
              <a:rPr lang="en-US" dirty="0"/>
              <a:t>(X)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0EBD9C5-8313-4EE9-975E-F5BBA0C94EA8}"/>
              </a:ext>
            </a:extLst>
          </p:cNvPr>
          <p:cNvCxnSpPr/>
          <p:nvPr/>
        </p:nvCxnSpPr>
        <p:spPr>
          <a:xfrm>
            <a:off x="3902782" y="4181753"/>
            <a:ext cx="0" cy="2160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ADCAC34-F2AC-49CC-B04E-44D4B5BFCA5B}"/>
              </a:ext>
            </a:extLst>
          </p:cNvPr>
          <p:cNvSpPr txBox="1"/>
          <p:nvPr/>
        </p:nvSpPr>
        <p:spPr>
          <a:xfrm>
            <a:off x="3645749" y="4396462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r</a:t>
            </a:r>
            <a:r>
              <a:rPr lang="en-US" baseline="-25000" dirty="0" err="1"/>
              <a:t>i</a:t>
            </a:r>
            <a:r>
              <a:rPr lang="en-US" dirty="0"/>
              <a:t>(Y)</a:t>
            </a:r>
          </a:p>
        </p:txBody>
      </p:sp>
    </p:spTree>
    <p:extLst>
      <p:ext uri="{BB962C8B-B14F-4D97-AF65-F5344CB8AC3E}">
        <p14:creationId xmlns:p14="http://schemas.microsoft.com/office/powerpoint/2010/main" val="1072663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1"/>
    </mc:Choice>
    <mc:Fallback xmlns="">
      <p:transition spd="slow" advTm="92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79352-2C9F-4A28-A04E-1F9D85ECB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2PL Ensures Conflict-Serializability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7C55A-0245-4DC7-9FAA-6E9912803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If S is a schedule containing only 2PL transactions, then S is conflict-serializable.</a:t>
            </a:r>
          </a:p>
          <a:p>
            <a:r>
              <a:rPr lang="en-US" dirty="0">
                <a:solidFill>
                  <a:schemeClr val="tx1"/>
                </a:solidFill>
              </a:rPr>
              <a:t>Proof idea:</a:t>
            </a:r>
          </a:p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DDD9D-B9D9-4C33-8787-AFA80EA63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9B31EE-E2A4-4374-AF8F-8A2D1FF1D490}"/>
              </a:ext>
            </a:extLst>
          </p:cNvPr>
          <p:cNvSpPr txBox="1"/>
          <p:nvPr/>
        </p:nvSpPr>
        <p:spPr>
          <a:xfrm>
            <a:off x="2829488" y="5392040"/>
            <a:ext cx="69538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Claim: We can move all operations of </a:t>
            </a:r>
            <a:r>
              <a:rPr lang="en-US" sz="2000" dirty="0" err="1"/>
              <a:t>T</a:t>
            </a:r>
            <a:r>
              <a:rPr lang="en-US" sz="2000" baseline="-25000" dirty="0" err="1"/>
              <a:t>i</a:t>
            </a:r>
            <a:r>
              <a:rPr lang="en-US" sz="2000" dirty="0"/>
              <a:t> to beginning of schedule (using swaps of consecutive non-conflicting operations).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5E06F6-A56E-4BF8-8926-C3E4C7D3B398}"/>
              </a:ext>
            </a:extLst>
          </p:cNvPr>
          <p:cNvSpPr txBox="1"/>
          <p:nvPr/>
        </p:nvSpPr>
        <p:spPr>
          <a:xfrm>
            <a:off x="2711624" y="4062265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S:</a:t>
            </a:r>
            <a:endParaRPr lang="en-US" sz="20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AB96376-1B9A-4D78-85BC-BDBAEEF5350A}"/>
              </a:ext>
            </a:extLst>
          </p:cNvPr>
          <p:cNvCxnSpPr>
            <a:stCxn id="22" idx="3"/>
          </p:cNvCxnSpPr>
          <p:nvPr/>
        </p:nvCxnSpPr>
        <p:spPr>
          <a:xfrm flipV="1">
            <a:off x="3119108" y="4293097"/>
            <a:ext cx="637458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BCEC8989-0D33-4D48-A658-897B40F510F1}"/>
              </a:ext>
            </a:extLst>
          </p:cNvPr>
          <p:cNvSpPr/>
          <p:nvPr/>
        </p:nvSpPr>
        <p:spPr>
          <a:xfrm>
            <a:off x="3119108" y="4097697"/>
            <a:ext cx="1717126" cy="426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Transaction </a:t>
            </a:r>
            <a:r>
              <a:rPr lang="en-US" dirty="0" err="1"/>
              <a:t>i</a:t>
            </a:r>
            <a:endParaRPr lang="en-US" dirty="0"/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26B92C12-0D44-4B9C-8893-3CA992EFCD57}"/>
              </a:ext>
            </a:extLst>
          </p:cNvPr>
          <p:cNvSpPr/>
          <p:nvPr/>
        </p:nvSpPr>
        <p:spPr>
          <a:xfrm rot="16200000">
            <a:off x="7021085" y="2481876"/>
            <a:ext cx="216024" cy="4558547"/>
          </a:xfrm>
          <a:prstGeom prst="leftBrace">
            <a:avLst>
              <a:gd name="adj1" fmla="val 8333"/>
              <a:gd name="adj2" fmla="val 5042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AF9FCB-97C3-48B0-9B66-4B568B913DCF}"/>
              </a:ext>
            </a:extLst>
          </p:cNvPr>
          <p:cNvSpPr txBox="1"/>
          <p:nvPr/>
        </p:nvSpPr>
        <p:spPr>
          <a:xfrm>
            <a:off x="5719684" y="4895434"/>
            <a:ext cx="30707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The tail is a new schedule that </a:t>
            </a:r>
            <a:br>
              <a:rPr lang="en-US" dirty="0"/>
            </a:br>
            <a:r>
              <a:rPr lang="en-US" dirty="0"/>
              <a:t>contains only 2PL transactions.</a:t>
            </a:r>
          </a:p>
        </p:txBody>
      </p:sp>
    </p:spTree>
    <p:extLst>
      <p:ext uri="{BB962C8B-B14F-4D97-AF65-F5344CB8AC3E}">
        <p14:creationId xmlns:p14="http://schemas.microsoft.com/office/powerpoint/2010/main" val="499010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406"/>
    </mc:Choice>
    <mc:Fallback xmlns="">
      <p:transition spd="slow" advTm="5240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6B8A3-C331-4CEF-98D0-FBBB197A5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2B803-66C7-4614-B48C-C6559BC32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2PL schedules are conflict-serializable as well and are a simple way to ensure such</a:t>
            </a:r>
            <a:endParaRPr lang="en-GB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210FF923-D028-44F2-8BCC-9AD96BAC6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3039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936"/>
    </mc:Choice>
    <mc:Fallback xmlns="">
      <p:transition spd="slow" advTm="31936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3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4|3.4|20.7|15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793</TotalTime>
  <Words>587</Words>
  <Application>Microsoft Office PowerPoint</Application>
  <PresentationFormat>Widescreen</PresentationFormat>
  <Paragraphs>105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Calibri</vt:lpstr>
      <vt:lpstr>Calibri Light</vt:lpstr>
      <vt:lpstr>Retrospect</vt:lpstr>
      <vt:lpstr>2PL ensures conflict-serializability </vt:lpstr>
      <vt:lpstr>Overview of this video</vt:lpstr>
      <vt:lpstr>Two-Phase Locking (2PL) (From video on Locking conflict-serializable schedules)</vt:lpstr>
      <vt:lpstr>2PL Ensures Conflict-Serializability</vt:lpstr>
      <vt:lpstr>2PL Ensures Conflict-Serializability</vt:lpstr>
      <vt:lpstr>2PL Ensures Conflict-Serializability</vt:lpstr>
      <vt:lpstr>2PL Ensures Conflict-Serializability</vt:lpstr>
      <vt:lpstr>2PL Ensures Conflict-Serializability</vt:lpstr>
      <vt:lpstr>2PL Ensures Conflict-Serializability</vt:lpstr>
      <vt:lpstr>2PL Ensures Conflict-Serializability</vt:lpstr>
      <vt:lpstr>2PL Ensures Conflict-Serializability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2PL ensures conflict-serializability</dc:title>
  <dc:creator>Rasmus Ibsen-Jensen</dc:creator>
  <cp:lastModifiedBy>Rasmus Ibsen-Jensen</cp:lastModifiedBy>
  <cp:revision>13</cp:revision>
  <dcterms:created xsi:type="dcterms:W3CDTF">2020-10-29T11:40:16Z</dcterms:created>
  <dcterms:modified xsi:type="dcterms:W3CDTF">2020-11-02T21:44:53Z</dcterms:modified>
</cp:coreProperties>
</file>