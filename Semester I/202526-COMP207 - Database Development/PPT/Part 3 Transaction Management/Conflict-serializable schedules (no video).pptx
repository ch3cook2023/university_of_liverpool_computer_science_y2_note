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51" r:id="rId3"/>
    <p:sldId id="470" r:id="rId4"/>
    <p:sldId id="412" r:id="rId5"/>
    <p:sldId id="464" r:id="rId6"/>
    <p:sldId id="471" r:id="rId7"/>
    <p:sldId id="472" r:id="rId8"/>
    <p:sldId id="473" r:id="rId9"/>
    <p:sldId id="408" r:id="rId10"/>
    <p:sldId id="421" r:id="rId11"/>
    <p:sldId id="422" r:id="rId12"/>
    <p:sldId id="474" r:id="rId13"/>
    <p:sldId id="4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29472-9797-4892-821F-ABA74BEA5DAC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0FB1E-33F6-41B2-AF91-C937532D3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607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/>
              <a:t>…</a:t>
            </a:r>
            <a:r>
              <a:rPr lang="en-US" dirty="0"/>
              <a:t>and the end of the previous lecture</a:t>
            </a:r>
            <a:r>
              <a:rPr lang="en-US" baseline="0" dirty="0"/>
              <a:t> we looked at a few examples of conflict-</a:t>
            </a:r>
            <a:r>
              <a:rPr lang="en-US" baseline="0" dirty="0" err="1"/>
              <a:t>serialisable</a:t>
            </a:r>
            <a:r>
              <a:rPr lang="en-US" baseline="0" dirty="0"/>
              <a:t> schedules.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9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35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46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9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76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4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58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87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62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88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8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29DDBA-4C4B-4A5C-9980-88AA707BB90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4D44B09-DC98-47AD-A58C-5C2E54B8C1E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49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F1D8-5CCA-4200-BF4D-D074F36EA6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Conflict-serializable schedules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7E1F8-FA50-4810-92FA-24C1A6EA6E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04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28"/>
    </mc:Choice>
    <mc:Fallback xmlns="">
      <p:transition spd="slow" advTm="200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5E72-A0CC-497D-A25E-2681EFC1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1174-FE8A-4991-9C26-7444EE0A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Serializable schedules are too complex, so what is DBMS doing instead?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67570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42"/>
    </mc:Choice>
    <mc:Fallback xmlns="">
      <p:transition spd="slow" advTm="124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76D5520D-7930-4E40-8277-ABC1FE7F7E00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297955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much concurrency can we allow while satisfying Isolation and Consistency</a:t>
            </a:r>
          </a:p>
          <a:p>
            <a:r>
              <a:rPr lang="en-US" dirty="0"/>
              <a:t>… while being able to check it fast?</a:t>
            </a:r>
          </a:p>
          <a:p>
            <a:endParaRPr lang="en-US" sz="2400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2F84F16-C513-4C3C-811E-5C035059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26F23E55-D42A-41AF-9F6E-8A8A2E703B49}" type="slidenum">
              <a:rPr lang="en-GB" smtClean="0"/>
              <a:pPr/>
              <a:t>3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172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28"/>
    </mc:Choice>
    <mc:Fallback xmlns="">
      <p:transition spd="slow" advTm="203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Conflict-Serializability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Stronger form of serializability that is used/enforced by most commercial DBMS</a:t>
            </a:r>
          </a:p>
          <a:p>
            <a:r>
              <a:rPr lang="en-US" dirty="0"/>
              <a:t>Based on the notion of a </a:t>
            </a:r>
            <a:r>
              <a:rPr lang="en-US" b="1" dirty="0"/>
              <a:t>conflict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>
              <a:spcBef>
                <a:spcPts val="6072"/>
              </a:spcBef>
            </a:pPr>
            <a:r>
              <a:rPr lang="en-US" dirty="0"/>
              <a:t>Example: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864682" y="4797153"/>
            <a:ext cx="45784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r</a:t>
            </a:r>
            <a:r>
              <a:rPr lang="en-US" sz="2400" baseline="-25000" dirty="0"/>
              <a:t>1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(X); w</a:t>
            </a:r>
            <a:r>
              <a:rPr lang="en-US" sz="2400" baseline="-25000" dirty="0"/>
              <a:t>2</a:t>
            </a:r>
            <a:r>
              <a:rPr lang="en-US" sz="2400" dirty="0"/>
              <a:t>(X); r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1</a:t>
            </a:r>
            <a:r>
              <a:rPr lang="en-US" sz="2400" dirty="0"/>
              <a:t>(Y)</a:t>
            </a:r>
            <a:endParaRPr lang="en-US" sz="2400" baseline="-25000" dirty="0"/>
          </a:p>
        </p:txBody>
      </p:sp>
      <p:sp>
        <p:nvSpPr>
          <p:cNvPr id="7" name="Rectangle 6"/>
          <p:cNvSpPr/>
          <p:nvPr/>
        </p:nvSpPr>
        <p:spPr>
          <a:xfrm>
            <a:off x="2423592" y="2744988"/>
            <a:ext cx="7632848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conflict</a:t>
            </a:r>
            <a:r>
              <a:rPr lang="en-US" sz="2400" dirty="0"/>
              <a:t> in a schedule is a pair of operations from different transactions </a:t>
            </a:r>
            <a:r>
              <a:rPr lang="en-US" sz="2400" i="1" dirty="0"/>
              <a:t>that cannot be swapped </a:t>
            </a:r>
            <a:r>
              <a:rPr lang="en-US" sz="2400" dirty="0"/>
              <a:t>without changing the </a:t>
            </a:r>
            <a:r>
              <a:rPr lang="en-US" sz="2400" dirty="0" err="1"/>
              <a:t>behaviour</a:t>
            </a:r>
            <a:r>
              <a:rPr lang="en-US" sz="2400" dirty="0"/>
              <a:t> of at least one of the transactions.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904597" y="5549170"/>
            <a:ext cx="9523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conflict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948737" y="5359318"/>
            <a:ext cx="226368" cy="231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524801" y="5359318"/>
            <a:ext cx="144016" cy="231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55841" y="5301208"/>
            <a:ext cx="72494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447928" y="5301208"/>
            <a:ext cx="64807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Rounded Rectangular Callout 25"/>
          <p:cNvSpPr/>
          <p:nvPr/>
        </p:nvSpPr>
        <p:spPr>
          <a:xfrm>
            <a:off x="6168008" y="5517232"/>
            <a:ext cx="4032448" cy="1044116"/>
          </a:xfrm>
          <a:prstGeom prst="wedgeRoundRectCallout">
            <a:avLst>
              <a:gd name="adj1" fmla="val -33752"/>
              <a:gd name="adj2" fmla="val -6988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Observation</a:t>
            </a:r>
            <a:r>
              <a:rPr lang="en-US" dirty="0"/>
              <a:t>: Operations can only be in conflict if one of them is a write &amp; they access the same item.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7702932" y="4183496"/>
            <a:ext cx="2785557" cy="685664"/>
          </a:xfrm>
          <a:prstGeom prst="wedgeRoundRectCallout">
            <a:avLst>
              <a:gd name="adj1" fmla="val -57386"/>
              <a:gd name="adj2" fmla="val 40301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 not write commit/abort</a:t>
            </a:r>
            <a:br>
              <a:rPr lang="en-US" dirty="0"/>
            </a:br>
            <a:r>
              <a:rPr lang="en-US" dirty="0"/>
              <a:t>(will deal with these later)</a:t>
            </a:r>
          </a:p>
        </p:txBody>
      </p:sp>
      <p:sp>
        <p:nvSpPr>
          <p:cNvPr id="14" name="Rounded Rectangular Callout 27">
            <a:extLst>
              <a:ext uri="{FF2B5EF4-FFF2-40B4-BE49-F238E27FC236}">
                <a16:creationId xmlns:a16="http://schemas.microsoft.com/office/drawing/2014/main" id="{2B122B74-8C04-49C6-A4C1-7B0532ECDCEA}"/>
              </a:ext>
            </a:extLst>
          </p:cNvPr>
          <p:cNvSpPr/>
          <p:nvPr/>
        </p:nvSpPr>
        <p:spPr>
          <a:xfrm>
            <a:off x="7529976" y="773331"/>
            <a:ext cx="3564744" cy="685664"/>
          </a:xfrm>
          <a:prstGeom prst="wedgeRoundRectCallout">
            <a:avLst>
              <a:gd name="adj1" fmla="val -55823"/>
              <a:gd name="adj2" fmla="val 10168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This was what I meant with </a:t>
            </a:r>
            <a:br>
              <a:rPr lang="en-US" dirty="0"/>
            </a:br>
            <a:r>
              <a:rPr lang="en-US" dirty="0"/>
              <a:t>SQL Serializable in Isolation level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816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080"/>
    </mc:Choice>
    <mc:Fallback xmlns="">
      <p:transition spd="slow" advTm="1590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7" grpId="0" animBg="1"/>
      <p:bldP spid="8" grpId="0"/>
      <p:bldP spid="26" grpId="0" animBg="1"/>
      <p:bldP spid="28" grpId="0" uiExpand="1" animBg="1"/>
      <p:bldP spid="14" grpId="0" uiExpan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Conflict </a:t>
            </a:r>
            <a:r>
              <a:rPr lang="mr-IN" dirty="0"/>
              <a:t>–</a:t>
            </a:r>
            <a:r>
              <a:rPr lang="en-GB" dirty="0"/>
              <a:t> Characterisation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conflict</a:t>
            </a:r>
            <a:r>
              <a:rPr lang="en-GB" dirty="0"/>
              <a:t> in a schedule is a pair of operations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from different transactions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that access the same item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and at least one of them is a write operation</a:t>
            </a:r>
          </a:p>
          <a:p>
            <a:r>
              <a:rPr lang="en-GB" dirty="0"/>
              <a:t>Example (from previous slide):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>
              <a:spcBef>
                <a:spcPts val="2472"/>
              </a:spcBef>
            </a:pPr>
            <a:r>
              <a:rPr lang="en-GB" dirty="0"/>
              <a:t>Can you find any other conflicts?</a:t>
            </a:r>
          </a:p>
          <a:p>
            <a:pPr>
              <a:spcBef>
                <a:spcPts val="2472"/>
              </a:spcBef>
            </a:pPr>
            <a:r>
              <a:rPr lang="en-GB" dirty="0"/>
              <a:t>HINT: there are 2 more…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37750" y="4088570"/>
            <a:ext cx="4870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S: r</a:t>
            </a:r>
            <a:r>
              <a:rPr lang="en-US" sz="2400" baseline="-25000" dirty="0"/>
              <a:t>1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(X); w</a:t>
            </a:r>
            <a:r>
              <a:rPr lang="en-US" sz="2400" baseline="-25000" dirty="0"/>
              <a:t>2</a:t>
            </a:r>
            <a:r>
              <a:rPr lang="en-US" sz="2400" dirty="0"/>
              <a:t>(X); r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1</a:t>
            </a:r>
            <a:r>
              <a:rPr lang="en-US" sz="2400" dirty="0"/>
              <a:t>(Y)</a:t>
            </a:r>
            <a:endParaRPr lang="en-US" sz="2400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4830336" y="4901098"/>
            <a:ext cx="140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C00000"/>
                </a:solidFill>
              </a:rPr>
              <a:t>conflict in S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5118367" y="4671176"/>
            <a:ext cx="226368" cy="231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694431" y="4671176"/>
            <a:ext cx="144016" cy="231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30336" y="4581128"/>
            <a:ext cx="68960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663952" y="4581128"/>
            <a:ext cx="5760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551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60"/>
    </mc:Choice>
    <mc:Fallback xmlns="">
      <p:transition spd="slow" advTm="56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Conflict-Serializability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Two schedules S and S’ are </a:t>
            </a:r>
            <a:r>
              <a:rPr lang="en-US" sz="2400" b="1" dirty="0"/>
              <a:t>conflict-equivalent </a:t>
            </a:r>
            <a:r>
              <a:rPr lang="en-US" sz="2400" dirty="0"/>
              <a:t>if S’ can be obtained from S by swapping any number of (1) </a:t>
            </a:r>
            <a:r>
              <a:rPr lang="en-US" sz="2400" i="1" dirty="0"/>
              <a:t>consecutive </a:t>
            </a:r>
            <a:r>
              <a:rPr lang="en-US" sz="2400" dirty="0"/>
              <a:t>(2)</a:t>
            </a:r>
            <a:r>
              <a:rPr lang="en-US" sz="2400" i="1" dirty="0"/>
              <a:t> </a:t>
            </a:r>
            <a:r>
              <a:rPr lang="en-US" sz="2400" dirty="0"/>
              <a:t>non-conflicting operations from </a:t>
            </a:r>
            <a:br>
              <a:rPr lang="en-US" sz="2400" dirty="0"/>
            </a:br>
            <a:r>
              <a:rPr lang="en-US" sz="2400" dirty="0"/>
              <a:t>(3) different transactions.</a:t>
            </a:r>
          </a:p>
          <a:p>
            <a:r>
              <a:rPr lang="en-US" sz="2400" dirty="0"/>
              <a:t>Example</a:t>
            </a:r>
            <a:r>
              <a:rPr lang="en-US" dirty="0"/>
              <a:t>: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spcBef>
                <a:spcPts val="3672"/>
              </a:spcBef>
            </a:pPr>
            <a:r>
              <a:rPr lang="en-US" sz="2400" dirty="0"/>
              <a:t>A schedule is </a:t>
            </a:r>
            <a:r>
              <a:rPr lang="en-US" sz="2400" b="1" dirty="0"/>
              <a:t>conflict-</a:t>
            </a:r>
            <a:r>
              <a:rPr lang="en-US" sz="2400" b="1" dirty="0" err="1"/>
              <a:t>serialisable</a:t>
            </a:r>
            <a:r>
              <a:rPr lang="en-US" sz="2400" dirty="0"/>
              <a:t> if it is conflict-equivalent</a:t>
            </a:r>
            <a:br>
              <a:rPr lang="en-US" sz="2400" dirty="0"/>
            </a:br>
            <a:r>
              <a:rPr lang="en-US" sz="2400" dirty="0"/>
              <a:t>to a serial schedule.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364420" y="2780928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(Z)</a:t>
            </a:r>
            <a:endParaRPr lang="en-US" sz="2000" baseline="-25000" dirty="0"/>
          </a:p>
        </p:txBody>
      </p:sp>
      <p:sp>
        <p:nvSpPr>
          <p:cNvPr id="6" name="Rectangle 5"/>
          <p:cNvSpPr/>
          <p:nvPr/>
        </p:nvSpPr>
        <p:spPr>
          <a:xfrm>
            <a:off x="4329955" y="3295437"/>
            <a:ext cx="3924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(Z)</a:t>
            </a:r>
            <a:endParaRPr lang="en-US" sz="2000" baseline="-250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667238" y="3113070"/>
            <a:ext cx="321674" cy="253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364419" y="3829110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(Z)</a:t>
            </a:r>
            <a:endParaRPr lang="en-US" sz="2000" baseline="-25000" dirty="0"/>
          </a:p>
        </p:txBody>
      </p:sp>
      <p:sp>
        <p:nvSpPr>
          <p:cNvPr id="19" name="Rectangle 18"/>
          <p:cNvSpPr/>
          <p:nvPr/>
        </p:nvSpPr>
        <p:spPr>
          <a:xfrm>
            <a:off x="4371742" y="4365104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(Z); r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21" name="Rectangle 20"/>
          <p:cNvSpPr/>
          <p:nvPr/>
        </p:nvSpPr>
        <p:spPr>
          <a:xfrm>
            <a:off x="4371741" y="4909230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(Z);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6091174" y="3653369"/>
            <a:ext cx="292756" cy="23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7288414" y="4203959"/>
            <a:ext cx="292756" cy="23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67238" y="4731396"/>
            <a:ext cx="292756" cy="23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667238" y="3128117"/>
            <a:ext cx="398406" cy="250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091174" y="3647788"/>
            <a:ext cx="364764" cy="25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310586" y="4189151"/>
            <a:ext cx="364764" cy="25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669600" y="4730708"/>
            <a:ext cx="364764" cy="25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967050" y="2780928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35" name="Rectangle 34"/>
          <p:cNvSpPr/>
          <p:nvPr/>
        </p:nvSpPr>
        <p:spPr>
          <a:xfrm>
            <a:off x="3935761" y="4916965"/>
            <a:ext cx="4347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S’:</a:t>
            </a:r>
            <a:endParaRPr lang="en-US" sz="1600" dirty="0"/>
          </a:p>
        </p:txBody>
      </p:sp>
      <p:sp>
        <p:nvSpPr>
          <p:cNvPr id="45" name="Rounded Rectangular Callout 44"/>
          <p:cNvSpPr/>
          <p:nvPr/>
        </p:nvSpPr>
        <p:spPr>
          <a:xfrm>
            <a:off x="8425603" y="4967239"/>
            <a:ext cx="1637792" cy="469640"/>
          </a:xfrm>
          <a:prstGeom prst="wedgeRoundRectCallout">
            <a:avLst>
              <a:gd name="adj1" fmla="val -61607"/>
              <a:gd name="adj2" fmla="val -22674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Serial schedule</a:t>
            </a:r>
            <a:endParaRPr lang="en-US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8436769" y="2780928"/>
            <a:ext cx="2086013" cy="720080"/>
          </a:xfrm>
          <a:prstGeom prst="wedgeRoundRectCallout">
            <a:avLst>
              <a:gd name="adj1" fmla="val -61607"/>
              <a:gd name="adj2" fmla="val -22674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Conflict-</a:t>
            </a:r>
            <a:r>
              <a:rPr lang="en-US" dirty="0" err="1"/>
              <a:t>serialisable</a:t>
            </a:r>
            <a:r>
              <a:rPr lang="en-US" dirty="0"/>
              <a:t> schedule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01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208"/>
    </mc:Choice>
    <mc:Fallback xmlns="">
      <p:transition spd="slow" advTm="200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7" grpId="0"/>
      <p:bldP spid="19" grpId="0"/>
      <p:bldP spid="21" grpId="0"/>
      <p:bldP spid="34" grpId="0"/>
      <p:bldP spid="35" grpId="0"/>
      <p:bldP spid="45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 the schedule S below conflict-serializable?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698224" y="2564904"/>
            <a:ext cx="51876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18" name="Rectangle 17"/>
          <p:cNvSpPr/>
          <p:nvPr/>
        </p:nvSpPr>
        <p:spPr>
          <a:xfrm>
            <a:off x="3282902" y="2564904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367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33"/>
    </mc:Choice>
    <mc:Fallback xmlns="">
      <p:transition spd="slow" advTm="1013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 the schedule S below conflict-serializable?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35092" y="2564904"/>
            <a:ext cx="5113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18" name="Rectangle 17"/>
          <p:cNvSpPr/>
          <p:nvPr/>
        </p:nvSpPr>
        <p:spPr>
          <a:xfrm>
            <a:off x="3282902" y="2564904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3251612" y="5109819"/>
            <a:ext cx="4347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S’:</a:t>
            </a:r>
            <a:endParaRPr lang="en-US" sz="1600" dirty="0"/>
          </a:p>
        </p:txBody>
      </p:sp>
      <p:sp>
        <p:nvSpPr>
          <p:cNvPr id="27" name="Rectangle 26"/>
          <p:cNvSpPr/>
          <p:nvPr/>
        </p:nvSpPr>
        <p:spPr>
          <a:xfrm>
            <a:off x="3708642" y="3200618"/>
            <a:ext cx="5166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28" name="Rectangle 27"/>
          <p:cNvSpPr/>
          <p:nvPr/>
        </p:nvSpPr>
        <p:spPr>
          <a:xfrm>
            <a:off x="3708642" y="3836332"/>
            <a:ext cx="5166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29" name="Rectangle 28"/>
          <p:cNvSpPr/>
          <p:nvPr/>
        </p:nvSpPr>
        <p:spPr>
          <a:xfrm>
            <a:off x="3737498" y="4472046"/>
            <a:ext cx="5109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30" name="Rectangle 29"/>
          <p:cNvSpPr/>
          <p:nvPr/>
        </p:nvSpPr>
        <p:spPr>
          <a:xfrm>
            <a:off x="3737498" y="5107760"/>
            <a:ext cx="5109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5899694" y="2945395"/>
            <a:ext cx="556346" cy="285171"/>
            <a:chOff x="4375694" y="2403024"/>
            <a:chExt cx="556346" cy="285171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4427984" y="2403024"/>
              <a:ext cx="504056" cy="285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4375694" y="2422644"/>
              <a:ext cx="556346" cy="265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5303912" y="3585331"/>
            <a:ext cx="556346" cy="285171"/>
            <a:chOff x="4375694" y="2403024"/>
            <a:chExt cx="556346" cy="285171"/>
          </a:xfrm>
        </p:grpSpPr>
        <p:cxnSp>
          <p:nvCxnSpPr>
            <p:cNvPr id="47" name="Straight Arrow Connector 46"/>
            <p:cNvCxnSpPr/>
            <p:nvPr/>
          </p:nvCxnSpPr>
          <p:spPr>
            <a:xfrm>
              <a:off x="4427984" y="2403024"/>
              <a:ext cx="504056" cy="285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4375694" y="2422644"/>
              <a:ext cx="556346" cy="265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6528048" y="4211660"/>
            <a:ext cx="556346" cy="285171"/>
            <a:chOff x="4375694" y="2403024"/>
            <a:chExt cx="556346" cy="285171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4427984" y="2403024"/>
              <a:ext cx="504056" cy="285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4375694" y="2422644"/>
              <a:ext cx="556346" cy="265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5925839" y="4872157"/>
            <a:ext cx="556346" cy="285171"/>
            <a:chOff x="4375694" y="2403024"/>
            <a:chExt cx="556346" cy="285171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4427984" y="2403024"/>
              <a:ext cx="504056" cy="285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4375694" y="2422644"/>
              <a:ext cx="556346" cy="265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Rounded Rectangular Callout 23"/>
          <p:cNvSpPr/>
          <p:nvPr/>
        </p:nvSpPr>
        <p:spPr>
          <a:xfrm>
            <a:off x="8760296" y="5589006"/>
            <a:ext cx="864096" cy="469640"/>
          </a:xfrm>
          <a:prstGeom prst="wedgeRoundRectCallout">
            <a:avLst>
              <a:gd name="adj1" fmla="val -49254"/>
              <a:gd name="adj2" fmla="val -8577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Serial</a:t>
            </a:r>
            <a:endParaRPr lang="en-US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8884066" y="2053856"/>
            <a:ext cx="1532414" cy="727072"/>
          </a:xfrm>
          <a:prstGeom prst="wedgeRoundRectCallout">
            <a:avLst>
              <a:gd name="adj1" fmla="val -61379"/>
              <a:gd name="adj2" fmla="val 31227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Yes: Conflict-</a:t>
            </a:r>
            <a:r>
              <a:rPr lang="en-US" dirty="0" err="1"/>
              <a:t>serialisable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829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102"/>
    </mc:Choice>
    <mc:Fallback xmlns="">
      <p:transition spd="slow" advTm="136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28" grpId="0"/>
      <p:bldP spid="29" grpId="0"/>
      <p:bldP spid="30" grpId="0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about this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818337" y="2564904"/>
            <a:ext cx="51235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r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7" name="Rectangle 6"/>
          <p:cNvSpPr/>
          <p:nvPr/>
        </p:nvSpPr>
        <p:spPr>
          <a:xfrm>
            <a:off x="3282902" y="2564904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79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15"/>
    </mc:Choice>
    <mc:Fallback xmlns="">
      <p:transition spd="slow" advTm="258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about this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765438" y="2564904"/>
            <a:ext cx="5229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</a:t>
            </a:r>
            <a:r>
              <a:rPr lang="en-US" sz="2000" dirty="0">
                <a:solidFill>
                  <a:srgbClr val="FF0000"/>
                </a:solidFill>
              </a:rPr>
              <a:t>r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(Y)</a:t>
            </a:r>
            <a:r>
              <a:rPr lang="en-US" sz="2000" dirty="0"/>
              <a:t>; r</a:t>
            </a:r>
            <a:r>
              <a:rPr lang="en-US" sz="2000" baseline="-25000" dirty="0"/>
              <a:t>3</a:t>
            </a:r>
            <a:r>
              <a:rPr lang="en-US" sz="2000" dirty="0"/>
              <a:t>(X); </a:t>
            </a:r>
            <a:r>
              <a:rPr lang="en-US" sz="2000" dirty="0">
                <a:solidFill>
                  <a:srgbClr val="FF0000"/>
                </a:solidFill>
              </a:rPr>
              <a:t>w</a:t>
            </a:r>
            <a:r>
              <a:rPr lang="en-US" sz="2000" baseline="-25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(Y)</a:t>
            </a:r>
            <a:r>
              <a:rPr lang="en-US" sz="2000" dirty="0"/>
              <a:t>; w</a:t>
            </a:r>
            <a:r>
              <a:rPr lang="en-US" sz="2000" baseline="-25000" dirty="0"/>
              <a:t>3</a:t>
            </a:r>
            <a:r>
              <a:rPr lang="en-US" sz="2000" dirty="0"/>
              <a:t>(X); </a:t>
            </a:r>
            <a:r>
              <a:rPr lang="en-US" sz="2000" dirty="0">
                <a:solidFill>
                  <a:srgbClr val="FF0000"/>
                </a:solidFill>
              </a:rPr>
              <a:t>w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(Y)</a:t>
            </a:r>
            <a:endParaRPr lang="en-US" sz="2000" baseline="-250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82902" y="2564904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11813514-58F7-47B7-9BE7-186463B26B39}"/>
              </a:ext>
            </a:extLst>
          </p:cNvPr>
          <p:cNvSpPr/>
          <p:nvPr/>
        </p:nvSpPr>
        <p:spPr>
          <a:xfrm>
            <a:off x="5973693" y="2532671"/>
            <a:ext cx="1312477" cy="896330"/>
          </a:xfrm>
          <a:prstGeom prst="arc">
            <a:avLst>
              <a:gd name="adj1" fmla="val 41021"/>
              <a:gd name="adj2" fmla="val 109768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4B992F2-283C-4620-8803-9AB7CA19FA7E}"/>
              </a:ext>
            </a:extLst>
          </p:cNvPr>
          <p:cNvSpPr/>
          <p:nvPr/>
        </p:nvSpPr>
        <p:spPr>
          <a:xfrm rot="10800000">
            <a:off x="7219056" y="2116739"/>
            <a:ext cx="1312477" cy="896330"/>
          </a:xfrm>
          <a:prstGeom prst="arc">
            <a:avLst>
              <a:gd name="adj1" fmla="val 41021"/>
              <a:gd name="adj2" fmla="val 109768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031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26"/>
    </mc:Choice>
    <mc:Fallback xmlns="">
      <p:transition spd="slow" advTm="451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2550236" y="1551918"/>
            <a:ext cx="4985924" cy="4901418"/>
          </a:xfrm>
          <a:prstGeom prst="ellipse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92119" y="2744329"/>
            <a:ext cx="2702158" cy="2656359"/>
          </a:xfrm>
          <a:prstGeom prst="ellipse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7699004" y="1753569"/>
            <a:ext cx="2573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 schedules</a:t>
            </a:r>
            <a:br>
              <a:rPr lang="en-US" sz="2000" dirty="0"/>
            </a:br>
            <a:r>
              <a:rPr lang="en-US" sz="2000" dirty="0"/>
              <a:t>(concurrent schedules)</a:t>
            </a:r>
          </a:p>
        </p:txBody>
      </p:sp>
      <p:cxnSp>
        <p:nvCxnSpPr>
          <p:cNvPr id="9" name="Straight Connector 8"/>
          <p:cNvCxnSpPr>
            <a:stCxn id="7" idx="1"/>
          </p:cNvCxnSpPr>
          <p:nvPr/>
        </p:nvCxnSpPr>
        <p:spPr>
          <a:xfrm flipH="1">
            <a:off x="6164521" y="2107512"/>
            <a:ext cx="153448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99003" y="2909049"/>
            <a:ext cx="2457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Serializable schedules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862603" y="3132972"/>
            <a:ext cx="18364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99003" y="3993176"/>
            <a:ext cx="22772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Conflict-serializable 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schedules</a:t>
            </a:r>
          </a:p>
        </p:txBody>
      </p:sp>
      <p:cxnSp>
        <p:nvCxnSpPr>
          <p:cNvPr id="19" name="Straight Connector 18"/>
          <p:cNvCxnSpPr>
            <a:stCxn id="18" idx="1"/>
          </p:cNvCxnSpPr>
          <p:nvPr/>
        </p:nvCxnSpPr>
        <p:spPr>
          <a:xfrm flipH="1">
            <a:off x="6006621" y="4347119"/>
            <a:ext cx="16923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903660" y="2961238"/>
            <a:ext cx="2260861" cy="2222541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ular Callout 25"/>
          <p:cNvSpPr/>
          <p:nvPr/>
        </p:nvSpPr>
        <p:spPr>
          <a:xfrm>
            <a:off x="6716200" y="5624646"/>
            <a:ext cx="3494601" cy="776594"/>
          </a:xfrm>
          <a:prstGeom prst="wedgeRoundRectCallout">
            <a:avLst>
              <a:gd name="adj1" fmla="val -52517"/>
              <a:gd name="adj2" fmla="val -9155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Each of these areas is non-empty</a:t>
            </a:r>
            <a:br>
              <a:rPr lang="en-US" dirty="0"/>
            </a:br>
            <a:r>
              <a:rPr lang="en-US" dirty="0"/>
              <a:t>(i.e., inclusions are strict)</a:t>
            </a:r>
          </a:p>
        </p:txBody>
      </p:sp>
      <p:sp>
        <p:nvSpPr>
          <p:cNvPr id="5" name="Oval 4"/>
          <p:cNvSpPr/>
          <p:nvPr/>
        </p:nvSpPr>
        <p:spPr>
          <a:xfrm>
            <a:off x="4340491" y="3374492"/>
            <a:ext cx="1420100" cy="1396031"/>
          </a:xfrm>
          <a:prstGeom prst="ellipse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dirty="0"/>
              <a:t>Serial schedules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3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60"/>
    </mc:Choice>
    <mc:Fallback xmlns="">
      <p:transition spd="slow" advTm="77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6786-B901-4A89-BF5A-F2C5553B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DBBC-7C1F-4B70-815D-EBA95FBF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schedule that is </a:t>
            </a:r>
            <a:r>
              <a:rPr lang="en-US" b="1" dirty="0"/>
              <a:t>not </a:t>
            </a:r>
            <a:r>
              <a:rPr lang="en-US" dirty="0"/>
              <a:t>conflict-serializable, but serializable: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is it serializable?</a:t>
            </a:r>
          </a:p>
          <a:p>
            <a:pPr lvl="1"/>
            <a:r>
              <a:rPr lang="en-US" dirty="0"/>
              <a:t>The change in the database is given by w</a:t>
            </a:r>
            <a:r>
              <a:rPr lang="en-US" baseline="-25000" dirty="0"/>
              <a:t>2</a:t>
            </a:r>
            <a:r>
              <a:rPr lang="en-US" dirty="0"/>
              <a:t>(Y); w</a:t>
            </a:r>
            <a:r>
              <a:rPr lang="en-US" baseline="-25000" dirty="0"/>
              <a:t>3</a:t>
            </a:r>
            <a:r>
              <a:rPr lang="en-US" dirty="0"/>
              <a:t>(X); and neither transaction reads anything</a:t>
            </a:r>
          </a:p>
          <a:p>
            <a:pPr lvl="1"/>
            <a:r>
              <a:rPr lang="en-US" dirty="0"/>
              <a:t>Hence, it is equivalent to </a:t>
            </a:r>
            <a:r>
              <a:rPr lang="en-US" sz="1800" dirty="0"/>
              <a:t>w</a:t>
            </a:r>
            <a:r>
              <a:rPr lang="en-US" sz="1800" baseline="-25000" dirty="0"/>
              <a:t>1</a:t>
            </a:r>
            <a:r>
              <a:rPr lang="en-US" sz="1800" dirty="0"/>
              <a:t>(X); w</a:t>
            </a:r>
            <a:r>
              <a:rPr lang="en-US" sz="1800" baseline="-25000" dirty="0"/>
              <a:t>1</a:t>
            </a:r>
            <a:r>
              <a:rPr lang="en-US" sz="1800" dirty="0"/>
              <a:t>(Y); w</a:t>
            </a:r>
            <a:r>
              <a:rPr lang="en-US" sz="1800" baseline="-25000" dirty="0"/>
              <a:t>2</a:t>
            </a:r>
            <a:r>
              <a:rPr lang="en-US" sz="1800" dirty="0"/>
              <a:t>(X); w</a:t>
            </a:r>
            <a:r>
              <a:rPr lang="en-US" sz="1800" baseline="-25000" dirty="0"/>
              <a:t>2</a:t>
            </a:r>
            <a:r>
              <a:rPr lang="en-US" sz="1800" dirty="0"/>
              <a:t>(Y); w</a:t>
            </a:r>
            <a:r>
              <a:rPr lang="en-US" sz="1800" baseline="-25000" dirty="0"/>
              <a:t>3</a:t>
            </a:r>
            <a:r>
              <a:rPr lang="en-US" sz="1800" dirty="0"/>
              <a:t>(X);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Why is it </a:t>
            </a:r>
            <a:r>
              <a:rPr lang="en-US" b="1" dirty="0"/>
              <a:t>not </a:t>
            </a:r>
            <a:r>
              <a:rPr lang="en-US" dirty="0"/>
              <a:t>conflict-serializable? </a:t>
            </a:r>
          </a:p>
          <a:p>
            <a:pPr lvl="1"/>
            <a:r>
              <a:rPr lang="en-US" dirty="0"/>
              <a:t>We will see in the next video how to check if a schedule is conflict-serializable!</a:t>
            </a:r>
          </a:p>
          <a:p>
            <a:pPr lvl="2"/>
            <a:r>
              <a:rPr lang="en-US" dirty="0"/>
              <a:t>Of course, that will also mean that we can see if something is not conflict-serializable!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A2FD6-2059-48CE-BF7E-4FFA2AE7227B}"/>
              </a:ext>
            </a:extLst>
          </p:cNvPr>
          <p:cNvSpPr/>
          <p:nvPr/>
        </p:nvSpPr>
        <p:spPr>
          <a:xfrm>
            <a:off x="4438246" y="2422578"/>
            <a:ext cx="35413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</a:t>
            </a:r>
            <a:endParaRPr lang="en-US" sz="2000" baseline="-25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34797D-4EFC-4B4A-9176-5CFF01C909E2}"/>
              </a:ext>
            </a:extLst>
          </p:cNvPr>
          <p:cNvSpPr/>
          <p:nvPr/>
        </p:nvSpPr>
        <p:spPr>
          <a:xfrm>
            <a:off x="3111729" y="2422578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D5F6A28-3969-4C57-9C11-907FBFAE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201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179"/>
    </mc:Choice>
    <mc:Fallback xmlns="">
      <p:transition spd="slow" advTm="1321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85EC-0968-4226-A9BD-5C53C0A5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808E6-854C-4C89-8C6A-42F4B5F76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a schedule that allows as much concurrency as possible while following Isolation and Consistency!</a:t>
            </a:r>
          </a:p>
          <a:p>
            <a:r>
              <a:rPr lang="en-US" dirty="0"/>
              <a:t>Such a schedule is called a serializable schedule! (as discussed in the last video)</a:t>
            </a:r>
          </a:p>
          <a:p>
            <a:r>
              <a:rPr lang="en-US" dirty="0"/>
              <a:t>… but we can’t find it (or even recognize it) in general (just a claim though)</a:t>
            </a:r>
          </a:p>
          <a:p>
            <a:r>
              <a:rPr lang="en-US" dirty="0"/>
              <a:t>Therefore, DBMS implementations use conflict-serializable schedules instead!</a:t>
            </a:r>
          </a:p>
          <a:p>
            <a:pPr lvl="1"/>
            <a:r>
              <a:rPr lang="en-US" dirty="0"/>
              <a:t>Next video will show how to recognize those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9B4E-47D3-4E83-88C6-8C395775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DA83D-9004-477A-9A1D-2AC67C371618}"/>
              </a:ext>
            </a:extLst>
          </p:cNvPr>
          <p:cNvSpPr/>
          <p:nvPr/>
        </p:nvSpPr>
        <p:spPr>
          <a:xfrm>
            <a:off x="465221" y="4135480"/>
            <a:ext cx="10747262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conflict</a:t>
            </a:r>
            <a:r>
              <a:rPr lang="en-US" sz="2400" dirty="0"/>
              <a:t> in a schedule is a pair of operations from different transactions </a:t>
            </a:r>
            <a:r>
              <a:rPr lang="en-US" sz="2400" i="1" dirty="0"/>
              <a:t>that cannot be swapped </a:t>
            </a:r>
            <a:r>
              <a:rPr lang="en-US" sz="2400" dirty="0"/>
              <a:t>without changing the </a:t>
            </a:r>
            <a:r>
              <a:rPr lang="en-US" sz="2400" dirty="0" err="1"/>
              <a:t>behaviour</a:t>
            </a:r>
            <a:r>
              <a:rPr lang="en-US" sz="2400" dirty="0"/>
              <a:t> of at least one of the transactions.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7FE34-9B83-4F79-BA9D-050B9D958A00}"/>
              </a:ext>
            </a:extLst>
          </p:cNvPr>
          <p:cNvSpPr/>
          <p:nvPr/>
        </p:nvSpPr>
        <p:spPr>
          <a:xfrm>
            <a:off x="1210174" y="5040962"/>
            <a:ext cx="9257355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 schedule is </a:t>
            </a:r>
            <a:r>
              <a:rPr lang="en-US" sz="2400" b="1" dirty="0"/>
              <a:t>conflict-serializable</a:t>
            </a:r>
            <a:r>
              <a:rPr lang="en-US" sz="2400" dirty="0"/>
              <a:t> if you can in some way repeatably swap consecutive pairs of non-conflicting operations from different transactions and get a serial schedule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20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408"/>
    </mc:Choice>
    <mc:Fallback xmlns="">
      <p:transition spd="slow" advTm="68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20.5|7.9|14.9|14.5|19|51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4|5.7|5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41.5|9.5|24.6|20.1|12.8|27.3|8.2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6|18.3|14.2|17.9|18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2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2|8.2|15.5|4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|2.1|50.3|1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5.8|10.7|6.2|19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152</TotalTime>
  <Words>1044</Words>
  <Application>Microsoft Office PowerPoint</Application>
  <PresentationFormat>Widescreen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Retrospect</vt:lpstr>
      <vt:lpstr>Conflict-serializable schedules</vt:lpstr>
      <vt:lpstr>Overview of this video</vt:lpstr>
      <vt:lpstr>PowerPoint Presentation</vt:lpstr>
      <vt:lpstr>Conflict-Serializability</vt:lpstr>
      <vt:lpstr>Conflict – Characterisation</vt:lpstr>
      <vt:lpstr>Conflict-Serializability</vt:lpstr>
      <vt:lpstr>Example</vt:lpstr>
      <vt:lpstr>Example</vt:lpstr>
      <vt:lpstr>Example 2</vt:lpstr>
      <vt:lpstr>Example 2</vt:lpstr>
      <vt:lpstr>Schedules</vt:lpstr>
      <vt:lpstr>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Conflict-serializable schedules</dc:title>
  <dc:creator>Rasmus Ibsen-Jensen</dc:creator>
  <cp:lastModifiedBy>Rasmus Ibsen-Jensen</cp:lastModifiedBy>
  <cp:revision>6</cp:revision>
  <dcterms:created xsi:type="dcterms:W3CDTF">2020-10-25T23:15:37Z</dcterms:created>
  <dcterms:modified xsi:type="dcterms:W3CDTF">2020-10-27T22:47:01Z</dcterms:modified>
</cp:coreProperties>
</file>