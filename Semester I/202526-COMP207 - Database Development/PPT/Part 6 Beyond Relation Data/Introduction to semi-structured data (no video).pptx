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95" r:id="rId3"/>
    <p:sldId id="388" r:id="rId4"/>
    <p:sldId id="389" r:id="rId5"/>
    <p:sldId id="391" r:id="rId6"/>
    <p:sldId id="392" r:id="rId7"/>
    <p:sldId id="393" r:id="rId8"/>
    <p:sldId id="380" r:id="rId9"/>
    <p:sldId id="384" r:id="rId10"/>
    <p:sldId id="39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83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40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51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06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283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76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55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1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35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51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05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BD316C7-74DC-42C1-AE77-0B334E3926B6}" type="datetimeFigureOut">
              <a:rPr lang="en-GB" smtClean="0"/>
              <a:t>01/12/2020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5D56E80-7366-447D-8007-4D8752E8BA7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99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E04D-155C-4174-BF78-7C42CD236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semi-structured data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5ACDA-D0E0-4176-98A7-D6CA5938A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04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40C6-9F68-438B-8BC6-A6E17BFB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E7CD7-2E4D-4C16-AC3E-B2D3220F5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Semi-structured data lies in between fully structured data (like relational databases) and unstructured database (arbitrary data files)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FB2B9-53AF-4DBA-B079-6C5DBB7F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68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Fully Structured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 the relation model is </a:t>
            </a:r>
            <a:r>
              <a:rPr lang="en-US" b="1" dirty="0"/>
              <a:t>structured</a:t>
            </a:r>
          </a:p>
          <a:p>
            <a:pPr lvl="1"/>
            <a:r>
              <a:rPr lang="en-US" dirty="0"/>
              <a:t>Data </a:t>
            </a:r>
            <a:r>
              <a:rPr lang="en-US" b="1" dirty="0"/>
              <a:t>has to fit to schema</a:t>
            </a:r>
          </a:p>
          <a:p>
            <a:pPr lvl="1"/>
            <a:r>
              <a:rPr lang="en-US" dirty="0"/>
              <a:t>Advantage: highly efficient query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4284324" y="3253482"/>
            <a:ext cx="4025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Student(name, number, </a:t>
            </a:r>
            <a:r>
              <a:rPr lang="en-US" sz="2000" dirty="0" err="1"/>
              <a:t>programme</a:t>
            </a:r>
            <a:r>
              <a:rPr lang="en-US" sz="2000" dirty="0"/>
              <a:t>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84324" y="3612206"/>
            <a:ext cx="2370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Module(code, name)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180816" y="5085312"/>
          <a:ext cx="3096343" cy="1152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8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programme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20171989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John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20174378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080631" y="4751295"/>
            <a:ext cx="93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463293" y="4644160"/>
          <a:ext cx="3384376" cy="1152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code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COMP207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Database Development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COMP219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Artificial Intelligence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391286" y="4274828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Module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328660" y="4842408"/>
            <a:ext cx="2989557" cy="1224136"/>
            <a:chOff x="141835" y="1916832"/>
            <a:chExt cx="8898125" cy="3643522"/>
          </a:xfrm>
        </p:grpSpPr>
        <p:sp>
          <p:nvSpPr>
            <p:cNvPr id="37" name="Rectangle 36"/>
            <p:cNvSpPr/>
            <p:nvPr/>
          </p:nvSpPr>
          <p:spPr>
            <a:xfrm>
              <a:off x="141835" y="4383688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/>
            <p:cNvCxnSpPr>
              <a:stCxn id="39" idx="1"/>
              <a:endCxn id="39" idx="3"/>
            </p:cNvCxnSpPr>
            <p:nvPr/>
          </p:nvCxnSpPr>
          <p:spPr>
            <a:xfrm>
              <a:off x="141835" y="4743728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579027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V="1">
              <a:off x="1016218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1453410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373290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78476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124767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1659145" y="4383688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>
              <a:stCxn id="150" idx="1"/>
              <a:endCxn id="150" idx="3"/>
            </p:cNvCxnSpPr>
            <p:nvPr/>
          </p:nvCxnSpPr>
          <p:spPr>
            <a:xfrm>
              <a:off x="1659145" y="4743728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2096337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2533528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2970720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1890600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230207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276498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>
              <a:off x="3176455" y="4383688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3176455" y="4743728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3613647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4050838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4488030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V="1">
              <a:off x="3407910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381938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428229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4693765" y="4383688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/>
            <p:cNvCxnSpPr/>
            <p:nvPr/>
          </p:nvCxnSpPr>
          <p:spPr>
            <a:xfrm>
              <a:off x="4693765" y="4743728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5130957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5568148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V="1">
              <a:off x="6005340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V="1">
              <a:off x="4925220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533669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579960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6211075" y="4383688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6211075" y="4743728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6648267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7085458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7522650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6442530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685400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V="1">
              <a:off x="731691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87" name="Rectangle 86"/>
            <p:cNvSpPr/>
            <p:nvPr/>
          </p:nvSpPr>
          <p:spPr>
            <a:xfrm>
              <a:off x="7728385" y="4383688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/>
            <p:cNvCxnSpPr/>
            <p:nvPr/>
          </p:nvCxnSpPr>
          <p:spPr>
            <a:xfrm>
              <a:off x="7728385" y="4743728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V="1">
              <a:off x="8165577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V="1">
              <a:off x="8602768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flipV="1">
              <a:off x="9039960" y="438368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V="1">
              <a:off x="7959840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V="1">
              <a:off x="837131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V="1">
              <a:off x="8834223" y="4743728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>
              <a:off x="2507808" y="2996952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/>
            <p:cNvCxnSpPr/>
            <p:nvPr/>
          </p:nvCxnSpPr>
          <p:spPr>
            <a:xfrm>
              <a:off x="2507808" y="3356992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V="1">
              <a:off x="2945000" y="299695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3382191" y="299695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3819383" y="299695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V="1">
              <a:off x="2739263" y="335699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flipV="1">
              <a:off x="3150736" y="335699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V="1">
              <a:off x="3613646" y="335699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10" name="Rectangle 109"/>
            <p:cNvSpPr/>
            <p:nvPr/>
          </p:nvSpPr>
          <p:spPr>
            <a:xfrm>
              <a:off x="5336692" y="2996952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/>
            <p:cNvCxnSpPr/>
            <p:nvPr/>
          </p:nvCxnSpPr>
          <p:spPr>
            <a:xfrm>
              <a:off x="5336692" y="3356992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5773884" y="299695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6211075" y="299695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6648267" y="299695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5568147" y="335699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V="1">
              <a:off x="5979620" y="335699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flipV="1">
              <a:off x="6442530" y="335699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18" name="Rectangle 117"/>
            <p:cNvSpPr/>
            <p:nvPr/>
          </p:nvSpPr>
          <p:spPr>
            <a:xfrm>
              <a:off x="3910484" y="1916832"/>
              <a:ext cx="1311575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/>
            <p:cNvCxnSpPr/>
            <p:nvPr/>
          </p:nvCxnSpPr>
          <p:spPr>
            <a:xfrm>
              <a:off x="3910484" y="2276872"/>
              <a:ext cx="131157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4347676" y="191683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4784867" y="191683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5222059" y="191683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4141939" y="227687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4553412" y="227687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V="1">
              <a:off x="5016322" y="2276872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6" name="Straight Arrow Connector 125"/>
            <p:cNvCxnSpPr/>
            <p:nvPr/>
          </p:nvCxnSpPr>
          <p:spPr>
            <a:xfrm flipH="1">
              <a:off x="3163596" y="2492896"/>
              <a:ext cx="885891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>
              <a:endCxn id="39" idx="0"/>
            </p:cNvCxnSpPr>
            <p:nvPr/>
          </p:nvCxnSpPr>
          <p:spPr>
            <a:xfrm flipH="1">
              <a:off x="797623" y="3573016"/>
              <a:ext cx="1784857" cy="8106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Arrow Connector 127"/>
            <p:cNvCxnSpPr/>
            <p:nvPr/>
          </p:nvCxnSpPr>
          <p:spPr>
            <a:xfrm>
              <a:off x="4347676" y="2492896"/>
              <a:ext cx="1644804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Arrow Connector 128"/>
            <p:cNvCxnSpPr>
              <a:endCxn id="150" idx="0"/>
            </p:cNvCxnSpPr>
            <p:nvPr/>
          </p:nvCxnSpPr>
          <p:spPr>
            <a:xfrm flipH="1">
              <a:off x="2314933" y="3573016"/>
              <a:ext cx="630067" cy="8106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 flipH="1">
              <a:off x="3845102" y="3573016"/>
              <a:ext cx="1590994" cy="8139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/>
            <p:nvPr/>
          </p:nvCxnSpPr>
          <p:spPr>
            <a:xfrm flipH="1">
              <a:off x="5349553" y="3573016"/>
              <a:ext cx="424331" cy="8106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/>
            <p:nvPr/>
          </p:nvCxnSpPr>
          <p:spPr>
            <a:xfrm>
              <a:off x="6211075" y="3573016"/>
              <a:ext cx="655788" cy="8106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>
              <a:off x="6516216" y="3573016"/>
              <a:ext cx="1867957" cy="8106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/>
            <p:nvPr/>
          </p:nvCxnSpPr>
          <p:spPr>
            <a:xfrm>
              <a:off x="251520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>
              <a:off x="611560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/>
            <p:nvPr/>
          </p:nvCxnSpPr>
          <p:spPr>
            <a:xfrm>
              <a:off x="1016218" y="5020294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/>
            <p:nvPr/>
          </p:nvCxnSpPr>
          <p:spPr>
            <a:xfrm>
              <a:off x="1371558" y="4941168"/>
              <a:ext cx="287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/>
            <p:nvPr/>
          </p:nvCxnSpPr>
          <p:spPr>
            <a:xfrm>
              <a:off x="1768237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/>
            <p:nvPr/>
          </p:nvCxnSpPr>
          <p:spPr>
            <a:xfrm>
              <a:off x="2884166" y="4941168"/>
              <a:ext cx="2922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/>
            <p:nvPr/>
          </p:nvCxnSpPr>
          <p:spPr>
            <a:xfrm>
              <a:off x="4396774" y="4941168"/>
              <a:ext cx="3300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/>
            <p:nvPr/>
          </p:nvCxnSpPr>
          <p:spPr>
            <a:xfrm>
              <a:off x="5909382" y="4941168"/>
              <a:ext cx="3327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/>
            <p:nvPr/>
          </p:nvCxnSpPr>
          <p:spPr>
            <a:xfrm>
              <a:off x="7421990" y="4941168"/>
              <a:ext cx="3326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/>
            <p:nvPr/>
          </p:nvCxnSpPr>
          <p:spPr>
            <a:xfrm>
              <a:off x="2096337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/>
            <p:nvPr/>
          </p:nvCxnSpPr>
          <p:spPr>
            <a:xfrm>
              <a:off x="3261084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/>
            <p:cNvCxnSpPr/>
            <p:nvPr/>
          </p:nvCxnSpPr>
          <p:spPr>
            <a:xfrm>
              <a:off x="3613646" y="5020294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/>
            <p:cNvCxnSpPr/>
            <p:nvPr/>
          </p:nvCxnSpPr>
          <p:spPr>
            <a:xfrm>
              <a:off x="4047199" y="5020294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/>
            <p:nvPr/>
          </p:nvCxnSpPr>
          <p:spPr>
            <a:xfrm>
              <a:off x="4812491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>
              <a:off x="5141841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/>
            <p:nvPr/>
          </p:nvCxnSpPr>
          <p:spPr>
            <a:xfrm>
              <a:off x="6300192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/>
            <p:nvPr/>
          </p:nvCxnSpPr>
          <p:spPr>
            <a:xfrm>
              <a:off x="6687310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/>
            <p:cNvCxnSpPr/>
            <p:nvPr/>
          </p:nvCxnSpPr>
          <p:spPr>
            <a:xfrm>
              <a:off x="7074428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/>
            <p:cNvCxnSpPr/>
            <p:nvPr/>
          </p:nvCxnSpPr>
          <p:spPr>
            <a:xfrm>
              <a:off x="7798908" y="5013176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/>
            <p:cNvCxnSpPr/>
            <p:nvPr/>
          </p:nvCxnSpPr>
          <p:spPr>
            <a:xfrm>
              <a:off x="8161656" y="5020294"/>
              <a:ext cx="0" cy="5400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4208858" y="3206552"/>
            <a:ext cx="4130721" cy="87052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5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Dropping the schema yields </a:t>
            </a:r>
            <a:r>
              <a:rPr lang="en-US" b="1" dirty="0"/>
              <a:t>unstructured data</a:t>
            </a:r>
          </a:p>
          <a:p>
            <a:pPr lvl="1"/>
            <a:r>
              <a:rPr lang="en-US" dirty="0"/>
              <a:t>Completely free on how to </a:t>
            </a:r>
            <a:r>
              <a:rPr lang="en-US" dirty="0" err="1"/>
              <a:t>organise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No description of structure or data: programs have to know how to read &amp; interpret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5" name="Picture 4" descr="soundwav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9401" y="5201105"/>
            <a:ext cx="2920768" cy="1467722"/>
          </a:xfrm>
          <a:prstGeom prst="rect">
            <a:avLst/>
          </a:prstGeom>
        </p:spPr>
      </p:pic>
      <p:pic>
        <p:nvPicPr>
          <p:cNvPr id="6" name="Picture 5" descr="raw data of some kind (maybe a bad map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100" y="4082320"/>
            <a:ext cx="2147268" cy="2058358"/>
          </a:xfrm>
          <a:prstGeom prst="rect">
            <a:avLst/>
          </a:prstGeom>
        </p:spPr>
      </p:pic>
      <p:sp>
        <p:nvSpPr>
          <p:cNvPr id="7" name="Document 6" descr="textdocument"/>
          <p:cNvSpPr/>
          <p:nvPr/>
        </p:nvSpPr>
        <p:spPr>
          <a:xfrm>
            <a:off x="6096000" y="4844534"/>
            <a:ext cx="1360522" cy="1296144"/>
          </a:xfrm>
          <a:prstGeom prst="flowChartDocumen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 dirty="0"/>
              <a:t>Lorem ipsum dolor sit </a:t>
            </a:r>
            <a:r>
              <a:rPr lang="en-US" sz="900" dirty="0" err="1"/>
              <a:t>amet</a:t>
            </a:r>
            <a:r>
              <a:rPr lang="en-US" sz="900" dirty="0"/>
              <a:t>, </a:t>
            </a:r>
            <a:r>
              <a:rPr lang="en-US" sz="900" dirty="0" err="1"/>
              <a:t>consectetur</a:t>
            </a:r>
            <a:r>
              <a:rPr lang="en-US" sz="900" dirty="0"/>
              <a:t> </a:t>
            </a:r>
            <a:r>
              <a:rPr lang="en-US" sz="900" dirty="0" err="1"/>
              <a:t>adipiscing</a:t>
            </a:r>
            <a:r>
              <a:rPr lang="en-US" sz="900" dirty="0"/>
              <a:t> </a:t>
            </a:r>
            <a:r>
              <a:rPr lang="en-US" sz="900" dirty="0" err="1"/>
              <a:t>elit</a:t>
            </a:r>
            <a:r>
              <a:rPr lang="en-US" sz="900" dirty="0"/>
              <a:t>, </a:t>
            </a:r>
            <a:r>
              <a:rPr lang="en-US" sz="900" dirty="0" err="1"/>
              <a:t>sed</a:t>
            </a:r>
            <a:r>
              <a:rPr lang="en-US" sz="900" dirty="0"/>
              <a:t> do </a:t>
            </a:r>
            <a:r>
              <a:rPr lang="en-US" sz="900" dirty="0" err="1"/>
              <a:t>eiusmod</a:t>
            </a:r>
            <a:r>
              <a:rPr lang="en-US" sz="900" dirty="0"/>
              <a:t> </a:t>
            </a:r>
            <a:r>
              <a:rPr lang="en-US" sz="900" dirty="0" err="1"/>
              <a:t>tempor</a:t>
            </a:r>
            <a:r>
              <a:rPr lang="en-US" sz="900" dirty="0"/>
              <a:t> </a:t>
            </a:r>
            <a:r>
              <a:rPr lang="en-US" sz="900" dirty="0" err="1"/>
              <a:t>incididunt</a:t>
            </a:r>
            <a:r>
              <a:rPr lang="en-US" sz="900" dirty="0"/>
              <a:t> </a:t>
            </a:r>
            <a:r>
              <a:rPr lang="en-US" sz="900" dirty="0" err="1"/>
              <a:t>ut</a:t>
            </a:r>
            <a:r>
              <a:rPr lang="en-US" sz="900" dirty="0"/>
              <a:t> </a:t>
            </a:r>
            <a:r>
              <a:rPr lang="en-US" sz="900" dirty="0" err="1"/>
              <a:t>labore</a:t>
            </a:r>
            <a:r>
              <a:rPr lang="en-US" sz="900" dirty="0"/>
              <a:t> et </a:t>
            </a:r>
            <a:r>
              <a:rPr lang="en-US" sz="900" dirty="0" err="1"/>
              <a:t>dolore</a:t>
            </a:r>
            <a:r>
              <a:rPr lang="en-US" sz="900" dirty="0"/>
              <a:t> magna </a:t>
            </a:r>
            <a:r>
              <a:rPr lang="en-US" sz="900" dirty="0" err="1"/>
              <a:t>aliqua</a:t>
            </a:r>
            <a:r>
              <a:rPr lang="en-US" sz="900" dirty="0"/>
              <a:t>. </a:t>
            </a:r>
            <a:r>
              <a:rPr lang="en-US" sz="900" dirty="0" err="1"/>
              <a:t>Ut</a:t>
            </a:r>
            <a:r>
              <a:rPr lang="en-US" sz="900" dirty="0"/>
              <a:t> </a:t>
            </a:r>
            <a:r>
              <a:rPr lang="en-US" sz="900" dirty="0" err="1"/>
              <a:t>enim</a:t>
            </a:r>
            <a:r>
              <a:rPr lang="en-US" sz="900" dirty="0"/>
              <a:t> ad minim </a:t>
            </a:r>
            <a:r>
              <a:rPr lang="en-US" sz="900" dirty="0" err="1"/>
              <a:t>veniam</a:t>
            </a:r>
            <a:r>
              <a:rPr lang="en-US" sz="900" dirty="0"/>
              <a:t>, </a:t>
            </a:r>
            <a:r>
              <a:rPr lang="en-US" sz="900" dirty="0" err="1"/>
              <a:t>quis</a:t>
            </a:r>
            <a:r>
              <a:rPr lang="en-US" sz="900" dirty="0"/>
              <a:t> </a:t>
            </a:r>
            <a:r>
              <a:rPr lang="en-US" sz="900" dirty="0" err="1"/>
              <a:t>nos</a:t>
            </a:r>
            <a:endParaRPr lang="en-US" sz="900" dirty="0"/>
          </a:p>
          <a:p>
            <a:r>
              <a:rPr lang="en-US" sz="900" dirty="0" err="1"/>
              <a:t>exercitat</a:t>
            </a:r>
            <a:endParaRPr lang="en-US" sz="9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84452" y="4141585"/>
          <a:ext cx="3096343" cy="864000"/>
        </p:xfrm>
        <a:graphic>
          <a:graphicData uri="http://schemas.openxmlformats.org/drawingml/2006/table">
            <a:tbl>
              <a:tblPr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88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Anna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20171989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G402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John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20174378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G702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466929" y="3700433"/>
          <a:ext cx="3384376" cy="864000"/>
        </p:xfrm>
        <a:graphic>
          <a:graphicData uri="http://schemas.openxmlformats.org/drawingml/2006/table">
            <a:tbl>
              <a:tblPr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COMP207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Database Development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600" dirty="0"/>
                        <a:t>COMP219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600" dirty="0"/>
                        <a:t>Artificial Intelligence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70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Semistructured</a:t>
            </a:r>
            <a:r>
              <a:rPr lang="en-US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good aspects of both worlds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719736" y="2795691"/>
            <a:ext cx="0" cy="3168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719737" y="5946131"/>
            <a:ext cx="42776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64690" y="2123183"/>
            <a:ext cx="1510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Completeness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of 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3376" y="5727609"/>
            <a:ext cx="1813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Flexibility of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data </a:t>
            </a:r>
            <a:r>
              <a:rPr lang="en-US" dirty="0" err="1">
                <a:solidFill>
                  <a:schemeClr val="accent1"/>
                </a:solidFill>
              </a:rPr>
              <a:t>organisation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4094338" y="2847295"/>
            <a:ext cx="288032" cy="28803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638515" y="5237365"/>
            <a:ext cx="288032" cy="28803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01758" y="3610151"/>
            <a:ext cx="288032" cy="28803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406036" y="2806645"/>
            <a:ext cx="118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Structured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7404" y="5210985"/>
            <a:ext cx="1431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Unstructured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5534" y="3585301"/>
            <a:ext cx="1620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Semistructured</a:t>
            </a:r>
            <a:endParaRPr lang="en-US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6213318" y="2177601"/>
            <a:ext cx="3613760" cy="1116459"/>
          </a:xfrm>
          <a:prstGeom prst="wedgeRoundRectCallout">
            <a:avLst>
              <a:gd name="adj1" fmla="val -38656"/>
              <a:gd name="adj2" fmla="val 702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 sz="1600" b="1" dirty="0"/>
              <a:t>Self-describing</a:t>
            </a:r>
            <a:r>
              <a:rPr lang="en-US" sz="1600" dirty="0"/>
              <a:t>: no schema required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1" dirty="0"/>
              <a:t>Flexible</a:t>
            </a:r>
            <a:r>
              <a:rPr lang="en-US" sz="1600" dirty="0"/>
              <a:t>: e.g., can add &amp; remove attributes on demand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5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9" grpId="0" animBg="1"/>
      <p:bldP spid="30" grpId="0"/>
      <p:bldP spid="31" grpId="0"/>
      <p:bldP spid="32" grpId="0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Semistructured</a:t>
            </a:r>
            <a:r>
              <a:rPr lang="en-US" dirty="0"/>
              <a:t>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err="1"/>
              <a:t>Semistructured</a:t>
            </a:r>
            <a:r>
              <a:rPr lang="en-US" sz="2400" dirty="0"/>
              <a:t> databases may be thought of as collections </a:t>
            </a:r>
            <a:br>
              <a:rPr lang="en-US" sz="2400" dirty="0"/>
            </a:br>
            <a:r>
              <a:rPr lang="en-US" sz="2400" dirty="0"/>
              <a:t>of nodes linked by edges</a:t>
            </a:r>
          </a:p>
          <a:p>
            <a:r>
              <a:rPr lang="en-US" sz="2400" dirty="0"/>
              <a:t>Typically a tree or “tree-like”</a:t>
            </a:r>
          </a:p>
          <a:p>
            <a:r>
              <a:rPr lang="en-US" sz="2400" b="1" dirty="0"/>
              <a:t>Leaf nodes </a:t>
            </a:r>
            <a:r>
              <a:rPr lang="en-US" sz="2400" dirty="0"/>
              <a:t>have associated </a:t>
            </a:r>
            <a:r>
              <a:rPr lang="en-US" sz="2400" dirty="0">
                <a:solidFill>
                  <a:schemeClr val="accent2"/>
                </a:solidFill>
              </a:rPr>
              <a:t>data</a:t>
            </a:r>
          </a:p>
          <a:p>
            <a:pPr lvl="1"/>
            <a:r>
              <a:rPr lang="en-US" sz="2000" dirty="0"/>
              <a:t>Strings, integers, etc.</a:t>
            </a:r>
          </a:p>
          <a:p>
            <a:r>
              <a:rPr lang="en-US" sz="2400" b="1" dirty="0"/>
              <a:t>Inner nodes </a:t>
            </a:r>
            <a:r>
              <a:rPr lang="en-US" sz="2400" dirty="0"/>
              <a:t>have edges</a:t>
            </a:r>
            <a:br>
              <a:rPr lang="en-US" sz="2400" dirty="0"/>
            </a:br>
            <a:r>
              <a:rPr lang="en-US" sz="2400" dirty="0"/>
              <a:t>going to other nodes</a:t>
            </a:r>
          </a:p>
          <a:p>
            <a:pPr lvl="1"/>
            <a:r>
              <a:rPr lang="en-US" sz="2000" dirty="0"/>
              <a:t>Each edge has a </a:t>
            </a:r>
            <a:r>
              <a:rPr lang="en-US" sz="2000" dirty="0">
                <a:solidFill>
                  <a:schemeClr val="accent3"/>
                </a:solidFill>
              </a:rPr>
              <a:t>label</a:t>
            </a:r>
          </a:p>
          <a:p>
            <a:r>
              <a:rPr lang="en-US" sz="2400" b="1" dirty="0"/>
              <a:t>Root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No incoming edges</a:t>
            </a:r>
          </a:p>
          <a:p>
            <a:pPr lvl="1"/>
            <a:r>
              <a:rPr lang="en-US" sz="2000" dirty="0"/>
              <a:t>Each node reachable from the root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8286779" y="2055472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387" y="2794820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06928" y="2779334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18119" y="3560824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19762" y="3565353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17981" y="4276877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522478" y="4257522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153118" y="4384772"/>
            <a:ext cx="1225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”J. </a:t>
            </a:r>
            <a:r>
              <a:rPr lang="en-US" sz="1600" dirty="0" err="1">
                <a:solidFill>
                  <a:schemeClr val="accent2"/>
                </a:solidFill>
              </a:rPr>
              <a:t>Fearnley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927383" y="5136596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“COMP105”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099236" y="5142852"/>
            <a:ext cx="17458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Progr</a:t>
            </a:r>
            <a:r>
              <a:rPr lang="en-US" sz="1600" dirty="0">
                <a:solidFill>
                  <a:schemeClr val="accent2"/>
                </a:solidFill>
              </a:rPr>
              <a:t>. Paradigms”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4B71F7-62AD-4B01-8C80-EF202A4D0DB6}"/>
              </a:ext>
            </a:extLst>
          </p:cNvPr>
          <p:cNvGrpSpPr/>
          <p:nvPr/>
        </p:nvGrpSpPr>
        <p:grpSpPr>
          <a:xfrm>
            <a:off x="6600056" y="2443892"/>
            <a:ext cx="3228828" cy="2664296"/>
            <a:chOff x="6600056" y="2443892"/>
            <a:chExt cx="3228828" cy="2664296"/>
          </a:xfrm>
        </p:grpSpPr>
        <p:sp>
          <p:nvSpPr>
            <p:cNvPr id="8" name="Oval 7"/>
            <p:cNvSpPr/>
            <p:nvPr/>
          </p:nvSpPr>
          <p:spPr>
            <a:xfrm>
              <a:off x="8374924" y="2443892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321924" y="3324693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423476" y="3329222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/>
            <p:cNvCxnSpPr>
              <a:stCxn id="8" idx="3"/>
              <a:endCxn id="9" idx="7"/>
            </p:cNvCxnSpPr>
            <p:nvPr/>
          </p:nvCxnSpPr>
          <p:spPr>
            <a:xfrm flipH="1">
              <a:off x="7667961" y="2789930"/>
              <a:ext cx="766334" cy="594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5"/>
              <a:endCxn id="10" idx="1"/>
            </p:cNvCxnSpPr>
            <p:nvPr/>
          </p:nvCxnSpPr>
          <p:spPr>
            <a:xfrm>
              <a:off x="8720961" y="2789929"/>
              <a:ext cx="761886" cy="59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6600056" y="4005064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028887" y="4010611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stCxn id="9" idx="3"/>
              <a:endCxn id="20" idx="7"/>
            </p:cNvCxnSpPr>
            <p:nvPr/>
          </p:nvCxnSpPr>
          <p:spPr>
            <a:xfrm flipH="1">
              <a:off x="6946093" y="3670731"/>
              <a:ext cx="435202" cy="3937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9" idx="5"/>
              <a:endCxn id="21" idx="1"/>
            </p:cNvCxnSpPr>
            <p:nvPr/>
          </p:nvCxnSpPr>
          <p:spPr>
            <a:xfrm>
              <a:off x="7667962" y="3670730"/>
              <a:ext cx="420297" cy="3992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/>
            <p:nvPr/>
          </p:nvSpPr>
          <p:spPr>
            <a:xfrm>
              <a:off x="7332773" y="4702780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>
              <a:endCxn id="43" idx="7"/>
            </p:cNvCxnSpPr>
            <p:nvPr/>
          </p:nvCxnSpPr>
          <p:spPr>
            <a:xfrm flipH="1">
              <a:off x="7678810" y="4389435"/>
              <a:ext cx="397824" cy="3727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8720961" y="4702780"/>
              <a:ext cx="405408" cy="40540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/>
            <p:cNvCxnSpPr>
              <a:stCxn id="21" idx="5"/>
              <a:endCxn id="51" idx="1"/>
            </p:cNvCxnSpPr>
            <p:nvPr/>
          </p:nvCxnSpPr>
          <p:spPr>
            <a:xfrm>
              <a:off x="8374924" y="4356649"/>
              <a:ext cx="405408" cy="4055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10" idx="4"/>
            </p:cNvCxnSpPr>
            <p:nvPr/>
          </p:nvCxnSpPr>
          <p:spPr>
            <a:xfrm>
              <a:off x="9626181" y="3734630"/>
              <a:ext cx="11387" cy="65480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21" idx="2"/>
              <a:endCxn id="20" idx="6"/>
            </p:cNvCxnSpPr>
            <p:nvPr/>
          </p:nvCxnSpPr>
          <p:spPr>
            <a:xfrm flipH="1" flipV="1">
              <a:off x="7005465" y="4207769"/>
              <a:ext cx="1023423" cy="55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7055030" y="3895601"/>
            <a:ext cx="947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taughtBy</a:t>
            </a:r>
            <a:endParaRPr lang="en-US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98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9" grpId="0"/>
      <p:bldP spid="30" grpId="0"/>
      <p:bldP spid="45" grpId="0"/>
      <p:bldP spid="53" grpId="0"/>
      <p:bldP spid="56" grpId="0"/>
      <p:bldP spid="57" grpId="0"/>
      <p:bldP spid="58" grpId="0"/>
      <p:bldP spid="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6" name="Oval 45"/>
          <p:cNvSpPr/>
          <p:nvPr/>
        </p:nvSpPr>
        <p:spPr>
          <a:xfrm>
            <a:off x="6272844" y="19198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2155068" y="38634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679788" y="4223509"/>
            <a:ext cx="1225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”J. </a:t>
            </a:r>
            <a:r>
              <a:rPr lang="en-US" sz="1600" dirty="0" err="1">
                <a:solidFill>
                  <a:schemeClr val="accent2"/>
                </a:solidFill>
              </a:rPr>
              <a:t>Fearnley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51372" y="38634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2911062" y="4223509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7954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3575535" y="516649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115647" y="5526535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“COMP105”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58269" y="516760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222703" y="5527647"/>
            <a:ext cx="1745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</a:t>
            </a:r>
            <a:r>
              <a:rPr lang="en-GB" sz="1600" dirty="0" err="1">
                <a:solidFill>
                  <a:schemeClr val="accent2"/>
                </a:solidFill>
              </a:rPr>
              <a:t>Progr</a:t>
            </a:r>
            <a:r>
              <a:rPr lang="en-GB" sz="1600" dirty="0">
                <a:solidFill>
                  <a:schemeClr val="accent2"/>
                </a:solidFill>
              </a:rPr>
              <a:t>. Paradigms”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5633072" y="386346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964544" y="4223509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4310141" y="386154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4310141" y="269784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7027613" y="386235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6547556" y="4222397"/>
            <a:ext cx="123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”M. 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7753992" y="516649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7315501" y="5526535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“COMP211”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8897369" y="516760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8541965" y="5527647"/>
            <a:ext cx="1219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“Internet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8488598" y="386043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8047241" y="269784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6" idx="3"/>
            <a:endCxn id="63" idx="7"/>
          </p:cNvCxnSpPr>
          <p:nvPr/>
        </p:nvCxnSpPr>
        <p:spPr>
          <a:xfrm flipH="1">
            <a:off x="4544622" y="2154294"/>
            <a:ext cx="1768453" cy="583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6" idx="5"/>
            <a:endCxn id="75" idx="1"/>
          </p:cNvCxnSpPr>
          <p:nvPr/>
        </p:nvCxnSpPr>
        <p:spPr>
          <a:xfrm>
            <a:off x="6507325" y="2154294"/>
            <a:ext cx="1580147" cy="583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3" idx="2"/>
            <a:endCxn id="52" idx="7"/>
          </p:cNvCxnSpPr>
          <p:nvPr/>
        </p:nvCxnSpPr>
        <p:spPr>
          <a:xfrm flipH="1">
            <a:off x="2389549" y="2835206"/>
            <a:ext cx="1920592" cy="106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3" idx="3"/>
            <a:endCxn id="54" idx="7"/>
          </p:cNvCxnSpPr>
          <p:nvPr/>
        </p:nvCxnSpPr>
        <p:spPr>
          <a:xfrm flipH="1">
            <a:off x="3385854" y="2932330"/>
            <a:ext cx="964519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3" idx="4"/>
            <a:endCxn id="62" idx="0"/>
          </p:cNvCxnSpPr>
          <p:nvPr/>
        </p:nvCxnSpPr>
        <p:spPr>
          <a:xfrm>
            <a:off x="4447497" y="2972561"/>
            <a:ext cx="0" cy="88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3" idx="5"/>
            <a:endCxn id="60" idx="1"/>
          </p:cNvCxnSpPr>
          <p:nvPr/>
        </p:nvCxnSpPr>
        <p:spPr>
          <a:xfrm>
            <a:off x="4544623" y="2932330"/>
            <a:ext cx="1128681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5" idx="3"/>
            <a:endCxn id="64" idx="7"/>
          </p:cNvCxnSpPr>
          <p:nvPr/>
        </p:nvCxnSpPr>
        <p:spPr>
          <a:xfrm flipH="1">
            <a:off x="7262094" y="2932330"/>
            <a:ext cx="825378" cy="97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5" idx="5"/>
            <a:endCxn id="74" idx="0"/>
          </p:cNvCxnSpPr>
          <p:nvPr/>
        </p:nvCxnSpPr>
        <p:spPr>
          <a:xfrm>
            <a:off x="8281722" y="2932331"/>
            <a:ext cx="344232" cy="92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2" idx="3"/>
            <a:endCxn id="56" idx="7"/>
          </p:cNvCxnSpPr>
          <p:nvPr/>
        </p:nvCxnSpPr>
        <p:spPr>
          <a:xfrm flipH="1">
            <a:off x="3810016" y="4096030"/>
            <a:ext cx="540356" cy="1110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62" idx="5"/>
            <a:endCxn id="58" idx="1"/>
          </p:cNvCxnSpPr>
          <p:nvPr/>
        </p:nvCxnSpPr>
        <p:spPr>
          <a:xfrm>
            <a:off x="4544622" y="4096030"/>
            <a:ext cx="453878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74" idx="3"/>
            <a:endCxn id="68" idx="7"/>
          </p:cNvCxnSpPr>
          <p:nvPr/>
        </p:nvCxnSpPr>
        <p:spPr>
          <a:xfrm flipH="1">
            <a:off x="7988473" y="4094918"/>
            <a:ext cx="540356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74" idx="4"/>
            <a:endCxn id="70" idx="1"/>
          </p:cNvCxnSpPr>
          <p:nvPr/>
        </p:nvCxnSpPr>
        <p:spPr>
          <a:xfrm>
            <a:off x="8625954" y="4135150"/>
            <a:ext cx="311646" cy="107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914507" y="2086537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084042" y="2040187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989489" y="2931218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117" name="Straight Arrow Connector 116"/>
          <p:cNvCxnSpPr>
            <a:stCxn id="75" idx="2"/>
            <a:endCxn id="60" idx="6"/>
          </p:cNvCxnSpPr>
          <p:nvPr/>
        </p:nvCxnSpPr>
        <p:spPr>
          <a:xfrm flipH="1">
            <a:off x="5907785" y="2835205"/>
            <a:ext cx="2139457" cy="116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660353" y="3452087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phone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419841" y="3396383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096994" y="3103551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 rot="18847236">
            <a:off x="7132642" y="3310329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712322" y="3380236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989335" y="4596427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4840649" y="4596427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611428" y="4605711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311728" y="460571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9940970" y="5149890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9933896" y="5526535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34" name="Straight Arrow Connector 133"/>
          <p:cNvCxnSpPr>
            <a:stCxn id="74" idx="6"/>
            <a:endCxn id="132" idx="1"/>
          </p:cNvCxnSpPr>
          <p:nvPr/>
        </p:nvCxnSpPr>
        <p:spPr>
          <a:xfrm>
            <a:off x="8763311" y="3997793"/>
            <a:ext cx="1217891" cy="119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9003148" y="4596427"/>
            <a:ext cx="54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year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 rot="20002775">
            <a:off x="6317214" y="3168966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1" name="Rounded Rectangular Callout 140"/>
          <p:cNvSpPr/>
          <p:nvPr/>
        </p:nvSpPr>
        <p:spPr>
          <a:xfrm>
            <a:off x="1725198" y="1580621"/>
            <a:ext cx="2935871" cy="740453"/>
          </a:xfrm>
          <a:prstGeom prst="wedgeRoundRectCallout">
            <a:avLst>
              <a:gd name="adj1" fmla="val 37028"/>
              <a:gd name="adj2" fmla="val 9616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May be thought of </a:t>
            </a:r>
            <a:r>
              <a:rPr lang="en-US" sz="1600"/>
              <a:t>representing a </a:t>
            </a:r>
            <a:r>
              <a:rPr lang="en-US" sz="1600" dirty="0"/>
              <a:t>lecturer object</a:t>
            </a:r>
          </a:p>
        </p:txBody>
      </p:sp>
      <p:sp>
        <p:nvSpPr>
          <p:cNvPr id="142" name="Rounded Rectangular Callout 141"/>
          <p:cNvSpPr/>
          <p:nvPr/>
        </p:nvSpPr>
        <p:spPr>
          <a:xfrm>
            <a:off x="2007953" y="4671493"/>
            <a:ext cx="1621142" cy="368454"/>
          </a:xfrm>
          <a:prstGeom prst="wedgeRoundRectCallout">
            <a:avLst>
              <a:gd name="adj1" fmla="val 26567"/>
              <a:gd name="adj2" fmla="val -7301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/>
              <a:t>Phone, no email</a:t>
            </a:r>
            <a:endParaRPr lang="en-US" sz="1600" dirty="0"/>
          </a:p>
        </p:txBody>
      </p:sp>
      <p:sp>
        <p:nvSpPr>
          <p:cNvPr id="143" name="Rounded Rectangular Callout 142"/>
          <p:cNvSpPr/>
          <p:nvPr/>
        </p:nvSpPr>
        <p:spPr>
          <a:xfrm>
            <a:off x="7912749" y="6021678"/>
            <a:ext cx="2335755" cy="359650"/>
          </a:xfrm>
          <a:prstGeom prst="wedgeRoundRectCallout">
            <a:avLst>
              <a:gd name="adj1" fmla="val 39060"/>
              <a:gd name="adj2" fmla="val -10647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Can add data </a:t>
            </a:r>
            <a:r>
              <a:rPr lang="en-US" sz="1600"/>
              <a:t>on demand</a:t>
            </a:r>
            <a:endParaRPr lang="en-US" sz="1600" dirty="0"/>
          </a:p>
        </p:txBody>
      </p:sp>
      <p:sp>
        <p:nvSpPr>
          <p:cNvPr id="145" name="Oval 144"/>
          <p:cNvSpPr/>
          <p:nvPr/>
        </p:nvSpPr>
        <p:spPr>
          <a:xfrm>
            <a:off x="9825620" y="388255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/>
          <p:cNvCxnSpPr>
            <a:stCxn id="75" idx="6"/>
            <a:endCxn id="145" idx="1"/>
          </p:cNvCxnSpPr>
          <p:nvPr/>
        </p:nvCxnSpPr>
        <p:spPr>
          <a:xfrm>
            <a:off x="8321953" y="2835206"/>
            <a:ext cx="1543898" cy="108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034637" y="3113533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email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0" name="Rounded Rectangular Callout 149"/>
          <p:cNvSpPr/>
          <p:nvPr/>
        </p:nvSpPr>
        <p:spPr>
          <a:xfrm>
            <a:off x="8829818" y="2598165"/>
            <a:ext cx="1570636" cy="368454"/>
          </a:xfrm>
          <a:prstGeom prst="wedgeRoundRectCallout">
            <a:avLst>
              <a:gd name="adj1" fmla="val -18817"/>
              <a:gd name="adj2" fmla="val 8829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Email, </a:t>
            </a:r>
            <a:r>
              <a:rPr lang="en-US" sz="1600"/>
              <a:t>no phone</a:t>
            </a:r>
            <a:endParaRPr lang="en-US" sz="1600" dirty="0"/>
          </a:p>
        </p:txBody>
      </p:sp>
      <p:sp>
        <p:nvSpPr>
          <p:cNvPr id="151" name="TextBox 150"/>
          <p:cNvSpPr txBox="1"/>
          <p:nvPr/>
        </p:nvSpPr>
        <p:spPr>
          <a:xfrm>
            <a:off x="9401910" y="4192669"/>
            <a:ext cx="115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@...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9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/>
      <p:bldP spid="138" grpId="0"/>
      <p:bldP spid="141" grpId="0" animBg="1"/>
      <p:bldP spid="142" grpId="0" animBg="1"/>
      <p:bldP spid="143" grpId="0" animBg="1"/>
      <p:bldP spid="1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 form for </a:t>
            </a:r>
            <a:r>
              <a:rPr lang="en-US" b="1" dirty="0"/>
              <a:t>storing &amp; sharing data on the web </a:t>
            </a:r>
          </a:p>
          <a:p>
            <a:pPr lvl="1"/>
            <a:r>
              <a:rPr lang="en-US" dirty="0"/>
              <a:t>Text-based (typically)</a:t>
            </a:r>
          </a:p>
          <a:p>
            <a:pPr lvl="1"/>
            <a:r>
              <a:rPr lang="en-US" dirty="0"/>
              <a:t>Self-describing (no what is the meaning of this? Etc.)</a:t>
            </a:r>
          </a:p>
          <a:p>
            <a:pPr lvl="1"/>
            <a:r>
              <a:rPr lang="en-US" dirty="0"/>
              <a:t>Easy to process and manipulate, even for humans</a:t>
            </a:r>
          </a:p>
          <a:p>
            <a:pPr lvl="1"/>
            <a:r>
              <a:rPr lang="en-US" dirty="0"/>
              <a:t>Very flexible</a:t>
            </a:r>
          </a:p>
          <a:p>
            <a:pPr>
              <a:spcBef>
                <a:spcPts val="1872"/>
              </a:spcBef>
            </a:pPr>
            <a:r>
              <a:rPr lang="en-US" b="1" dirty="0"/>
              <a:t>Storage of documents </a:t>
            </a:r>
            <a:r>
              <a:rPr lang="en-US" dirty="0"/>
              <a:t>(word processor documents, spreadsheets, vector graphics, etc.)</a:t>
            </a:r>
          </a:p>
          <a:p>
            <a:r>
              <a:rPr lang="en-US" dirty="0"/>
              <a:t>Some database systems popular in data analytics &amp; big data use </a:t>
            </a:r>
            <a:r>
              <a:rPr lang="en-US" dirty="0" err="1"/>
              <a:t>semistructured</a:t>
            </a:r>
            <a:r>
              <a:rPr lang="en-US" dirty="0"/>
              <a:t> data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ounded Rectangular Callout 140">
            <a:extLst>
              <a:ext uri="{FF2B5EF4-FFF2-40B4-BE49-F238E27FC236}">
                <a16:creationId xmlns:a16="http://schemas.microsoft.com/office/drawing/2014/main" id="{40702CB4-B844-4206-A3D4-D1D774FD2230}"/>
              </a:ext>
            </a:extLst>
          </p:cNvPr>
          <p:cNvSpPr/>
          <p:nvPr/>
        </p:nvSpPr>
        <p:spPr>
          <a:xfrm>
            <a:off x="2726684" y="4802793"/>
            <a:ext cx="2563774" cy="542094"/>
          </a:xfrm>
          <a:prstGeom prst="wedgeRoundRectCallout">
            <a:avLst>
              <a:gd name="adj1" fmla="val 19230"/>
              <a:gd name="adj2" fmla="val -8612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Our main focus in this part…</a:t>
            </a:r>
          </a:p>
        </p:txBody>
      </p:sp>
      <p:sp>
        <p:nvSpPr>
          <p:cNvPr id="6" name="Rounded Rectangular Callout 140">
            <a:extLst>
              <a:ext uri="{FF2B5EF4-FFF2-40B4-BE49-F238E27FC236}">
                <a16:creationId xmlns:a16="http://schemas.microsoft.com/office/drawing/2014/main" id="{A445B51A-1E4C-40DE-ADCA-B60AB5ECFFFC}"/>
              </a:ext>
            </a:extLst>
          </p:cNvPr>
          <p:cNvSpPr/>
          <p:nvPr/>
        </p:nvSpPr>
        <p:spPr>
          <a:xfrm>
            <a:off x="6885027" y="2908679"/>
            <a:ext cx="2563774" cy="542094"/>
          </a:xfrm>
          <a:prstGeom prst="wedgeRoundRectCallout">
            <a:avLst>
              <a:gd name="adj1" fmla="val -76304"/>
              <a:gd name="adj2" fmla="val -2990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Take that with a grain of salt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54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72"/>
              </a:spcBef>
            </a:pPr>
            <a:r>
              <a:rPr lang="en-US" b="1" dirty="0"/>
              <a:t>XML</a:t>
            </a:r>
            <a:r>
              <a:rPr lang="en-US" dirty="0"/>
              <a:t> (“Extensible Markup Language”)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Tree-structured data</a:t>
            </a:r>
          </a:p>
          <a:p>
            <a:pPr>
              <a:spcBef>
                <a:spcPts val="1872"/>
              </a:spcBef>
            </a:pPr>
            <a:r>
              <a:rPr lang="en-US" b="1" dirty="0"/>
              <a:t>JSON</a:t>
            </a:r>
            <a:r>
              <a:rPr lang="en-US" dirty="0"/>
              <a:t> (“JavaScript Object Notation”)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Similar to XML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Heavily used in conjunction with JavaScript</a:t>
            </a:r>
          </a:p>
          <a:p>
            <a:pPr>
              <a:spcBef>
                <a:spcPts val="1872"/>
              </a:spcBef>
            </a:pPr>
            <a:r>
              <a:rPr lang="en-US" dirty="0"/>
              <a:t>Simple </a:t>
            </a:r>
            <a:r>
              <a:rPr lang="en-US" b="1" dirty="0"/>
              <a:t>key-value</a:t>
            </a:r>
            <a:r>
              <a:rPr lang="en-US" dirty="0"/>
              <a:t> relationships</a:t>
            </a:r>
          </a:p>
          <a:p>
            <a:pPr lvl="1">
              <a:spcBef>
                <a:spcPts val="672"/>
              </a:spcBef>
            </a:pPr>
            <a:r>
              <a:rPr lang="en-US" dirty="0"/>
              <a:t>Correspond to very simple XML/JSON documents</a:t>
            </a:r>
          </a:p>
          <a:p>
            <a:pPr>
              <a:spcBef>
                <a:spcPts val="1872"/>
              </a:spcBef>
            </a:pPr>
            <a:r>
              <a:rPr lang="en-US" b="1" dirty="0"/>
              <a:t>Graphs</a:t>
            </a:r>
            <a:endParaRPr lang="en-US" dirty="0"/>
          </a:p>
          <a:p>
            <a:pPr lvl="1">
              <a:spcBef>
                <a:spcPts val="672"/>
              </a:spcBef>
            </a:pPr>
            <a:r>
              <a:rPr lang="en-US" dirty="0"/>
              <a:t>One of the most general forms of </a:t>
            </a:r>
            <a:r>
              <a:rPr lang="en-US" dirty="0" err="1"/>
              <a:t>semistructured</a:t>
            </a:r>
            <a:r>
              <a:rPr lang="en-US" dirty="0"/>
              <a:t> data</a:t>
            </a:r>
          </a:p>
          <a:p>
            <a:pPr lvl="1">
              <a:spcBef>
                <a:spcPts val="672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Rounded Rectangular Callout 140">
            <a:extLst>
              <a:ext uri="{FF2B5EF4-FFF2-40B4-BE49-F238E27FC236}">
                <a16:creationId xmlns:a16="http://schemas.microsoft.com/office/drawing/2014/main" id="{5871E66B-DCB0-4B52-B9F6-15A0F243C3E7}"/>
              </a:ext>
            </a:extLst>
          </p:cNvPr>
          <p:cNvSpPr/>
          <p:nvPr/>
        </p:nvSpPr>
        <p:spPr>
          <a:xfrm>
            <a:off x="6972200" y="1920882"/>
            <a:ext cx="2928257" cy="542094"/>
          </a:xfrm>
          <a:prstGeom prst="wedgeRoundRectCallout">
            <a:avLst>
              <a:gd name="adj1" fmla="val -80126"/>
              <a:gd name="adj2" fmla="val -158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Will spend some time on this…</a:t>
            </a:r>
          </a:p>
        </p:txBody>
      </p:sp>
      <p:sp>
        <p:nvSpPr>
          <p:cNvPr id="8" name="Rounded Rectangular Callout 140">
            <a:extLst>
              <a:ext uri="{FF2B5EF4-FFF2-40B4-BE49-F238E27FC236}">
                <a16:creationId xmlns:a16="http://schemas.microsoft.com/office/drawing/2014/main" id="{94623B1E-E38D-4F7A-B886-E4B217A324FA}"/>
              </a:ext>
            </a:extLst>
          </p:cNvPr>
          <p:cNvSpPr/>
          <p:nvPr/>
        </p:nvSpPr>
        <p:spPr>
          <a:xfrm>
            <a:off x="7010202" y="2785375"/>
            <a:ext cx="2928257" cy="542094"/>
          </a:xfrm>
          <a:prstGeom prst="wedgeRoundRectCallout">
            <a:avLst>
              <a:gd name="adj1" fmla="val -80126"/>
              <a:gd name="adj2" fmla="val -158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… and a bit on this</a:t>
            </a:r>
          </a:p>
        </p:txBody>
      </p:sp>
      <p:sp>
        <p:nvSpPr>
          <p:cNvPr id="9" name="Rounded Rectangular Callout 140">
            <a:extLst>
              <a:ext uri="{FF2B5EF4-FFF2-40B4-BE49-F238E27FC236}">
                <a16:creationId xmlns:a16="http://schemas.microsoft.com/office/drawing/2014/main" id="{F2A0907F-8D4A-4BEB-A5D6-849A3EB01587}"/>
              </a:ext>
            </a:extLst>
          </p:cNvPr>
          <p:cNvSpPr/>
          <p:nvPr/>
        </p:nvSpPr>
        <p:spPr>
          <a:xfrm>
            <a:off x="6972201" y="4470173"/>
            <a:ext cx="2928257" cy="542094"/>
          </a:xfrm>
          <a:prstGeom prst="wedgeRoundRectCallout">
            <a:avLst>
              <a:gd name="adj1" fmla="val -80126"/>
              <a:gd name="adj2" fmla="val -158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… and another bit here</a:t>
            </a:r>
          </a:p>
        </p:txBody>
      </p:sp>
      <p:sp>
        <p:nvSpPr>
          <p:cNvPr id="10" name="Rounded Rectangular Callout 140">
            <a:extLst>
              <a:ext uri="{FF2B5EF4-FFF2-40B4-BE49-F238E27FC236}">
                <a16:creationId xmlns:a16="http://schemas.microsoft.com/office/drawing/2014/main" id="{1FB0F9C3-2FE9-43F0-8BAC-E7417CD05D7F}"/>
              </a:ext>
            </a:extLst>
          </p:cNvPr>
          <p:cNvSpPr/>
          <p:nvPr/>
        </p:nvSpPr>
        <p:spPr>
          <a:xfrm>
            <a:off x="7440287" y="5351298"/>
            <a:ext cx="2928257" cy="542094"/>
          </a:xfrm>
          <a:prstGeom prst="wedgeRoundRectCallout">
            <a:avLst>
              <a:gd name="adj1" fmla="val -80126"/>
              <a:gd name="adj2" fmla="val -158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Will introduce this, but not really spend time on it</a:t>
            </a:r>
          </a:p>
        </p:txBody>
      </p:sp>
      <p:sp>
        <p:nvSpPr>
          <p:cNvPr id="11" name="Rounded Rectangular Callout 140">
            <a:extLst>
              <a:ext uri="{FF2B5EF4-FFF2-40B4-BE49-F238E27FC236}">
                <a16:creationId xmlns:a16="http://schemas.microsoft.com/office/drawing/2014/main" id="{C628FC34-D7BB-4B89-9350-C7C1173CF2C8}"/>
              </a:ext>
            </a:extLst>
          </p:cNvPr>
          <p:cNvSpPr/>
          <p:nvPr/>
        </p:nvSpPr>
        <p:spPr>
          <a:xfrm>
            <a:off x="4996146" y="901859"/>
            <a:ext cx="2014056" cy="782676"/>
          </a:xfrm>
          <a:prstGeom prst="wedgeRoundRectCallout">
            <a:avLst>
              <a:gd name="adj1" fmla="val -54723"/>
              <a:gd name="adj2" fmla="val 717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Slower but can do more than relational databases</a:t>
            </a:r>
          </a:p>
        </p:txBody>
      </p:sp>
      <p:sp>
        <p:nvSpPr>
          <p:cNvPr id="12" name="Rounded Rectangular Callout 140">
            <a:extLst>
              <a:ext uri="{FF2B5EF4-FFF2-40B4-BE49-F238E27FC236}">
                <a16:creationId xmlns:a16="http://schemas.microsoft.com/office/drawing/2014/main" id="{A644DA27-CB9C-4FCA-B5FC-F8BF480DBF96}"/>
              </a:ext>
            </a:extLst>
          </p:cNvPr>
          <p:cNvSpPr/>
          <p:nvPr/>
        </p:nvSpPr>
        <p:spPr>
          <a:xfrm>
            <a:off x="-99654" y="3067307"/>
            <a:ext cx="1525684" cy="1148488"/>
          </a:xfrm>
          <a:prstGeom prst="wedgeRoundRectCallout">
            <a:avLst>
              <a:gd name="adj1" fmla="val 57988"/>
              <a:gd name="adj2" fmla="val -4526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Slower but can do more than relational databases</a:t>
            </a:r>
          </a:p>
        </p:txBody>
      </p:sp>
      <p:sp>
        <p:nvSpPr>
          <p:cNvPr id="13" name="Rounded Rectangular Callout 140">
            <a:extLst>
              <a:ext uri="{FF2B5EF4-FFF2-40B4-BE49-F238E27FC236}">
                <a16:creationId xmlns:a16="http://schemas.microsoft.com/office/drawing/2014/main" id="{5D7AF68D-5BFF-4BBA-96CB-9AD5F5223E14}"/>
              </a:ext>
            </a:extLst>
          </p:cNvPr>
          <p:cNvSpPr/>
          <p:nvPr/>
        </p:nvSpPr>
        <p:spPr>
          <a:xfrm>
            <a:off x="5736375" y="3556707"/>
            <a:ext cx="2014056" cy="782676"/>
          </a:xfrm>
          <a:prstGeom prst="wedgeRoundRectCallout">
            <a:avLst>
              <a:gd name="adj1" fmla="val -54723"/>
              <a:gd name="adj2" fmla="val 7177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Faster but can do much less than relational databases</a:t>
            </a:r>
          </a:p>
        </p:txBody>
      </p:sp>
      <p:sp>
        <p:nvSpPr>
          <p:cNvPr id="14" name="Rounded Rectangular Callout 140">
            <a:extLst>
              <a:ext uri="{FF2B5EF4-FFF2-40B4-BE49-F238E27FC236}">
                <a16:creationId xmlns:a16="http://schemas.microsoft.com/office/drawing/2014/main" id="{7B03AF1C-FD7D-4D60-9956-4FB144B4781C}"/>
              </a:ext>
            </a:extLst>
          </p:cNvPr>
          <p:cNvSpPr/>
          <p:nvPr/>
        </p:nvSpPr>
        <p:spPr>
          <a:xfrm>
            <a:off x="5252058" y="5812034"/>
            <a:ext cx="2014056" cy="782676"/>
          </a:xfrm>
          <a:prstGeom prst="wedgeRoundRectCallout">
            <a:avLst>
              <a:gd name="adj1" fmla="val -26077"/>
              <a:gd name="adj2" fmla="val -6452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Slower but can do more than relational databases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958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FE5E-CEB2-4C4B-8203-ABA883E7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B4090-5445-4C76-BCC7-A0A501B42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Semi-structured data is </a:t>
            </a:r>
            <a:r>
              <a:rPr lang="en-US" sz="2000" dirty="0"/>
              <a:t>self-describing (no schema required) and flexible (e.g., can add &amp; remove attributes on demand) and are in particular less structured than relational databases.</a:t>
            </a:r>
          </a:p>
          <a:p>
            <a:pPr lvl="1"/>
            <a:r>
              <a:rPr lang="en-US" dirty="0"/>
              <a:t>Typically forms a tree or tree-like shape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23A06-6DBE-4C04-9FA0-46B33C79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7347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17.4|22.2|7.7|3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7|3.8|21.6|14.4|18.8|68.5|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32.3|7.8|2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5|24.6|21.3|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8|3.7|1.9|4.3|6.9|10.3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268</TotalTime>
  <Words>601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Introduction to semi-structured data</vt:lpstr>
      <vt:lpstr>Overview over this video</vt:lpstr>
      <vt:lpstr>Fully Structured Data</vt:lpstr>
      <vt:lpstr>Unstructured Data</vt:lpstr>
      <vt:lpstr>Semistructured Data</vt:lpstr>
      <vt:lpstr>Semistructured Data Model</vt:lpstr>
      <vt:lpstr>Example</vt:lpstr>
      <vt:lpstr>Applications</vt:lpstr>
      <vt:lpstr>Many Forms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Rasmus Ibsen-Jensen</dc:creator>
  <cp:lastModifiedBy>Rasmus Ibsen-Jensen</cp:lastModifiedBy>
  <cp:revision>7</cp:revision>
  <dcterms:created xsi:type="dcterms:W3CDTF">2020-11-28T14:19:01Z</dcterms:created>
  <dcterms:modified xsi:type="dcterms:W3CDTF">2020-12-01T23:41:33Z</dcterms:modified>
</cp:coreProperties>
</file>