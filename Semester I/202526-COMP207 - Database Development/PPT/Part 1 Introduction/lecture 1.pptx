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1"/>
    <p:sldMasterId id="2147483771" r:id="rId2"/>
  </p:sldMasterIdLst>
  <p:notesMasterIdLst>
    <p:notesMasterId r:id="rId39"/>
  </p:notesMasterIdLst>
  <p:handoutMasterIdLst>
    <p:handoutMasterId r:id="rId40"/>
  </p:handoutMasterIdLst>
  <p:sldIdLst>
    <p:sldId id="277" r:id="rId3"/>
    <p:sldId id="358" r:id="rId4"/>
    <p:sldId id="359" r:id="rId5"/>
    <p:sldId id="355" r:id="rId6"/>
    <p:sldId id="390" r:id="rId7"/>
    <p:sldId id="311" r:id="rId8"/>
    <p:sldId id="372" r:id="rId9"/>
    <p:sldId id="330" r:id="rId10"/>
    <p:sldId id="335" r:id="rId11"/>
    <p:sldId id="336" r:id="rId12"/>
    <p:sldId id="389" r:id="rId13"/>
    <p:sldId id="373" r:id="rId14"/>
    <p:sldId id="374" r:id="rId15"/>
    <p:sldId id="376" r:id="rId16"/>
    <p:sldId id="377" r:id="rId17"/>
    <p:sldId id="378" r:id="rId18"/>
    <p:sldId id="379" r:id="rId19"/>
    <p:sldId id="375" r:id="rId20"/>
    <p:sldId id="382" r:id="rId21"/>
    <p:sldId id="387" r:id="rId22"/>
    <p:sldId id="392" r:id="rId23"/>
    <p:sldId id="361" r:id="rId24"/>
    <p:sldId id="362" r:id="rId25"/>
    <p:sldId id="363" r:id="rId26"/>
    <p:sldId id="366" r:id="rId27"/>
    <p:sldId id="367" r:id="rId28"/>
    <p:sldId id="327" r:id="rId29"/>
    <p:sldId id="304" r:id="rId30"/>
    <p:sldId id="384" r:id="rId31"/>
    <p:sldId id="306" r:id="rId32"/>
    <p:sldId id="368" r:id="rId33"/>
    <p:sldId id="391" r:id="rId34"/>
    <p:sldId id="369" r:id="rId35"/>
    <p:sldId id="370" r:id="rId36"/>
    <p:sldId id="371" r:id="rId37"/>
    <p:sldId id="296" r:id="rId38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6"/>
    <p:restoredTop sz="88906"/>
  </p:normalViewPr>
  <p:slideViewPr>
    <p:cSldViewPr>
      <p:cViewPr varScale="1">
        <p:scale>
          <a:sx n="98" d="100"/>
          <a:sy n="98" d="100"/>
        </p:scale>
        <p:origin x="60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BF2D3-C736-4746-B251-6CA954DDEDEF}" type="datetimeFigureOut">
              <a:rPr lang="en-GB" smtClean="0"/>
              <a:pPr/>
              <a:t>20/09/2025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4267F6-3C04-43C4-A9B4-3286AEC0C3C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0854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3C5EE-AF14-42B0-8F46-7475693617B6}" type="datetimeFigureOut">
              <a:rPr lang="en-US" smtClean="0"/>
              <a:pPr/>
              <a:t>9/20/2025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61135-8D52-46AB-A95A-20185346067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0419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61135-8D52-46AB-A95A-201853460671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1668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61135-8D52-46AB-A95A-201853460671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9078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</a:t>
            </a:r>
            <a:r>
              <a:rPr lang="en-US" dirty="0" err="1"/>
              <a:t>Hartree</a:t>
            </a:r>
            <a:r>
              <a:rPr lang="en-US" dirty="0"/>
              <a:t> Centre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61135-8D52-46AB-A95A-201853460671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5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Modern database management systems (DBMSs)</a:t>
            </a:r>
            <a:br>
              <a:rPr lang="en-US" dirty="0"/>
            </a:br>
            <a:r>
              <a:rPr lang="en-US" dirty="0"/>
              <a:t>are extremely sophisticated tools that enable us </a:t>
            </a:r>
            <a:br>
              <a:rPr lang="en-US" dirty="0"/>
            </a:br>
            <a:r>
              <a:rPr lang="en-US" dirty="0"/>
              <a:t>to handle large amounts of data in an efficient, flexible and safe way.</a:t>
            </a:r>
            <a:endParaRPr lang="en-GB" dirty="0"/>
          </a:p>
          <a:p>
            <a:endParaRPr lang="en-GB" dirty="0"/>
          </a:p>
          <a:p>
            <a:r>
              <a:rPr lang="mr-IN" dirty="0"/>
              <a:t>…</a:t>
            </a:r>
            <a:r>
              <a:rPr lang="en-GB" dirty="0"/>
              <a:t>these systems have come</a:t>
            </a:r>
            <a:r>
              <a:rPr lang="en-GB" baseline="0" dirty="0"/>
              <a:t> a long way</a:t>
            </a:r>
            <a:r>
              <a:rPr lang="mr-IN" baseline="0" dirty="0"/>
              <a:t>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A61135-8D52-46AB-A95A-201853460671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8629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A61135-8D52-46AB-A95A-201853460671}" type="slidenum">
              <a:rPr lang="en-GB" smtClean="0"/>
              <a:pPr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532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D9BC-8396-488D-9172-794401FB89F2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ctur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40705"/>
            <a:ext cx="7772400" cy="14700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396480"/>
            <a:ext cx="7772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85800" y="4508500"/>
            <a:ext cx="7772400" cy="1944836"/>
          </a:xfrm>
        </p:spPr>
        <p:txBody>
          <a:bodyPr anchor="b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cture title slide for p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40705"/>
            <a:ext cx="7772400" cy="14700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396480"/>
            <a:ext cx="7772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85800" y="4508500"/>
            <a:ext cx="7772400" cy="1944836"/>
          </a:xfrm>
        </p:spPr>
        <p:txBody>
          <a:bodyPr anchor="b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-31282" y="-5626"/>
            <a:ext cx="91752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This</a:t>
            </a:r>
            <a:r>
              <a:rPr lang="en-US" sz="1400" baseline="0" dirty="0"/>
              <a:t> is a preview of the slides. Some slides are not shown. The full set of slides </a:t>
            </a:r>
            <a:r>
              <a:rPr lang="en-US" sz="1400" dirty="0"/>
              <a:t>will be</a:t>
            </a:r>
            <a:r>
              <a:rPr lang="en-US" sz="1400" baseline="0" dirty="0"/>
              <a:t> made available after the lecture.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64904"/>
            <a:ext cx="7772400" cy="1470025"/>
          </a:xfrm>
        </p:spPr>
        <p:txBody>
          <a:bodyPr>
            <a:normAutofit/>
          </a:bodyPr>
          <a:lstStyle>
            <a:lvl1pPr>
              <a:defRPr sz="3200" i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D9BC-8396-488D-9172-794401FB89F2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mitte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D9BC-8396-488D-9172-794401FB89F2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Box 2"/>
          <p:cNvSpPr txBox="1"/>
          <p:nvPr userDrawn="1"/>
        </p:nvSpPr>
        <p:spPr>
          <a:xfrm>
            <a:off x="179512" y="188640"/>
            <a:ext cx="79962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Slide omitted (the full set of slides will be</a:t>
            </a:r>
            <a:r>
              <a:rPr lang="en-US" sz="2000" baseline="0" dirty="0"/>
              <a:t> made available after the lecture).</a:t>
            </a:r>
            <a:br>
              <a:rPr lang="en-US" sz="2000" baseline="0" dirty="0"/>
            </a:br>
            <a:r>
              <a:rPr lang="en-US" sz="2000" baseline="0" dirty="0"/>
              <a:t>You can use this empty space for notes.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09C0-CF7E-41BE-AA4F-C4A1CE643691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8C0F-5487-4DD5-ACBE-52D107DE9B3E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8A0F-21F8-4689-A90B-9E64760011B1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4E0C0-D9C0-4369-98DA-97F698B8DFDA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025D9-2EC8-4C74-80FB-E47BDAB31093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77A8-0CC0-4DBD-8BEC-79F1382DA8E7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D86EF-1E79-45DA-97A7-308F0634C935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81B3A-635E-48A1-A024-DFE9F85A0F75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85F9-E111-491B-8B1C-BA8E9F2B88C6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F932B-2DE8-4DF2-906A-4EAB7635F360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ctur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40705"/>
            <a:ext cx="7772400" cy="14700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9648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85800" y="4508500"/>
            <a:ext cx="7772400" cy="20888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D9BC-8396-488D-9172-794401FB89F2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09C0-CF7E-41BE-AA4F-C4A1CE643691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8C0F-5487-4DD5-ACBE-52D107DE9B3E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8A0F-21F8-4689-A90B-9E64760011B1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4E0C0-D9C0-4369-98DA-97F698B8DFDA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025D9-2EC8-4C74-80FB-E47BDAB31093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D77A8-0CC0-4DBD-8BEC-79F1382DA8E7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D86EF-1E79-45DA-97A7-308F0634C935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81B3A-635E-48A1-A024-DFE9F85A0F75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85F9-E111-491B-8B1C-BA8E9F2B88C6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F932B-2DE8-4DF2-906A-4EAB7635F360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5107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7504" y="64482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85F69-F126-4256-984B-738B8F864429}" type="datetime1">
              <a:rPr lang="en-US" smtClean="0"/>
              <a:pPr/>
              <a:t>9/20/2025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5333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02896" y="64482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2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1272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254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300720" y="-121920"/>
            <a:ext cx="934720" cy="71323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00720" y="5753100"/>
            <a:ext cx="934720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46585F69-F126-4256-984B-738B8F864429}" type="datetime1">
              <a:rPr lang="en-US" smtClean="0"/>
              <a:pPr/>
              <a:t>9/20/2025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70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800" kern="1200">
          <a:solidFill>
            <a:schemeClr val="tx1"/>
          </a:solidFill>
          <a:latin typeface="Arial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500" kern="1200">
          <a:solidFill>
            <a:schemeClr val="tx1"/>
          </a:solidFill>
          <a:latin typeface="Arial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2200" kern="1200">
          <a:solidFill>
            <a:schemeClr val="tx1"/>
          </a:solidFill>
          <a:latin typeface="Arial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Arial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Arial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.xml"/><Relationship Id="rId5" Type="http://schemas.openxmlformats.org/officeDocument/2006/relationships/hyperlink" Target="https://pngimg.com/download/66469" TargetMode="Externa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2.jp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4.xml"/><Relationship Id="rId6" Type="http://schemas.openxmlformats.org/officeDocument/2006/relationships/image" Target="../media/image11.png"/><Relationship Id="rId5" Type="http://schemas.openxmlformats.org/officeDocument/2006/relationships/image" Target="../media/image10.tiff"/><Relationship Id="rId4" Type="http://schemas.openxmlformats.org/officeDocument/2006/relationships/image" Target="../media/image9.tiff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5.xml"/><Relationship Id="rId4" Type="http://schemas.openxmlformats.org/officeDocument/2006/relationships/image" Target="../media/image1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6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tags" Target="../tags/tag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pollev.com/databasedevelop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694954"/>
            <a:ext cx="7772400" cy="1109985"/>
          </a:xfrm>
        </p:spPr>
        <p:txBody>
          <a:bodyPr>
            <a:normAutofit/>
          </a:bodyPr>
          <a:lstStyle/>
          <a:p>
            <a:r>
              <a:rPr lang="en-GB" b="1" dirty="0"/>
              <a:t>COMP207</a:t>
            </a:r>
            <a:endParaRPr lang="en-GB" sz="3200" b="1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93636" y="2590056"/>
            <a:ext cx="7152264" cy="838944"/>
          </a:xfrm>
        </p:spPr>
        <p:txBody>
          <a:bodyPr>
            <a:normAutofit/>
          </a:bodyPr>
          <a:lstStyle/>
          <a:p>
            <a:r>
              <a:rPr lang="en-GB" sz="4800" b="1" dirty="0">
                <a:solidFill>
                  <a:schemeClr val="tx1"/>
                </a:solidFill>
              </a:rPr>
              <a:t>Database Development</a:t>
            </a:r>
          </a:p>
        </p:txBody>
      </p:sp>
      <p:sp>
        <p:nvSpPr>
          <p:cNvPr id="9" name="Title 4"/>
          <p:cNvSpPr txBox="1">
            <a:spLocks/>
          </p:cNvSpPr>
          <p:nvPr/>
        </p:nvSpPr>
        <p:spPr>
          <a:xfrm>
            <a:off x="673117" y="3501008"/>
            <a:ext cx="7772400" cy="1109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dirty="0"/>
              <a:t>2025-26</a:t>
            </a:r>
          </a:p>
          <a:p>
            <a:r>
              <a:rPr lang="en-GB" sz="4000" dirty="0">
                <a:solidFill>
                  <a:srgbClr val="FF0000"/>
                </a:solidFill>
              </a:rPr>
              <a:t>Rasmus Ibsen-Jensen</a:t>
            </a:r>
          </a:p>
        </p:txBody>
      </p:sp>
    </p:spTree>
    <p:extLst>
      <p:ext uri="{BB962C8B-B14F-4D97-AF65-F5344CB8AC3E}">
        <p14:creationId xmlns:p14="http://schemas.microsoft.com/office/powerpoint/2010/main" val="698621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this course all about?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Databases</a:t>
            </a:r>
            <a:r>
              <a:rPr lang="mr-IN" dirty="0"/>
              <a:t>…</a:t>
            </a:r>
            <a:endParaRPr lang="en-US" dirty="0"/>
          </a:p>
          <a:p>
            <a:endParaRPr lang="en-US" dirty="0"/>
          </a:p>
          <a:p>
            <a:r>
              <a:rPr lang="en-US" dirty="0"/>
              <a:t>Developments</a:t>
            </a:r>
          </a:p>
          <a:p>
            <a:endParaRPr lang="en-US" dirty="0"/>
          </a:p>
          <a:p>
            <a:r>
              <a:rPr lang="en-US" dirty="0"/>
              <a:t>Roughly half is also about concurrency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7E59C5-0132-4C4E-DE16-722ED9909E21}"/>
              </a:ext>
            </a:extLst>
          </p:cNvPr>
          <p:cNvCxnSpPr>
            <a:cxnSpLocks/>
          </p:cNvCxnSpPr>
          <p:nvPr/>
        </p:nvCxnSpPr>
        <p:spPr>
          <a:xfrm>
            <a:off x="755576" y="2924944"/>
            <a:ext cx="2448272" cy="0"/>
          </a:xfrm>
          <a:prstGeom prst="line">
            <a:avLst/>
          </a:prstGeom>
          <a:ln w="63500"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43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you have a question, pick one:</a:t>
            </a:r>
          </a:p>
          <a:p>
            <a:pPr lvl="1"/>
            <a:r>
              <a:rPr lang="en-US" dirty="0"/>
              <a:t>If during a lecture, you can raise your hand and I will let you ask it when I notice you</a:t>
            </a:r>
          </a:p>
          <a:p>
            <a:pPr lvl="1"/>
            <a:r>
              <a:rPr lang="en-US" dirty="0"/>
              <a:t>You can ask after/before a lecture</a:t>
            </a:r>
          </a:p>
          <a:p>
            <a:pPr lvl="2"/>
            <a:r>
              <a:rPr lang="en-US" dirty="0"/>
              <a:t>Just outside the room however</a:t>
            </a:r>
          </a:p>
          <a:p>
            <a:pPr lvl="1"/>
            <a:r>
              <a:rPr lang="en-US" dirty="0"/>
              <a:t>Ask during the labs I attend</a:t>
            </a:r>
          </a:p>
          <a:p>
            <a:pPr lvl="2"/>
            <a:r>
              <a:rPr lang="en-US" dirty="0"/>
              <a:t>I intend to attend every second week</a:t>
            </a:r>
          </a:p>
          <a:p>
            <a:pPr lvl="1"/>
            <a:r>
              <a:rPr lang="en-US" dirty="0"/>
              <a:t>Ask on the online discussion board in the dedicated thread</a:t>
            </a:r>
          </a:p>
          <a:p>
            <a:pPr lvl="1"/>
            <a:r>
              <a:rPr lang="en-US" dirty="0"/>
              <a:t>If </a:t>
            </a:r>
            <a:r>
              <a:rPr lang="en-US" b="1" dirty="0"/>
              <a:t>the question is personal and should not be shared</a:t>
            </a:r>
            <a:r>
              <a:rPr lang="en-US" dirty="0"/>
              <a:t>, you can ask it by email: </a:t>
            </a:r>
            <a:br>
              <a:rPr lang="en-US" dirty="0"/>
            </a:br>
            <a:r>
              <a:rPr lang="en-US" dirty="0"/>
              <a:t>		</a:t>
            </a:r>
            <a:r>
              <a:rPr lang="en-US" dirty="0" err="1"/>
              <a:t>R.Ibsen-Jensen@Liverpool.ac.uk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84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5257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 you might have heard, we are required to monitor attendance in lectures</a:t>
            </a:r>
          </a:p>
          <a:p>
            <a:r>
              <a:rPr lang="en-US" dirty="0"/>
              <a:t>It is done as follows: </a:t>
            </a:r>
          </a:p>
          <a:p>
            <a:pPr lvl="1"/>
            <a:r>
              <a:rPr lang="en-US" dirty="0"/>
              <a:t>You log in on </a:t>
            </a:r>
            <a:r>
              <a:rPr lang="en-US" dirty="0" err="1"/>
              <a:t>timetables.liverpool.ac.uk</a:t>
            </a:r>
            <a:endParaRPr lang="en-US" dirty="0"/>
          </a:p>
          <a:p>
            <a:pPr lvl="2"/>
            <a:r>
              <a:rPr lang="en-US" dirty="0"/>
              <a:t>or download </a:t>
            </a:r>
            <a:r>
              <a:rPr lang="en-US" dirty="0" err="1"/>
              <a:t>UoL</a:t>
            </a:r>
            <a:r>
              <a:rPr lang="en-US" dirty="0"/>
              <a:t> timetables app</a:t>
            </a:r>
          </a:p>
          <a:p>
            <a:pPr lvl="1"/>
            <a:r>
              <a:rPr lang="en-US" dirty="0"/>
              <a:t>You find the session you want to register for </a:t>
            </a:r>
          </a:p>
          <a:p>
            <a:pPr lvl="2"/>
            <a:r>
              <a:rPr lang="en-US" dirty="0"/>
              <a:t>during the session</a:t>
            </a:r>
          </a:p>
          <a:p>
            <a:pPr lvl="1"/>
            <a:r>
              <a:rPr lang="en-US" dirty="0"/>
              <a:t>You click on it</a:t>
            </a:r>
          </a:p>
          <a:p>
            <a:pPr lvl="1"/>
            <a:r>
              <a:rPr lang="en-US" dirty="0"/>
              <a:t>Click on “Register your attendance”</a:t>
            </a:r>
          </a:p>
          <a:p>
            <a:pPr lvl="1"/>
            <a:r>
              <a:rPr lang="en-US" dirty="0"/>
              <a:t>You then write in a 6-digit code we give you during each session</a:t>
            </a:r>
          </a:p>
          <a:p>
            <a:pPr lvl="1"/>
            <a:r>
              <a:rPr lang="en-US" dirty="0"/>
              <a:t>Click “Register”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6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268B4-0E97-DF40-D248-A7DABB0AC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EvaSys</a:t>
            </a:r>
            <a:r>
              <a:rPr lang="en-GB" dirty="0"/>
              <a:t> from last year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5163A-DECB-1B5D-C68D-E40961BB9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Students mentioned that they would like more interaction in the lectures and some suggested quizzes</a:t>
            </a:r>
          </a:p>
          <a:p>
            <a:r>
              <a:rPr lang="en-GB" dirty="0"/>
              <a:t>I will do so by adding in some quizzes with exam questions from recent exams in each lecture</a:t>
            </a:r>
          </a:p>
          <a:p>
            <a:pPr lvl="1"/>
            <a:r>
              <a:rPr lang="en-GB" dirty="0"/>
              <a:t>… INCL. THIS ONE!</a:t>
            </a:r>
          </a:p>
        </p:txBody>
      </p:sp>
    </p:spTree>
    <p:extLst>
      <p:ext uri="{BB962C8B-B14F-4D97-AF65-F5344CB8AC3E}">
        <p14:creationId xmlns:p14="http://schemas.microsoft.com/office/powerpoint/2010/main" val="57158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67544" y="2924944"/>
            <a:ext cx="8229600" cy="1143000"/>
          </a:xfrm>
        </p:spPr>
        <p:txBody>
          <a:bodyPr/>
          <a:lstStyle/>
          <a:p>
            <a:r>
              <a:rPr lang="en-US" i="1" dirty="0"/>
              <a:t>Databases are everywhere</a:t>
            </a:r>
          </a:p>
        </p:txBody>
      </p:sp>
    </p:spTree>
    <p:extLst>
      <p:ext uri="{BB962C8B-B14F-4D97-AF65-F5344CB8AC3E}">
        <p14:creationId xmlns:p14="http://schemas.microsoft.com/office/powerpoint/2010/main" val="1483803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7500" y="1336573"/>
            <a:ext cx="3609804" cy="2764511"/>
          </a:xfrm>
        </p:spPr>
        <p:txBody>
          <a:bodyPr vert="horz" lIns="68580" tIns="34290" rIns="68580" bIns="34290" rtlCol="0" anchor="b" anchorCtr="0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… and are valuable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53" r="11741" b="1"/>
          <a:stretch/>
        </p:blipFill>
        <p:spPr>
          <a:xfrm>
            <a:off x="323528" y="188640"/>
            <a:ext cx="4096501" cy="3790617"/>
          </a:xfrm>
          <a:prstGeom prst="rect">
            <a:avLst/>
          </a:prstGeom>
        </p:spPr>
      </p:pic>
      <p:pic>
        <p:nvPicPr>
          <p:cNvPr id="4" name="Picture 3" descr="Larry Elison: CEO of database company Oracle and briefly the world richest man">
            <a:extLst>
              <a:ext uri="{FF2B5EF4-FFF2-40B4-BE49-F238E27FC236}">
                <a16:creationId xmlns:a16="http://schemas.microsoft.com/office/drawing/2014/main" id="{F68FA315-D586-2F34-2598-BC0461F29A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968258"/>
            <a:ext cx="4499992" cy="263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336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 Drives the Web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07890" y="2165013"/>
            <a:ext cx="1940024" cy="2206918"/>
            <a:chOff x="1367930" y="4371365"/>
            <a:chExt cx="1940024" cy="2206918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7930" y="4371365"/>
              <a:ext cx="1940024" cy="1552019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875656" y="6055063"/>
              <a:ext cx="8595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n-lt"/>
                </a:rPr>
                <a:t>User</a:t>
              </a:r>
              <a:endParaRPr lang="en-US" sz="2000" dirty="0">
                <a:latin typeface="+mn-lt"/>
              </a:endParaRPr>
            </a:p>
          </p:txBody>
        </p:sp>
      </p:grpSp>
      <p:cxnSp>
        <p:nvCxnSpPr>
          <p:cNvPr id="11" name="Straight Arrow Connector 10"/>
          <p:cNvCxnSpPr/>
          <p:nvPr/>
        </p:nvCxnSpPr>
        <p:spPr>
          <a:xfrm>
            <a:off x="2555776" y="2852936"/>
            <a:ext cx="1326976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2174330"/>
            <a:ext cx="1542702" cy="1542702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2699792" y="4532265"/>
            <a:ext cx="3953455" cy="1849063"/>
            <a:chOff x="5019802" y="4638999"/>
            <a:chExt cx="3953455" cy="1849063"/>
          </a:xfrm>
        </p:grpSpPr>
        <p:sp>
          <p:nvSpPr>
            <p:cNvPr id="19" name="TextBox 18"/>
            <p:cNvSpPr txBox="1"/>
            <p:nvPr/>
          </p:nvSpPr>
          <p:spPr>
            <a:xfrm>
              <a:off x="6140624" y="4638999"/>
              <a:ext cx="171181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Online store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862983" y="5105079"/>
              <a:ext cx="22670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Social media site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019802" y="5566744"/>
              <a:ext cx="39534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Airline/train/hotel reservation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991845" y="6026397"/>
              <a:ext cx="20522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mr-IN" sz="2400" dirty="0"/>
                <a:t>–</a:t>
              </a:r>
              <a:r>
                <a:rPr lang="en-GB" sz="2400" dirty="0"/>
                <a:t> many more </a:t>
              </a:r>
              <a:r>
                <a:rPr lang="mr-IN" sz="2000" dirty="0"/>
                <a:t>–</a:t>
              </a:r>
              <a:endParaRPr lang="en-US" sz="2000" dirty="0">
                <a:latin typeface="+mn-lt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3714946" y="3849980"/>
            <a:ext cx="1960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Web service</a:t>
            </a:r>
            <a:endParaRPr lang="en-US" sz="2400" dirty="0">
              <a:latin typeface="+mn-lt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5580112" y="2857495"/>
            <a:ext cx="1322784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272" y="2276872"/>
            <a:ext cx="1368152" cy="136815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16666" y="3879656"/>
            <a:ext cx="1541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Database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335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 Drives the Web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07890" y="2165013"/>
            <a:ext cx="1940024" cy="2206918"/>
            <a:chOff x="1367930" y="4371365"/>
            <a:chExt cx="1940024" cy="2206918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7930" y="4371365"/>
              <a:ext cx="1940024" cy="1552019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875656" y="6055063"/>
              <a:ext cx="8595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n-lt"/>
                </a:rPr>
                <a:t>User</a:t>
              </a:r>
              <a:endParaRPr lang="en-US" sz="2000" dirty="0">
                <a:latin typeface="+mn-lt"/>
              </a:endParaRPr>
            </a:p>
          </p:txBody>
        </p:sp>
      </p:grpSp>
      <p:cxnSp>
        <p:nvCxnSpPr>
          <p:cNvPr id="11" name="Straight Arrow Connector 10"/>
          <p:cNvCxnSpPr/>
          <p:nvPr/>
        </p:nvCxnSpPr>
        <p:spPr>
          <a:xfrm>
            <a:off x="2555776" y="2852936"/>
            <a:ext cx="1326976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2174330"/>
            <a:ext cx="1542702" cy="1542702"/>
          </a:xfrm>
          <a:prstGeom prst="rect">
            <a:avLst/>
          </a:prstGeom>
        </p:spPr>
      </p:pic>
      <p:cxnSp>
        <p:nvCxnSpPr>
          <p:cNvPr id="27" name="Straight Arrow Connector 26"/>
          <p:cNvCxnSpPr/>
          <p:nvPr/>
        </p:nvCxnSpPr>
        <p:spPr>
          <a:xfrm>
            <a:off x="5580112" y="2857495"/>
            <a:ext cx="1322784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272" y="2276872"/>
            <a:ext cx="1368152" cy="136815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33688" y="3848711"/>
            <a:ext cx="1541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Database</a:t>
            </a:r>
            <a:endParaRPr lang="en-US" sz="2400" dirty="0">
              <a:latin typeface="+mn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87020" y="4841986"/>
            <a:ext cx="38611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2.5 billion users per month</a:t>
            </a:r>
          </a:p>
          <a:p>
            <a:pPr algn="r"/>
            <a:r>
              <a:rPr lang="en-US" sz="2000" dirty="0"/>
              <a:t>&gt;353 million products</a:t>
            </a:r>
          </a:p>
          <a:p>
            <a:pPr algn="r"/>
            <a:r>
              <a:rPr lang="en-US" sz="2000" dirty="0"/>
              <a:t>spread over a number of databases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5368350" y="1259632"/>
            <a:ext cx="3375836" cy="3112299"/>
            <a:chOff x="5368350" y="1259632"/>
            <a:chExt cx="3375836" cy="3112299"/>
          </a:xfrm>
        </p:grpSpPr>
        <p:sp>
          <p:nvSpPr>
            <p:cNvPr id="44" name="Rectangle 43"/>
            <p:cNvSpPr/>
            <p:nvPr/>
          </p:nvSpPr>
          <p:spPr>
            <a:xfrm>
              <a:off x="5368350" y="1259632"/>
              <a:ext cx="2931028" cy="31122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 flipV="1">
              <a:off x="5507806" y="2165015"/>
              <a:ext cx="999046" cy="521318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06852" y="1389175"/>
              <a:ext cx="792088" cy="792088"/>
            </a:xfrm>
            <a:prstGeom prst="rect">
              <a:avLst/>
            </a:prstGeom>
          </p:spPr>
        </p:pic>
        <p:pic>
          <p:nvPicPr>
            <p:cNvPr id="47" name="Picture 4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80312" y="1785219"/>
              <a:ext cx="792088" cy="792088"/>
            </a:xfrm>
            <a:prstGeom prst="rect">
              <a:avLst/>
            </a:prstGeom>
          </p:spPr>
        </p:pic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48762" y="2601038"/>
              <a:ext cx="792088" cy="792088"/>
            </a:xfrm>
            <a:prstGeom prst="rect">
              <a:avLst/>
            </a:prstGeom>
          </p:spPr>
        </p:pic>
        <p:pic>
          <p:nvPicPr>
            <p:cNvPr id="49" name="Picture 4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52098" y="2941022"/>
              <a:ext cx="792088" cy="792088"/>
            </a:xfrm>
            <a:prstGeom prst="rect">
              <a:avLst/>
            </a:prstGeom>
          </p:spPr>
        </p:pic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8342" y="3549931"/>
              <a:ext cx="792088" cy="792088"/>
            </a:xfrm>
            <a:prstGeom prst="rect">
              <a:avLst/>
            </a:prstGeom>
          </p:spPr>
        </p:pic>
        <p:cxnSp>
          <p:nvCxnSpPr>
            <p:cNvPr id="51" name="Straight Arrow Connector 50"/>
            <p:cNvCxnSpPr/>
            <p:nvPr/>
          </p:nvCxnSpPr>
          <p:spPr>
            <a:xfrm flipV="1">
              <a:off x="5577878" y="2403972"/>
              <a:ext cx="1802434" cy="427347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 flipV="1">
              <a:off x="5577878" y="2997082"/>
              <a:ext cx="1470884" cy="28721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5532429" y="3232062"/>
              <a:ext cx="2419669" cy="228285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5466630" y="3400328"/>
              <a:ext cx="1241712" cy="545647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/>
          <p:cNvGrpSpPr/>
          <p:nvPr/>
        </p:nvGrpSpPr>
        <p:grpSpPr>
          <a:xfrm>
            <a:off x="-37948" y="1124744"/>
            <a:ext cx="4105892" cy="4536504"/>
            <a:chOff x="-37948" y="1124744"/>
            <a:chExt cx="4105892" cy="4536504"/>
          </a:xfrm>
        </p:grpSpPr>
        <p:sp>
          <p:nvSpPr>
            <p:cNvPr id="56" name="Rectangle 55"/>
            <p:cNvSpPr/>
            <p:nvPr/>
          </p:nvSpPr>
          <p:spPr>
            <a:xfrm>
              <a:off x="0" y="1124744"/>
              <a:ext cx="4067944" cy="45365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7" name="Picture 5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9632" y="1329177"/>
              <a:ext cx="630070" cy="504056"/>
            </a:xfrm>
            <a:prstGeom prst="rect">
              <a:avLst/>
            </a:prstGeom>
          </p:spPr>
        </p:pic>
        <p:cxnSp>
          <p:nvCxnSpPr>
            <p:cNvPr id="58" name="Straight Arrow Connector 57"/>
            <p:cNvCxnSpPr/>
            <p:nvPr/>
          </p:nvCxnSpPr>
          <p:spPr>
            <a:xfrm>
              <a:off x="2663788" y="1988840"/>
              <a:ext cx="1307709" cy="751680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9" name="Picture 5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844" y="2188423"/>
              <a:ext cx="630070" cy="504056"/>
            </a:xfrm>
            <a:prstGeom prst="rect">
              <a:avLst/>
            </a:prstGeom>
          </p:spPr>
        </p:pic>
        <p:pic>
          <p:nvPicPr>
            <p:cNvPr id="60" name="Pictur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3643" y="3677372"/>
              <a:ext cx="630070" cy="504056"/>
            </a:xfrm>
            <a:prstGeom prst="rect">
              <a:avLst/>
            </a:prstGeom>
          </p:spPr>
        </p:pic>
        <p:pic>
          <p:nvPicPr>
            <p:cNvPr id="61" name="Picture 6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9632" y="4083029"/>
              <a:ext cx="630070" cy="504056"/>
            </a:xfrm>
            <a:prstGeom prst="rect">
              <a:avLst/>
            </a:prstGeom>
          </p:spPr>
        </p:pic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4955954"/>
              <a:ext cx="630070" cy="504056"/>
            </a:xfrm>
            <a:prstGeom prst="rect">
              <a:avLst/>
            </a:prstGeom>
          </p:spPr>
        </p:pic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5416" y="4725121"/>
              <a:ext cx="630070" cy="504056"/>
            </a:xfrm>
            <a:prstGeom prst="rect">
              <a:avLst/>
            </a:prstGeom>
          </p:spPr>
        </p:pic>
        <p:pic>
          <p:nvPicPr>
            <p:cNvPr id="64" name="Picture 6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0381" y="2256021"/>
              <a:ext cx="630070" cy="504056"/>
            </a:xfrm>
            <a:prstGeom prst="rect">
              <a:avLst/>
            </a:prstGeom>
          </p:spPr>
        </p:pic>
        <p:pic>
          <p:nvPicPr>
            <p:cNvPr id="65" name="Picture 6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33718" y="1397668"/>
              <a:ext cx="630070" cy="504056"/>
            </a:xfrm>
            <a:prstGeom prst="rect">
              <a:avLst/>
            </a:prstGeom>
          </p:spPr>
        </p:pic>
        <p:pic>
          <p:nvPicPr>
            <p:cNvPr id="66" name="Picture 6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7948" y="2852936"/>
              <a:ext cx="630070" cy="504056"/>
            </a:xfrm>
            <a:prstGeom prst="rect">
              <a:avLst/>
            </a:prstGeom>
          </p:spPr>
        </p:pic>
        <p:cxnSp>
          <p:nvCxnSpPr>
            <p:cNvPr id="67" name="Straight Arrow Connector 66"/>
            <p:cNvCxnSpPr/>
            <p:nvPr/>
          </p:nvCxnSpPr>
          <p:spPr>
            <a:xfrm>
              <a:off x="1888984" y="1829775"/>
              <a:ext cx="2034944" cy="993137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>
              <a:off x="1888266" y="2630932"/>
              <a:ext cx="2077129" cy="394317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 flipV="1">
              <a:off x="2033718" y="3309493"/>
              <a:ext cx="1630229" cy="155511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flipV="1">
              <a:off x="1889702" y="3422293"/>
              <a:ext cx="2034226" cy="912764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>
              <a:stCxn id="71" idx="2"/>
            </p:cNvCxnSpPr>
            <p:nvPr/>
          </p:nvCxnSpPr>
          <p:spPr>
            <a:xfrm>
              <a:off x="943879" y="2692479"/>
              <a:ext cx="3056249" cy="496430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 flipV="1">
              <a:off x="1283713" y="3355631"/>
              <a:ext cx="2530994" cy="509593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 flipV="1">
              <a:off x="2197324" y="3578973"/>
              <a:ext cx="1742114" cy="1263013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 flipV="1">
              <a:off x="986752" y="3460362"/>
              <a:ext cx="2978643" cy="1689518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/>
            <p:nvPr/>
          </p:nvCxnSpPr>
          <p:spPr>
            <a:xfrm flipH="1" flipV="1">
              <a:off x="592122" y="3104964"/>
              <a:ext cx="3174975" cy="130048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6" name="Picture 7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3648" y="3212976"/>
              <a:ext cx="630070" cy="504056"/>
            </a:xfrm>
            <a:prstGeom prst="rect">
              <a:avLst/>
            </a:prstGeom>
          </p:spPr>
        </p:pic>
      </p:grpSp>
      <p:sp>
        <p:nvSpPr>
          <p:cNvPr id="18" name="TextBox 17"/>
          <p:cNvSpPr txBox="1"/>
          <p:nvPr/>
        </p:nvSpPr>
        <p:spPr>
          <a:xfrm>
            <a:off x="3634449" y="3850258"/>
            <a:ext cx="20801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FF0000"/>
                </a:solidFill>
              </a:rPr>
              <a:t>Amazon.com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532429" y="5857649"/>
            <a:ext cx="27276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millions of users per day</a:t>
            </a:r>
            <a:br>
              <a:rPr lang="en-US" sz="2000" dirty="0"/>
            </a:br>
            <a:r>
              <a:rPr lang="en-US" sz="2000" dirty="0"/>
              <a:t>many at the same time</a:t>
            </a:r>
          </a:p>
        </p:txBody>
      </p:sp>
    </p:spTree>
    <p:extLst>
      <p:ext uri="{BB962C8B-B14F-4D97-AF65-F5344CB8AC3E}">
        <p14:creationId xmlns:p14="http://schemas.microsoft.com/office/powerpoint/2010/main" val="181393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 Drives the Web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07890" y="2165013"/>
            <a:ext cx="1940024" cy="2206918"/>
            <a:chOff x="1367930" y="4371365"/>
            <a:chExt cx="1940024" cy="2206918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7930" y="4371365"/>
              <a:ext cx="1940024" cy="1552019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875656" y="6055063"/>
              <a:ext cx="8595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n-lt"/>
                </a:rPr>
                <a:t>User</a:t>
              </a:r>
              <a:endParaRPr lang="en-US" sz="2000" dirty="0">
                <a:latin typeface="+mn-lt"/>
              </a:endParaRPr>
            </a:p>
          </p:txBody>
        </p:sp>
      </p:grpSp>
      <p:cxnSp>
        <p:nvCxnSpPr>
          <p:cNvPr id="11" name="Straight Arrow Connector 10"/>
          <p:cNvCxnSpPr/>
          <p:nvPr/>
        </p:nvCxnSpPr>
        <p:spPr>
          <a:xfrm>
            <a:off x="2555776" y="2852936"/>
            <a:ext cx="1326976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2174330"/>
            <a:ext cx="1542702" cy="1542702"/>
          </a:xfrm>
          <a:prstGeom prst="rect">
            <a:avLst/>
          </a:prstGeom>
        </p:spPr>
      </p:pic>
      <p:cxnSp>
        <p:nvCxnSpPr>
          <p:cNvPr id="27" name="Straight Arrow Connector 26"/>
          <p:cNvCxnSpPr/>
          <p:nvPr/>
        </p:nvCxnSpPr>
        <p:spPr>
          <a:xfrm>
            <a:off x="5580112" y="2857495"/>
            <a:ext cx="1322784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272" y="2276872"/>
            <a:ext cx="1368152" cy="136815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33688" y="3848711"/>
            <a:ext cx="1541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Database</a:t>
            </a:r>
            <a:endParaRPr lang="en-US" sz="2400" dirty="0">
              <a:latin typeface="+mn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1748" y="5261138"/>
            <a:ext cx="401667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Roughly 5 million servers in 2020</a:t>
            </a:r>
          </a:p>
          <a:p>
            <a:pPr algn="r"/>
            <a:r>
              <a:rPr lang="en-US" sz="2000" dirty="0"/>
              <a:t>(from: power usage (7.1 terawatts) </a:t>
            </a:r>
          </a:p>
          <a:p>
            <a:pPr algn="r"/>
            <a:r>
              <a:rPr lang="en-US" sz="2000" dirty="0"/>
              <a:t>and </a:t>
            </a:r>
            <a:r>
              <a:rPr lang="en-US" sz="2000" dirty="0" err="1"/>
              <a:t>avg</a:t>
            </a:r>
            <a:r>
              <a:rPr lang="en-US" sz="2000" dirty="0"/>
              <a:t> server (around 1megawatt)</a:t>
            </a:r>
          </a:p>
          <a:p>
            <a:pPr algn="r"/>
            <a:r>
              <a:rPr lang="en-US" sz="2000" dirty="0"/>
              <a:t> and a few more details)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5368350" y="1259632"/>
            <a:ext cx="3375836" cy="3112299"/>
            <a:chOff x="5368350" y="1259632"/>
            <a:chExt cx="3375836" cy="3112299"/>
          </a:xfrm>
        </p:grpSpPr>
        <p:sp>
          <p:nvSpPr>
            <p:cNvPr id="44" name="Rectangle 43"/>
            <p:cNvSpPr/>
            <p:nvPr/>
          </p:nvSpPr>
          <p:spPr>
            <a:xfrm>
              <a:off x="5368350" y="1259632"/>
              <a:ext cx="2931028" cy="31122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 flipV="1">
              <a:off x="5507806" y="2165015"/>
              <a:ext cx="999046" cy="521318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06852" y="1389175"/>
              <a:ext cx="792088" cy="792088"/>
            </a:xfrm>
            <a:prstGeom prst="rect">
              <a:avLst/>
            </a:prstGeom>
          </p:spPr>
        </p:pic>
        <p:pic>
          <p:nvPicPr>
            <p:cNvPr id="47" name="Picture 4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80312" y="1785219"/>
              <a:ext cx="792088" cy="792088"/>
            </a:xfrm>
            <a:prstGeom prst="rect">
              <a:avLst/>
            </a:prstGeom>
          </p:spPr>
        </p:pic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48762" y="2601038"/>
              <a:ext cx="792088" cy="792088"/>
            </a:xfrm>
            <a:prstGeom prst="rect">
              <a:avLst/>
            </a:prstGeom>
          </p:spPr>
        </p:pic>
        <p:pic>
          <p:nvPicPr>
            <p:cNvPr id="49" name="Picture 4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52098" y="2941022"/>
              <a:ext cx="792088" cy="792088"/>
            </a:xfrm>
            <a:prstGeom prst="rect">
              <a:avLst/>
            </a:prstGeom>
          </p:spPr>
        </p:pic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8342" y="3549931"/>
              <a:ext cx="792088" cy="792088"/>
            </a:xfrm>
            <a:prstGeom prst="rect">
              <a:avLst/>
            </a:prstGeom>
          </p:spPr>
        </p:pic>
        <p:cxnSp>
          <p:nvCxnSpPr>
            <p:cNvPr id="51" name="Straight Arrow Connector 50"/>
            <p:cNvCxnSpPr/>
            <p:nvPr/>
          </p:nvCxnSpPr>
          <p:spPr>
            <a:xfrm flipV="1">
              <a:off x="5577878" y="2403972"/>
              <a:ext cx="1802434" cy="427347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 flipV="1">
              <a:off x="5577878" y="2997082"/>
              <a:ext cx="1470884" cy="28721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5532429" y="3232062"/>
              <a:ext cx="2419669" cy="228285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5466630" y="3400328"/>
              <a:ext cx="1241712" cy="545647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/>
          <p:cNvGrpSpPr/>
          <p:nvPr/>
        </p:nvGrpSpPr>
        <p:grpSpPr>
          <a:xfrm>
            <a:off x="-37948" y="1124744"/>
            <a:ext cx="4105892" cy="4536504"/>
            <a:chOff x="-37948" y="1124744"/>
            <a:chExt cx="4105892" cy="4536504"/>
          </a:xfrm>
        </p:grpSpPr>
        <p:sp>
          <p:nvSpPr>
            <p:cNvPr id="56" name="Rectangle 55"/>
            <p:cNvSpPr/>
            <p:nvPr/>
          </p:nvSpPr>
          <p:spPr>
            <a:xfrm>
              <a:off x="0" y="1124744"/>
              <a:ext cx="4067944" cy="45365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7" name="Picture 5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9632" y="1329177"/>
              <a:ext cx="630070" cy="504056"/>
            </a:xfrm>
            <a:prstGeom prst="rect">
              <a:avLst/>
            </a:prstGeom>
          </p:spPr>
        </p:pic>
        <p:cxnSp>
          <p:nvCxnSpPr>
            <p:cNvPr id="58" name="Straight Arrow Connector 57"/>
            <p:cNvCxnSpPr/>
            <p:nvPr/>
          </p:nvCxnSpPr>
          <p:spPr>
            <a:xfrm>
              <a:off x="2663788" y="1988840"/>
              <a:ext cx="1307709" cy="751680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9" name="Picture 5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844" y="2188423"/>
              <a:ext cx="630070" cy="504056"/>
            </a:xfrm>
            <a:prstGeom prst="rect">
              <a:avLst/>
            </a:prstGeom>
          </p:spPr>
        </p:pic>
        <p:pic>
          <p:nvPicPr>
            <p:cNvPr id="60" name="Pictur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3643" y="3677372"/>
              <a:ext cx="630070" cy="504056"/>
            </a:xfrm>
            <a:prstGeom prst="rect">
              <a:avLst/>
            </a:prstGeom>
          </p:spPr>
        </p:pic>
        <p:pic>
          <p:nvPicPr>
            <p:cNvPr id="61" name="Picture 6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9632" y="4083029"/>
              <a:ext cx="630070" cy="504056"/>
            </a:xfrm>
            <a:prstGeom prst="rect">
              <a:avLst/>
            </a:prstGeom>
          </p:spPr>
        </p:pic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4955954"/>
              <a:ext cx="630070" cy="504056"/>
            </a:xfrm>
            <a:prstGeom prst="rect">
              <a:avLst/>
            </a:prstGeom>
          </p:spPr>
        </p:pic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5416" y="4725121"/>
              <a:ext cx="630070" cy="504056"/>
            </a:xfrm>
            <a:prstGeom prst="rect">
              <a:avLst/>
            </a:prstGeom>
          </p:spPr>
        </p:pic>
        <p:pic>
          <p:nvPicPr>
            <p:cNvPr id="64" name="Picture 6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0381" y="2256021"/>
              <a:ext cx="630070" cy="504056"/>
            </a:xfrm>
            <a:prstGeom prst="rect">
              <a:avLst/>
            </a:prstGeom>
          </p:spPr>
        </p:pic>
        <p:pic>
          <p:nvPicPr>
            <p:cNvPr id="65" name="Picture 6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33718" y="1397668"/>
              <a:ext cx="630070" cy="504056"/>
            </a:xfrm>
            <a:prstGeom prst="rect">
              <a:avLst/>
            </a:prstGeom>
          </p:spPr>
        </p:pic>
        <p:pic>
          <p:nvPicPr>
            <p:cNvPr id="66" name="Picture 6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7948" y="2852936"/>
              <a:ext cx="630070" cy="504056"/>
            </a:xfrm>
            <a:prstGeom prst="rect">
              <a:avLst/>
            </a:prstGeom>
          </p:spPr>
        </p:pic>
        <p:cxnSp>
          <p:nvCxnSpPr>
            <p:cNvPr id="67" name="Straight Arrow Connector 66"/>
            <p:cNvCxnSpPr/>
            <p:nvPr/>
          </p:nvCxnSpPr>
          <p:spPr>
            <a:xfrm>
              <a:off x="1888984" y="1829775"/>
              <a:ext cx="2034944" cy="993137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>
              <a:off x="1888266" y="2630932"/>
              <a:ext cx="2077129" cy="394317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 flipV="1">
              <a:off x="2033718" y="3309493"/>
              <a:ext cx="1630229" cy="155511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flipV="1">
              <a:off x="1889702" y="3422293"/>
              <a:ext cx="2034226" cy="912764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>
              <a:stCxn id="71" idx="2"/>
            </p:cNvCxnSpPr>
            <p:nvPr/>
          </p:nvCxnSpPr>
          <p:spPr>
            <a:xfrm>
              <a:off x="943879" y="2692479"/>
              <a:ext cx="3056249" cy="496430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 flipV="1">
              <a:off x="1283713" y="3355631"/>
              <a:ext cx="2530994" cy="509593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 flipV="1">
              <a:off x="2197324" y="3578973"/>
              <a:ext cx="1742114" cy="1263013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 flipV="1">
              <a:off x="986752" y="3460362"/>
              <a:ext cx="2978643" cy="1689518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/>
            <p:nvPr/>
          </p:nvCxnSpPr>
          <p:spPr>
            <a:xfrm flipH="1" flipV="1">
              <a:off x="592122" y="3104964"/>
              <a:ext cx="3174975" cy="130048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6" name="Picture 7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3648" y="3212976"/>
              <a:ext cx="630070" cy="504056"/>
            </a:xfrm>
            <a:prstGeom prst="rect">
              <a:avLst/>
            </a:prstGeom>
          </p:spPr>
        </p:pic>
      </p:grpSp>
      <p:sp>
        <p:nvSpPr>
          <p:cNvPr id="18" name="TextBox 17"/>
          <p:cNvSpPr txBox="1"/>
          <p:nvPr/>
        </p:nvSpPr>
        <p:spPr>
          <a:xfrm>
            <a:off x="3496225" y="3863152"/>
            <a:ext cx="2289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7030A0"/>
                </a:solidFill>
              </a:rPr>
              <a:t>Facebook.com</a:t>
            </a:r>
            <a:endParaRPr lang="en-US" sz="2400" dirty="0">
              <a:solidFill>
                <a:srgbClr val="7030A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5687" y="6127167"/>
            <a:ext cx="33858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Roughly 2.09 billion users daily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56706" y="4829090"/>
            <a:ext cx="45597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user information, links, posts, pictures, </a:t>
            </a:r>
            <a:r>
              <a:rPr lang="mr-IN" sz="2000" dirty="0"/>
              <a:t>…</a:t>
            </a:r>
            <a:endParaRPr lang="en-US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0" y="5375230"/>
            <a:ext cx="3713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loading the homepage of a user</a:t>
            </a:r>
            <a:br>
              <a:rPr lang="en-US" sz="2000" dirty="0"/>
            </a:br>
            <a:r>
              <a:rPr lang="en-US" sz="2000" dirty="0"/>
              <a:t>requires accessing 100s of servers</a:t>
            </a:r>
          </a:p>
        </p:txBody>
      </p:sp>
    </p:spTree>
    <p:extLst>
      <p:ext uri="{BB962C8B-B14F-4D97-AF65-F5344CB8AC3E}">
        <p14:creationId xmlns:p14="http://schemas.microsoft.com/office/powerpoint/2010/main" val="90650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18" grpId="0"/>
      <p:bldP spid="77" grpId="0"/>
      <p:bldP spid="78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 Drives the Web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07890" y="2165013"/>
            <a:ext cx="1940024" cy="2206918"/>
            <a:chOff x="1367930" y="4371365"/>
            <a:chExt cx="1940024" cy="2206918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7930" y="4371365"/>
              <a:ext cx="1940024" cy="1552019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875656" y="6055063"/>
              <a:ext cx="8595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n-lt"/>
                </a:rPr>
                <a:t>User</a:t>
              </a:r>
              <a:endParaRPr lang="en-US" sz="2000" dirty="0">
                <a:latin typeface="+mn-lt"/>
              </a:endParaRPr>
            </a:p>
          </p:txBody>
        </p:sp>
      </p:grpSp>
      <p:cxnSp>
        <p:nvCxnSpPr>
          <p:cNvPr id="11" name="Straight Arrow Connector 10"/>
          <p:cNvCxnSpPr/>
          <p:nvPr/>
        </p:nvCxnSpPr>
        <p:spPr>
          <a:xfrm>
            <a:off x="2555776" y="2852936"/>
            <a:ext cx="1326976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2174330"/>
            <a:ext cx="1542702" cy="1542702"/>
          </a:xfrm>
          <a:prstGeom prst="rect">
            <a:avLst/>
          </a:prstGeom>
        </p:spPr>
      </p:pic>
      <p:cxnSp>
        <p:nvCxnSpPr>
          <p:cNvPr id="27" name="Straight Arrow Connector 26"/>
          <p:cNvCxnSpPr/>
          <p:nvPr/>
        </p:nvCxnSpPr>
        <p:spPr>
          <a:xfrm>
            <a:off x="5580112" y="2857495"/>
            <a:ext cx="1322784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272" y="2276872"/>
            <a:ext cx="1368152" cy="136815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33688" y="3848711"/>
            <a:ext cx="1541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Database</a:t>
            </a:r>
            <a:endParaRPr lang="en-US" sz="2400" dirty="0">
              <a:latin typeface="+mn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1748" y="5261138"/>
            <a:ext cx="401667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Roughly 5 million servers in 2020</a:t>
            </a:r>
          </a:p>
          <a:p>
            <a:pPr algn="r"/>
            <a:r>
              <a:rPr lang="en-US" sz="2000" dirty="0"/>
              <a:t>(from: power usage (7.1 terawatts) </a:t>
            </a:r>
          </a:p>
          <a:p>
            <a:pPr algn="r"/>
            <a:r>
              <a:rPr lang="en-US" sz="2000" dirty="0"/>
              <a:t>and </a:t>
            </a:r>
            <a:r>
              <a:rPr lang="en-US" sz="2000" dirty="0" err="1"/>
              <a:t>avg</a:t>
            </a:r>
            <a:r>
              <a:rPr lang="en-US" sz="2000" dirty="0"/>
              <a:t> server (around 1megawatt)</a:t>
            </a:r>
          </a:p>
          <a:p>
            <a:pPr algn="r"/>
            <a:r>
              <a:rPr lang="en-US" sz="2000" dirty="0"/>
              <a:t> and a few more details)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5368350" y="1259632"/>
            <a:ext cx="3375836" cy="3112299"/>
            <a:chOff x="5368350" y="1259632"/>
            <a:chExt cx="3375836" cy="3112299"/>
          </a:xfrm>
        </p:grpSpPr>
        <p:sp>
          <p:nvSpPr>
            <p:cNvPr id="44" name="Rectangle 43"/>
            <p:cNvSpPr/>
            <p:nvPr/>
          </p:nvSpPr>
          <p:spPr>
            <a:xfrm>
              <a:off x="5368350" y="1259632"/>
              <a:ext cx="2931028" cy="31122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 flipV="1">
              <a:off x="5507806" y="2165015"/>
              <a:ext cx="999046" cy="521318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06852" y="1389175"/>
              <a:ext cx="792088" cy="792088"/>
            </a:xfrm>
            <a:prstGeom prst="rect">
              <a:avLst/>
            </a:prstGeom>
          </p:spPr>
        </p:pic>
        <p:pic>
          <p:nvPicPr>
            <p:cNvPr id="47" name="Picture 4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80312" y="1785219"/>
              <a:ext cx="792088" cy="792088"/>
            </a:xfrm>
            <a:prstGeom prst="rect">
              <a:avLst/>
            </a:prstGeom>
          </p:spPr>
        </p:pic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48762" y="2601038"/>
              <a:ext cx="792088" cy="792088"/>
            </a:xfrm>
            <a:prstGeom prst="rect">
              <a:avLst/>
            </a:prstGeom>
          </p:spPr>
        </p:pic>
        <p:pic>
          <p:nvPicPr>
            <p:cNvPr id="49" name="Picture 4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52098" y="2941022"/>
              <a:ext cx="792088" cy="792088"/>
            </a:xfrm>
            <a:prstGeom prst="rect">
              <a:avLst/>
            </a:prstGeom>
          </p:spPr>
        </p:pic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8342" y="3549931"/>
              <a:ext cx="792088" cy="792088"/>
            </a:xfrm>
            <a:prstGeom prst="rect">
              <a:avLst/>
            </a:prstGeom>
          </p:spPr>
        </p:pic>
        <p:cxnSp>
          <p:nvCxnSpPr>
            <p:cNvPr id="51" name="Straight Arrow Connector 50"/>
            <p:cNvCxnSpPr/>
            <p:nvPr/>
          </p:nvCxnSpPr>
          <p:spPr>
            <a:xfrm flipV="1">
              <a:off x="5577878" y="2403972"/>
              <a:ext cx="1802434" cy="427347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 flipV="1">
              <a:off x="5577878" y="2997082"/>
              <a:ext cx="1470884" cy="28721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5532429" y="3232062"/>
              <a:ext cx="2419669" cy="228285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5466630" y="3400328"/>
              <a:ext cx="1241712" cy="545647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/>
          <p:cNvGrpSpPr/>
          <p:nvPr/>
        </p:nvGrpSpPr>
        <p:grpSpPr>
          <a:xfrm>
            <a:off x="-37948" y="1124744"/>
            <a:ext cx="4105892" cy="4536504"/>
            <a:chOff x="-37948" y="1124744"/>
            <a:chExt cx="4105892" cy="4536504"/>
          </a:xfrm>
        </p:grpSpPr>
        <p:sp>
          <p:nvSpPr>
            <p:cNvPr id="56" name="Rectangle 55"/>
            <p:cNvSpPr/>
            <p:nvPr/>
          </p:nvSpPr>
          <p:spPr>
            <a:xfrm>
              <a:off x="0" y="1124744"/>
              <a:ext cx="4067944" cy="45365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7" name="Picture 5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9632" y="1329177"/>
              <a:ext cx="630070" cy="504056"/>
            </a:xfrm>
            <a:prstGeom prst="rect">
              <a:avLst/>
            </a:prstGeom>
          </p:spPr>
        </p:pic>
        <p:cxnSp>
          <p:nvCxnSpPr>
            <p:cNvPr id="58" name="Straight Arrow Connector 57"/>
            <p:cNvCxnSpPr/>
            <p:nvPr/>
          </p:nvCxnSpPr>
          <p:spPr>
            <a:xfrm>
              <a:off x="2663788" y="1988840"/>
              <a:ext cx="1307709" cy="751680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9" name="Picture 5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844" y="2188423"/>
              <a:ext cx="630070" cy="504056"/>
            </a:xfrm>
            <a:prstGeom prst="rect">
              <a:avLst/>
            </a:prstGeom>
          </p:spPr>
        </p:pic>
        <p:pic>
          <p:nvPicPr>
            <p:cNvPr id="60" name="Pictur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3643" y="3677372"/>
              <a:ext cx="630070" cy="504056"/>
            </a:xfrm>
            <a:prstGeom prst="rect">
              <a:avLst/>
            </a:prstGeom>
          </p:spPr>
        </p:pic>
        <p:pic>
          <p:nvPicPr>
            <p:cNvPr id="61" name="Picture 6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9632" y="4083029"/>
              <a:ext cx="630070" cy="504056"/>
            </a:xfrm>
            <a:prstGeom prst="rect">
              <a:avLst/>
            </a:prstGeom>
          </p:spPr>
        </p:pic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4955954"/>
              <a:ext cx="630070" cy="504056"/>
            </a:xfrm>
            <a:prstGeom prst="rect">
              <a:avLst/>
            </a:prstGeom>
          </p:spPr>
        </p:pic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5416" y="4725121"/>
              <a:ext cx="630070" cy="504056"/>
            </a:xfrm>
            <a:prstGeom prst="rect">
              <a:avLst/>
            </a:prstGeom>
          </p:spPr>
        </p:pic>
        <p:pic>
          <p:nvPicPr>
            <p:cNvPr id="64" name="Picture 6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0381" y="2256021"/>
              <a:ext cx="630070" cy="504056"/>
            </a:xfrm>
            <a:prstGeom prst="rect">
              <a:avLst/>
            </a:prstGeom>
          </p:spPr>
        </p:pic>
        <p:pic>
          <p:nvPicPr>
            <p:cNvPr id="65" name="Picture 6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33718" y="1397668"/>
              <a:ext cx="630070" cy="504056"/>
            </a:xfrm>
            <a:prstGeom prst="rect">
              <a:avLst/>
            </a:prstGeom>
          </p:spPr>
        </p:pic>
        <p:pic>
          <p:nvPicPr>
            <p:cNvPr id="66" name="Picture 6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7948" y="2852936"/>
              <a:ext cx="630070" cy="504056"/>
            </a:xfrm>
            <a:prstGeom prst="rect">
              <a:avLst/>
            </a:prstGeom>
          </p:spPr>
        </p:pic>
        <p:cxnSp>
          <p:nvCxnSpPr>
            <p:cNvPr id="67" name="Straight Arrow Connector 66"/>
            <p:cNvCxnSpPr/>
            <p:nvPr/>
          </p:nvCxnSpPr>
          <p:spPr>
            <a:xfrm>
              <a:off x="1888984" y="1829775"/>
              <a:ext cx="2034944" cy="993137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>
              <a:off x="1888266" y="2630932"/>
              <a:ext cx="2077129" cy="394317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 flipV="1">
              <a:off x="2033718" y="3309493"/>
              <a:ext cx="1630229" cy="155511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flipV="1">
              <a:off x="1889702" y="3422293"/>
              <a:ext cx="2034226" cy="912764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>
              <a:stCxn id="71" idx="2"/>
            </p:cNvCxnSpPr>
            <p:nvPr/>
          </p:nvCxnSpPr>
          <p:spPr>
            <a:xfrm>
              <a:off x="943879" y="2692479"/>
              <a:ext cx="3056249" cy="496430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 flipV="1">
              <a:off x="1283713" y="3355631"/>
              <a:ext cx="2530994" cy="509593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 flipV="1">
              <a:off x="2197324" y="3578973"/>
              <a:ext cx="1742114" cy="1263013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 flipV="1">
              <a:off x="986752" y="3460362"/>
              <a:ext cx="2978643" cy="1689518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/>
            <p:nvPr/>
          </p:nvCxnSpPr>
          <p:spPr>
            <a:xfrm flipH="1" flipV="1">
              <a:off x="592122" y="3104964"/>
              <a:ext cx="3174975" cy="130048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6" name="Picture 7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3648" y="3212976"/>
              <a:ext cx="630070" cy="504056"/>
            </a:xfrm>
            <a:prstGeom prst="rect">
              <a:avLst/>
            </a:prstGeom>
          </p:spPr>
        </p:pic>
      </p:grpSp>
      <p:sp>
        <p:nvSpPr>
          <p:cNvPr id="18" name="TextBox 17"/>
          <p:cNvSpPr txBox="1"/>
          <p:nvPr/>
        </p:nvSpPr>
        <p:spPr>
          <a:xfrm>
            <a:off x="3496225" y="3863152"/>
            <a:ext cx="2289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7030A0"/>
                </a:solidFill>
              </a:rPr>
              <a:t>Facebook.com</a:t>
            </a:r>
            <a:endParaRPr lang="en-US" sz="2400" dirty="0">
              <a:solidFill>
                <a:srgbClr val="7030A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5687" y="6127167"/>
            <a:ext cx="33858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Roughly 2.09 billion users daily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56706" y="4829090"/>
            <a:ext cx="45597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user information, links, posts, pictures, </a:t>
            </a:r>
            <a:r>
              <a:rPr lang="mr-IN" sz="2000" dirty="0"/>
              <a:t>…</a:t>
            </a:r>
            <a:endParaRPr lang="en-US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0" y="5375230"/>
            <a:ext cx="3713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loading the homepage of a user</a:t>
            </a:r>
            <a:br>
              <a:rPr lang="en-US" sz="2000" dirty="0"/>
            </a:br>
            <a:r>
              <a:rPr lang="en-US" sz="2000" dirty="0"/>
              <a:t>requires accessing 100s of servers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EBB4F9-25E4-691E-8954-5013644D4D6B}"/>
              </a:ext>
            </a:extLst>
          </p:cNvPr>
          <p:cNvSpPr/>
          <p:nvPr/>
        </p:nvSpPr>
        <p:spPr>
          <a:xfrm>
            <a:off x="601216" y="1761249"/>
            <a:ext cx="7873790" cy="136815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270000" rIns="270000" rtlCol="0" anchor="ctr"/>
          <a:lstStyle/>
          <a:p>
            <a:r>
              <a:rPr lang="en-US" sz="2400"/>
              <a:t>Requires </a:t>
            </a:r>
            <a:r>
              <a:rPr lang="en-US" sz="2400" i="1"/>
              <a:t>extremely efficient </a:t>
            </a:r>
            <a:r>
              <a:rPr lang="en-US" sz="2400" dirty="0"/>
              <a:t>systems for </a:t>
            </a:r>
            <a:r>
              <a:rPr lang="en-US" sz="2400" i="1" dirty="0"/>
              <a:t>querying data</a:t>
            </a:r>
            <a:r>
              <a:rPr lang="en-US" sz="2400" dirty="0"/>
              <a:t>, and for </a:t>
            </a:r>
            <a:r>
              <a:rPr lang="en-US" sz="2400" i="1" dirty="0"/>
              <a:t>storing and manipulating</a:t>
            </a:r>
            <a:r>
              <a:rPr lang="en-US" sz="2400" dirty="0"/>
              <a:t> data in a </a:t>
            </a:r>
            <a:r>
              <a:rPr lang="en-US" sz="2400" i="1" dirty="0"/>
              <a:t>safe</a:t>
            </a:r>
            <a:r>
              <a:rPr lang="en-US" sz="2400" dirty="0"/>
              <a:t> way.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2547092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Databases Drives Businesses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22960" y="2241551"/>
            <a:ext cx="4841240" cy="301752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Banking: debit/credit card transactions</a:t>
            </a:r>
          </a:p>
          <a:p>
            <a:pPr lvl="1"/>
            <a:r>
              <a:rPr lang="en-US" dirty="0"/>
              <a:t>E.g., in stores/super markets, at ATMs, etc.</a:t>
            </a:r>
          </a:p>
          <a:p>
            <a:r>
              <a:rPr lang="en-US" dirty="0"/>
              <a:t>Stock market</a:t>
            </a:r>
          </a:p>
          <a:p>
            <a:r>
              <a:rPr lang="en-US" dirty="0"/>
              <a:t>Big companies &amp; </a:t>
            </a:r>
            <a:r>
              <a:rPr lang="en-US" dirty="0" err="1"/>
              <a:t>organisations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Employees, customers, products, sales, schedules, logistics, clients, etc.</a:t>
            </a:r>
          </a:p>
          <a:p>
            <a:pPr lvl="1"/>
            <a:r>
              <a:rPr lang="en-US" dirty="0"/>
              <a:t>Purposes:</a:t>
            </a:r>
          </a:p>
          <a:p>
            <a:pPr lvl="2"/>
            <a:r>
              <a:rPr lang="en-US" dirty="0"/>
              <a:t>Some are worthwhile directly</a:t>
            </a:r>
          </a:p>
          <a:p>
            <a:pPr lvl="2"/>
            <a:r>
              <a:rPr lang="en-US" dirty="0"/>
              <a:t>Management, data analytics and decision making</a:t>
            </a:r>
          </a:p>
        </p:txBody>
      </p:sp>
      <p:pic>
        <p:nvPicPr>
          <p:cNvPr id="6" name="Picture 5" descr="Stock exchange numbers">
            <a:extLst>
              <a:ext uri="{FF2B5EF4-FFF2-40B4-BE49-F238E27FC236}">
                <a16:creationId xmlns:a16="http://schemas.microsoft.com/office/drawing/2014/main" id="{8FF96E3B-199A-4F6D-9B0E-07F2D23A09C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85" r="20724"/>
          <a:stretch/>
        </p:blipFill>
        <p:spPr>
          <a:xfrm>
            <a:off x="6015428" y="2294489"/>
            <a:ext cx="2351332" cy="26032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10498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Databases in Science &amp; </a:t>
            </a:r>
            <a:br>
              <a:rPr lang="en-US" dirty="0"/>
            </a:br>
            <a:r>
              <a:rPr lang="en-US" dirty="0"/>
              <a:t>Public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241550"/>
            <a:ext cx="4841240" cy="429101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Science: for data management and data analysis in</a:t>
            </a:r>
          </a:p>
          <a:p>
            <a:pPr lvl="1"/>
            <a:r>
              <a:rPr lang="en-US" dirty="0"/>
              <a:t>Astronomy</a:t>
            </a:r>
          </a:p>
          <a:p>
            <a:pPr lvl="1"/>
            <a:r>
              <a:rPr lang="en-US" dirty="0"/>
              <a:t>Human Genome</a:t>
            </a:r>
          </a:p>
          <a:p>
            <a:pPr lvl="1"/>
            <a:r>
              <a:rPr lang="en-US" dirty="0"/>
              <a:t>Biochemists exploring properties of proteins</a:t>
            </a:r>
          </a:p>
          <a:p>
            <a:pPr lvl="1"/>
            <a:r>
              <a:rPr lang="en-US" dirty="0"/>
              <a:t>Biology and life sciences</a:t>
            </a:r>
          </a:p>
          <a:p>
            <a:pPr lvl="1"/>
            <a:r>
              <a:rPr lang="en-US" dirty="0"/>
              <a:t>Geology</a:t>
            </a:r>
          </a:p>
          <a:p>
            <a:r>
              <a:rPr lang="en-US" dirty="0"/>
              <a:t>Medicine/NHS: </a:t>
            </a:r>
          </a:p>
          <a:p>
            <a:pPr lvl="1"/>
            <a:r>
              <a:rPr lang="en-US" dirty="0"/>
              <a:t>Patient records</a:t>
            </a:r>
          </a:p>
          <a:p>
            <a:pPr lvl="1"/>
            <a:r>
              <a:rPr lang="en-US" dirty="0"/>
              <a:t>Diseases and their relationships, treatments, etc.</a:t>
            </a:r>
          </a:p>
          <a:p>
            <a:pPr lvl="1"/>
            <a:r>
              <a:rPr lang="en-GB" dirty="0"/>
              <a:t>Decision </a:t>
            </a:r>
            <a:r>
              <a:rPr lang="en-US" dirty="0"/>
              <a:t>making</a:t>
            </a:r>
          </a:p>
          <a:p>
            <a:r>
              <a:rPr lang="en-US" dirty="0"/>
              <a:t>Many others</a:t>
            </a:r>
          </a:p>
        </p:txBody>
      </p:sp>
      <p:pic>
        <p:nvPicPr>
          <p:cNvPr id="6" name="Picture 5" descr="A picture containing object&#10;&#10;Description automatically generated">
            <a:extLst>
              <a:ext uri="{FF2B5EF4-FFF2-40B4-BE49-F238E27FC236}">
                <a16:creationId xmlns:a16="http://schemas.microsoft.com/office/drawing/2014/main" id="{A8A99ED2-BBB6-4161-B60D-5954C50E04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015428" y="2426331"/>
            <a:ext cx="2351332" cy="2339575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0924B781-7871-4C1C-A527-E79078F4980A}"/>
              </a:ext>
            </a:extLst>
          </p:cNvPr>
          <p:cNvSpPr/>
          <p:nvPr/>
        </p:nvSpPr>
        <p:spPr>
          <a:xfrm>
            <a:off x="4268980" y="3942578"/>
            <a:ext cx="3224894" cy="473529"/>
          </a:xfrm>
          <a:prstGeom prst="wedgeRoundRectCallout">
            <a:avLst>
              <a:gd name="adj1" fmla="val -83515"/>
              <a:gd name="adj2" fmla="val 10215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Not always using proper databases!</a:t>
            </a:r>
            <a:endParaRPr lang="en-GB" sz="135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0458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Early Data Management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822960" y="2241551"/>
            <a:ext cx="5189200" cy="3017520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Early DBMS of the 1960’s were based on this idea</a:t>
            </a:r>
          </a:p>
          <a:p>
            <a:r>
              <a:rPr lang="en-GB" dirty="0"/>
              <a:t>Disadvantages: </a:t>
            </a:r>
          </a:p>
          <a:p>
            <a:pPr lvl="1"/>
            <a:r>
              <a:rPr lang="en-GB" dirty="0"/>
              <a:t>difficult to program</a:t>
            </a:r>
          </a:p>
          <a:p>
            <a:pPr lvl="1"/>
            <a:r>
              <a:rPr lang="en-GB" dirty="0"/>
              <a:t>not very robust, especially when dealing with updates to data </a:t>
            </a:r>
            <a:br>
              <a:rPr lang="en-GB" dirty="0"/>
            </a:br>
            <a:r>
              <a:rPr lang="en-GB" dirty="0"/>
              <a:t>by many users in parallel</a:t>
            </a:r>
          </a:p>
          <a:p>
            <a:pPr lvl="1"/>
            <a:r>
              <a:rPr lang="en-GB" dirty="0"/>
              <a:t>Hard to add fields or new efficient queries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F75A2E3-FCEE-4165-B3EC-39D4BDD3C898}"/>
              </a:ext>
            </a:extLst>
          </p:cNvPr>
          <p:cNvSpPr/>
          <p:nvPr/>
        </p:nvSpPr>
        <p:spPr>
          <a:xfrm>
            <a:off x="2771800" y="4713373"/>
            <a:ext cx="2700300" cy="211117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350" dirty="0">
                <a:latin typeface="Courier New" charset="0"/>
                <a:ea typeface="Courier New" charset="0"/>
                <a:cs typeface="Courier New" charset="0"/>
              </a:rPr>
              <a:t>class Student {</a:t>
            </a:r>
          </a:p>
          <a:p>
            <a:r>
              <a:rPr lang="en-US" sz="1350" dirty="0">
                <a:latin typeface="Courier New" charset="0"/>
                <a:ea typeface="Courier New" charset="0"/>
                <a:cs typeface="Courier New" charset="0"/>
              </a:rPr>
              <a:t>    String name;</a:t>
            </a:r>
          </a:p>
          <a:p>
            <a:r>
              <a:rPr lang="en-US" sz="1350" dirty="0"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US" sz="1350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350" dirty="0">
                <a:latin typeface="Courier New" charset="0"/>
                <a:ea typeface="Courier New" charset="0"/>
                <a:cs typeface="Courier New" charset="0"/>
              </a:rPr>
              <a:t> number;</a:t>
            </a:r>
          </a:p>
          <a:p>
            <a:r>
              <a:rPr lang="en-US" sz="1350" dirty="0"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GB" sz="1350" dirty="0">
                <a:latin typeface="Courier New" charset="0"/>
                <a:ea typeface="Courier New" charset="0"/>
                <a:cs typeface="Courier New" charset="0"/>
              </a:rPr>
              <a:t>String programme;</a:t>
            </a:r>
          </a:p>
          <a:p>
            <a:r>
              <a:rPr lang="en-GB" sz="1350" dirty="0"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mr-IN" sz="1350" dirty="0">
                <a:latin typeface="Courier New" charset="0"/>
                <a:ea typeface="Courier New" charset="0"/>
                <a:cs typeface="Courier New" charset="0"/>
              </a:rPr>
              <a:t>…</a:t>
            </a:r>
            <a:endParaRPr lang="en-US" sz="135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1350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  <a:p>
            <a:endParaRPr lang="en-US" sz="135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1350" dirty="0">
                <a:latin typeface="Courier New" charset="0"/>
                <a:ea typeface="Courier New" charset="0"/>
                <a:cs typeface="Courier New" charset="0"/>
              </a:rPr>
              <a:t>Vector&lt;Student&gt; students;</a:t>
            </a:r>
          </a:p>
          <a:p>
            <a:r>
              <a:rPr lang="mr-IN" sz="1350" dirty="0">
                <a:latin typeface="Courier New" charset="0"/>
                <a:ea typeface="Courier New" charset="0"/>
                <a:cs typeface="Courier New" charset="0"/>
              </a:rPr>
              <a:t>…</a:t>
            </a:r>
            <a:endParaRPr lang="en-US" sz="135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3AF0291-73BE-4D6E-94FA-C2CC577E0EF1}"/>
              </a:ext>
            </a:extLst>
          </p:cNvPr>
          <p:cNvSpPr/>
          <p:nvPr/>
        </p:nvSpPr>
        <p:spPr>
          <a:xfrm>
            <a:off x="6012160" y="2882825"/>
            <a:ext cx="2268252" cy="173497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350" dirty="0">
                <a:latin typeface="Courier New" charset="0"/>
                <a:ea typeface="Courier New" charset="0"/>
                <a:cs typeface="Courier New" charset="0"/>
              </a:rPr>
              <a:t>Anna, 20181989, G402</a:t>
            </a:r>
          </a:p>
          <a:p>
            <a:r>
              <a:rPr lang="en-US" sz="1350" dirty="0">
                <a:latin typeface="Courier New" charset="0"/>
                <a:ea typeface="Courier New" charset="0"/>
                <a:cs typeface="Courier New" charset="0"/>
              </a:rPr>
              <a:t>John, 20184378, G702</a:t>
            </a:r>
          </a:p>
          <a:p>
            <a:r>
              <a:rPr lang="mr-IN" sz="1350" dirty="0">
                <a:latin typeface="Courier New" charset="0"/>
                <a:ea typeface="Courier New" charset="0"/>
                <a:cs typeface="Courier New" charset="0"/>
              </a:rPr>
              <a:t>…</a:t>
            </a:r>
            <a:endParaRPr lang="en-GB" sz="1350" dirty="0">
              <a:latin typeface="Courier New" charset="0"/>
              <a:ea typeface="Courier New" charset="0"/>
              <a:cs typeface="Courier New" charset="0"/>
            </a:endParaRPr>
          </a:p>
          <a:p>
            <a:endParaRPr lang="en-US" sz="135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622B66-105C-4B0F-AF03-23CDD1A0D945}"/>
              </a:ext>
            </a:extLst>
          </p:cNvPr>
          <p:cNvSpPr txBox="1"/>
          <p:nvPr/>
        </p:nvSpPr>
        <p:spPr>
          <a:xfrm>
            <a:off x="6417385" y="4696242"/>
            <a:ext cx="150156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External data file</a:t>
            </a:r>
          </a:p>
        </p:txBody>
      </p:sp>
      <p:cxnSp>
        <p:nvCxnSpPr>
          <p:cNvPr id="35" name="Curved Connector 11">
            <a:extLst>
              <a:ext uri="{FF2B5EF4-FFF2-40B4-BE49-F238E27FC236}">
                <a16:creationId xmlns:a16="http://schemas.microsoft.com/office/drawing/2014/main" id="{BA4AEF1B-B987-4B20-9BAB-F1FD16AC2E5A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 flipV="1">
            <a:off x="5472100" y="3750311"/>
            <a:ext cx="540060" cy="2018650"/>
          </a:xfrm>
          <a:prstGeom prst="curvedConnector3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6687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33" grpId="0" animBg="1"/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Relational Databases to the Rescue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Modern database management systems (DBMSs) are based on 50+ years of database research</a:t>
            </a:r>
          </a:p>
          <a:p>
            <a:pPr lvl="1"/>
            <a:r>
              <a:rPr lang="en-US" dirty="0"/>
              <a:t>Very sophisticated tools</a:t>
            </a:r>
          </a:p>
          <a:p>
            <a:pPr lvl="1"/>
            <a:r>
              <a:rPr lang="en-US" dirty="0"/>
              <a:t>Can manage very large amounts of data</a:t>
            </a:r>
            <a:br>
              <a:rPr lang="en-US" dirty="0"/>
            </a:br>
            <a:r>
              <a:rPr lang="en-US" dirty="0"/>
              <a:t>over a long period of time</a:t>
            </a:r>
          </a:p>
          <a:p>
            <a:pPr lvl="1"/>
            <a:r>
              <a:rPr lang="en-US" dirty="0"/>
              <a:t>Highly efficient, flexible, robust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645" y="5522692"/>
            <a:ext cx="1836204" cy="26033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7637" y="6096233"/>
            <a:ext cx="2052228" cy="7770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9268" y="4192465"/>
            <a:ext cx="1166301" cy="78142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4006" y="5592880"/>
            <a:ext cx="1955153" cy="516119"/>
          </a:xfrm>
          <a:prstGeom prst="rect">
            <a:avLst/>
          </a:prstGeom>
        </p:spPr>
      </p:pic>
      <p:pic>
        <p:nvPicPr>
          <p:cNvPr id="1026" name="Picture 2" descr="ostgresql-logo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1330" y="5311242"/>
            <a:ext cx="1625870" cy="122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D38DA14A-D523-4C02-ADEE-A3EFECECEE8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0135" y="4340396"/>
            <a:ext cx="1891195" cy="1260797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F222FAFD-01E2-5355-86B4-A8E50778C7AD}"/>
              </a:ext>
            </a:extLst>
          </p:cNvPr>
          <p:cNvSpPr/>
          <p:nvPr/>
        </p:nvSpPr>
        <p:spPr>
          <a:xfrm>
            <a:off x="4602584" y="4611919"/>
            <a:ext cx="2077268" cy="910774"/>
          </a:xfrm>
          <a:prstGeom prst="ellipse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2561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(Informally it is called SQL model)</a:t>
            </a:r>
          </a:p>
          <a:p>
            <a:r>
              <a:rPr lang="en-US" dirty="0"/>
              <a:t>Data </a:t>
            </a:r>
            <a:r>
              <a:rPr lang="en-US" dirty="0" err="1"/>
              <a:t>organised</a:t>
            </a:r>
            <a:r>
              <a:rPr lang="en-US" dirty="0"/>
              <a:t> as relations (“tables”)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Bef>
                <a:spcPts val="2304"/>
              </a:spcBef>
            </a:pPr>
            <a:endParaRPr lang="en-US" dirty="0"/>
          </a:p>
          <a:p>
            <a:r>
              <a:rPr lang="en-US" dirty="0"/>
              <a:t>Data is queried/modified at a high level (e.g. via SQL)</a:t>
            </a:r>
            <a:br>
              <a:rPr lang="en-US" dirty="0"/>
            </a:br>
            <a:r>
              <a:rPr lang="en-US" dirty="0"/>
              <a:t>No need to know how data is stored and where</a:t>
            </a:r>
          </a:p>
          <a:p>
            <a:r>
              <a:rPr lang="en-US" dirty="0"/>
              <a:t>Introduced in 1970, most dominant model by 1990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982857" y="2854724"/>
          <a:ext cx="2808310" cy="11277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702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name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price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number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2L Cola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sz="1400" dirty="0"/>
                        <a:t>3.00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Banana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sz="1400" dirty="0"/>
                        <a:t>0.10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mr-IN" sz="1400" dirty="0"/>
                        <a:t>…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1400" dirty="0"/>
                        <a:t>…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mr-IN" sz="1400" dirty="0"/>
                        <a:t>…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25708" y="2556099"/>
            <a:ext cx="58496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/>
              <a:t>Items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86405" y="2672261"/>
          <a:ext cx="4050450" cy="15544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53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birthday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first_name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family_name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1990-11-10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sz="1400" dirty="0"/>
                        <a:t>Anne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Smith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2000-02-05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sz="1400" dirty="0"/>
                        <a:t>David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Jones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mr-IN" sz="1400" dirty="0"/>
                        <a:t>…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1400" dirty="0"/>
                        <a:t>…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mr-IN" sz="1400" dirty="0"/>
                        <a:t>…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714782" y="2395262"/>
            <a:ext cx="96090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/>
              <a:t>Employees</a:t>
            </a:r>
          </a:p>
        </p:txBody>
      </p:sp>
    </p:spTree>
    <p:extLst>
      <p:ext uri="{BB962C8B-B14F-4D97-AF65-F5344CB8AC3E}">
        <p14:creationId xmlns:p14="http://schemas.microsoft.com/office/powerpoint/2010/main" val="2026068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877379" y="1426464"/>
            <a:ext cx="5489381" cy="2674620"/>
          </a:xfrm>
        </p:spPr>
        <p:txBody>
          <a:bodyPr vert="horz" lIns="68580" tIns="34290" rIns="68580" bIns="34290" rtlCol="0" anchor="b" anchorCtr="0">
            <a:normAutofit fontScale="90000"/>
          </a:bodyPr>
          <a:lstStyle/>
          <a:p>
            <a:r>
              <a:rPr lang="en-US" sz="465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Relational DBMS are one of the biggest success stories in computer science.</a:t>
            </a:r>
          </a:p>
        </p:txBody>
      </p:sp>
      <p:pic>
        <p:nvPicPr>
          <p:cNvPr id="10" name="Graphic 9" descr="Database">
            <a:extLst>
              <a:ext uri="{FF2B5EF4-FFF2-40B4-BE49-F238E27FC236}">
                <a16:creationId xmlns:a16="http://schemas.microsoft.com/office/drawing/2014/main" id="{7B512703-0085-420D-8AA5-36EAE67394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363" y="2315930"/>
            <a:ext cx="1837115" cy="1837115"/>
          </a:xfrm>
          <a:prstGeom prst="rect">
            <a:avLst/>
          </a:prstGeom>
        </p:spPr>
      </p:pic>
      <p:sp>
        <p:nvSpPr>
          <p:cNvPr id="5" name="Title 5"/>
          <p:cNvSpPr txBox="1">
            <a:spLocks/>
          </p:cNvSpPr>
          <p:nvPr/>
        </p:nvSpPr>
        <p:spPr>
          <a:xfrm>
            <a:off x="1493658" y="4401108"/>
            <a:ext cx="6172200" cy="85725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450"/>
              </a:spcAft>
            </a:pPr>
            <a:r>
              <a:rPr lang="en-US" sz="2100" dirty="0"/>
              <a:t>Also: one of the most complex pieces of software</a:t>
            </a:r>
            <a:r>
              <a:rPr lang="mr-IN" sz="2100" dirty="0"/>
              <a:t>…</a:t>
            </a:r>
            <a:endParaRPr lang="en-US" sz="21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89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FB5EC-CF6D-44F2-8D1E-19D9D2980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NHS example</a:t>
            </a:r>
            <a:endParaRPr lang="en-GB" dirty="0"/>
          </a:p>
        </p:txBody>
      </p:sp>
      <p:pic>
        <p:nvPicPr>
          <p:cNvPr id="5" name="Content Placeholder 4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7608B637-B3F1-4E68-9B30-743068765B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429"/>
          <a:stretch/>
        </p:blipFill>
        <p:spPr>
          <a:xfrm>
            <a:off x="0" y="2176600"/>
            <a:ext cx="4997484" cy="2742206"/>
          </a:xfrm>
        </p:spPr>
      </p:pic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BE92466-E3E7-4007-BC40-0588BF9AFB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405" y="2610725"/>
            <a:ext cx="6112031" cy="27422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6582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8B66B-9D5A-59BB-6412-92D5B360D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5438"/>
            <a:ext cx="8003232" cy="1143000"/>
          </a:xfrm>
        </p:spPr>
        <p:txBody>
          <a:bodyPr/>
          <a:lstStyle/>
          <a:p>
            <a:r>
              <a:rPr lang="en-AT" dirty="0"/>
              <a:t>University of Liverpool 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DD2B862-FBBB-2D17-E543-934F1BB336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32"/>
          <a:stretch/>
        </p:blipFill>
        <p:spPr>
          <a:xfrm rot="5400000">
            <a:off x="864840" y="-225127"/>
            <a:ext cx="6537375" cy="7619999"/>
          </a:xfrm>
        </p:spPr>
      </p:pic>
    </p:spTree>
    <p:extLst>
      <p:ext uri="{BB962C8B-B14F-4D97-AF65-F5344CB8AC3E}">
        <p14:creationId xmlns:p14="http://schemas.microsoft.com/office/powerpoint/2010/main" val="1129105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DAC7D-677C-CB5C-F5B3-31041687C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Horizon/Post office scandal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EFA07-3624-4D80-8844-0B9BC0C96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Long-running scandal (that said people in the UK started caring about it this year) abt. the post office that </a:t>
            </a:r>
            <a:r>
              <a:rPr lang="en-AT" dirty="0"/>
              <a:t>put their post officers in jail after accusing them of stealing </a:t>
            </a:r>
          </a:p>
          <a:p>
            <a:r>
              <a:rPr lang="en-GB" dirty="0"/>
              <a:t>Many post officers had done nothing wrong but were convicted due to bugs in the IT system Horizon</a:t>
            </a:r>
          </a:p>
          <a:p>
            <a:r>
              <a:rPr lang="en-AT" dirty="0"/>
              <a:t>Some (but not all) of the bugs had to do with databases</a:t>
            </a:r>
          </a:p>
          <a:p>
            <a:r>
              <a:rPr lang="en-AT" dirty="0"/>
              <a:t>Will discuss some </a:t>
            </a:r>
            <a:r>
              <a:rPr lang="en-AT"/>
              <a:t>examples in week 3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194614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60D97-10FB-18DB-4F20-A75AAE13E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58F9032-23EF-AF9C-9DD4-D1EB7CCD6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5438"/>
            <a:ext cx="7620000" cy="1143000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i="1" kern="1200" cap="none" spc="-100" baseline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Course overview</a:t>
            </a:r>
          </a:p>
        </p:txBody>
      </p:sp>
      <p:pic>
        <p:nvPicPr>
          <p:cNvPr id="7" name="Picture 6" descr="image of a calendar">
            <a:extLst>
              <a:ext uri="{FF2B5EF4-FFF2-40B4-BE49-F238E27FC236}">
                <a16:creationId xmlns:a16="http://schemas.microsoft.com/office/drawing/2014/main" id="{0DAA1352-7C72-BB1E-4CA3-0E8A9A0A57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37" r="1" b="1"/>
          <a:stretch>
            <a:fillRect/>
          </a:stretch>
        </p:blipFill>
        <p:spPr>
          <a:xfrm>
            <a:off x="457200" y="2174875"/>
            <a:ext cx="3657600" cy="3951288"/>
          </a:xfrm>
          <a:prstGeom prst="rect">
            <a:avLst/>
          </a:prstGeom>
          <a:noFill/>
        </p:spPr>
      </p:pic>
      <p:sp>
        <p:nvSpPr>
          <p:cNvPr id="5" name="Title 5">
            <a:extLst>
              <a:ext uri="{FF2B5EF4-FFF2-40B4-BE49-F238E27FC236}">
                <a16:creationId xmlns:a16="http://schemas.microsoft.com/office/drawing/2014/main" id="{2174BFE2-A69D-1A39-979E-E505ADA0FCF9}"/>
              </a:ext>
            </a:extLst>
          </p:cNvPr>
          <p:cNvSpPr txBox="1">
            <a:spLocks/>
          </p:cNvSpPr>
          <p:nvPr/>
        </p:nvSpPr>
        <p:spPr>
          <a:xfrm>
            <a:off x="4413143" y="3645024"/>
            <a:ext cx="3657600" cy="639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en-US" sz="1900" b="1" kern="1200" dirty="0">
                <a:solidFill>
                  <a:schemeClr val="tx2"/>
                </a:solidFill>
                <a:latin typeface="Arial"/>
                <a:ea typeface="+mn-ea"/>
                <a:cs typeface="+mn-cs"/>
              </a:rPr>
              <a:t>What are we doing in each lecture?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1125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8EEFF-9710-4EB4-AE0D-5E4485EF7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325438"/>
            <a:ext cx="7992888" cy="1143000"/>
          </a:xfrm>
        </p:spPr>
        <p:txBody>
          <a:bodyPr/>
          <a:lstStyle/>
          <a:p>
            <a:r>
              <a:rPr lang="en-US" sz="4000" dirty="0"/>
              <a:t>Basics of SQL and the relational model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CCC64-38F3-4426-9D6E-697AAE131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two weeks (lectures 2-5):</a:t>
            </a:r>
          </a:p>
          <a:p>
            <a:pPr lvl="1"/>
            <a:r>
              <a:rPr lang="en-US" dirty="0"/>
              <a:t>We will show you how to make relational databases</a:t>
            </a:r>
          </a:p>
          <a:p>
            <a:pPr lvl="1"/>
            <a:r>
              <a:rPr lang="en-US" dirty="0"/>
              <a:t>How to insert/delete/query them</a:t>
            </a:r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C71383-B9D2-4C8C-8CA4-8509213AB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917021"/>
              </p:ext>
            </p:extLst>
          </p:nvPr>
        </p:nvGraphicFramePr>
        <p:xfrm>
          <a:off x="2238113" y="3933056"/>
          <a:ext cx="2808310" cy="11277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702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name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number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programme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Anna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sz="1400" dirty="0"/>
                        <a:t>20181989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G402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John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sz="1400" dirty="0"/>
                        <a:t>20184378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G702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mr-IN" sz="1400" dirty="0"/>
                        <a:t>…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1400" dirty="0"/>
                        <a:t>…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mr-IN" sz="1400" dirty="0"/>
                        <a:t>…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8202599-3401-485E-A8E5-4CF5A95C79BB}"/>
              </a:ext>
            </a:extLst>
          </p:cNvPr>
          <p:cNvSpPr txBox="1"/>
          <p:nvPr/>
        </p:nvSpPr>
        <p:spPr>
          <a:xfrm>
            <a:off x="2184107" y="3625630"/>
            <a:ext cx="74898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/>
              <a:t>Student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DC2ADC-1538-482E-820F-30956AA013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781907"/>
              </p:ext>
            </p:extLst>
          </p:nvPr>
        </p:nvGraphicFramePr>
        <p:xfrm>
          <a:off x="4020312" y="3742448"/>
          <a:ext cx="4050450" cy="13411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53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code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name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lecturer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COMP207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sz="1400" dirty="0"/>
                        <a:t>Database Development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R.</a:t>
                      </a:r>
                      <a:r>
                        <a:rPr lang="en-US" sz="1400" baseline="0" dirty="0"/>
                        <a:t> Ibsen-Jensen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COMP219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sz="1400" dirty="0"/>
                        <a:t>Artificial Intelligence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F.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baseline="0" dirty="0" err="1"/>
                        <a:t>Oliehoek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mr-IN" sz="1400" dirty="0"/>
                        <a:t>…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1400" dirty="0"/>
                        <a:t>…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mr-IN" sz="1400" dirty="0"/>
                        <a:t>…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22D4F6E-A660-4E4D-B284-AE1D10A6980D}"/>
              </a:ext>
            </a:extLst>
          </p:cNvPr>
          <p:cNvSpPr txBox="1"/>
          <p:nvPr/>
        </p:nvSpPr>
        <p:spPr>
          <a:xfrm>
            <a:off x="3973182" y="3464794"/>
            <a:ext cx="74411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/>
              <a:t>Module</a:t>
            </a:r>
            <a:endParaRPr lang="en-US" sz="1350" b="1" dirty="0"/>
          </a:p>
        </p:txBody>
      </p:sp>
    </p:spTree>
    <p:extLst>
      <p:ext uri="{BB962C8B-B14F-4D97-AF65-F5344CB8AC3E}">
        <p14:creationId xmlns:p14="http://schemas.microsoft.com/office/powerpoint/2010/main" val="2082523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Relational DBMS Components </a:t>
            </a:r>
            <a:br>
              <a:rPr lang="en-US" dirty="0"/>
            </a:br>
            <a:r>
              <a:rPr lang="en-US" sz="2025" dirty="0"/>
              <a:t>(Simplified)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4346" y="2564904"/>
            <a:ext cx="1404156" cy="3240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/>
              <a:t>Query Compiler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084346" y="3337787"/>
            <a:ext cx="1404156" cy="3240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/>
              <a:t>Execution Engine</a:t>
            </a:r>
            <a:endParaRPr lang="en-US" sz="1350" dirty="0"/>
          </a:p>
        </p:txBody>
      </p:sp>
      <p:sp>
        <p:nvSpPr>
          <p:cNvPr id="8" name="Rectangle 7"/>
          <p:cNvSpPr/>
          <p:nvPr/>
        </p:nvSpPr>
        <p:spPr>
          <a:xfrm>
            <a:off x="2084346" y="4077073"/>
            <a:ext cx="1404156" cy="50038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/>
              <a:t>Index/file/record manager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09571" y="2564904"/>
            <a:ext cx="1350150" cy="418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/>
              <a:t>Transaction manager</a:t>
            </a:r>
            <a:endParaRPr lang="en-US" sz="1350" dirty="0"/>
          </a:p>
        </p:txBody>
      </p:sp>
      <p:sp>
        <p:nvSpPr>
          <p:cNvPr id="10" name="Rectangle 9"/>
          <p:cNvSpPr/>
          <p:nvPr/>
        </p:nvSpPr>
        <p:spPr>
          <a:xfrm>
            <a:off x="4111563" y="3248722"/>
            <a:ext cx="1350150" cy="418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/>
              <a:t>Logging and recovery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0162" y="3243497"/>
            <a:ext cx="1350150" cy="418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/>
              <a:t>Concurrency control</a:t>
            </a:r>
            <a:endParaRPr lang="en-US" sz="1350" dirty="0"/>
          </a:p>
        </p:txBody>
      </p:sp>
      <p:sp>
        <p:nvSpPr>
          <p:cNvPr id="12" name="Rectangle 11"/>
          <p:cNvSpPr/>
          <p:nvPr/>
        </p:nvSpPr>
        <p:spPr>
          <a:xfrm>
            <a:off x="1996089" y="4997048"/>
            <a:ext cx="1580834" cy="418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/>
              <a:t>Buffer manager &amp; storage manager</a:t>
            </a:r>
          </a:p>
        </p:txBody>
      </p:sp>
      <p:sp>
        <p:nvSpPr>
          <p:cNvPr id="13" name="Can 12" descr="Storage (i.e. typically harddisk)"/>
          <p:cNvSpPr/>
          <p:nvPr/>
        </p:nvSpPr>
        <p:spPr>
          <a:xfrm>
            <a:off x="4362002" y="4724207"/>
            <a:ext cx="1134126" cy="86409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Storage</a:t>
            </a:r>
          </a:p>
        </p:txBody>
      </p:sp>
      <p:cxnSp>
        <p:nvCxnSpPr>
          <p:cNvPr id="15" name="Straight Arrow Connector 14"/>
          <p:cNvCxnSpPr>
            <a:stCxn id="8" idx="2"/>
            <a:endCxn id="12" idx="0"/>
          </p:cNvCxnSpPr>
          <p:nvPr/>
        </p:nvCxnSpPr>
        <p:spPr>
          <a:xfrm>
            <a:off x="2786424" y="4577454"/>
            <a:ext cx="82" cy="419594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2"/>
            <a:endCxn id="8" idx="0"/>
          </p:cNvCxnSpPr>
          <p:nvPr/>
        </p:nvCxnSpPr>
        <p:spPr>
          <a:xfrm>
            <a:off x="2786424" y="3661824"/>
            <a:ext cx="0" cy="415249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cxnSpLocks/>
            <a:stCxn id="13" idx="2"/>
            <a:endCxn id="12" idx="3"/>
          </p:cNvCxnSpPr>
          <p:nvPr/>
        </p:nvCxnSpPr>
        <p:spPr>
          <a:xfrm flipH="1">
            <a:off x="3576923" y="5156255"/>
            <a:ext cx="785079" cy="49956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n 41" descr="Buffers (e.g. RAM)"/>
          <p:cNvSpPr/>
          <p:nvPr/>
        </p:nvSpPr>
        <p:spPr>
          <a:xfrm>
            <a:off x="4362002" y="4118471"/>
            <a:ext cx="1134126" cy="55255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Buffers</a:t>
            </a:r>
          </a:p>
        </p:txBody>
      </p:sp>
      <p:cxnSp>
        <p:nvCxnSpPr>
          <p:cNvPr id="43" name="Straight Arrow Connector 42"/>
          <p:cNvCxnSpPr>
            <a:cxnSpLocks/>
            <a:endCxn id="42" idx="2"/>
          </p:cNvCxnSpPr>
          <p:nvPr/>
        </p:nvCxnSpPr>
        <p:spPr>
          <a:xfrm flipV="1">
            <a:off x="3488502" y="4394749"/>
            <a:ext cx="873500" cy="7270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7" idx="3"/>
          </p:cNvCxnSpPr>
          <p:nvPr/>
        </p:nvCxnSpPr>
        <p:spPr>
          <a:xfrm>
            <a:off x="3488502" y="3499807"/>
            <a:ext cx="967175" cy="793823"/>
          </a:xfrm>
          <a:prstGeom prst="straightConnector1">
            <a:avLst/>
          </a:prstGeom>
          <a:ln w="19050"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6" idx="2"/>
            <a:endCxn id="7" idx="0"/>
          </p:cNvCxnSpPr>
          <p:nvPr/>
        </p:nvCxnSpPr>
        <p:spPr>
          <a:xfrm>
            <a:off x="2786424" y="2888941"/>
            <a:ext cx="0" cy="448847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53" idx="2"/>
            <a:endCxn id="6" idx="0"/>
          </p:cNvCxnSpPr>
          <p:nvPr/>
        </p:nvCxnSpPr>
        <p:spPr>
          <a:xfrm flipH="1">
            <a:off x="2786424" y="2409174"/>
            <a:ext cx="24671" cy="15573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133505" y="2109092"/>
            <a:ext cx="135517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User/application</a:t>
            </a:r>
          </a:p>
        </p:txBody>
      </p:sp>
      <p:cxnSp>
        <p:nvCxnSpPr>
          <p:cNvPr id="83" name="Straight Arrow Connector 82"/>
          <p:cNvCxnSpPr>
            <a:cxnSpLocks/>
            <a:stCxn id="53" idx="3"/>
          </p:cNvCxnSpPr>
          <p:nvPr/>
        </p:nvCxnSpPr>
        <p:spPr>
          <a:xfrm>
            <a:off x="3488684" y="2259133"/>
            <a:ext cx="620888" cy="305772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9" idx="2"/>
            <a:endCxn id="10" idx="0"/>
          </p:cNvCxnSpPr>
          <p:nvPr/>
        </p:nvCxnSpPr>
        <p:spPr>
          <a:xfrm>
            <a:off x="4784646" y="2983231"/>
            <a:ext cx="1992" cy="265492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5478984" y="2983231"/>
            <a:ext cx="551178" cy="260267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>
            <a:endCxn id="10" idx="1"/>
          </p:cNvCxnSpPr>
          <p:nvPr/>
        </p:nvCxnSpPr>
        <p:spPr>
          <a:xfrm>
            <a:off x="3488502" y="3457885"/>
            <a:ext cx="623061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urved Connector 107"/>
          <p:cNvCxnSpPr>
            <a:stCxn id="7" idx="2"/>
            <a:endCxn id="11" idx="2"/>
          </p:cNvCxnSpPr>
          <p:nvPr/>
        </p:nvCxnSpPr>
        <p:spPr>
          <a:xfrm rot="16200000" flipH="1">
            <a:off x="4745831" y="1702417"/>
            <a:ext cx="9525" cy="3918813"/>
          </a:xfrm>
          <a:prstGeom prst="curvedConnector3">
            <a:avLst>
              <a:gd name="adj1" fmla="val 1800000"/>
            </a:avLst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>
            <a:cxnSpLocks/>
            <a:stCxn id="10" idx="2"/>
            <a:endCxn id="42" idx="1"/>
          </p:cNvCxnSpPr>
          <p:nvPr/>
        </p:nvCxnSpPr>
        <p:spPr>
          <a:xfrm>
            <a:off x="4786638" y="3667048"/>
            <a:ext cx="142427" cy="451424"/>
          </a:xfrm>
          <a:prstGeom prst="straightConnector1">
            <a:avLst/>
          </a:prstGeom>
          <a:ln w="19050"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/>
          <p:nvPr/>
        </p:nvCxnSpPr>
        <p:spPr>
          <a:xfrm>
            <a:off x="3439345" y="2913319"/>
            <a:ext cx="1035764" cy="1315268"/>
          </a:xfrm>
          <a:prstGeom prst="straightConnector1">
            <a:avLst/>
          </a:prstGeom>
          <a:ln w="19050"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 flipH="1">
            <a:off x="3488502" y="3666588"/>
            <a:ext cx="813468" cy="1340035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3977934" y="2508683"/>
            <a:ext cx="3510390" cy="1410614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3" name="TextBox 132"/>
          <p:cNvSpPr txBox="1"/>
          <p:nvPr/>
        </p:nvSpPr>
        <p:spPr>
          <a:xfrm>
            <a:off x="4301971" y="2200325"/>
            <a:ext cx="304089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Transaction Management (lectures 6-11)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52987" y="2967912"/>
            <a:ext cx="144417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Query Processing </a:t>
            </a:r>
            <a:br>
              <a:rPr lang="en-US" sz="1350" dirty="0">
                <a:solidFill>
                  <a:srgbClr val="FF0000"/>
                </a:solidFill>
              </a:rPr>
            </a:br>
            <a:r>
              <a:rPr lang="en-US" sz="1350" dirty="0">
                <a:solidFill>
                  <a:srgbClr val="FF0000"/>
                </a:solidFill>
              </a:rPr>
              <a:t>(lectures 12-13)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996089" y="2508718"/>
            <a:ext cx="1580834" cy="2162309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834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42" grpId="0" animBg="1"/>
      <p:bldP spid="53" grpId="0"/>
      <p:bldP spid="132" grpId="0" animBg="1"/>
      <p:bldP spid="133" grpId="0"/>
      <p:bldP spid="134" grpId="0"/>
      <p:bldP spid="13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Plain Relational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50" dirty="0"/>
              <a:t>Distributed DBMSs (lecture 14</a:t>
            </a:r>
            <a:r>
              <a:rPr lang="en-US" sz="21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50" dirty="0"/>
              <a:t>Beyond relational data </a:t>
            </a:r>
            <a:r>
              <a:rPr lang="en-US" sz="2100" dirty="0"/>
              <a:t>(lectures 15-18)</a:t>
            </a:r>
          </a:p>
          <a:p>
            <a:pPr lvl="1"/>
            <a:r>
              <a:rPr lang="en-US" sz="1800" dirty="0"/>
              <a:t>Called NoSQL databases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50" dirty="0"/>
              <a:t>Data warehouses/analysis/mining </a:t>
            </a:r>
            <a:r>
              <a:rPr lang="en-US" sz="2100" dirty="0"/>
              <a:t>(lectures 19-20)</a:t>
            </a:r>
            <a:br>
              <a:rPr lang="en-US" sz="2100" dirty="0"/>
            </a:br>
            <a:endParaRPr lang="en-US" sz="21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E65587-3968-4BF6-8607-9552FB5DB017}"/>
              </a:ext>
            </a:extLst>
          </p:cNvPr>
          <p:cNvCxnSpPr/>
          <p:nvPr/>
        </p:nvCxnSpPr>
        <p:spPr>
          <a:xfrm flipV="1">
            <a:off x="4616321" y="3573016"/>
            <a:ext cx="0" cy="182880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E6EF525-AEEC-4D08-B1CE-B2ADAF104BF4}"/>
              </a:ext>
            </a:extLst>
          </p:cNvPr>
          <p:cNvCxnSpPr>
            <a:cxnSpLocks/>
          </p:cNvCxnSpPr>
          <p:nvPr/>
        </p:nvCxnSpPr>
        <p:spPr>
          <a:xfrm>
            <a:off x="4616321" y="5376968"/>
            <a:ext cx="2129103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D5A45A4-8FFF-4A5A-8F48-EDD27BEAC024}"/>
              </a:ext>
            </a:extLst>
          </p:cNvPr>
          <p:cNvSpPr txBox="1"/>
          <p:nvPr/>
        </p:nvSpPr>
        <p:spPr>
          <a:xfrm>
            <a:off x="4214600" y="3290095"/>
            <a:ext cx="8526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Efficiency</a:t>
            </a:r>
            <a:endParaRPr lang="en-GB" sz="13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8233A8-DBBC-4F09-9B8E-A13B54A7A432}"/>
              </a:ext>
            </a:extLst>
          </p:cNvPr>
          <p:cNvSpPr txBox="1"/>
          <p:nvPr/>
        </p:nvSpPr>
        <p:spPr>
          <a:xfrm>
            <a:off x="6728227" y="5213622"/>
            <a:ext cx="79239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Features</a:t>
            </a:r>
            <a:endParaRPr lang="en-GB" sz="135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67E5E97-710E-4B32-BEF5-25B024FAAC9E}"/>
              </a:ext>
            </a:extLst>
          </p:cNvPr>
          <p:cNvSpPr/>
          <p:nvPr/>
        </p:nvSpPr>
        <p:spPr>
          <a:xfrm>
            <a:off x="5192683" y="4156590"/>
            <a:ext cx="984806" cy="36309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12BC53E-352A-4D07-A27E-96DD66E689D6}"/>
              </a:ext>
            </a:extLst>
          </p:cNvPr>
          <p:cNvSpPr/>
          <p:nvPr/>
        </p:nvSpPr>
        <p:spPr>
          <a:xfrm>
            <a:off x="4818748" y="3845532"/>
            <a:ext cx="269121" cy="27699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B030806-F04D-4FA6-ADB1-8BA55A1751CA}"/>
              </a:ext>
            </a:extLst>
          </p:cNvPr>
          <p:cNvSpPr/>
          <p:nvPr/>
        </p:nvSpPr>
        <p:spPr>
          <a:xfrm>
            <a:off x="6254537" y="4696815"/>
            <a:ext cx="369941" cy="274418"/>
          </a:xfrm>
          <a:prstGeom prst="ellipse">
            <a:avLst/>
          </a:prstGeom>
          <a:solidFill>
            <a:srgbClr val="7030A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1DF7EC-B8CF-4CDE-BEB8-A2A61968BD0C}"/>
              </a:ext>
            </a:extLst>
          </p:cNvPr>
          <p:cNvSpPr txBox="1"/>
          <p:nvPr/>
        </p:nvSpPr>
        <p:spPr>
          <a:xfrm>
            <a:off x="6641213" y="3394111"/>
            <a:ext cx="88870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Relational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E5AB25-4161-41F4-AF19-6568668D51DA}"/>
              </a:ext>
            </a:extLst>
          </p:cNvPr>
          <p:cNvSpPr txBox="1"/>
          <p:nvPr/>
        </p:nvSpPr>
        <p:spPr>
          <a:xfrm>
            <a:off x="6644041" y="3679902"/>
            <a:ext cx="165685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Semi-structured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CFA179C-9709-413B-860F-F511A38607F8}"/>
              </a:ext>
            </a:extLst>
          </p:cNvPr>
          <p:cNvSpPr/>
          <p:nvPr/>
        </p:nvSpPr>
        <p:spPr>
          <a:xfrm>
            <a:off x="6483915" y="3452794"/>
            <a:ext cx="140564" cy="1434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598E38E-0B16-46AC-A021-E3E2E6976A1A}"/>
              </a:ext>
            </a:extLst>
          </p:cNvPr>
          <p:cNvSpPr/>
          <p:nvPr/>
        </p:nvSpPr>
        <p:spPr>
          <a:xfrm>
            <a:off x="6493687" y="3749501"/>
            <a:ext cx="140564" cy="143461"/>
          </a:xfrm>
          <a:prstGeom prst="ellipse">
            <a:avLst/>
          </a:prstGeom>
          <a:solidFill>
            <a:srgbClr val="7030A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61DE87-DCDE-4B66-ADEA-4CE19F4E00D3}"/>
              </a:ext>
            </a:extLst>
          </p:cNvPr>
          <p:cNvSpPr txBox="1"/>
          <p:nvPr/>
        </p:nvSpPr>
        <p:spPr>
          <a:xfrm>
            <a:off x="6650389" y="3954147"/>
            <a:ext cx="165685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Key-value stores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CC37068-747D-464F-A807-A17287CB4EAF}"/>
              </a:ext>
            </a:extLst>
          </p:cNvPr>
          <p:cNvSpPr/>
          <p:nvPr/>
        </p:nvSpPr>
        <p:spPr>
          <a:xfrm>
            <a:off x="6503793" y="4031762"/>
            <a:ext cx="140564" cy="143461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pic>
        <p:nvPicPr>
          <p:cNvPr id="5" name="Picture 4" descr="A diagram of servers and servers&#10;&#10;Description automatically generated">
            <a:extLst>
              <a:ext uri="{FF2B5EF4-FFF2-40B4-BE49-F238E27FC236}">
                <a16:creationId xmlns:a16="http://schemas.microsoft.com/office/drawing/2014/main" id="{134C961C-B895-2816-7C44-D3ABD67ECE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72" y="3415531"/>
            <a:ext cx="2905793" cy="217225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F4A21D0-7ABA-5042-44D5-B5CB2BB4BD6A}"/>
              </a:ext>
            </a:extLst>
          </p:cNvPr>
          <p:cNvSpPr/>
          <p:nvPr/>
        </p:nvSpPr>
        <p:spPr>
          <a:xfrm>
            <a:off x="626341" y="3845531"/>
            <a:ext cx="1425379" cy="1825211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0ADB3C-7FE0-EC6E-FFF8-5D94C70C5D8D}"/>
              </a:ext>
            </a:extLst>
          </p:cNvPr>
          <p:cNvSpPr txBox="1"/>
          <p:nvPr/>
        </p:nvSpPr>
        <p:spPr>
          <a:xfrm>
            <a:off x="626340" y="5670743"/>
            <a:ext cx="1540777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Transaction Management (lectures 6-11)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59012B-C5D0-5082-EF9A-912459861A0A}"/>
              </a:ext>
            </a:extLst>
          </p:cNvPr>
          <p:cNvSpPr/>
          <p:nvPr/>
        </p:nvSpPr>
        <p:spPr>
          <a:xfrm>
            <a:off x="2167126" y="3784209"/>
            <a:ext cx="1425379" cy="1825211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96CD97-F7C4-A6B9-0E38-DA0051EAFE52}"/>
              </a:ext>
            </a:extLst>
          </p:cNvPr>
          <p:cNvSpPr txBox="1"/>
          <p:nvPr/>
        </p:nvSpPr>
        <p:spPr>
          <a:xfrm>
            <a:off x="2167126" y="5609421"/>
            <a:ext cx="154077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Distributed DBMSs (lecture 14)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3500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 animBg="1"/>
      <p:bldP spid="14" grpId="0" animBg="1"/>
      <p:bldP spid="16" grpId="0" animBg="1"/>
      <p:bldP spid="18" grpId="0"/>
      <p:bldP spid="20" grpId="0"/>
      <p:bldP spid="22" grpId="0" animBg="1"/>
      <p:bldP spid="24" grpId="0" animBg="1"/>
      <p:bldP spid="26" grpId="0"/>
      <p:bldP spid="28" grpId="0" animBg="1"/>
      <p:bldP spid="8" grpId="0" animBg="1"/>
      <p:bldP spid="10" grpId="0"/>
      <p:bldP spid="13" grpId="0" animBg="1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you should be able to do at the end</a:t>
            </a:r>
            <a:br>
              <a:rPr lang="en-US" dirty="0"/>
            </a:br>
            <a:r>
              <a:rPr lang="en-US" sz="2700" dirty="0"/>
              <a:t>(Learning Outcomes)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715" y="2028454"/>
            <a:ext cx="7620000" cy="4800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Basic/advanced SQL:</a:t>
            </a:r>
          </a:p>
          <a:p>
            <a:pPr lvl="1"/>
            <a:r>
              <a:rPr lang="en-US" dirty="0"/>
              <a:t>Application in problem solving (focused on in week 1,2 and 6)</a:t>
            </a:r>
          </a:p>
          <a:p>
            <a:pPr lvl="2"/>
            <a:r>
              <a:rPr lang="en-US" dirty="0"/>
              <a:t>I.e. SQL and query processing</a:t>
            </a:r>
          </a:p>
          <a:p>
            <a:r>
              <a:rPr lang="en-US" dirty="0"/>
              <a:t>Transaction management: </a:t>
            </a:r>
          </a:p>
          <a:p>
            <a:pPr lvl="1"/>
            <a:r>
              <a:rPr lang="en-US" dirty="0"/>
              <a:t>Identify and apply the principles underpinning transaction management within DBMS (focused on in weeks 3,4,5 and 7)</a:t>
            </a:r>
          </a:p>
          <a:p>
            <a:pPr lvl="2"/>
            <a:r>
              <a:rPr lang="en-US" dirty="0"/>
              <a:t>I.e. transaction management and distributed databases</a:t>
            </a:r>
          </a:p>
          <a:p>
            <a:r>
              <a:rPr lang="en-US" dirty="0"/>
              <a:t>Web technologies:</a:t>
            </a:r>
          </a:p>
          <a:p>
            <a:pPr lvl="1"/>
            <a:r>
              <a:rPr lang="en-US" dirty="0"/>
              <a:t>Illustrate issues related to web technologies as a semi-structured data representation formalism (focused on in weeks 8 and 9)</a:t>
            </a:r>
          </a:p>
          <a:p>
            <a:r>
              <a:rPr lang="en-US" dirty="0"/>
              <a:t>Data warehouses and data mining:</a:t>
            </a:r>
          </a:p>
          <a:p>
            <a:pPr lvl="1"/>
            <a:r>
              <a:rPr lang="en-US" dirty="0"/>
              <a:t>Interpret the main concepts and security aspects in data warehousing</a:t>
            </a:r>
          </a:p>
          <a:p>
            <a:pPr lvl="1"/>
            <a:r>
              <a:rPr lang="en-US" dirty="0"/>
              <a:t>Interpret the main concepts of data mining</a:t>
            </a:r>
          </a:p>
          <a:p>
            <a:pPr lvl="1"/>
            <a:r>
              <a:rPr lang="en-US" dirty="0"/>
              <a:t>Focused on in week 10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823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We Will Not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modelling of databases</a:t>
            </a:r>
          </a:p>
          <a:p>
            <a:r>
              <a:rPr lang="en-US" dirty="0"/>
              <a:t>No administration of DBMS</a:t>
            </a:r>
          </a:p>
          <a:p>
            <a:r>
              <a:rPr lang="en-US" dirty="0"/>
              <a:t>No implementation of database system components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51067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924944"/>
            <a:ext cx="8229600" cy="1143000"/>
          </a:xfrm>
        </p:spPr>
        <p:txBody>
          <a:bodyPr/>
          <a:lstStyle/>
          <a:p>
            <a:r>
              <a:rPr lang="en-US" dirty="0"/>
              <a:t>Some words on logistics</a:t>
            </a:r>
            <a:r>
              <a:rPr lang="mr-IN" dirty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569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Lectures &amp; Labs/Tutorials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20 “lectures” in total (week 1-10)</a:t>
            </a:r>
          </a:p>
          <a:p>
            <a:r>
              <a:rPr lang="en-US" dirty="0"/>
              <a:t>10 weeks of labs</a:t>
            </a:r>
          </a:p>
          <a:p>
            <a:pPr lvl="1"/>
            <a:r>
              <a:rPr lang="en-US" dirty="0"/>
              <a:t>All are on Fridays</a:t>
            </a:r>
          </a:p>
          <a:p>
            <a:pPr lvl="1"/>
            <a:r>
              <a:rPr lang="en-US" dirty="0"/>
              <a:t>They start </a:t>
            </a:r>
            <a:r>
              <a:rPr lang="en-US" b="1" i="1" dirty="0"/>
              <a:t>this</a:t>
            </a:r>
            <a:r>
              <a:rPr lang="en-US" dirty="0"/>
              <a:t> week! </a:t>
            </a:r>
          </a:p>
          <a:p>
            <a:pPr lvl="1"/>
            <a:r>
              <a:rPr lang="en-US" dirty="0"/>
              <a:t>Each week, you have 1 lab hour</a:t>
            </a:r>
          </a:p>
          <a:p>
            <a:pPr lvl="1"/>
            <a:r>
              <a:rPr lang="en-US" dirty="0"/>
              <a:t>You should be assigned to one of the lab sessions </a:t>
            </a:r>
          </a:p>
          <a:p>
            <a:pPr lvl="1"/>
            <a:r>
              <a:rPr lang="en-US" i="1" dirty="0"/>
              <a:t>If not: let me know as soon as possible</a:t>
            </a:r>
          </a:p>
        </p:txBody>
      </p:sp>
    </p:spTree>
    <p:extLst>
      <p:ext uri="{BB962C8B-B14F-4D97-AF65-F5344CB8AC3E}">
        <p14:creationId xmlns:p14="http://schemas.microsoft.com/office/powerpoint/2010/main" val="170554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E426C-DCF6-CC5C-3138-86AD8225B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Format for lectures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DE2D3-0207-021E-A008-538CB51FB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T" dirty="0"/>
              <a:t>Each week we have 2 lectures</a:t>
            </a:r>
          </a:p>
          <a:p>
            <a:r>
              <a:rPr lang="en-AT" dirty="0"/>
              <a:t>The lectures will focus on examples: You </a:t>
            </a:r>
            <a:r>
              <a:rPr lang="en-AT" b="1" dirty="0">
                <a:solidFill>
                  <a:srgbClr val="FF0000"/>
                </a:solidFill>
              </a:rPr>
              <a:t>NEED</a:t>
            </a:r>
            <a:r>
              <a:rPr lang="en-AT" dirty="0"/>
              <a:t> to watch the online videos for definitions and similar before the </a:t>
            </a:r>
            <a:r>
              <a:rPr lang="en-GB" dirty="0"/>
              <a:t>Wednesday</a:t>
            </a:r>
            <a:r>
              <a:rPr lang="en-AT" dirty="0"/>
              <a:t> lecture</a:t>
            </a:r>
            <a:r>
              <a:rPr lang="en-GB" dirty="0"/>
              <a:t> currently</a:t>
            </a:r>
            <a:endParaRPr lang="en-AT" dirty="0"/>
          </a:p>
          <a:p>
            <a:pPr lvl="1"/>
            <a:r>
              <a:rPr lang="en-AT" dirty="0"/>
              <a:t>Exception: The first two weeks focus on SQL and should be possible to follow without the videos</a:t>
            </a:r>
          </a:p>
          <a:p>
            <a:pPr lvl="2"/>
            <a:r>
              <a:rPr lang="en-AT" dirty="0"/>
              <a:t>If you struggle (with or) without watching let me know</a:t>
            </a:r>
          </a:p>
          <a:p>
            <a:pPr lvl="1"/>
            <a:r>
              <a:rPr lang="en-AT" dirty="0"/>
              <a:t>From week 3 onwards, I very much expect that </a:t>
            </a:r>
            <a:r>
              <a:rPr lang="en-AT" b="1" dirty="0">
                <a:solidFill>
                  <a:srgbClr val="FF0000"/>
                </a:solidFill>
              </a:rPr>
              <a:t>you won’t be able to follow the lectures if you did not watch the videos</a:t>
            </a:r>
          </a:p>
          <a:p>
            <a:pPr lvl="2"/>
            <a:r>
              <a:rPr lang="en-AT" dirty="0"/>
              <a:t>If you struggle while watching, do let me know</a:t>
            </a:r>
          </a:p>
          <a:p>
            <a:pPr lvl="2"/>
            <a:r>
              <a:rPr lang="en-AT" dirty="0"/>
              <a:t>If you do manage without the videos and no prior knowledge on the subject, do let me know, because I would be impressed</a:t>
            </a:r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106016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Course page on Canvas:</a:t>
            </a:r>
          </a:p>
          <a:p>
            <a:pPr lvl="1"/>
            <a:r>
              <a:rPr lang="en-US" dirty="0"/>
              <a:t>Announcements, videos, slides, assessments, </a:t>
            </a:r>
            <a:br>
              <a:rPr lang="en-US" dirty="0"/>
            </a:br>
            <a:r>
              <a:rPr lang="en-US" dirty="0"/>
              <a:t>stream lectures, discussion board, etc. </a:t>
            </a:r>
          </a:p>
          <a:p>
            <a:pPr lvl="1"/>
            <a:r>
              <a:rPr lang="en-US" i="1" dirty="0"/>
              <a:t>Let me know if you don’t have access</a:t>
            </a:r>
          </a:p>
          <a:p>
            <a:r>
              <a:rPr lang="en-US" dirty="0"/>
              <a:t>Textbooks (any is fine):</a:t>
            </a:r>
          </a:p>
          <a:p>
            <a:pPr lvl="1"/>
            <a:r>
              <a:rPr lang="en-GB" dirty="0"/>
              <a:t>Garcia-Molina, Ullman and </a:t>
            </a:r>
            <a:r>
              <a:rPr lang="en-GB" dirty="0" err="1"/>
              <a:t>Widom</a:t>
            </a:r>
            <a:r>
              <a:rPr lang="en-GB" dirty="0"/>
              <a:t>: </a:t>
            </a:r>
            <a:br>
              <a:rPr lang="en-GB" dirty="0"/>
            </a:br>
            <a:r>
              <a:rPr lang="en-GB" i="1" dirty="0"/>
              <a:t>Database Systems </a:t>
            </a:r>
            <a:r>
              <a:rPr lang="mr-IN" i="1" dirty="0"/>
              <a:t>–</a:t>
            </a:r>
            <a:r>
              <a:rPr lang="en-GB" i="1" dirty="0"/>
              <a:t> The Complete Book</a:t>
            </a:r>
            <a:r>
              <a:rPr lang="en-GB" dirty="0"/>
              <a:t>, </a:t>
            </a:r>
            <a:br>
              <a:rPr lang="en-GB" dirty="0"/>
            </a:br>
            <a:r>
              <a:rPr lang="en-GB" dirty="0"/>
              <a:t>Pearson Education</a:t>
            </a:r>
          </a:p>
          <a:p>
            <a:pPr lvl="2"/>
            <a:r>
              <a:rPr lang="en-GB" dirty="0"/>
              <a:t>Free e-book</a:t>
            </a:r>
          </a:p>
          <a:p>
            <a:pPr lvl="1"/>
            <a:r>
              <a:rPr lang="en-GB" dirty="0" err="1"/>
              <a:t>Elmasri</a:t>
            </a:r>
            <a:r>
              <a:rPr lang="en-GB" dirty="0"/>
              <a:t> and </a:t>
            </a:r>
            <a:r>
              <a:rPr lang="en-GB" dirty="0" err="1"/>
              <a:t>Navathe</a:t>
            </a:r>
            <a:r>
              <a:rPr lang="en-GB" dirty="0"/>
              <a:t>: </a:t>
            </a:r>
            <a:r>
              <a:rPr lang="en-GB" i="1" dirty="0"/>
              <a:t>Fundamentals of </a:t>
            </a:r>
            <a:br>
              <a:rPr lang="en-GB" i="1" dirty="0"/>
            </a:br>
            <a:r>
              <a:rPr lang="en-GB" i="1" dirty="0"/>
              <a:t>Database Systems</a:t>
            </a:r>
            <a:r>
              <a:rPr lang="en-GB" dirty="0"/>
              <a:t>, Pearson Education</a:t>
            </a:r>
          </a:p>
          <a:p>
            <a:pPr lvl="2"/>
            <a:r>
              <a:rPr lang="en-GB" dirty="0"/>
              <a:t>Also free e-book, but that might be removed</a:t>
            </a:r>
          </a:p>
          <a:p>
            <a:pPr lvl="1"/>
            <a:r>
              <a:rPr lang="en-GB" dirty="0"/>
              <a:t>Connolly and </a:t>
            </a:r>
            <a:r>
              <a:rPr lang="en-GB" dirty="0" err="1"/>
              <a:t>Begg</a:t>
            </a:r>
            <a:r>
              <a:rPr lang="en-GB" dirty="0"/>
              <a:t>: </a:t>
            </a:r>
            <a:r>
              <a:rPr lang="en-GB" i="1" dirty="0"/>
              <a:t>Database Systems</a:t>
            </a:r>
            <a:r>
              <a:rPr lang="en-GB" dirty="0"/>
              <a:t>, Addison Wesley</a:t>
            </a:r>
            <a:endParaRPr lang="en-US" dirty="0"/>
          </a:p>
          <a:p>
            <a:r>
              <a:rPr lang="en-US" dirty="0"/>
              <a:t>Your own notes + the web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285" y="1340769"/>
            <a:ext cx="2273196" cy="281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19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exam is 60% of your grade</a:t>
            </a:r>
          </a:p>
          <a:p>
            <a:r>
              <a:rPr lang="en-US" dirty="0"/>
              <a:t>It has 30 MCQs </a:t>
            </a:r>
          </a:p>
          <a:p>
            <a:r>
              <a:rPr lang="en-US" dirty="0"/>
              <a:t>Each MCQ has:</a:t>
            </a:r>
          </a:p>
          <a:p>
            <a:pPr lvl="1"/>
            <a:r>
              <a:rPr lang="en-US" dirty="0"/>
              <a:t>5 options and you pick one</a:t>
            </a:r>
          </a:p>
          <a:p>
            <a:pPr lvl="1"/>
            <a:r>
              <a:rPr lang="en-US" dirty="0"/>
              <a:t>One is correct</a:t>
            </a:r>
          </a:p>
          <a:p>
            <a:pPr lvl="1"/>
            <a:r>
              <a:rPr lang="en-US" dirty="0"/>
              <a:t>Each correct answer gives 1 point (i.e. 2% of the final grade), and each wrong answer 0 point</a:t>
            </a:r>
          </a:p>
          <a:p>
            <a:r>
              <a:rPr lang="en-US" dirty="0"/>
              <a:t>You will get more information about it in the last lecture and get some mock exams and similar towards the end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68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F051-E1E1-5FCE-8064-D11366866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2E9B5-1229-7AB9-677E-E1C4E5612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Which of the following is not an example of a NoSQL database?</a:t>
            </a:r>
          </a:p>
          <a:p>
            <a:pPr lvl="1"/>
            <a:r>
              <a:rPr lang="en-GB" dirty="0"/>
              <a:t>Relational database</a:t>
            </a:r>
          </a:p>
          <a:p>
            <a:pPr lvl="1"/>
            <a:r>
              <a:rPr lang="en-GB" dirty="0"/>
              <a:t>Semi-structured database</a:t>
            </a:r>
          </a:p>
          <a:p>
            <a:pPr lvl="1"/>
            <a:r>
              <a:rPr lang="en-GB" dirty="0"/>
              <a:t>Key-value stores</a:t>
            </a:r>
          </a:p>
          <a:p>
            <a:pPr lvl="1"/>
            <a:r>
              <a:rPr lang="en-GB" dirty="0"/>
              <a:t>Graph databases</a:t>
            </a:r>
          </a:p>
          <a:p>
            <a:pPr lvl="1"/>
            <a:r>
              <a:rPr lang="en-GB" dirty="0"/>
              <a:t>All the above are examples of </a:t>
            </a:r>
            <a:br>
              <a:rPr lang="en-GB" dirty="0"/>
            </a:br>
            <a:r>
              <a:rPr lang="en-GB" dirty="0"/>
              <a:t>NoSQL databases</a:t>
            </a:r>
          </a:p>
        </p:txBody>
      </p:sp>
      <p:pic>
        <p:nvPicPr>
          <p:cNvPr id="8" name="Picture 7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AB8CCC71-51CC-0F45-92D5-70C9AE746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2063180"/>
            <a:ext cx="2818656" cy="2857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0E1907-1FA5-7098-D18B-C8AAA621CA06}"/>
              </a:ext>
            </a:extLst>
          </p:cNvPr>
          <p:cNvSpPr txBox="1"/>
          <p:nvPr/>
        </p:nvSpPr>
        <p:spPr>
          <a:xfrm>
            <a:off x="5413047" y="4901985"/>
            <a:ext cx="2870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3"/>
              </a:rPr>
              <a:t>PollEv.com​/</a:t>
            </a:r>
            <a:r>
              <a:rPr lang="en-GB" dirty="0" err="1">
                <a:hlinkClick r:id="rId3"/>
              </a:rPr>
              <a:t>databasedevelop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71590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8244408" cy="5257800"/>
          </a:xfrm>
        </p:spPr>
        <p:txBody>
          <a:bodyPr>
            <a:normAutofit/>
          </a:bodyPr>
          <a:lstStyle/>
          <a:p>
            <a:r>
              <a:rPr lang="en-US" dirty="0"/>
              <a:t>There will be a 25% main, practical assessment in SQL with the deadline </a:t>
            </a:r>
            <a:br>
              <a:rPr lang="en-US" dirty="0"/>
            </a:br>
            <a:r>
              <a:rPr lang="en-US" dirty="0"/>
              <a:t>	Thursday the 13</a:t>
            </a:r>
            <a:r>
              <a:rPr lang="en-US" baseline="30000" dirty="0"/>
              <a:t>th</a:t>
            </a:r>
            <a:r>
              <a:rPr lang="en-US" dirty="0"/>
              <a:t> of </a:t>
            </a:r>
            <a:r>
              <a:rPr lang="en-US" b="1" dirty="0"/>
              <a:t>November</a:t>
            </a:r>
            <a:r>
              <a:rPr lang="en-US" dirty="0"/>
              <a:t> at 17:00</a:t>
            </a:r>
          </a:p>
          <a:p>
            <a:r>
              <a:rPr lang="en-US" dirty="0"/>
              <a:t>Will discuss this main assessment the week after next</a:t>
            </a:r>
          </a:p>
          <a:p>
            <a:r>
              <a:rPr lang="en-US" dirty="0"/>
              <a:t>It will be about a supermarket though</a:t>
            </a:r>
          </a:p>
        </p:txBody>
      </p:sp>
    </p:spTree>
    <p:extLst>
      <p:ext uri="{BB962C8B-B14F-4D97-AF65-F5344CB8AC3E}">
        <p14:creationId xmlns:p14="http://schemas.microsoft.com/office/powerpoint/2010/main" val="1361672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Weekly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00200"/>
            <a:ext cx="7897688" cy="4800600"/>
          </a:xfrm>
        </p:spPr>
        <p:txBody>
          <a:bodyPr>
            <a:normAutofit/>
          </a:bodyPr>
          <a:lstStyle/>
          <a:p>
            <a:r>
              <a:rPr lang="en-US" dirty="0"/>
              <a:t>There will be a weekly assessment, one for each of the 10 weeks</a:t>
            </a:r>
          </a:p>
          <a:p>
            <a:pPr lvl="1"/>
            <a:r>
              <a:rPr lang="en-US" dirty="0"/>
              <a:t>Each will have 3 MCQs similar to the exam</a:t>
            </a:r>
          </a:p>
          <a:p>
            <a:pPr lvl="1"/>
            <a:r>
              <a:rPr lang="en-US" dirty="0"/>
              <a:t>Each will give 1.5% and you will have 30 mins to do it once started (i.e. each question gives 0.5%)</a:t>
            </a:r>
          </a:p>
          <a:p>
            <a:pPr lvl="1"/>
            <a:r>
              <a:rPr lang="en-US" dirty="0"/>
              <a:t>They are based on the lectures, labs and quizzes associated with the corresponding week</a:t>
            </a:r>
          </a:p>
          <a:p>
            <a:pPr lvl="1"/>
            <a:r>
              <a:rPr lang="en-US" dirty="0"/>
              <a:t>They run from Monday at 17:00 until Monday at 17:00 the week after</a:t>
            </a:r>
          </a:p>
          <a:p>
            <a:pPr lvl="1"/>
            <a:r>
              <a:rPr lang="en-US" dirty="0"/>
              <a:t>I.e. there is one with a deadline next Monday!</a:t>
            </a:r>
          </a:p>
        </p:txBody>
      </p:sp>
    </p:spTree>
    <p:extLst>
      <p:ext uri="{BB962C8B-B14F-4D97-AF65-F5344CB8AC3E}">
        <p14:creationId xmlns:p14="http://schemas.microsoft.com/office/powerpoint/2010/main" val="16982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Weekly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Each week (running Friday to Friday), there will be a survey, asking the following questions:</a:t>
            </a:r>
          </a:p>
          <a:p>
            <a:pPr lvl="1"/>
            <a:r>
              <a:rPr lang="en-US" dirty="0"/>
              <a:t>Can you list 1-3 things that worked particularly well this week in the course (and come with feedback explaining why you liked that if possible)? </a:t>
            </a:r>
          </a:p>
          <a:p>
            <a:pPr lvl="1"/>
            <a:r>
              <a:rPr lang="en-US" dirty="0"/>
              <a:t>Can you list things that did not work well during this week in the course (1-3, but if there are more, please list those as well) - preferably with some explanation if it is not self-evident. </a:t>
            </a:r>
          </a:p>
          <a:p>
            <a:r>
              <a:rPr lang="en-US" dirty="0"/>
              <a:t>Each Tuesday, I will go over the survey from the previous week, during the lecture, and explain how I will address the issues raised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35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 systems</a:t>
            </a:r>
          </a:p>
          <a:p>
            <a:pPr lvl="1"/>
            <a:r>
              <a:rPr lang="en-US" dirty="0"/>
              <a:t>Success story</a:t>
            </a:r>
            <a:r>
              <a:rPr lang="mr-IN" dirty="0"/>
              <a:t>…</a:t>
            </a:r>
            <a:endParaRPr lang="en-GB" dirty="0"/>
          </a:p>
          <a:p>
            <a:r>
              <a:rPr lang="en-GB" dirty="0"/>
              <a:t>Understanding how they work is important</a:t>
            </a:r>
          </a:p>
          <a:p>
            <a:pPr lvl="1"/>
            <a:r>
              <a:rPr lang="en-GB" dirty="0"/>
              <a:t>For practitioners and researchers alike</a:t>
            </a:r>
          </a:p>
          <a:p>
            <a:pPr lvl="1"/>
            <a:r>
              <a:rPr lang="en-US" dirty="0"/>
              <a:t>This is what this course is about</a:t>
            </a:r>
          </a:p>
        </p:txBody>
      </p:sp>
    </p:spTree>
    <p:extLst>
      <p:ext uri="{BB962C8B-B14F-4D97-AF65-F5344CB8AC3E}">
        <p14:creationId xmlns:p14="http://schemas.microsoft.com/office/powerpoint/2010/main" val="21091335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2|5.2|47|2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6|8.1|7.2|4.5|15.1|9|11.1|4.1|15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3|12.1|3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4.3|2.4|8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1|34|3.9|14.6|15.2|3.4|5.4|3.2|8.6|10.1|11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6|22.7|19.1|20.4|13.6|30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2|32.9|36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|17.5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ST theme powerpoint">
  <a:themeElements>
    <a:clrScheme name="Custom 8">
      <a:dk1>
        <a:srgbClr val="374C22"/>
      </a:dk1>
      <a:lt1>
        <a:sysClr val="window" lastClr="FFFFFF"/>
      </a:lt1>
      <a:dk2>
        <a:srgbClr val="194431"/>
      </a:dk2>
      <a:lt2>
        <a:srgbClr val="F0E6C3"/>
      </a:lt2>
      <a:accent1>
        <a:srgbClr val="F8C000"/>
      </a:accent1>
      <a:accent2>
        <a:srgbClr val="F88600"/>
      </a:accent2>
      <a:accent3>
        <a:srgbClr val="F83500"/>
      </a:accent3>
      <a:accent4>
        <a:srgbClr val="8B723D"/>
      </a:accent4>
      <a:accent5>
        <a:srgbClr val="818B3D"/>
      </a:accent5>
      <a:accent6>
        <a:srgbClr val="586215"/>
      </a:accent6>
      <a:hlink>
        <a:srgbClr val="FF621D"/>
      </a:hlink>
      <a:folHlink>
        <a:srgbClr val="F3D260"/>
      </a:folHlink>
    </a:clrScheme>
    <a:fontScheme name="Adjacency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spDef>
      <a:spPr>
        <a:ln w="63500">
          <a:tailEnd type="triangle"/>
        </a:ln>
      </a:spPr>
      <a:bodyPr rtlCol="0" anchor="ctr"/>
      <a:lstStyle>
        <a:defPPr algn="ctr">
          <a:defRPr/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>
        <a:ln w="63500"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39019</TotalTime>
  <Words>1907</Words>
  <Application>Microsoft Office PowerPoint</Application>
  <PresentationFormat>On-screen Show (4:3)</PresentationFormat>
  <Paragraphs>314</Paragraphs>
  <Slides>36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Cambria</vt:lpstr>
      <vt:lpstr>Courier New</vt:lpstr>
      <vt:lpstr>2_Office Theme</vt:lpstr>
      <vt:lpstr>IST theme powerpoint</vt:lpstr>
      <vt:lpstr>COMP207</vt:lpstr>
      <vt:lpstr>What is this course all about?</vt:lpstr>
      <vt:lpstr>Questions?</vt:lpstr>
      <vt:lpstr>Attendance monitoring</vt:lpstr>
      <vt:lpstr>EvaSys from last year</vt:lpstr>
      <vt:lpstr>Databases are everywhere</vt:lpstr>
      <vt:lpstr>… and are valuable</vt:lpstr>
      <vt:lpstr>Databases Drives the Web</vt:lpstr>
      <vt:lpstr>Databases Drives the Web</vt:lpstr>
      <vt:lpstr>Databases Drives the Web</vt:lpstr>
      <vt:lpstr>Databases Drives the Web</vt:lpstr>
      <vt:lpstr>Databases Drives Businesses</vt:lpstr>
      <vt:lpstr>Databases in Science &amp;  Public Service</vt:lpstr>
      <vt:lpstr>Early Data Management</vt:lpstr>
      <vt:lpstr>Relational Databases to the Rescue…</vt:lpstr>
      <vt:lpstr>Relational Model</vt:lpstr>
      <vt:lpstr>Relational DBMS are one of the biggest success stories in computer science.</vt:lpstr>
      <vt:lpstr>NHS example</vt:lpstr>
      <vt:lpstr>University of Liverpool example</vt:lpstr>
      <vt:lpstr>Horizon/Post office scandal</vt:lpstr>
      <vt:lpstr>Course overview</vt:lpstr>
      <vt:lpstr>Basics of SQL and the relational model</vt:lpstr>
      <vt:lpstr>Relational DBMS Components  (Simplified)</vt:lpstr>
      <vt:lpstr>Beyond Plain Relational DBMS</vt:lpstr>
      <vt:lpstr>What you should be able to do at the end (Learning Outcomes)</vt:lpstr>
      <vt:lpstr>Topics We Will Not Cover</vt:lpstr>
      <vt:lpstr>Some words on logistics…</vt:lpstr>
      <vt:lpstr>Lectures &amp; Labs/Tutorials</vt:lpstr>
      <vt:lpstr>Format for lectures</vt:lpstr>
      <vt:lpstr>Resources</vt:lpstr>
      <vt:lpstr>Exam</vt:lpstr>
      <vt:lpstr>Example question</vt:lpstr>
      <vt:lpstr>Main assessment</vt:lpstr>
      <vt:lpstr>Weekly assessment</vt:lpstr>
      <vt:lpstr>Weekly survey</vt:lpstr>
      <vt:lpstr>Summary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COMP207 Database Development</dc:title>
  <dc:creator>CSC</dc:creator>
  <cp:lastModifiedBy>Rasmus Ibsen-Jensen</cp:lastModifiedBy>
  <cp:revision>572</cp:revision>
  <cp:lastPrinted>2022-09-26T14:05:05Z</cp:lastPrinted>
  <dcterms:created xsi:type="dcterms:W3CDTF">2012-09-18T13:35:09Z</dcterms:created>
  <dcterms:modified xsi:type="dcterms:W3CDTF">2025-09-21T18:23:17Z</dcterms:modified>
</cp:coreProperties>
</file>