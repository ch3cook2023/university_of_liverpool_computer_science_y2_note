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487" r:id="rId6"/>
    <p:sldId id="479" r:id="rId7"/>
    <p:sldId id="480" r:id="rId8"/>
    <p:sldId id="439" r:id="rId9"/>
    <p:sldId id="481" r:id="rId10"/>
    <p:sldId id="482" r:id="rId11"/>
    <p:sldId id="488" r:id="rId12"/>
    <p:sldId id="484" r:id="rId13"/>
    <p:sldId id="485" r:id="rId14"/>
    <p:sldId id="446" r:id="rId15"/>
    <p:sldId id="489" r:id="rId16"/>
    <p:sldId id="448" r:id="rId17"/>
    <p:sldId id="449" r:id="rId18"/>
    <p:sldId id="453" r:id="rId19"/>
    <p:sldId id="490" r:id="rId20"/>
    <p:sldId id="461" r:id="rId21"/>
    <p:sldId id="463" r:id="rId22"/>
    <p:sldId id="465" r:id="rId23"/>
    <p:sldId id="466" r:id="rId24"/>
    <p:sldId id="468" r:id="rId25"/>
    <p:sldId id="469" r:id="rId26"/>
    <p:sldId id="470" r:id="rId27"/>
    <p:sldId id="49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5E08A2-5F89-44B3-9AC3-DF8C54973471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A87D2-086E-42D5-81EE-4873AC2FA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0343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40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56540-901A-43B7-B432-AB38A66D7A36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F14B-A99A-4B94-AD5F-8310868AF31C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108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56540-901A-43B7-B432-AB38A66D7A36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F14B-A99A-4B94-AD5F-8310868AF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126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56540-901A-43B7-B432-AB38A66D7A36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F14B-A99A-4B94-AD5F-8310868AF31C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662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56540-901A-43B7-B432-AB38A66D7A36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F14B-A99A-4B94-AD5F-8310868AF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23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56540-901A-43B7-B432-AB38A66D7A36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F14B-A99A-4B94-AD5F-8310868AF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50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56540-901A-43B7-B432-AB38A66D7A36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F14B-A99A-4B94-AD5F-8310868AF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210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56540-901A-43B7-B432-AB38A66D7A36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F14B-A99A-4B94-AD5F-8310868AF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02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1C56540-901A-43B7-B432-AB38A66D7A36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9F14B-A99A-4B94-AD5F-8310868AF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487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56540-901A-43B7-B432-AB38A66D7A36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F14B-A99A-4B94-AD5F-8310868AF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659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56540-901A-43B7-B432-AB38A66D7A36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F14B-A99A-4B94-AD5F-8310868AF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64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56540-901A-43B7-B432-AB38A66D7A36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9F14B-A99A-4B94-AD5F-8310868AF3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7579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1C56540-901A-43B7-B432-AB38A66D7A36}" type="datetimeFigureOut">
              <a:rPr lang="en-GB" smtClean="0"/>
              <a:t>24/11/2020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E69F14B-A99A-4B94-AD5F-8310868AF31C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846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.tif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E3195-D245-43C5-8DE1-37312C9BE9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Transaction management in DDBMS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C3354-A7A1-4153-B59E-B8A3D573E5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667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3D81-62F9-4C03-9490-B5545ADCE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8C986-85ED-4937-88BD-4328BF329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databases creates new issues for transaction management</a:t>
            </a:r>
          </a:p>
          <a:p>
            <a:r>
              <a:rPr lang="en-US" dirty="0"/>
              <a:t>In this video we see what some of them are and ways to deal with these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FE139-3EB9-4448-9913-C932D503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1819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E99E-FFD6-4F36-8DF7-60D49824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control in DDBMS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89314-9825-4805-A42D-27622F5A5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full isolation/consistency, often based on locks:</a:t>
            </a:r>
          </a:p>
          <a:p>
            <a:endParaRPr lang="en-GB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10CE1B2-5F2D-4C0B-938B-5E5E75939B08}"/>
              </a:ext>
            </a:extLst>
          </p:cNvPr>
          <p:cNvCxnSpPr>
            <a:cxnSpLocks/>
          </p:cNvCxnSpPr>
          <p:nvPr/>
        </p:nvCxnSpPr>
        <p:spPr>
          <a:xfrm>
            <a:off x="3427580" y="5590997"/>
            <a:ext cx="8231759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04B5AAB-B117-4644-9F93-F3229A3D1256}"/>
              </a:ext>
            </a:extLst>
          </p:cNvPr>
          <p:cNvCxnSpPr>
            <a:cxnSpLocks/>
          </p:cNvCxnSpPr>
          <p:nvPr/>
        </p:nvCxnSpPr>
        <p:spPr>
          <a:xfrm flipV="1">
            <a:off x="3427580" y="2173357"/>
            <a:ext cx="0" cy="341764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1898034-FCFC-4C84-A366-33CB434C3C8F}"/>
              </a:ext>
            </a:extLst>
          </p:cNvPr>
          <p:cNvSpPr txBox="1"/>
          <p:nvPr/>
        </p:nvSpPr>
        <p:spPr>
          <a:xfrm>
            <a:off x="4518991" y="5608136"/>
            <a:ext cx="3847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Different authorities for different items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B78468-F442-44BC-BAA2-996A98E2EE9E}"/>
              </a:ext>
            </a:extLst>
          </p:cNvPr>
          <p:cNvSpPr txBox="1"/>
          <p:nvPr/>
        </p:nvSpPr>
        <p:spPr>
          <a:xfrm rot="16200000">
            <a:off x="2632786" y="3803529"/>
            <a:ext cx="951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Backups</a:t>
            </a:r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3CA10D-DDDA-4380-8679-3DAC127A897C}"/>
              </a:ext>
            </a:extLst>
          </p:cNvPr>
          <p:cNvCxnSpPr/>
          <p:nvPr/>
        </p:nvCxnSpPr>
        <p:spPr>
          <a:xfrm>
            <a:off x="6819856" y="2499188"/>
            <a:ext cx="0" cy="3129979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18530B-7216-42EF-9D8B-4133A21A7DD4}"/>
              </a:ext>
            </a:extLst>
          </p:cNvPr>
          <p:cNvCxnSpPr>
            <a:cxnSpLocks/>
          </p:cNvCxnSpPr>
          <p:nvPr/>
        </p:nvCxnSpPr>
        <p:spPr>
          <a:xfrm>
            <a:off x="3427580" y="3857414"/>
            <a:ext cx="7889777" cy="24764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92ED587-8167-4FAA-994B-082690DE3B3E}"/>
              </a:ext>
            </a:extLst>
          </p:cNvPr>
          <p:cNvSpPr txBox="1"/>
          <p:nvPr/>
        </p:nvSpPr>
        <p:spPr>
          <a:xfrm>
            <a:off x="3373150" y="3949858"/>
            <a:ext cx="320818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One computer does all </a:t>
            </a:r>
          </a:p>
          <a:p>
            <a:r>
              <a:rPr lang="en-US" sz="2500" dirty="0"/>
              <a:t>the locks...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A76AE8-7F77-441C-8A4D-365F60245B73}"/>
              </a:ext>
            </a:extLst>
          </p:cNvPr>
          <p:cNvSpPr txBox="1"/>
          <p:nvPr/>
        </p:nvSpPr>
        <p:spPr>
          <a:xfrm>
            <a:off x="3406742" y="2595927"/>
            <a:ext cx="3413114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There are backups</a:t>
            </a:r>
          </a:p>
          <a:p>
            <a:r>
              <a:rPr lang="en-US" sz="2500" dirty="0"/>
              <a:t>if primary fails</a:t>
            </a:r>
            <a:r>
              <a:rPr lang="en-GB" sz="2500" dirty="0"/>
              <a:t> </a:t>
            </a:r>
          </a:p>
          <a:p>
            <a:r>
              <a:rPr lang="en-GB" sz="2500" dirty="0"/>
              <a:t>(minus: must be </a:t>
            </a:r>
            <a:r>
              <a:rPr lang="en-GB" sz="2500" dirty="0" err="1"/>
              <a:t>sync’ed</a:t>
            </a:r>
            <a:r>
              <a:rPr lang="en-GB" sz="2500" dirty="0"/>
              <a:t>)</a:t>
            </a:r>
            <a:endParaRPr lang="en-US" sz="25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DAFF91-F4CF-4C66-BB93-A4CBA6A589AD}"/>
              </a:ext>
            </a:extLst>
          </p:cNvPr>
          <p:cNvSpPr txBox="1"/>
          <p:nvPr/>
        </p:nvSpPr>
        <p:spPr>
          <a:xfrm>
            <a:off x="6848150" y="4081794"/>
            <a:ext cx="4811189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Database items can have different </a:t>
            </a:r>
          </a:p>
          <a:p>
            <a:r>
              <a:rPr lang="en-US" sz="2500" dirty="0"/>
              <a:t>computers in charge of their locks</a:t>
            </a:r>
            <a:endParaRPr lang="en-GB" sz="2500" dirty="0"/>
          </a:p>
          <a:p>
            <a:r>
              <a:rPr lang="en-GB" sz="2500" dirty="0"/>
              <a:t>(minus: must figure out who to ask)</a:t>
            </a:r>
            <a:endParaRPr lang="en-US" sz="25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1D0B85-D661-42B1-B520-AB2E0CD857B7}"/>
              </a:ext>
            </a:extLst>
          </p:cNvPr>
          <p:cNvSpPr txBox="1"/>
          <p:nvPr/>
        </p:nvSpPr>
        <p:spPr>
          <a:xfrm>
            <a:off x="6933342" y="2472338"/>
            <a:ext cx="418935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Also possible – gets the pluses </a:t>
            </a:r>
          </a:p>
          <a:p>
            <a:r>
              <a:rPr lang="en-US" sz="2500" dirty="0"/>
              <a:t>and minuses from the parts</a:t>
            </a:r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97A4723C-6A83-4A5D-BF51-1EB34DAE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2D2A7F-8500-4776-AD76-62CC4CFE0C82}"/>
              </a:ext>
            </a:extLst>
          </p:cNvPr>
          <p:cNvSpPr txBox="1"/>
          <p:nvPr/>
        </p:nvSpPr>
        <p:spPr>
          <a:xfrm>
            <a:off x="3362264" y="4708695"/>
            <a:ext cx="61068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/>
              <a:t>(minus: 1. </a:t>
            </a:r>
            <a:r>
              <a:rPr lang="en-US" sz="2500" dirty="0" err="1"/>
              <a:t>failure→restart</a:t>
            </a:r>
            <a:endParaRPr lang="en-US" sz="2500" dirty="0"/>
          </a:p>
          <a:p>
            <a:r>
              <a:rPr lang="en-US" sz="2500" dirty="0"/>
              <a:t>2. too many </a:t>
            </a:r>
            <a:r>
              <a:rPr lang="en-US" sz="2500" dirty="0" err="1"/>
              <a:t>transacitons</a:t>
            </a:r>
            <a:r>
              <a:rPr lang="en-US" sz="2500" dirty="0"/>
              <a:t>)</a:t>
            </a:r>
            <a:endParaRPr lang="en-GB" sz="25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9398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8" grpId="0"/>
      <p:bldP spid="20" grpId="0"/>
      <p:bldP spid="21" grpId="0"/>
      <p:bldP spid="24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E99E-FFD6-4F36-8DF7-60D49824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Concurrency control based on voting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89314-9825-4805-A42D-27622F5A5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approach to locks (instead of having a single designated computer granting them):</a:t>
            </a:r>
            <a:endParaRPr lang="en-GB" dirty="0"/>
          </a:p>
          <a:p>
            <a:pPr algn="ctr"/>
            <a:r>
              <a:rPr lang="en-GB" sz="4000" dirty="0"/>
              <a:t>Voting!</a:t>
            </a:r>
          </a:p>
          <a:p>
            <a:r>
              <a:rPr lang="en-US" dirty="0"/>
              <a:t>Idea: </a:t>
            </a:r>
          </a:p>
          <a:p>
            <a:pPr lvl="1"/>
            <a:r>
              <a:rPr lang="en-US" sz="2000" dirty="0"/>
              <a:t>Each site with a copy of an item has a local lock that it can grant transactions for that item</a:t>
            </a:r>
          </a:p>
          <a:p>
            <a:pPr lvl="1"/>
            <a:r>
              <a:rPr lang="en-US" sz="2000" dirty="0"/>
              <a:t>If a transaction gets over half the local locks for an item, it has a global lock on the item</a:t>
            </a:r>
          </a:p>
          <a:p>
            <a:pPr lvl="2"/>
            <a:r>
              <a:rPr lang="en-US" sz="2000" dirty="0"/>
              <a:t>If so, it must tell the sites with a copy that it has the lock</a:t>
            </a:r>
          </a:p>
          <a:p>
            <a:pPr lvl="2"/>
            <a:r>
              <a:rPr lang="en-US" sz="2000" dirty="0"/>
              <a:t>If it takes too long, it must stop trying to get the lock</a:t>
            </a:r>
          </a:p>
          <a:p>
            <a:pPr lvl="1"/>
            <a:r>
              <a:rPr lang="en-US" sz="2000" dirty="0"/>
              <a:t>Plus: Much more distributed than the non-voting approach</a:t>
            </a:r>
          </a:p>
          <a:p>
            <a:pPr lvl="1"/>
            <a:r>
              <a:rPr lang="en-US" sz="2000" dirty="0"/>
              <a:t>Minus: Requires more communication</a:t>
            </a:r>
          </a:p>
          <a:p>
            <a:endParaRPr lang="en-GB" dirty="0"/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97A4723C-6A83-4A5D-BF51-1EB34DAE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441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E045880-4D4E-4938-B04B-E6DD5543E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7D16E140-66C3-4CE7-BE87-824799456640}"/>
              </a:ext>
            </a:extLst>
          </p:cNvPr>
          <p:cNvSpPr txBox="1">
            <a:spLocks/>
          </p:cNvSpPr>
          <p:nvPr/>
        </p:nvSpPr>
        <p:spPr>
          <a:xfrm>
            <a:off x="914400" y="2564905"/>
            <a:ext cx="10363200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Recovery in DDBMS</a:t>
            </a:r>
            <a:endParaRPr lang="en-GB" sz="4800" b="1" dirty="0"/>
          </a:p>
        </p:txBody>
      </p:sp>
    </p:spTree>
    <p:extLst>
      <p:ext uri="{BB962C8B-B14F-4D97-AF65-F5344CB8AC3E}">
        <p14:creationId xmlns:p14="http://schemas.microsoft.com/office/powerpoint/2010/main" val="922806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Transactions in Distributed Databases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5208209"/>
          </a:xfrm>
        </p:spPr>
        <p:txBody>
          <a:bodyPr>
            <a:normAutofit/>
          </a:bodyPr>
          <a:lstStyle/>
          <a:p>
            <a:r>
              <a:rPr lang="en-US" sz="2400" dirty="0"/>
              <a:t>Let’s revisit our </a:t>
            </a:r>
            <a:r>
              <a:rPr lang="en-US" sz="2400" dirty="0" err="1"/>
              <a:t>CS_Store</a:t>
            </a:r>
            <a:r>
              <a:rPr lang="en-US" sz="2400" dirty="0"/>
              <a:t> chain</a:t>
            </a:r>
            <a:r>
              <a:rPr lang="mr-IN" sz="2400" dirty="0"/>
              <a:t>…</a:t>
            </a:r>
            <a:endParaRPr lang="en-GB" sz="2400" dirty="0"/>
          </a:p>
          <a:p>
            <a:pPr>
              <a:spcBef>
                <a:spcPts val="2472"/>
              </a:spcBef>
            </a:pPr>
            <a:r>
              <a:rPr lang="en-GB" sz="2400" dirty="0"/>
              <a:t>At central office:</a:t>
            </a:r>
          </a:p>
          <a:p>
            <a:pPr lvl="1"/>
            <a:r>
              <a:rPr lang="en-GB" sz="2000" dirty="0"/>
              <a:t>Determine inventory for </a:t>
            </a:r>
            <a:br>
              <a:rPr lang="en-GB" sz="2000" dirty="0"/>
            </a:br>
            <a:r>
              <a:rPr lang="en-GB" sz="2000" dirty="0"/>
              <a:t>product X at each site</a:t>
            </a:r>
          </a:p>
          <a:p>
            <a:pPr lvl="1"/>
            <a:r>
              <a:rPr lang="en-GB" sz="2000" dirty="0"/>
              <a:t>Move product X between</a:t>
            </a:r>
            <a:br>
              <a:rPr lang="en-GB" sz="2000" dirty="0"/>
            </a:br>
            <a:r>
              <a:rPr lang="en-GB" sz="2000" dirty="0"/>
              <a:t>stores to balance inventory</a:t>
            </a:r>
          </a:p>
          <a:p>
            <a:pPr>
              <a:spcBef>
                <a:spcPts val="2472"/>
              </a:spcBef>
            </a:pPr>
            <a:r>
              <a:rPr lang="en-GB" sz="2400" b="1" dirty="0">
                <a:solidFill>
                  <a:schemeClr val="accent2"/>
                </a:solidFill>
              </a:rPr>
              <a:t>Global transaction T</a:t>
            </a:r>
            <a:endParaRPr lang="en-GB" sz="2400" dirty="0"/>
          </a:p>
          <a:p>
            <a:pPr lvl="1"/>
            <a:r>
              <a:rPr lang="en-GB" dirty="0"/>
              <a:t>Starts </a:t>
            </a:r>
            <a:r>
              <a:rPr lang="en-GB" b="1" dirty="0">
                <a:solidFill>
                  <a:schemeClr val="accent6"/>
                </a:solidFill>
              </a:rPr>
              <a:t>local transaction T</a:t>
            </a:r>
            <a:r>
              <a:rPr lang="en-GB" b="1" baseline="-25000" dirty="0">
                <a:solidFill>
                  <a:schemeClr val="accent6"/>
                </a:solidFill>
              </a:rPr>
              <a:t>0</a:t>
            </a:r>
            <a:r>
              <a:rPr lang="en-GB" dirty="0"/>
              <a:t> at central office</a:t>
            </a:r>
          </a:p>
          <a:p>
            <a:pPr lvl="1"/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0 </a:t>
            </a:r>
            <a:r>
              <a:rPr lang="en-GB" b="1" dirty="0">
                <a:solidFill>
                  <a:schemeClr val="accent6"/>
                </a:solidFill>
              </a:rPr>
              <a:t> </a:t>
            </a:r>
            <a:r>
              <a:rPr lang="en-GB" dirty="0"/>
              <a:t>instructs other sites to start </a:t>
            </a:r>
            <a:r>
              <a:rPr lang="en-GB" b="1" dirty="0">
                <a:solidFill>
                  <a:schemeClr val="accent6"/>
                </a:solidFill>
              </a:rPr>
              <a:t>local transactions T</a:t>
            </a:r>
            <a:r>
              <a:rPr lang="en-GB" b="1" baseline="-25000" dirty="0">
                <a:solidFill>
                  <a:schemeClr val="accent6"/>
                </a:solidFill>
              </a:rPr>
              <a:t>1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2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3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68FC60A-A007-44F4-B95E-BB917DF42F64}"/>
              </a:ext>
            </a:extLst>
          </p:cNvPr>
          <p:cNvCxnSpPr/>
          <p:nvPr/>
        </p:nvCxnSpPr>
        <p:spPr>
          <a:xfrm flipH="1" flipV="1">
            <a:off x="6991597" y="2938004"/>
            <a:ext cx="281562" cy="593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5060AE8-0756-40B5-A437-A14E74ED6A35}"/>
              </a:ext>
            </a:extLst>
          </p:cNvPr>
          <p:cNvCxnSpPr/>
          <p:nvPr/>
        </p:nvCxnSpPr>
        <p:spPr>
          <a:xfrm flipV="1">
            <a:off x="7690106" y="2623108"/>
            <a:ext cx="458763" cy="961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AFF1EE7-168D-4A3A-8277-C750BCB4A64B}"/>
              </a:ext>
            </a:extLst>
          </p:cNvPr>
          <p:cNvCxnSpPr/>
          <p:nvPr/>
        </p:nvCxnSpPr>
        <p:spPr>
          <a:xfrm flipV="1">
            <a:off x="7837575" y="3508654"/>
            <a:ext cx="824734" cy="246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69A07AF-6DCA-4DCF-BB00-66A72701FC3F}"/>
              </a:ext>
            </a:extLst>
          </p:cNvPr>
          <p:cNvSpPr/>
          <p:nvPr/>
        </p:nvSpPr>
        <p:spPr>
          <a:xfrm>
            <a:off x="6297253" y="2427957"/>
            <a:ext cx="1066180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Liverpool</a:t>
            </a:r>
            <a:endParaRPr lang="en-US" sz="16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4174BC-29FC-4885-BDE6-0C12311C34E5}"/>
              </a:ext>
            </a:extLst>
          </p:cNvPr>
          <p:cNvSpPr/>
          <p:nvPr/>
        </p:nvSpPr>
        <p:spPr>
          <a:xfrm>
            <a:off x="7718518" y="2137771"/>
            <a:ext cx="1346848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Manchester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2D74D51-D1E8-4F79-A6DC-3F237B57AAEF}"/>
              </a:ext>
            </a:extLst>
          </p:cNvPr>
          <p:cNvSpPr/>
          <p:nvPr/>
        </p:nvSpPr>
        <p:spPr>
          <a:xfrm>
            <a:off x="8700733" y="3310794"/>
            <a:ext cx="910890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London</a:t>
            </a:r>
          </a:p>
        </p:txBody>
      </p:sp>
      <p:pic>
        <p:nvPicPr>
          <p:cNvPr id="38" name="Picture 37" descr="A database">
            <a:extLst>
              <a:ext uri="{FF2B5EF4-FFF2-40B4-BE49-F238E27FC236}">
                <a16:creationId xmlns:a16="http://schemas.microsoft.com/office/drawing/2014/main" id="{4ACE2565-F0B1-4009-AB07-034B26F32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106" y="2006306"/>
            <a:ext cx="631034" cy="631034"/>
          </a:xfrm>
          <a:prstGeom prst="rect">
            <a:avLst/>
          </a:prstGeom>
        </p:spPr>
      </p:pic>
      <p:pic>
        <p:nvPicPr>
          <p:cNvPr id="39" name="Picture 38" descr="A database">
            <a:extLst>
              <a:ext uri="{FF2B5EF4-FFF2-40B4-BE49-F238E27FC236}">
                <a16:creationId xmlns:a16="http://schemas.microsoft.com/office/drawing/2014/main" id="{DAE91EFB-A7EC-4D21-9C5E-F05FE6C96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631" y="3179329"/>
            <a:ext cx="631034" cy="631034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1AB888B-C704-4A2D-AA05-B706C4D86F85}"/>
              </a:ext>
            </a:extLst>
          </p:cNvPr>
          <p:cNvCxnSpPr/>
          <p:nvPr/>
        </p:nvCxnSpPr>
        <p:spPr>
          <a:xfrm flipH="1" flipV="1">
            <a:off x="8464829" y="2505875"/>
            <a:ext cx="620933" cy="804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32A3DA5-D61E-40CE-94A3-1FE1CCC586FB}"/>
              </a:ext>
            </a:extLst>
          </p:cNvPr>
          <p:cNvCxnSpPr/>
          <p:nvPr/>
        </p:nvCxnSpPr>
        <p:spPr>
          <a:xfrm flipH="1" flipV="1">
            <a:off x="7363433" y="2796061"/>
            <a:ext cx="1337302" cy="578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8B828B2-63F0-4961-B2B7-9B5D74DF910A}"/>
              </a:ext>
            </a:extLst>
          </p:cNvPr>
          <p:cNvCxnSpPr>
            <a:stCxn id="36" idx="3"/>
            <a:endCxn id="42" idx="1"/>
          </p:cNvCxnSpPr>
          <p:nvPr/>
        </p:nvCxnSpPr>
        <p:spPr>
          <a:xfrm>
            <a:off x="9065366" y="2321824"/>
            <a:ext cx="214716" cy="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C4959C-441F-4CC7-8505-64B386781997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9611623" y="3494846"/>
            <a:ext cx="191008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 descr="A database">
            <a:extLst>
              <a:ext uri="{FF2B5EF4-FFF2-40B4-BE49-F238E27FC236}">
                <a16:creationId xmlns:a16="http://schemas.microsoft.com/office/drawing/2014/main" id="{6DFA704D-B288-4052-B4EB-6D2EA42DC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963" y="3542524"/>
            <a:ext cx="631034" cy="631034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A6079134-EBE5-4392-82DF-0CFB1B5FAFE4}"/>
              </a:ext>
            </a:extLst>
          </p:cNvPr>
          <p:cNvSpPr/>
          <p:nvPr/>
        </p:nvSpPr>
        <p:spPr>
          <a:xfrm>
            <a:off x="6926387" y="3590205"/>
            <a:ext cx="858304" cy="5356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Central Office</a:t>
            </a:r>
            <a:endParaRPr lang="en-US" dirty="0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0F8E945-17E1-4F77-92BE-03B36A222733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>
            <a:off x="6738997" y="3858042"/>
            <a:ext cx="187390" cy="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C503D09-ACE8-46F8-8181-46C0EBABD327}"/>
              </a:ext>
            </a:extLst>
          </p:cNvPr>
          <p:cNvCxnSpPr>
            <a:stCxn id="45" idx="3"/>
          </p:cNvCxnSpPr>
          <p:nvPr/>
        </p:nvCxnSpPr>
        <p:spPr>
          <a:xfrm flipV="1">
            <a:off x="7784691" y="3590204"/>
            <a:ext cx="916042" cy="267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A30AFBA-6318-4A7F-922E-0F073EE88F79}"/>
              </a:ext>
            </a:extLst>
          </p:cNvPr>
          <p:cNvCxnSpPr>
            <a:endCxn id="35" idx="2"/>
          </p:cNvCxnSpPr>
          <p:nvPr/>
        </p:nvCxnSpPr>
        <p:spPr>
          <a:xfrm flipH="1" flipV="1">
            <a:off x="6830343" y="2796061"/>
            <a:ext cx="369080" cy="7941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DD5E686-D6BE-4AD9-8937-FECF9B53DF82}"/>
              </a:ext>
            </a:extLst>
          </p:cNvPr>
          <p:cNvCxnSpPr/>
          <p:nvPr/>
        </p:nvCxnSpPr>
        <p:spPr>
          <a:xfrm flipV="1">
            <a:off x="7530779" y="2505876"/>
            <a:ext cx="503257" cy="1084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DDFF792-4707-4BF5-B1CF-86304D5B1E4C}"/>
              </a:ext>
            </a:extLst>
          </p:cNvPr>
          <p:cNvCxnSpPr/>
          <p:nvPr/>
        </p:nvCxnSpPr>
        <p:spPr>
          <a:xfrm flipH="1">
            <a:off x="7363434" y="2432665"/>
            <a:ext cx="355085" cy="573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A database">
            <a:extLst>
              <a:ext uri="{FF2B5EF4-FFF2-40B4-BE49-F238E27FC236}">
                <a16:creationId xmlns:a16="http://schemas.microsoft.com/office/drawing/2014/main" id="{DD342594-34D0-4826-9CC3-1D68B03DF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966" y="2296492"/>
            <a:ext cx="631034" cy="631034"/>
          </a:xfrm>
          <a:prstGeom prst="rect">
            <a:avLst/>
          </a:prstGeom>
        </p:spPr>
      </p:pic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8C45D6B-37FC-495A-9774-B4F72380E849}"/>
              </a:ext>
            </a:extLst>
          </p:cNvPr>
          <p:cNvCxnSpPr>
            <a:stCxn id="51" idx="3"/>
            <a:endCxn id="35" idx="1"/>
          </p:cNvCxnSpPr>
          <p:nvPr/>
        </p:nvCxnSpPr>
        <p:spPr>
          <a:xfrm>
            <a:off x="6096001" y="2612009"/>
            <a:ext cx="201253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6C41C639-6C8C-4C2A-AE95-153233015C33}"/>
              </a:ext>
            </a:extLst>
          </p:cNvPr>
          <p:cNvSpPr txBox="1"/>
          <p:nvPr/>
        </p:nvSpPr>
        <p:spPr>
          <a:xfrm>
            <a:off x="7807235" y="390662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A138BF-0134-4D3D-ABD2-39F287695A6A}"/>
              </a:ext>
            </a:extLst>
          </p:cNvPr>
          <p:cNvSpPr txBox="1"/>
          <p:nvPr/>
        </p:nvSpPr>
        <p:spPr>
          <a:xfrm>
            <a:off x="6600198" y="197918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654DF66-D607-451C-B47D-A563D0320CCD}"/>
              </a:ext>
            </a:extLst>
          </p:cNvPr>
          <p:cNvSpPr txBox="1"/>
          <p:nvPr/>
        </p:nvSpPr>
        <p:spPr>
          <a:xfrm>
            <a:off x="8203429" y="173736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47CFFC9-3950-4DE5-8018-A39E9C531016}"/>
              </a:ext>
            </a:extLst>
          </p:cNvPr>
          <p:cNvSpPr txBox="1"/>
          <p:nvPr/>
        </p:nvSpPr>
        <p:spPr>
          <a:xfrm>
            <a:off x="9015325" y="372195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593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uiExpand="1" build="p"/>
      <p:bldP spid="53" grpId="0"/>
      <p:bldP spid="54" grpId="0"/>
      <p:bldP spid="55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Transactions in Distributed Databases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5338837"/>
          </a:xfrm>
        </p:spPr>
        <p:txBody>
          <a:bodyPr>
            <a:normAutofit/>
          </a:bodyPr>
          <a:lstStyle/>
          <a:p>
            <a:r>
              <a:rPr lang="en-US" sz="2400" dirty="0"/>
              <a:t>Let’s revisit our </a:t>
            </a:r>
            <a:r>
              <a:rPr lang="en-US" sz="2400" dirty="0" err="1"/>
              <a:t>CS_Store</a:t>
            </a:r>
            <a:r>
              <a:rPr lang="en-US" sz="2400" dirty="0"/>
              <a:t> chain</a:t>
            </a:r>
            <a:r>
              <a:rPr lang="mr-IN" sz="2400" dirty="0"/>
              <a:t>…</a:t>
            </a:r>
            <a:endParaRPr lang="en-GB" sz="2400" dirty="0"/>
          </a:p>
          <a:p>
            <a:pPr>
              <a:spcBef>
                <a:spcPts val="2472"/>
              </a:spcBef>
            </a:pPr>
            <a:r>
              <a:rPr lang="en-GB" sz="2400" dirty="0"/>
              <a:t>At central office:</a:t>
            </a:r>
          </a:p>
          <a:p>
            <a:pPr lvl="1"/>
            <a:r>
              <a:rPr lang="en-GB" sz="2000" dirty="0"/>
              <a:t>Determine inventory for </a:t>
            </a:r>
            <a:br>
              <a:rPr lang="en-GB" sz="2000" dirty="0"/>
            </a:br>
            <a:r>
              <a:rPr lang="en-GB" sz="2000" dirty="0"/>
              <a:t>product X at each site</a:t>
            </a:r>
          </a:p>
          <a:p>
            <a:pPr lvl="1"/>
            <a:r>
              <a:rPr lang="en-GB" sz="2000" dirty="0"/>
              <a:t>Move product X between</a:t>
            </a:r>
            <a:br>
              <a:rPr lang="en-GB" sz="2000" dirty="0"/>
            </a:br>
            <a:r>
              <a:rPr lang="en-GB" sz="2000" dirty="0"/>
              <a:t>stores to balance inventory</a:t>
            </a:r>
          </a:p>
          <a:p>
            <a:pPr>
              <a:spcBef>
                <a:spcPts val="2472"/>
              </a:spcBef>
            </a:pPr>
            <a:r>
              <a:rPr lang="en-GB" sz="2400" b="1" dirty="0">
                <a:solidFill>
                  <a:schemeClr val="accent2"/>
                </a:solidFill>
              </a:rPr>
              <a:t>Global transaction T</a:t>
            </a:r>
            <a:endParaRPr lang="en-GB" sz="2400" dirty="0"/>
          </a:p>
          <a:p>
            <a:pPr lvl="1"/>
            <a:r>
              <a:rPr lang="en-GB" dirty="0"/>
              <a:t>Starts </a:t>
            </a:r>
            <a:r>
              <a:rPr lang="en-GB" b="1" dirty="0">
                <a:solidFill>
                  <a:schemeClr val="accent6"/>
                </a:solidFill>
              </a:rPr>
              <a:t>local transaction T</a:t>
            </a:r>
            <a:r>
              <a:rPr lang="en-GB" b="1" baseline="-25000" dirty="0">
                <a:solidFill>
                  <a:schemeClr val="accent6"/>
                </a:solidFill>
              </a:rPr>
              <a:t>0</a:t>
            </a:r>
            <a:r>
              <a:rPr lang="en-GB" dirty="0"/>
              <a:t> at central office</a:t>
            </a:r>
          </a:p>
          <a:p>
            <a:pPr lvl="1"/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0 </a:t>
            </a:r>
            <a:r>
              <a:rPr lang="en-GB" b="1" dirty="0">
                <a:solidFill>
                  <a:schemeClr val="accent6"/>
                </a:solidFill>
              </a:rPr>
              <a:t> </a:t>
            </a:r>
            <a:r>
              <a:rPr lang="en-GB" dirty="0"/>
              <a:t>instructs other sites to start </a:t>
            </a:r>
            <a:r>
              <a:rPr lang="en-GB" b="1" dirty="0">
                <a:solidFill>
                  <a:schemeClr val="accent6"/>
                </a:solidFill>
              </a:rPr>
              <a:t>local transactions T</a:t>
            </a:r>
            <a:r>
              <a:rPr lang="en-GB" b="1" baseline="-25000" dirty="0">
                <a:solidFill>
                  <a:schemeClr val="accent6"/>
                </a:solidFill>
              </a:rPr>
              <a:t>1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2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3</a:t>
            </a:r>
            <a:endParaRPr lang="en-GB" dirty="0"/>
          </a:p>
          <a:p>
            <a:pPr lvl="1"/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1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2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3</a:t>
            </a:r>
            <a:r>
              <a:rPr lang="en-GB" dirty="0"/>
              <a:t> find out inventory for product X at sites &amp; send it back to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0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cxnSp>
        <p:nvCxnSpPr>
          <p:cNvPr id="30" name="Straight Arrow Connector 29"/>
          <p:cNvCxnSpPr/>
          <p:nvPr/>
        </p:nvCxnSpPr>
        <p:spPr>
          <a:xfrm flipH="1" flipV="1">
            <a:off x="6993284" y="2927526"/>
            <a:ext cx="281562" cy="593439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7728345" y="2517016"/>
            <a:ext cx="458763" cy="96118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7815552" y="3489528"/>
            <a:ext cx="824734" cy="24672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FDE3CEF4-5048-4F2D-92BF-018CD25C0ACE}"/>
              </a:ext>
            </a:extLst>
          </p:cNvPr>
          <p:cNvSpPr/>
          <p:nvPr/>
        </p:nvSpPr>
        <p:spPr>
          <a:xfrm>
            <a:off x="6297253" y="2427957"/>
            <a:ext cx="1066180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Liverpool</a:t>
            </a:r>
            <a:endParaRPr lang="en-US" sz="16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1B93FA-CC52-430F-A9C2-E9054739F72F}"/>
              </a:ext>
            </a:extLst>
          </p:cNvPr>
          <p:cNvSpPr/>
          <p:nvPr/>
        </p:nvSpPr>
        <p:spPr>
          <a:xfrm>
            <a:off x="7718518" y="2137771"/>
            <a:ext cx="1346848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Manchester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488C332-3760-4162-9805-B92DC0481A8F}"/>
              </a:ext>
            </a:extLst>
          </p:cNvPr>
          <p:cNvSpPr/>
          <p:nvPr/>
        </p:nvSpPr>
        <p:spPr>
          <a:xfrm>
            <a:off x="8700733" y="3310794"/>
            <a:ext cx="910890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London</a:t>
            </a:r>
          </a:p>
        </p:txBody>
      </p:sp>
      <p:pic>
        <p:nvPicPr>
          <p:cNvPr id="58" name="Picture 57" descr="A database">
            <a:extLst>
              <a:ext uri="{FF2B5EF4-FFF2-40B4-BE49-F238E27FC236}">
                <a16:creationId xmlns:a16="http://schemas.microsoft.com/office/drawing/2014/main" id="{CDD19DD8-91FE-42E1-A137-DD2D7495E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106" y="2006306"/>
            <a:ext cx="631034" cy="631034"/>
          </a:xfrm>
          <a:prstGeom prst="rect">
            <a:avLst/>
          </a:prstGeom>
        </p:spPr>
      </p:pic>
      <p:pic>
        <p:nvPicPr>
          <p:cNvPr id="59" name="Picture 58" descr="A database">
            <a:extLst>
              <a:ext uri="{FF2B5EF4-FFF2-40B4-BE49-F238E27FC236}">
                <a16:creationId xmlns:a16="http://schemas.microsoft.com/office/drawing/2014/main" id="{27858D3B-E99D-4CE1-A507-E2EFC0032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631" y="3179329"/>
            <a:ext cx="631034" cy="631034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8EAB6F5-BC12-4C4C-B5BD-689892A1AFDB}"/>
              </a:ext>
            </a:extLst>
          </p:cNvPr>
          <p:cNvCxnSpPr/>
          <p:nvPr/>
        </p:nvCxnSpPr>
        <p:spPr>
          <a:xfrm flipH="1" flipV="1">
            <a:off x="8464829" y="2505875"/>
            <a:ext cx="620933" cy="804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0E448A8-D17E-47B2-8E82-F2C5122DEB4F}"/>
              </a:ext>
            </a:extLst>
          </p:cNvPr>
          <p:cNvCxnSpPr/>
          <p:nvPr/>
        </p:nvCxnSpPr>
        <p:spPr>
          <a:xfrm flipH="1" flipV="1">
            <a:off x="7363433" y="2796061"/>
            <a:ext cx="1337302" cy="578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E9B6DF5-BC3F-4435-A5BE-D56F1CBBA5AC}"/>
              </a:ext>
            </a:extLst>
          </p:cNvPr>
          <p:cNvCxnSpPr>
            <a:stCxn id="56" idx="3"/>
            <a:endCxn id="62" idx="1"/>
          </p:cNvCxnSpPr>
          <p:nvPr/>
        </p:nvCxnSpPr>
        <p:spPr>
          <a:xfrm>
            <a:off x="9065366" y="2321824"/>
            <a:ext cx="214716" cy="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A6C2B8C-7926-46A9-8109-A07B9B6D6169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>
            <a:off x="9611623" y="3494846"/>
            <a:ext cx="191008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Picture 63" descr="A database">
            <a:extLst>
              <a:ext uri="{FF2B5EF4-FFF2-40B4-BE49-F238E27FC236}">
                <a16:creationId xmlns:a16="http://schemas.microsoft.com/office/drawing/2014/main" id="{76CC8DC4-C8CB-49CD-990C-4B8624250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963" y="3542524"/>
            <a:ext cx="631034" cy="631034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0AFA8536-1E8A-45DD-875B-7A7D46400CDA}"/>
              </a:ext>
            </a:extLst>
          </p:cNvPr>
          <p:cNvSpPr/>
          <p:nvPr/>
        </p:nvSpPr>
        <p:spPr>
          <a:xfrm>
            <a:off x="6926387" y="3590205"/>
            <a:ext cx="858304" cy="5356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Central Office</a:t>
            </a:r>
            <a:endParaRPr lang="en-US" dirty="0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00F21D3-4FBC-4514-B651-32EFCEF0E252}"/>
              </a:ext>
            </a:extLst>
          </p:cNvPr>
          <p:cNvCxnSpPr>
            <a:stCxn id="64" idx="3"/>
            <a:endCxn id="65" idx="1"/>
          </p:cNvCxnSpPr>
          <p:nvPr/>
        </p:nvCxnSpPr>
        <p:spPr>
          <a:xfrm>
            <a:off x="6738997" y="3858042"/>
            <a:ext cx="187390" cy="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DA9DF0B0-9697-4E76-911A-8691D8D3BFB8}"/>
              </a:ext>
            </a:extLst>
          </p:cNvPr>
          <p:cNvCxnSpPr>
            <a:stCxn id="65" idx="3"/>
          </p:cNvCxnSpPr>
          <p:nvPr/>
        </p:nvCxnSpPr>
        <p:spPr>
          <a:xfrm flipV="1">
            <a:off x="7784691" y="3590204"/>
            <a:ext cx="916042" cy="267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193E84B-6589-445B-BE96-66CAA7E0C5B0}"/>
              </a:ext>
            </a:extLst>
          </p:cNvPr>
          <p:cNvCxnSpPr>
            <a:endCxn id="55" idx="2"/>
          </p:cNvCxnSpPr>
          <p:nvPr/>
        </p:nvCxnSpPr>
        <p:spPr>
          <a:xfrm flipH="1" flipV="1">
            <a:off x="6830343" y="2796061"/>
            <a:ext cx="369080" cy="7941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1EFC37F-6C4D-4DC0-ADB6-569EAFBC3DE7}"/>
              </a:ext>
            </a:extLst>
          </p:cNvPr>
          <p:cNvCxnSpPr/>
          <p:nvPr/>
        </p:nvCxnSpPr>
        <p:spPr>
          <a:xfrm flipV="1">
            <a:off x="7530779" y="2505876"/>
            <a:ext cx="503257" cy="1084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CD2BC92-B4A6-411E-88C0-12E6273C1DD3}"/>
              </a:ext>
            </a:extLst>
          </p:cNvPr>
          <p:cNvCxnSpPr/>
          <p:nvPr/>
        </p:nvCxnSpPr>
        <p:spPr>
          <a:xfrm flipH="1">
            <a:off x="7363434" y="2432665"/>
            <a:ext cx="355085" cy="573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" name="Picture 70" descr="A database">
            <a:extLst>
              <a:ext uri="{FF2B5EF4-FFF2-40B4-BE49-F238E27FC236}">
                <a16:creationId xmlns:a16="http://schemas.microsoft.com/office/drawing/2014/main" id="{BC863547-1EB9-435E-BB09-BE63056FD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966" y="2296492"/>
            <a:ext cx="631034" cy="631034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CF0C888-C8D4-4F3E-995E-C1293481BDC9}"/>
              </a:ext>
            </a:extLst>
          </p:cNvPr>
          <p:cNvCxnSpPr>
            <a:stCxn id="71" idx="3"/>
            <a:endCxn id="55" idx="1"/>
          </p:cNvCxnSpPr>
          <p:nvPr/>
        </p:nvCxnSpPr>
        <p:spPr>
          <a:xfrm>
            <a:off x="6096001" y="2612009"/>
            <a:ext cx="201253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FF728437-4D13-44F1-A5AC-496B68283078}"/>
              </a:ext>
            </a:extLst>
          </p:cNvPr>
          <p:cNvSpPr txBox="1"/>
          <p:nvPr/>
        </p:nvSpPr>
        <p:spPr>
          <a:xfrm>
            <a:off x="7807235" y="390662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2AB18A-BBDB-4871-A5C8-180F126046AA}"/>
              </a:ext>
            </a:extLst>
          </p:cNvPr>
          <p:cNvSpPr txBox="1"/>
          <p:nvPr/>
        </p:nvSpPr>
        <p:spPr>
          <a:xfrm>
            <a:off x="6600198" y="197918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C112CAD-76F8-4440-9AAB-7FDBCDB7339B}"/>
              </a:ext>
            </a:extLst>
          </p:cNvPr>
          <p:cNvSpPr txBox="1"/>
          <p:nvPr/>
        </p:nvSpPr>
        <p:spPr>
          <a:xfrm>
            <a:off x="8203429" y="173736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CE35AE4-295C-458C-ABAF-2BE227FD6A90}"/>
              </a:ext>
            </a:extLst>
          </p:cNvPr>
          <p:cNvSpPr txBox="1"/>
          <p:nvPr/>
        </p:nvSpPr>
        <p:spPr>
          <a:xfrm>
            <a:off x="9015325" y="372195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579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Transactions in Distributed Databases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5012266"/>
          </a:xfrm>
        </p:spPr>
        <p:txBody>
          <a:bodyPr>
            <a:normAutofit/>
          </a:bodyPr>
          <a:lstStyle/>
          <a:p>
            <a:r>
              <a:rPr lang="en-US" sz="2400" dirty="0"/>
              <a:t>Let’s revisit our </a:t>
            </a:r>
            <a:r>
              <a:rPr lang="en-US" sz="2400" dirty="0" err="1"/>
              <a:t>CS_Store</a:t>
            </a:r>
            <a:r>
              <a:rPr lang="en-US" sz="2400" dirty="0"/>
              <a:t> chain</a:t>
            </a:r>
            <a:r>
              <a:rPr lang="mr-IN" sz="2400" dirty="0"/>
              <a:t>…</a:t>
            </a:r>
            <a:endParaRPr lang="en-GB" sz="2400" dirty="0"/>
          </a:p>
          <a:p>
            <a:pPr>
              <a:spcBef>
                <a:spcPts val="2472"/>
              </a:spcBef>
            </a:pPr>
            <a:r>
              <a:rPr lang="en-GB" sz="2400" dirty="0"/>
              <a:t>At central office:</a:t>
            </a:r>
          </a:p>
          <a:p>
            <a:pPr lvl="1"/>
            <a:r>
              <a:rPr lang="en-GB" sz="2000" dirty="0"/>
              <a:t>Determine inventory for </a:t>
            </a:r>
            <a:br>
              <a:rPr lang="en-GB" sz="2000" dirty="0"/>
            </a:br>
            <a:r>
              <a:rPr lang="en-GB" sz="2000" dirty="0"/>
              <a:t>product X at each site</a:t>
            </a:r>
          </a:p>
          <a:p>
            <a:pPr lvl="1"/>
            <a:r>
              <a:rPr lang="en-GB" sz="2000" dirty="0"/>
              <a:t>Move product X between</a:t>
            </a:r>
            <a:br>
              <a:rPr lang="en-GB" sz="2000" dirty="0"/>
            </a:br>
            <a:r>
              <a:rPr lang="en-GB" sz="2000" dirty="0"/>
              <a:t>stores to balance inventory</a:t>
            </a:r>
          </a:p>
          <a:p>
            <a:pPr>
              <a:spcBef>
                <a:spcPts val="2472"/>
              </a:spcBef>
            </a:pPr>
            <a:r>
              <a:rPr lang="en-GB" sz="2400" b="1" dirty="0">
                <a:solidFill>
                  <a:schemeClr val="accent2"/>
                </a:solidFill>
              </a:rPr>
              <a:t>Global transaction T</a:t>
            </a:r>
            <a:endParaRPr lang="en-GB" sz="2400" dirty="0"/>
          </a:p>
          <a:p>
            <a:pPr lvl="1"/>
            <a:r>
              <a:rPr lang="en-GB" dirty="0"/>
              <a:t>Starts </a:t>
            </a:r>
            <a:r>
              <a:rPr lang="en-GB" b="1" dirty="0">
                <a:solidFill>
                  <a:schemeClr val="accent6"/>
                </a:solidFill>
              </a:rPr>
              <a:t>local transaction T</a:t>
            </a:r>
            <a:r>
              <a:rPr lang="en-GB" b="1" baseline="-25000" dirty="0">
                <a:solidFill>
                  <a:schemeClr val="accent6"/>
                </a:solidFill>
              </a:rPr>
              <a:t>0</a:t>
            </a:r>
            <a:r>
              <a:rPr lang="en-GB" dirty="0"/>
              <a:t> at central office</a:t>
            </a:r>
          </a:p>
          <a:p>
            <a:pPr lvl="1"/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0 </a:t>
            </a:r>
            <a:r>
              <a:rPr lang="en-GB" b="1" dirty="0">
                <a:solidFill>
                  <a:schemeClr val="accent6"/>
                </a:solidFill>
              </a:rPr>
              <a:t> </a:t>
            </a:r>
            <a:r>
              <a:rPr lang="en-GB" dirty="0"/>
              <a:t>instructs other sites to start </a:t>
            </a:r>
            <a:r>
              <a:rPr lang="en-GB" b="1" dirty="0">
                <a:solidFill>
                  <a:schemeClr val="accent6"/>
                </a:solidFill>
              </a:rPr>
              <a:t>local transactions T</a:t>
            </a:r>
            <a:r>
              <a:rPr lang="en-GB" b="1" baseline="-25000" dirty="0">
                <a:solidFill>
                  <a:schemeClr val="accent6"/>
                </a:solidFill>
              </a:rPr>
              <a:t>1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2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3</a:t>
            </a:r>
            <a:endParaRPr lang="en-GB" dirty="0"/>
          </a:p>
          <a:p>
            <a:pPr lvl="1"/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1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2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3</a:t>
            </a:r>
            <a:r>
              <a:rPr lang="en-GB" dirty="0"/>
              <a:t> find out inventory for product X at sites &amp; send it back to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0</a:t>
            </a:r>
            <a:endParaRPr lang="en-GB" dirty="0"/>
          </a:p>
          <a:p>
            <a:pPr lvl="1"/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0</a:t>
            </a:r>
            <a:r>
              <a:rPr lang="en-GB" dirty="0"/>
              <a:t> determines how to move product X between sites</a:t>
            </a:r>
          </a:p>
          <a:p>
            <a:pPr lvl="1"/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0</a:t>
            </a:r>
            <a:r>
              <a:rPr lang="en-GB" dirty="0"/>
              <a:t> instructs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1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2</a:t>
            </a:r>
            <a:r>
              <a:rPr lang="en-GB" dirty="0"/>
              <a:t>, </a:t>
            </a:r>
            <a:r>
              <a:rPr lang="en-GB" b="1" dirty="0">
                <a:solidFill>
                  <a:schemeClr val="accent6"/>
                </a:solidFill>
              </a:rPr>
              <a:t>T</a:t>
            </a:r>
            <a:r>
              <a:rPr lang="en-GB" b="1" baseline="-25000" dirty="0">
                <a:solidFill>
                  <a:schemeClr val="accent6"/>
                </a:solidFill>
              </a:rPr>
              <a:t>3</a:t>
            </a:r>
            <a:r>
              <a:rPr lang="en-GB" dirty="0"/>
              <a:t> to move product X accordingly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cxnSp>
        <p:nvCxnSpPr>
          <p:cNvPr id="33" name="Straight Arrow Connector 32"/>
          <p:cNvCxnSpPr/>
          <p:nvPr/>
        </p:nvCxnSpPr>
        <p:spPr>
          <a:xfrm flipH="1" flipV="1">
            <a:off x="6991597" y="2938004"/>
            <a:ext cx="281562" cy="593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7690106" y="2623108"/>
            <a:ext cx="458763" cy="961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7837575" y="3508654"/>
            <a:ext cx="824734" cy="246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EAFAD8CC-10E1-49CC-8F9A-65F185AB9F92}"/>
              </a:ext>
            </a:extLst>
          </p:cNvPr>
          <p:cNvSpPr/>
          <p:nvPr/>
        </p:nvSpPr>
        <p:spPr>
          <a:xfrm>
            <a:off x="6297253" y="2427957"/>
            <a:ext cx="1066180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Liverpool</a:t>
            </a:r>
            <a:endParaRPr lang="en-US" sz="16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76AE84E-D6BA-4439-A55E-A173F64C7FA8}"/>
              </a:ext>
            </a:extLst>
          </p:cNvPr>
          <p:cNvSpPr/>
          <p:nvPr/>
        </p:nvSpPr>
        <p:spPr>
          <a:xfrm>
            <a:off x="7718518" y="2137771"/>
            <a:ext cx="1346848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Manchester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1C4278-2FA6-44F3-8D00-D9F1FD935AAB}"/>
              </a:ext>
            </a:extLst>
          </p:cNvPr>
          <p:cNvSpPr/>
          <p:nvPr/>
        </p:nvSpPr>
        <p:spPr>
          <a:xfrm>
            <a:off x="8700733" y="3310794"/>
            <a:ext cx="910890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London</a:t>
            </a:r>
          </a:p>
        </p:txBody>
      </p:sp>
      <p:pic>
        <p:nvPicPr>
          <p:cNvPr id="59" name="Picture 58" descr="A database">
            <a:extLst>
              <a:ext uri="{FF2B5EF4-FFF2-40B4-BE49-F238E27FC236}">
                <a16:creationId xmlns:a16="http://schemas.microsoft.com/office/drawing/2014/main" id="{C879FC28-121E-4E98-A464-C21429443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106" y="2006306"/>
            <a:ext cx="631034" cy="631034"/>
          </a:xfrm>
          <a:prstGeom prst="rect">
            <a:avLst/>
          </a:prstGeom>
        </p:spPr>
      </p:pic>
      <p:pic>
        <p:nvPicPr>
          <p:cNvPr id="60" name="Picture 59" descr="A database">
            <a:extLst>
              <a:ext uri="{FF2B5EF4-FFF2-40B4-BE49-F238E27FC236}">
                <a16:creationId xmlns:a16="http://schemas.microsoft.com/office/drawing/2014/main" id="{7C3646E0-DC91-49A0-B4E4-1D9007DC3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631" y="3179329"/>
            <a:ext cx="631034" cy="631034"/>
          </a:xfrm>
          <a:prstGeom prst="rect">
            <a:avLst/>
          </a:prstGeom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C477DCD-0B96-4065-9C1F-1BD79A656329}"/>
              </a:ext>
            </a:extLst>
          </p:cNvPr>
          <p:cNvCxnSpPr/>
          <p:nvPr/>
        </p:nvCxnSpPr>
        <p:spPr>
          <a:xfrm flipH="1" flipV="1">
            <a:off x="8464829" y="2505875"/>
            <a:ext cx="620933" cy="804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701B349-1FEA-4AC4-90DE-73587877DA51}"/>
              </a:ext>
            </a:extLst>
          </p:cNvPr>
          <p:cNvCxnSpPr/>
          <p:nvPr/>
        </p:nvCxnSpPr>
        <p:spPr>
          <a:xfrm flipH="1" flipV="1">
            <a:off x="7363433" y="2796061"/>
            <a:ext cx="1337302" cy="578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5A45026-1C84-417E-918B-F8E1F6042D03}"/>
              </a:ext>
            </a:extLst>
          </p:cNvPr>
          <p:cNvCxnSpPr>
            <a:stCxn id="57" idx="3"/>
            <a:endCxn id="63" idx="1"/>
          </p:cNvCxnSpPr>
          <p:nvPr/>
        </p:nvCxnSpPr>
        <p:spPr>
          <a:xfrm>
            <a:off x="9065366" y="2321824"/>
            <a:ext cx="214716" cy="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8687F03-2961-48F4-9C91-4DA9692ADB2C}"/>
              </a:ext>
            </a:extLst>
          </p:cNvPr>
          <p:cNvCxnSpPr>
            <a:stCxn id="58" idx="3"/>
            <a:endCxn id="60" idx="1"/>
          </p:cNvCxnSpPr>
          <p:nvPr/>
        </p:nvCxnSpPr>
        <p:spPr>
          <a:xfrm>
            <a:off x="9611623" y="3494846"/>
            <a:ext cx="191008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Picture 64" descr="A database">
            <a:extLst>
              <a:ext uri="{FF2B5EF4-FFF2-40B4-BE49-F238E27FC236}">
                <a16:creationId xmlns:a16="http://schemas.microsoft.com/office/drawing/2014/main" id="{5165FFAC-E2DB-4C6C-A8EB-8232F6443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963" y="3542524"/>
            <a:ext cx="631034" cy="631034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AB30825A-6B85-48F6-B085-68B03E86A688}"/>
              </a:ext>
            </a:extLst>
          </p:cNvPr>
          <p:cNvSpPr/>
          <p:nvPr/>
        </p:nvSpPr>
        <p:spPr>
          <a:xfrm>
            <a:off x="6926387" y="3590205"/>
            <a:ext cx="858304" cy="5356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Central Office</a:t>
            </a:r>
            <a:endParaRPr lang="en-US" dirty="0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103142A-E159-4F91-8F4B-5057BAFB3416}"/>
              </a:ext>
            </a:extLst>
          </p:cNvPr>
          <p:cNvCxnSpPr>
            <a:stCxn id="65" idx="3"/>
            <a:endCxn id="66" idx="1"/>
          </p:cNvCxnSpPr>
          <p:nvPr/>
        </p:nvCxnSpPr>
        <p:spPr>
          <a:xfrm>
            <a:off x="6738997" y="3858042"/>
            <a:ext cx="187390" cy="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FFF5457B-6465-4788-B02F-B96C28590880}"/>
              </a:ext>
            </a:extLst>
          </p:cNvPr>
          <p:cNvCxnSpPr>
            <a:stCxn id="66" idx="3"/>
          </p:cNvCxnSpPr>
          <p:nvPr/>
        </p:nvCxnSpPr>
        <p:spPr>
          <a:xfrm flipV="1">
            <a:off x="7784691" y="3590204"/>
            <a:ext cx="916042" cy="267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B5274F0-2AC3-477B-8C01-69351D80A7F2}"/>
              </a:ext>
            </a:extLst>
          </p:cNvPr>
          <p:cNvCxnSpPr>
            <a:endCxn id="56" idx="2"/>
          </p:cNvCxnSpPr>
          <p:nvPr/>
        </p:nvCxnSpPr>
        <p:spPr>
          <a:xfrm flipH="1" flipV="1">
            <a:off x="6830343" y="2796061"/>
            <a:ext cx="369080" cy="7941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576C968-B655-4E3E-B74A-0A974EFB0DF3}"/>
              </a:ext>
            </a:extLst>
          </p:cNvPr>
          <p:cNvCxnSpPr/>
          <p:nvPr/>
        </p:nvCxnSpPr>
        <p:spPr>
          <a:xfrm flipV="1">
            <a:off x="7530779" y="2505876"/>
            <a:ext cx="503257" cy="1084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185EEAD-3610-4585-8BB9-D41B5BDAF634}"/>
              </a:ext>
            </a:extLst>
          </p:cNvPr>
          <p:cNvCxnSpPr/>
          <p:nvPr/>
        </p:nvCxnSpPr>
        <p:spPr>
          <a:xfrm flipH="1">
            <a:off x="7363434" y="2432665"/>
            <a:ext cx="355085" cy="573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Picture 71" descr="A database">
            <a:extLst>
              <a:ext uri="{FF2B5EF4-FFF2-40B4-BE49-F238E27FC236}">
                <a16:creationId xmlns:a16="http://schemas.microsoft.com/office/drawing/2014/main" id="{300333B3-494B-449B-804F-28B9DA927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966" y="2296492"/>
            <a:ext cx="631034" cy="631034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08D8AA9-C19C-4591-BDEB-246B853704AE}"/>
              </a:ext>
            </a:extLst>
          </p:cNvPr>
          <p:cNvCxnSpPr>
            <a:stCxn id="72" idx="3"/>
            <a:endCxn id="56" idx="1"/>
          </p:cNvCxnSpPr>
          <p:nvPr/>
        </p:nvCxnSpPr>
        <p:spPr>
          <a:xfrm>
            <a:off x="6096001" y="2612009"/>
            <a:ext cx="201253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684CBC31-93AA-4513-B2F5-008D7FC413FE}"/>
              </a:ext>
            </a:extLst>
          </p:cNvPr>
          <p:cNvSpPr txBox="1"/>
          <p:nvPr/>
        </p:nvSpPr>
        <p:spPr>
          <a:xfrm>
            <a:off x="7807235" y="390662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91F4B31-2A87-45DF-9D6B-54514AB12E64}"/>
              </a:ext>
            </a:extLst>
          </p:cNvPr>
          <p:cNvSpPr txBox="1"/>
          <p:nvPr/>
        </p:nvSpPr>
        <p:spPr>
          <a:xfrm>
            <a:off x="6600198" y="197918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1B70528-14A1-4B1D-A50F-89E7D07BF470}"/>
              </a:ext>
            </a:extLst>
          </p:cNvPr>
          <p:cNvSpPr txBox="1"/>
          <p:nvPr/>
        </p:nvSpPr>
        <p:spPr>
          <a:xfrm>
            <a:off x="8203429" y="173736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0AD206F-FB6B-45CD-8C5F-56B83B4B5B9E}"/>
              </a:ext>
            </a:extLst>
          </p:cNvPr>
          <p:cNvSpPr txBox="1"/>
          <p:nvPr/>
        </p:nvSpPr>
        <p:spPr>
          <a:xfrm>
            <a:off x="9015325" y="372195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238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Violation of Atomicity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2472"/>
              </a:spcBef>
            </a:pPr>
            <a:r>
              <a:rPr lang="en-GB" sz="2400" b="1" dirty="0">
                <a:solidFill>
                  <a:schemeClr val="accent2"/>
                </a:solidFill>
              </a:rPr>
              <a:t>Global transaction T</a:t>
            </a:r>
            <a:endParaRPr lang="en-GB" sz="2400" dirty="0"/>
          </a:p>
          <a:p>
            <a:pPr lvl="1"/>
            <a:r>
              <a:rPr lang="en-GB" sz="2000" dirty="0"/>
              <a:t>Start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0</a:t>
            </a:r>
            <a:r>
              <a:rPr lang="en-GB" sz="2000" dirty="0"/>
              <a:t> at central office</a:t>
            </a:r>
          </a:p>
          <a:p>
            <a:pPr lvl="1"/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0</a:t>
            </a:r>
            <a:r>
              <a:rPr lang="en-GB" sz="2000" dirty="0"/>
              <a:t> instructs other sites </a:t>
            </a:r>
            <a:br>
              <a:rPr lang="en-GB" sz="2000" dirty="0"/>
            </a:br>
            <a:r>
              <a:rPr lang="en-GB" sz="2000" dirty="0"/>
              <a:t>to start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1</a:t>
            </a:r>
            <a:r>
              <a:rPr lang="en-GB" sz="2000" dirty="0"/>
              <a:t>,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2</a:t>
            </a:r>
            <a:r>
              <a:rPr lang="en-GB" sz="2000" dirty="0"/>
              <a:t>,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3</a:t>
            </a:r>
            <a:endParaRPr lang="en-GB" sz="2000" dirty="0"/>
          </a:p>
          <a:p>
            <a:pPr lvl="1"/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1</a:t>
            </a:r>
            <a:r>
              <a:rPr lang="en-GB" sz="2000" dirty="0"/>
              <a:t>,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2</a:t>
            </a:r>
            <a:r>
              <a:rPr lang="en-GB" sz="2000" dirty="0"/>
              <a:t>,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3</a:t>
            </a:r>
            <a:r>
              <a:rPr lang="en-GB" sz="2000" dirty="0"/>
              <a:t> report inventory </a:t>
            </a:r>
            <a:br>
              <a:rPr lang="en-GB" sz="2000" dirty="0"/>
            </a:br>
            <a:r>
              <a:rPr lang="en-GB" sz="2000" dirty="0"/>
              <a:t>for product X</a:t>
            </a:r>
          </a:p>
          <a:p>
            <a:pPr lvl="1"/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0</a:t>
            </a:r>
            <a:r>
              <a:rPr lang="en-GB" sz="2000" dirty="0"/>
              <a:t> determines how to </a:t>
            </a:r>
            <a:br>
              <a:rPr lang="en-GB" sz="2000" dirty="0"/>
            </a:br>
            <a:r>
              <a:rPr lang="en-GB" sz="2000" dirty="0"/>
              <a:t>move product X </a:t>
            </a:r>
          </a:p>
          <a:p>
            <a:pPr lvl="1"/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0</a:t>
            </a:r>
            <a:r>
              <a:rPr lang="en-GB" sz="2000" dirty="0"/>
              <a:t> instructs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1</a:t>
            </a:r>
            <a:r>
              <a:rPr lang="en-GB" sz="2000" dirty="0"/>
              <a:t>,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2</a:t>
            </a:r>
            <a:r>
              <a:rPr lang="en-GB" sz="2000" dirty="0"/>
              <a:t>,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3</a:t>
            </a:r>
            <a:r>
              <a:rPr lang="en-GB" sz="2000" dirty="0"/>
              <a:t> to move product X accordingly</a:t>
            </a:r>
            <a:endParaRPr lang="en-GB" dirty="0"/>
          </a:p>
          <a:p>
            <a:pPr>
              <a:spcBef>
                <a:spcPts val="2472"/>
              </a:spcBef>
            </a:pPr>
            <a:r>
              <a:rPr lang="en-GB" sz="2400" b="1" dirty="0"/>
              <a:t>Atomicity:</a:t>
            </a:r>
          </a:p>
          <a:p>
            <a:pPr lvl="1">
              <a:spcBef>
                <a:spcPts val="672"/>
              </a:spcBef>
            </a:pPr>
            <a:r>
              <a:rPr lang="en-GB" sz="2000" dirty="0"/>
              <a:t>Can assume to be enforced at each node </a:t>
            </a:r>
            <a:r>
              <a:rPr lang="en-GB" sz="2000" i="1" dirty="0"/>
              <a:t>locally</a:t>
            </a:r>
          </a:p>
          <a:p>
            <a:pPr lvl="1">
              <a:spcBef>
                <a:spcPts val="672"/>
              </a:spcBef>
            </a:pPr>
            <a:r>
              <a:rPr lang="en-GB" sz="2000" dirty="0"/>
              <a:t>Could be violated </a:t>
            </a:r>
            <a:r>
              <a:rPr lang="en-GB" sz="2000" i="1" dirty="0"/>
              <a:t>globally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4F56901-31D7-41BF-AA11-E07F55AD33AB}"/>
              </a:ext>
            </a:extLst>
          </p:cNvPr>
          <p:cNvSpPr/>
          <p:nvPr/>
        </p:nvSpPr>
        <p:spPr>
          <a:xfrm>
            <a:off x="6297253" y="2427957"/>
            <a:ext cx="1066180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Liverpool</a:t>
            </a:r>
            <a:endParaRPr lang="en-US" sz="1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5768F53-A549-4E57-98AE-7A7DE7745F0A}"/>
              </a:ext>
            </a:extLst>
          </p:cNvPr>
          <p:cNvSpPr/>
          <p:nvPr/>
        </p:nvSpPr>
        <p:spPr>
          <a:xfrm>
            <a:off x="7718518" y="2137771"/>
            <a:ext cx="1346848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Manchester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EDC81B1-17EA-4DFB-834A-B26F968C5FEF}"/>
              </a:ext>
            </a:extLst>
          </p:cNvPr>
          <p:cNvSpPr/>
          <p:nvPr/>
        </p:nvSpPr>
        <p:spPr>
          <a:xfrm>
            <a:off x="8700733" y="3310794"/>
            <a:ext cx="910890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London</a:t>
            </a:r>
          </a:p>
        </p:txBody>
      </p:sp>
      <p:pic>
        <p:nvPicPr>
          <p:cNvPr id="55" name="Picture 54" descr="A database">
            <a:extLst>
              <a:ext uri="{FF2B5EF4-FFF2-40B4-BE49-F238E27FC236}">
                <a16:creationId xmlns:a16="http://schemas.microsoft.com/office/drawing/2014/main" id="{FFF0AA69-B219-468D-853A-8939971F3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106" y="2006306"/>
            <a:ext cx="631034" cy="631034"/>
          </a:xfrm>
          <a:prstGeom prst="rect">
            <a:avLst/>
          </a:prstGeom>
        </p:spPr>
      </p:pic>
      <p:pic>
        <p:nvPicPr>
          <p:cNvPr id="56" name="Picture 55" descr="A database">
            <a:extLst>
              <a:ext uri="{FF2B5EF4-FFF2-40B4-BE49-F238E27FC236}">
                <a16:creationId xmlns:a16="http://schemas.microsoft.com/office/drawing/2014/main" id="{3F5069C3-6CC3-4561-B894-B77BCF4A1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631" y="3179329"/>
            <a:ext cx="631034" cy="631034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3FE01D7-54A6-488B-A6A7-453EE189C2BB}"/>
              </a:ext>
            </a:extLst>
          </p:cNvPr>
          <p:cNvCxnSpPr/>
          <p:nvPr/>
        </p:nvCxnSpPr>
        <p:spPr>
          <a:xfrm flipH="1" flipV="1">
            <a:off x="8464829" y="2505875"/>
            <a:ext cx="620933" cy="804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CF2C21D-41EE-47DF-941F-F5527217732F}"/>
              </a:ext>
            </a:extLst>
          </p:cNvPr>
          <p:cNvCxnSpPr/>
          <p:nvPr/>
        </p:nvCxnSpPr>
        <p:spPr>
          <a:xfrm flipH="1" flipV="1">
            <a:off x="7363433" y="2796061"/>
            <a:ext cx="1337302" cy="578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E9ED7F8-541C-4077-B938-B827682443A7}"/>
              </a:ext>
            </a:extLst>
          </p:cNvPr>
          <p:cNvCxnSpPr>
            <a:stCxn id="53" idx="3"/>
            <a:endCxn id="59" idx="1"/>
          </p:cNvCxnSpPr>
          <p:nvPr/>
        </p:nvCxnSpPr>
        <p:spPr>
          <a:xfrm>
            <a:off x="9065366" y="2321824"/>
            <a:ext cx="214716" cy="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BC1EC03-E97C-4B28-9ABF-57C7AF97286B}"/>
              </a:ext>
            </a:extLst>
          </p:cNvPr>
          <p:cNvCxnSpPr>
            <a:stCxn id="54" idx="3"/>
            <a:endCxn id="56" idx="1"/>
          </p:cNvCxnSpPr>
          <p:nvPr/>
        </p:nvCxnSpPr>
        <p:spPr>
          <a:xfrm>
            <a:off x="9611623" y="3494846"/>
            <a:ext cx="191008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Picture 60" descr="A database">
            <a:extLst>
              <a:ext uri="{FF2B5EF4-FFF2-40B4-BE49-F238E27FC236}">
                <a16:creationId xmlns:a16="http://schemas.microsoft.com/office/drawing/2014/main" id="{E0D520F5-C18E-4160-803D-329DDA0A3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963" y="3542524"/>
            <a:ext cx="631034" cy="631034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A9E94A81-B0FD-48DF-8B55-DD44D40C16D8}"/>
              </a:ext>
            </a:extLst>
          </p:cNvPr>
          <p:cNvSpPr/>
          <p:nvPr/>
        </p:nvSpPr>
        <p:spPr>
          <a:xfrm>
            <a:off x="6926387" y="3590205"/>
            <a:ext cx="858304" cy="5356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Central Office</a:t>
            </a:r>
            <a:endParaRPr lang="en-US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B8E44EC-886D-4DFF-822D-E5E56B30E8F0}"/>
              </a:ext>
            </a:extLst>
          </p:cNvPr>
          <p:cNvCxnSpPr>
            <a:stCxn id="61" idx="3"/>
            <a:endCxn id="62" idx="1"/>
          </p:cNvCxnSpPr>
          <p:nvPr/>
        </p:nvCxnSpPr>
        <p:spPr>
          <a:xfrm>
            <a:off x="6738997" y="3858042"/>
            <a:ext cx="187390" cy="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DDA0A1D-F145-4C14-86CF-DAC4402824DE}"/>
              </a:ext>
            </a:extLst>
          </p:cNvPr>
          <p:cNvCxnSpPr>
            <a:stCxn id="62" idx="3"/>
          </p:cNvCxnSpPr>
          <p:nvPr/>
        </p:nvCxnSpPr>
        <p:spPr>
          <a:xfrm flipV="1">
            <a:off x="7784691" y="3590204"/>
            <a:ext cx="916042" cy="267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41E3E86-C0B2-4131-B5A1-44BC71994E0C}"/>
              </a:ext>
            </a:extLst>
          </p:cNvPr>
          <p:cNvCxnSpPr>
            <a:endCxn id="52" idx="2"/>
          </p:cNvCxnSpPr>
          <p:nvPr/>
        </p:nvCxnSpPr>
        <p:spPr>
          <a:xfrm flipH="1" flipV="1">
            <a:off x="6830343" y="2796061"/>
            <a:ext cx="369080" cy="7941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1D172A6-AAD6-4C65-B72A-07D46DE47DC3}"/>
              </a:ext>
            </a:extLst>
          </p:cNvPr>
          <p:cNvCxnSpPr/>
          <p:nvPr/>
        </p:nvCxnSpPr>
        <p:spPr>
          <a:xfrm flipV="1">
            <a:off x="7530779" y="2505876"/>
            <a:ext cx="503257" cy="1084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5D3D122-F900-4676-A620-D2BF694EAA56}"/>
              </a:ext>
            </a:extLst>
          </p:cNvPr>
          <p:cNvCxnSpPr/>
          <p:nvPr/>
        </p:nvCxnSpPr>
        <p:spPr>
          <a:xfrm flipH="1">
            <a:off x="7363434" y="2432665"/>
            <a:ext cx="355085" cy="573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Picture 67" descr="A database">
            <a:extLst>
              <a:ext uri="{FF2B5EF4-FFF2-40B4-BE49-F238E27FC236}">
                <a16:creationId xmlns:a16="http://schemas.microsoft.com/office/drawing/2014/main" id="{BEF4A2B9-4298-4086-9786-9B5B72694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966" y="2296492"/>
            <a:ext cx="631034" cy="631034"/>
          </a:xfrm>
          <a:prstGeom prst="rect">
            <a:avLst/>
          </a:prstGeom>
        </p:spPr>
      </p:pic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CF4A3B7-B11B-441F-9A0D-A684D992D7CE}"/>
              </a:ext>
            </a:extLst>
          </p:cNvPr>
          <p:cNvCxnSpPr>
            <a:stCxn id="68" idx="3"/>
            <a:endCxn id="52" idx="1"/>
          </p:cNvCxnSpPr>
          <p:nvPr/>
        </p:nvCxnSpPr>
        <p:spPr>
          <a:xfrm>
            <a:off x="6096001" y="2612009"/>
            <a:ext cx="201253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BA185923-46E1-4CB6-842B-89E819C72674}"/>
              </a:ext>
            </a:extLst>
          </p:cNvPr>
          <p:cNvSpPr txBox="1"/>
          <p:nvPr/>
        </p:nvSpPr>
        <p:spPr>
          <a:xfrm>
            <a:off x="7807235" y="390662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B61C3F-3FE4-477A-968F-82C2BE3C7D34}"/>
              </a:ext>
            </a:extLst>
          </p:cNvPr>
          <p:cNvSpPr txBox="1"/>
          <p:nvPr/>
        </p:nvSpPr>
        <p:spPr>
          <a:xfrm>
            <a:off x="6600198" y="197918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A9B323-B4D6-4416-B85A-E3E12BFEF3D1}"/>
              </a:ext>
            </a:extLst>
          </p:cNvPr>
          <p:cNvSpPr txBox="1"/>
          <p:nvPr/>
        </p:nvSpPr>
        <p:spPr>
          <a:xfrm>
            <a:off x="8203429" y="173736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4EF877B-1E5B-4E0B-8E0A-F6C34197FF79}"/>
              </a:ext>
            </a:extLst>
          </p:cNvPr>
          <p:cNvSpPr txBox="1"/>
          <p:nvPr/>
        </p:nvSpPr>
        <p:spPr>
          <a:xfrm>
            <a:off x="9015325" y="372195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163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Problems With Failing Nodes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2472"/>
              </a:spcBef>
            </a:pPr>
            <a:r>
              <a:rPr lang="en-GB" sz="2400" b="1" dirty="0">
                <a:solidFill>
                  <a:schemeClr val="accent2"/>
                </a:solidFill>
              </a:rPr>
              <a:t>Global transaction T</a:t>
            </a:r>
            <a:endParaRPr lang="en-GB" sz="2400" dirty="0"/>
          </a:p>
          <a:p>
            <a:pPr lvl="1"/>
            <a:r>
              <a:rPr lang="en-GB" sz="2000" dirty="0"/>
              <a:t>Start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0</a:t>
            </a:r>
            <a:r>
              <a:rPr lang="en-GB" sz="2000" dirty="0"/>
              <a:t> at central office</a:t>
            </a:r>
          </a:p>
          <a:p>
            <a:pPr lvl="1"/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0</a:t>
            </a:r>
            <a:r>
              <a:rPr lang="en-GB" sz="2000" dirty="0"/>
              <a:t> instructs other sites </a:t>
            </a:r>
            <a:br>
              <a:rPr lang="en-GB" sz="2000" dirty="0"/>
            </a:br>
            <a:r>
              <a:rPr lang="en-GB" sz="2000" dirty="0"/>
              <a:t>to start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1</a:t>
            </a:r>
            <a:r>
              <a:rPr lang="en-GB" sz="2000" dirty="0"/>
              <a:t>,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2</a:t>
            </a:r>
            <a:r>
              <a:rPr lang="en-GB" sz="2000" dirty="0"/>
              <a:t>,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3</a:t>
            </a:r>
            <a:endParaRPr lang="en-GB" sz="2000" dirty="0"/>
          </a:p>
          <a:p>
            <a:pPr lvl="1"/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1</a:t>
            </a:r>
            <a:r>
              <a:rPr lang="en-GB" sz="2000" dirty="0"/>
              <a:t>,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2</a:t>
            </a:r>
            <a:r>
              <a:rPr lang="en-GB" sz="2000" dirty="0"/>
              <a:t>,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3</a:t>
            </a:r>
            <a:r>
              <a:rPr lang="en-GB" sz="2000" dirty="0"/>
              <a:t> report inventory </a:t>
            </a:r>
            <a:br>
              <a:rPr lang="en-GB" sz="2000" dirty="0"/>
            </a:br>
            <a:r>
              <a:rPr lang="en-GB" sz="2000" dirty="0"/>
              <a:t>for product X</a:t>
            </a:r>
          </a:p>
          <a:p>
            <a:pPr lvl="1"/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0</a:t>
            </a:r>
            <a:r>
              <a:rPr lang="en-GB" sz="2000" dirty="0"/>
              <a:t> determines how to </a:t>
            </a:r>
            <a:br>
              <a:rPr lang="en-GB" sz="2000" dirty="0"/>
            </a:br>
            <a:r>
              <a:rPr lang="en-GB" sz="2000" dirty="0"/>
              <a:t>move product X </a:t>
            </a:r>
          </a:p>
          <a:p>
            <a:pPr lvl="1"/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0</a:t>
            </a:r>
            <a:r>
              <a:rPr lang="en-GB" sz="2000" dirty="0"/>
              <a:t> instructs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1</a:t>
            </a:r>
            <a:r>
              <a:rPr lang="en-GB" sz="2000" dirty="0"/>
              <a:t>,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2</a:t>
            </a:r>
            <a:r>
              <a:rPr lang="en-GB" sz="2000" dirty="0"/>
              <a:t>, </a:t>
            </a:r>
            <a:r>
              <a:rPr lang="en-GB" sz="2000" b="1" dirty="0">
                <a:solidFill>
                  <a:schemeClr val="accent6"/>
                </a:solidFill>
              </a:rPr>
              <a:t>T</a:t>
            </a:r>
            <a:r>
              <a:rPr lang="en-GB" sz="2000" b="1" baseline="-25000" dirty="0">
                <a:solidFill>
                  <a:schemeClr val="accent6"/>
                </a:solidFill>
              </a:rPr>
              <a:t>3</a:t>
            </a:r>
            <a:r>
              <a:rPr lang="en-GB" sz="2000" dirty="0"/>
              <a:t> to move product X accordingly</a:t>
            </a:r>
            <a:endParaRPr lang="en-GB" dirty="0"/>
          </a:p>
          <a:p>
            <a:pPr>
              <a:spcBef>
                <a:spcPts val="2472"/>
              </a:spcBef>
            </a:pPr>
            <a:r>
              <a:rPr lang="en-GB" sz="2400" b="1" dirty="0"/>
              <a:t>Nodes can fail during execution of T</a:t>
            </a:r>
          </a:p>
          <a:p>
            <a:pPr lvl="1">
              <a:spcBef>
                <a:spcPts val="672"/>
              </a:spcBef>
            </a:pPr>
            <a:r>
              <a:rPr lang="en-GB" sz="2000" dirty="0"/>
              <a:t>Should we abort or wait? </a:t>
            </a:r>
          </a:p>
          <a:p>
            <a:pPr lvl="1">
              <a:spcBef>
                <a:spcPts val="672"/>
              </a:spcBef>
            </a:pPr>
            <a:r>
              <a:rPr lang="en-GB" sz="2000" dirty="0"/>
              <a:t>What about the failing node after recovery?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6297253" y="2427957"/>
            <a:ext cx="1066180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Liverpool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7718518" y="2137771"/>
            <a:ext cx="1346848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Manchester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700733" y="3310794"/>
            <a:ext cx="910890" cy="368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London</a:t>
            </a:r>
          </a:p>
        </p:txBody>
      </p:sp>
      <p:pic>
        <p:nvPicPr>
          <p:cNvPr id="8" name="Picture 7" descr="A data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106" y="2006306"/>
            <a:ext cx="631034" cy="631034"/>
          </a:xfrm>
          <a:prstGeom prst="rect">
            <a:avLst/>
          </a:prstGeom>
        </p:spPr>
      </p:pic>
      <p:pic>
        <p:nvPicPr>
          <p:cNvPr id="10" name="Picture 9" descr="A data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631" y="3179329"/>
            <a:ext cx="631034" cy="631034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 flipH="1" flipV="1">
            <a:off x="8464829" y="2505875"/>
            <a:ext cx="620933" cy="804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 flipV="1">
            <a:off x="7363433" y="2796061"/>
            <a:ext cx="1337302" cy="578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3"/>
            <a:endCxn id="14" idx="1"/>
          </p:cNvCxnSpPr>
          <p:nvPr/>
        </p:nvCxnSpPr>
        <p:spPr>
          <a:xfrm>
            <a:off x="9065366" y="2321824"/>
            <a:ext cx="214716" cy="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7" idx="3"/>
            <a:endCxn id="10" idx="1"/>
          </p:cNvCxnSpPr>
          <p:nvPr/>
        </p:nvCxnSpPr>
        <p:spPr>
          <a:xfrm>
            <a:off x="9611623" y="3494846"/>
            <a:ext cx="191008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data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963" y="3542524"/>
            <a:ext cx="631034" cy="63103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926387" y="3590205"/>
            <a:ext cx="858304" cy="5356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Central Office</a:t>
            </a:r>
            <a:endParaRPr lang="en-US" dirty="0"/>
          </a:p>
        </p:txBody>
      </p:sp>
      <p:cxnSp>
        <p:nvCxnSpPr>
          <p:cNvPr id="19" name="Straight Connector 18"/>
          <p:cNvCxnSpPr>
            <a:stCxn id="17" idx="3"/>
            <a:endCxn id="18" idx="1"/>
          </p:cNvCxnSpPr>
          <p:nvPr/>
        </p:nvCxnSpPr>
        <p:spPr>
          <a:xfrm>
            <a:off x="6738997" y="3858042"/>
            <a:ext cx="187390" cy="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18" idx="3"/>
          </p:cNvCxnSpPr>
          <p:nvPr/>
        </p:nvCxnSpPr>
        <p:spPr>
          <a:xfrm flipV="1">
            <a:off x="7784691" y="3590204"/>
            <a:ext cx="916042" cy="2678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5" idx="2"/>
          </p:cNvCxnSpPr>
          <p:nvPr/>
        </p:nvCxnSpPr>
        <p:spPr>
          <a:xfrm flipH="1" flipV="1">
            <a:off x="6830343" y="2796061"/>
            <a:ext cx="369080" cy="7941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7530779" y="2505876"/>
            <a:ext cx="503257" cy="1084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Straight Connector 693"/>
          <p:cNvCxnSpPr/>
          <p:nvPr/>
        </p:nvCxnSpPr>
        <p:spPr>
          <a:xfrm flipH="1">
            <a:off x="7363434" y="2432665"/>
            <a:ext cx="355085" cy="573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03" name="Picture 1202" descr="A data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966" y="2296492"/>
            <a:ext cx="631034" cy="631034"/>
          </a:xfrm>
          <a:prstGeom prst="rect">
            <a:avLst/>
          </a:prstGeom>
        </p:spPr>
      </p:pic>
      <p:cxnSp>
        <p:nvCxnSpPr>
          <p:cNvPr id="1204" name="Straight Connector 1203"/>
          <p:cNvCxnSpPr>
            <a:stCxn id="1203" idx="3"/>
            <a:endCxn id="5" idx="1"/>
          </p:cNvCxnSpPr>
          <p:nvPr/>
        </p:nvCxnSpPr>
        <p:spPr>
          <a:xfrm>
            <a:off x="6096001" y="2612009"/>
            <a:ext cx="201253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8" name="TextBox 1217"/>
          <p:cNvSpPr txBox="1"/>
          <p:nvPr/>
        </p:nvSpPr>
        <p:spPr>
          <a:xfrm>
            <a:off x="7807235" y="390662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1219" name="TextBox 1218"/>
          <p:cNvSpPr txBox="1"/>
          <p:nvPr/>
        </p:nvSpPr>
        <p:spPr>
          <a:xfrm>
            <a:off x="6600198" y="197918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1220" name="TextBox 1219"/>
          <p:cNvSpPr txBox="1"/>
          <p:nvPr/>
        </p:nvSpPr>
        <p:spPr>
          <a:xfrm>
            <a:off x="8203429" y="1737360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2</a:t>
            </a:r>
          </a:p>
        </p:txBody>
      </p:sp>
      <p:sp>
        <p:nvSpPr>
          <p:cNvPr id="1221" name="TextBox 1220"/>
          <p:cNvSpPr txBox="1"/>
          <p:nvPr/>
        </p:nvSpPr>
        <p:spPr>
          <a:xfrm>
            <a:off x="9015325" y="3721956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T</a:t>
            </a:r>
            <a:r>
              <a:rPr lang="en-US" b="1" baseline="-25000" dirty="0">
                <a:solidFill>
                  <a:schemeClr val="accent6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6389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E045880-4D4E-4938-B04B-E6DD5543E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E8A872F9-C9B6-49B4-892E-65F9CF878408}"/>
              </a:ext>
            </a:extLst>
          </p:cNvPr>
          <p:cNvSpPr txBox="1">
            <a:spLocks/>
          </p:cNvSpPr>
          <p:nvPr/>
        </p:nvSpPr>
        <p:spPr>
          <a:xfrm>
            <a:off x="914400" y="2564905"/>
            <a:ext cx="10363200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Distributed Commit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861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Two-Phase Commit Protocol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Coordinates commit actions globally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>
                <a:solidFill>
                  <a:schemeClr val="accent6"/>
                </a:solidFill>
              </a:rPr>
              <a:t>Coordinator</a:t>
            </a:r>
            <a:r>
              <a:rPr lang="en-US" sz="2400" b="1" dirty="0"/>
              <a:t>:</a:t>
            </a:r>
            <a:r>
              <a:rPr lang="en-US" sz="2400" dirty="0"/>
              <a:t> executed at some node &amp; decides if and when local transactions can commit</a:t>
            </a:r>
          </a:p>
          <a:p>
            <a:r>
              <a:rPr lang="en-US" sz="2400" b="1" dirty="0"/>
              <a:t>Logging:</a:t>
            </a:r>
            <a:r>
              <a:rPr lang="en-US" sz="2400" dirty="0"/>
              <a:t> at each node locally</a:t>
            </a:r>
          </a:p>
          <a:p>
            <a:pPr lvl="1"/>
            <a:r>
              <a:rPr lang="en-US" sz="2000" dirty="0"/>
              <a:t>Messages sent to &amp; received from other nodes are logged, too!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6" name="Rounded Rectangular Callout 5"/>
          <p:cNvSpPr/>
          <p:nvPr/>
        </p:nvSpPr>
        <p:spPr>
          <a:xfrm>
            <a:off x="3835609" y="462862"/>
            <a:ext cx="2182117" cy="482938"/>
          </a:xfrm>
          <a:prstGeom prst="wedgeRoundRectCallout">
            <a:avLst>
              <a:gd name="adj1" fmla="val -67526"/>
              <a:gd name="adj2" fmla="val 9854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Not</a:t>
            </a:r>
            <a:r>
              <a:rPr lang="en-US" dirty="0"/>
              <a:t> related to 2PL!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360304" y="2132856"/>
            <a:ext cx="5515256" cy="2054770"/>
            <a:chOff x="1836304" y="2132856"/>
            <a:chExt cx="5515256" cy="2054770"/>
          </a:xfrm>
        </p:grpSpPr>
        <p:pic>
          <p:nvPicPr>
            <p:cNvPr id="7" name="Picture 6" descr="A databas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67744" y="2564904"/>
              <a:ext cx="864095" cy="864095"/>
            </a:xfrm>
            <a:prstGeom prst="rect">
              <a:avLst/>
            </a:prstGeom>
          </p:spPr>
        </p:pic>
        <p:pic>
          <p:nvPicPr>
            <p:cNvPr id="8" name="Picture 7" descr="A databas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55976" y="2132856"/>
              <a:ext cx="864095" cy="864095"/>
            </a:xfrm>
            <a:prstGeom prst="rect">
              <a:avLst/>
            </a:prstGeom>
          </p:spPr>
        </p:pic>
        <p:pic>
          <p:nvPicPr>
            <p:cNvPr id="9" name="Picture 8" descr="A databas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12160" y="3323531"/>
              <a:ext cx="864095" cy="864095"/>
            </a:xfrm>
            <a:prstGeom prst="rect">
              <a:avLst/>
            </a:prstGeom>
          </p:spPr>
        </p:pic>
        <p:cxnSp>
          <p:nvCxnSpPr>
            <p:cNvPr id="10" name="Straight Connector 9"/>
            <p:cNvCxnSpPr/>
            <p:nvPr/>
          </p:nvCxnSpPr>
          <p:spPr>
            <a:xfrm flipV="1">
              <a:off x="3201562" y="2564903"/>
              <a:ext cx="1154414" cy="3118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 flipV="1">
              <a:off x="5246132" y="2700999"/>
              <a:ext cx="910044" cy="55052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 flipV="1">
              <a:off x="3152427" y="3162664"/>
              <a:ext cx="2880320" cy="69485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1836304" y="2745428"/>
              <a:ext cx="4753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</a:t>
              </a:r>
              <a:r>
                <a:rPr lang="en-US" sz="2400" baseline="-25000" dirty="0"/>
                <a:t>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33411" y="2198766"/>
              <a:ext cx="4753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876255" y="3486167"/>
              <a:ext cx="4753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</a:t>
              </a:r>
              <a:r>
                <a:rPr lang="en-US" sz="2400" baseline="-25000" dirty="0"/>
                <a:t>2</a:t>
              </a:r>
            </a:p>
          </p:txBody>
        </p:sp>
      </p:grpSp>
      <p:sp>
        <p:nvSpPr>
          <p:cNvPr id="19" name="Rectangle 18"/>
          <p:cNvSpPr/>
          <p:nvPr/>
        </p:nvSpPr>
        <p:spPr>
          <a:xfrm>
            <a:off x="3558609" y="3426896"/>
            <a:ext cx="133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Coordinator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20" name="Rounded Rectangular Callout 19"/>
          <p:cNvSpPr/>
          <p:nvPr/>
        </p:nvSpPr>
        <p:spPr>
          <a:xfrm>
            <a:off x="4655839" y="3703227"/>
            <a:ext cx="1774590" cy="625188"/>
          </a:xfrm>
          <a:prstGeom prst="wedgeRoundRectCallout">
            <a:avLst>
              <a:gd name="adj1" fmla="val -44234"/>
              <a:gd name="adj2" fmla="val -6390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Could run at any other node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791617" y="2815817"/>
            <a:ext cx="422920" cy="362269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093849" y="2807593"/>
            <a:ext cx="632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Start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376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9" grpId="0"/>
      <p:bldP spid="20" grpId="0" animBg="1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Two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1: Decide when to commit or abort</a:t>
            </a:r>
          </a:p>
          <a:p>
            <a:endParaRPr lang="en-US" dirty="0"/>
          </a:p>
          <a:p>
            <a:r>
              <a:rPr lang="en-US" dirty="0"/>
              <a:t>Phase 2: Commit or abort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299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 1: When To Commit?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/>
              <a:t>Coordinator: ask nodes if they want to commit</a:t>
            </a:r>
          </a:p>
          <a:p>
            <a:pPr lvl="1"/>
            <a:r>
              <a:rPr lang="en-US" sz="1900" dirty="0"/>
              <a:t>Send message </a:t>
            </a:r>
            <a:r>
              <a:rPr lang="en-US" sz="1900" dirty="0">
                <a:solidFill>
                  <a:schemeClr val="accent6"/>
                </a:solidFill>
              </a:rPr>
              <a:t>“prepare T”</a:t>
            </a:r>
          </a:p>
          <a:p>
            <a:pPr lvl="1"/>
            <a:endParaRPr lang="en-US" sz="1900" dirty="0">
              <a:solidFill>
                <a:schemeClr val="accent6"/>
              </a:solidFill>
            </a:endParaRPr>
          </a:p>
          <a:p>
            <a:pPr lvl="1"/>
            <a:endParaRPr lang="en-US" sz="1900" dirty="0">
              <a:solidFill>
                <a:schemeClr val="accent6"/>
              </a:solidFill>
            </a:endParaRPr>
          </a:p>
          <a:p>
            <a:pPr lvl="1"/>
            <a:endParaRPr lang="en-US" sz="1900" dirty="0">
              <a:solidFill>
                <a:schemeClr val="accent6"/>
              </a:solidFill>
            </a:endParaRPr>
          </a:p>
          <a:p>
            <a:pPr lvl="1"/>
            <a:endParaRPr lang="en-US" sz="1900" dirty="0">
              <a:solidFill>
                <a:schemeClr val="accent6"/>
              </a:solidFill>
            </a:endParaRPr>
          </a:p>
          <a:p>
            <a:pPr lvl="1"/>
            <a:endParaRPr lang="en-US" sz="1900" dirty="0">
              <a:solidFill>
                <a:schemeClr val="accent6"/>
              </a:solidFill>
            </a:endParaRPr>
          </a:p>
          <a:p>
            <a:pPr lvl="1"/>
            <a:endParaRPr lang="en-US" sz="1900" dirty="0">
              <a:solidFill>
                <a:schemeClr val="accent6"/>
              </a:solidFill>
            </a:endParaRPr>
          </a:p>
          <a:p>
            <a:pPr lvl="1"/>
            <a:endParaRPr lang="en-US" sz="1900" dirty="0">
              <a:solidFill>
                <a:schemeClr val="accent6"/>
              </a:solidFill>
            </a:endParaRPr>
          </a:p>
          <a:p>
            <a:pPr lvl="1"/>
            <a:endParaRPr lang="en-US" sz="1900" dirty="0">
              <a:solidFill>
                <a:schemeClr val="accent6"/>
              </a:solidFill>
            </a:endParaRPr>
          </a:p>
          <a:p>
            <a:pPr lvl="1"/>
            <a:endParaRPr lang="en-US" sz="1900" dirty="0">
              <a:solidFill>
                <a:schemeClr val="accent6"/>
              </a:solidFill>
            </a:endParaRPr>
          </a:p>
          <a:p>
            <a:pPr lvl="1"/>
            <a:endParaRPr lang="en-US" sz="1900" dirty="0">
              <a:solidFill>
                <a:schemeClr val="accent6"/>
              </a:solidFill>
            </a:endParaRPr>
          </a:p>
          <a:p>
            <a:pPr lvl="1"/>
            <a:endParaRPr lang="en-US" sz="1900" dirty="0">
              <a:solidFill>
                <a:schemeClr val="accent6"/>
              </a:solidFill>
            </a:endParaRPr>
          </a:p>
          <a:p>
            <a:pPr lvl="1"/>
            <a:endParaRPr lang="en-US" sz="1900" dirty="0">
              <a:solidFill>
                <a:schemeClr val="accent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23" name="Picture 22" descr="A database">
            <a:extLst>
              <a:ext uri="{FF2B5EF4-FFF2-40B4-BE49-F238E27FC236}">
                <a16:creationId xmlns:a16="http://schemas.microsoft.com/office/drawing/2014/main" id="{4E878EAA-2214-4C0C-B17E-C26F5EF36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689" y="3333455"/>
            <a:ext cx="864095" cy="864095"/>
          </a:xfrm>
          <a:prstGeom prst="rect">
            <a:avLst/>
          </a:prstGeom>
        </p:spPr>
      </p:pic>
      <p:pic>
        <p:nvPicPr>
          <p:cNvPr id="24" name="Picture 23" descr="A database">
            <a:extLst>
              <a:ext uri="{FF2B5EF4-FFF2-40B4-BE49-F238E27FC236}">
                <a16:creationId xmlns:a16="http://schemas.microsoft.com/office/drawing/2014/main" id="{3FC7FCEA-111A-4D99-9583-05076AF97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593" y="2901407"/>
            <a:ext cx="864095" cy="864095"/>
          </a:xfrm>
          <a:prstGeom prst="rect">
            <a:avLst/>
          </a:prstGeom>
        </p:spPr>
      </p:pic>
      <p:pic>
        <p:nvPicPr>
          <p:cNvPr id="25" name="Picture 24" descr="A database">
            <a:extLst>
              <a:ext uri="{FF2B5EF4-FFF2-40B4-BE49-F238E27FC236}">
                <a16:creationId xmlns:a16="http://schemas.microsoft.com/office/drawing/2014/main" id="{0CCFEA06-DBBE-4AC6-9CEC-6D38DE440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17" y="4092082"/>
            <a:ext cx="864095" cy="864095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10D0DFB-E4A5-4859-A1D4-72C687789F28}"/>
              </a:ext>
            </a:extLst>
          </p:cNvPr>
          <p:cNvCxnSpPr/>
          <p:nvPr/>
        </p:nvCxnSpPr>
        <p:spPr>
          <a:xfrm flipV="1">
            <a:off x="4195648" y="3333454"/>
            <a:ext cx="1756944" cy="277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7EA67C-1A77-4C8E-A954-C2FE6201474D}"/>
              </a:ext>
            </a:extLst>
          </p:cNvPr>
          <p:cNvCxnSpPr/>
          <p:nvPr/>
        </p:nvCxnSpPr>
        <p:spPr>
          <a:xfrm flipH="1" flipV="1">
            <a:off x="6842748" y="3469549"/>
            <a:ext cx="1630734" cy="622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0FB80A2-C6B9-4771-8056-901124E7EDC2}"/>
              </a:ext>
            </a:extLst>
          </p:cNvPr>
          <p:cNvCxnSpPr/>
          <p:nvPr/>
        </p:nvCxnSpPr>
        <p:spPr>
          <a:xfrm flipH="1" flipV="1">
            <a:off x="4195649" y="3975644"/>
            <a:ext cx="4233969" cy="687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07097E6-BD2F-4222-9839-A937BA2A0A99}"/>
              </a:ext>
            </a:extLst>
          </p:cNvPr>
          <p:cNvSpPr txBox="1"/>
          <p:nvPr/>
        </p:nvSpPr>
        <p:spPr>
          <a:xfrm>
            <a:off x="2856249" y="3513979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A7F331-31CE-4A2A-80EC-F0381058DD5D}"/>
              </a:ext>
            </a:extLst>
          </p:cNvPr>
          <p:cNvSpPr txBox="1"/>
          <p:nvPr/>
        </p:nvSpPr>
        <p:spPr>
          <a:xfrm>
            <a:off x="6830028" y="2967317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87E315-465A-464E-B951-7CF5A3230725}"/>
              </a:ext>
            </a:extLst>
          </p:cNvPr>
          <p:cNvSpPr txBox="1"/>
          <p:nvPr/>
        </p:nvSpPr>
        <p:spPr>
          <a:xfrm>
            <a:off x="9293712" y="4254718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00E2A68-B31C-4F34-9485-1E348052454A}"/>
              </a:ext>
            </a:extLst>
          </p:cNvPr>
          <p:cNvSpPr/>
          <p:nvPr/>
        </p:nvSpPr>
        <p:spPr>
          <a:xfrm>
            <a:off x="3054553" y="4195446"/>
            <a:ext cx="133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Coordinator</a:t>
            </a:r>
            <a:endParaRPr lang="en-US" dirty="0">
              <a:solidFill>
                <a:schemeClr val="accent6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DD898FC-3638-4637-B662-0FE66F8208B7}"/>
              </a:ext>
            </a:extLst>
          </p:cNvPr>
          <p:cNvCxnSpPr/>
          <p:nvPr/>
        </p:nvCxnSpPr>
        <p:spPr>
          <a:xfrm flipV="1">
            <a:off x="4195648" y="3235172"/>
            <a:ext cx="1755598" cy="27880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332ECE7-10D7-485D-A030-151ED0EB768A}"/>
              </a:ext>
            </a:extLst>
          </p:cNvPr>
          <p:cNvCxnSpPr/>
          <p:nvPr/>
        </p:nvCxnSpPr>
        <p:spPr>
          <a:xfrm>
            <a:off x="4224401" y="3894508"/>
            <a:ext cx="4132323" cy="66032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B61C1CBD-584E-49F9-8503-A870F96C7531}"/>
              </a:ext>
            </a:extLst>
          </p:cNvPr>
          <p:cNvSpPr/>
          <p:nvPr/>
        </p:nvSpPr>
        <p:spPr>
          <a:xfrm>
            <a:off x="3500049" y="3236394"/>
            <a:ext cx="224115" cy="2241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F90342A-CAC4-4456-9665-4FB9E39FBAAA}"/>
              </a:ext>
            </a:extLst>
          </p:cNvPr>
          <p:cNvSpPr/>
          <p:nvPr/>
        </p:nvSpPr>
        <p:spPr>
          <a:xfrm>
            <a:off x="3762994" y="3239167"/>
            <a:ext cx="224115" cy="2241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Curved Connector 48">
            <a:extLst>
              <a:ext uri="{FF2B5EF4-FFF2-40B4-BE49-F238E27FC236}">
                <a16:creationId xmlns:a16="http://schemas.microsoft.com/office/drawing/2014/main" id="{18962E25-DD3C-491B-9965-226BD8952D7B}"/>
              </a:ext>
            </a:extLst>
          </p:cNvPr>
          <p:cNvCxnSpPr/>
          <p:nvPr/>
        </p:nvCxnSpPr>
        <p:spPr>
          <a:xfrm rot="16200000" flipH="1">
            <a:off x="3742192" y="3106308"/>
            <a:ext cx="2773" cy="262945"/>
          </a:xfrm>
          <a:prstGeom prst="curvedConnector3">
            <a:avLst>
              <a:gd name="adj1" fmla="val -8243779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865FC05-9518-4EFD-BB35-21E5E55C0E57}"/>
              </a:ext>
            </a:extLst>
          </p:cNvPr>
          <p:cNvSpPr txBox="1"/>
          <p:nvPr/>
        </p:nvSpPr>
        <p:spPr>
          <a:xfrm rot="21060000">
            <a:off x="4480781" y="3012207"/>
            <a:ext cx="108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prepare 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1BE0FD-36C4-491F-9D70-52EF87160CC9}"/>
              </a:ext>
            </a:extLst>
          </p:cNvPr>
          <p:cNvSpPr txBox="1"/>
          <p:nvPr/>
        </p:nvSpPr>
        <p:spPr>
          <a:xfrm rot="21600000">
            <a:off x="3199007" y="2616670"/>
            <a:ext cx="108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prepare 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602ACB-87B3-4773-8EA2-FAC1EDDA546B}"/>
              </a:ext>
            </a:extLst>
          </p:cNvPr>
          <p:cNvSpPr txBox="1"/>
          <p:nvPr/>
        </p:nvSpPr>
        <p:spPr>
          <a:xfrm rot="22140000">
            <a:off x="5727634" y="3864823"/>
            <a:ext cx="108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prepare 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5133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2" grpId="0"/>
      <p:bldP spid="43" grpId="0"/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Ready to Commit?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dirty="0"/>
              <a:t>Coordinator: ask nodes if they want to commit</a:t>
            </a:r>
          </a:p>
          <a:p>
            <a:pPr lvl="1"/>
            <a:r>
              <a:rPr lang="en-US" sz="2000" dirty="0"/>
              <a:t>Send message “</a:t>
            </a:r>
            <a:r>
              <a:rPr lang="en-US" sz="2000" dirty="0">
                <a:solidFill>
                  <a:schemeClr val="accent6"/>
                </a:solidFill>
              </a:rPr>
              <a:t>prepare T</a:t>
            </a:r>
            <a:r>
              <a:rPr lang="en-US" sz="2000" dirty="0"/>
              <a:t>”</a:t>
            </a:r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spcBef>
                <a:spcPts val="2472"/>
              </a:spcBef>
            </a:pPr>
            <a:r>
              <a:rPr lang="en-US" sz="2400" dirty="0"/>
              <a:t>At each node: decide whether to commit or abort</a:t>
            </a:r>
          </a:p>
          <a:p>
            <a:pPr lvl="1"/>
            <a:r>
              <a:rPr lang="en-US" sz="2000" dirty="0"/>
              <a:t>If commit </a:t>
            </a:r>
            <a:r>
              <a:rPr lang="en-US" sz="2000" dirty="0">
                <a:sym typeface="Wingdings"/>
              </a:rPr>
              <a:t> go into </a:t>
            </a:r>
            <a:r>
              <a:rPr lang="en-US" sz="2000" b="1" dirty="0" err="1">
                <a:solidFill>
                  <a:schemeClr val="accent1"/>
                </a:solidFill>
                <a:sym typeface="Wingdings"/>
              </a:rPr>
              <a:t>precommitted</a:t>
            </a:r>
            <a:r>
              <a:rPr lang="en-US" sz="2000" dirty="0">
                <a:solidFill>
                  <a:schemeClr val="accent1"/>
                </a:solidFill>
                <a:sym typeface="Wingdings"/>
              </a:rPr>
              <a:t> </a:t>
            </a:r>
            <a:r>
              <a:rPr lang="en-US" sz="2000" dirty="0">
                <a:sym typeface="Wingdings"/>
              </a:rPr>
              <a:t>state &amp; send back “</a:t>
            </a:r>
            <a:r>
              <a:rPr lang="en-US" sz="2000" dirty="0">
                <a:solidFill>
                  <a:schemeClr val="accent6"/>
                </a:solidFill>
                <a:sym typeface="Wingdings"/>
              </a:rPr>
              <a:t>ready T</a:t>
            </a:r>
            <a:r>
              <a:rPr lang="en-US" sz="2000" dirty="0">
                <a:sym typeface="Wingdings"/>
              </a:rPr>
              <a:t>”</a:t>
            </a:r>
          </a:p>
          <a:p>
            <a:pPr lvl="1"/>
            <a:r>
              <a:rPr lang="en-US" sz="2000" dirty="0">
                <a:sym typeface="Wingdings"/>
              </a:rPr>
              <a:t>If abort  send back “</a:t>
            </a:r>
            <a:r>
              <a:rPr lang="en-US" sz="2000" dirty="0">
                <a:solidFill>
                  <a:schemeClr val="accent6"/>
                </a:solidFill>
                <a:sym typeface="Wingdings"/>
              </a:rPr>
              <a:t>don’t commit T</a:t>
            </a:r>
            <a:r>
              <a:rPr lang="en-US" sz="2000" dirty="0">
                <a:sym typeface="Wingdings"/>
              </a:rPr>
              <a:t>” and abort local transaction</a:t>
            </a:r>
          </a:p>
          <a:p>
            <a:pPr lvl="1"/>
            <a:r>
              <a:rPr lang="en-US" sz="2000" dirty="0">
                <a:sym typeface="Wingdings"/>
              </a:rPr>
              <a:t>Can delay, but must decide eventually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26" name="Rounded Rectangular Callout 25"/>
          <p:cNvSpPr/>
          <p:nvPr/>
        </p:nvSpPr>
        <p:spPr>
          <a:xfrm>
            <a:off x="7516828" y="2202886"/>
            <a:ext cx="2543736" cy="681620"/>
          </a:xfrm>
          <a:prstGeom prst="wedgeRoundRectCallout">
            <a:avLst>
              <a:gd name="adj1" fmla="val -61434"/>
              <a:gd name="adj2" fmla="val 2238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Only the coordinator is allowed to abort T</a:t>
            </a:r>
            <a:r>
              <a:rPr lang="en-US" baseline="-25000" dirty="0"/>
              <a:t>1</a:t>
            </a:r>
            <a:r>
              <a:rPr lang="en-US" dirty="0"/>
              <a:t> now</a:t>
            </a:r>
          </a:p>
        </p:txBody>
      </p:sp>
      <p:pic>
        <p:nvPicPr>
          <p:cNvPr id="76" name="Picture 75" descr="A database">
            <a:extLst>
              <a:ext uri="{FF2B5EF4-FFF2-40B4-BE49-F238E27FC236}">
                <a16:creationId xmlns:a16="http://schemas.microsoft.com/office/drawing/2014/main" id="{80D04556-DC8B-4F1A-883F-F0F3BBBD5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689" y="3333455"/>
            <a:ext cx="864095" cy="864095"/>
          </a:xfrm>
          <a:prstGeom prst="rect">
            <a:avLst/>
          </a:prstGeom>
        </p:spPr>
      </p:pic>
      <p:pic>
        <p:nvPicPr>
          <p:cNvPr id="77" name="Picture 76" descr="A database">
            <a:extLst>
              <a:ext uri="{FF2B5EF4-FFF2-40B4-BE49-F238E27FC236}">
                <a16:creationId xmlns:a16="http://schemas.microsoft.com/office/drawing/2014/main" id="{E7178897-653F-4F6A-9EEB-53A94AC05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593" y="2901407"/>
            <a:ext cx="864095" cy="864095"/>
          </a:xfrm>
          <a:prstGeom prst="rect">
            <a:avLst/>
          </a:prstGeom>
        </p:spPr>
      </p:pic>
      <p:pic>
        <p:nvPicPr>
          <p:cNvPr id="78" name="Picture 77" descr="A database">
            <a:extLst>
              <a:ext uri="{FF2B5EF4-FFF2-40B4-BE49-F238E27FC236}">
                <a16:creationId xmlns:a16="http://schemas.microsoft.com/office/drawing/2014/main" id="{5B4CA6BE-B603-4CB4-A07A-63CCBC85B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17" y="4092082"/>
            <a:ext cx="864095" cy="864095"/>
          </a:xfrm>
          <a:prstGeom prst="rect">
            <a:avLst/>
          </a:prstGeom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D8C255C-A35D-4E03-A9B9-CAC4C10E42E1}"/>
              </a:ext>
            </a:extLst>
          </p:cNvPr>
          <p:cNvCxnSpPr/>
          <p:nvPr/>
        </p:nvCxnSpPr>
        <p:spPr>
          <a:xfrm flipV="1">
            <a:off x="4195648" y="3333454"/>
            <a:ext cx="1756944" cy="277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EE52045-DC9F-495E-8F95-C40966D58DF8}"/>
              </a:ext>
            </a:extLst>
          </p:cNvPr>
          <p:cNvCxnSpPr/>
          <p:nvPr/>
        </p:nvCxnSpPr>
        <p:spPr>
          <a:xfrm flipH="1" flipV="1">
            <a:off x="6842748" y="3469549"/>
            <a:ext cx="1630734" cy="622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3EB820F-FC8D-4386-B256-AE638C83BD1D}"/>
              </a:ext>
            </a:extLst>
          </p:cNvPr>
          <p:cNvCxnSpPr/>
          <p:nvPr/>
        </p:nvCxnSpPr>
        <p:spPr>
          <a:xfrm flipH="1" flipV="1">
            <a:off x="4195649" y="3975644"/>
            <a:ext cx="4233969" cy="687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7A02EC59-6452-4B46-BC52-A3DC7CDC8D8A}"/>
              </a:ext>
            </a:extLst>
          </p:cNvPr>
          <p:cNvSpPr txBox="1"/>
          <p:nvPr/>
        </p:nvSpPr>
        <p:spPr>
          <a:xfrm>
            <a:off x="2856249" y="3513979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D3B0234-C28D-4D1D-991D-ED892CD2F0BA}"/>
              </a:ext>
            </a:extLst>
          </p:cNvPr>
          <p:cNvSpPr txBox="1"/>
          <p:nvPr/>
        </p:nvSpPr>
        <p:spPr>
          <a:xfrm>
            <a:off x="6830028" y="2967317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9727608-7D60-46E7-BB3E-CE1C838355DD}"/>
              </a:ext>
            </a:extLst>
          </p:cNvPr>
          <p:cNvSpPr txBox="1"/>
          <p:nvPr/>
        </p:nvSpPr>
        <p:spPr>
          <a:xfrm>
            <a:off x="9293712" y="4254718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3F43F1-439C-4F41-8C4A-2C8D47F52F38}"/>
              </a:ext>
            </a:extLst>
          </p:cNvPr>
          <p:cNvSpPr/>
          <p:nvPr/>
        </p:nvSpPr>
        <p:spPr>
          <a:xfrm>
            <a:off x="3054553" y="4195446"/>
            <a:ext cx="133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Coordinator</a:t>
            </a:r>
            <a:endParaRPr lang="en-US" dirty="0">
              <a:solidFill>
                <a:schemeClr val="accent6"/>
              </a:solidFill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0ABEA001-141E-435F-B553-261C23969C52}"/>
              </a:ext>
            </a:extLst>
          </p:cNvPr>
          <p:cNvCxnSpPr/>
          <p:nvPr/>
        </p:nvCxnSpPr>
        <p:spPr>
          <a:xfrm flipV="1">
            <a:off x="4195648" y="3235172"/>
            <a:ext cx="1755598" cy="27880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AE5A3F7-B379-4C0F-A26B-86D482DE2362}"/>
              </a:ext>
            </a:extLst>
          </p:cNvPr>
          <p:cNvCxnSpPr/>
          <p:nvPr/>
        </p:nvCxnSpPr>
        <p:spPr>
          <a:xfrm>
            <a:off x="4224401" y="3894508"/>
            <a:ext cx="4132323" cy="66032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6741E796-768C-49B6-A6B3-00431A5878CF}"/>
              </a:ext>
            </a:extLst>
          </p:cNvPr>
          <p:cNvSpPr/>
          <p:nvPr/>
        </p:nvSpPr>
        <p:spPr>
          <a:xfrm>
            <a:off x="3500049" y="3236394"/>
            <a:ext cx="224115" cy="2241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FB6C0DF-9B57-47B4-88A0-B0C701ED9A98}"/>
              </a:ext>
            </a:extLst>
          </p:cNvPr>
          <p:cNvSpPr/>
          <p:nvPr/>
        </p:nvSpPr>
        <p:spPr>
          <a:xfrm>
            <a:off x="3762994" y="3239167"/>
            <a:ext cx="224115" cy="2241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Curved Connector 48">
            <a:extLst>
              <a:ext uri="{FF2B5EF4-FFF2-40B4-BE49-F238E27FC236}">
                <a16:creationId xmlns:a16="http://schemas.microsoft.com/office/drawing/2014/main" id="{F2395EEC-23CD-4358-9D39-BC8C389B4DCA}"/>
              </a:ext>
            </a:extLst>
          </p:cNvPr>
          <p:cNvCxnSpPr/>
          <p:nvPr/>
        </p:nvCxnSpPr>
        <p:spPr>
          <a:xfrm rot="16200000" flipH="1">
            <a:off x="3742192" y="3106308"/>
            <a:ext cx="2773" cy="262945"/>
          </a:xfrm>
          <a:prstGeom prst="curvedConnector3">
            <a:avLst>
              <a:gd name="adj1" fmla="val -8243779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E17F8947-8900-450D-9845-AD09DD47A319}"/>
              </a:ext>
            </a:extLst>
          </p:cNvPr>
          <p:cNvSpPr txBox="1"/>
          <p:nvPr/>
        </p:nvSpPr>
        <p:spPr>
          <a:xfrm rot="21060000">
            <a:off x="4585873" y="3012207"/>
            <a:ext cx="87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ready 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6458B8F-1A67-4162-B07A-7C2DA67D2D53}"/>
              </a:ext>
            </a:extLst>
          </p:cNvPr>
          <p:cNvSpPr txBox="1"/>
          <p:nvPr/>
        </p:nvSpPr>
        <p:spPr>
          <a:xfrm rot="21600000">
            <a:off x="3304100" y="2616670"/>
            <a:ext cx="87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ready 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57A58AC-A0AE-4437-B8D1-85E523B2E11E}"/>
              </a:ext>
            </a:extLst>
          </p:cNvPr>
          <p:cNvSpPr txBox="1"/>
          <p:nvPr/>
        </p:nvSpPr>
        <p:spPr>
          <a:xfrm rot="22140000">
            <a:off x="5462689" y="3864823"/>
            <a:ext cx="161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sym typeface="Wingdings"/>
              </a:rPr>
              <a:t>don’t commit T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57EE874-10AE-44DC-9289-1B428F8723AB}"/>
              </a:ext>
            </a:extLst>
          </p:cNvPr>
          <p:cNvSpPr txBox="1"/>
          <p:nvPr/>
        </p:nvSpPr>
        <p:spPr>
          <a:xfrm>
            <a:off x="5622636" y="2472806"/>
            <a:ext cx="154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precommitted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D921134-E752-4AED-9266-FBD7CBE5226A}"/>
              </a:ext>
            </a:extLst>
          </p:cNvPr>
          <p:cNvSpPr txBox="1"/>
          <p:nvPr/>
        </p:nvSpPr>
        <p:spPr>
          <a:xfrm>
            <a:off x="8508045" y="3588024"/>
            <a:ext cx="707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abort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E1427E3-73AB-45B8-94DB-63D3FE46C029}"/>
              </a:ext>
            </a:extLst>
          </p:cNvPr>
          <p:cNvSpPr txBox="1"/>
          <p:nvPr/>
        </p:nvSpPr>
        <p:spPr>
          <a:xfrm>
            <a:off x="1919041" y="3104078"/>
            <a:ext cx="154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 err="1">
                <a:solidFill>
                  <a:schemeClr val="accent1"/>
                </a:solidFill>
              </a:rPr>
              <a:t>precommitted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97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91" grpId="0"/>
      <p:bldP spid="92" grpId="0"/>
      <p:bldP spid="93" grpId="0"/>
      <p:bldP spid="94" grpId="0"/>
      <p:bldP spid="95" grpId="0"/>
      <p:bldP spid="9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Let’s Do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14051"/>
          </a:xfrm>
        </p:spPr>
        <p:txBody>
          <a:bodyPr>
            <a:normAutofit/>
          </a:bodyPr>
          <a:lstStyle/>
          <a:p>
            <a:r>
              <a:rPr lang="en-US" sz="2400" dirty="0"/>
              <a:t>Coordinator: waits for responses of nodes</a:t>
            </a:r>
          </a:p>
          <a:p>
            <a:pPr lvl="1"/>
            <a:r>
              <a:rPr lang="en-US" sz="2000" dirty="0"/>
              <a:t>Assume nodes who don’t reply before a given timeout wish to abort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If all nodes respond “</a:t>
            </a:r>
            <a:r>
              <a:rPr lang="en-US" sz="2400" dirty="0">
                <a:solidFill>
                  <a:schemeClr val="accent6"/>
                </a:solidFill>
              </a:rPr>
              <a:t>ready T</a:t>
            </a:r>
            <a:r>
              <a:rPr lang="en-US" sz="2400" dirty="0"/>
              <a:t>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/>
          </a:p>
        </p:txBody>
      </p:sp>
      <p:pic>
        <p:nvPicPr>
          <p:cNvPr id="28" name="Picture 27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689" y="3333455"/>
            <a:ext cx="864095" cy="864095"/>
          </a:xfrm>
          <a:prstGeom prst="rect">
            <a:avLst/>
          </a:prstGeom>
        </p:spPr>
      </p:pic>
      <p:pic>
        <p:nvPicPr>
          <p:cNvPr id="30" name="Picture 29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593" y="2901407"/>
            <a:ext cx="864095" cy="864095"/>
          </a:xfrm>
          <a:prstGeom prst="rect">
            <a:avLst/>
          </a:prstGeom>
        </p:spPr>
      </p:pic>
      <p:pic>
        <p:nvPicPr>
          <p:cNvPr id="31" name="Picture 30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17" y="4092082"/>
            <a:ext cx="864095" cy="864095"/>
          </a:xfrm>
          <a:prstGeom prst="rect">
            <a:avLst/>
          </a:prstGeom>
        </p:spPr>
      </p:pic>
      <p:cxnSp>
        <p:nvCxnSpPr>
          <p:cNvPr id="32" name="Straight Connector 31"/>
          <p:cNvCxnSpPr/>
          <p:nvPr/>
        </p:nvCxnSpPr>
        <p:spPr>
          <a:xfrm flipV="1">
            <a:off x="4195648" y="3333454"/>
            <a:ext cx="1756944" cy="277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6842748" y="3469549"/>
            <a:ext cx="1630734" cy="622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4195649" y="3975644"/>
            <a:ext cx="4233969" cy="687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856249" y="3513979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0028" y="2967317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3712" y="4254718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54553" y="4195446"/>
            <a:ext cx="133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Coordinator</a:t>
            </a:r>
            <a:endParaRPr lang="en-US" dirty="0">
              <a:solidFill>
                <a:schemeClr val="accent6"/>
              </a:solidFill>
            </a:endParaRPr>
          </a:p>
        </p:txBody>
      </p:sp>
      <p:cxnSp>
        <p:nvCxnSpPr>
          <p:cNvPr id="42" name="Straight Arrow Connector 41"/>
          <p:cNvCxnSpPr/>
          <p:nvPr/>
        </p:nvCxnSpPr>
        <p:spPr>
          <a:xfrm flipV="1">
            <a:off x="4195648" y="3235172"/>
            <a:ext cx="1755598" cy="27880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4224401" y="3894508"/>
            <a:ext cx="4132323" cy="66032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500049" y="3236394"/>
            <a:ext cx="224115" cy="2241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762994" y="3239167"/>
            <a:ext cx="224115" cy="2241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Curved Connector 48"/>
          <p:cNvCxnSpPr/>
          <p:nvPr/>
        </p:nvCxnSpPr>
        <p:spPr>
          <a:xfrm rot="16200000" flipH="1">
            <a:off x="3742192" y="3106308"/>
            <a:ext cx="2773" cy="262945"/>
          </a:xfrm>
          <a:prstGeom prst="curvedConnector3">
            <a:avLst>
              <a:gd name="adj1" fmla="val -8243779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 rot="21060000">
            <a:off x="4585873" y="3012207"/>
            <a:ext cx="87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ready T</a:t>
            </a:r>
          </a:p>
        </p:txBody>
      </p:sp>
      <p:sp>
        <p:nvSpPr>
          <p:cNvPr id="51" name="TextBox 50"/>
          <p:cNvSpPr txBox="1"/>
          <p:nvPr/>
        </p:nvSpPr>
        <p:spPr>
          <a:xfrm rot="21600000">
            <a:off x="3304100" y="2616670"/>
            <a:ext cx="87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ready T</a:t>
            </a:r>
          </a:p>
        </p:txBody>
      </p:sp>
      <p:sp>
        <p:nvSpPr>
          <p:cNvPr id="52" name="TextBox 51"/>
          <p:cNvSpPr txBox="1"/>
          <p:nvPr/>
        </p:nvSpPr>
        <p:spPr>
          <a:xfrm rot="22140000">
            <a:off x="5832726" y="3864823"/>
            <a:ext cx="87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ready 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2636" y="2472806"/>
            <a:ext cx="154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precommitted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088442" y="3588024"/>
            <a:ext cx="154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1"/>
                </a:solidFill>
              </a:rPr>
              <a:t>precommitted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919041" y="3104078"/>
            <a:ext cx="154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 err="1">
                <a:solidFill>
                  <a:schemeClr val="accent1"/>
                </a:solidFill>
              </a:rPr>
              <a:t>precommitted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515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53" grpId="0"/>
      <p:bldP spid="54" grpId="0"/>
      <p:bldP spid="5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Let’s Do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979176"/>
          </a:xfrm>
        </p:spPr>
        <p:txBody>
          <a:bodyPr>
            <a:normAutofit/>
          </a:bodyPr>
          <a:lstStyle/>
          <a:p>
            <a:r>
              <a:rPr lang="en-US" sz="2400" dirty="0"/>
              <a:t>Coordinator: waits for responses of nodes</a:t>
            </a:r>
          </a:p>
          <a:p>
            <a:pPr lvl="1"/>
            <a:r>
              <a:rPr lang="en-US" sz="2000" dirty="0"/>
              <a:t>Assume nodes who don’t reply before a given timeout wish to abort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If all nodes respond “</a:t>
            </a:r>
            <a:r>
              <a:rPr lang="en-US" sz="2400" dirty="0">
                <a:solidFill>
                  <a:schemeClr val="accent6"/>
                </a:solidFill>
              </a:rPr>
              <a:t>ready T</a:t>
            </a:r>
            <a:r>
              <a:rPr lang="en-US" sz="2400" dirty="0"/>
              <a:t>”</a:t>
            </a:r>
          </a:p>
          <a:p>
            <a:pPr lvl="1"/>
            <a:r>
              <a:rPr lang="en-US" sz="2000" dirty="0"/>
              <a:t>Send ”</a:t>
            </a:r>
            <a:r>
              <a:rPr lang="en-US" sz="2000" dirty="0">
                <a:solidFill>
                  <a:schemeClr val="accent6"/>
                </a:solidFill>
              </a:rPr>
              <a:t>commit T</a:t>
            </a:r>
            <a:r>
              <a:rPr lang="en-US" sz="2000" dirty="0"/>
              <a:t>” to all nodes </a:t>
            </a:r>
            <a:r>
              <a:rPr lang="en-US" sz="2000" dirty="0">
                <a:sym typeface="Wingdings"/>
              </a:rPr>
              <a:t> nodes commit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26" name="Picture 25" descr="A database">
            <a:extLst>
              <a:ext uri="{FF2B5EF4-FFF2-40B4-BE49-F238E27FC236}">
                <a16:creationId xmlns:a16="http://schemas.microsoft.com/office/drawing/2014/main" id="{BAC82F50-03AD-489F-87FF-ACEDBEB36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689" y="3333455"/>
            <a:ext cx="864095" cy="864095"/>
          </a:xfrm>
          <a:prstGeom prst="rect">
            <a:avLst/>
          </a:prstGeom>
        </p:spPr>
      </p:pic>
      <p:pic>
        <p:nvPicPr>
          <p:cNvPr id="27" name="Picture 26" descr="A database">
            <a:extLst>
              <a:ext uri="{FF2B5EF4-FFF2-40B4-BE49-F238E27FC236}">
                <a16:creationId xmlns:a16="http://schemas.microsoft.com/office/drawing/2014/main" id="{18E8D567-75D1-4392-A06F-6E51C8C50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593" y="2901407"/>
            <a:ext cx="864095" cy="864095"/>
          </a:xfrm>
          <a:prstGeom prst="rect">
            <a:avLst/>
          </a:prstGeom>
        </p:spPr>
      </p:pic>
      <p:pic>
        <p:nvPicPr>
          <p:cNvPr id="29" name="Picture 28" descr="A database">
            <a:extLst>
              <a:ext uri="{FF2B5EF4-FFF2-40B4-BE49-F238E27FC236}">
                <a16:creationId xmlns:a16="http://schemas.microsoft.com/office/drawing/2014/main" id="{1205E06D-4944-481E-83E5-A5E1ED02D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17" y="4092082"/>
            <a:ext cx="864095" cy="864095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18621A5-A8E4-4F67-97A2-5CD1371DF3E0}"/>
              </a:ext>
            </a:extLst>
          </p:cNvPr>
          <p:cNvCxnSpPr/>
          <p:nvPr/>
        </p:nvCxnSpPr>
        <p:spPr>
          <a:xfrm flipV="1">
            <a:off x="4195648" y="3333454"/>
            <a:ext cx="1756944" cy="277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CBAC981-D7D8-4C13-96FD-1A3348A0FDEA}"/>
              </a:ext>
            </a:extLst>
          </p:cNvPr>
          <p:cNvCxnSpPr/>
          <p:nvPr/>
        </p:nvCxnSpPr>
        <p:spPr>
          <a:xfrm flipH="1" flipV="1">
            <a:off x="6842748" y="3469549"/>
            <a:ext cx="1630734" cy="622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988BF97-7509-4D94-9FD6-194447B6D39A}"/>
              </a:ext>
            </a:extLst>
          </p:cNvPr>
          <p:cNvCxnSpPr/>
          <p:nvPr/>
        </p:nvCxnSpPr>
        <p:spPr>
          <a:xfrm flipH="1" flipV="1">
            <a:off x="4195649" y="3975644"/>
            <a:ext cx="4233969" cy="687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9701B7E-4897-4E8A-AAD7-CF5CC6DEC53F}"/>
              </a:ext>
            </a:extLst>
          </p:cNvPr>
          <p:cNvSpPr txBox="1"/>
          <p:nvPr/>
        </p:nvSpPr>
        <p:spPr>
          <a:xfrm>
            <a:off x="2856249" y="3513979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0ACA2A-11EC-4B85-B00B-E82CD1FBE9D2}"/>
              </a:ext>
            </a:extLst>
          </p:cNvPr>
          <p:cNvSpPr txBox="1"/>
          <p:nvPr/>
        </p:nvSpPr>
        <p:spPr>
          <a:xfrm>
            <a:off x="6830028" y="2967317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398360-0DA2-47A0-A4F4-399B9A57FA7A}"/>
              </a:ext>
            </a:extLst>
          </p:cNvPr>
          <p:cNvSpPr txBox="1"/>
          <p:nvPr/>
        </p:nvSpPr>
        <p:spPr>
          <a:xfrm>
            <a:off x="9293712" y="4254718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E5588D4-E3BD-440E-A8D6-714B6F68564D}"/>
              </a:ext>
            </a:extLst>
          </p:cNvPr>
          <p:cNvSpPr/>
          <p:nvPr/>
        </p:nvSpPr>
        <p:spPr>
          <a:xfrm>
            <a:off x="3054553" y="4195446"/>
            <a:ext cx="133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Coordinator</a:t>
            </a:r>
            <a:endParaRPr lang="en-US" dirty="0">
              <a:solidFill>
                <a:schemeClr val="accent6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2BF818B-524B-4221-92DC-C0C491D9583D}"/>
              </a:ext>
            </a:extLst>
          </p:cNvPr>
          <p:cNvCxnSpPr/>
          <p:nvPr/>
        </p:nvCxnSpPr>
        <p:spPr>
          <a:xfrm flipV="1">
            <a:off x="4195648" y="3235172"/>
            <a:ext cx="1755598" cy="27880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996674D-4D2A-4A87-8D63-4C1B95C602FD}"/>
              </a:ext>
            </a:extLst>
          </p:cNvPr>
          <p:cNvCxnSpPr/>
          <p:nvPr/>
        </p:nvCxnSpPr>
        <p:spPr>
          <a:xfrm>
            <a:off x="4224401" y="3894508"/>
            <a:ext cx="4132323" cy="66032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4783679B-8B1F-4F62-8D75-1DA40ED0EDE3}"/>
              </a:ext>
            </a:extLst>
          </p:cNvPr>
          <p:cNvSpPr/>
          <p:nvPr/>
        </p:nvSpPr>
        <p:spPr>
          <a:xfrm>
            <a:off x="3500049" y="3236394"/>
            <a:ext cx="224115" cy="2241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B302F60-6496-4419-B9EF-2DAA8B599519}"/>
              </a:ext>
            </a:extLst>
          </p:cNvPr>
          <p:cNvSpPr/>
          <p:nvPr/>
        </p:nvSpPr>
        <p:spPr>
          <a:xfrm>
            <a:off x="3762994" y="3239167"/>
            <a:ext cx="224115" cy="2241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Curved Connector 48">
            <a:extLst>
              <a:ext uri="{FF2B5EF4-FFF2-40B4-BE49-F238E27FC236}">
                <a16:creationId xmlns:a16="http://schemas.microsoft.com/office/drawing/2014/main" id="{C7E55405-D905-4E94-9729-561A15A99E1A}"/>
              </a:ext>
            </a:extLst>
          </p:cNvPr>
          <p:cNvCxnSpPr/>
          <p:nvPr/>
        </p:nvCxnSpPr>
        <p:spPr>
          <a:xfrm rot="16200000" flipH="1">
            <a:off x="3742192" y="3106308"/>
            <a:ext cx="2773" cy="262945"/>
          </a:xfrm>
          <a:prstGeom prst="curvedConnector3">
            <a:avLst>
              <a:gd name="adj1" fmla="val -8243779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210EBDBF-5D2E-4897-B8E7-A1A8AF9EA618}"/>
              </a:ext>
            </a:extLst>
          </p:cNvPr>
          <p:cNvSpPr txBox="1"/>
          <p:nvPr/>
        </p:nvSpPr>
        <p:spPr>
          <a:xfrm rot="21060000">
            <a:off x="4492354" y="3012207"/>
            <a:ext cx="1065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commit 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627870-7470-4A72-9987-7F99B4EB86D7}"/>
              </a:ext>
            </a:extLst>
          </p:cNvPr>
          <p:cNvSpPr txBox="1"/>
          <p:nvPr/>
        </p:nvSpPr>
        <p:spPr>
          <a:xfrm rot="21600000">
            <a:off x="3210581" y="2616670"/>
            <a:ext cx="1065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commit 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D84E90-AC47-45AD-99C6-83CAF8A75157}"/>
              </a:ext>
            </a:extLst>
          </p:cNvPr>
          <p:cNvSpPr txBox="1"/>
          <p:nvPr/>
        </p:nvSpPr>
        <p:spPr>
          <a:xfrm rot="22140000">
            <a:off x="5739208" y="3864823"/>
            <a:ext cx="1065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commit 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365E5F-B68A-4F97-A652-05A61BA4701A}"/>
              </a:ext>
            </a:extLst>
          </p:cNvPr>
          <p:cNvSpPr txBox="1"/>
          <p:nvPr/>
        </p:nvSpPr>
        <p:spPr>
          <a:xfrm>
            <a:off x="5622636" y="2472806"/>
            <a:ext cx="154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precommitted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3920C49-E53D-4DE8-B2B9-7E43A104EC41}"/>
              </a:ext>
            </a:extLst>
          </p:cNvPr>
          <p:cNvSpPr txBox="1"/>
          <p:nvPr/>
        </p:nvSpPr>
        <p:spPr>
          <a:xfrm>
            <a:off x="8088442" y="3588024"/>
            <a:ext cx="154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>
                <a:solidFill>
                  <a:schemeClr val="accent1"/>
                </a:solidFill>
              </a:rPr>
              <a:t>precommitted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C41A984-BA4D-400E-9D55-7183EDDAED55}"/>
              </a:ext>
            </a:extLst>
          </p:cNvPr>
          <p:cNvSpPr txBox="1"/>
          <p:nvPr/>
        </p:nvSpPr>
        <p:spPr>
          <a:xfrm>
            <a:off x="1919041" y="3104078"/>
            <a:ext cx="154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 err="1">
                <a:solidFill>
                  <a:schemeClr val="accent1"/>
                </a:solidFill>
              </a:rPr>
              <a:t>precommitted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43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D4D09247-7F04-4D6F-A98F-1AED0472C510}"/>
              </a:ext>
            </a:extLst>
          </p:cNvPr>
          <p:cNvSpPr txBox="1">
            <a:spLocks/>
          </p:cNvSpPr>
          <p:nvPr/>
        </p:nvSpPr>
        <p:spPr>
          <a:xfrm>
            <a:off x="1097280" y="1845734"/>
            <a:ext cx="10058400" cy="497917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Coordinator: waits for responses of nodes</a:t>
            </a:r>
          </a:p>
          <a:p>
            <a:pPr lvl="1"/>
            <a:r>
              <a:rPr lang="en-US" sz="2000" dirty="0"/>
              <a:t>Assume nodes who don’t reply before a given timeout wish to abort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If all nodes respond “</a:t>
            </a:r>
            <a:r>
              <a:rPr lang="en-US" sz="2400" dirty="0">
                <a:solidFill>
                  <a:schemeClr val="accent6"/>
                </a:solidFill>
              </a:rPr>
              <a:t>ready T</a:t>
            </a:r>
            <a:r>
              <a:rPr lang="en-US" sz="2400" dirty="0"/>
              <a:t>”</a:t>
            </a:r>
          </a:p>
          <a:p>
            <a:pPr lvl="1"/>
            <a:r>
              <a:rPr lang="en-US" sz="2000" dirty="0"/>
              <a:t>Send ”</a:t>
            </a:r>
            <a:r>
              <a:rPr lang="en-US" sz="2000" dirty="0">
                <a:solidFill>
                  <a:schemeClr val="accent6"/>
                </a:solidFill>
              </a:rPr>
              <a:t>commit T</a:t>
            </a:r>
            <a:r>
              <a:rPr lang="en-US" sz="2000" dirty="0"/>
              <a:t>” to all nodes </a:t>
            </a:r>
            <a:r>
              <a:rPr lang="en-US" sz="2000" dirty="0">
                <a:sym typeface="Wingdings"/>
              </a:rPr>
              <a:t> nodes commit</a:t>
            </a:r>
          </a:p>
          <a:p>
            <a:r>
              <a:rPr lang="en-US" sz="2400" dirty="0"/>
              <a:t>If some node responds “</a:t>
            </a:r>
            <a:r>
              <a:rPr lang="en-US" sz="2400" dirty="0">
                <a:solidFill>
                  <a:schemeClr val="accent6"/>
                </a:solidFill>
              </a:rPr>
              <a:t>don’t commit T</a:t>
            </a:r>
            <a:r>
              <a:rPr lang="en-US" sz="24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Let’s Do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18</a:t>
            </a:fld>
            <a:endParaRPr lang="en-GB"/>
          </a:p>
        </p:txBody>
      </p:sp>
      <p:pic>
        <p:nvPicPr>
          <p:cNvPr id="26" name="Picture 25" descr="A database">
            <a:extLst>
              <a:ext uri="{FF2B5EF4-FFF2-40B4-BE49-F238E27FC236}">
                <a16:creationId xmlns:a16="http://schemas.microsoft.com/office/drawing/2014/main" id="{4340A8B1-E715-4341-9F6D-6191B8A5F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689" y="3333455"/>
            <a:ext cx="864095" cy="864095"/>
          </a:xfrm>
          <a:prstGeom prst="rect">
            <a:avLst/>
          </a:prstGeom>
        </p:spPr>
      </p:pic>
      <p:pic>
        <p:nvPicPr>
          <p:cNvPr id="27" name="Picture 26" descr="A database">
            <a:extLst>
              <a:ext uri="{FF2B5EF4-FFF2-40B4-BE49-F238E27FC236}">
                <a16:creationId xmlns:a16="http://schemas.microsoft.com/office/drawing/2014/main" id="{39B306D4-6102-4FED-9590-1E248BD50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593" y="2901407"/>
            <a:ext cx="864095" cy="864095"/>
          </a:xfrm>
          <a:prstGeom prst="rect">
            <a:avLst/>
          </a:prstGeom>
        </p:spPr>
      </p:pic>
      <p:pic>
        <p:nvPicPr>
          <p:cNvPr id="29" name="Picture 28" descr="A database">
            <a:extLst>
              <a:ext uri="{FF2B5EF4-FFF2-40B4-BE49-F238E27FC236}">
                <a16:creationId xmlns:a16="http://schemas.microsoft.com/office/drawing/2014/main" id="{E3BAE4DF-C1B6-40F5-B7D6-99D51858B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17" y="4092082"/>
            <a:ext cx="864095" cy="864095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E29744-C383-46E1-9A26-B29CE4171CEC}"/>
              </a:ext>
            </a:extLst>
          </p:cNvPr>
          <p:cNvCxnSpPr/>
          <p:nvPr/>
        </p:nvCxnSpPr>
        <p:spPr>
          <a:xfrm flipV="1">
            <a:off x="4195648" y="3333454"/>
            <a:ext cx="1756944" cy="277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B1B41BB-591D-48B3-9E78-98CAA4820579}"/>
              </a:ext>
            </a:extLst>
          </p:cNvPr>
          <p:cNvCxnSpPr/>
          <p:nvPr/>
        </p:nvCxnSpPr>
        <p:spPr>
          <a:xfrm flipH="1" flipV="1">
            <a:off x="6842748" y="3469549"/>
            <a:ext cx="1630734" cy="622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0C69EEC-B6E1-4EEC-AE67-1C85D89C5E17}"/>
              </a:ext>
            </a:extLst>
          </p:cNvPr>
          <p:cNvCxnSpPr/>
          <p:nvPr/>
        </p:nvCxnSpPr>
        <p:spPr>
          <a:xfrm flipH="1" flipV="1">
            <a:off x="4195649" y="3975644"/>
            <a:ext cx="4233969" cy="687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F89E531-A624-4D61-B4AA-CC502655B557}"/>
              </a:ext>
            </a:extLst>
          </p:cNvPr>
          <p:cNvSpPr txBox="1"/>
          <p:nvPr/>
        </p:nvSpPr>
        <p:spPr>
          <a:xfrm>
            <a:off x="2856249" y="3513979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CE400D-C5D5-46B1-A358-A6F191AF6A18}"/>
              </a:ext>
            </a:extLst>
          </p:cNvPr>
          <p:cNvSpPr txBox="1"/>
          <p:nvPr/>
        </p:nvSpPr>
        <p:spPr>
          <a:xfrm>
            <a:off x="6830028" y="2967317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6A4D2B-E1F9-4A2F-A0C1-DC9D06D074C1}"/>
              </a:ext>
            </a:extLst>
          </p:cNvPr>
          <p:cNvSpPr txBox="1"/>
          <p:nvPr/>
        </p:nvSpPr>
        <p:spPr>
          <a:xfrm>
            <a:off x="9293712" y="4254718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25D659F-52D9-40AB-A3F5-132D41336C24}"/>
              </a:ext>
            </a:extLst>
          </p:cNvPr>
          <p:cNvSpPr/>
          <p:nvPr/>
        </p:nvSpPr>
        <p:spPr>
          <a:xfrm>
            <a:off x="3054553" y="4195446"/>
            <a:ext cx="133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Coordinator</a:t>
            </a:r>
            <a:endParaRPr lang="en-US" dirty="0">
              <a:solidFill>
                <a:schemeClr val="accent6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AE0447B-ABCC-4515-9A0D-905B23A2040C}"/>
              </a:ext>
            </a:extLst>
          </p:cNvPr>
          <p:cNvCxnSpPr/>
          <p:nvPr/>
        </p:nvCxnSpPr>
        <p:spPr>
          <a:xfrm flipV="1">
            <a:off x="4195648" y="3235172"/>
            <a:ext cx="1755598" cy="27880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CB9BDD6-A349-4425-B21A-794A20DBB574}"/>
              </a:ext>
            </a:extLst>
          </p:cNvPr>
          <p:cNvCxnSpPr/>
          <p:nvPr/>
        </p:nvCxnSpPr>
        <p:spPr>
          <a:xfrm>
            <a:off x="4224401" y="3894508"/>
            <a:ext cx="4132323" cy="66032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21610C3-0F20-458C-BA63-707CEE3D7256}"/>
              </a:ext>
            </a:extLst>
          </p:cNvPr>
          <p:cNvSpPr/>
          <p:nvPr/>
        </p:nvSpPr>
        <p:spPr>
          <a:xfrm>
            <a:off x="3500049" y="3236394"/>
            <a:ext cx="224115" cy="2241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6E7CA0-44EE-4233-9B43-6284C9784611}"/>
              </a:ext>
            </a:extLst>
          </p:cNvPr>
          <p:cNvSpPr/>
          <p:nvPr/>
        </p:nvSpPr>
        <p:spPr>
          <a:xfrm>
            <a:off x="3762994" y="3239167"/>
            <a:ext cx="224115" cy="2241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Curved Connector 48">
            <a:extLst>
              <a:ext uri="{FF2B5EF4-FFF2-40B4-BE49-F238E27FC236}">
                <a16:creationId xmlns:a16="http://schemas.microsoft.com/office/drawing/2014/main" id="{CD984544-8D76-480C-9F62-53BE2A9FF83E}"/>
              </a:ext>
            </a:extLst>
          </p:cNvPr>
          <p:cNvCxnSpPr/>
          <p:nvPr/>
        </p:nvCxnSpPr>
        <p:spPr>
          <a:xfrm rot="16200000" flipH="1">
            <a:off x="3742192" y="3106308"/>
            <a:ext cx="2773" cy="262945"/>
          </a:xfrm>
          <a:prstGeom prst="curvedConnector3">
            <a:avLst>
              <a:gd name="adj1" fmla="val -8243779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7642181-62B5-43C4-A2D0-0083801BF76A}"/>
              </a:ext>
            </a:extLst>
          </p:cNvPr>
          <p:cNvSpPr txBox="1"/>
          <p:nvPr/>
        </p:nvSpPr>
        <p:spPr>
          <a:xfrm rot="21060000">
            <a:off x="4585873" y="3012207"/>
            <a:ext cx="87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ready 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C19D01-EB54-4531-A2E2-3D3F6641377A}"/>
              </a:ext>
            </a:extLst>
          </p:cNvPr>
          <p:cNvSpPr txBox="1"/>
          <p:nvPr/>
        </p:nvSpPr>
        <p:spPr>
          <a:xfrm rot="21600000">
            <a:off x="3304100" y="2616670"/>
            <a:ext cx="87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ready 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0EEE51-FB9D-4AE7-BD2B-8320811A9748}"/>
              </a:ext>
            </a:extLst>
          </p:cNvPr>
          <p:cNvSpPr txBox="1"/>
          <p:nvPr/>
        </p:nvSpPr>
        <p:spPr>
          <a:xfrm rot="22140000">
            <a:off x="5462689" y="3864823"/>
            <a:ext cx="161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sym typeface="Wingdings"/>
              </a:rPr>
              <a:t>don’t commit T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AA650A7-53CA-4232-8D61-7E285130CC23}"/>
              </a:ext>
            </a:extLst>
          </p:cNvPr>
          <p:cNvSpPr txBox="1"/>
          <p:nvPr/>
        </p:nvSpPr>
        <p:spPr>
          <a:xfrm>
            <a:off x="5622636" y="2472806"/>
            <a:ext cx="154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accent1"/>
                </a:solidFill>
              </a:rPr>
              <a:t>precommitted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468188-6025-4048-93CF-31DCF52BD88F}"/>
              </a:ext>
            </a:extLst>
          </p:cNvPr>
          <p:cNvSpPr txBox="1"/>
          <p:nvPr/>
        </p:nvSpPr>
        <p:spPr>
          <a:xfrm>
            <a:off x="8508045" y="3588024"/>
            <a:ext cx="707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abort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8A853E-8943-4BFF-928C-C399F1296EF2}"/>
              </a:ext>
            </a:extLst>
          </p:cNvPr>
          <p:cNvSpPr txBox="1"/>
          <p:nvPr/>
        </p:nvSpPr>
        <p:spPr>
          <a:xfrm>
            <a:off x="1919041" y="3104078"/>
            <a:ext cx="154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 err="1">
                <a:solidFill>
                  <a:schemeClr val="accent1"/>
                </a:solidFill>
              </a:rPr>
              <a:t>precommitted</a:t>
            </a:r>
            <a:endParaRPr lang="en-US" b="1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00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66" grpId="0"/>
      <p:bldP spid="6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D4D09247-7F04-4D6F-A98F-1AED0472C510}"/>
              </a:ext>
            </a:extLst>
          </p:cNvPr>
          <p:cNvSpPr txBox="1">
            <a:spLocks/>
          </p:cNvSpPr>
          <p:nvPr/>
        </p:nvSpPr>
        <p:spPr>
          <a:xfrm>
            <a:off x="1097280" y="1845734"/>
            <a:ext cx="10058400" cy="497917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Coordinator: waits for responses of nodes</a:t>
            </a:r>
          </a:p>
          <a:p>
            <a:pPr lvl="1"/>
            <a:r>
              <a:rPr lang="en-US" sz="2000" dirty="0"/>
              <a:t>Assume nodes who don’t reply before a given timeout wish to abort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If all nodes respond “</a:t>
            </a:r>
            <a:r>
              <a:rPr lang="en-US" sz="2400" dirty="0">
                <a:solidFill>
                  <a:schemeClr val="accent6"/>
                </a:solidFill>
              </a:rPr>
              <a:t>ready T</a:t>
            </a:r>
            <a:r>
              <a:rPr lang="en-US" sz="2400" dirty="0"/>
              <a:t>”</a:t>
            </a:r>
          </a:p>
          <a:p>
            <a:pPr lvl="1"/>
            <a:r>
              <a:rPr lang="en-US" sz="2000" dirty="0"/>
              <a:t>Send ”</a:t>
            </a:r>
            <a:r>
              <a:rPr lang="en-US" sz="2000" dirty="0">
                <a:solidFill>
                  <a:schemeClr val="accent6"/>
                </a:solidFill>
              </a:rPr>
              <a:t>commit T</a:t>
            </a:r>
            <a:r>
              <a:rPr lang="en-US" sz="2000" dirty="0"/>
              <a:t>” to all nodes </a:t>
            </a:r>
            <a:r>
              <a:rPr lang="en-US" sz="2000" dirty="0">
                <a:sym typeface="Wingdings"/>
              </a:rPr>
              <a:t> nodes commit</a:t>
            </a:r>
          </a:p>
          <a:p>
            <a:r>
              <a:rPr lang="en-US" sz="2400" dirty="0"/>
              <a:t>If some node responds “</a:t>
            </a:r>
            <a:r>
              <a:rPr lang="en-US" sz="2400" dirty="0">
                <a:solidFill>
                  <a:schemeClr val="accent6"/>
                </a:solidFill>
              </a:rPr>
              <a:t>don’t commit T</a:t>
            </a:r>
            <a:r>
              <a:rPr lang="en-US" sz="2400" dirty="0"/>
              <a:t>”</a:t>
            </a:r>
          </a:p>
          <a:p>
            <a:pPr lvl="1"/>
            <a:r>
              <a:rPr lang="en-US" sz="2000" dirty="0"/>
              <a:t>Send  “</a:t>
            </a:r>
            <a:r>
              <a:rPr lang="en-US" sz="2000" dirty="0">
                <a:solidFill>
                  <a:schemeClr val="accent6"/>
                </a:solidFill>
              </a:rPr>
              <a:t>abort T</a:t>
            </a:r>
            <a:r>
              <a:rPr lang="en-US" sz="2000" dirty="0"/>
              <a:t>” to all nodes </a:t>
            </a:r>
            <a:r>
              <a:rPr lang="en-US" sz="2000" dirty="0">
                <a:sym typeface="Wingdings"/>
              </a:rPr>
              <a:t> nodes abort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Let’s Do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26" name="Picture 25" descr="A database">
            <a:extLst>
              <a:ext uri="{FF2B5EF4-FFF2-40B4-BE49-F238E27FC236}">
                <a16:creationId xmlns:a16="http://schemas.microsoft.com/office/drawing/2014/main" id="{4340A8B1-E715-4341-9F6D-6191B8A5F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689" y="3333455"/>
            <a:ext cx="864095" cy="864095"/>
          </a:xfrm>
          <a:prstGeom prst="rect">
            <a:avLst/>
          </a:prstGeom>
        </p:spPr>
      </p:pic>
      <p:pic>
        <p:nvPicPr>
          <p:cNvPr id="27" name="Picture 26" descr="A database">
            <a:extLst>
              <a:ext uri="{FF2B5EF4-FFF2-40B4-BE49-F238E27FC236}">
                <a16:creationId xmlns:a16="http://schemas.microsoft.com/office/drawing/2014/main" id="{39B306D4-6102-4FED-9590-1E248BD50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593" y="2901407"/>
            <a:ext cx="864095" cy="864095"/>
          </a:xfrm>
          <a:prstGeom prst="rect">
            <a:avLst/>
          </a:prstGeom>
        </p:spPr>
      </p:pic>
      <p:pic>
        <p:nvPicPr>
          <p:cNvPr id="29" name="Picture 28" descr="A database">
            <a:extLst>
              <a:ext uri="{FF2B5EF4-FFF2-40B4-BE49-F238E27FC236}">
                <a16:creationId xmlns:a16="http://schemas.microsoft.com/office/drawing/2014/main" id="{E3BAE4DF-C1B6-40F5-B7D6-99D51858B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17" y="4092082"/>
            <a:ext cx="864095" cy="864095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E29744-C383-46E1-9A26-B29CE4171CEC}"/>
              </a:ext>
            </a:extLst>
          </p:cNvPr>
          <p:cNvCxnSpPr/>
          <p:nvPr/>
        </p:nvCxnSpPr>
        <p:spPr>
          <a:xfrm flipV="1">
            <a:off x="4195648" y="3333454"/>
            <a:ext cx="1756944" cy="277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B1B41BB-591D-48B3-9E78-98CAA4820579}"/>
              </a:ext>
            </a:extLst>
          </p:cNvPr>
          <p:cNvCxnSpPr/>
          <p:nvPr/>
        </p:nvCxnSpPr>
        <p:spPr>
          <a:xfrm flipH="1" flipV="1">
            <a:off x="6842748" y="3469549"/>
            <a:ext cx="1630734" cy="6225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0C69EEC-B6E1-4EEC-AE67-1C85D89C5E17}"/>
              </a:ext>
            </a:extLst>
          </p:cNvPr>
          <p:cNvCxnSpPr/>
          <p:nvPr/>
        </p:nvCxnSpPr>
        <p:spPr>
          <a:xfrm flipH="1" flipV="1">
            <a:off x="4195649" y="3975644"/>
            <a:ext cx="4233969" cy="687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F89E531-A624-4D61-B4AA-CC502655B557}"/>
              </a:ext>
            </a:extLst>
          </p:cNvPr>
          <p:cNvSpPr txBox="1"/>
          <p:nvPr/>
        </p:nvSpPr>
        <p:spPr>
          <a:xfrm>
            <a:off x="2856249" y="3513979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CE400D-C5D5-46B1-A358-A6F191AF6A18}"/>
              </a:ext>
            </a:extLst>
          </p:cNvPr>
          <p:cNvSpPr txBox="1"/>
          <p:nvPr/>
        </p:nvSpPr>
        <p:spPr>
          <a:xfrm>
            <a:off x="6830028" y="2967317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6A4D2B-E1F9-4A2F-A0C1-DC9D06D074C1}"/>
              </a:ext>
            </a:extLst>
          </p:cNvPr>
          <p:cNvSpPr txBox="1"/>
          <p:nvPr/>
        </p:nvSpPr>
        <p:spPr>
          <a:xfrm>
            <a:off x="9293712" y="4254718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25D659F-52D9-40AB-A3F5-132D41336C24}"/>
              </a:ext>
            </a:extLst>
          </p:cNvPr>
          <p:cNvSpPr/>
          <p:nvPr/>
        </p:nvSpPr>
        <p:spPr>
          <a:xfrm>
            <a:off x="3054553" y="4195446"/>
            <a:ext cx="133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Coordinator</a:t>
            </a:r>
            <a:endParaRPr lang="en-US" dirty="0">
              <a:solidFill>
                <a:schemeClr val="accent6"/>
              </a:solidFill>
            </a:endParaRP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AE0447B-ABCC-4515-9A0D-905B23A2040C}"/>
              </a:ext>
            </a:extLst>
          </p:cNvPr>
          <p:cNvCxnSpPr/>
          <p:nvPr/>
        </p:nvCxnSpPr>
        <p:spPr>
          <a:xfrm flipV="1">
            <a:off x="4195648" y="3235172"/>
            <a:ext cx="1755598" cy="27880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CB9BDD6-A349-4425-B21A-794A20DBB574}"/>
              </a:ext>
            </a:extLst>
          </p:cNvPr>
          <p:cNvCxnSpPr/>
          <p:nvPr/>
        </p:nvCxnSpPr>
        <p:spPr>
          <a:xfrm>
            <a:off x="4224401" y="3894508"/>
            <a:ext cx="4132323" cy="66032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F21610C3-0F20-458C-BA63-707CEE3D7256}"/>
              </a:ext>
            </a:extLst>
          </p:cNvPr>
          <p:cNvSpPr/>
          <p:nvPr/>
        </p:nvSpPr>
        <p:spPr>
          <a:xfrm>
            <a:off x="3500049" y="3236394"/>
            <a:ext cx="224115" cy="2241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E6E7CA0-44EE-4233-9B43-6284C9784611}"/>
              </a:ext>
            </a:extLst>
          </p:cNvPr>
          <p:cNvSpPr/>
          <p:nvPr/>
        </p:nvSpPr>
        <p:spPr>
          <a:xfrm>
            <a:off x="3762994" y="3239167"/>
            <a:ext cx="224115" cy="2241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Curved Connector 48">
            <a:extLst>
              <a:ext uri="{FF2B5EF4-FFF2-40B4-BE49-F238E27FC236}">
                <a16:creationId xmlns:a16="http://schemas.microsoft.com/office/drawing/2014/main" id="{CD984544-8D76-480C-9F62-53BE2A9FF83E}"/>
              </a:ext>
            </a:extLst>
          </p:cNvPr>
          <p:cNvCxnSpPr/>
          <p:nvPr/>
        </p:nvCxnSpPr>
        <p:spPr>
          <a:xfrm rot="16200000" flipH="1">
            <a:off x="3742192" y="3106308"/>
            <a:ext cx="2773" cy="262945"/>
          </a:xfrm>
          <a:prstGeom prst="curvedConnector3">
            <a:avLst>
              <a:gd name="adj1" fmla="val -8243779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7642181-62B5-43C4-A2D0-0083801BF76A}"/>
              </a:ext>
            </a:extLst>
          </p:cNvPr>
          <p:cNvSpPr txBox="1"/>
          <p:nvPr/>
        </p:nvSpPr>
        <p:spPr>
          <a:xfrm rot="21060000">
            <a:off x="4585873" y="3012207"/>
            <a:ext cx="87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abort 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C19D01-EB54-4531-A2E2-3D3F6641377A}"/>
              </a:ext>
            </a:extLst>
          </p:cNvPr>
          <p:cNvSpPr txBox="1"/>
          <p:nvPr/>
        </p:nvSpPr>
        <p:spPr>
          <a:xfrm rot="21600000">
            <a:off x="3313013" y="2616670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abort 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0EEE51-FB9D-4AE7-BD2B-8320811A9748}"/>
              </a:ext>
            </a:extLst>
          </p:cNvPr>
          <p:cNvSpPr txBox="1"/>
          <p:nvPr/>
        </p:nvSpPr>
        <p:spPr>
          <a:xfrm rot="22140000">
            <a:off x="5841639" y="3864823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abort </a:t>
            </a:r>
            <a:r>
              <a:rPr lang="en-US" dirty="0">
                <a:solidFill>
                  <a:schemeClr val="accent6"/>
                </a:solidFill>
                <a:sym typeface="Wingdings"/>
              </a:rPr>
              <a:t>T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AA650A7-53CA-4232-8D61-7E285130CC23}"/>
              </a:ext>
            </a:extLst>
          </p:cNvPr>
          <p:cNvSpPr txBox="1"/>
          <p:nvPr/>
        </p:nvSpPr>
        <p:spPr>
          <a:xfrm>
            <a:off x="6019115" y="2477888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abort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468188-6025-4048-93CF-31DCF52BD88F}"/>
              </a:ext>
            </a:extLst>
          </p:cNvPr>
          <p:cNvSpPr txBox="1"/>
          <p:nvPr/>
        </p:nvSpPr>
        <p:spPr>
          <a:xfrm>
            <a:off x="8508045" y="3588024"/>
            <a:ext cx="707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abort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C8A853E-8943-4BFF-928C-C399F1296EF2}"/>
              </a:ext>
            </a:extLst>
          </p:cNvPr>
          <p:cNvSpPr txBox="1"/>
          <p:nvPr/>
        </p:nvSpPr>
        <p:spPr>
          <a:xfrm>
            <a:off x="2758244" y="3104078"/>
            <a:ext cx="707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1"/>
                </a:solidFill>
              </a:rPr>
              <a:t>abort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503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6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Logging: Phase 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Again, we have to be careful in which order to write to disk and to the log</a:t>
            </a:r>
          </a:p>
          <a:p>
            <a:r>
              <a:rPr lang="en-US" dirty="0"/>
              <a:t>Phase 1: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3786945" y="5091716"/>
            <a:ext cx="11521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</a:t>
            </a:r>
            <a:br>
              <a:rPr lang="en-US" dirty="0"/>
            </a:br>
            <a:r>
              <a:rPr lang="en-US" b="1" dirty="0"/>
              <a:t>prepare 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20336" y="4543436"/>
            <a:ext cx="11521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</a:t>
            </a:r>
            <a:br>
              <a:rPr lang="en-US" dirty="0"/>
            </a:br>
            <a:r>
              <a:rPr lang="en-US" b="1" dirty="0"/>
              <a:t>ready 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48129" y="5664124"/>
            <a:ext cx="1656183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</a:t>
            </a:r>
            <a:br>
              <a:rPr lang="en-US" dirty="0"/>
            </a:br>
            <a:r>
              <a:rPr lang="en-US" b="1" dirty="0"/>
              <a:t>don’t commit 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20336" y="5664124"/>
            <a:ext cx="11521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Abort T</a:t>
            </a:r>
            <a:r>
              <a:rPr lang="en-US" baseline="-25000" dirty="0"/>
              <a:t>1</a:t>
            </a:r>
            <a:endParaRPr lang="en-US" b="1" dirty="0"/>
          </a:p>
        </p:txBody>
      </p:sp>
      <p:cxnSp>
        <p:nvCxnSpPr>
          <p:cNvPr id="30" name="Straight Arrow Connector 29"/>
          <p:cNvCxnSpPr>
            <a:stCxn id="17" idx="3"/>
            <a:endCxn id="21" idx="1"/>
          </p:cNvCxnSpPr>
          <p:nvPr/>
        </p:nvCxnSpPr>
        <p:spPr>
          <a:xfrm flipV="1">
            <a:off x="4939074" y="4903476"/>
            <a:ext cx="4181263" cy="548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7" idx="3"/>
            <a:endCxn id="23" idx="1"/>
          </p:cNvCxnSpPr>
          <p:nvPr/>
        </p:nvCxnSpPr>
        <p:spPr>
          <a:xfrm>
            <a:off x="4939074" y="5451756"/>
            <a:ext cx="2309055" cy="572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3" idx="3"/>
            <a:endCxn id="27" idx="1"/>
          </p:cNvCxnSpPr>
          <p:nvPr/>
        </p:nvCxnSpPr>
        <p:spPr>
          <a:xfrm>
            <a:off x="8904312" y="6024164"/>
            <a:ext cx="2160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/>
          <p:cNvGrpSpPr/>
          <p:nvPr/>
        </p:nvGrpSpPr>
        <p:grpSpPr>
          <a:xfrm>
            <a:off x="3791744" y="2420888"/>
            <a:ext cx="4984006" cy="1293896"/>
            <a:chOff x="2267744" y="2420888"/>
            <a:chExt cx="4984006" cy="1293896"/>
          </a:xfrm>
        </p:grpSpPr>
        <p:pic>
          <p:nvPicPr>
            <p:cNvPr id="6" name="Picture 5" descr="A databas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15246" y="2484495"/>
              <a:ext cx="864095" cy="864095"/>
            </a:xfrm>
            <a:prstGeom prst="rect">
              <a:avLst/>
            </a:prstGeom>
          </p:spPr>
        </p:pic>
        <p:pic>
          <p:nvPicPr>
            <p:cNvPr id="7" name="Picture 6" descr="A databas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12350" y="2481357"/>
              <a:ext cx="864095" cy="864095"/>
            </a:xfrm>
            <a:prstGeom prst="rect">
              <a:avLst/>
            </a:prstGeom>
          </p:spPr>
        </p:pic>
        <p:cxnSp>
          <p:nvCxnSpPr>
            <p:cNvPr id="11" name="Straight Connector 10"/>
            <p:cNvCxnSpPr>
              <a:stCxn id="6" idx="3"/>
              <a:endCxn id="7" idx="1"/>
            </p:cNvCxnSpPr>
            <p:nvPr/>
          </p:nvCxnSpPr>
          <p:spPr>
            <a:xfrm flipV="1">
              <a:off x="3579341" y="2913405"/>
              <a:ext cx="2333009" cy="31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2482111" y="3345452"/>
              <a:ext cx="133036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accent6"/>
                  </a:solidFill>
                </a:rPr>
                <a:t>Coordinator</a:t>
              </a:r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776445" y="2682571"/>
              <a:ext cx="4753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</a:t>
              </a:r>
              <a:r>
                <a:rPr lang="en-US" sz="2400" baseline="-25000" dirty="0"/>
                <a:t>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267744" y="2682571"/>
              <a:ext cx="4753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T</a:t>
              </a:r>
              <a:r>
                <a:rPr lang="en-US" sz="2400" baseline="-25000" dirty="0"/>
                <a:t>0</a:t>
              </a: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3582765" y="2812797"/>
              <a:ext cx="2329585" cy="0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flipV="1">
              <a:off x="3582765" y="3017151"/>
              <a:ext cx="2329585" cy="4008"/>
            </a:xfrm>
            <a:prstGeom prst="line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4380813" y="2420888"/>
              <a:ext cx="10891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prepare T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115836" y="3042057"/>
              <a:ext cx="16190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ready T /</a:t>
              </a:r>
              <a:br>
                <a:rPr lang="en-US" dirty="0">
                  <a:solidFill>
                    <a:schemeClr val="accent6"/>
                  </a:solidFill>
                </a:rPr>
              </a:br>
              <a:r>
                <a:rPr lang="en-US" dirty="0">
                  <a:solidFill>
                    <a:schemeClr val="accent6"/>
                  </a:solidFill>
                </a:rPr>
                <a:t>don’t commit T</a:t>
              </a:r>
            </a:p>
          </p:txBody>
        </p:sp>
      </p:grpSp>
      <p:sp>
        <p:nvSpPr>
          <p:cNvPr id="53" name="Rectangle 52"/>
          <p:cNvSpPr/>
          <p:nvPr/>
        </p:nvSpPr>
        <p:spPr>
          <a:xfrm>
            <a:off x="1930191" y="5091716"/>
            <a:ext cx="1495057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&lt;PREPARE T&gt; </a:t>
            </a:r>
            <a:r>
              <a:rPr lang="en-US" dirty="0"/>
              <a:t>to log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3425247" y="5451756"/>
            <a:ext cx="3616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688567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7" grpId="0" animBg="1"/>
      <p:bldP spid="21" grpId="0" animBg="1"/>
      <p:bldP spid="23" grpId="0" animBg="1"/>
      <p:bldP spid="27" grpId="0" animBg="1"/>
      <p:bldP spid="5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Logging: Phase 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Again, we have to be careful in which order to write to disk and to the log</a:t>
            </a:r>
          </a:p>
          <a:p>
            <a:r>
              <a:rPr lang="en-US" dirty="0"/>
              <a:t>Phase 1: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21</a:t>
            </a:fld>
            <a:endParaRPr lang="en-GB"/>
          </a:p>
        </p:txBody>
      </p:sp>
      <p:pic>
        <p:nvPicPr>
          <p:cNvPr id="6" name="Picture 5" descr="A data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247" y="2484496"/>
            <a:ext cx="864095" cy="864095"/>
          </a:xfrm>
          <a:prstGeom prst="rect">
            <a:avLst/>
          </a:prstGeom>
        </p:spPr>
      </p:pic>
      <p:pic>
        <p:nvPicPr>
          <p:cNvPr id="7" name="Picture 6" descr="A data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351" y="2481358"/>
            <a:ext cx="864095" cy="864095"/>
          </a:xfrm>
          <a:prstGeom prst="rect">
            <a:avLst/>
          </a:prstGeom>
        </p:spPr>
      </p:pic>
      <p:cxnSp>
        <p:nvCxnSpPr>
          <p:cNvPr id="11" name="Straight Connector 10"/>
          <p:cNvCxnSpPr>
            <a:stCxn id="6" idx="3"/>
            <a:endCxn id="7" idx="1"/>
          </p:cNvCxnSpPr>
          <p:nvPr/>
        </p:nvCxnSpPr>
        <p:spPr>
          <a:xfrm flipV="1">
            <a:off x="5103342" y="2913405"/>
            <a:ext cx="2333009" cy="31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006111" y="3345452"/>
            <a:ext cx="133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Coordinator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930191" y="5091716"/>
            <a:ext cx="1495057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&lt;PREPARE T&gt; </a:t>
            </a:r>
            <a:r>
              <a:rPr lang="en-US" dirty="0"/>
              <a:t>to 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86945" y="5091716"/>
            <a:ext cx="11521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</a:t>
            </a:r>
            <a:br>
              <a:rPr lang="en-US" dirty="0"/>
            </a:br>
            <a:r>
              <a:rPr lang="en-US" b="1" dirty="0"/>
              <a:t>prepare 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59222" y="4543436"/>
            <a:ext cx="1423049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&lt;READY T&gt; </a:t>
            </a:r>
            <a:r>
              <a:rPr lang="en-US" dirty="0"/>
              <a:t>to 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20336" y="4543436"/>
            <a:ext cx="11521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</a:t>
            </a:r>
            <a:br>
              <a:rPr lang="en-US" dirty="0"/>
            </a:br>
            <a:r>
              <a:rPr lang="en-US" b="1" dirty="0"/>
              <a:t>ready 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48129" y="5664124"/>
            <a:ext cx="1656183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</a:t>
            </a:r>
            <a:br>
              <a:rPr lang="en-US" dirty="0"/>
            </a:br>
            <a:r>
              <a:rPr lang="en-US" b="1" dirty="0"/>
              <a:t>don’t commit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0446" y="2682572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1745" y="2682572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20336" y="5664124"/>
            <a:ext cx="11521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Abort T</a:t>
            </a:r>
            <a:r>
              <a:rPr lang="en-US" baseline="-25000" dirty="0"/>
              <a:t>1</a:t>
            </a:r>
            <a:endParaRPr lang="en-US" b="1" dirty="0"/>
          </a:p>
        </p:txBody>
      </p:sp>
      <p:cxnSp>
        <p:nvCxnSpPr>
          <p:cNvPr id="29" name="Straight Arrow Connector 28"/>
          <p:cNvCxnSpPr>
            <a:stCxn id="15" idx="3"/>
            <a:endCxn id="17" idx="1"/>
          </p:cNvCxnSpPr>
          <p:nvPr/>
        </p:nvCxnSpPr>
        <p:spPr>
          <a:xfrm>
            <a:off x="3425247" y="5451756"/>
            <a:ext cx="3616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7" idx="3"/>
            <a:endCxn id="20" idx="1"/>
          </p:cNvCxnSpPr>
          <p:nvPr/>
        </p:nvCxnSpPr>
        <p:spPr>
          <a:xfrm flipV="1">
            <a:off x="4939073" y="4903476"/>
            <a:ext cx="2420148" cy="548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7" idx="3"/>
            <a:endCxn id="23" idx="1"/>
          </p:cNvCxnSpPr>
          <p:nvPr/>
        </p:nvCxnSpPr>
        <p:spPr>
          <a:xfrm>
            <a:off x="4939074" y="5451756"/>
            <a:ext cx="2309055" cy="572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0" idx="3"/>
            <a:endCxn id="21" idx="1"/>
          </p:cNvCxnSpPr>
          <p:nvPr/>
        </p:nvCxnSpPr>
        <p:spPr>
          <a:xfrm>
            <a:off x="8782270" y="4903476"/>
            <a:ext cx="338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3" idx="3"/>
            <a:endCxn id="27" idx="1"/>
          </p:cNvCxnSpPr>
          <p:nvPr/>
        </p:nvCxnSpPr>
        <p:spPr>
          <a:xfrm>
            <a:off x="8904312" y="6024164"/>
            <a:ext cx="2160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106766" y="2812797"/>
            <a:ext cx="2329585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5106766" y="3017151"/>
            <a:ext cx="2329585" cy="4008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04813" y="2420888"/>
            <a:ext cx="108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prepare 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39836" y="3042058"/>
            <a:ext cx="1619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ready T /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</a:rPr>
              <a:t>don’t commit T</a:t>
            </a:r>
          </a:p>
        </p:txBody>
      </p:sp>
    </p:spTree>
    <p:extLst>
      <p:ext uri="{BB962C8B-B14F-4D97-AF65-F5344CB8AC3E}">
        <p14:creationId xmlns:p14="http://schemas.microsoft.com/office/powerpoint/2010/main" val="51994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Logging: Phase 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Again, we have to be careful in which order to write to disk and to the log</a:t>
            </a:r>
          </a:p>
          <a:p>
            <a:r>
              <a:rPr lang="en-US" dirty="0"/>
              <a:t>Phase 1: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22</a:t>
            </a:fld>
            <a:endParaRPr lang="en-GB"/>
          </a:p>
        </p:txBody>
      </p:sp>
      <p:pic>
        <p:nvPicPr>
          <p:cNvPr id="6" name="Picture 5" descr="A data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247" y="2484496"/>
            <a:ext cx="864095" cy="864095"/>
          </a:xfrm>
          <a:prstGeom prst="rect">
            <a:avLst/>
          </a:prstGeom>
        </p:spPr>
      </p:pic>
      <p:pic>
        <p:nvPicPr>
          <p:cNvPr id="7" name="Picture 6" descr="A databa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351" y="2481358"/>
            <a:ext cx="864095" cy="864095"/>
          </a:xfrm>
          <a:prstGeom prst="rect">
            <a:avLst/>
          </a:prstGeom>
        </p:spPr>
      </p:pic>
      <p:cxnSp>
        <p:nvCxnSpPr>
          <p:cNvPr id="11" name="Straight Connector 10"/>
          <p:cNvCxnSpPr>
            <a:stCxn id="6" idx="3"/>
            <a:endCxn id="7" idx="1"/>
          </p:cNvCxnSpPr>
          <p:nvPr/>
        </p:nvCxnSpPr>
        <p:spPr>
          <a:xfrm flipV="1">
            <a:off x="5103342" y="2913405"/>
            <a:ext cx="2333009" cy="31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006111" y="3345452"/>
            <a:ext cx="133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Coordinator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930191" y="5091716"/>
            <a:ext cx="1495057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&lt;PREPARE T&gt; </a:t>
            </a:r>
            <a:r>
              <a:rPr lang="en-US" dirty="0"/>
              <a:t>to 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86945" y="5091716"/>
            <a:ext cx="11521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</a:t>
            </a:r>
            <a:br>
              <a:rPr lang="en-US" dirty="0"/>
            </a:br>
            <a:r>
              <a:rPr lang="en-US" b="1" dirty="0"/>
              <a:t>prepare 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59222" y="4543436"/>
            <a:ext cx="1423049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&lt;READY T&gt; </a:t>
            </a:r>
            <a:r>
              <a:rPr lang="en-US" dirty="0"/>
              <a:t>to 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20336" y="4543436"/>
            <a:ext cx="11521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</a:t>
            </a:r>
            <a:br>
              <a:rPr lang="en-US" dirty="0"/>
            </a:br>
            <a:r>
              <a:rPr lang="en-US" b="1" dirty="0"/>
              <a:t>ready 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99847" y="5565089"/>
            <a:ext cx="1423049" cy="9153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&lt;DON’T COMMIT T&gt; </a:t>
            </a:r>
            <a:r>
              <a:rPr lang="en-US"/>
              <a:t>to log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7248129" y="5664124"/>
            <a:ext cx="1656183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</a:t>
            </a:r>
            <a:br>
              <a:rPr lang="en-US" dirty="0"/>
            </a:br>
            <a:r>
              <a:rPr lang="en-US" b="1" dirty="0"/>
              <a:t>don’t commit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0446" y="2682572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1745" y="2682572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20336" y="5664124"/>
            <a:ext cx="11521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Abort T</a:t>
            </a:r>
            <a:r>
              <a:rPr lang="en-US" baseline="-25000" dirty="0"/>
              <a:t>1</a:t>
            </a:r>
            <a:endParaRPr lang="en-US" b="1" dirty="0"/>
          </a:p>
        </p:txBody>
      </p:sp>
      <p:cxnSp>
        <p:nvCxnSpPr>
          <p:cNvPr id="29" name="Straight Arrow Connector 28"/>
          <p:cNvCxnSpPr>
            <a:stCxn id="15" idx="3"/>
            <a:endCxn id="17" idx="1"/>
          </p:cNvCxnSpPr>
          <p:nvPr/>
        </p:nvCxnSpPr>
        <p:spPr>
          <a:xfrm>
            <a:off x="3425247" y="5451756"/>
            <a:ext cx="3616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7" idx="3"/>
            <a:endCxn id="20" idx="1"/>
          </p:cNvCxnSpPr>
          <p:nvPr/>
        </p:nvCxnSpPr>
        <p:spPr>
          <a:xfrm flipV="1">
            <a:off x="4939073" y="4903476"/>
            <a:ext cx="2420148" cy="548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7" idx="3"/>
            <a:endCxn id="22" idx="1"/>
          </p:cNvCxnSpPr>
          <p:nvPr/>
        </p:nvCxnSpPr>
        <p:spPr>
          <a:xfrm>
            <a:off x="4939074" y="5451756"/>
            <a:ext cx="660773" cy="571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0" idx="3"/>
            <a:endCxn id="21" idx="1"/>
          </p:cNvCxnSpPr>
          <p:nvPr/>
        </p:nvCxnSpPr>
        <p:spPr>
          <a:xfrm>
            <a:off x="8782270" y="4903476"/>
            <a:ext cx="338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2" idx="3"/>
            <a:endCxn id="23" idx="1"/>
          </p:cNvCxnSpPr>
          <p:nvPr/>
        </p:nvCxnSpPr>
        <p:spPr>
          <a:xfrm>
            <a:off x="7022896" y="6022768"/>
            <a:ext cx="225233" cy="1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3" idx="3"/>
            <a:endCxn id="27" idx="1"/>
          </p:cNvCxnSpPr>
          <p:nvPr/>
        </p:nvCxnSpPr>
        <p:spPr>
          <a:xfrm>
            <a:off x="8904312" y="6024164"/>
            <a:ext cx="2160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106766" y="2812797"/>
            <a:ext cx="2329585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5106766" y="3017151"/>
            <a:ext cx="2329585" cy="4008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04813" y="2420888"/>
            <a:ext cx="108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prepare 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39836" y="3042058"/>
            <a:ext cx="1619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ready T /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</a:rPr>
              <a:t>don’t commit T</a:t>
            </a:r>
          </a:p>
        </p:txBody>
      </p:sp>
    </p:spTree>
    <p:extLst>
      <p:ext uri="{BB962C8B-B14F-4D97-AF65-F5344CB8AC3E}">
        <p14:creationId xmlns:p14="http://schemas.microsoft.com/office/powerpoint/2010/main" val="480997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Logging: Phase 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Again, we have to be careful in which order to write to disk and to the log</a:t>
            </a:r>
          </a:p>
          <a:p>
            <a:r>
              <a:rPr lang="en-US" dirty="0"/>
              <a:t>Phase 1: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23</a:t>
            </a:fld>
            <a:endParaRPr lang="en-GB"/>
          </a:p>
        </p:txBody>
      </p:sp>
      <p:pic>
        <p:nvPicPr>
          <p:cNvPr id="6" name="Picture 5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247" y="2484496"/>
            <a:ext cx="864095" cy="864095"/>
          </a:xfrm>
          <a:prstGeom prst="rect">
            <a:avLst/>
          </a:prstGeom>
        </p:spPr>
      </p:pic>
      <p:pic>
        <p:nvPicPr>
          <p:cNvPr id="7" name="Picture 6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351" y="2481358"/>
            <a:ext cx="864095" cy="864095"/>
          </a:xfrm>
          <a:prstGeom prst="rect">
            <a:avLst/>
          </a:prstGeom>
        </p:spPr>
      </p:pic>
      <p:cxnSp>
        <p:nvCxnSpPr>
          <p:cNvPr id="11" name="Straight Connector 10"/>
          <p:cNvCxnSpPr>
            <a:stCxn id="6" idx="3"/>
            <a:endCxn id="7" idx="1"/>
          </p:cNvCxnSpPr>
          <p:nvPr/>
        </p:nvCxnSpPr>
        <p:spPr>
          <a:xfrm flipV="1">
            <a:off x="5103342" y="2913405"/>
            <a:ext cx="2333009" cy="31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006111" y="3345452"/>
            <a:ext cx="133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Coordinator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930191" y="5091716"/>
            <a:ext cx="1495057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&lt;PREPARE T&gt; </a:t>
            </a:r>
            <a:r>
              <a:rPr lang="en-US" dirty="0"/>
              <a:t>to 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86945" y="5091716"/>
            <a:ext cx="11521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</a:t>
            </a:r>
            <a:br>
              <a:rPr lang="en-US" dirty="0"/>
            </a:br>
            <a:r>
              <a:rPr lang="en-US" b="1" dirty="0"/>
              <a:t>prepare 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59222" y="4543436"/>
            <a:ext cx="1423049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&lt;READY T&gt; </a:t>
            </a:r>
            <a:r>
              <a:rPr lang="en-US" dirty="0"/>
              <a:t>to 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20336" y="4543436"/>
            <a:ext cx="11521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</a:t>
            </a:r>
            <a:br>
              <a:rPr lang="en-US" dirty="0"/>
            </a:br>
            <a:r>
              <a:rPr lang="en-US" b="1" dirty="0"/>
              <a:t>ready 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99847" y="5565089"/>
            <a:ext cx="1423049" cy="9153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&lt;DON’T COMMIT T&gt; </a:t>
            </a:r>
            <a:r>
              <a:rPr lang="en-US"/>
              <a:t>to log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7248129" y="5664124"/>
            <a:ext cx="1656183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</a:t>
            </a:r>
            <a:br>
              <a:rPr lang="en-US" dirty="0"/>
            </a:br>
            <a:r>
              <a:rPr lang="en-US" b="1" dirty="0"/>
              <a:t>don’t commit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0446" y="2682572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1745" y="2682572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20336" y="5664124"/>
            <a:ext cx="11521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Abort T</a:t>
            </a:r>
            <a:r>
              <a:rPr lang="en-US" baseline="-25000" dirty="0"/>
              <a:t>1</a:t>
            </a:r>
            <a:endParaRPr lang="en-US" b="1" dirty="0"/>
          </a:p>
        </p:txBody>
      </p:sp>
      <p:cxnSp>
        <p:nvCxnSpPr>
          <p:cNvPr id="29" name="Straight Arrow Connector 28"/>
          <p:cNvCxnSpPr>
            <a:stCxn id="15" idx="3"/>
            <a:endCxn id="17" idx="1"/>
          </p:cNvCxnSpPr>
          <p:nvPr/>
        </p:nvCxnSpPr>
        <p:spPr>
          <a:xfrm>
            <a:off x="3425247" y="5451756"/>
            <a:ext cx="3616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7" idx="3"/>
            <a:endCxn id="22" idx="1"/>
          </p:cNvCxnSpPr>
          <p:nvPr/>
        </p:nvCxnSpPr>
        <p:spPr>
          <a:xfrm>
            <a:off x="4939074" y="5451756"/>
            <a:ext cx="660773" cy="571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0" idx="3"/>
            <a:endCxn id="21" idx="1"/>
          </p:cNvCxnSpPr>
          <p:nvPr/>
        </p:nvCxnSpPr>
        <p:spPr>
          <a:xfrm>
            <a:off x="8782270" y="4903476"/>
            <a:ext cx="3380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22" idx="3"/>
            <a:endCxn id="23" idx="1"/>
          </p:cNvCxnSpPr>
          <p:nvPr/>
        </p:nvCxnSpPr>
        <p:spPr>
          <a:xfrm>
            <a:off x="7022896" y="6022768"/>
            <a:ext cx="225233" cy="1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23" idx="3"/>
            <a:endCxn id="27" idx="1"/>
          </p:cNvCxnSpPr>
          <p:nvPr/>
        </p:nvCxnSpPr>
        <p:spPr>
          <a:xfrm>
            <a:off x="8904312" y="6024164"/>
            <a:ext cx="2160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106766" y="2812797"/>
            <a:ext cx="2329585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5106766" y="3017151"/>
            <a:ext cx="2329585" cy="4008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04813" y="2420888"/>
            <a:ext cx="108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prepare 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39836" y="3042058"/>
            <a:ext cx="1619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ready T /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</a:rPr>
              <a:t>don’t commit 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99846" y="4437112"/>
            <a:ext cx="1508778" cy="9361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Ensure T</a:t>
            </a:r>
            <a:r>
              <a:rPr lang="en-US" baseline="-25000" dirty="0"/>
              <a:t>1</a:t>
            </a:r>
            <a:br>
              <a:rPr lang="en-US" dirty="0"/>
            </a:br>
            <a:r>
              <a:rPr lang="en-US" dirty="0"/>
              <a:t>will not have</a:t>
            </a:r>
            <a:br>
              <a:rPr lang="en-US" dirty="0"/>
            </a:br>
            <a:r>
              <a:rPr lang="en-US" dirty="0"/>
              <a:t>to be aborted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4939074" y="4905164"/>
            <a:ext cx="660773" cy="546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7108625" y="4903476"/>
            <a:ext cx="250597" cy="1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ular Callout 33"/>
          <p:cNvSpPr/>
          <p:nvPr/>
        </p:nvSpPr>
        <p:spPr>
          <a:xfrm>
            <a:off x="5784784" y="3888704"/>
            <a:ext cx="2831496" cy="402955"/>
          </a:xfrm>
          <a:prstGeom prst="wedgeRoundRectCallout">
            <a:avLst>
              <a:gd name="adj1" fmla="val -23051"/>
              <a:gd name="adj2" fmla="val 8027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Write all </a:t>
            </a:r>
            <a:r>
              <a:rPr lang="en-US"/>
              <a:t>log entries to disk</a:t>
            </a:r>
            <a:endParaRPr lang="en-US" dirty="0"/>
          </a:p>
        </p:txBody>
      </p:sp>
      <p:sp>
        <p:nvSpPr>
          <p:cNvPr id="36" name="Rounded Rectangular Callout 35"/>
          <p:cNvSpPr/>
          <p:nvPr/>
        </p:nvSpPr>
        <p:spPr>
          <a:xfrm>
            <a:off x="2143219" y="6043427"/>
            <a:ext cx="3126241" cy="629922"/>
          </a:xfrm>
          <a:prstGeom prst="wedgeRoundRectCallout">
            <a:avLst>
              <a:gd name="adj1" fmla="val 58554"/>
              <a:gd name="adj2" fmla="val -2860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If this is the last log entry </a:t>
            </a:r>
            <a:r>
              <a:rPr lang="en-US">
                <a:sym typeface="Wingdings"/>
              </a:rPr>
              <a:t></a:t>
            </a:r>
            <a:br>
              <a:rPr lang="en-US">
                <a:sym typeface="Wingdings"/>
              </a:rPr>
            </a:br>
            <a:r>
              <a:rPr lang="en-US">
                <a:sym typeface="Wingdings"/>
              </a:rPr>
              <a:t>know that we wanted to abort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474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Logging: Phase 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2: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2986185" y="4209997"/>
            <a:ext cx="1686039" cy="902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All </a:t>
            </a:r>
            <a:r>
              <a:rPr lang="en-US"/>
              <a:t>nodes responded</a:t>
            </a:r>
            <a:br>
              <a:rPr lang="en-US" dirty="0"/>
            </a:br>
            <a:r>
              <a:rPr lang="en-US" b="1" dirty="0"/>
              <a:t>ready 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26897" y="4306896"/>
            <a:ext cx="1194307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</a:t>
            </a:r>
            <a:br>
              <a:rPr lang="en-US"/>
            </a:br>
            <a:r>
              <a:rPr lang="en-US" b="1"/>
              <a:t>commit T</a:t>
            </a:r>
            <a:endParaRPr lang="en-US" b="1" dirty="0"/>
          </a:p>
        </p:txBody>
      </p:sp>
      <p:sp>
        <p:nvSpPr>
          <p:cNvPr id="27" name="Rectangle 26"/>
          <p:cNvSpPr/>
          <p:nvPr/>
        </p:nvSpPr>
        <p:spPr>
          <a:xfrm>
            <a:off x="8447985" y="5563608"/>
            <a:ext cx="11521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</a:t>
            </a:r>
            <a:br>
              <a:rPr lang="en-US" dirty="0"/>
            </a:br>
            <a:r>
              <a:rPr lang="en-US" b="1" dirty="0"/>
              <a:t>abort 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4381" y="5465969"/>
            <a:ext cx="1697843" cy="902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node responded</a:t>
            </a:r>
            <a:br>
              <a:rPr lang="en-US" dirty="0"/>
            </a:br>
            <a:r>
              <a:rPr lang="en-US" b="1"/>
              <a:t>don’t commit T</a:t>
            </a:r>
            <a:endParaRPr lang="en-US" b="1" dirty="0"/>
          </a:p>
        </p:txBody>
      </p:sp>
      <p:cxnSp>
        <p:nvCxnSpPr>
          <p:cNvPr id="39" name="Straight Arrow Connector 38"/>
          <p:cNvCxnSpPr>
            <a:stCxn id="21" idx="3"/>
            <a:endCxn id="23" idx="1"/>
          </p:cNvCxnSpPr>
          <p:nvPr/>
        </p:nvCxnSpPr>
        <p:spPr>
          <a:xfrm>
            <a:off x="4672224" y="4661458"/>
            <a:ext cx="3754673" cy="5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5" idx="3"/>
            <a:endCxn id="27" idx="1"/>
          </p:cNvCxnSpPr>
          <p:nvPr/>
        </p:nvCxnSpPr>
        <p:spPr>
          <a:xfrm>
            <a:off x="4672223" y="5917430"/>
            <a:ext cx="3775762" cy="6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176" y="1990170"/>
            <a:ext cx="864095" cy="864095"/>
          </a:xfrm>
          <a:prstGeom prst="rect">
            <a:avLst/>
          </a:prstGeom>
        </p:spPr>
      </p:pic>
      <p:pic>
        <p:nvPicPr>
          <p:cNvPr id="50" name="Picture 49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280" y="1987032"/>
            <a:ext cx="864095" cy="864095"/>
          </a:xfrm>
          <a:prstGeom prst="rect">
            <a:avLst/>
          </a:prstGeom>
        </p:spPr>
      </p:pic>
      <p:cxnSp>
        <p:nvCxnSpPr>
          <p:cNvPr id="51" name="Straight Connector 50"/>
          <p:cNvCxnSpPr>
            <a:stCxn id="53" idx="3"/>
            <a:endCxn id="54" idx="1"/>
          </p:cNvCxnSpPr>
          <p:nvPr/>
        </p:nvCxnSpPr>
        <p:spPr>
          <a:xfrm flipV="1">
            <a:off x="5104271" y="2419079"/>
            <a:ext cx="2333009" cy="31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007040" y="2851126"/>
            <a:ext cx="133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Coordinator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301375" y="2188246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2674" y="2188246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0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5107695" y="2318471"/>
            <a:ext cx="2329585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5107695" y="2522825"/>
            <a:ext cx="2329585" cy="400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740381" y="2570985"/>
            <a:ext cx="11438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commit T/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</a:rPr>
              <a:t>abort 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39457" y="1676813"/>
            <a:ext cx="1619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ready T /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</a:rPr>
              <a:t>don’t commit 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489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7" grpId="0" animBg="1"/>
      <p:bldP spid="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Logging: Phase 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2: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5806621" y="4301417"/>
            <a:ext cx="1423049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&lt;COMMIT T&gt; </a:t>
            </a:r>
            <a:r>
              <a:rPr lang="en-US" dirty="0"/>
              <a:t>to log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86185" y="4209997"/>
            <a:ext cx="1686039" cy="902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All </a:t>
            </a:r>
            <a:r>
              <a:rPr lang="en-US"/>
              <a:t>nodes responded</a:t>
            </a:r>
            <a:br>
              <a:rPr lang="en-US" dirty="0"/>
            </a:br>
            <a:r>
              <a:rPr lang="en-US" b="1" dirty="0"/>
              <a:t>ready 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621" y="5465970"/>
            <a:ext cx="1423049" cy="91535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&lt;ABORT T&gt; </a:t>
            </a:r>
            <a:r>
              <a:rPr lang="en-US" dirty="0"/>
              <a:t>to log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26897" y="4306896"/>
            <a:ext cx="1194307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 </a:t>
            </a:r>
            <a:br>
              <a:rPr lang="en-US"/>
            </a:br>
            <a:r>
              <a:rPr lang="en-US" b="1"/>
              <a:t>commit T</a:t>
            </a:r>
            <a:endParaRPr lang="en-US" b="1" dirty="0"/>
          </a:p>
        </p:txBody>
      </p:sp>
      <p:sp>
        <p:nvSpPr>
          <p:cNvPr id="27" name="Rectangle 26"/>
          <p:cNvSpPr/>
          <p:nvPr/>
        </p:nvSpPr>
        <p:spPr>
          <a:xfrm>
            <a:off x="8447985" y="5563608"/>
            <a:ext cx="1152128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send</a:t>
            </a:r>
            <a:br>
              <a:rPr lang="en-US" dirty="0"/>
            </a:br>
            <a:r>
              <a:rPr lang="en-US" b="1" dirty="0"/>
              <a:t>abort 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4381" y="5465969"/>
            <a:ext cx="1697843" cy="902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node responded</a:t>
            </a:r>
            <a:br>
              <a:rPr lang="en-US" dirty="0"/>
            </a:br>
            <a:r>
              <a:rPr lang="en-US" b="1"/>
              <a:t>don’t commit T</a:t>
            </a:r>
            <a:endParaRPr lang="en-US" b="1" dirty="0"/>
          </a:p>
        </p:txBody>
      </p:sp>
      <p:cxnSp>
        <p:nvCxnSpPr>
          <p:cNvPr id="13" name="Straight Arrow Connector 12"/>
          <p:cNvCxnSpPr>
            <a:stCxn id="21" idx="3"/>
            <a:endCxn id="20" idx="1"/>
          </p:cNvCxnSpPr>
          <p:nvPr/>
        </p:nvCxnSpPr>
        <p:spPr>
          <a:xfrm>
            <a:off x="4672224" y="4661457"/>
            <a:ext cx="11343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0" idx="3"/>
            <a:endCxn id="23" idx="1"/>
          </p:cNvCxnSpPr>
          <p:nvPr/>
        </p:nvCxnSpPr>
        <p:spPr>
          <a:xfrm>
            <a:off x="7229670" y="4661458"/>
            <a:ext cx="1197227" cy="5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5" idx="3"/>
            <a:endCxn id="22" idx="1"/>
          </p:cNvCxnSpPr>
          <p:nvPr/>
        </p:nvCxnSpPr>
        <p:spPr>
          <a:xfrm>
            <a:off x="4672224" y="5917429"/>
            <a:ext cx="1134397" cy="6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2" idx="3"/>
            <a:endCxn id="27" idx="1"/>
          </p:cNvCxnSpPr>
          <p:nvPr/>
        </p:nvCxnSpPr>
        <p:spPr>
          <a:xfrm flipV="1">
            <a:off x="7229669" y="5923649"/>
            <a:ext cx="121831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176" y="1990170"/>
            <a:ext cx="864095" cy="864095"/>
          </a:xfrm>
          <a:prstGeom prst="rect">
            <a:avLst/>
          </a:prstGeom>
        </p:spPr>
      </p:pic>
      <p:pic>
        <p:nvPicPr>
          <p:cNvPr id="50" name="Picture 49" descr="A 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280" y="1987032"/>
            <a:ext cx="864095" cy="864095"/>
          </a:xfrm>
          <a:prstGeom prst="rect">
            <a:avLst/>
          </a:prstGeom>
        </p:spPr>
      </p:pic>
      <p:cxnSp>
        <p:nvCxnSpPr>
          <p:cNvPr id="51" name="Straight Connector 50"/>
          <p:cNvCxnSpPr>
            <a:stCxn id="53" idx="3"/>
            <a:endCxn id="54" idx="1"/>
          </p:cNvCxnSpPr>
          <p:nvPr/>
        </p:nvCxnSpPr>
        <p:spPr>
          <a:xfrm flipV="1">
            <a:off x="5104271" y="2419079"/>
            <a:ext cx="2333009" cy="31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4007040" y="2851126"/>
            <a:ext cx="1330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Coordinator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301375" y="2188246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2674" y="2188246"/>
            <a:ext cx="475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</a:t>
            </a:r>
            <a:r>
              <a:rPr lang="en-US" sz="2400" baseline="-25000" dirty="0"/>
              <a:t>0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5107695" y="2318471"/>
            <a:ext cx="2329585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5107695" y="2522825"/>
            <a:ext cx="2329585" cy="400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740381" y="2570985"/>
            <a:ext cx="11438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commit T/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</a:rPr>
              <a:t>abort 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39457" y="1676813"/>
            <a:ext cx="1619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ready T /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</a:rPr>
              <a:t>don’t commit T</a:t>
            </a:r>
          </a:p>
        </p:txBody>
      </p:sp>
      <p:sp>
        <p:nvSpPr>
          <p:cNvPr id="59" name="Rounded Rectangular Callout 58"/>
          <p:cNvSpPr/>
          <p:nvPr/>
        </p:nvSpPr>
        <p:spPr>
          <a:xfrm>
            <a:off x="2352039" y="3572478"/>
            <a:ext cx="5085240" cy="459830"/>
          </a:xfrm>
          <a:prstGeom prst="wedgeRoundRectCallout">
            <a:avLst>
              <a:gd name="adj1" fmla="val 32887"/>
              <a:gd name="adj2" fmla="val 9667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is the last log entry </a:t>
            </a:r>
            <a:r>
              <a:rPr lang="en-US" dirty="0">
                <a:sym typeface="Wingdings"/>
              </a:rPr>
              <a:t> decision was </a:t>
            </a:r>
            <a:r>
              <a:rPr lang="en-US">
                <a:sym typeface="Wingdings"/>
              </a:rPr>
              <a:t>to commit</a:t>
            </a:r>
            <a:endParaRPr lang="en-US" dirty="0"/>
          </a:p>
        </p:txBody>
      </p:sp>
      <p:sp>
        <p:nvSpPr>
          <p:cNvPr id="60" name="Rounded Rectangular Callout 59"/>
          <p:cNvSpPr/>
          <p:nvPr/>
        </p:nvSpPr>
        <p:spPr>
          <a:xfrm>
            <a:off x="7642120" y="3472475"/>
            <a:ext cx="2568681" cy="505096"/>
          </a:xfrm>
          <a:prstGeom prst="wedgeRoundRectCallout">
            <a:avLst>
              <a:gd name="adj1" fmla="val -37142"/>
              <a:gd name="adj2" fmla="val 16637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In case of failure</a:t>
            </a:r>
            <a:r>
              <a:rPr lang="en-US"/>
              <a:t>,</a:t>
            </a:r>
            <a:r>
              <a:rPr lang="en-US">
                <a:sym typeface="Wingdings"/>
              </a:rPr>
              <a:t> redo </a:t>
            </a:r>
            <a:r>
              <a:rPr lang="en-US" dirty="0">
                <a:sym typeface="Wingdings"/>
              </a:rPr>
              <a:t>T</a:t>
            </a:r>
            <a:r>
              <a:rPr lang="en-US" baseline="-25000" dirty="0">
                <a:sym typeface="Wingdings"/>
              </a:rPr>
              <a:t>1</a:t>
            </a:r>
            <a:endParaRPr lang="en-US" baseline="-25000" dirty="0"/>
          </a:p>
        </p:txBody>
      </p:sp>
      <p:sp>
        <p:nvSpPr>
          <p:cNvPr id="61" name="Rounded Rectangular Callout 60"/>
          <p:cNvSpPr/>
          <p:nvPr/>
        </p:nvSpPr>
        <p:spPr>
          <a:xfrm>
            <a:off x="6096000" y="5045386"/>
            <a:ext cx="1920912" cy="459830"/>
          </a:xfrm>
          <a:prstGeom prst="wedgeRoundRectCallout">
            <a:avLst>
              <a:gd name="adj1" fmla="val 4453"/>
              <a:gd name="adj2" fmla="val 8871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Similar </a:t>
            </a:r>
            <a:r>
              <a:rPr lang="en-US"/>
              <a:t>to commit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452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Three-Phase Commit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Improvement of Two-Phase Commit</a:t>
            </a:r>
          </a:p>
          <a:p>
            <a:r>
              <a:rPr lang="en-US" dirty="0"/>
              <a:t>Can deal with the situation that in phase 2, the coordinator and some transaction crash, while everybody else are in </a:t>
            </a:r>
            <a:r>
              <a:rPr lang="en-US" dirty="0" err="1"/>
              <a:t>precommited</a:t>
            </a:r>
            <a:r>
              <a:rPr lang="en-US" dirty="0"/>
              <a:t> state </a:t>
            </a:r>
          </a:p>
          <a:p>
            <a:r>
              <a:rPr lang="en-US" dirty="0"/>
              <a:t>Idea: divide phase 2 into two parts</a:t>
            </a:r>
          </a:p>
          <a:p>
            <a:pPr lvl="1"/>
            <a:r>
              <a:rPr lang="en-US" dirty="0"/>
              <a:t>Phase 2(a): “Prepare to Commit”</a:t>
            </a:r>
          </a:p>
          <a:p>
            <a:pPr lvl="2"/>
            <a:r>
              <a:rPr lang="en-US" dirty="0"/>
              <a:t>Send the decision (commit/abort) to all nodes</a:t>
            </a:r>
          </a:p>
          <a:p>
            <a:pPr lvl="2"/>
            <a:r>
              <a:rPr lang="en-US" dirty="0"/>
              <a:t>Nodes go into prepare-to-commit state</a:t>
            </a:r>
          </a:p>
          <a:p>
            <a:pPr lvl="1"/>
            <a:r>
              <a:rPr lang="en-US" dirty="0"/>
              <a:t>Phase 2(b): “Commit”</a:t>
            </a:r>
          </a:p>
          <a:p>
            <a:pPr lvl="2"/>
            <a:r>
              <a:rPr lang="en-US" dirty="0"/>
              <a:t>The old Phase 2</a:t>
            </a:r>
          </a:p>
          <a:p>
            <a:r>
              <a:rPr lang="en-US" dirty="0"/>
              <a:t>Advantage: if the coordinator fails, all nodes know if they should commit/abort a transaction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26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0585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88708-4BEA-4CB7-89C9-7BD2631F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08FB-A1B0-4F7C-9578-5306EACA8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Saw a few ways to deal with concurrency control in DDMBs</a:t>
            </a:r>
            <a:endParaRPr lang="en-GB" sz="2400" dirty="0"/>
          </a:p>
          <a:p>
            <a:pPr lvl="1"/>
            <a:r>
              <a:rPr lang="en-GB" sz="2400" dirty="0"/>
              <a:t>Two dimensions: </a:t>
            </a:r>
          </a:p>
          <a:p>
            <a:pPr lvl="2"/>
            <a:r>
              <a:rPr lang="en-GB" sz="2400" dirty="0"/>
              <a:t>Different computers could be the primary for different database items or not</a:t>
            </a:r>
          </a:p>
          <a:p>
            <a:pPr lvl="2"/>
            <a:r>
              <a:rPr lang="en-GB" sz="2400" dirty="0"/>
              <a:t>Primary have backups or not</a:t>
            </a:r>
          </a:p>
          <a:p>
            <a:pPr lvl="1"/>
            <a:r>
              <a:rPr lang="en-US" sz="2400" dirty="0"/>
              <a:t>Voting as alternative</a:t>
            </a:r>
          </a:p>
          <a:p>
            <a:r>
              <a:rPr lang="en-US" sz="2400" dirty="0"/>
              <a:t>Saw 2PC and 3PC (two- and three-phase commit – no relation to 2PL, besides the words “two” and “phase”) for coordinating commits to deal with recovery</a:t>
            </a:r>
          </a:p>
          <a:p>
            <a:r>
              <a:rPr lang="en-US" sz="2400" dirty="0"/>
              <a:t>Did not deal with deadlocks…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9E5A5-C4D4-451A-B35D-9501FDC3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27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7214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9|18.5|36.9|13.2|20.2|39|23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5|9|29.3|24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6.8|5.1|3.9|2.3|6.9|2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2|5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8|8|10.4|9.7|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5|2.6|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|9.2|4.1|34.3|27.4|3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|6.9|5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2|24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6.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10.7|16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9|146.2|12.6|32.7|14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|30.2|9.8|27.5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220</TotalTime>
  <Words>1709</Words>
  <Application>Microsoft Office PowerPoint</Application>
  <PresentationFormat>Widescreen</PresentationFormat>
  <Paragraphs>417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Calibri</vt:lpstr>
      <vt:lpstr>Calibri Light</vt:lpstr>
      <vt:lpstr>Retrospect</vt:lpstr>
      <vt:lpstr>Transaction management in DDBMS</vt:lpstr>
      <vt:lpstr>Overview over this video</vt:lpstr>
      <vt:lpstr>Concurrency control in DDBMS</vt:lpstr>
      <vt:lpstr>Concurrency control based on voting</vt:lpstr>
      <vt:lpstr>PowerPoint Presentation</vt:lpstr>
      <vt:lpstr>Transactions in Distributed Databases</vt:lpstr>
      <vt:lpstr>Transactions in Distributed Databases</vt:lpstr>
      <vt:lpstr>Transactions in Distributed Databases</vt:lpstr>
      <vt:lpstr>Violation of Atomicity</vt:lpstr>
      <vt:lpstr>Problems With Failing Nodes</vt:lpstr>
      <vt:lpstr>PowerPoint Presentation</vt:lpstr>
      <vt:lpstr>Two-Phase Commit Protocol</vt:lpstr>
      <vt:lpstr>The Two Phases</vt:lpstr>
      <vt:lpstr>Phase 1: When To Commit?</vt:lpstr>
      <vt:lpstr>Phase 1: Ready to Commit?</vt:lpstr>
      <vt:lpstr>Phase 2: Let’s Do It</vt:lpstr>
      <vt:lpstr>Phase 2: Let’s Do It</vt:lpstr>
      <vt:lpstr>Phase 2: Let’s Do It</vt:lpstr>
      <vt:lpstr>Phase 2: Let’s Do It</vt:lpstr>
      <vt:lpstr>Logging: Phase 1</vt:lpstr>
      <vt:lpstr>Logging: Phase 1</vt:lpstr>
      <vt:lpstr>Logging: Phase 1</vt:lpstr>
      <vt:lpstr>Logging: Phase 1</vt:lpstr>
      <vt:lpstr>Logging: Phase 2</vt:lpstr>
      <vt:lpstr>Logging: Phase 2</vt:lpstr>
      <vt:lpstr>Three-Phase Commit Protocol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management in DDBMS</dc:title>
  <dc:creator>Rasmus Ibsen-Jensen</dc:creator>
  <cp:lastModifiedBy>Rasmus Ibsen-Jensen</cp:lastModifiedBy>
  <cp:revision>18</cp:revision>
  <dcterms:created xsi:type="dcterms:W3CDTF">2020-11-21T17:36:16Z</dcterms:created>
  <dcterms:modified xsi:type="dcterms:W3CDTF">2020-11-24T17:28:43Z</dcterms:modified>
</cp:coreProperties>
</file>