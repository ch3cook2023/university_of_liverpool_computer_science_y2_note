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431" r:id="rId4"/>
    <p:sldId id="447" r:id="rId5"/>
    <p:sldId id="434" r:id="rId6"/>
    <p:sldId id="335" r:id="rId7"/>
    <p:sldId id="428" r:id="rId8"/>
    <p:sldId id="430" r:id="rId9"/>
    <p:sldId id="44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12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57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34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25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4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86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0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1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14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47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9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66EB8C-7586-4F76-971E-D4C47D5D73AB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F9928E-CC59-456C-888C-BB499894E44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64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tif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6CF8-0E5E-4EA2-A34E-48DF0BE33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distributed databases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BE5E1-383C-4400-9059-4DEA4905A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23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FBD5-84EF-40B3-B56F-1E5B2A25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F040-4FA4-410C-96BA-AC541BE7D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will see what a distributed database is and why they are important</a:t>
            </a:r>
            <a:endParaRPr lang="en-GB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DD945E3-179F-40E8-BF04-DEE92A6E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1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of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4872"/>
              </a:spcBef>
            </a:pPr>
            <a:r>
              <a:rPr lang="en-US" dirty="0"/>
              <a:t>Each site stores only data primarily relevant to it</a:t>
            </a:r>
          </a:p>
          <a:p>
            <a:pPr>
              <a:spcBef>
                <a:spcPts val="672"/>
              </a:spcBef>
            </a:pPr>
            <a:r>
              <a:rPr lang="en-US" dirty="0"/>
              <a:t>Distributed DBMS provide access to data at all sites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795916" y="2960950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986" y="2362804"/>
            <a:ext cx="1368152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81154" y="3969062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11" name="Picture 10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028" y="2182786"/>
            <a:ext cx="864095" cy="864095"/>
          </a:xfrm>
          <a:prstGeom prst="rect">
            <a:avLst/>
          </a:prstGeom>
        </p:spPr>
      </p:pic>
      <p:pic>
        <p:nvPicPr>
          <p:cNvPr id="12" name="Picture 11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919" y="2780931"/>
            <a:ext cx="864095" cy="864095"/>
          </a:xfrm>
          <a:prstGeom prst="rect">
            <a:avLst/>
          </a:prstGeom>
        </p:spPr>
      </p:pic>
      <p:pic>
        <p:nvPicPr>
          <p:cNvPr id="13" name="Picture 12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291" y="3789043"/>
            <a:ext cx="864095" cy="864095"/>
          </a:xfrm>
          <a:prstGeom prst="rect">
            <a:avLst/>
          </a:prstGeom>
        </p:spPr>
      </p:pic>
      <p:cxnSp>
        <p:nvCxnSpPr>
          <p:cNvPr id="15" name="Straight Connector 14"/>
          <p:cNvCxnSpPr>
            <a:endCxn id="8" idx="1"/>
          </p:cNvCxnSpPr>
          <p:nvPr/>
        </p:nvCxnSpPr>
        <p:spPr>
          <a:xfrm flipV="1">
            <a:off x="4884296" y="2614832"/>
            <a:ext cx="1084690" cy="346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6990932" y="2866860"/>
            <a:ext cx="850263" cy="1102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1"/>
          </p:cNvCxnSpPr>
          <p:nvPr/>
        </p:nvCxnSpPr>
        <p:spPr>
          <a:xfrm flipH="1" flipV="1">
            <a:off x="4884296" y="3472686"/>
            <a:ext cx="2596858" cy="748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8" idx="3"/>
            <a:endCxn id="11" idx="1"/>
          </p:cNvCxnSpPr>
          <p:nvPr/>
        </p:nvCxnSpPr>
        <p:spPr>
          <a:xfrm>
            <a:off x="7337139" y="2614833"/>
            <a:ext cx="226889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2" idx="3"/>
            <a:endCxn id="7" idx="1"/>
          </p:cNvCxnSpPr>
          <p:nvPr/>
        </p:nvCxnSpPr>
        <p:spPr>
          <a:xfrm>
            <a:off x="3597014" y="3212978"/>
            <a:ext cx="19890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3"/>
            <a:endCxn id="13" idx="1"/>
          </p:cNvCxnSpPr>
          <p:nvPr/>
        </p:nvCxnSpPr>
        <p:spPr>
          <a:xfrm>
            <a:off x="8561274" y="4221090"/>
            <a:ext cx="14401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78" y="4221090"/>
            <a:ext cx="864095" cy="86409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884296" y="4351668"/>
            <a:ext cx="923274" cy="6029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38" name="Straight Connector 37"/>
          <p:cNvCxnSpPr>
            <a:stCxn id="36" idx="3"/>
            <a:endCxn id="37" idx="1"/>
          </p:cNvCxnSpPr>
          <p:nvPr/>
        </p:nvCxnSpPr>
        <p:spPr>
          <a:xfrm>
            <a:off x="4668272" y="4653137"/>
            <a:ext cx="21602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7" idx="3"/>
          </p:cNvCxnSpPr>
          <p:nvPr/>
        </p:nvCxnSpPr>
        <p:spPr>
          <a:xfrm flipV="1">
            <a:off x="5807570" y="4380467"/>
            <a:ext cx="1669014" cy="272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4648847" y="3472686"/>
            <a:ext cx="438644" cy="87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711908" y="2866860"/>
            <a:ext cx="689126" cy="148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ular Callout 65"/>
          <p:cNvSpPr/>
          <p:nvPr/>
        </p:nvSpPr>
        <p:spPr>
          <a:xfrm>
            <a:off x="7564852" y="1394145"/>
            <a:ext cx="1729823" cy="520523"/>
          </a:xfrm>
          <a:prstGeom prst="wedgeRoundRectCallout">
            <a:avLst>
              <a:gd name="adj1" fmla="val -24168"/>
              <a:gd name="adj2" fmla="val 853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  <a:r>
              <a:rPr lang="en-US"/>
              <a:t>, inventory</a:t>
            </a:r>
            <a:endParaRPr lang="en-US" dirty="0"/>
          </a:p>
        </p:txBody>
      </p:sp>
      <p:sp>
        <p:nvSpPr>
          <p:cNvPr id="67" name="Rounded Rectangular Callout 66"/>
          <p:cNvSpPr/>
          <p:nvPr/>
        </p:nvSpPr>
        <p:spPr>
          <a:xfrm>
            <a:off x="2144517" y="3973645"/>
            <a:ext cx="1422091" cy="998947"/>
          </a:xfrm>
          <a:prstGeom prst="wedgeRoundRectCallout">
            <a:avLst>
              <a:gd name="adj1" fmla="val 65849"/>
              <a:gd name="adj2" fmla="val 1748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Employees, customers, </a:t>
            </a:r>
          </a:p>
          <a:p>
            <a:pPr algn="ctr"/>
            <a:r>
              <a:rPr lang="en-US" dirty="0"/>
              <a:t>suppliers, 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9" name="Rounded Rectangular Callout 68"/>
          <p:cNvSpPr/>
          <p:nvPr/>
        </p:nvSpPr>
        <p:spPr>
          <a:xfrm>
            <a:off x="1868007" y="2155544"/>
            <a:ext cx="1729823" cy="520523"/>
          </a:xfrm>
          <a:prstGeom prst="wedgeRoundRectCallout">
            <a:avLst>
              <a:gd name="adj1" fmla="val -1408"/>
              <a:gd name="adj2" fmla="val 780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Sales, inventory</a:t>
            </a:r>
          </a:p>
        </p:txBody>
      </p:sp>
      <p:sp>
        <p:nvSpPr>
          <p:cNvPr id="70" name="Rounded Rectangular Callout 69"/>
          <p:cNvSpPr/>
          <p:nvPr/>
        </p:nvSpPr>
        <p:spPr>
          <a:xfrm>
            <a:off x="8686658" y="2989368"/>
            <a:ext cx="1729823" cy="520523"/>
          </a:xfrm>
          <a:prstGeom prst="wedgeRoundRectCallout">
            <a:avLst>
              <a:gd name="adj1" fmla="val -24168"/>
              <a:gd name="adj2" fmla="val 853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  <a:r>
              <a:rPr lang="en-US"/>
              <a:t>, inventory</a:t>
            </a:r>
            <a:endParaRPr lang="en-US" dirty="0"/>
          </a:p>
        </p:txBody>
      </p:sp>
      <p:sp>
        <p:nvSpPr>
          <p:cNvPr id="71" name="Right Arrow 70"/>
          <p:cNvSpPr/>
          <p:nvPr/>
        </p:nvSpPr>
        <p:spPr>
          <a:xfrm rot="11466760">
            <a:off x="5905671" y="4849875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6367934" y="4911250"/>
            <a:ext cx="328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Query about sales in Manchester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2D6CB-C28D-4E0B-8C4C-0F857BBE7505}"/>
              </a:ext>
            </a:extLst>
          </p:cNvPr>
          <p:cNvSpPr txBox="1"/>
          <p:nvPr/>
        </p:nvSpPr>
        <p:spPr>
          <a:xfrm>
            <a:off x="2022569" y="1811470"/>
            <a:ext cx="122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CS_Stores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687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37" grpId="0" animBg="1"/>
      <p:bldP spid="66" grpId="0" animBg="1"/>
      <p:bldP spid="67" grpId="0" animBg="1"/>
      <p:bldP spid="69" grpId="0" animBg="1"/>
      <p:bldP spid="70" grpId="0" animBg="1"/>
      <p:bldP spid="71" grpId="0" animBg="1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Chain of </a:t>
            </a:r>
            <a:r>
              <a:rPr lang="en-US" dirty="0" err="1"/>
              <a:t>CS_Stores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4872"/>
              </a:spcBef>
            </a:pPr>
            <a:r>
              <a:rPr lang="en-US" dirty="0"/>
              <a:t>Each site stores only data primarily relevant to it</a:t>
            </a:r>
          </a:p>
          <a:p>
            <a:pPr>
              <a:spcBef>
                <a:spcPts val="672"/>
              </a:spcBef>
            </a:pPr>
            <a:r>
              <a:rPr lang="en-US" dirty="0"/>
              <a:t>Distributed DBMS provide access to data at all sites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795916" y="2960950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986" y="2362804"/>
            <a:ext cx="1368152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81154" y="3969062"/>
            <a:ext cx="108012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USA</a:t>
            </a:r>
          </a:p>
        </p:txBody>
      </p:sp>
      <p:pic>
        <p:nvPicPr>
          <p:cNvPr id="11" name="Picture 10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028" y="2182786"/>
            <a:ext cx="864095" cy="864095"/>
          </a:xfrm>
          <a:prstGeom prst="rect">
            <a:avLst/>
          </a:prstGeom>
        </p:spPr>
      </p:pic>
      <p:pic>
        <p:nvPicPr>
          <p:cNvPr id="12" name="Picture 11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919" y="2780931"/>
            <a:ext cx="864095" cy="864095"/>
          </a:xfrm>
          <a:prstGeom prst="rect">
            <a:avLst/>
          </a:prstGeom>
        </p:spPr>
      </p:pic>
      <p:pic>
        <p:nvPicPr>
          <p:cNvPr id="13" name="Picture 12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291" y="3789043"/>
            <a:ext cx="864095" cy="864095"/>
          </a:xfrm>
          <a:prstGeom prst="rect">
            <a:avLst/>
          </a:prstGeom>
        </p:spPr>
      </p:pic>
      <p:cxnSp>
        <p:nvCxnSpPr>
          <p:cNvPr id="15" name="Straight Connector 14"/>
          <p:cNvCxnSpPr>
            <a:endCxn id="8" idx="1"/>
          </p:cNvCxnSpPr>
          <p:nvPr/>
        </p:nvCxnSpPr>
        <p:spPr>
          <a:xfrm flipV="1">
            <a:off x="4884296" y="2614832"/>
            <a:ext cx="1084690" cy="346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6990932" y="2866860"/>
            <a:ext cx="850263" cy="1102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1"/>
          </p:cNvCxnSpPr>
          <p:nvPr/>
        </p:nvCxnSpPr>
        <p:spPr>
          <a:xfrm flipH="1" flipV="1">
            <a:off x="4884296" y="3472686"/>
            <a:ext cx="2596858" cy="748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8" idx="3"/>
            <a:endCxn id="11" idx="1"/>
          </p:cNvCxnSpPr>
          <p:nvPr/>
        </p:nvCxnSpPr>
        <p:spPr>
          <a:xfrm>
            <a:off x="7337139" y="2614833"/>
            <a:ext cx="226889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2" idx="3"/>
            <a:endCxn id="7" idx="1"/>
          </p:cNvCxnSpPr>
          <p:nvPr/>
        </p:nvCxnSpPr>
        <p:spPr>
          <a:xfrm>
            <a:off x="3597014" y="3212978"/>
            <a:ext cx="19890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9" idx="3"/>
            <a:endCxn id="13" idx="1"/>
          </p:cNvCxnSpPr>
          <p:nvPr/>
        </p:nvCxnSpPr>
        <p:spPr>
          <a:xfrm>
            <a:off x="8561274" y="4221090"/>
            <a:ext cx="14401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78" y="4221090"/>
            <a:ext cx="864095" cy="86409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884296" y="4351668"/>
            <a:ext cx="923274" cy="6029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38" name="Straight Connector 37"/>
          <p:cNvCxnSpPr>
            <a:stCxn id="36" idx="3"/>
            <a:endCxn id="37" idx="1"/>
          </p:cNvCxnSpPr>
          <p:nvPr/>
        </p:nvCxnSpPr>
        <p:spPr>
          <a:xfrm>
            <a:off x="4668272" y="4653137"/>
            <a:ext cx="21602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7" idx="3"/>
          </p:cNvCxnSpPr>
          <p:nvPr/>
        </p:nvCxnSpPr>
        <p:spPr>
          <a:xfrm flipV="1">
            <a:off x="5807570" y="4380467"/>
            <a:ext cx="1669014" cy="272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4648847" y="3472686"/>
            <a:ext cx="438644" cy="878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711908" y="2866860"/>
            <a:ext cx="689126" cy="148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ular Callout 65"/>
          <p:cNvSpPr/>
          <p:nvPr/>
        </p:nvSpPr>
        <p:spPr>
          <a:xfrm>
            <a:off x="7564852" y="1394145"/>
            <a:ext cx="1729823" cy="520523"/>
          </a:xfrm>
          <a:prstGeom prst="wedgeRoundRectCallout">
            <a:avLst>
              <a:gd name="adj1" fmla="val -24168"/>
              <a:gd name="adj2" fmla="val 853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  <a:r>
              <a:rPr lang="en-US"/>
              <a:t>, inventory</a:t>
            </a:r>
            <a:endParaRPr lang="en-US" dirty="0"/>
          </a:p>
        </p:txBody>
      </p:sp>
      <p:sp>
        <p:nvSpPr>
          <p:cNvPr id="67" name="Rounded Rectangular Callout 66"/>
          <p:cNvSpPr/>
          <p:nvPr/>
        </p:nvSpPr>
        <p:spPr>
          <a:xfrm>
            <a:off x="2144517" y="3973645"/>
            <a:ext cx="1422091" cy="998947"/>
          </a:xfrm>
          <a:prstGeom prst="wedgeRoundRectCallout">
            <a:avLst>
              <a:gd name="adj1" fmla="val 65849"/>
              <a:gd name="adj2" fmla="val 1748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Employees, customers, </a:t>
            </a:r>
          </a:p>
          <a:p>
            <a:pPr algn="ctr"/>
            <a:r>
              <a:rPr lang="en-US" dirty="0"/>
              <a:t>suppliers, 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69" name="Rounded Rectangular Callout 68"/>
          <p:cNvSpPr/>
          <p:nvPr/>
        </p:nvSpPr>
        <p:spPr>
          <a:xfrm>
            <a:off x="1868007" y="2155544"/>
            <a:ext cx="1729823" cy="520523"/>
          </a:xfrm>
          <a:prstGeom prst="wedgeRoundRectCallout">
            <a:avLst>
              <a:gd name="adj1" fmla="val -1408"/>
              <a:gd name="adj2" fmla="val 780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  <a:r>
              <a:rPr lang="en-US"/>
              <a:t>, inventory</a:t>
            </a:r>
            <a:endParaRPr lang="en-US" dirty="0"/>
          </a:p>
        </p:txBody>
      </p:sp>
      <p:sp>
        <p:nvSpPr>
          <p:cNvPr id="70" name="Rounded Rectangular Callout 69"/>
          <p:cNvSpPr/>
          <p:nvPr/>
        </p:nvSpPr>
        <p:spPr>
          <a:xfrm>
            <a:off x="8686658" y="2989368"/>
            <a:ext cx="1729823" cy="520523"/>
          </a:xfrm>
          <a:prstGeom prst="wedgeRoundRectCallout">
            <a:avLst>
              <a:gd name="adj1" fmla="val -24168"/>
              <a:gd name="adj2" fmla="val 853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  <a:r>
              <a:rPr lang="en-US"/>
              <a:t>, inventory</a:t>
            </a:r>
            <a:endParaRPr lang="en-US" dirty="0"/>
          </a:p>
        </p:txBody>
      </p:sp>
      <p:sp>
        <p:nvSpPr>
          <p:cNvPr id="71" name="Right Arrow 70"/>
          <p:cNvSpPr/>
          <p:nvPr/>
        </p:nvSpPr>
        <p:spPr>
          <a:xfrm rot="11466760">
            <a:off x="5905671" y="4849875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6367934" y="4911250"/>
            <a:ext cx="2691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Query about sales in China</a:t>
            </a:r>
          </a:p>
        </p:txBody>
      </p:sp>
    </p:spTree>
    <p:extLst>
      <p:ext uri="{BB962C8B-B14F-4D97-AF65-F5344CB8AC3E}">
        <p14:creationId xmlns:p14="http://schemas.microsoft.com/office/powerpoint/2010/main" val="111904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37" grpId="0" animBg="1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234749" cy="4023360"/>
          </a:xfrm>
        </p:spPr>
        <p:txBody>
          <a:bodyPr/>
          <a:lstStyle/>
          <a:p>
            <a:r>
              <a:rPr lang="en-US" dirty="0"/>
              <a:t>More general: large </a:t>
            </a:r>
            <a:r>
              <a:rPr lang="en-US" dirty="0" err="1"/>
              <a:t>organisations</a:t>
            </a:r>
            <a:r>
              <a:rPr lang="en-US" dirty="0"/>
              <a:t>/companies</a:t>
            </a:r>
          </a:p>
          <a:p>
            <a:pPr lvl="1"/>
            <a:r>
              <a:rPr lang="mr-IN" dirty="0"/>
              <a:t>…</a:t>
            </a:r>
            <a:r>
              <a:rPr lang="en-GB" dirty="0"/>
              <a:t>with d</a:t>
            </a:r>
            <a:r>
              <a:rPr lang="en-US" dirty="0" err="1"/>
              <a:t>ifferent</a:t>
            </a:r>
            <a:r>
              <a:rPr lang="en-US" dirty="0"/>
              <a:t> branches or offices</a:t>
            </a:r>
          </a:p>
          <a:p>
            <a:pPr lvl="1"/>
            <a:r>
              <a:rPr lang="mr-IN" dirty="0"/>
              <a:t>…</a:t>
            </a:r>
            <a:r>
              <a:rPr lang="en-GB" dirty="0"/>
              <a:t>with different sub-companies</a:t>
            </a:r>
          </a:p>
          <a:p>
            <a:pPr lvl="1"/>
            <a:r>
              <a:rPr lang="en-GB" dirty="0"/>
              <a:t>…or simply so large that one computer can’t handle all the request</a:t>
            </a:r>
          </a:p>
          <a:p>
            <a:pPr>
              <a:spcBef>
                <a:spcPts val="2472"/>
              </a:spcBef>
            </a:pPr>
            <a:r>
              <a:rPr lang="en-GB" dirty="0"/>
              <a:t>Providing access to large datasets to many users (e.g., for an online store)</a:t>
            </a:r>
          </a:p>
          <a:p>
            <a:pPr lvl="1"/>
            <a:r>
              <a:rPr lang="en-GB" dirty="0"/>
              <a:t>Distribute data over several computers – not necessarily identical (in software or hardware)</a:t>
            </a:r>
          </a:p>
          <a:p>
            <a:pPr lvl="1"/>
            <a:r>
              <a:rPr lang="en-GB" dirty="0"/>
              <a:t>Computers could be at geographically separate locations (but also possible that they are the same place)</a:t>
            </a:r>
          </a:p>
          <a:p>
            <a:pPr lvl="1"/>
            <a:r>
              <a:rPr lang="en-GB" dirty="0"/>
              <a:t>Possible advantages:</a:t>
            </a:r>
          </a:p>
          <a:p>
            <a:pPr lvl="2"/>
            <a:r>
              <a:rPr lang="en-GB" dirty="0"/>
              <a:t>Balance workload &amp; network traffic</a:t>
            </a:r>
          </a:p>
          <a:p>
            <a:pPr lvl="2"/>
            <a:r>
              <a:rPr lang="en-GB" dirty="0"/>
              <a:t>Easier to extend capacity or scale to higher number of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06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“introduction to databases” video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1585483" y="2165013"/>
            <a:ext cx="1940024" cy="2206918"/>
            <a:chOff x="1367930" y="4371365"/>
            <a:chExt cx="1940024" cy="22069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7930" y="4371365"/>
              <a:ext cx="1940024" cy="155201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5656" y="6055063"/>
              <a:ext cx="859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User</a:t>
              </a:r>
              <a:endParaRPr lang="en-US" sz="2000" dirty="0"/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3533369" y="2852936"/>
            <a:ext cx="132697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521" y="2174330"/>
            <a:ext cx="1542702" cy="154270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6557705" y="2857495"/>
            <a:ext cx="132278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865" y="2276872"/>
            <a:ext cx="1368152" cy="136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11282" y="3848711"/>
            <a:ext cx="15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6718736" y="4823284"/>
            <a:ext cx="26850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&gt; 42 TB of data</a:t>
            </a:r>
          </a:p>
          <a:p>
            <a:pPr algn="r"/>
            <a:r>
              <a:rPr lang="en-US" sz="2000" dirty="0"/>
              <a:t>&gt; 60 million active users</a:t>
            </a:r>
          </a:p>
          <a:p>
            <a:pPr algn="r"/>
            <a:r>
              <a:rPr lang="en-US" sz="2000" dirty="0"/>
              <a:t>millions of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8003" y="5981218"/>
            <a:ext cx="1752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100s of servers</a:t>
            </a:r>
          </a:p>
        </p:txBody>
      </p:sp>
      <p:grpSp>
        <p:nvGrpSpPr>
          <p:cNvPr id="43" name="Group 42" descr="A number of databases"/>
          <p:cNvGrpSpPr/>
          <p:nvPr/>
        </p:nvGrpSpPr>
        <p:grpSpPr>
          <a:xfrm>
            <a:off x="6435220" y="1835868"/>
            <a:ext cx="3012087" cy="2776945"/>
            <a:chOff x="5368349" y="1259632"/>
            <a:chExt cx="3375837" cy="3112299"/>
          </a:xfrm>
        </p:grpSpPr>
        <p:sp>
          <p:nvSpPr>
            <p:cNvPr id="44" name="Rectangle 43" descr="A number of databases"/>
            <p:cNvSpPr/>
            <p:nvPr/>
          </p:nvSpPr>
          <p:spPr>
            <a:xfrm>
              <a:off x="5368349" y="1259632"/>
              <a:ext cx="3375837" cy="3112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5507806" y="2165015"/>
              <a:ext cx="999046" cy="5213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6852" y="1389175"/>
              <a:ext cx="792088" cy="792088"/>
            </a:xfrm>
            <a:prstGeom prst="rect">
              <a:avLst/>
            </a:prstGeom>
          </p:spPr>
        </p:pic>
        <p:pic>
          <p:nvPicPr>
            <p:cNvPr id="47" name="Picture 46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0312" y="1785219"/>
              <a:ext cx="792088" cy="792088"/>
            </a:xfrm>
            <a:prstGeom prst="rect">
              <a:avLst/>
            </a:prstGeom>
          </p:spPr>
        </p:pic>
        <p:pic>
          <p:nvPicPr>
            <p:cNvPr id="48" name="Picture 47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8762" y="2601038"/>
              <a:ext cx="792088" cy="792088"/>
            </a:xfrm>
            <a:prstGeom prst="rect">
              <a:avLst/>
            </a:prstGeom>
          </p:spPr>
        </p:pic>
        <p:pic>
          <p:nvPicPr>
            <p:cNvPr id="49" name="Picture 48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52098" y="2941022"/>
              <a:ext cx="792088" cy="792088"/>
            </a:xfrm>
            <a:prstGeom prst="rect">
              <a:avLst/>
            </a:prstGeom>
          </p:spPr>
        </p:pic>
        <p:pic>
          <p:nvPicPr>
            <p:cNvPr id="50" name="Picture 49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8342" y="3549931"/>
              <a:ext cx="792088" cy="792088"/>
            </a:xfrm>
            <a:prstGeom prst="rect">
              <a:avLst/>
            </a:prstGeom>
          </p:spPr>
        </p:pic>
        <p:cxnSp>
          <p:nvCxnSpPr>
            <p:cNvPr id="51" name="Straight Arrow Connector 50"/>
            <p:cNvCxnSpPr/>
            <p:nvPr/>
          </p:nvCxnSpPr>
          <p:spPr>
            <a:xfrm flipV="1">
              <a:off x="5577878" y="2403972"/>
              <a:ext cx="1802434" cy="4273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5577878" y="2997082"/>
              <a:ext cx="1470884" cy="2872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532429" y="3232062"/>
              <a:ext cx="2419669" cy="22828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466630" y="3400328"/>
              <a:ext cx="1241712" cy="5456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 descr="A number of laptops"/>
          <p:cNvGrpSpPr/>
          <p:nvPr/>
        </p:nvGrpSpPr>
        <p:grpSpPr>
          <a:xfrm>
            <a:off x="1787099" y="1833477"/>
            <a:ext cx="3279185" cy="3623094"/>
            <a:chOff x="-37948" y="1124744"/>
            <a:chExt cx="4105892" cy="4536504"/>
          </a:xfrm>
        </p:grpSpPr>
        <p:sp>
          <p:nvSpPr>
            <p:cNvPr id="56" name="Rectangle 55"/>
            <p:cNvSpPr/>
            <p:nvPr/>
          </p:nvSpPr>
          <p:spPr>
            <a:xfrm>
              <a:off x="0" y="1124744"/>
              <a:ext cx="4067944" cy="4536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632" y="1329177"/>
              <a:ext cx="630070" cy="504056"/>
            </a:xfrm>
            <a:prstGeom prst="rect">
              <a:avLst/>
            </a:prstGeom>
          </p:spPr>
        </p:pic>
        <p:cxnSp>
          <p:nvCxnSpPr>
            <p:cNvPr id="58" name="Straight Arrow Connector 57"/>
            <p:cNvCxnSpPr/>
            <p:nvPr/>
          </p:nvCxnSpPr>
          <p:spPr>
            <a:xfrm>
              <a:off x="2663788" y="1988840"/>
              <a:ext cx="1307709" cy="75168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844" y="2188423"/>
              <a:ext cx="630070" cy="504056"/>
            </a:xfrm>
            <a:prstGeom prst="rect">
              <a:avLst/>
            </a:prstGeom>
          </p:spPr>
        </p:pic>
        <p:pic>
          <p:nvPicPr>
            <p:cNvPr id="60" name="Picture 59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643" y="3677372"/>
              <a:ext cx="630070" cy="504056"/>
            </a:xfrm>
            <a:prstGeom prst="rect">
              <a:avLst/>
            </a:prstGeom>
          </p:spPr>
        </p:pic>
        <p:pic>
          <p:nvPicPr>
            <p:cNvPr id="61" name="Picture 60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632" y="4083029"/>
              <a:ext cx="630070" cy="504056"/>
            </a:xfrm>
            <a:prstGeom prst="rect">
              <a:avLst/>
            </a:prstGeom>
          </p:spPr>
        </p:pic>
        <p:pic>
          <p:nvPicPr>
            <p:cNvPr id="62" name="Picture 61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955954"/>
              <a:ext cx="630070" cy="504056"/>
            </a:xfrm>
            <a:prstGeom prst="rect">
              <a:avLst/>
            </a:prstGeom>
          </p:spPr>
        </p:pic>
        <p:pic>
          <p:nvPicPr>
            <p:cNvPr id="63" name="Picture 62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5416" y="4725121"/>
              <a:ext cx="630070" cy="504056"/>
            </a:xfrm>
            <a:prstGeom prst="rect">
              <a:avLst/>
            </a:prstGeom>
          </p:spPr>
        </p:pic>
        <p:pic>
          <p:nvPicPr>
            <p:cNvPr id="64" name="Picture 63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0381" y="2256021"/>
              <a:ext cx="630070" cy="504056"/>
            </a:xfrm>
            <a:prstGeom prst="rect">
              <a:avLst/>
            </a:prstGeom>
          </p:spPr>
        </p:pic>
        <p:pic>
          <p:nvPicPr>
            <p:cNvPr id="65" name="Picture 64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3718" y="1397668"/>
              <a:ext cx="630070" cy="504056"/>
            </a:xfrm>
            <a:prstGeom prst="rect">
              <a:avLst/>
            </a:prstGeom>
          </p:spPr>
        </p:pic>
        <p:pic>
          <p:nvPicPr>
            <p:cNvPr id="66" name="Picture 65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7948" y="2852936"/>
              <a:ext cx="630070" cy="504056"/>
            </a:xfrm>
            <a:prstGeom prst="rect">
              <a:avLst/>
            </a:prstGeom>
          </p:spPr>
        </p:pic>
        <p:cxnSp>
          <p:nvCxnSpPr>
            <p:cNvPr id="67" name="Straight Arrow Connector 66"/>
            <p:cNvCxnSpPr/>
            <p:nvPr/>
          </p:nvCxnSpPr>
          <p:spPr>
            <a:xfrm>
              <a:off x="1888984" y="1829775"/>
              <a:ext cx="2034944" cy="99313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1888266" y="2630932"/>
              <a:ext cx="2077129" cy="39431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2033718" y="3309493"/>
              <a:ext cx="1630229" cy="15551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1889702" y="3422293"/>
              <a:ext cx="2034226" cy="91276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71" idx="2"/>
            </p:cNvCxnSpPr>
            <p:nvPr/>
          </p:nvCxnSpPr>
          <p:spPr>
            <a:xfrm>
              <a:off x="943879" y="2692479"/>
              <a:ext cx="3056249" cy="49643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1283713" y="3355631"/>
              <a:ext cx="2530994" cy="50959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2197324" y="3578973"/>
              <a:ext cx="1742114" cy="126301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986752" y="3460362"/>
              <a:ext cx="2978643" cy="16895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 flipV="1">
              <a:off x="592122" y="3104964"/>
              <a:ext cx="3174975" cy="13004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 descr="Lapt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3648" y="3212976"/>
              <a:ext cx="630070" cy="504056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4612043" y="3850258"/>
            <a:ext cx="2080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Amazon.com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469187" y="5669246"/>
            <a:ext cx="27276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millions of users per day</a:t>
            </a:r>
            <a:br>
              <a:rPr lang="en-US" sz="2000" dirty="0"/>
            </a:br>
            <a:r>
              <a:rPr lang="en-US" sz="2000" dirty="0"/>
              <a:t>many at the same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93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Databases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Distributed Database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Collection of multiple </a:t>
            </a:r>
            <a:r>
              <a:rPr lang="en-US" b="1" dirty="0"/>
              <a:t>logically interrelated </a:t>
            </a:r>
            <a:r>
              <a:rPr lang="en-US" dirty="0"/>
              <a:t>databases</a:t>
            </a:r>
          </a:p>
          <a:p>
            <a:pPr lvl="1"/>
            <a:r>
              <a:rPr lang="en-US" b="1" dirty="0"/>
              <a:t>Distributed</a:t>
            </a:r>
            <a:r>
              <a:rPr lang="en-US" dirty="0"/>
              <a:t> over a computer network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Distributed DBMS</a:t>
            </a:r>
            <a:r>
              <a:rPr lang="en-US" dirty="0"/>
              <a:t>: manages a distributed database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254" y="3784403"/>
            <a:ext cx="864095" cy="864095"/>
          </a:xfrm>
          <a:prstGeom prst="rect">
            <a:avLst/>
          </a:prstGeom>
        </p:spPr>
      </p:pic>
      <p:pic>
        <p:nvPicPr>
          <p:cNvPr id="7" name="Picture 6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486" y="3352355"/>
            <a:ext cx="864095" cy="864095"/>
          </a:xfrm>
          <a:prstGeom prst="rect">
            <a:avLst/>
          </a:prstGeom>
        </p:spPr>
      </p:pic>
      <p:pic>
        <p:nvPicPr>
          <p:cNvPr id="8" name="Picture 7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670" y="4543030"/>
            <a:ext cx="864095" cy="86409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3746071" y="3784401"/>
            <a:ext cx="1154414" cy="311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5790641" y="3920497"/>
            <a:ext cx="910044" cy="550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3696936" y="4382162"/>
            <a:ext cx="2880320" cy="694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ular Callout 20"/>
          <p:cNvSpPr/>
          <p:nvPr/>
        </p:nvSpPr>
        <p:spPr>
          <a:xfrm>
            <a:off x="6455879" y="3078194"/>
            <a:ext cx="3816734" cy="906441"/>
          </a:xfrm>
          <a:prstGeom prst="wedgeRoundRectCallout">
            <a:avLst>
              <a:gd name="adj1" fmla="val -67002"/>
              <a:gd name="adj2" fmla="val 214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Node</a:t>
            </a:r>
            <a:r>
              <a:rPr lang="en-US" dirty="0"/>
              <a:t>/</a:t>
            </a:r>
            <a:r>
              <a:rPr lang="en-US" b="1" dirty="0"/>
              <a:t>site</a:t>
            </a:r>
            <a:r>
              <a:rPr lang="en-US" dirty="0"/>
              <a:t> = computer in the network, where a database is stored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592" y="392049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1232" y="289069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4312" y="474424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3244301" y="4756872"/>
            <a:ext cx="1453045" cy="527652"/>
          </a:xfrm>
          <a:prstGeom prst="wedgeRoundRectCallout">
            <a:avLst>
              <a:gd name="adj1" fmla="val 49304"/>
              <a:gd name="adj2" fmla="val -7238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Network link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429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/>
      <p:bldP spid="24" grpId="0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Performance improvements</a:t>
            </a:r>
          </a:p>
          <a:p>
            <a:pPr lvl="1"/>
            <a:r>
              <a:rPr lang="en-US" dirty="0"/>
              <a:t>Answer queries faster by distributing tasks over the nodes</a:t>
            </a:r>
          </a:p>
          <a:p>
            <a:pPr lvl="1"/>
            <a:r>
              <a:rPr lang="en-US" dirty="0"/>
              <a:t>Reduces CPU time, disk accesses, communication cost, </a:t>
            </a:r>
            <a:r>
              <a:rPr lang="mr-IN" dirty="0"/>
              <a:t>…</a:t>
            </a:r>
            <a:r>
              <a:rPr lang="en-US" dirty="0"/>
              <a:t> </a:t>
            </a:r>
            <a:r>
              <a:rPr lang="en-GB" dirty="0"/>
              <a:t>at individual nodes</a:t>
            </a:r>
            <a:endParaRPr lang="en-US" dirty="0"/>
          </a:p>
          <a:p>
            <a:r>
              <a:rPr lang="en-US" b="1" dirty="0"/>
              <a:t>Scalability</a:t>
            </a:r>
          </a:p>
          <a:p>
            <a:pPr lvl="1"/>
            <a:r>
              <a:rPr lang="en-US" dirty="0"/>
              <a:t>Easier extension of the system: capacity, performance, </a:t>
            </a:r>
            <a:r>
              <a:rPr lang="mr-IN" dirty="0"/>
              <a:t>…</a:t>
            </a:r>
            <a:endParaRPr lang="en-GB" dirty="0"/>
          </a:p>
          <a:p>
            <a:pPr lvl="1"/>
            <a:r>
              <a:rPr lang="en-GB" dirty="0"/>
              <a:t>Essentially just add a new node</a:t>
            </a:r>
            <a:endParaRPr lang="en-US" dirty="0"/>
          </a:p>
          <a:p>
            <a:r>
              <a:rPr lang="en-US" b="1" dirty="0"/>
              <a:t>Resilience</a:t>
            </a:r>
          </a:p>
          <a:p>
            <a:pPr lvl="1"/>
            <a:r>
              <a:rPr lang="en-US" dirty="0"/>
              <a:t>Data can be replicated at geographically separate sites</a:t>
            </a:r>
          </a:p>
          <a:p>
            <a:pPr lvl="1"/>
            <a:r>
              <a:rPr lang="en-US" dirty="0"/>
              <a:t>Catastrophic failures don’t affect the entire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714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F6C0-5BF1-4CD0-AEBA-6D09D6C7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6719-059C-447E-88A3-3823F6FC6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database is a database made up of multiple logically interrelated databases that is based on multiple different computers, distributed over a network</a:t>
            </a:r>
            <a:endParaRPr lang="en-GB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1EF732-86D7-4011-B6F3-B8ADE12C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0561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0.3|2.8|2.1|3|5.9|5.2|16.1|2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4|8.3|36.2|35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5.6|7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4.7|8.5|3.5|28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3|33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</TotalTime>
  <Words>403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Introduction to distributed databases</vt:lpstr>
      <vt:lpstr>Overview over this video</vt:lpstr>
      <vt:lpstr>Motivation</vt:lpstr>
      <vt:lpstr>Motivation</vt:lpstr>
      <vt:lpstr>Other Applications</vt:lpstr>
      <vt:lpstr>From “introduction to databases” video</vt:lpstr>
      <vt:lpstr>Distributed Databases</vt:lpstr>
      <vt:lpstr>Advantages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Rasmus Ibsen-Jensen</dc:creator>
  <cp:lastModifiedBy>Rasmus Ibsen-Jensen</cp:lastModifiedBy>
  <cp:revision>9</cp:revision>
  <dcterms:created xsi:type="dcterms:W3CDTF">2020-11-21T15:25:24Z</dcterms:created>
  <dcterms:modified xsi:type="dcterms:W3CDTF">2020-11-24T17:22:49Z</dcterms:modified>
</cp:coreProperties>
</file>