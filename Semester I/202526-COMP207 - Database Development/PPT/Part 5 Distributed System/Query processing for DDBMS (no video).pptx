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473" r:id="rId4"/>
    <p:sldId id="474" r:id="rId5"/>
    <p:sldId id="475" r:id="rId6"/>
    <p:sldId id="476" r:id="rId7"/>
    <p:sldId id="477" r:id="rId8"/>
    <p:sldId id="478" r:id="rId9"/>
    <p:sldId id="479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92" autoAdjust="0"/>
    <p:restoredTop sz="94660"/>
  </p:normalViewPr>
  <p:slideViewPr>
    <p:cSldViewPr snapToGrid="0">
      <p:cViewPr varScale="1">
        <p:scale>
          <a:sx n="74" d="100"/>
          <a:sy n="74" d="100"/>
        </p:scale>
        <p:origin x="66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0CC13-3729-4089-9A17-2C4AEAAAF49D}" type="datetimeFigureOut">
              <a:rPr lang="en-GB" smtClean="0"/>
              <a:t>24/11/2020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8DD40-81CD-4487-8AA4-C47A38B4A9D0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42854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0CC13-3729-4089-9A17-2C4AEAAAF49D}" type="datetimeFigureOut">
              <a:rPr lang="en-GB" smtClean="0"/>
              <a:t>24/11/2020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8DD40-81CD-4487-8AA4-C47A38B4A9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01608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0CC13-3729-4089-9A17-2C4AEAAAF49D}" type="datetimeFigureOut">
              <a:rPr lang="en-GB" smtClean="0"/>
              <a:t>24/11/2020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8DD40-81CD-4487-8AA4-C47A38B4A9D0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75282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0CC13-3729-4089-9A17-2C4AEAAAF49D}" type="datetimeFigureOut">
              <a:rPr lang="en-GB" smtClean="0"/>
              <a:t>24/11/2020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8DD40-81CD-4487-8AA4-C47A38B4A9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24033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0CC13-3729-4089-9A17-2C4AEAAAF49D}" type="datetimeFigureOut">
              <a:rPr lang="en-GB" smtClean="0"/>
              <a:t>24/11/2020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8DD40-81CD-4487-8AA4-C47A38B4A9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56001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0CC13-3729-4089-9A17-2C4AEAAAF49D}" type="datetimeFigureOut">
              <a:rPr lang="en-GB" smtClean="0"/>
              <a:t>24/11/2020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8DD40-81CD-4487-8AA4-C47A38B4A9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0679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0CC13-3729-4089-9A17-2C4AEAAAF49D}" type="datetimeFigureOut">
              <a:rPr lang="en-GB" smtClean="0"/>
              <a:t>24/11/2020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8DD40-81CD-4487-8AA4-C47A38B4A9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6082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C2D0CC13-3729-4089-9A17-2C4AEAAAF49D}" type="datetimeFigureOut">
              <a:rPr lang="en-GB" smtClean="0"/>
              <a:t>24/11/2020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808DD40-81CD-4487-8AA4-C47A38B4A9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06824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0CC13-3729-4089-9A17-2C4AEAAAF49D}" type="datetimeFigureOut">
              <a:rPr lang="en-GB" smtClean="0"/>
              <a:t>24/11/2020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8DD40-81CD-4487-8AA4-C47A38B4A9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02685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0CC13-3729-4089-9A17-2C4AEAAAF49D}" type="datetimeFigureOut">
              <a:rPr lang="en-GB" smtClean="0"/>
              <a:t>24/11/2020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8DD40-81CD-4487-8AA4-C47A38B4A9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84735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0CC13-3729-4089-9A17-2C4AEAAAF49D}" type="datetimeFigureOut">
              <a:rPr lang="en-GB" smtClean="0"/>
              <a:t>24/11/2020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8DD40-81CD-4487-8AA4-C47A38B4A9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01617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C2D0CC13-3729-4089-9A17-2C4AEAAAF49D}" type="datetimeFigureOut">
              <a:rPr lang="en-GB" smtClean="0"/>
              <a:t>24/11/2020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808DD40-81CD-4487-8AA4-C47A38B4A9D0}" type="slidenum">
              <a:rPr lang="en-GB" smtClean="0"/>
              <a:t>‹#›</a:t>
            </a:fld>
            <a:endParaRPr lang="en-GB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38302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image" Target="../media/image3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6" Type="http://schemas.openxmlformats.org/officeDocument/2006/relationships/image" Target="../media/image2.tiff"/><Relationship Id="rId5" Type="http://schemas.openxmlformats.org/officeDocument/2006/relationships/image" Target="../media/image5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5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6" Type="http://schemas.openxmlformats.org/officeDocument/2006/relationships/image" Target="../media/image2.tiff"/><Relationship Id="rId5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5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image" Target="../media/image1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6" Type="http://schemas.openxmlformats.org/officeDocument/2006/relationships/image" Target="../media/image2.tiff"/><Relationship Id="rId5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29F2F-94E1-47B0-AF7F-7C6ED574BD7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Query processing for DDBMS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C10CA8-17D4-4E5E-B55D-0FFAE3E9B3D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682614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4A2DF-7B53-4CB2-BADC-4F990035D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over this video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181497-A64E-4A08-95FB-8D165DA0EC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discuss some problems that comes up in DDBMS for query processing and an example of how to do better than the naïve approach in some cases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74E250-566A-4CBD-B1D9-A17D29D18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C260D5AD-280D-4F23-8F09-5CDE2943111F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56242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Query Processing in Distributed DBMS</a:t>
            </a:r>
          </a:p>
        </p:txBody>
      </p:sp>
      <p:sp>
        <p:nvSpPr>
          <p:cNvPr id="29" name="Content Placeholder 28"/>
          <p:cNvSpPr>
            <a:spLocks noGrp="1"/>
          </p:cNvSpPr>
          <p:nvPr>
            <p:ph idx="1"/>
          </p:nvPr>
        </p:nvSpPr>
        <p:spPr>
          <a:xfrm>
            <a:off x="1981200" y="4459353"/>
            <a:ext cx="8229600" cy="1988900"/>
          </a:xfrm>
        </p:spPr>
        <p:txBody>
          <a:bodyPr>
            <a:normAutofit/>
          </a:bodyPr>
          <a:lstStyle/>
          <a:p>
            <a:r>
              <a:rPr lang="en-US" dirty="0"/>
              <a:t>Try to answer query at site where query is raised</a:t>
            </a:r>
          </a:p>
          <a:p>
            <a:r>
              <a:rPr lang="en-US" dirty="0"/>
              <a:t>If not possible: request information from other sites</a:t>
            </a:r>
          </a:p>
          <a:p>
            <a:pPr lvl="1"/>
            <a:r>
              <a:rPr lang="en-US" dirty="0"/>
              <a:t>Slow </a:t>
            </a:r>
            <a:r>
              <a:rPr lang="en-US" dirty="0">
                <a:sym typeface="Wingdings"/>
              </a:rPr>
              <a:t></a:t>
            </a:r>
            <a:r>
              <a:rPr lang="en-US" dirty="0"/>
              <a:t> design database to reduce this as much as possible</a:t>
            </a:r>
          </a:p>
          <a:p>
            <a:pPr lvl="1"/>
            <a:r>
              <a:rPr lang="en-US" dirty="0"/>
              <a:t>Most expensive: joins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3</a:t>
            </a:fld>
            <a:endParaRPr lang="en-GB"/>
          </a:p>
        </p:txBody>
      </p:sp>
      <p:pic>
        <p:nvPicPr>
          <p:cNvPr id="30" name="Picture 29" descr="A databa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7809" y="2930454"/>
            <a:ext cx="864095" cy="864095"/>
          </a:xfrm>
          <a:prstGeom prst="rect">
            <a:avLst/>
          </a:prstGeom>
        </p:spPr>
      </p:pic>
      <p:pic>
        <p:nvPicPr>
          <p:cNvPr id="31" name="Picture 30" descr="A databa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8557" y="2297779"/>
            <a:ext cx="864095" cy="864095"/>
          </a:xfrm>
          <a:prstGeom prst="rect">
            <a:avLst/>
          </a:prstGeom>
        </p:spPr>
      </p:pic>
      <p:pic>
        <p:nvPicPr>
          <p:cNvPr id="32" name="Picture 31" descr="A databa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1518" y="3568795"/>
            <a:ext cx="864095" cy="864095"/>
          </a:xfrm>
          <a:prstGeom prst="rect">
            <a:avLst/>
          </a:prstGeom>
        </p:spPr>
      </p:pic>
      <p:cxnSp>
        <p:nvCxnSpPr>
          <p:cNvPr id="33" name="Straight Connector 32"/>
          <p:cNvCxnSpPr/>
          <p:nvPr/>
        </p:nvCxnSpPr>
        <p:spPr>
          <a:xfrm flipV="1">
            <a:off x="5301626" y="2948936"/>
            <a:ext cx="526930" cy="31183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flipH="1" flipV="1">
            <a:off x="6692651" y="3033901"/>
            <a:ext cx="526930" cy="45374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stCxn id="35" idx="1"/>
          </p:cNvCxnSpPr>
          <p:nvPr/>
        </p:nvCxnSpPr>
        <p:spPr>
          <a:xfrm flipH="1" flipV="1">
            <a:off x="5252491" y="3528214"/>
            <a:ext cx="1759026" cy="4726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4036925" y="3104854"/>
            <a:ext cx="3626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79303" y="1815830"/>
            <a:ext cx="3626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45543" y="3722542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C</a:t>
            </a:r>
            <a:endParaRPr lang="en-US" sz="2400" dirty="0"/>
          </a:p>
        </p:txBody>
      </p:sp>
      <p:sp>
        <p:nvSpPr>
          <p:cNvPr id="40" name="Right Arrow 39"/>
          <p:cNvSpPr/>
          <p:nvPr/>
        </p:nvSpPr>
        <p:spPr>
          <a:xfrm rot="10800000">
            <a:off x="6883541" y="2477967"/>
            <a:ext cx="422920" cy="362269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/>
          <p:cNvSpPr txBox="1"/>
          <p:nvPr/>
        </p:nvSpPr>
        <p:spPr>
          <a:xfrm>
            <a:off x="7443565" y="2466871"/>
            <a:ext cx="7626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accent2"/>
                </a:solidFill>
              </a:rPr>
              <a:t>Query</a:t>
            </a:r>
            <a:endParaRPr lang="en-US" dirty="0">
              <a:solidFill>
                <a:schemeClr val="accent2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0792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Goal: </a:t>
                </a:r>
                <a:r>
                  <a:rPr lang="en-GB" dirty="0"/>
                  <a:t>compute join at site </a:t>
                </a:r>
                <a:r>
                  <a:rPr lang="en-GB" b="1" dirty="0"/>
                  <a:t>B</a:t>
                </a:r>
                <a:endParaRPr lang="en-US" b="1" dirty="0">
                  <a:solidFill>
                    <a:schemeClr val="accent3"/>
                  </a:solidFill>
                </a:endParaRP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Obvious approach:</a:t>
                </a:r>
              </a:p>
              <a:p>
                <a:pPr lvl="1"/>
                <a:r>
                  <a:rPr lang="en-US" dirty="0"/>
                  <a:t>Site </a:t>
                </a:r>
                <a:r>
                  <a:rPr lang="en-US" b="1" dirty="0"/>
                  <a:t>B</a:t>
                </a:r>
                <a:r>
                  <a:rPr lang="en-US" dirty="0"/>
                  <a:t> asks site </a:t>
                </a:r>
                <a:r>
                  <a:rPr lang="en-US" b="1" dirty="0"/>
                  <a:t>A</a:t>
                </a:r>
                <a:r>
                  <a:rPr lang="en-US" dirty="0"/>
                  <a:t> to send </a:t>
                </a:r>
                <a:r>
                  <a:rPr lang="en-US" dirty="0">
                    <a:solidFill>
                      <a:schemeClr val="accent1"/>
                    </a:solidFill>
                  </a:rPr>
                  <a:t>R</a:t>
                </a:r>
                <a:endParaRPr lang="en-US" dirty="0"/>
              </a:p>
              <a:p>
                <a:pPr lvl="1"/>
                <a:r>
                  <a:rPr lang="en-US" dirty="0"/>
                  <a:t>Site </a:t>
                </a:r>
                <a:r>
                  <a:rPr lang="en-US" b="1" dirty="0"/>
                  <a:t>B</a:t>
                </a:r>
                <a:r>
                  <a:rPr lang="en-US" dirty="0"/>
                  <a:t> computes </a:t>
                </a:r>
                <a:r>
                  <a:rPr lang="en-US" dirty="0">
                    <a:solidFill>
                      <a:schemeClr val="accent1"/>
                    </a:solidFill>
                  </a:rPr>
                  <a:t>R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charset="0"/>
                      </a:rPr>
                      <m:t>⋈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>
                    <a:solidFill>
                      <a:schemeClr val="accent3"/>
                    </a:solidFill>
                  </a:rPr>
                  <a:t>S</a:t>
                </a:r>
              </a:p>
              <a:p>
                <a:pPr marL="342900" lvl="1" indent="-342900">
                  <a:spcBef>
                    <a:spcPts val="2472"/>
                  </a:spcBef>
                  <a:buFont typeface="Arial" pitchFamily="34" charset="0"/>
                  <a:buChar char="•"/>
                </a:pPr>
                <a:r>
                  <a:rPr lang="en-US" sz="2800" dirty="0"/>
                  <a:t>Better: only send data that is actually required</a:t>
                </a:r>
                <a:endParaRPr lang="en-US" sz="2400" dirty="0"/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5"/>
                <a:stretch>
                  <a:fillRect l="-1333" t="-1193" b="-3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4</a:t>
            </a:fld>
            <a:endParaRPr lang="en-GB"/>
          </a:p>
        </p:txBody>
      </p:sp>
      <p:pic>
        <p:nvPicPr>
          <p:cNvPr id="6" name="Picture 5" descr="A databas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35761" y="2364541"/>
            <a:ext cx="864095" cy="864095"/>
          </a:xfrm>
          <a:prstGeom prst="rect">
            <a:avLst/>
          </a:prstGeom>
        </p:spPr>
      </p:pic>
      <p:pic>
        <p:nvPicPr>
          <p:cNvPr id="7" name="Picture 6" descr="A databas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04113" y="2364540"/>
            <a:ext cx="864095" cy="864095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 flipH="1">
            <a:off x="4810149" y="2796586"/>
            <a:ext cx="229396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3779601" y="3255368"/>
            <a:ext cx="117641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/>
              <a:t>stores </a:t>
            </a:r>
            <a:r>
              <a:rPr lang="en-US" sz="2400" dirty="0">
                <a:solidFill>
                  <a:schemeClr val="accent1"/>
                </a:solidFill>
              </a:rPr>
              <a:t>R</a:t>
            </a:r>
            <a:endParaRPr lang="en-US" sz="2400" dirty="0"/>
          </a:p>
        </p:txBody>
      </p:sp>
      <p:sp>
        <p:nvSpPr>
          <p:cNvPr id="11" name="Rectangle 10"/>
          <p:cNvSpPr/>
          <p:nvPr/>
        </p:nvSpPr>
        <p:spPr>
          <a:xfrm>
            <a:off x="6960777" y="3250005"/>
            <a:ext cx="115076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/>
              <a:t>stores</a:t>
            </a:r>
            <a:r>
              <a:rPr lang="en-US" sz="2400" dirty="0">
                <a:solidFill>
                  <a:schemeClr val="accent3"/>
                </a:solidFill>
              </a:rPr>
              <a:t> S</a:t>
            </a:r>
            <a:endParaRPr lang="en-US" sz="2000" dirty="0"/>
          </a:p>
        </p:txBody>
      </p:sp>
      <p:sp>
        <p:nvSpPr>
          <p:cNvPr id="12" name="TextBox 11"/>
          <p:cNvSpPr txBox="1"/>
          <p:nvPr/>
        </p:nvSpPr>
        <p:spPr>
          <a:xfrm>
            <a:off x="3586064" y="2564313"/>
            <a:ext cx="3706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68207" y="2561631"/>
            <a:ext cx="3626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B</a:t>
            </a:r>
          </a:p>
        </p:txBody>
      </p:sp>
      <p:sp>
        <p:nvSpPr>
          <p:cNvPr id="14" name="Right Arrow 13"/>
          <p:cNvSpPr/>
          <p:nvPr/>
        </p:nvSpPr>
        <p:spPr>
          <a:xfrm rot="9115421">
            <a:off x="7957719" y="2007800"/>
            <a:ext cx="422920" cy="362269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8445534" y="1627413"/>
                <a:ext cx="1516762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800" dirty="0">
                    <a:solidFill>
                      <a:schemeClr val="accent1"/>
                    </a:solidFill>
                  </a:rPr>
                  <a:t>R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a:rPr lang="en-GB" sz="2800" i="1">
                        <a:latin typeface="Cambria Math" charset="0"/>
                      </a:rPr>
                      <m:t>⋈</m:t>
                    </m:r>
                  </m:oMath>
                </a14:m>
                <a:r>
                  <a:rPr lang="en-US" sz="2800" dirty="0"/>
                  <a:t> </a:t>
                </a:r>
                <a:r>
                  <a:rPr lang="en-US" sz="2800" dirty="0">
                    <a:solidFill>
                      <a:schemeClr val="accent3"/>
                    </a:solidFill>
                  </a:rPr>
                  <a:t>S</a:t>
                </a:r>
                <a:r>
                  <a:rPr lang="en-US" sz="2800" dirty="0"/>
                  <a:t> = ?</a:t>
                </a:r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5534" y="1627413"/>
                <a:ext cx="1516762" cy="523220"/>
              </a:xfrm>
              <a:prstGeom prst="rect">
                <a:avLst/>
              </a:prstGeom>
              <a:blipFill>
                <a:blip r:embed="rId7"/>
                <a:stretch>
                  <a:fillRect l="-8032" t="-11628" r="-7229" b="-3255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15"/>
          <p:cNvSpPr/>
          <p:nvPr/>
        </p:nvSpPr>
        <p:spPr>
          <a:xfrm>
            <a:off x="4789762" y="2389197"/>
            <a:ext cx="3097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R</a:t>
            </a:r>
            <a:endParaRPr lang="en-US" dirty="0"/>
          </a:p>
        </p:txBody>
      </p:sp>
      <p:sp>
        <p:nvSpPr>
          <p:cNvPr id="18" name="Rounded Rectangular Callout 17"/>
          <p:cNvSpPr/>
          <p:nvPr/>
        </p:nvSpPr>
        <p:spPr>
          <a:xfrm>
            <a:off x="6730990" y="4655681"/>
            <a:ext cx="2837034" cy="661854"/>
          </a:xfrm>
          <a:prstGeom prst="wedgeRoundRectCallout">
            <a:avLst>
              <a:gd name="adj1" fmla="val -57249"/>
              <a:gd name="adj2" fmla="val -22676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 might be very large </a:t>
            </a:r>
            <a:r>
              <a:rPr lang="mr-IN" dirty="0"/>
              <a:t>–</a:t>
            </a:r>
            <a:r>
              <a:rPr lang="en-US" dirty="0"/>
              <a:t> do </a:t>
            </a:r>
            <a:br>
              <a:rPr lang="en-US" dirty="0"/>
            </a:br>
            <a:r>
              <a:rPr lang="en-US" dirty="0"/>
              <a:t>we have to send all tuples?</a:t>
            </a:r>
          </a:p>
        </p:txBody>
      </p:sp>
      <p:sp>
        <p:nvSpPr>
          <p:cNvPr id="19" name="Rounded Rectangular Callout 18"/>
          <p:cNvSpPr/>
          <p:nvPr/>
        </p:nvSpPr>
        <p:spPr>
          <a:xfrm>
            <a:off x="5231040" y="3011061"/>
            <a:ext cx="1568245" cy="435146"/>
          </a:xfrm>
          <a:prstGeom prst="wedgeRoundRectCallout">
            <a:avLst>
              <a:gd name="adj1" fmla="val -19932"/>
              <a:gd name="adj2" fmla="val -77312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Might be slow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04579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5E-6 -1.48148E-6 L 0.1763 0.00116 " pathEditMode="relative" rAng="0" ptsTypes="AA">
                                      <p:cBhvr>
                                        <p:cTn id="24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815" y="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/>
      <p:bldP spid="16" grpId="0"/>
      <p:bldP spid="16" grpId="1"/>
      <p:bldP spid="18" grpId="0" animBg="1"/>
      <p:bldP spid="1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Semijoins</a:t>
            </a:r>
            <a:r>
              <a:rPr lang="en-US" dirty="0"/>
              <a:t> (</a:t>
            </a:r>
            <a:r>
              <a:rPr lang="en-US" b="1" dirty="0"/>
              <a:t>⋉</a:t>
            </a:r>
            <a:r>
              <a:rPr lang="en-US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>
                    <a:solidFill>
                      <a:schemeClr val="accent1"/>
                    </a:solidFill>
                  </a:rPr>
                  <a:t>R</a:t>
                </a:r>
                <a:r>
                  <a:rPr lang="en-US" dirty="0"/>
                  <a:t> </a:t>
                </a:r>
                <a:r>
                  <a:rPr lang="en-US" b="1" dirty="0"/>
                  <a:t>⋉</a:t>
                </a:r>
                <a:r>
                  <a:rPr lang="en-US" dirty="0"/>
                  <a:t> </a:t>
                </a:r>
                <a:r>
                  <a:rPr lang="en-US" dirty="0">
                    <a:solidFill>
                      <a:schemeClr val="accent3"/>
                    </a:solidFill>
                  </a:rPr>
                  <a:t>S</a:t>
                </a:r>
                <a:r>
                  <a:rPr lang="en-US" dirty="0"/>
                  <a:t>  :=  </a:t>
                </a:r>
                <a:r>
                  <a:rPr lang="en-US" dirty="0">
                    <a:solidFill>
                      <a:schemeClr val="accent1"/>
                    </a:solidFill>
                  </a:rPr>
                  <a:t>R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charset="0"/>
                      </a:rPr>
                      <m:t>⋈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GB" b="0" i="1" dirty="0" smtClean="0">
                        <a:latin typeface="Cambria Math" charset="0"/>
                      </a:rPr>
                      <m:t>𝜋</m:t>
                    </m:r>
                  </m:oMath>
                </a14:m>
                <a:r>
                  <a:rPr lang="en-US" baseline="-25000" dirty="0"/>
                  <a:t>common attributes of R and S</a:t>
                </a:r>
                <a:r>
                  <a:rPr lang="en-US" dirty="0"/>
                  <a:t>(</a:t>
                </a:r>
                <a:r>
                  <a:rPr lang="en-US" dirty="0">
                    <a:solidFill>
                      <a:schemeClr val="accent3"/>
                    </a:solidFill>
                  </a:rPr>
                  <a:t>S</a:t>
                </a:r>
                <a:r>
                  <a:rPr lang="en-US" dirty="0"/>
                  <a:t>)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Intuition: </a:t>
                </a:r>
                <a:r>
                  <a:rPr lang="en-US" dirty="0">
                    <a:solidFill>
                      <a:schemeClr val="accent1"/>
                    </a:solidFill>
                  </a:rPr>
                  <a:t>R</a:t>
                </a:r>
                <a:r>
                  <a:rPr lang="en-US" dirty="0"/>
                  <a:t> </a:t>
                </a:r>
                <a:r>
                  <a:rPr lang="en-US" b="1" dirty="0"/>
                  <a:t>⋉</a:t>
                </a:r>
                <a:r>
                  <a:rPr lang="en-US" dirty="0"/>
                  <a:t> </a:t>
                </a:r>
                <a:r>
                  <a:rPr lang="en-US" dirty="0">
                    <a:solidFill>
                      <a:schemeClr val="accent3"/>
                    </a:solidFill>
                  </a:rPr>
                  <a:t>S</a:t>
                </a:r>
                <a:r>
                  <a:rPr lang="en-US" dirty="0"/>
                  <a:t> = set of all tuples in </a:t>
                </a:r>
                <a:r>
                  <a:rPr lang="en-US" dirty="0">
                    <a:solidFill>
                      <a:schemeClr val="accent1"/>
                    </a:solidFill>
                  </a:rPr>
                  <a:t>R</a:t>
                </a:r>
                <a:r>
                  <a:rPr lang="en-US" dirty="0"/>
                  <a:t> that NATURAL JOIN</a:t>
                </a:r>
              </a:p>
              <a:p>
                <a:r>
                  <a:rPr lang="en-US" dirty="0"/>
                  <a:t>at least one tuple in </a:t>
                </a:r>
                <a:r>
                  <a:rPr lang="en-US" dirty="0">
                    <a:solidFill>
                      <a:schemeClr val="accent3"/>
                    </a:solidFill>
                  </a:rPr>
                  <a:t>S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5"/>
                <a:stretch>
                  <a:fillRect l="-606" t="-1970" b="-1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5</a:t>
            </a:fld>
            <a:endParaRPr lang="en-GB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22880" y="2514328"/>
          <a:ext cx="1656184" cy="148336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10801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0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year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COMP105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COMP201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COMP207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750872" y="2060140"/>
            <a:ext cx="11176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accent1"/>
                </a:solidFill>
              </a:rPr>
              <a:t>Modules</a:t>
            </a:r>
            <a:endParaRPr lang="en-US" b="1" dirty="0">
              <a:solidFill>
                <a:schemeClr val="accent1"/>
              </a:solidFill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948274" y="2514328"/>
          <a:ext cx="2160240" cy="111252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module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J. </a:t>
                      </a:r>
                      <a:r>
                        <a:rPr lang="en-US" sz="1600" dirty="0" err="1"/>
                        <a:t>Fearnley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COMP105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S. </a:t>
                      </a:r>
                      <a:r>
                        <a:rPr lang="en-US" sz="1600" dirty="0" err="1"/>
                        <a:t>Coope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COMP201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876268" y="2060140"/>
            <a:ext cx="11662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accent3"/>
                </a:solidFill>
              </a:rPr>
              <a:t>Lecturers</a:t>
            </a:r>
            <a:endParaRPr lang="en-US" b="1" dirty="0">
              <a:solidFill>
                <a:schemeClr val="accent3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647728" y="4377219"/>
            <a:ext cx="2873580" cy="58744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lIns="108000" tIns="108000" rIns="108000" bIns="108000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</a:rPr>
              <a:t>Modules</a:t>
            </a:r>
            <a:r>
              <a:rPr lang="en-US" sz="2400" b="1" dirty="0">
                <a:solidFill>
                  <a:schemeClr val="accent3"/>
                </a:solidFill>
              </a:rPr>
              <a:t> </a:t>
            </a:r>
            <a:r>
              <a:rPr lang="en-US" sz="2400" b="1" dirty="0"/>
              <a:t>⋉ </a:t>
            </a:r>
            <a:r>
              <a:rPr lang="en-US" sz="2400" b="1" dirty="0">
                <a:solidFill>
                  <a:schemeClr val="accent3"/>
                </a:solidFill>
              </a:rPr>
              <a:t>Lecturers</a:t>
            </a:r>
            <a:endParaRPr lang="en-US" sz="2400" dirty="0">
              <a:solidFill>
                <a:schemeClr val="accent3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705524" y="4470883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/>
              <a:t>=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7202646" y="4189693"/>
          <a:ext cx="1656184" cy="111252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10801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0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year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COMP105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COMP201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426346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1" grpId="0" animBg="1"/>
      <p:bldP spid="1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Semijoin</a:t>
            </a:r>
            <a:r>
              <a:rPr lang="en-US" dirty="0"/>
              <a:t> Reduction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en-US" sz="2400" dirty="0"/>
                  <a:t>Goal: </a:t>
                </a:r>
                <a:r>
                  <a:rPr lang="en-GB" sz="2400" dirty="0"/>
                  <a:t>compute join at site </a:t>
                </a:r>
                <a:r>
                  <a:rPr lang="en-GB" sz="2400" b="1" dirty="0"/>
                  <a:t>B</a:t>
                </a:r>
                <a:endParaRPr lang="en-US" sz="2400" b="1" dirty="0">
                  <a:solidFill>
                    <a:schemeClr val="accent3"/>
                  </a:solidFill>
                </a:endParaRPr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pPr>
                  <a:spcBef>
                    <a:spcPts val="672"/>
                  </a:spcBef>
                </a:pPr>
                <a:r>
                  <a:rPr lang="en-US" sz="2400" dirty="0"/>
                  <a:t>With </a:t>
                </a:r>
                <a:r>
                  <a:rPr lang="en-US" sz="2400" dirty="0" err="1"/>
                  <a:t>semijoins</a:t>
                </a:r>
                <a:r>
                  <a:rPr lang="en-US" sz="2400" dirty="0"/>
                  <a:t>:</a:t>
                </a:r>
              </a:p>
              <a:p>
                <a:pPr lvl="1"/>
                <a:r>
                  <a:rPr lang="en-US" sz="2000" dirty="0"/>
                  <a:t>Site </a:t>
                </a:r>
                <a:r>
                  <a:rPr lang="en-US" sz="2000" b="1" dirty="0"/>
                  <a:t>B</a:t>
                </a:r>
                <a:r>
                  <a:rPr lang="en-US" sz="2000" dirty="0"/>
                  <a:t> sends </a:t>
                </a:r>
                <a:r>
                  <a:rPr lang="en-US" sz="2000" dirty="0">
                    <a:solidFill>
                      <a:schemeClr val="accent3"/>
                    </a:solidFill>
                  </a:rPr>
                  <a:t>S’ </a:t>
                </a:r>
                <a:r>
                  <a:rPr lang="en-US" sz="2000" dirty="0"/>
                  <a:t>:= </a:t>
                </a:r>
                <a14:m>
                  <m:oMath xmlns:m="http://schemas.openxmlformats.org/officeDocument/2006/math">
                    <m:r>
                      <a:rPr lang="en-GB" sz="2000" i="1" dirty="0">
                        <a:latin typeface="Cambria Math" charset="0"/>
                      </a:rPr>
                      <m:t>𝜋</m:t>
                    </m:r>
                  </m:oMath>
                </a14:m>
                <a:r>
                  <a:rPr lang="en-US" sz="2000" baseline="-25000" dirty="0"/>
                  <a:t>common attributes of R and S</a:t>
                </a:r>
                <a:r>
                  <a:rPr lang="en-US" sz="2000" dirty="0"/>
                  <a:t>(</a:t>
                </a:r>
                <a:r>
                  <a:rPr lang="en-US" sz="2000" dirty="0">
                    <a:solidFill>
                      <a:schemeClr val="accent3"/>
                    </a:solidFill>
                  </a:rPr>
                  <a:t>S</a:t>
                </a:r>
                <a:r>
                  <a:rPr lang="en-US" sz="2000" dirty="0"/>
                  <a:t>) to site </a:t>
                </a:r>
                <a:r>
                  <a:rPr lang="en-US" sz="2000" b="1" dirty="0"/>
                  <a:t>A</a:t>
                </a:r>
                <a:endParaRPr lang="en-US" sz="2000" dirty="0"/>
              </a:p>
              <a:p>
                <a:pPr lvl="1"/>
                <a:r>
                  <a:rPr lang="en-US" sz="2000" dirty="0"/>
                  <a:t>Site </a:t>
                </a:r>
                <a:r>
                  <a:rPr lang="en-US" sz="2000" b="1" dirty="0"/>
                  <a:t>A</a:t>
                </a:r>
                <a:r>
                  <a:rPr lang="en-US" sz="2000" dirty="0"/>
                  <a:t> sends </a:t>
                </a:r>
                <a:r>
                  <a:rPr lang="en-US" sz="2000" dirty="0">
                    <a:solidFill>
                      <a:schemeClr val="accent1"/>
                    </a:solidFill>
                  </a:rPr>
                  <a:t>R’</a:t>
                </a:r>
                <a:r>
                  <a:rPr lang="en-US" sz="2000" dirty="0"/>
                  <a:t> := </a:t>
                </a:r>
                <a:r>
                  <a:rPr lang="en-US" sz="2000" dirty="0">
                    <a:solidFill>
                      <a:schemeClr val="accent1"/>
                    </a:solidFill>
                  </a:rPr>
                  <a:t>R</a:t>
                </a:r>
                <a:r>
                  <a:rPr lang="en-US" sz="2000" dirty="0"/>
                  <a:t> </a:t>
                </a:r>
                <a:r>
                  <a:rPr lang="en-US" sz="2000" b="1" dirty="0"/>
                  <a:t>⋉</a:t>
                </a:r>
                <a:r>
                  <a:rPr lang="en-US" sz="2000" dirty="0"/>
                  <a:t> </a:t>
                </a:r>
                <a:r>
                  <a:rPr lang="en-US" sz="2000" dirty="0">
                    <a:solidFill>
                      <a:schemeClr val="accent3"/>
                    </a:solidFill>
                  </a:rPr>
                  <a:t>S</a:t>
                </a:r>
                <a:r>
                  <a:rPr lang="en-US" sz="2000" dirty="0"/>
                  <a:t> (= </a:t>
                </a:r>
                <a:r>
                  <a:rPr lang="en-US" sz="2000" dirty="0">
                    <a:solidFill>
                      <a:schemeClr val="accent1"/>
                    </a:solidFill>
                  </a:rPr>
                  <a:t>R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charset="0"/>
                      </a:rPr>
                      <m:t>⋈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dirty="0">
                    <a:solidFill>
                      <a:schemeClr val="accent3"/>
                    </a:solidFill>
                  </a:rPr>
                  <a:t>S’</a:t>
                </a:r>
                <a:r>
                  <a:rPr lang="en-US" sz="2000" dirty="0"/>
                  <a:t>) to site </a:t>
                </a:r>
                <a:r>
                  <a:rPr lang="en-US" sz="2000" b="1" dirty="0"/>
                  <a:t>B</a:t>
                </a:r>
              </a:p>
              <a:p>
                <a:pPr lvl="1"/>
                <a:r>
                  <a:rPr lang="en-US" sz="2000" dirty="0"/>
                  <a:t>Site </a:t>
                </a:r>
                <a:r>
                  <a:rPr lang="en-US" sz="2000" b="1" dirty="0"/>
                  <a:t>B</a:t>
                </a:r>
                <a:r>
                  <a:rPr lang="en-US" sz="2000" dirty="0"/>
                  <a:t> outputs </a:t>
                </a:r>
                <a:r>
                  <a:rPr lang="en-US" sz="2000" dirty="0">
                    <a:solidFill>
                      <a:schemeClr val="accent1"/>
                    </a:solidFill>
                  </a:rPr>
                  <a:t>R’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charset="0"/>
                      </a:rPr>
                      <m:t>⋈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dirty="0">
                    <a:solidFill>
                      <a:schemeClr val="accent3"/>
                    </a:solidFill>
                  </a:rPr>
                  <a:t>S</a:t>
                </a:r>
              </a:p>
              <a:p>
                <a:r>
                  <a:rPr lang="en-US" sz="2400" dirty="0"/>
                  <a:t>Communication costs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charset="0"/>
                      </a:rPr>
                      <m:t>≈</m:t>
                    </m:r>
                  </m:oMath>
                </a14:m>
                <a:r>
                  <a:rPr lang="en-US" sz="2400" dirty="0"/>
                  <a:t> </a:t>
                </a:r>
                <a:br>
                  <a:rPr lang="en-US" sz="2400" dirty="0"/>
                </a:br>
                <a:r>
                  <a:rPr lang="en-US" sz="2400" dirty="0"/>
                  <a:t>	|</a:t>
                </a:r>
                <a:r>
                  <a:rPr lang="en-US" sz="2400" dirty="0">
                    <a:solidFill>
                      <a:schemeClr val="accent3"/>
                    </a:solidFill>
                  </a:rPr>
                  <a:t>S’</a:t>
                </a:r>
                <a:r>
                  <a:rPr lang="en-US" sz="2400" dirty="0"/>
                  <a:t>|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charset="0"/>
                      </a:rPr>
                      <m:t>×</m:t>
                    </m:r>
                  </m:oMath>
                </a14:m>
                <a:r>
                  <a:rPr lang="en-US" sz="2400" dirty="0"/>
                  <a:t>(size of tuple in S’) + |</a:t>
                </a:r>
                <a:r>
                  <a:rPr lang="en-US" sz="2400" dirty="0">
                    <a:solidFill>
                      <a:schemeClr val="accent1"/>
                    </a:solidFill>
                  </a:rPr>
                  <a:t>R’</a:t>
                </a:r>
                <a:r>
                  <a:rPr lang="en-US" sz="2400" dirty="0"/>
                  <a:t>|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charset="0"/>
                      </a:rPr>
                      <m:t>×</m:t>
                    </m:r>
                  </m:oMath>
                </a14:m>
                <a:r>
                  <a:rPr lang="en-US" sz="2400" dirty="0"/>
                  <a:t>(size tuple in R’)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5"/>
                <a:stretch>
                  <a:fillRect l="-909" t="-2121" b="-969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6</a:t>
            </a:fld>
            <a:endParaRPr lang="en-GB"/>
          </a:p>
        </p:txBody>
      </p:sp>
      <p:pic>
        <p:nvPicPr>
          <p:cNvPr id="28" name="Picture 27" descr="A databas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91745" y="2293920"/>
            <a:ext cx="864095" cy="864095"/>
          </a:xfrm>
          <a:prstGeom prst="rect">
            <a:avLst/>
          </a:prstGeom>
        </p:spPr>
      </p:pic>
      <p:pic>
        <p:nvPicPr>
          <p:cNvPr id="29" name="Picture 28" descr="A databas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60097" y="2293919"/>
            <a:ext cx="864095" cy="864095"/>
          </a:xfrm>
          <a:prstGeom prst="rect">
            <a:avLst/>
          </a:prstGeom>
        </p:spPr>
      </p:pic>
      <p:cxnSp>
        <p:nvCxnSpPr>
          <p:cNvPr id="30" name="Straight Connector 29"/>
          <p:cNvCxnSpPr/>
          <p:nvPr/>
        </p:nvCxnSpPr>
        <p:spPr>
          <a:xfrm flipH="1">
            <a:off x="4666133" y="2725965"/>
            <a:ext cx="229396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3635585" y="3184747"/>
            <a:ext cx="117641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/>
              <a:t>stores </a:t>
            </a:r>
            <a:r>
              <a:rPr lang="en-US" sz="2400" dirty="0">
                <a:solidFill>
                  <a:schemeClr val="accent1"/>
                </a:solidFill>
              </a:rPr>
              <a:t>R</a:t>
            </a:r>
            <a:endParaRPr lang="en-US" sz="2400" dirty="0"/>
          </a:p>
        </p:txBody>
      </p:sp>
      <p:sp>
        <p:nvSpPr>
          <p:cNvPr id="32" name="Rectangle 31"/>
          <p:cNvSpPr/>
          <p:nvPr/>
        </p:nvSpPr>
        <p:spPr>
          <a:xfrm>
            <a:off x="6816761" y="3179384"/>
            <a:ext cx="115076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/>
              <a:t>stores</a:t>
            </a:r>
            <a:r>
              <a:rPr lang="en-US" sz="2400" dirty="0">
                <a:solidFill>
                  <a:schemeClr val="accent3"/>
                </a:solidFill>
              </a:rPr>
              <a:t> S</a:t>
            </a:r>
            <a:endParaRPr lang="en-US" sz="2000" dirty="0"/>
          </a:p>
        </p:txBody>
      </p:sp>
      <p:sp>
        <p:nvSpPr>
          <p:cNvPr id="33" name="TextBox 32"/>
          <p:cNvSpPr txBox="1"/>
          <p:nvPr/>
        </p:nvSpPr>
        <p:spPr>
          <a:xfrm>
            <a:off x="3442048" y="2493692"/>
            <a:ext cx="3706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24191" y="2491010"/>
            <a:ext cx="3626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B</a:t>
            </a:r>
          </a:p>
        </p:txBody>
      </p:sp>
      <p:sp>
        <p:nvSpPr>
          <p:cNvPr id="35" name="Right Arrow 34"/>
          <p:cNvSpPr/>
          <p:nvPr/>
        </p:nvSpPr>
        <p:spPr>
          <a:xfrm rot="9115421">
            <a:off x="7813703" y="2091923"/>
            <a:ext cx="422920" cy="362269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Rectangle 35"/>
              <p:cNvSpPr/>
              <p:nvPr/>
            </p:nvSpPr>
            <p:spPr>
              <a:xfrm>
                <a:off x="8301518" y="1711536"/>
                <a:ext cx="1516762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800" dirty="0">
                    <a:solidFill>
                      <a:schemeClr val="accent1"/>
                    </a:solidFill>
                  </a:rPr>
                  <a:t>R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a:rPr lang="en-GB" sz="2800" i="1">
                        <a:latin typeface="Cambria Math" charset="0"/>
                      </a:rPr>
                      <m:t>⋈</m:t>
                    </m:r>
                  </m:oMath>
                </a14:m>
                <a:r>
                  <a:rPr lang="en-US" sz="2800" dirty="0"/>
                  <a:t> </a:t>
                </a:r>
                <a:r>
                  <a:rPr lang="en-US" sz="2800" dirty="0">
                    <a:solidFill>
                      <a:schemeClr val="accent3"/>
                    </a:solidFill>
                  </a:rPr>
                  <a:t>S</a:t>
                </a:r>
                <a:r>
                  <a:rPr lang="en-US" sz="2800" dirty="0"/>
                  <a:t> = ?</a:t>
                </a:r>
              </a:p>
            </p:txBody>
          </p:sp>
        </mc:Choice>
        <mc:Fallback xmlns="">
          <p:sp>
            <p:nvSpPr>
              <p:cNvPr id="36" name="Rectangle 3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1518" y="1711536"/>
                <a:ext cx="1516762" cy="523220"/>
              </a:xfrm>
              <a:prstGeom prst="rect">
                <a:avLst/>
              </a:prstGeom>
              <a:blipFill>
                <a:blip r:embed="rId7"/>
                <a:stretch>
                  <a:fillRect l="-8434" t="-11628" r="-6827" b="-3255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Straight Arrow Connector 40"/>
          <p:cNvCxnSpPr/>
          <p:nvPr/>
        </p:nvCxnSpPr>
        <p:spPr>
          <a:xfrm flipH="1">
            <a:off x="4778711" y="2491009"/>
            <a:ext cx="150286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>
            <a:off x="5402910" y="2934489"/>
            <a:ext cx="150472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Rectangle 44"/>
              <p:cNvSpPr/>
              <p:nvPr/>
            </p:nvSpPr>
            <p:spPr>
              <a:xfrm>
                <a:off x="6281578" y="2293918"/>
                <a:ext cx="67851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i="1" dirty="0">
                        <a:latin typeface="Cambria Math" charset="0"/>
                      </a:rPr>
                      <m:t>𝜋</m:t>
                    </m:r>
                  </m:oMath>
                </a14:m>
                <a:r>
                  <a:rPr lang="mr-IN" baseline="-25000" dirty="0"/>
                  <a:t>…</a:t>
                </a:r>
                <a:r>
                  <a:rPr lang="en-US" dirty="0"/>
                  <a:t>(</a:t>
                </a:r>
                <a:r>
                  <a:rPr lang="en-US" dirty="0">
                    <a:solidFill>
                      <a:schemeClr val="accent3"/>
                    </a:solidFill>
                  </a:rPr>
                  <a:t>S</a:t>
                </a:r>
                <a:r>
                  <a:rPr lang="en-US" dirty="0"/>
                  <a:t>)</a:t>
                </a:r>
              </a:p>
            </p:txBody>
          </p:sp>
        </mc:Choice>
        <mc:Fallback xmlns="">
          <p:sp>
            <p:nvSpPr>
              <p:cNvPr id="45" name="Rectangle 4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1578" y="2293918"/>
                <a:ext cx="678519" cy="369332"/>
              </a:xfrm>
              <a:prstGeom prst="rect">
                <a:avLst/>
              </a:prstGeom>
              <a:blipFill>
                <a:blip r:embed="rId8"/>
                <a:stretch>
                  <a:fillRect t="-8197" r="-7143" b="-245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Rectangle 46"/>
          <p:cNvSpPr/>
          <p:nvPr/>
        </p:nvSpPr>
        <p:spPr>
          <a:xfrm>
            <a:off x="4709900" y="2732636"/>
            <a:ext cx="6928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R</a:t>
            </a:r>
            <a:r>
              <a:rPr lang="en-US" dirty="0"/>
              <a:t> </a:t>
            </a:r>
            <a:r>
              <a:rPr lang="en-US" b="1" dirty="0"/>
              <a:t>⋉</a:t>
            </a:r>
            <a:r>
              <a:rPr lang="en-US" dirty="0"/>
              <a:t> </a:t>
            </a:r>
            <a:r>
              <a:rPr lang="en-US" dirty="0">
                <a:solidFill>
                  <a:schemeClr val="accent3"/>
                </a:solidFill>
              </a:rPr>
              <a:t>S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0875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36" grpId="0"/>
      <p:bldP spid="45" grpId="0"/>
      <p:bldP spid="4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Efficiency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Is this more efficient than computing the join in the obvious approach way (exchanging relations)?</a:t>
                </a:r>
              </a:p>
              <a:p>
                <a:r>
                  <a:rPr lang="en-GB" dirty="0"/>
                  <a:t>Depends:</a:t>
                </a:r>
              </a:p>
              <a:p>
                <a:pPr lvl="1"/>
                <a:r>
                  <a:rPr lang="en-GB" dirty="0"/>
                  <a:t>Is the projection much smaller than the full relation?</a:t>
                </a:r>
              </a:p>
              <a:p>
                <a:pPr lvl="2"/>
                <a:r>
                  <a:rPr lang="en-GB" dirty="0"/>
                  <a:t>Many duplicates to be eliminated? I.e., do many tuples of S share values of the common attributes? Not the case if one of the join attributes is a key</a:t>
                </a:r>
                <a:r>
                  <a:rPr lang="mr-IN" dirty="0"/>
                  <a:t>…</a:t>
                </a:r>
                <a:endParaRPr lang="en-GB" dirty="0"/>
              </a:p>
              <a:p>
                <a:pPr lvl="1"/>
                <a:r>
                  <a:rPr lang="en-US" dirty="0"/>
                  <a:t>Is the size of the </a:t>
                </a:r>
                <a:r>
                  <a:rPr lang="en-US" dirty="0" err="1"/>
                  <a:t>semijoin</a:t>
                </a:r>
                <a:r>
                  <a:rPr lang="en-US" dirty="0"/>
                  <a:t> much smaller?</a:t>
                </a:r>
                <a:endParaRPr lang="en-GB" dirty="0"/>
              </a:p>
              <a:p>
                <a:pPr lvl="1"/>
                <a:r>
                  <a:rPr lang="en-GB" dirty="0"/>
                  <a:t>In general: |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charset="0"/>
                      </a:rPr>
                      <m:t>𝜋</m:t>
                    </m:r>
                  </m:oMath>
                </a14:m>
                <a:r>
                  <a:rPr lang="en-US" baseline="-25000" dirty="0"/>
                  <a:t>common attributes</a:t>
                </a:r>
                <a:r>
                  <a:rPr lang="en-US" dirty="0"/>
                  <a:t>(S)| + |R </a:t>
                </a:r>
                <a:r>
                  <a:rPr lang="en-US" b="1" dirty="0"/>
                  <a:t>⋉</a:t>
                </a:r>
                <a:r>
                  <a:rPr lang="en-US" dirty="0"/>
                  <a:t> S| should be smaller than |R| </a:t>
                </a:r>
              </a:p>
              <a:p>
                <a:pPr lvl="1"/>
                <a:r>
                  <a:rPr lang="en-US" dirty="0"/>
                  <a:t>Note that: You can calculate if sending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charset="0"/>
                      </a:rPr>
                      <m:t>𝜋</m:t>
                    </m:r>
                  </m:oMath>
                </a14:m>
                <a:r>
                  <a:rPr lang="en-US" baseline="-25000" dirty="0"/>
                  <a:t>common attributes</a:t>
                </a:r>
                <a:r>
                  <a:rPr lang="en-US" dirty="0"/>
                  <a:t>(S) is less than sending R, if so, you can try. In the worst case you end sending twice as much as needed (e.g. in case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charset="0"/>
                      </a:rPr>
                      <m:t>𝜋</m:t>
                    </m:r>
                  </m:oMath>
                </a14:m>
                <a:r>
                  <a:rPr lang="en-US" baseline="-25000" dirty="0"/>
                  <a:t>common attributes</a:t>
                </a:r>
                <a:r>
                  <a:rPr lang="en-US" dirty="0"/>
                  <a:t>(S) is close to the size of R and R </a:t>
                </a:r>
                <a:r>
                  <a:rPr lang="en-US" b="1" dirty="0"/>
                  <a:t>⋉</a:t>
                </a:r>
                <a:r>
                  <a:rPr lang="en-US" dirty="0"/>
                  <a:t> S is R)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5"/>
                <a:stretch>
                  <a:fillRect l="-606" t="-1667" r="-12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7</a:t>
            </a:fld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25825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981200" y="3415389"/>
                <a:ext cx="8229600" cy="3032862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Procedure:</a:t>
                </a:r>
              </a:p>
              <a:p>
                <a:pPr lvl="1"/>
                <a:r>
                  <a:rPr lang="en-US" sz="2000" dirty="0"/>
                  <a:t>At </a:t>
                </a:r>
                <a:r>
                  <a:rPr lang="en-US" sz="2000" b="1" dirty="0"/>
                  <a:t>B</a:t>
                </a:r>
                <a:r>
                  <a:rPr lang="en-US" sz="2000" dirty="0"/>
                  <a:t>, send S’ :=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charset="0"/>
                      </a:rPr>
                      <m:t>𝜋</m:t>
                    </m:r>
                  </m:oMath>
                </a14:m>
                <a:r>
                  <a:rPr lang="en-US" sz="2000" baseline="-25000" dirty="0"/>
                  <a:t>film_title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GB" sz="2000" i="1" dirty="0">
                        <a:solidFill>
                          <a:schemeClr val="accent2"/>
                        </a:solidFill>
                        <a:latin typeface="Cambria Math" charset="0"/>
                      </a:rPr>
                      <m:t>𝜎</m:t>
                    </m:r>
                  </m:oMath>
                </a14:m>
                <a:r>
                  <a:rPr lang="en-US" sz="2000" baseline="-25000" dirty="0">
                    <a:solidFill>
                      <a:schemeClr val="accent2"/>
                    </a:solidFill>
                  </a:rPr>
                  <a:t>city=‘Liverpool’ AND date= date=2020-12-3</a:t>
                </a:r>
                <a:r>
                  <a:rPr lang="en-US" sz="2000" dirty="0">
                    <a:solidFill>
                      <a:schemeClr val="accent2"/>
                    </a:solidFill>
                  </a:rPr>
                  <a:t>(</a:t>
                </a:r>
                <a:r>
                  <a:rPr lang="en-US" sz="2000" dirty="0" err="1">
                    <a:solidFill>
                      <a:schemeClr val="accent2"/>
                    </a:solidFill>
                  </a:rPr>
                  <a:t>InTheatres</a:t>
                </a:r>
                <a:r>
                  <a:rPr lang="en-US" sz="2000" dirty="0">
                    <a:solidFill>
                      <a:schemeClr val="accent2"/>
                    </a:solidFill>
                  </a:rPr>
                  <a:t>)</a:t>
                </a:r>
                <a:r>
                  <a:rPr lang="en-US" sz="2000" dirty="0"/>
                  <a:t>) to </a:t>
                </a:r>
                <a:r>
                  <a:rPr lang="en-US" sz="2000" b="1" dirty="0"/>
                  <a:t>A</a:t>
                </a:r>
              </a:p>
              <a:p>
                <a:pPr lvl="1"/>
                <a:r>
                  <a:rPr lang="en-US" sz="2000" dirty="0"/>
                  <a:t>At </a:t>
                </a:r>
                <a:r>
                  <a:rPr lang="en-US" sz="2000" b="1" dirty="0"/>
                  <a:t>A</a:t>
                </a:r>
                <a:r>
                  <a:rPr lang="en-US" sz="2000" dirty="0"/>
                  <a:t>, send R’ := </a:t>
                </a:r>
                <a:r>
                  <a:rPr lang="en-GB" sz="2000" dirty="0">
                    <a:solidFill>
                      <a:schemeClr val="accent2"/>
                    </a:solidFill>
                  </a:rPr>
                  <a:t>Films</a:t>
                </a:r>
                <a:r>
                  <a:rPr lang="en-US" sz="2000" dirty="0"/>
                  <a:t> </a:t>
                </a:r>
                <a:r>
                  <a:rPr lang="en-US" sz="2000" b="1" dirty="0"/>
                  <a:t>⋉ </a:t>
                </a:r>
                <a:r>
                  <a:rPr lang="en-US" sz="2000" dirty="0"/>
                  <a:t>S’ to </a:t>
                </a:r>
                <a:r>
                  <a:rPr lang="en-US" sz="2000" b="1" dirty="0"/>
                  <a:t>B</a:t>
                </a:r>
                <a:endParaRPr lang="en-US" sz="2000" dirty="0"/>
              </a:p>
              <a:p>
                <a:pPr lvl="1"/>
                <a:r>
                  <a:rPr lang="en-US" sz="2000" dirty="0"/>
                  <a:t>At </a:t>
                </a:r>
                <a:r>
                  <a:rPr lang="en-US" sz="2000" b="1" dirty="0"/>
                  <a:t>B</a:t>
                </a:r>
                <a:r>
                  <a:rPr lang="en-US" sz="2000" dirty="0"/>
                  <a:t>, output R’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charset="0"/>
                      </a:rPr>
                      <m:t>⋈</m:t>
                    </m:r>
                  </m:oMath>
                </a14:m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GB" sz="2000" i="1" dirty="0">
                        <a:solidFill>
                          <a:schemeClr val="accent2"/>
                        </a:solidFill>
                        <a:latin typeface="Cambria Math" charset="0"/>
                      </a:rPr>
                      <m:t>𝜎</m:t>
                    </m:r>
                  </m:oMath>
                </a14:m>
                <a:r>
                  <a:rPr lang="en-US" sz="2000" baseline="-25000" dirty="0">
                    <a:solidFill>
                      <a:schemeClr val="accent2"/>
                    </a:solidFill>
                  </a:rPr>
                  <a:t>city=‘Liverpool’ AND date= date=2020-12-3</a:t>
                </a:r>
                <a:r>
                  <a:rPr lang="en-US" sz="2000" dirty="0">
                    <a:solidFill>
                      <a:schemeClr val="accent2"/>
                    </a:solidFill>
                  </a:rPr>
                  <a:t>(</a:t>
                </a:r>
                <a:r>
                  <a:rPr lang="en-US" sz="2000" dirty="0" err="1">
                    <a:solidFill>
                      <a:schemeClr val="accent2"/>
                    </a:solidFill>
                  </a:rPr>
                  <a:t>InTheatres</a:t>
                </a:r>
                <a:r>
                  <a:rPr lang="en-US" sz="2000" dirty="0">
                    <a:solidFill>
                      <a:schemeClr val="accent2"/>
                    </a:solidFill>
                  </a:rPr>
                  <a:t>)</a:t>
                </a:r>
              </a:p>
              <a:p>
                <a:r>
                  <a:rPr lang="en-US" sz="2400" dirty="0"/>
                  <a:t>Communication costs:</a:t>
                </a:r>
              </a:p>
              <a:p>
                <a:pPr lvl="1"/>
                <a:r>
                  <a:rPr lang="en-US" sz="2000" dirty="0"/>
                  <a:t>Assume |Films| = 10,000, |S’| = |R’| = 20, and 1000 bytes per tuple</a:t>
                </a:r>
              </a:p>
              <a:p>
                <a:pPr lvl="1"/>
                <a:r>
                  <a:rPr lang="en-US" sz="2000" dirty="0">
                    <a:sym typeface="Wingdings"/>
                  </a:rPr>
                  <a:t>Communication cost = (20+20)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charset="0"/>
                        <a:sym typeface="Wingdings"/>
                      </a:rPr>
                      <m:t>×</m:t>
                    </m:r>
                  </m:oMath>
                </a14:m>
                <a:r>
                  <a:rPr lang="en-US" sz="2000" dirty="0"/>
                  <a:t> 1000 = 40,000 bytes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81200" y="3415389"/>
                <a:ext cx="8229600" cy="3032862"/>
              </a:xfrm>
              <a:blipFill>
                <a:blip r:embed="rId5"/>
                <a:stretch>
                  <a:fillRect l="-1111" t="-281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8</a:t>
            </a:fld>
            <a:endParaRPr lang="en-GB"/>
          </a:p>
        </p:txBody>
      </p:sp>
      <p:pic>
        <p:nvPicPr>
          <p:cNvPr id="5" name="Picture 4" descr="A databas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95105" y="1955042"/>
            <a:ext cx="864095" cy="864095"/>
          </a:xfrm>
          <a:prstGeom prst="rect">
            <a:avLst/>
          </a:prstGeom>
        </p:spPr>
      </p:pic>
      <p:pic>
        <p:nvPicPr>
          <p:cNvPr id="6" name="Picture 5" descr="A databas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65889" y="1955041"/>
            <a:ext cx="864095" cy="864095"/>
          </a:xfrm>
          <a:prstGeom prst="rect">
            <a:avLst/>
          </a:prstGeom>
        </p:spPr>
      </p:pic>
      <p:cxnSp>
        <p:nvCxnSpPr>
          <p:cNvPr id="7" name="Straight Connector 6"/>
          <p:cNvCxnSpPr>
            <a:stCxn id="6" idx="1"/>
          </p:cNvCxnSpPr>
          <p:nvPr/>
        </p:nvCxnSpPr>
        <p:spPr>
          <a:xfrm flipH="1" flipV="1">
            <a:off x="4341554" y="2387088"/>
            <a:ext cx="3024335" cy="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045408" y="2154814"/>
            <a:ext cx="3706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983" y="2152132"/>
            <a:ext cx="3626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B</a:t>
            </a:r>
          </a:p>
        </p:txBody>
      </p:sp>
      <p:sp>
        <p:nvSpPr>
          <p:cNvPr id="12" name="Right Arrow 11"/>
          <p:cNvSpPr/>
          <p:nvPr/>
        </p:nvSpPr>
        <p:spPr>
          <a:xfrm rot="5400000">
            <a:off x="7644459" y="1341742"/>
            <a:ext cx="306951" cy="362269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2568670" y="2831268"/>
            <a:ext cx="25794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Films(</a:t>
            </a:r>
            <a:r>
              <a:rPr lang="en-US" dirty="0" err="1"/>
              <a:t>film_title</a:t>
            </a:r>
            <a:r>
              <a:rPr lang="en-US" dirty="0"/>
              <a:t>, genre, </a:t>
            </a:r>
            <a:r>
              <a:rPr lang="mr-IN" dirty="0"/>
              <a:t>…</a:t>
            </a:r>
            <a:r>
              <a:rPr lang="en-US" dirty="0"/>
              <a:t>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58776" y="2839132"/>
            <a:ext cx="42029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 err="1"/>
              <a:t>InTheatres</a:t>
            </a:r>
            <a:r>
              <a:rPr lang="en-US" dirty="0"/>
              <a:t>(</a:t>
            </a:r>
            <a:r>
              <a:rPr lang="en-US" dirty="0" err="1"/>
              <a:t>film_title</a:t>
            </a:r>
            <a:r>
              <a:rPr lang="en-US" dirty="0"/>
              <a:t>, theatre, city, date, </a:t>
            </a:r>
            <a:r>
              <a:rPr lang="mr-IN" dirty="0"/>
              <a:t>…</a:t>
            </a:r>
            <a:r>
              <a:rPr lang="en-US" dirty="0"/>
              <a:t>)</a:t>
            </a:r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/>
              <p:cNvSpPr/>
              <p:nvPr/>
            </p:nvSpPr>
            <p:spPr>
              <a:xfrm>
                <a:off x="3933166" y="913008"/>
                <a:ext cx="4659417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GB" sz="2000" dirty="0">
                    <a:solidFill>
                      <a:schemeClr val="accent2"/>
                    </a:solidFill>
                  </a:rPr>
                  <a:t>Films </a:t>
                </a:r>
                <a14:m>
                  <m:oMath xmlns:m="http://schemas.openxmlformats.org/officeDocument/2006/math">
                    <m:r>
                      <a:rPr lang="en-GB" sz="2000" i="1">
                        <a:solidFill>
                          <a:schemeClr val="accent2"/>
                        </a:solidFill>
                        <a:latin typeface="Cambria Math" charset="0"/>
                      </a:rPr>
                      <m:t>⋈</m:t>
                    </m:r>
                  </m:oMath>
                </a14:m>
                <a:r>
                  <a:rPr lang="en-US" dirty="0">
                    <a:solidFill>
                      <a:schemeClr val="accent2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GB" i="1" dirty="0">
                        <a:solidFill>
                          <a:schemeClr val="accent2"/>
                        </a:solidFill>
                        <a:latin typeface="Cambria Math" charset="0"/>
                      </a:rPr>
                      <m:t>𝜎</m:t>
                    </m:r>
                  </m:oMath>
                </a14:m>
                <a:r>
                  <a:rPr lang="en-US" baseline="-25000" dirty="0">
                    <a:solidFill>
                      <a:schemeClr val="accent2"/>
                    </a:solidFill>
                  </a:rPr>
                  <a:t>city=‘Liverpool’ AND date=2020-12-3</a:t>
                </a:r>
                <a:r>
                  <a:rPr lang="en-US" dirty="0">
                    <a:solidFill>
                      <a:schemeClr val="accent2"/>
                    </a:solidFill>
                  </a:rPr>
                  <a:t>(</a:t>
                </a:r>
                <a:r>
                  <a:rPr lang="en-US" dirty="0" err="1">
                    <a:solidFill>
                      <a:schemeClr val="accent2"/>
                    </a:solidFill>
                  </a:rPr>
                  <a:t>InTheatres</a:t>
                </a:r>
                <a:r>
                  <a:rPr lang="en-US" dirty="0">
                    <a:solidFill>
                      <a:schemeClr val="accent2"/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22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3166" y="913008"/>
                <a:ext cx="4659417" cy="400110"/>
              </a:xfrm>
              <a:prstGeom prst="rect">
                <a:avLst/>
              </a:prstGeom>
              <a:blipFill>
                <a:blip r:embed="rId7"/>
                <a:stretch>
                  <a:fillRect l="-784" t="-9231" r="-523" b="-2769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ounded Rectangular Callout 22"/>
          <p:cNvSpPr/>
          <p:nvPr/>
        </p:nvSpPr>
        <p:spPr>
          <a:xfrm>
            <a:off x="6214750" y="6279680"/>
            <a:ext cx="3923251" cy="432048"/>
          </a:xfrm>
          <a:prstGeom prst="wedgeRoundRectCallout">
            <a:avLst>
              <a:gd name="adj1" fmla="val -23518"/>
              <a:gd name="adj2" fmla="val -74350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10,000,000 bytes for </a:t>
            </a:r>
            <a:r>
              <a:rPr lang="en-US" dirty="0"/>
              <a:t>obvious approach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82484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22" grpId="0"/>
      <p:bldP spid="2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31710-D371-4936-AD4C-70A55DA51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F73176-C08D-461D-8F46-D9A0DCFFBA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Query processing have new challenges in DDBMS, because of the distributed nature of the database</a:t>
            </a:r>
          </a:p>
          <a:p>
            <a:pPr lvl="1"/>
            <a:r>
              <a:rPr lang="en-US" dirty="0"/>
              <a:t>We saw how to use </a:t>
            </a:r>
            <a:r>
              <a:rPr lang="en-US" dirty="0" err="1"/>
              <a:t>Semijoins</a:t>
            </a:r>
            <a:r>
              <a:rPr lang="en-US" dirty="0"/>
              <a:t> to in some cases speed up joins</a:t>
            </a:r>
          </a:p>
          <a:p>
            <a:r>
              <a:rPr lang="en-US" dirty="0"/>
              <a:t>Also, if you are watching these in order, this was it for the required part on distributed databases</a:t>
            </a:r>
          </a:p>
          <a:p>
            <a:pPr lvl="1"/>
            <a:r>
              <a:rPr lang="en-US" dirty="0"/>
              <a:t>There are some more videos on MapReduce – special programming framework that fits somewhere between distributed databases and the next topic of NoSQL databases (i.e. not only SQL databases)</a:t>
            </a:r>
          </a:p>
          <a:p>
            <a:pPr lvl="2"/>
            <a:r>
              <a:rPr lang="en-US" dirty="0"/>
              <a:t>Those are not required for the exam though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8AAADF-835F-4031-BB29-C93EDFB03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C260D5AD-280D-4F23-8F09-5CDE2943111F}" type="slidenum">
              <a:rPr lang="en-GB" smtClean="0"/>
              <a:pPr/>
              <a:t>9</a:t>
            </a:fld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61666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8|12.8|22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8.1|11.6|16.2|3.6|9.1|7|12.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1.8|5.6|28.8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3.7|6.1|8.2|31|2.3|39.2|30.1|13.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1|2.5|11.8|10.7|23.6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0|48.1|58.4|33.3|42.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2"/>
</p:tagLst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271</TotalTime>
  <Words>723</Words>
  <Application>Microsoft Office PowerPoint</Application>
  <PresentationFormat>Widescreen</PresentationFormat>
  <Paragraphs>117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Cambria Math</vt:lpstr>
      <vt:lpstr>Retrospect</vt:lpstr>
      <vt:lpstr>Query processing for DDBMS</vt:lpstr>
      <vt:lpstr>Overview over this video</vt:lpstr>
      <vt:lpstr>Query Processing in Distributed DBMS</vt:lpstr>
      <vt:lpstr>Joins</vt:lpstr>
      <vt:lpstr>Semijoins (⋉)</vt:lpstr>
      <vt:lpstr>Semijoin Reduction</vt:lpstr>
      <vt:lpstr>Efficiency</vt:lpstr>
      <vt:lpstr>Example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Query processing for DDBMS</dc:title>
  <dc:creator>Rasmus Ibsen-Jensen</dc:creator>
  <cp:lastModifiedBy>Rasmus Ibsen-Jensen</cp:lastModifiedBy>
  <cp:revision>9</cp:revision>
  <dcterms:created xsi:type="dcterms:W3CDTF">2020-11-21T17:29:08Z</dcterms:created>
  <dcterms:modified xsi:type="dcterms:W3CDTF">2020-11-24T17:30:03Z</dcterms:modified>
</cp:coreProperties>
</file>