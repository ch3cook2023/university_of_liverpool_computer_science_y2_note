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1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18"/>
  </p:notesMasterIdLst>
  <p:sldIdLst>
    <p:sldId id="256" r:id="rId2"/>
    <p:sldId id="453" r:id="rId3"/>
    <p:sldId id="426" r:id="rId4"/>
    <p:sldId id="422" r:id="rId5"/>
    <p:sldId id="427" r:id="rId6"/>
    <p:sldId id="430" r:id="rId7"/>
    <p:sldId id="429" r:id="rId8"/>
    <p:sldId id="454" r:id="rId9"/>
    <p:sldId id="445" r:id="rId10"/>
    <p:sldId id="447" r:id="rId11"/>
    <p:sldId id="448" r:id="rId12"/>
    <p:sldId id="449" r:id="rId13"/>
    <p:sldId id="450" r:id="rId14"/>
    <p:sldId id="451" r:id="rId15"/>
    <p:sldId id="452" r:id="rId16"/>
    <p:sldId id="455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92" autoAdjust="0"/>
    <p:restoredTop sz="94660"/>
  </p:normalViewPr>
  <p:slideViewPr>
    <p:cSldViewPr snapToGrid="0">
      <p:cViewPr varScale="1">
        <p:scale>
          <a:sx n="74" d="100"/>
          <a:sy n="74" d="100"/>
        </p:scale>
        <p:origin x="66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96686F-8495-4617-9D6C-99B27B7B20DA}" type="datetimeFigureOut">
              <a:rPr lang="en-GB" smtClean="0"/>
              <a:t>24/11/2020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3AFC62-C528-40D8-BF98-5D12C13F753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2129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9E6BCE-8179-4218-A772-03A855E03F0D}" type="slidenum">
              <a:rPr lang="en-GB" smtClean="0"/>
              <a:pPr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12844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1F701-4A27-4B90-9B8B-F9B61F4CC892}" type="datetimeFigureOut">
              <a:rPr lang="en-GB" smtClean="0"/>
              <a:t>24/11/2020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860FE-056C-4FAA-91B5-EA8B2DE526CD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00298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1F701-4A27-4B90-9B8B-F9B61F4CC892}" type="datetimeFigureOut">
              <a:rPr lang="en-GB" smtClean="0"/>
              <a:t>24/11/2020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860FE-056C-4FAA-91B5-EA8B2DE526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12077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1F701-4A27-4B90-9B8B-F9B61F4CC892}" type="datetimeFigureOut">
              <a:rPr lang="en-GB" smtClean="0"/>
              <a:t>24/11/2020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860FE-056C-4FAA-91B5-EA8B2DE526CD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3965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1F701-4A27-4B90-9B8B-F9B61F4CC892}" type="datetimeFigureOut">
              <a:rPr lang="en-GB" smtClean="0"/>
              <a:t>24/11/2020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860FE-056C-4FAA-91B5-EA8B2DE526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6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1F701-4A27-4B90-9B8B-F9B61F4CC892}" type="datetimeFigureOut">
              <a:rPr lang="en-GB" smtClean="0"/>
              <a:t>24/11/2020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860FE-056C-4FAA-91B5-EA8B2DE526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92138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1F701-4A27-4B90-9B8B-F9B61F4CC892}" type="datetimeFigureOut">
              <a:rPr lang="en-GB" smtClean="0"/>
              <a:t>24/11/2020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860FE-056C-4FAA-91B5-EA8B2DE526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53174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1F701-4A27-4B90-9B8B-F9B61F4CC892}" type="datetimeFigureOut">
              <a:rPr lang="en-GB" smtClean="0"/>
              <a:t>24/11/2020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860FE-056C-4FAA-91B5-EA8B2DE526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1047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12B1F701-4A27-4B90-9B8B-F9B61F4CC892}" type="datetimeFigureOut">
              <a:rPr lang="en-GB" smtClean="0"/>
              <a:t>24/11/2020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75860FE-056C-4FAA-91B5-EA8B2DE526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57432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1F701-4A27-4B90-9B8B-F9B61F4CC892}" type="datetimeFigureOut">
              <a:rPr lang="en-GB" smtClean="0"/>
              <a:t>24/11/2020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860FE-056C-4FAA-91B5-EA8B2DE526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02567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1F701-4A27-4B90-9B8B-F9B61F4CC892}" type="datetimeFigureOut">
              <a:rPr lang="en-GB" smtClean="0"/>
              <a:t>24/11/2020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860FE-056C-4FAA-91B5-EA8B2DE526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3627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1F701-4A27-4B90-9B8B-F9B61F4CC892}" type="datetimeFigureOut">
              <a:rPr lang="en-GB" smtClean="0"/>
              <a:t>24/11/2020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860FE-056C-4FAA-91B5-EA8B2DE526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73157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2B1F701-4A27-4B90-9B8B-F9B61F4CC892}" type="datetimeFigureOut">
              <a:rPr lang="en-GB" smtClean="0"/>
              <a:t>24/11/2020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E75860FE-056C-4FAA-91B5-EA8B2DE526CD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8355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5" Type="http://schemas.openxmlformats.org/officeDocument/2006/relationships/image" Target="../media/image4.png"/><Relationship Id="rId4" Type="http://schemas.openxmlformats.org/officeDocument/2006/relationships/image" Target="../media/image3.tif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if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6" Type="http://schemas.openxmlformats.org/officeDocument/2006/relationships/image" Target="../media/image6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1FA2B-FB95-4F14-BB8E-33AE210556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Basics of MapReduce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BD3A2C-8B68-4C8A-BDC7-ECA17171FB9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Not required for the exam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90510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DF73A-FB94-4599-A6DD-DBBEB8D28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over this video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CE1F5B-A937-4AF1-9644-0D5E8A8465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video discusses the basics of the MapReduce framework</a:t>
            </a:r>
          </a:p>
          <a:p>
            <a:pPr lvl="1"/>
            <a:r>
              <a:rPr lang="en-US" dirty="0"/>
              <a:t> </a:t>
            </a:r>
            <a:endParaRPr lang="en-GB" dirty="0"/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F70CB310-EF92-4193-8122-297CDDA2E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C260D5AD-280D-4F23-8F09-5CDE2943111F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06239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Relational Databases are Powerful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3</a:t>
            </a:fld>
            <a:endParaRPr lang="en-GB"/>
          </a:p>
        </p:txBody>
      </p:sp>
      <p:grpSp>
        <p:nvGrpSpPr>
          <p:cNvPr id="10" name="Group 9"/>
          <p:cNvGrpSpPr/>
          <p:nvPr/>
        </p:nvGrpSpPr>
        <p:grpSpPr>
          <a:xfrm>
            <a:off x="3330750" y="1936959"/>
            <a:ext cx="5591460" cy="2891879"/>
            <a:chOff x="1838307" y="1493094"/>
            <a:chExt cx="5591460" cy="2891879"/>
          </a:xfrm>
        </p:grpSpPr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427984" y="2276872"/>
              <a:ext cx="1027349" cy="1027349"/>
            </a:xfrm>
            <a:prstGeom prst="rect">
              <a:avLst/>
            </a:prstGeom>
          </p:spPr>
        </p:pic>
        <p:grpSp>
          <p:nvGrpSpPr>
            <p:cNvPr id="43" name="Group 42"/>
            <p:cNvGrpSpPr/>
            <p:nvPr/>
          </p:nvGrpSpPr>
          <p:grpSpPr>
            <a:xfrm>
              <a:off x="5384567" y="1667074"/>
              <a:ext cx="2045200" cy="1885539"/>
              <a:chOff x="5368349" y="1259632"/>
              <a:chExt cx="3375837" cy="3112299"/>
            </a:xfrm>
          </p:grpSpPr>
          <p:sp>
            <p:nvSpPr>
              <p:cNvPr id="44" name="Rectangle 43"/>
              <p:cNvSpPr/>
              <p:nvPr/>
            </p:nvSpPr>
            <p:spPr>
              <a:xfrm>
                <a:off x="5368349" y="1259632"/>
                <a:ext cx="3375837" cy="311229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5" name="Straight Arrow Connector 44"/>
              <p:cNvCxnSpPr/>
              <p:nvPr/>
            </p:nvCxnSpPr>
            <p:spPr>
              <a:xfrm flipV="1">
                <a:off x="5507806" y="2165015"/>
                <a:ext cx="999046" cy="521318"/>
              </a:xfrm>
              <a:prstGeom prst="straightConnector1">
                <a:avLst/>
              </a:prstGeom>
              <a:ln>
                <a:headEnd type="arrow" w="med" len="med"/>
                <a:tailEnd type="arrow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46" name="Picture 45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506852" y="1389175"/>
                <a:ext cx="792088" cy="792088"/>
              </a:xfrm>
              <a:prstGeom prst="rect">
                <a:avLst/>
              </a:prstGeom>
            </p:spPr>
          </p:pic>
          <p:pic>
            <p:nvPicPr>
              <p:cNvPr id="47" name="Picture 46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380312" y="1785219"/>
                <a:ext cx="792088" cy="792088"/>
              </a:xfrm>
              <a:prstGeom prst="rect">
                <a:avLst/>
              </a:prstGeom>
            </p:spPr>
          </p:pic>
          <p:pic>
            <p:nvPicPr>
              <p:cNvPr id="48" name="Picture 47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048762" y="2601038"/>
                <a:ext cx="792088" cy="792088"/>
              </a:xfrm>
              <a:prstGeom prst="rect">
                <a:avLst/>
              </a:prstGeom>
            </p:spPr>
          </p:pic>
          <p:pic>
            <p:nvPicPr>
              <p:cNvPr id="49" name="Picture 48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952098" y="2941022"/>
                <a:ext cx="792088" cy="792088"/>
              </a:xfrm>
              <a:prstGeom prst="rect">
                <a:avLst/>
              </a:prstGeom>
            </p:spPr>
          </p:pic>
          <p:pic>
            <p:nvPicPr>
              <p:cNvPr id="50" name="Picture 49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708342" y="3549931"/>
                <a:ext cx="792088" cy="792088"/>
              </a:xfrm>
              <a:prstGeom prst="rect">
                <a:avLst/>
              </a:prstGeom>
            </p:spPr>
          </p:pic>
          <p:cxnSp>
            <p:nvCxnSpPr>
              <p:cNvPr id="51" name="Straight Arrow Connector 50"/>
              <p:cNvCxnSpPr/>
              <p:nvPr/>
            </p:nvCxnSpPr>
            <p:spPr>
              <a:xfrm flipV="1">
                <a:off x="5577878" y="2403972"/>
                <a:ext cx="1802434" cy="427347"/>
              </a:xfrm>
              <a:prstGeom prst="straightConnector1">
                <a:avLst/>
              </a:prstGeom>
              <a:ln>
                <a:headEnd type="arrow" w="med" len="med"/>
                <a:tailEnd type="arrow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Arrow Connector 51"/>
              <p:cNvCxnSpPr/>
              <p:nvPr/>
            </p:nvCxnSpPr>
            <p:spPr>
              <a:xfrm flipV="1">
                <a:off x="5577878" y="2997082"/>
                <a:ext cx="1470884" cy="28721"/>
              </a:xfrm>
              <a:prstGeom prst="straightConnector1">
                <a:avLst/>
              </a:prstGeom>
              <a:ln>
                <a:headEnd type="arrow" w="med" len="med"/>
                <a:tailEnd type="arrow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Arrow Connector 52"/>
              <p:cNvCxnSpPr/>
              <p:nvPr/>
            </p:nvCxnSpPr>
            <p:spPr>
              <a:xfrm>
                <a:off x="5532429" y="3232062"/>
                <a:ext cx="2419669" cy="228285"/>
              </a:xfrm>
              <a:prstGeom prst="straightConnector1">
                <a:avLst/>
              </a:prstGeom>
              <a:ln>
                <a:headEnd type="arrow" w="med" len="med"/>
                <a:tailEnd type="arrow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Arrow Connector 53"/>
              <p:cNvCxnSpPr/>
              <p:nvPr/>
            </p:nvCxnSpPr>
            <p:spPr>
              <a:xfrm>
                <a:off x="5466630" y="3400328"/>
                <a:ext cx="1241712" cy="545647"/>
              </a:xfrm>
              <a:prstGeom prst="straightConnector1">
                <a:avLst/>
              </a:prstGeom>
              <a:ln>
                <a:headEnd type="arrow" w="med" len="med"/>
                <a:tailEnd type="arrow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5" name="Group 54"/>
            <p:cNvGrpSpPr/>
            <p:nvPr/>
          </p:nvGrpSpPr>
          <p:grpSpPr>
            <a:xfrm>
              <a:off x="1838307" y="1493094"/>
              <a:ext cx="2617377" cy="2891879"/>
              <a:chOff x="-37948" y="1124744"/>
              <a:chExt cx="4105892" cy="4536504"/>
            </a:xfrm>
          </p:grpSpPr>
          <p:sp>
            <p:nvSpPr>
              <p:cNvPr id="56" name="Rectangle 55"/>
              <p:cNvSpPr/>
              <p:nvPr/>
            </p:nvSpPr>
            <p:spPr>
              <a:xfrm>
                <a:off x="0" y="1124744"/>
                <a:ext cx="4067944" cy="453650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57" name="Picture 56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59632" y="1329177"/>
                <a:ext cx="630070" cy="504056"/>
              </a:xfrm>
              <a:prstGeom prst="rect">
                <a:avLst/>
              </a:prstGeom>
            </p:spPr>
          </p:pic>
          <p:cxnSp>
            <p:nvCxnSpPr>
              <p:cNvPr id="58" name="Straight Arrow Connector 57"/>
              <p:cNvCxnSpPr/>
              <p:nvPr/>
            </p:nvCxnSpPr>
            <p:spPr>
              <a:xfrm>
                <a:off x="2663788" y="1988840"/>
                <a:ext cx="1307709" cy="751680"/>
              </a:xfrm>
              <a:prstGeom prst="straightConnector1">
                <a:avLst/>
              </a:prstGeom>
              <a:ln>
                <a:headEnd type="arrow" w="med" len="med"/>
                <a:tailEnd type="arrow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59" name="Picture 58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28844" y="2188423"/>
                <a:ext cx="630070" cy="504056"/>
              </a:xfrm>
              <a:prstGeom prst="rect">
                <a:avLst/>
              </a:prstGeom>
            </p:spPr>
          </p:pic>
          <p:pic>
            <p:nvPicPr>
              <p:cNvPr id="60" name="Picture 59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53643" y="3677372"/>
                <a:ext cx="630070" cy="504056"/>
              </a:xfrm>
              <a:prstGeom prst="rect">
                <a:avLst/>
              </a:prstGeom>
            </p:spPr>
          </p:pic>
          <p:pic>
            <p:nvPicPr>
              <p:cNvPr id="61" name="Picture 60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59632" y="4083029"/>
                <a:ext cx="630070" cy="504056"/>
              </a:xfrm>
              <a:prstGeom prst="rect">
                <a:avLst/>
              </a:prstGeom>
            </p:spPr>
          </p:pic>
          <p:pic>
            <p:nvPicPr>
              <p:cNvPr id="62" name="Picture 61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57200" y="4955954"/>
                <a:ext cx="630070" cy="504056"/>
              </a:xfrm>
              <a:prstGeom prst="rect">
                <a:avLst/>
              </a:prstGeom>
            </p:spPr>
          </p:pic>
          <p:pic>
            <p:nvPicPr>
              <p:cNvPr id="63" name="Picture 62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615416" y="4725121"/>
                <a:ext cx="630070" cy="504056"/>
              </a:xfrm>
              <a:prstGeom prst="rect">
                <a:avLst/>
              </a:prstGeom>
            </p:spPr>
          </p:pic>
          <p:pic>
            <p:nvPicPr>
              <p:cNvPr id="64" name="Picture 63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00381" y="2256021"/>
                <a:ext cx="630070" cy="504056"/>
              </a:xfrm>
              <a:prstGeom prst="rect">
                <a:avLst/>
              </a:prstGeom>
            </p:spPr>
          </p:pic>
          <p:pic>
            <p:nvPicPr>
              <p:cNvPr id="65" name="Picture 64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033718" y="1397668"/>
                <a:ext cx="630070" cy="504056"/>
              </a:xfrm>
              <a:prstGeom prst="rect">
                <a:avLst/>
              </a:prstGeom>
            </p:spPr>
          </p:pic>
          <p:pic>
            <p:nvPicPr>
              <p:cNvPr id="66" name="Picture 65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37948" y="2852936"/>
                <a:ext cx="630070" cy="504056"/>
              </a:xfrm>
              <a:prstGeom prst="rect">
                <a:avLst/>
              </a:prstGeom>
            </p:spPr>
          </p:pic>
          <p:cxnSp>
            <p:nvCxnSpPr>
              <p:cNvPr id="67" name="Straight Arrow Connector 66"/>
              <p:cNvCxnSpPr/>
              <p:nvPr/>
            </p:nvCxnSpPr>
            <p:spPr>
              <a:xfrm>
                <a:off x="1888984" y="1829775"/>
                <a:ext cx="2034944" cy="993137"/>
              </a:xfrm>
              <a:prstGeom prst="straightConnector1">
                <a:avLst/>
              </a:prstGeom>
              <a:ln>
                <a:headEnd type="arrow" w="med" len="med"/>
                <a:tailEnd type="arrow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Arrow Connector 67"/>
              <p:cNvCxnSpPr/>
              <p:nvPr/>
            </p:nvCxnSpPr>
            <p:spPr>
              <a:xfrm>
                <a:off x="1888266" y="2630932"/>
                <a:ext cx="2077129" cy="394317"/>
              </a:xfrm>
              <a:prstGeom prst="straightConnector1">
                <a:avLst/>
              </a:prstGeom>
              <a:ln>
                <a:headEnd type="arrow" w="med" len="med"/>
                <a:tailEnd type="arrow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Arrow Connector 68"/>
              <p:cNvCxnSpPr/>
              <p:nvPr/>
            </p:nvCxnSpPr>
            <p:spPr>
              <a:xfrm flipV="1">
                <a:off x="2033718" y="3309493"/>
                <a:ext cx="1630229" cy="155511"/>
              </a:xfrm>
              <a:prstGeom prst="straightConnector1">
                <a:avLst/>
              </a:prstGeom>
              <a:ln>
                <a:headEnd type="arrow" w="med" len="med"/>
                <a:tailEnd type="arrow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Arrow Connector 69"/>
              <p:cNvCxnSpPr/>
              <p:nvPr/>
            </p:nvCxnSpPr>
            <p:spPr>
              <a:xfrm flipV="1">
                <a:off x="1889702" y="3422293"/>
                <a:ext cx="2034226" cy="912764"/>
              </a:xfrm>
              <a:prstGeom prst="straightConnector1">
                <a:avLst/>
              </a:prstGeom>
              <a:ln>
                <a:headEnd type="arrow" w="med" len="med"/>
                <a:tailEnd type="arrow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Arrow Connector 70"/>
              <p:cNvCxnSpPr>
                <a:stCxn id="71" idx="2"/>
              </p:cNvCxnSpPr>
              <p:nvPr/>
            </p:nvCxnSpPr>
            <p:spPr>
              <a:xfrm>
                <a:off x="943879" y="2692479"/>
                <a:ext cx="3056249" cy="496430"/>
              </a:xfrm>
              <a:prstGeom prst="straightConnector1">
                <a:avLst/>
              </a:prstGeom>
              <a:ln>
                <a:headEnd type="arrow" w="med" len="med"/>
                <a:tailEnd type="arrow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Arrow Connector 71"/>
              <p:cNvCxnSpPr/>
              <p:nvPr/>
            </p:nvCxnSpPr>
            <p:spPr>
              <a:xfrm flipV="1">
                <a:off x="1283713" y="3355631"/>
                <a:ext cx="2530994" cy="509593"/>
              </a:xfrm>
              <a:prstGeom prst="straightConnector1">
                <a:avLst/>
              </a:prstGeom>
              <a:ln>
                <a:headEnd type="arrow" w="med" len="med"/>
                <a:tailEnd type="arrow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/>
              <p:cNvCxnSpPr/>
              <p:nvPr/>
            </p:nvCxnSpPr>
            <p:spPr>
              <a:xfrm flipV="1">
                <a:off x="2197324" y="3578973"/>
                <a:ext cx="1742114" cy="1263013"/>
              </a:xfrm>
              <a:prstGeom prst="straightConnector1">
                <a:avLst/>
              </a:prstGeom>
              <a:ln>
                <a:headEnd type="arrow" w="med" len="med"/>
                <a:tailEnd type="arrow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Arrow Connector 73"/>
              <p:cNvCxnSpPr/>
              <p:nvPr/>
            </p:nvCxnSpPr>
            <p:spPr>
              <a:xfrm flipV="1">
                <a:off x="986752" y="3460362"/>
                <a:ext cx="2978643" cy="1689518"/>
              </a:xfrm>
              <a:prstGeom prst="straightConnector1">
                <a:avLst/>
              </a:prstGeom>
              <a:ln>
                <a:headEnd type="arrow" w="med" len="med"/>
                <a:tailEnd type="arrow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Arrow Connector 74"/>
              <p:cNvCxnSpPr/>
              <p:nvPr/>
            </p:nvCxnSpPr>
            <p:spPr>
              <a:xfrm flipH="1" flipV="1">
                <a:off x="592122" y="3104964"/>
                <a:ext cx="3174975" cy="130048"/>
              </a:xfrm>
              <a:prstGeom prst="straightConnector1">
                <a:avLst/>
              </a:prstGeom>
              <a:ln>
                <a:headEnd type="arrow" w="med" len="med"/>
                <a:tailEnd type="arrow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76" name="Picture 75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03648" y="3212976"/>
                <a:ext cx="630070" cy="504056"/>
              </a:xfrm>
              <a:prstGeom prst="rect">
                <a:avLst/>
              </a:prstGeom>
            </p:spPr>
          </p:pic>
        </p:grpSp>
      </p:grpSp>
      <p:sp>
        <p:nvSpPr>
          <p:cNvPr id="77" name="Content Placeholder 4">
            <a:extLst>
              <a:ext uri="{FF2B5EF4-FFF2-40B4-BE49-F238E27FC236}">
                <a16:creationId xmlns:a16="http://schemas.microsoft.com/office/drawing/2014/main" id="{C325E18C-795F-43F8-868A-68A85E647E96}"/>
              </a:ext>
            </a:extLst>
          </p:cNvPr>
          <p:cNvSpPr txBox="1">
            <a:spLocks/>
          </p:cNvSpPr>
          <p:nvPr/>
        </p:nvSpPr>
        <p:spPr>
          <a:xfrm>
            <a:off x="1092915" y="4808676"/>
            <a:ext cx="8229600" cy="1607879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Allow us to store, manage, and analyse large datasets</a:t>
            </a:r>
          </a:p>
          <a:p>
            <a:r>
              <a:rPr lang="en-GB"/>
              <a:t>Some data analysis applications go beyond what such systems can handle</a:t>
            </a:r>
            <a:r>
              <a:rPr lang="mr-IN"/>
              <a:t>…</a:t>
            </a:r>
            <a:endParaRPr lang="en-US"/>
          </a:p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46606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Importance of Web Pages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4</a:t>
            </a:fld>
            <a:endParaRPr lang="en-GB"/>
          </a:p>
        </p:txBody>
      </p:sp>
      <p:pic>
        <p:nvPicPr>
          <p:cNvPr id="12" name="Picture 11" descr="websit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1664" y="2326921"/>
            <a:ext cx="652269" cy="652269"/>
          </a:xfrm>
          <a:prstGeom prst="rect">
            <a:avLst/>
          </a:prstGeom>
        </p:spPr>
      </p:pic>
      <p:pic>
        <p:nvPicPr>
          <p:cNvPr id="14" name="Picture 13" descr="websit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7001" y="1816512"/>
            <a:ext cx="652269" cy="652269"/>
          </a:xfrm>
          <a:prstGeom prst="rect">
            <a:avLst/>
          </a:prstGeom>
        </p:spPr>
      </p:pic>
      <p:pic>
        <p:nvPicPr>
          <p:cNvPr id="15" name="Picture 14" descr="websit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8926" y="2979191"/>
            <a:ext cx="652269" cy="652269"/>
          </a:xfrm>
          <a:prstGeom prst="rect">
            <a:avLst/>
          </a:prstGeom>
        </p:spPr>
      </p:pic>
      <p:pic>
        <p:nvPicPr>
          <p:cNvPr id="16" name="Picture 15" descr="websit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0053" y="2501351"/>
            <a:ext cx="652269" cy="652269"/>
          </a:xfrm>
          <a:prstGeom prst="rect">
            <a:avLst/>
          </a:prstGeom>
        </p:spPr>
      </p:pic>
      <p:pic>
        <p:nvPicPr>
          <p:cNvPr id="17" name="Picture 16" descr="websit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6395" y="3723076"/>
            <a:ext cx="652269" cy="652269"/>
          </a:xfrm>
          <a:prstGeom prst="rect">
            <a:avLst/>
          </a:prstGeom>
        </p:spPr>
      </p:pic>
      <p:pic>
        <p:nvPicPr>
          <p:cNvPr id="18" name="Picture 17" descr="websit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0762" y="3305325"/>
            <a:ext cx="652269" cy="652269"/>
          </a:xfrm>
          <a:prstGeom prst="rect">
            <a:avLst/>
          </a:prstGeom>
        </p:spPr>
      </p:pic>
      <p:pic>
        <p:nvPicPr>
          <p:cNvPr id="19" name="Picture 18" descr="websit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0693" y="1930904"/>
            <a:ext cx="652269" cy="652269"/>
          </a:xfrm>
          <a:prstGeom prst="rect">
            <a:avLst/>
          </a:prstGeom>
        </p:spPr>
      </p:pic>
      <p:pic>
        <p:nvPicPr>
          <p:cNvPr id="20" name="Picture 19" descr="websit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1649" y="2175217"/>
            <a:ext cx="652269" cy="652269"/>
          </a:xfrm>
          <a:prstGeom prst="rect">
            <a:avLst/>
          </a:prstGeom>
        </p:spPr>
      </p:pic>
      <p:pic>
        <p:nvPicPr>
          <p:cNvPr id="21" name="Picture 20" descr="websit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3918" y="3596788"/>
            <a:ext cx="652269" cy="652269"/>
          </a:xfrm>
          <a:prstGeom prst="rect">
            <a:avLst/>
          </a:prstGeom>
        </p:spPr>
      </p:pic>
      <p:cxnSp>
        <p:nvCxnSpPr>
          <p:cNvPr id="22" name="Straight Arrow Connector 21"/>
          <p:cNvCxnSpPr/>
          <p:nvPr/>
        </p:nvCxnSpPr>
        <p:spPr>
          <a:xfrm>
            <a:off x="4506657" y="2529316"/>
            <a:ext cx="652269" cy="449875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 flipH="1">
            <a:off x="4122959" y="2564275"/>
            <a:ext cx="57562" cy="1067184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 flipV="1">
            <a:off x="4449667" y="3507719"/>
            <a:ext cx="709258" cy="38727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 flipH="1">
            <a:off x="5693658" y="2792821"/>
            <a:ext cx="260908" cy="223646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 flipH="1">
            <a:off x="5776914" y="2979190"/>
            <a:ext cx="1143138" cy="29817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>
            <a:stCxn id="18" idx="1"/>
          </p:cNvCxnSpPr>
          <p:nvPr/>
        </p:nvCxnSpPr>
        <p:spPr>
          <a:xfrm flipH="1" flipV="1">
            <a:off x="5776915" y="3445091"/>
            <a:ext cx="2353847" cy="186369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>
            <a:stCxn id="21" idx="1"/>
          </p:cNvCxnSpPr>
          <p:nvPr/>
        </p:nvCxnSpPr>
        <p:spPr>
          <a:xfrm flipH="1" flipV="1">
            <a:off x="5776915" y="3631460"/>
            <a:ext cx="817003" cy="291463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/>
          <p:nvPr/>
        </p:nvCxnSpPr>
        <p:spPr>
          <a:xfrm>
            <a:off x="3723933" y="2800345"/>
            <a:ext cx="1434993" cy="387487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/>
          <p:nvPr/>
        </p:nvCxnSpPr>
        <p:spPr>
          <a:xfrm>
            <a:off x="3457348" y="3044418"/>
            <a:ext cx="402463" cy="641931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/>
          <p:nvPr/>
        </p:nvCxnSpPr>
        <p:spPr>
          <a:xfrm flipV="1">
            <a:off x="4441430" y="4140314"/>
            <a:ext cx="2152489" cy="72016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/>
          <p:nvPr/>
        </p:nvCxnSpPr>
        <p:spPr>
          <a:xfrm flipV="1">
            <a:off x="7252384" y="3840101"/>
            <a:ext cx="878379" cy="209109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/>
          <p:cNvCxnSpPr/>
          <p:nvPr/>
        </p:nvCxnSpPr>
        <p:spPr>
          <a:xfrm>
            <a:off x="4523675" y="2136867"/>
            <a:ext cx="1430891" cy="213603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/>
          <p:cNvCxnSpPr>
            <a:endCxn id="19" idx="1"/>
          </p:cNvCxnSpPr>
          <p:nvPr/>
        </p:nvCxnSpPr>
        <p:spPr>
          <a:xfrm flipV="1">
            <a:off x="6591240" y="2257038"/>
            <a:ext cx="1629452" cy="133181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>
            <a:endCxn id="16" idx="3"/>
          </p:cNvCxnSpPr>
          <p:nvPr/>
        </p:nvCxnSpPr>
        <p:spPr>
          <a:xfrm flipH="1">
            <a:off x="7572323" y="2501351"/>
            <a:ext cx="648371" cy="326135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/>
          <p:nvPr/>
        </p:nvCxnSpPr>
        <p:spPr>
          <a:xfrm flipH="1">
            <a:off x="8420273" y="2619941"/>
            <a:ext cx="117537" cy="593768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Rounded Rectangular Callout 80"/>
          <p:cNvSpPr/>
          <p:nvPr/>
        </p:nvSpPr>
        <p:spPr>
          <a:xfrm>
            <a:off x="8796825" y="2816463"/>
            <a:ext cx="1177871" cy="419794"/>
          </a:xfrm>
          <a:prstGeom prst="wedgeRoundRectCallout">
            <a:avLst>
              <a:gd name="adj1" fmla="val -65657"/>
              <a:gd name="adj2" fmla="val -25710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hyperlink</a:t>
            </a:r>
          </a:p>
        </p:txBody>
      </p:sp>
      <p:sp>
        <p:nvSpPr>
          <p:cNvPr id="82" name="Rounded Rectangular Callout 81"/>
          <p:cNvSpPr/>
          <p:nvPr/>
        </p:nvSpPr>
        <p:spPr>
          <a:xfrm>
            <a:off x="9023007" y="2113730"/>
            <a:ext cx="1187793" cy="419794"/>
          </a:xfrm>
          <a:prstGeom prst="wedgeRoundRectCallout">
            <a:avLst>
              <a:gd name="adj1" fmla="val -63140"/>
              <a:gd name="adj2" fmla="val -21353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web page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Content Placeholder 79">
                <a:extLst>
                  <a:ext uri="{FF2B5EF4-FFF2-40B4-BE49-F238E27FC236}">
                    <a16:creationId xmlns:a16="http://schemas.microsoft.com/office/drawing/2014/main" id="{C70CE6FD-C6FA-4A82-9F9E-64ABA1487C6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97280" y="4686331"/>
                <a:ext cx="8229600" cy="1732899"/>
              </a:xfrm>
              <a:prstGeom prst="rect">
                <a:avLst/>
              </a:prstGeom>
            </p:spPr>
            <p:txBody>
              <a:bodyPr vert="horz" lIns="0" tIns="45720" rIns="0" bIns="45720" rtlCol="0">
                <a:normAutofit/>
              </a:bodyPr>
              <a:lstStyle>
                <a:lvl1pPr marL="91440" indent="-91440" algn="l" defTabSz="9144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Calibri" panose="020F0502020204030204" pitchFamily="34" charset="0"/>
                  <a:buChar char=" "/>
                  <a:defRPr sz="20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38404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56692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74980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93268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1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3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15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17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400" dirty="0"/>
                  <a:t>Graph with all relevant HTML pages on the web</a:t>
                </a:r>
              </a:p>
              <a:p>
                <a:r>
                  <a:rPr lang="en-US" sz="2400" dirty="0"/>
                  <a:t>Task: rank pages by “importance”</a:t>
                </a:r>
              </a:p>
              <a:p>
                <a:pPr lvl="1"/>
                <a:r>
                  <a:rPr lang="en-US" sz="2000" dirty="0"/>
                  <a:t>Basis of Google Search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GB" sz="2000" i="1">
                        <a:latin typeface="Cambria Math" charset="0"/>
                      </a:rPr>
                      <m:t>≈</m:t>
                    </m:r>
                  </m:oMath>
                </a14:m>
                <a:r>
                  <a:rPr lang="en-US" sz="2000" dirty="0"/>
                  <a:t> an iterated matrix product (number of rows = number of pages)</a:t>
                </a:r>
              </a:p>
            </p:txBody>
          </p:sp>
        </mc:Choice>
        <mc:Fallback xmlns="">
          <p:sp>
            <p:nvSpPr>
              <p:cNvPr id="35" name="Content Placeholder 79">
                <a:extLst>
                  <a:ext uri="{FF2B5EF4-FFF2-40B4-BE49-F238E27FC236}">
                    <a16:creationId xmlns:a16="http://schemas.microsoft.com/office/drawing/2014/main" id="{C70CE6FD-C6FA-4A82-9F9E-64ABA1487C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7280" y="4686331"/>
                <a:ext cx="8229600" cy="1732899"/>
              </a:xfrm>
              <a:prstGeom prst="rect">
                <a:avLst/>
              </a:prstGeom>
              <a:blipFill>
                <a:blip r:embed="rId6"/>
                <a:stretch>
                  <a:fillRect l="-1111" t="-493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Rounded Rectangular Callout 89">
            <a:extLst>
              <a:ext uri="{FF2B5EF4-FFF2-40B4-BE49-F238E27FC236}">
                <a16:creationId xmlns:a16="http://schemas.microsoft.com/office/drawing/2014/main" id="{B9914CA1-9A71-479C-B9ED-1F405FC02E0B}"/>
              </a:ext>
            </a:extLst>
          </p:cNvPr>
          <p:cNvSpPr/>
          <p:nvPr/>
        </p:nvSpPr>
        <p:spPr>
          <a:xfrm>
            <a:off x="5824112" y="5260838"/>
            <a:ext cx="2893434" cy="628914"/>
          </a:xfrm>
          <a:prstGeom prst="wedgeRoundRectCallout">
            <a:avLst>
              <a:gd name="adj1" fmla="val -58659"/>
              <a:gd name="adj2" fmla="val -21869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Problem</a:t>
            </a:r>
            <a:r>
              <a:rPr lang="en-US" b="1"/>
              <a:t>: </a:t>
            </a:r>
            <a:r>
              <a:rPr lang="en-US"/>
              <a:t>millions to billions </a:t>
            </a:r>
            <a:br>
              <a:rPr lang="en-US"/>
            </a:br>
            <a:r>
              <a:rPr lang="en-US"/>
              <a:t>of </a:t>
            </a:r>
            <a:r>
              <a:rPr lang="en-US" dirty="0"/>
              <a:t>web pages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93257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Patterns in Large Datasets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/>
              <a:t>Predictive maintenance, e.g.</a:t>
            </a:r>
          </a:p>
          <a:p>
            <a:pPr lvl="1"/>
            <a:r>
              <a:rPr lang="en-US" sz="2000" dirty="0"/>
              <a:t>Which parts of a system are likely to fail or cause certain effects?</a:t>
            </a:r>
          </a:p>
          <a:p>
            <a:pPr lvl="1"/>
            <a:r>
              <a:rPr lang="en-US" sz="2000" dirty="0"/>
              <a:t>Learn from sensor data, infrastructure data, etc.</a:t>
            </a:r>
          </a:p>
          <a:p>
            <a:pPr>
              <a:spcBef>
                <a:spcPts val="1872"/>
              </a:spcBef>
            </a:pPr>
            <a:r>
              <a:rPr lang="en-US" sz="2400" dirty="0"/>
              <a:t>Detect interesting patterns, e.g.</a:t>
            </a:r>
          </a:p>
          <a:p>
            <a:pPr lvl="1"/>
            <a:r>
              <a:rPr lang="en-US" sz="2000" dirty="0"/>
              <a:t>Interesting phenomena in space, on earth, under water, </a:t>
            </a:r>
            <a:r>
              <a:rPr lang="en-GB" sz="2000" dirty="0"/>
              <a:t>in stock markets, etc.</a:t>
            </a:r>
            <a:endParaRPr lang="en-US" sz="2000" dirty="0"/>
          </a:p>
          <a:p>
            <a:pPr lvl="1"/>
            <a:r>
              <a:rPr lang="en-US" sz="2000" dirty="0" err="1"/>
              <a:t>Recognise</a:t>
            </a:r>
            <a:r>
              <a:rPr lang="en-US" sz="2000" dirty="0"/>
              <a:t> plants with certain diseases</a:t>
            </a:r>
          </a:p>
          <a:p>
            <a:pPr lvl="1"/>
            <a:r>
              <a:rPr lang="en-US" sz="2000" dirty="0"/>
              <a:t>Estimate the likelihood of archeological artifacts at a certain site</a:t>
            </a:r>
            <a:br>
              <a:rPr lang="en-US" sz="2000" dirty="0"/>
            </a:br>
            <a:r>
              <a:rPr lang="en-US" sz="2000" dirty="0"/>
              <a:t>based on archeological data, geological parameters, etc.</a:t>
            </a:r>
          </a:p>
          <a:p>
            <a:pPr>
              <a:spcBef>
                <a:spcPts val="1872"/>
              </a:spcBef>
            </a:pPr>
            <a:r>
              <a:rPr lang="en-US" sz="2400" dirty="0"/>
              <a:t>Understand the structure/dynamics of large networks, e.g.</a:t>
            </a:r>
          </a:p>
          <a:p>
            <a:pPr lvl="1"/>
            <a:r>
              <a:rPr lang="en-US" sz="2000" dirty="0"/>
              <a:t>Train networks</a:t>
            </a:r>
          </a:p>
          <a:p>
            <a:pPr lvl="1"/>
            <a:r>
              <a:rPr lang="en-US" sz="2000" dirty="0"/>
              <a:t>Social networks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5</a:t>
            </a:fld>
            <a:endParaRPr lang="en-GB"/>
          </a:p>
        </p:txBody>
      </p:sp>
      <p:sp>
        <p:nvSpPr>
          <p:cNvPr id="5" name="Rectangle 4"/>
          <p:cNvSpPr/>
          <p:nvPr/>
        </p:nvSpPr>
        <p:spPr>
          <a:xfrm>
            <a:off x="5342440" y="6030417"/>
            <a:ext cx="4851176" cy="49897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In these applications, the data is potentially huge.</a:t>
            </a:r>
          </a:p>
        </p:txBody>
      </p:sp>
      <p:sp>
        <p:nvSpPr>
          <p:cNvPr id="7" name="Rounded Rectangular Callout 6"/>
          <p:cNvSpPr/>
          <p:nvPr/>
        </p:nvSpPr>
        <p:spPr>
          <a:xfrm>
            <a:off x="7754465" y="451237"/>
            <a:ext cx="1224136" cy="537669"/>
          </a:xfrm>
          <a:prstGeom prst="wedgeRoundRectCallout">
            <a:avLst>
              <a:gd name="adj1" fmla="val -19024"/>
              <a:gd name="adj2" fmla="val 69083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“Big Data”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27812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Divide and Conquer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Often such problems can be solved as follows: </a:t>
            </a:r>
          </a:p>
          <a:p>
            <a:pPr lvl="1"/>
            <a:r>
              <a:rPr lang="en-US" dirty="0"/>
              <a:t>Divide data into smaller chunks</a:t>
            </a:r>
          </a:p>
          <a:p>
            <a:pPr lvl="1"/>
            <a:r>
              <a:rPr lang="en-US" dirty="0"/>
              <a:t>Perform computations on smaller chunks</a:t>
            </a:r>
          </a:p>
          <a:p>
            <a:pPr lvl="1"/>
            <a:r>
              <a:rPr lang="en-US" dirty="0"/>
              <a:t>Combine results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Idea behind MapReduce!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6</a:t>
            </a:fld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2604608" y="3501008"/>
            <a:ext cx="7114000" cy="43204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Huge data set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057536" y="4365104"/>
            <a:ext cx="144016" cy="43204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ectangle 93"/>
          <p:cNvSpPr/>
          <p:nvPr/>
        </p:nvSpPr>
        <p:spPr>
          <a:xfrm>
            <a:off x="2281728" y="4365104"/>
            <a:ext cx="144016" cy="43204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Rectangle 94"/>
          <p:cNvSpPr/>
          <p:nvPr/>
        </p:nvSpPr>
        <p:spPr>
          <a:xfrm>
            <a:off x="2505920" y="4365104"/>
            <a:ext cx="144016" cy="43204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ectangle 95"/>
          <p:cNvSpPr/>
          <p:nvPr/>
        </p:nvSpPr>
        <p:spPr>
          <a:xfrm>
            <a:off x="2730112" y="4365104"/>
            <a:ext cx="144016" cy="43204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Rectangle 96"/>
          <p:cNvSpPr/>
          <p:nvPr/>
        </p:nvSpPr>
        <p:spPr>
          <a:xfrm>
            <a:off x="2954304" y="4365104"/>
            <a:ext cx="144016" cy="43204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ectangle 97"/>
          <p:cNvSpPr/>
          <p:nvPr/>
        </p:nvSpPr>
        <p:spPr>
          <a:xfrm>
            <a:off x="3178496" y="4365104"/>
            <a:ext cx="144016" cy="43204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Rectangle 98"/>
          <p:cNvSpPr/>
          <p:nvPr/>
        </p:nvSpPr>
        <p:spPr>
          <a:xfrm>
            <a:off x="3402688" y="4365104"/>
            <a:ext cx="144016" cy="43204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ectangle 99"/>
          <p:cNvSpPr/>
          <p:nvPr/>
        </p:nvSpPr>
        <p:spPr>
          <a:xfrm>
            <a:off x="3626880" y="4365104"/>
            <a:ext cx="144016" cy="43204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/>
          <p:cNvSpPr/>
          <p:nvPr/>
        </p:nvSpPr>
        <p:spPr>
          <a:xfrm>
            <a:off x="3851072" y="4365104"/>
            <a:ext cx="144016" cy="43204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/>
          <p:cNvSpPr/>
          <p:nvPr/>
        </p:nvSpPr>
        <p:spPr>
          <a:xfrm>
            <a:off x="4075264" y="4365104"/>
            <a:ext cx="144016" cy="43204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Rectangle 102"/>
          <p:cNvSpPr/>
          <p:nvPr/>
        </p:nvSpPr>
        <p:spPr>
          <a:xfrm>
            <a:off x="4299456" y="4365104"/>
            <a:ext cx="144016" cy="43204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Rectangle 103"/>
          <p:cNvSpPr/>
          <p:nvPr/>
        </p:nvSpPr>
        <p:spPr>
          <a:xfrm>
            <a:off x="4523648" y="4365104"/>
            <a:ext cx="144016" cy="43204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4747840" y="4365104"/>
            <a:ext cx="144016" cy="43204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Rectangle 105"/>
          <p:cNvSpPr/>
          <p:nvPr/>
        </p:nvSpPr>
        <p:spPr>
          <a:xfrm>
            <a:off x="4972032" y="4365104"/>
            <a:ext cx="144016" cy="43204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Rectangle 106"/>
          <p:cNvSpPr/>
          <p:nvPr/>
        </p:nvSpPr>
        <p:spPr>
          <a:xfrm>
            <a:off x="5196224" y="4365104"/>
            <a:ext cx="144016" cy="43204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Rectangle 107"/>
          <p:cNvSpPr/>
          <p:nvPr/>
        </p:nvSpPr>
        <p:spPr>
          <a:xfrm>
            <a:off x="5420416" y="4365104"/>
            <a:ext cx="144016" cy="43204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Rectangle 108"/>
          <p:cNvSpPr/>
          <p:nvPr/>
        </p:nvSpPr>
        <p:spPr>
          <a:xfrm>
            <a:off x="5644608" y="4365104"/>
            <a:ext cx="144016" cy="43204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Rectangle 109"/>
          <p:cNvSpPr/>
          <p:nvPr/>
        </p:nvSpPr>
        <p:spPr>
          <a:xfrm>
            <a:off x="5868800" y="4365104"/>
            <a:ext cx="144016" cy="43204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Rectangle 110"/>
          <p:cNvSpPr/>
          <p:nvPr/>
        </p:nvSpPr>
        <p:spPr>
          <a:xfrm>
            <a:off x="6092992" y="4365104"/>
            <a:ext cx="144016" cy="43204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Rectangle 111"/>
          <p:cNvSpPr/>
          <p:nvPr/>
        </p:nvSpPr>
        <p:spPr>
          <a:xfrm>
            <a:off x="6317184" y="4365104"/>
            <a:ext cx="144016" cy="43204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Rectangle 112"/>
          <p:cNvSpPr/>
          <p:nvPr/>
        </p:nvSpPr>
        <p:spPr>
          <a:xfrm>
            <a:off x="6541376" y="4365104"/>
            <a:ext cx="144016" cy="43204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Rectangle 113"/>
          <p:cNvSpPr/>
          <p:nvPr/>
        </p:nvSpPr>
        <p:spPr>
          <a:xfrm>
            <a:off x="6765568" y="4365104"/>
            <a:ext cx="144016" cy="43204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Rectangle 114"/>
          <p:cNvSpPr/>
          <p:nvPr/>
        </p:nvSpPr>
        <p:spPr>
          <a:xfrm>
            <a:off x="6989760" y="4365104"/>
            <a:ext cx="144016" cy="43204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Rectangle 115"/>
          <p:cNvSpPr/>
          <p:nvPr/>
        </p:nvSpPr>
        <p:spPr>
          <a:xfrm>
            <a:off x="7213952" y="4365104"/>
            <a:ext cx="144016" cy="43204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Rectangle 116"/>
          <p:cNvSpPr/>
          <p:nvPr/>
        </p:nvSpPr>
        <p:spPr>
          <a:xfrm>
            <a:off x="7438144" y="4365104"/>
            <a:ext cx="144016" cy="43204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Rectangle 117"/>
          <p:cNvSpPr/>
          <p:nvPr/>
        </p:nvSpPr>
        <p:spPr>
          <a:xfrm>
            <a:off x="7662336" y="4365104"/>
            <a:ext cx="144016" cy="43204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Rectangle 118"/>
          <p:cNvSpPr/>
          <p:nvPr/>
        </p:nvSpPr>
        <p:spPr>
          <a:xfrm>
            <a:off x="7886528" y="4365104"/>
            <a:ext cx="144016" cy="43204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Rectangle 119"/>
          <p:cNvSpPr/>
          <p:nvPr/>
        </p:nvSpPr>
        <p:spPr>
          <a:xfrm>
            <a:off x="8110720" y="4365104"/>
            <a:ext cx="144016" cy="43204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Rectangle 120"/>
          <p:cNvSpPr/>
          <p:nvPr/>
        </p:nvSpPr>
        <p:spPr>
          <a:xfrm>
            <a:off x="8334912" y="4365104"/>
            <a:ext cx="144016" cy="43204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Rectangle 121"/>
          <p:cNvSpPr/>
          <p:nvPr/>
        </p:nvSpPr>
        <p:spPr>
          <a:xfrm>
            <a:off x="8559104" y="4365104"/>
            <a:ext cx="144016" cy="43204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Rectangle 122"/>
          <p:cNvSpPr/>
          <p:nvPr/>
        </p:nvSpPr>
        <p:spPr>
          <a:xfrm>
            <a:off x="8783296" y="4365104"/>
            <a:ext cx="144016" cy="43204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Rectangle 123"/>
          <p:cNvSpPr/>
          <p:nvPr/>
        </p:nvSpPr>
        <p:spPr>
          <a:xfrm>
            <a:off x="9007488" y="4365104"/>
            <a:ext cx="144016" cy="43204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Rectangle 124"/>
          <p:cNvSpPr/>
          <p:nvPr/>
        </p:nvSpPr>
        <p:spPr>
          <a:xfrm>
            <a:off x="9231680" y="4365104"/>
            <a:ext cx="144016" cy="43204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Rectangle 125"/>
          <p:cNvSpPr/>
          <p:nvPr/>
        </p:nvSpPr>
        <p:spPr>
          <a:xfrm>
            <a:off x="9455872" y="4365104"/>
            <a:ext cx="144016" cy="43204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Rectangle 126"/>
          <p:cNvSpPr/>
          <p:nvPr/>
        </p:nvSpPr>
        <p:spPr>
          <a:xfrm>
            <a:off x="9680064" y="4365104"/>
            <a:ext cx="144016" cy="43204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Rectangle 127"/>
          <p:cNvSpPr/>
          <p:nvPr/>
        </p:nvSpPr>
        <p:spPr>
          <a:xfrm>
            <a:off x="9904256" y="4365104"/>
            <a:ext cx="144016" cy="43204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Rectangle 128"/>
          <p:cNvSpPr/>
          <p:nvPr/>
        </p:nvSpPr>
        <p:spPr>
          <a:xfrm>
            <a:off x="10128448" y="4365104"/>
            <a:ext cx="144016" cy="43204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1" name="Straight Arrow Connector 140"/>
          <p:cNvCxnSpPr/>
          <p:nvPr/>
        </p:nvCxnSpPr>
        <p:spPr>
          <a:xfrm>
            <a:off x="6092992" y="4005064"/>
            <a:ext cx="0" cy="2789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8" name="TextBox 157"/>
          <p:cNvSpPr txBox="1"/>
          <p:nvPr/>
        </p:nvSpPr>
        <p:spPr>
          <a:xfrm>
            <a:off x="5241541" y="5155089"/>
            <a:ext cx="17029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Combine results</a:t>
            </a:r>
            <a:endParaRPr lang="en-US" dirty="0"/>
          </a:p>
        </p:txBody>
      </p:sp>
      <p:cxnSp>
        <p:nvCxnSpPr>
          <p:cNvPr id="162" name="Straight Arrow Connector 161"/>
          <p:cNvCxnSpPr/>
          <p:nvPr/>
        </p:nvCxnSpPr>
        <p:spPr>
          <a:xfrm>
            <a:off x="6092992" y="4878288"/>
            <a:ext cx="0" cy="2789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3" name="Rounded Rectangular Callout 162"/>
          <p:cNvSpPr/>
          <p:nvPr/>
        </p:nvSpPr>
        <p:spPr>
          <a:xfrm>
            <a:off x="7444826" y="5018001"/>
            <a:ext cx="2964973" cy="643508"/>
          </a:xfrm>
          <a:prstGeom prst="wedgeRoundRectCallout">
            <a:avLst>
              <a:gd name="adj1" fmla="val 20443"/>
              <a:gd name="adj2" fmla="val -69336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Lots of small sub-problems,</a:t>
            </a:r>
            <a:br>
              <a:rPr lang="en-US" dirty="0"/>
            </a:br>
            <a:r>
              <a:rPr lang="en-US" dirty="0"/>
              <a:t>but can be solved in parallel!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86486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1" grpId="0" animBg="1"/>
      <p:bldP spid="94" grpId="0" animBg="1"/>
      <p:bldP spid="95" grpId="0" animBg="1"/>
      <p:bldP spid="96" grpId="0" animBg="1"/>
      <p:bldP spid="97" grpId="0" animBg="1"/>
      <p:bldP spid="98" grpId="0" animBg="1"/>
      <p:bldP spid="99" grpId="0" animBg="1"/>
      <p:bldP spid="100" grpId="0" animBg="1"/>
      <p:bldP spid="101" grpId="0" animBg="1"/>
      <p:bldP spid="102" grpId="0" animBg="1"/>
      <p:bldP spid="103" grpId="0" animBg="1"/>
      <p:bldP spid="104" grpId="0" animBg="1"/>
      <p:bldP spid="105" grpId="0" animBg="1"/>
      <p:bldP spid="106" grpId="0" animBg="1"/>
      <p:bldP spid="107" grpId="0" animBg="1"/>
      <p:bldP spid="108" grpId="0" animBg="1"/>
      <p:bldP spid="109" grpId="0" animBg="1"/>
      <p:bldP spid="110" grpId="0" animBg="1"/>
      <p:bldP spid="111" grpId="0" animBg="1"/>
      <p:bldP spid="112" grpId="0" animBg="1"/>
      <p:bldP spid="113" grpId="0" animBg="1"/>
      <p:bldP spid="114" grpId="0" animBg="1"/>
      <p:bldP spid="115" grpId="0" animBg="1"/>
      <p:bldP spid="116" grpId="0" animBg="1"/>
      <p:bldP spid="117" grpId="0" animBg="1"/>
      <p:bldP spid="118" grpId="0" animBg="1"/>
      <p:bldP spid="119" grpId="0" animBg="1"/>
      <p:bldP spid="120" grpId="0" animBg="1"/>
      <p:bldP spid="121" grpId="0" animBg="1"/>
      <p:bldP spid="122" grpId="0" animBg="1"/>
      <p:bldP spid="123" grpId="0" animBg="1"/>
      <p:bldP spid="124" grpId="0" animBg="1"/>
      <p:bldP spid="125" grpId="0" animBg="1"/>
      <p:bldP spid="126" grpId="0" animBg="1"/>
      <p:bldP spid="127" grpId="0" animBg="1"/>
      <p:bldP spid="128" grpId="0" animBg="1"/>
      <p:bldP spid="129" grpId="0" animBg="1"/>
      <p:bldP spid="158" grpId="0"/>
      <p:bldP spid="16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MapReduce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Programming framework</a:t>
            </a:r>
          </a:p>
          <a:p>
            <a:pPr lvl="1"/>
            <a:r>
              <a:rPr lang="en-US" dirty="0"/>
              <a:t>Provides simple means to create programs that can scale to terabytes of data</a:t>
            </a:r>
          </a:p>
          <a:p>
            <a:pPr>
              <a:spcBef>
                <a:spcPts val="2472"/>
              </a:spcBef>
            </a:pPr>
            <a:r>
              <a:rPr lang="en-US" dirty="0"/>
              <a:t>Users only implement two methods</a:t>
            </a:r>
          </a:p>
          <a:p>
            <a:pPr lvl="1"/>
            <a:r>
              <a:rPr lang="en-US" b="1" dirty="0"/>
              <a:t>Map</a:t>
            </a:r>
            <a:r>
              <a:rPr lang="en-US" dirty="0"/>
              <a:t>: the computation on the smaller chunks of data</a:t>
            </a:r>
          </a:p>
          <a:p>
            <a:pPr lvl="1"/>
            <a:r>
              <a:rPr lang="en-US" b="1" dirty="0"/>
              <a:t>Reduce</a:t>
            </a:r>
            <a:r>
              <a:rPr lang="en-US" dirty="0"/>
              <a:t>: how the results are combined to the final result</a:t>
            </a:r>
          </a:p>
          <a:p>
            <a:pPr lvl="1"/>
            <a:r>
              <a:rPr lang="en-US" dirty="0" err="1"/>
              <a:t>MapReduces</a:t>
            </a:r>
            <a:r>
              <a:rPr lang="en-US" dirty="0"/>
              <a:t> manages the rest!</a:t>
            </a:r>
          </a:p>
          <a:p>
            <a:pPr>
              <a:spcBef>
                <a:spcPts val="2472"/>
              </a:spcBef>
            </a:pPr>
            <a:r>
              <a:rPr lang="en-US" dirty="0"/>
              <a:t>Implementations: </a:t>
            </a:r>
          </a:p>
          <a:p>
            <a:pPr lvl="1">
              <a:spcBef>
                <a:spcPts val="672"/>
              </a:spcBef>
            </a:pPr>
            <a:r>
              <a:rPr lang="en-US" dirty="0"/>
              <a:t>MapReduce: Google’s original implementation</a:t>
            </a:r>
          </a:p>
          <a:p>
            <a:pPr lvl="1">
              <a:spcBef>
                <a:spcPts val="672"/>
              </a:spcBef>
            </a:pPr>
            <a:r>
              <a:rPr lang="en-US" dirty="0"/>
              <a:t>Apache Hadoop: open-source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7</a:t>
            </a:fld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69708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72E2C-1CD9-4399-8B2C-510CAB409D0A}"/>
              </a:ext>
            </a:extLst>
          </p:cNvPr>
          <p:cNvSpPr txBox="1">
            <a:spLocks/>
          </p:cNvSpPr>
          <p:nvPr/>
        </p:nvSpPr>
        <p:spPr>
          <a:xfrm>
            <a:off x="2209800" y="2463032"/>
            <a:ext cx="7772400" cy="147002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Counting Words in Documents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02CAEB9-4F02-4C94-BD40-789790048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C260D5AD-280D-4F23-8F09-5CDE2943111F}" type="slidenum">
              <a:rPr lang="en-GB" smtClean="0"/>
              <a:pPr/>
              <a:t>8</a:t>
            </a:fld>
            <a:endParaRPr lang="en-GB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DE6EDBC-2A0C-46C4-B9F1-7C582EE4B475}"/>
              </a:ext>
            </a:extLst>
          </p:cNvPr>
          <p:cNvSpPr txBox="1">
            <a:spLocks/>
          </p:cNvSpPr>
          <p:nvPr/>
        </p:nvSpPr>
        <p:spPr>
          <a:xfrm>
            <a:off x="2209800" y="2463031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20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/>
              <a:t>or: Hello World!</a:t>
            </a:r>
          </a:p>
        </p:txBody>
      </p:sp>
    </p:spTree>
    <p:extLst>
      <p:ext uri="{BB962C8B-B14F-4D97-AF65-F5344CB8AC3E}">
        <p14:creationId xmlns:p14="http://schemas.microsoft.com/office/powerpoint/2010/main" val="10949695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Task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Given: a collection of “not too large” text files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Task: for each word </a:t>
            </a:r>
            <a:r>
              <a:rPr lang="en-US" b="1" dirty="0"/>
              <a:t>w</a:t>
            </a:r>
            <a:r>
              <a:rPr lang="en-US" dirty="0"/>
              <a:t>, count how often </a:t>
            </a:r>
            <a:r>
              <a:rPr lang="en-US" b="1" dirty="0"/>
              <a:t>w</a:t>
            </a:r>
            <a:r>
              <a:rPr lang="en-US" dirty="0"/>
              <a:t> occurs in these files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9</a:t>
            </a:fld>
            <a:endParaRPr lang="en-GB"/>
          </a:p>
        </p:txBody>
      </p:sp>
      <p:sp>
        <p:nvSpPr>
          <p:cNvPr id="6" name="Document 5" descr="text file"/>
          <p:cNvSpPr/>
          <p:nvPr/>
        </p:nvSpPr>
        <p:spPr>
          <a:xfrm>
            <a:off x="2567608" y="2276872"/>
            <a:ext cx="1008112" cy="1008112"/>
          </a:xfrm>
          <a:prstGeom prst="flowChartDocument">
            <a:avLst/>
          </a:prstGeom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700" dirty="0"/>
              <a:t>Lorem ipsum dolor sit </a:t>
            </a:r>
            <a:r>
              <a:rPr lang="en-US" sz="700" dirty="0" err="1"/>
              <a:t>amet</a:t>
            </a:r>
            <a:r>
              <a:rPr lang="en-US" sz="700" dirty="0"/>
              <a:t>, </a:t>
            </a:r>
            <a:r>
              <a:rPr lang="en-US" sz="700" dirty="0" err="1"/>
              <a:t>consectetur</a:t>
            </a:r>
            <a:r>
              <a:rPr lang="en-US" sz="700" dirty="0"/>
              <a:t> </a:t>
            </a:r>
            <a:r>
              <a:rPr lang="en-US" sz="700" dirty="0" err="1"/>
              <a:t>adipiscing</a:t>
            </a:r>
            <a:r>
              <a:rPr lang="en-US" sz="700" dirty="0"/>
              <a:t> </a:t>
            </a:r>
            <a:r>
              <a:rPr lang="en-US" sz="700" dirty="0" err="1"/>
              <a:t>elit</a:t>
            </a:r>
            <a:r>
              <a:rPr lang="en-US" sz="700" dirty="0"/>
              <a:t>, </a:t>
            </a:r>
            <a:r>
              <a:rPr lang="en-US" sz="700" dirty="0" err="1"/>
              <a:t>sed</a:t>
            </a:r>
            <a:r>
              <a:rPr lang="en-US" sz="700" dirty="0"/>
              <a:t> do </a:t>
            </a:r>
            <a:r>
              <a:rPr lang="en-US" sz="700" dirty="0" err="1"/>
              <a:t>eiusmod</a:t>
            </a:r>
            <a:r>
              <a:rPr lang="en-US" sz="700" dirty="0"/>
              <a:t> </a:t>
            </a:r>
            <a:r>
              <a:rPr lang="en-US" sz="700" dirty="0" err="1"/>
              <a:t>tempor</a:t>
            </a:r>
            <a:r>
              <a:rPr lang="en-US" sz="700" dirty="0"/>
              <a:t> </a:t>
            </a:r>
            <a:r>
              <a:rPr lang="en-US" sz="700" dirty="0" err="1"/>
              <a:t>incididunt</a:t>
            </a:r>
            <a:r>
              <a:rPr lang="en-US" sz="700" dirty="0"/>
              <a:t> </a:t>
            </a:r>
            <a:r>
              <a:rPr lang="en-US" sz="700" dirty="0" err="1"/>
              <a:t>ut</a:t>
            </a:r>
            <a:r>
              <a:rPr lang="en-US" sz="700" dirty="0"/>
              <a:t> </a:t>
            </a:r>
            <a:r>
              <a:rPr lang="en-US" sz="700" dirty="0" err="1"/>
              <a:t>labore</a:t>
            </a:r>
            <a:r>
              <a:rPr lang="en-US" sz="700" dirty="0"/>
              <a:t> et </a:t>
            </a:r>
            <a:r>
              <a:rPr lang="en-US" sz="700" dirty="0" err="1"/>
              <a:t>dolore</a:t>
            </a:r>
            <a:r>
              <a:rPr lang="en-US" sz="700" dirty="0"/>
              <a:t> magna </a:t>
            </a:r>
            <a:r>
              <a:rPr lang="en-US" sz="700" dirty="0" err="1"/>
              <a:t>aliqua</a:t>
            </a:r>
            <a:r>
              <a:rPr lang="en-US" sz="700" dirty="0"/>
              <a:t>. </a:t>
            </a:r>
            <a:r>
              <a:rPr lang="en-US" sz="700" dirty="0" err="1"/>
              <a:t>Ut</a:t>
            </a:r>
            <a:r>
              <a:rPr lang="en-US" sz="700" dirty="0"/>
              <a:t> </a:t>
            </a:r>
            <a:r>
              <a:rPr lang="en-US" sz="700" dirty="0" err="1"/>
              <a:t>enim</a:t>
            </a:r>
            <a:r>
              <a:rPr lang="en-US" sz="700" dirty="0"/>
              <a:t> ad minim </a:t>
            </a:r>
            <a:r>
              <a:rPr lang="en-US" sz="700" dirty="0" err="1"/>
              <a:t>veniam</a:t>
            </a:r>
            <a:r>
              <a:rPr lang="en-US" sz="700" dirty="0"/>
              <a:t>, </a:t>
            </a:r>
            <a:r>
              <a:rPr lang="en-US" sz="700" dirty="0" err="1"/>
              <a:t>quis</a:t>
            </a:r>
            <a:r>
              <a:rPr lang="en-US" sz="700" dirty="0"/>
              <a:t> </a:t>
            </a:r>
            <a:r>
              <a:rPr lang="en-US" sz="700" dirty="0" err="1"/>
              <a:t>nostrud</a:t>
            </a:r>
            <a:r>
              <a:rPr lang="en-US" sz="700" dirty="0"/>
              <a:t> exercitation </a:t>
            </a:r>
            <a:r>
              <a:rPr lang="en-US" sz="700" dirty="0" err="1"/>
              <a:t>ull</a:t>
            </a:r>
            <a:endParaRPr lang="en-US" sz="700" dirty="0"/>
          </a:p>
        </p:txBody>
      </p:sp>
      <p:sp>
        <p:nvSpPr>
          <p:cNvPr id="12" name="Document 11" descr="text file"/>
          <p:cNvSpPr/>
          <p:nvPr/>
        </p:nvSpPr>
        <p:spPr>
          <a:xfrm>
            <a:off x="3719736" y="2276872"/>
            <a:ext cx="1008112" cy="1008112"/>
          </a:xfrm>
          <a:prstGeom prst="flowChartDocument">
            <a:avLst/>
          </a:prstGeom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700" dirty="0"/>
              <a:t>Lorem ipsum dolor sit </a:t>
            </a:r>
            <a:r>
              <a:rPr lang="en-US" sz="700" dirty="0" err="1"/>
              <a:t>amet</a:t>
            </a:r>
            <a:r>
              <a:rPr lang="en-US" sz="700" dirty="0"/>
              <a:t>, </a:t>
            </a:r>
            <a:r>
              <a:rPr lang="en-US" sz="700" dirty="0" err="1"/>
              <a:t>consectetur</a:t>
            </a:r>
            <a:r>
              <a:rPr lang="en-US" sz="700" dirty="0"/>
              <a:t> </a:t>
            </a:r>
            <a:r>
              <a:rPr lang="en-US" sz="700" dirty="0" err="1"/>
              <a:t>adipiscing</a:t>
            </a:r>
            <a:r>
              <a:rPr lang="en-US" sz="700" dirty="0"/>
              <a:t> </a:t>
            </a:r>
            <a:r>
              <a:rPr lang="en-US" sz="700" dirty="0" err="1"/>
              <a:t>elit</a:t>
            </a:r>
            <a:r>
              <a:rPr lang="en-US" sz="700" dirty="0"/>
              <a:t>, </a:t>
            </a:r>
            <a:r>
              <a:rPr lang="en-US" sz="700" dirty="0" err="1"/>
              <a:t>sed</a:t>
            </a:r>
            <a:r>
              <a:rPr lang="en-US" sz="700" dirty="0"/>
              <a:t> do </a:t>
            </a:r>
            <a:r>
              <a:rPr lang="en-US" sz="700" dirty="0" err="1"/>
              <a:t>eiusmod</a:t>
            </a:r>
            <a:r>
              <a:rPr lang="en-US" sz="700" dirty="0"/>
              <a:t> </a:t>
            </a:r>
            <a:r>
              <a:rPr lang="en-US" sz="700" dirty="0" err="1"/>
              <a:t>tempor</a:t>
            </a:r>
            <a:r>
              <a:rPr lang="en-US" sz="700" dirty="0"/>
              <a:t> </a:t>
            </a:r>
            <a:r>
              <a:rPr lang="en-US" sz="700" dirty="0" err="1"/>
              <a:t>incididunt</a:t>
            </a:r>
            <a:r>
              <a:rPr lang="en-US" sz="700" dirty="0"/>
              <a:t> </a:t>
            </a:r>
            <a:r>
              <a:rPr lang="en-US" sz="700" dirty="0" err="1"/>
              <a:t>ut</a:t>
            </a:r>
            <a:r>
              <a:rPr lang="en-US" sz="700" dirty="0"/>
              <a:t> </a:t>
            </a:r>
            <a:r>
              <a:rPr lang="en-US" sz="700" dirty="0" err="1"/>
              <a:t>labore</a:t>
            </a:r>
            <a:r>
              <a:rPr lang="en-US" sz="700" dirty="0"/>
              <a:t> et </a:t>
            </a:r>
            <a:r>
              <a:rPr lang="en-US" sz="700" dirty="0" err="1"/>
              <a:t>dolore</a:t>
            </a:r>
            <a:r>
              <a:rPr lang="en-US" sz="700" dirty="0"/>
              <a:t> magna </a:t>
            </a:r>
            <a:r>
              <a:rPr lang="en-US" sz="700" dirty="0" err="1"/>
              <a:t>aliqua</a:t>
            </a:r>
            <a:r>
              <a:rPr lang="en-US" sz="700" dirty="0"/>
              <a:t>. </a:t>
            </a:r>
            <a:r>
              <a:rPr lang="en-US" sz="700" dirty="0" err="1"/>
              <a:t>Ut</a:t>
            </a:r>
            <a:r>
              <a:rPr lang="en-US" sz="700" dirty="0"/>
              <a:t> </a:t>
            </a:r>
            <a:r>
              <a:rPr lang="en-US" sz="700" dirty="0" err="1"/>
              <a:t>enim</a:t>
            </a:r>
            <a:r>
              <a:rPr lang="en-US" sz="700" dirty="0"/>
              <a:t> ad minim </a:t>
            </a:r>
            <a:r>
              <a:rPr lang="en-US" sz="700" dirty="0" err="1"/>
              <a:t>veniam</a:t>
            </a:r>
            <a:r>
              <a:rPr lang="en-US" sz="700" dirty="0"/>
              <a:t>, </a:t>
            </a:r>
            <a:r>
              <a:rPr lang="en-US" sz="700" dirty="0" err="1"/>
              <a:t>quis</a:t>
            </a:r>
            <a:r>
              <a:rPr lang="en-US" sz="700" dirty="0"/>
              <a:t> </a:t>
            </a:r>
            <a:r>
              <a:rPr lang="en-US" sz="700" dirty="0" err="1"/>
              <a:t>nostrud</a:t>
            </a:r>
            <a:r>
              <a:rPr lang="en-US" sz="700" dirty="0"/>
              <a:t> exercitation </a:t>
            </a:r>
            <a:r>
              <a:rPr lang="en-US" sz="700" dirty="0" err="1"/>
              <a:t>ull</a:t>
            </a:r>
            <a:endParaRPr lang="en-US" sz="700" dirty="0"/>
          </a:p>
        </p:txBody>
      </p:sp>
      <p:sp>
        <p:nvSpPr>
          <p:cNvPr id="13" name="Document 12" descr="text file"/>
          <p:cNvSpPr/>
          <p:nvPr/>
        </p:nvSpPr>
        <p:spPr>
          <a:xfrm>
            <a:off x="4871864" y="2276872"/>
            <a:ext cx="1008112" cy="1008112"/>
          </a:xfrm>
          <a:prstGeom prst="flowChartDocument">
            <a:avLst/>
          </a:prstGeom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700" dirty="0"/>
              <a:t>Lorem ipsum dolor sit </a:t>
            </a:r>
            <a:r>
              <a:rPr lang="en-US" sz="700" dirty="0" err="1"/>
              <a:t>amet</a:t>
            </a:r>
            <a:r>
              <a:rPr lang="en-US" sz="700" dirty="0"/>
              <a:t>, </a:t>
            </a:r>
            <a:r>
              <a:rPr lang="en-US" sz="700" dirty="0" err="1"/>
              <a:t>consectetur</a:t>
            </a:r>
            <a:r>
              <a:rPr lang="en-US" sz="700" dirty="0"/>
              <a:t> </a:t>
            </a:r>
            <a:r>
              <a:rPr lang="en-US" sz="700" dirty="0" err="1"/>
              <a:t>adipiscing</a:t>
            </a:r>
            <a:r>
              <a:rPr lang="en-US" sz="700" dirty="0"/>
              <a:t> </a:t>
            </a:r>
            <a:r>
              <a:rPr lang="en-US" sz="700" dirty="0" err="1"/>
              <a:t>elit</a:t>
            </a:r>
            <a:r>
              <a:rPr lang="en-US" sz="700" dirty="0"/>
              <a:t>, </a:t>
            </a:r>
            <a:r>
              <a:rPr lang="en-US" sz="700" dirty="0" err="1"/>
              <a:t>sed</a:t>
            </a:r>
            <a:r>
              <a:rPr lang="en-US" sz="700" dirty="0"/>
              <a:t> do </a:t>
            </a:r>
            <a:r>
              <a:rPr lang="en-US" sz="700" dirty="0" err="1"/>
              <a:t>eiusmod</a:t>
            </a:r>
            <a:r>
              <a:rPr lang="en-US" sz="700" dirty="0"/>
              <a:t> </a:t>
            </a:r>
            <a:r>
              <a:rPr lang="en-US" sz="700" dirty="0" err="1"/>
              <a:t>tempor</a:t>
            </a:r>
            <a:r>
              <a:rPr lang="en-US" sz="700" dirty="0"/>
              <a:t> </a:t>
            </a:r>
            <a:r>
              <a:rPr lang="en-US" sz="700" dirty="0" err="1"/>
              <a:t>incididunt</a:t>
            </a:r>
            <a:r>
              <a:rPr lang="en-US" sz="700" dirty="0"/>
              <a:t> </a:t>
            </a:r>
            <a:r>
              <a:rPr lang="en-US" sz="700" dirty="0" err="1"/>
              <a:t>ut</a:t>
            </a:r>
            <a:r>
              <a:rPr lang="en-US" sz="700" dirty="0"/>
              <a:t> </a:t>
            </a:r>
            <a:r>
              <a:rPr lang="en-US" sz="700" dirty="0" err="1"/>
              <a:t>labore</a:t>
            </a:r>
            <a:r>
              <a:rPr lang="en-US" sz="700" dirty="0"/>
              <a:t> et </a:t>
            </a:r>
            <a:r>
              <a:rPr lang="en-US" sz="700" dirty="0" err="1"/>
              <a:t>dolore</a:t>
            </a:r>
            <a:r>
              <a:rPr lang="en-US" sz="700" dirty="0"/>
              <a:t> magna </a:t>
            </a:r>
            <a:r>
              <a:rPr lang="en-US" sz="700" dirty="0" err="1"/>
              <a:t>aliqua</a:t>
            </a:r>
            <a:r>
              <a:rPr lang="en-US" sz="700" dirty="0"/>
              <a:t>. </a:t>
            </a:r>
            <a:r>
              <a:rPr lang="en-US" sz="700" dirty="0" err="1"/>
              <a:t>Ut</a:t>
            </a:r>
            <a:r>
              <a:rPr lang="en-US" sz="700" dirty="0"/>
              <a:t> </a:t>
            </a:r>
            <a:r>
              <a:rPr lang="en-US" sz="700" dirty="0" err="1"/>
              <a:t>enim</a:t>
            </a:r>
            <a:r>
              <a:rPr lang="en-US" sz="700" dirty="0"/>
              <a:t> ad minim </a:t>
            </a:r>
            <a:r>
              <a:rPr lang="en-US" sz="700" dirty="0" err="1"/>
              <a:t>veniam</a:t>
            </a:r>
            <a:r>
              <a:rPr lang="en-US" sz="700" dirty="0"/>
              <a:t>, </a:t>
            </a:r>
            <a:r>
              <a:rPr lang="en-US" sz="700" dirty="0" err="1"/>
              <a:t>quis</a:t>
            </a:r>
            <a:r>
              <a:rPr lang="en-US" sz="700" dirty="0"/>
              <a:t> </a:t>
            </a:r>
            <a:r>
              <a:rPr lang="en-US" sz="700" dirty="0" err="1"/>
              <a:t>nostrud</a:t>
            </a:r>
            <a:r>
              <a:rPr lang="en-US" sz="700" dirty="0"/>
              <a:t> exercitation </a:t>
            </a:r>
            <a:r>
              <a:rPr lang="en-US" sz="700" dirty="0" err="1"/>
              <a:t>ull</a:t>
            </a:r>
            <a:endParaRPr lang="en-US" sz="700" dirty="0"/>
          </a:p>
        </p:txBody>
      </p:sp>
      <p:sp>
        <p:nvSpPr>
          <p:cNvPr id="14" name="Document 13" descr="text file"/>
          <p:cNvSpPr/>
          <p:nvPr/>
        </p:nvSpPr>
        <p:spPr>
          <a:xfrm>
            <a:off x="6023992" y="2276872"/>
            <a:ext cx="1008112" cy="1008112"/>
          </a:xfrm>
          <a:prstGeom prst="flowChartDocument">
            <a:avLst/>
          </a:prstGeom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700" dirty="0"/>
              <a:t>Lorem ipsum dolor sit </a:t>
            </a:r>
            <a:r>
              <a:rPr lang="en-US" sz="700" dirty="0" err="1"/>
              <a:t>amet</a:t>
            </a:r>
            <a:r>
              <a:rPr lang="en-US" sz="700" dirty="0"/>
              <a:t>, </a:t>
            </a:r>
            <a:r>
              <a:rPr lang="en-US" sz="700" dirty="0" err="1"/>
              <a:t>consectetur</a:t>
            </a:r>
            <a:r>
              <a:rPr lang="en-US" sz="700" dirty="0"/>
              <a:t> </a:t>
            </a:r>
            <a:r>
              <a:rPr lang="en-US" sz="700" dirty="0" err="1"/>
              <a:t>adipiscing</a:t>
            </a:r>
            <a:r>
              <a:rPr lang="en-US" sz="700" dirty="0"/>
              <a:t> </a:t>
            </a:r>
            <a:r>
              <a:rPr lang="en-US" sz="700" dirty="0" err="1"/>
              <a:t>elit</a:t>
            </a:r>
            <a:r>
              <a:rPr lang="en-US" sz="700" dirty="0"/>
              <a:t>, </a:t>
            </a:r>
            <a:r>
              <a:rPr lang="en-US" sz="700" dirty="0" err="1"/>
              <a:t>sed</a:t>
            </a:r>
            <a:r>
              <a:rPr lang="en-US" sz="700" dirty="0"/>
              <a:t> do </a:t>
            </a:r>
            <a:r>
              <a:rPr lang="en-US" sz="700" dirty="0" err="1"/>
              <a:t>eiusmod</a:t>
            </a:r>
            <a:r>
              <a:rPr lang="en-US" sz="700" dirty="0"/>
              <a:t> </a:t>
            </a:r>
            <a:r>
              <a:rPr lang="en-US" sz="700" dirty="0" err="1"/>
              <a:t>tempor</a:t>
            </a:r>
            <a:r>
              <a:rPr lang="en-US" sz="700" dirty="0"/>
              <a:t> </a:t>
            </a:r>
            <a:r>
              <a:rPr lang="en-US" sz="700" dirty="0" err="1"/>
              <a:t>incididunt</a:t>
            </a:r>
            <a:r>
              <a:rPr lang="en-US" sz="700" dirty="0"/>
              <a:t> </a:t>
            </a:r>
            <a:r>
              <a:rPr lang="en-US" sz="700" dirty="0" err="1"/>
              <a:t>ut</a:t>
            </a:r>
            <a:r>
              <a:rPr lang="en-US" sz="700" dirty="0"/>
              <a:t> </a:t>
            </a:r>
            <a:r>
              <a:rPr lang="en-US" sz="700" dirty="0" err="1"/>
              <a:t>labore</a:t>
            </a:r>
            <a:r>
              <a:rPr lang="en-US" sz="700" dirty="0"/>
              <a:t> et </a:t>
            </a:r>
            <a:r>
              <a:rPr lang="en-US" sz="700" dirty="0" err="1"/>
              <a:t>dolore</a:t>
            </a:r>
            <a:r>
              <a:rPr lang="en-US" sz="700" dirty="0"/>
              <a:t> magna </a:t>
            </a:r>
            <a:r>
              <a:rPr lang="en-US" sz="700" dirty="0" err="1"/>
              <a:t>aliqua</a:t>
            </a:r>
            <a:r>
              <a:rPr lang="en-US" sz="700" dirty="0"/>
              <a:t>. </a:t>
            </a:r>
            <a:r>
              <a:rPr lang="en-US" sz="700" dirty="0" err="1"/>
              <a:t>Ut</a:t>
            </a:r>
            <a:r>
              <a:rPr lang="en-US" sz="700" dirty="0"/>
              <a:t> </a:t>
            </a:r>
            <a:r>
              <a:rPr lang="en-US" sz="700" dirty="0" err="1"/>
              <a:t>enim</a:t>
            </a:r>
            <a:r>
              <a:rPr lang="en-US" sz="700" dirty="0"/>
              <a:t> ad minim </a:t>
            </a:r>
            <a:r>
              <a:rPr lang="en-US" sz="700" dirty="0" err="1"/>
              <a:t>veniam</a:t>
            </a:r>
            <a:r>
              <a:rPr lang="en-US" sz="700" dirty="0"/>
              <a:t>, </a:t>
            </a:r>
            <a:r>
              <a:rPr lang="en-US" sz="700" dirty="0" err="1"/>
              <a:t>quis</a:t>
            </a:r>
            <a:r>
              <a:rPr lang="en-US" sz="700" dirty="0"/>
              <a:t> </a:t>
            </a:r>
            <a:r>
              <a:rPr lang="en-US" sz="700" dirty="0" err="1"/>
              <a:t>nostrud</a:t>
            </a:r>
            <a:r>
              <a:rPr lang="en-US" sz="700" dirty="0"/>
              <a:t> exercitation </a:t>
            </a:r>
            <a:r>
              <a:rPr lang="en-US" sz="700" dirty="0" err="1"/>
              <a:t>ull</a:t>
            </a:r>
            <a:endParaRPr lang="en-US" sz="700" dirty="0"/>
          </a:p>
        </p:txBody>
      </p:sp>
      <p:sp>
        <p:nvSpPr>
          <p:cNvPr id="15" name="Document 14" descr="text file"/>
          <p:cNvSpPr/>
          <p:nvPr/>
        </p:nvSpPr>
        <p:spPr>
          <a:xfrm>
            <a:off x="7176120" y="2276872"/>
            <a:ext cx="1008112" cy="1008112"/>
          </a:xfrm>
          <a:prstGeom prst="flowChartDocument">
            <a:avLst/>
          </a:prstGeom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700" dirty="0"/>
              <a:t>Lorem ipsum dolor sit </a:t>
            </a:r>
            <a:r>
              <a:rPr lang="en-US" sz="700" dirty="0" err="1"/>
              <a:t>amet</a:t>
            </a:r>
            <a:r>
              <a:rPr lang="en-US" sz="700" dirty="0"/>
              <a:t>, </a:t>
            </a:r>
            <a:r>
              <a:rPr lang="en-US" sz="700" dirty="0" err="1"/>
              <a:t>consectetur</a:t>
            </a:r>
            <a:r>
              <a:rPr lang="en-US" sz="700" dirty="0"/>
              <a:t> </a:t>
            </a:r>
            <a:r>
              <a:rPr lang="en-US" sz="700" dirty="0" err="1"/>
              <a:t>adipiscing</a:t>
            </a:r>
            <a:r>
              <a:rPr lang="en-US" sz="700" dirty="0"/>
              <a:t> </a:t>
            </a:r>
            <a:r>
              <a:rPr lang="en-US" sz="700" dirty="0" err="1"/>
              <a:t>elit</a:t>
            </a:r>
            <a:r>
              <a:rPr lang="en-US" sz="700" dirty="0"/>
              <a:t>, </a:t>
            </a:r>
            <a:r>
              <a:rPr lang="en-US" sz="700" dirty="0" err="1"/>
              <a:t>sed</a:t>
            </a:r>
            <a:r>
              <a:rPr lang="en-US" sz="700" dirty="0"/>
              <a:t> do </a:t>
            </a:r>
            <a:r>
              <a:rPr lang="en-US" sz="700" dirty="0" err="1"/>
              <a:t>eiusmod</a:t>
            </a:r>
            <a:r>
              <a:rPr lang="en-US" sz="700" dirty="0"/>
              <a:t> </a:t>
            </a:r>
            <a:r>
              <a:rPr lang="en-US" sz="700" dirty="0" err="1"/>
              <a:t>tempor</a:t>
            </a:r>
            <a:r>
              <a:rPr lang="en-US" sz="700" dirty="0"/>
              <a:t> </a:t>
            </a:r>
            <a:r>
              <a:rPr lang="en-US" sz="700" dirty="0" err="1"/>
              <a:t>incididunt</a:t>
            </a:r>
            <a:r>
              <a:rPr lang="en-US" sz="700" dirty="0"/>
              <a:t> </a:t>
            </a:r>
            <a:r>
              <a:rPr lang="en-US" sz="700" dirty="0" err="1"/>
              <a:t>ut</a:t>
            </a:r>
            <a:r>
              <a:rPr lang="en-US" sz="700" dirty="0"/>
              <a:t> </a:t>
            </a:r>
            <a:r>
              <a:rPr lang="en-US" sz="700" dirty="0" err="1"/>
              <a:t>labore</a:t>
            </a:r>
            <a:r>
              <a:rPr lang="en-US" sz="700" dirty="0"/>
              <a:t> et </a:t>
            </a:r>
            <a:r>
              <a:rPr lang="en-US" sz="700" dirty="0" err="1"/>
              <a:t>dolore</a:t>
            </a:r>
            <a:r>
              <a:rPr lang="en-US" sz="700" dirty="0"/>
              <a:t> magna </a:t>
            </a:r>
            <a:r>
              <a:rPr lang="en-US" sz="700" dirty="0" err="1"/>
              <a:t>aliqua</a:t>
            </a:r>
            <a:r>
              <a:rPr lang="en-US" sz="700" dirty="0"/>
              <a:t>. </a:t>
            </a:r>
            <a:r>
              <a:rPr lang="en-US" sz="700" dirty="0" err="1"/>
              <a:t>Ut</a:t>
            </a:r>
            <a:r>
              <a:rPr lang="en-US" sz="700" dirty="0"/>
              <a:t> </a:t>
            </a:r>
            <a:r>
              <a:rPr lang="en-US" sz="700" dirty="0" err="1"/>
              <a:t>enim</a:t>
            </a:r>
            <a:r>
              <a:rPr lang="en-US" sz="700" dirty="0"/>
              <a:t> ad minim </a:t>
            </a:r>
            <a:r>
              <a:rPr lang="en-US" sz="700" dirty="0" err="1"/>
              <a:t>veniam</a:t>
            </a:r>
            <a:r>
              <a:rPr lang="en-US" sz="700" dirty="0"/>
              <a:t>, </a:t>
            </a:r>
            <a:r>
              <a:rPr lang="en-US" sz="700" dirty="0" err="1"/>
              <a:t>quis</a:t>
            </a:r>
            <a:r>
              <a:rPr lang="en-US" sz="700" dirty="0"/>
              <a:t> </a:t>
            </a:r>
            <a:r>
              <a:rPr lang="en-US" sz="700" dirty="0" err="1"/>
              <a:t>nostrud</a:t>
            </a:r>
            <a:r>
              <a:rPr lang="en-US" sz="700" dirty="0"/>
              <a:t> exercitation </a:t>
            </a:r>
            <a:r>
              <a:rPr lang="en-US" sz="700" dirty="0" err="1"/>
              <a:t>ull</a:t>
            </a:r>
            <a:endParaRPr lang="en-US" sz="700" dirty="0"/>
          </a:p>
        </p:txBody>
      </p:sp>
      <p:sp>
        <p:nvSpPr>
          <p:cNvPr id="16" name="Document 15" descr="text file"/>
          <p:cNvSpPr/>
          <p:nvPr/>
        </p:nvSpPr>
        <p:spPr>
          <a:xfrm>
            <a:off x="8328248" y="2276872"/>
            <a:ext cx="1008112" cy="1008112"/>
          </a:xfrm>
          <a:prstGeom prst="flowChartDocument">
            <a:avLst/>
          </a:prstGeom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700" dirty="0"/>
              <a:t>Lorem ipsum dolor sit </a:t>
            </a:r>
            <a:r>
              <a:rPr lang="en-US" sz="700" dirty="0" err="1"/>
              <a:t>amet</a:t>
            </a:r>
            <a:r>
              <a:rPr lang="en-US" sz="700" dirty="0"/>
              <a:t>, </a:t>
            </a:r>
            <a:r>
              <a:rPr lang="en-US" sz="700" dirty="0" err="1"/>
              <a:t>consectetur</a:t>
            </a:r>
            <a:r>
              <a:rPr lang="en-US" sz="700" dirty="0"/>
              <a:t> </a:t>
            </a:r>
            <a:r>
              <a:rPr lang="en-US" sz="700" dirty="0" err="1"/>
              <a:t>adipiscing</a:t>
            </a:r>
            <a:r>
              <a:rPr lang="en-US" sz="700" dirty="0"/>
              <a:t> </a:t>
            </a:r>
            <a:r>
              <a:rPr lang="en-US" sz="700" dirty="0" err="1"/>
              <a:t>elit</a:t>
            </a:r>
            <a:r>
              <a:rPr lang="en-US" sz="700" dirty="0"/>
              <a:t>, </a:t>
            </a:r>
            <a:r>
              <a:rPr lang="en-US" sz="700" dirty="0" err="1"/>
              <a:t>sed</a:t>
            </a:r>
            <a:r>
              <a:rPr lang="en-US" sz="700" dirty="0"/>
              <a:t> do </a:t>
            </a:r>
            <a:r>
              <a:rPr lang="en-US" sz="700" dirty="0" err="1"/>
              <a:t>eiusmod</a:t>
            </a:r>
            <a:r>
              <a:rPr lang="en-US" sz="700" dirty="0"/>
              <a:t> </a:t>
            </a:r>
            <a:r>
              <a:rPr lang="en-US" sz="700" dirty="0" err="1"/>
              <a:t>tempor</a:t>
            </a:r>
            <a:r>
              <a:rPr lang="en-US" sz="700" dirty="0"/>
              <a:t> </a:t>
            </a:r>
            <a:r>
              <a:rPr lang="en-US" sz="700" dirty="0" err="1"/>
              <a:t>incididunt</a:t>
            </a:r>
            <a:r>
              <a:rPr lang="en-US" sz="700" dirty="0"/>
              <a:t> </a:t>
            </a:r>
            <a:r>
              <a:rPr lang="en-US" sz="700" dirty="0" err="1"/>
              <a:t>ut</a:t>
            </a:r>
            <a:r>
              <a:rPr lang="en-US" sz="700" dirty="0"/>
              <a:t> </a:t>
            </a:r>
            <a:r>
              <a:rPr lang="en-US" sz="700" dirty="0" err="1"/>
              <a:t>labore</a:t>
            </a:r>
            <a:r>
              <a:rPr lang="en-US" sz="700" dirty="0"/>
              <a:t> et </a:t>
            </a:r>
            <a:r>
              <a:rPr lang="en-US" sz="700" dirty="0" err="1"/>
              <a:t>dolore</a:t>
            </a:r>
            <a:r>
              <a:rPr lang="en-US" sz="700" dirty="0"/>
              <a:t> magna </a:t>
            </a:r>
            <a:r>
              <a:rPr lang="en-US" sz="700" dirty="0" err="1"/>
              <a:t>aliqua</a:t>
            </a:r>
            <a:r>
              <a:rPr lang="en-US" sz="700" dirty="0"/>
              <a:t>. </a:t>
            </a:r>
            <a:r>
              <a:rPr lang="en-US" sz="700" dirty="0" err="1"/>
              <a:t>Ut</a:t>
            </a:r>
            <a:r>
              <a:rPr lang="en-US" sz="700" dirty="0"/>
              <a:t> </a:t>
            </a:r>
            <a:r>
              <a:rPr lang="en-US" sz="700" dirty="0" err="1"/>
              <a:t>enim</a:t>
            </a:r>
            <a:r>
              <a:rPr lang="en-US" sz="700" dirty="0"/>
              <a:t> ad minim </a:t>
            </a:r>
            <a:r>
              <a:rPr lang="en-US" sz="700" dirty="0" err="1"/>
              <a:t>veniam</a:t>
            </a:r>
            <a:r>
              <a:rPr lang="en-US" sz="700" dirty="0"/>
              <a:t>, </a:t>
            </a:r>
            <a:r>
              <a:rPr lang="en-US" sz="700" dirty="0" err="1"/>
              <a:t>quis</a:t>
            </a:r>
            <a:r>
              <a:rPr lang="en-US" sz="700" dirty="0"/>
              <a:t> </a:t>
            </a:r>
            <a:r>
              <a:rPr lang="en-US" sz="700" dirty="0" err="1"/>
              <a:t>nostrud</a:t>
            </a:r>
            <a:r>
              <a:rPr lang="en-US" sz="700" dirty="0"/>
              <a:t> exercitation </a:t>
            </a:r>
            <a:r>
              <a:rPr lang="en-US" sz="700" dirty="0" err="1"/>
              <a:t>ull</a:t>
            </a:r>
            <a:endParaRPr lang="en-US" sz="700" dirty="0"/>
          </a:p>
        </p:txBody>
      </p:sp>
      <p:sp>
        <p:nvSpPr>
          <p:cNvPr id="18" name="TextBox 17"/>
          <p:cNvSpPr txBox="1"/>
          <p:nvPr/>
        </p:nvSpPr>
        <p:spPr>
          <a:xfrm>
            <a:off x="9493696" y="2492896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mr-IN" dirty="0"/>
              <a:t>…</a:t>
            </a:r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2604036" y="3309153"/>
            <a:ext cx="935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file1.txt</a:t>
            </a:r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3773798" y="3309153"/>
            <a:ext cx="8999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file2.txt</a:t>
            </a:r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4925925" y="3309153"/>
            <a:ext cx="8999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file3.txt</a:t>
            </a:r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6078052" y="3309153"/>
            <a:ext cx="8999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file4.txt</a:t>
            </a:r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7230179" y="3309153"/>
            <a:ext cx="8999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/>
              <a:t>file5.txt</a:t>
            </a:r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8382306" y="3309153"/>
            <a:ext cx="8999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file6.txt</a:t>
            </a:r>
            <a:endParaRPr 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9486776" y="3309153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mr-IN"/>
              <a:t>…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36705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To Do This In MapReduce?</a:t>
            </a:r>
            <a:endParaRPr lang="en-US" dirty="0"/>
          </a:p>
        </p:txBody>
      </p:sp>
      <p:sp>
        <p:nvSpPr>
          <p:cNvPr id="30" name="Content Placeholder 29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MapReduce computation: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To implement this computation, we have to write two functions: </a:t>
            </a:r>
            <a:r>
              <a:rPr lang="en-US" b="1" dirty="0"/>
              <a:t>Map</a:t>
            </a:r>
            <a:r>
              <a:rPr lang="en-US" dirty="0"/>
              <a:t> &amp; </a:t>
            </a:r>
            <a:r>
              <a:rPr lang="en-US" b="1" dirty="0"/>
              <a:t>Reduce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10</a:t>
            </a:fld>
            <a:endParaRPr lang="en-GB"/>
          </a:p>
        </p:txBody>
      </p:sp>
      <p:sp>
        <p:nvSpPr>
          <p:cNvPr id="5" name="Rectangle 4"/>
          <p:cNvSpPr/>
          <p:nvPr/>
        </p:nvSpPr>
        <p:spPr>
          <a:xfrm>
            <a:off x="5159896" y="3429001"/>
            <a:ext cx="2088232" cy="76146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MapReduce</a:t>
            </a:r>
            <a:br>
              <a:rPr lang="en-US" dirty="0"/>
            </a:br>
            <a:r>
              <a:rPr lang="en-US" dirty="0"/>
              <a:t>Computation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20630" y="2721121"/>
            <a:ext cx="67667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(“file1.txt”, “</a:t>
            </a:r>
            <a:r>
              <a:rPr lang="mr-IN" dirty="0"/>
              <a:t>…</a:t>
            </a:r>
            <a:r>
              <a:rPr lang="en-GB" dirty="0"/>
              <a:t>”</a:t>
            </a:r>
            <a:r>
              <a:rPr lang="en-US" dirty="0"/>
              <a:t>), (“file2.txt”, “</a:t>
            </a:r>
            <a:r>
              <a:rPr lang="mr-IN" dirty="0"/>
              <a:t>…</a:t>
            </a:r>
            <a:r>
              <a:rPr lang="en-GB" dirty="0"/>
              <a:t>”</a:t>
            </a:r>
            <a:r>
              <a:rPr lang="en-US" dirty="0"/>
              <a:t>), (“file3.txt”, “</a:t>
            </a:r>
            <a:r>
              <a:rPr lang="mr-IN" dirty="0"/>
              <a:t>…</a:t>
            </a:r>
            <a:r>
              <a:rPr lang="en-GB" dirty="0"/>
              <a:t>”</a:t>
            </a:r>
            <a:r>
              <a:rPr lang="en-US" dirty="0"/>
              <a:t>)</a:t>
            </a:r>
            <a:r>
              <a:rPr lang="en-GB" dirty="0"/>
              <a:t>, </a:t>
            </a:r>
            <a:r>
              <a:rPr lang="en-US" dirty="0"/>
              <a:t>(“file4.txt”, “</a:t>
            </a:r>
            <a:r>
              <a:rPr lang="mr-IN" dirty="0"/>
              <a:t>…</a:t>
            </a:r>
            <a:r>
              <a:rPr lang="en-GB" dirty="0"/>
              <a:t>”</a:t>
            </a:r>
            <a:r>
              <a:rPr lang="en-US" dirty="0"/>
              <a:t>), </a:t>
            </a:r>
            <a:r>
              <a:rPr lang="mr-IN" dirty="0"/>
              <a:t>…</a:t>
            </a:r>
            <a:endParaRPr lang="en-US" dirty="0"/>
          </a:p>
        </p:txBody>
      </p:sp>
      <p:cxnSp>
        <p:nvCxnSpPr>
          <p:cNvPr id="16" name="Straight Arrow Connector 15"/>
          <p:cNvCxnSpPr>
            <a:stCxn id="6" idx="2"/>
            <a:endCxn id="5" idx="0"/>
          </p:cNvCxnSpPr>
          <p:nvPr/>
        </p:nvCxnSpPr>
        <p:spPr>
          <a:xfrm flipH="1">
            <a:off x="6204012" y="3090454"/>
            <a:ext cx="12" cy="3385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908403" y="4571836"/>
            <a:ext cx="65912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(word</a:t>
            </a:r>
            <a:r>
              <a:rPr lang="en-US" baseline="-25000" dirty="0"/>
              <a:t>1</a:t>
            </a:r>
            <a:r>
              <a:rPr lang="en-US" dirty="0"/>
              <a:t>, count</a:t>
            </a:r>
            <a:r>
              <a:rPr lang="en-US" baseline="-25000" dirty="0"/>
              <a:t>1</a:t>
            </a:r>
            <a:r>
              <a:rPr lang="en-US" dirty="0"/>
              <a:t>), (word</a:t>
            </a:r>
            <a:r>
              <a:rPr lang="en-US" baseline="-25000" dirty="0"/>
              <a:t>2</a:t>
            </a:r>
            <a:r>
              <a:rPr lang="en-US" dirty="0"/>
              <a:t>, count</a:t>
            </a:r>
            <a:r>
              <a:rPr lang="en-US" baseline="-25000" dirty="0"/>
              <a:t>2</a:t>
            </a:r>
            <a:r>
              <a:rPr lang="en-US" dirty="0"/>
              <a:t>), (word</a:t>
            </a:r>
            <a:r>
              <a:rPr lang="en-US" baseline="-25000" dirty="0"/>
              <a:t>3</a:t>
            </a:r>
            <a:r>
              <a:rPr lang="en-US" dirty="0"/>
              <a:t>, count</a:t>
            </a:r>
            <a:r>
              <a:rPr lang="en-US" baseline="-25000" dirty="0"/>
              <a:t>3</a:t>
            </a:r>
            <a:r>
              <a:rPr lang="en-US" dirty="0"/>
              <a:t>)</a:t>
            </a:r>
            <a:r>
              <a:rPr lang="en-GB" dirty="0"/>
              <a:t>, </a:t>
            </a:r>
            <a:r>
              <a:rPr lang="mr-IN" dirty="0"/>
              <a:t>…</a:t>
            </a:r>
            <a:r>
              <a:rPr lang="en-GB" dirty="0"/>
              <a:t>, </a:t>
            </a:r>
            <a:r>
              <a:rPr lang="en-US" dirty="0"/>
              <a:t>(</a:t>
            </a:r>
            <a:r>
              <a:rPr lang="en-US" dirty="0" err="1"/>
              <a:t>word</a:t>
            </a:r>
            <a:r>
              <a:rPr lang="en-US" baseline="-25000" dirty="0" err="1"/>
              <a:t>m</a:t>
            </a:r>
            <a:r>
              <a:rPr lang="en-US" dirty="0"/>
              <a:t>, </a:t>
            </a:r>
            <a:r>
              <a:rPr lang="en-US" dirty="0" err="1"/>
              <a:t>count</a:t>
            </a:r>
            <a:r>
              <a:rPr lang="en-US" baseline="-25000" dirty="0" err="1"/>
              <a:t>m</a:t>
            </a:r>
            <a:r>
              <a:rPr lang="en-US" dirty="0"/>
              <a:t>)</a:t>
            </a:r>
          </a:p>
        </p:txBody>
      </p:sp>
      <p:cxnSp>
        <p:nvCxnSpPr>
          <p:cNvPr id="26" name="Straight Arrow Connector 25"/>
          <p:cNvCxnSpPr>
            <a:stCxn id="5" idx="2"/>
            <a:endCxn id="25" idx="0"/>
          </p:cNvCxnSpPr>
          <p:nvPr/>
        </p:nvCxnSpPr>
        <p:spPr>
          <a:xfrm>
            <a:off x="6204013" y="4190468"/>
            <a:ext cx="5" cy="3813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ular Callout 13"/>
          <p:cNvSpPr/>
          <p:nvPr/>
        </p:nvSpPr>
        <p:spPr>
          <a:xfrm>
            <a:off x="2865558" y="2221280"/>
            <a:ext cx="782170" cy="377487"/>
          </a:xfrm>
          <a:prstGeom prst="wedgeRoundRectCallout">
            <a:avLst>
              <a:gd name="adj1" fmla="val 42094"/>
              <a:gd name="adj2" fmla="val 101936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key</a:t>
            </a:r>
          </a:p>
        </p:txBody>
      </p:sp>
      <p:sp>
        <p:nvSpPr>
          <p:cNvPr id="15" name="Rounded Rectangular Callout 14"/>
          <p:cNvSpPr/>
          <p:nvPr/>
        </p:nvSpPr>
        <p:spPr>
          <a:xfrm>
            <a:off x="4079776" y="2221281"/>
            <a:ext cx="936104" cy="377487"/>
          </a:xfrm>
          <a:prstGeom prst="wedgeRoundRectCallout">
            <a:avLst>
              <a:gd name="adj1" fmla="val -40544"/>
              <a:gd name="adj2" fmla="val 104359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value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75933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5" grpId="0"/>
      <p:bldP spid="14" grpId="0" animBg="1"/>
      <p:bldP spid="1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Map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Map function is applied to a single key/value pair</a:t>
            </a:r>
            <a:br>
              <a:rPr lang="en-US" dirty="0"/>
            </a:br>
            <a:r>
              <a:rPr lang="en-US" dirty="0"/>
              <a:t>and produces a list of zero or more key/value pairs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Example: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11</a:t>
            </a:fld>
            <a:endParaRPr lang="en-GB"/>
          </a:p>
        </p:txBody>
      </p:sp>
      <p:grpSp>
        <p:nvGrpSpPr>
          <p:cNvPr id="8" name="Group 7"/>
          <p:cNvGrpSpPr/>
          <p:nvPr/>
        </p:nvGrpSpPr>
        <p:grpSpPr>
          <a:xfrm>
            <a:off x="4439816" y="2617498"/>
            <a:ext cx="3888432" cy="1296144"/>
            <a:chOff x="2915816" y="2276872"/>
            <a:chExt cx="3888432" cy="1296144"/>
          </a:xfrm>
        </p:grpSpPr>
        <p:sp>
          <p:nvSpPr>
            <p:cNvPr id="5" name="Rectangle 4"/>
            <p:cNvSpPr/>
            <p:nvPr/>
          </p:nvSpPr>
          <p:spPr>
            <a:xfrm>
              <a:off x="2915816" y="2276872"/>
              <a:ext cx="3888432" cy="1296144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144000" tIns="144000" rIns="144000" bIns="144000" rtlCol="0" anchor="t"/>
            <a:lstStyle/>
            <a:p>
              <a:r>
                <a:rPr lang="en-US" b="1" dirty="0"/>
                <a:t>Map</a:t>
              </a:r>
              <a:r>
                <a:rPr lang="en-US" dirty="0"/>
                <a:t>(String </a:t>
              </a:r>
              <a:r>
                <a:rPr lang="en-US" b="1" dirty="0" err="1"/>
                <a:t>filepath</a:t>
              </a:r>
              <a:r>
                <a:rPr lang="en-US" dirty="0"/>
                <a:t>, String </a:t>
              </a:r>
              <a:r>
                <a:rPr lang="en-US" b="1" dirty="0"/>
                <a:t>contents</a:t>
              </a:r>
              <a:r>
                <a:rPr lang="en-US" dirty="0"/>
                <a:t>):</a:t>
              </a:r>
            </a:p>
            <a:p>
              <a:endParaRPr lang="en-US" dirty="0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3203848" y="2731210"/>
              <a:ext cx="2952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for each word </a:t>
              </a:r>
              <a:r>
                <a:rPr lang="en-US" b="1" dirty="0"/>
                <a:t>w</a:t>
              </a:r>
              <a:r>
                <a:rPr lang="en-US" dirty="0"/>
                <a:t> in </a:t>
              </a:r>
              <a:r>
                <a:rPr lang="en-US" b="1" dirty="0"/>
                <a:t>contents</a:t>
              </a:r>
              <a:r>
                <a:rPr lang="en-US" dirty="0"/>
                <a:t>: 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550933" y="3111811"/>
              <a:ext cx="20004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output pair (w, “1”)</a:t>
              </a:r>
            </a:p>
          </p:txBody>
        </p:sp>
      </p:grpSp>
      <p:sp>
        <p:nvSpPr>
          <p:cNvPr id="9" name="Rectangle 8"/>
          <p:cNvSpPr/>
          <p:nvPr/>
        </p:nvSpPr>
        <p:spPr>
          <a:xfrm>
            <a:off x="5553397" y="5369030"/>
            <a:ext cx="1315389" cy="42292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Map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3593963" y="4778568"/>
            <a:ext cx="52342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(“file1.txt”, “Hello World! Hello UK! Hello Liverpool!</a:t>
            </a:r>
            <a:r>
              <a:rPr lang="en-GB" dirty="0"/>
              <a:t>”</a:t>
            </a:r>
            <a:r>
              <a:rPr lang="en-US" dirty="0"/>
              <a:t>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52312" y="6011996"/>
            <a:ext cx="8517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(“Hello”, “1”), (“World!”, “1”), (“Hello”, “1”), (“UK!”, “1”), (“Hello”, “1”), (“Liverpool!”, “1”)</a:t>
            </a:r>
          </a:p>
        </p:txBody>
      </p:sp>
      <p:cxnSp>
        <p:nvCxnSpPr>
          <p:cNvPr id="13" name="Straight Arrow Connector 12"/>
          <p:cNvCxnSpPr>
            <a:stCxn id="9" idx="2"/>
            <a:endCxn id="12" idx="0"/>
          </p:cNvCxnSpPr>
          <p:nvPr/>
        </p:nvCxnSpPr>
        <p:spPr>
          <a:xfrm>
            <a:off x="6211092" y="5791950"/>
            <a:ext cx="15" cy="2200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10" idx="2"/>
            <a:endCxn id="9" idx="0"/>
          </p:cNvCxnSpPr>
          <p:nvPr/>
        </p:nvCxnSpPr>
        <p:spPr>
          <a:xfrm>
            <a:off x="6211089" y="5147900"/>
            <a:ext cx="2" cy="2211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157949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  <p:bldP spid="1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After the Map functions have been applied, we group all values by key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list of values for a key is the input to Reduce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12</a:t>
            </a:fld>
            <a:endParaRPr lang="en-GB"/>
          </a:p>
        </p:txBody>
      </p:sp>
      <p:sp>
        <p:nvSpPr>
          <p:cNvPr id="5" name="TextBox 4"/>
          <p:cNvSpPr txBox="1"/>
          <p:nvPr/>
        </p:nvSpPr>
        <p:spPr>
          <a:xfrm>
            <a:off x="2423593" y="2575394"/>
            <a:ext cx="75750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(</a:t>
            </a:r>
            <a:r>
              <a:rPr lang="en-US" dirty="0">
                <a:solidFill>
                  <a:schemeClr val="accent6"/>
                </a:solidFill>
              </a:rPr>
              <a:t>“Hello”</a:t>
            </a:r>
            <a:r>
              <a:rPr lang="en-US" dirty="0"/>
              <a:t>, </a:t>
            </a:r>
            <a:r>
              <a:rPr lang="en-US" b="1" dirty="0">
                <a:solidFill>
                  <a:schemeClr val="accent1"/>
                </a:solidFill>
              </a:rPr>
              <a:t>1</a:t>
            </a:r>
            <a:r>
              <a:rPr lang="en-US" dirty="0"/>
              <a:t>), (</a:t>
            </a:r>
            <a:r>
              <a:rPr lang="en-US" dirty="0">
                <a:solidFill>
                  <a:schemeClr val="accent6"/>
                </a:solidFill>
              </a:rPr>
              <a:t>“World!”</a:t>
            </a:r>
            <a:r>
              <a:rPr lang="en-US" dirty="0"/>
              <a:t>, </a:t>
            </a:r>
            <a:r>
              <a:rPr lang="en-US" b="1" dirty="0">
                <a:solidFill>
                  <a:schemeClr val="accent1"/>
                </a:solidFill>
              </a:rPr>
              <a:t>1</a:t>
            </a:r>
            <a:r>
              <a:rPr lang="en-US" dirty="0"/>
              <a:t>), (</a:t>
            </a:r>
            <a:r>
              <a:rPr lang="en-US" dirty="0">
                <a:solidFill>
                  <a:schemeClr val="accent6"/>
                </a:solidFill>
              </a:rPr>
              <a:t>“Hello”</a:t>
            </a:r>
            <a:r>
              <a:rPr lang="en-US" dirty="0"/>
              <a:t>, </a:t>
            </a:r>
            <a:r>
              <a:rPr lang="en-US" b="1" dirty="0">
                <a:solidFill>
                  <a:schemeClr val="accent1"/>
                </a:solidFill>
              </a:rPr>
              <a:t>1</a:t>
            </a:r>
            <a:r>
              <a:rPr lang="en-US" dirty="0"/>
              <a:t>), (</a:t>
            </a:r>
            <a:r>
              <a:rPr lang="en-US" dirty="0">
                <a:solidFill>
                  <a:schemeClr val="accent6"/>
                </a:solidFill>
              </a:rPr>
              <a:t>“UK!”</a:t>
            </a:r>
            <a:r>
              <a:rPr lang="en-US" dirty="0"/>
              <a:t>, </a:t>
            </a:r>
            <a:r>
              <a:rPr lang="en-US" b="1" dirty="0">
                <a:solidFill>
                  <a:schemeClr val="accent1"/>
                </a:solidFill>
              </a:rPr>
              <a:t>1</a:t>
            </a:r>
            <a:r>
              <a:rPr lang="en-US" dirty="0"/>
              <a:t>), (</a:t>
            </a:r>
            <a:r>
              <a:rPr lang="en-US" dirty="0">
                <a:solidFill>
                  <a:schemeClr val="accent6"/>
                </a:solidFill>
              </a:rPr>
              <a:t>“Hello”</a:t>
            </a:r>
            <a:r>
              <a:rPr lang="en-US" dirty="0"/>
              <a:t>, </a:t>
            </a:r>
            <a:r>
              <a:rPr lang="en-US" b="1" dirty="0">
                <a:solidFill>
                  <a:schemeClr val="accent1"/>
                </a:solidFill>
              </a:rPr>
              <a:t>1</a:t>
            </a:r>
            <a:r>
              <a:rPr lang="en-US" dirty="0"/>
              <a:t>), (</a:t>
            </a:r>
            <a:r>
              <a:rPr lang="en-US" dirty="0">
                <a:solidFill>
                  <a:schemeClr val="accent6"/>
                </a:solidFill>
              </a:rPr>
              <a:t>“Liverpool!”</a:t>
            </a:r>
            <a:r>
              <a:rPr lang="en-US" dirty="0"/>
              <a:t>, </a:t>
            </a:r>
            <a:r>
              <a:rPr lang="en-US" b="1" dirty="0">
                <a:solidFill>
                  <a:schemeClr val="accent1"/>
                </a:solidFill>
              </a:rPr>
              <a:t>1</a:t>
            </a:r>
            <a:r>
              <a:rPr lang="en-US" dirty="0"/>
              <a:t>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69166" y="3957613"/>
            <a:ext cx="62231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(</a:t>
            </a:r>
            <a:r>
              <a:rPr lang="en-US" dirty="0">
                <a:solidFill>
                  <a:schemeClr val="accent6"/>
                </a:solidFill>
              </a:rPr>
              <a:t>“Hello”</a:t>
            </a:r>
            <a:r>
              <a:rPr lang="en-US" dirty="0"/>
              <a:t>, (</a:t>
            </a:r>
            <a:r>
              <a:rPr lang="en-US" b="1" dirty="0">
                <a:solidFill>
                  <a:schemeClr val="accent1"/>
                </a:solidFill>
              </a:rPr>
              <a:t>1</a:t>
            </a:r>
            <a:r>
              <a:rPr lang="en-US" dirty="0"/>
              <a:t>, </a:t>
            </a:r>
            <a:r>
              <a:rPr lang="en-US" b="1" dirty="0">
                <a:solidFill>
                  <a:schemeClr val="accent1"/>
                </a:solidFill>
              </a:rPr>
              <a:t>1</a:t>
            </a:r>
            <a:r>
              <a:rPr lang="en-US"/>
              <a:t>, </a:t>
            </a:r>
            <a:r>
              <a:rPr lang="en-US" b="1">
                <a:solidFill>
                  <a:schemeClr val="accent1"/>
                </a:solidFill>
              </a:rPr>
              <a:t>1</a:t>
            </a:r>
            <a:r>
              <a:rPr lang="en-GB" dirty="0"/>
              <a:t>)), (</a:t>
            </a:r>
            <a:r>
              <a:rPr lang="en-GB" dirty="0">
                <a:solidFill>
                  <a:schemeClr val="accent6"/>
                </a:solidFill>
              </a:rPr>
              <a:t>“World!”</a:t>
            </a:r>
            <a:r>
              <a:rPr lang="en-GB" dirty="0"/>
              <a:t>, (</a:t>
            </a:r>
            <a:r>
              <a:rPr lang="en-US" b="1" dirty="0">
                <a:solidFill>
                  <a:schemeClr val="accent1"/>
                </a:solidFill>
              </a:rPr>
              <a:t>1</a:t>
            </a:r>
            <a:r>
              <a:rPr lang="en-GB" dirty="0"/>
              <a:t>)), (</a:t>
            </a:r>
            <a:r>
              <a:rPr lang="en-GB" dirty="0">
                <a:solidFill>
                  <a:schemeClr val="accent6"/>
                </a:solidFill>
              </a:rPr>
              <a:t>“UK!”</a:t>
            </a:r>
            <a:r>
              <a:rPr lang="en-GB" dirty="0"/>
              <a:t>, (</a:t>
            </a:r>
            <a:r>
              <a:rPr lang="en-US" b="1" dirty="0">
                <a:solidFill>
                  <a:schemeClr val="accent1"/>
                </a:solidFill>
              </a:rPr>
              <a:t>1</a:t>
            </a:r>
            <a:r>
              <a:rPr lang="en-GB" dirty="0"/>
              <a:t>)), (</a:t>
            </a:r>
            <a:r>
              <a:rPr lang="en-GB" dirty="0">
                <a:solidFill>
                  <a:schemeClr val="accent6"/>
                </a:solidFill>
              </a:rPr>
              <a:t>“Liverpool!”</a:t>
            </a:r>
            <a:r>
              <a:rPr lang="en-GB" dirty="0"/>
              <a:t>, (</a:t>
            </a:r>
            <a:r>
              <a:rPr lang="en-US" b="1" dirty="0">
                <a:solidFill>
                  <a:schemeClr val="accent1"/>
                </a:solidFill>
              </a:rPr>
              <a:t>1</a:t>
            </a:r>
            <a:r>
              <a:rPr lang="en-GB" dirty="0"/>
              <a:t>))</a:t>
            </a:r>
            <a:endParaRPr lang="en-US" dirty="0"/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3575720" y="2944727"/>
            <a:ext cx="504056" cy="10128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3051180" y="2944727"/>
            <a:ext cx="452533" cy="10128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H="1">
            <a:off x="4367808" y="2944727"/>
            <a:ext cx="1512168" cy="10128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H="1">
            <a:off x="4583832" y="2944727"/>
            <a:ext cx="3312368" cy="10128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539880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Reduce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Reduce function takes a key and a list of values as input and outputs a list of key/value pairs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Example:</a:t>
            </a:r>
          </a:p>
          <a:p>
            <a:pPr lvl="1">
              <a:spcBef>
                <a:spcPts val="672"/>
              </a:spcBef>
            </a:pPr>
            <a:r>
              <a:rPr lang="en-US" dirty="0"/>
              <a:t>Reduce(“Hello”, (“1”,”1”,”1”)) outputs (“Hello”, “3”)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13</a:t>
            </a:fld>
            <a:endParaRPr lang="en-GB"/>
          </a:p>
        </p:txBody>
      </p:sp>
      <p:grpSp>
        <p:nvGrpSpPr>
          <p:cNvPr id="11" name="Group 10"/>
          <p:cNvGrpSpPr/>
          <p:nvPr/>
        </p:nvGrpSpPr>
        <p:grpSpPr>
          <a:xfrm>
            <a:off x="3964225" y="2480320"/>
            <a:ext cx="4536504" cy="2107646"/>
            <a:chOff x="2411760" y="2617498"/>
            <a:chExt cx="4536504" cy="2107646"/>
          </a:xfrm>
        </p:grpSpPr>
        <p:sp>
          <p:nvSpPr>
            <p:cNvPr id="6" name="Rectangle 5"/>
            <p:cNvSpPr/>
            <p:nvPr/>
          </p:nvSpPr>
          <p:spPr>
            <a:xfrm>
              <a:off x="2411760" y="2617498"/>
              <a:ext cx="4536504" cy="210764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144000" tIns="144000" rIns="144000" bIns="144000" rtlCol="0" anchor="t"/>
            <a:lstStyle/>
            <a:p>
              <a:r>
                <a:rPr lang="en-US" b="1" dirty="0"/>
                <a:t>Reduce</a:t>
              </a:r>
              <a:r>
                <a:rPr lang="en-US" dirty="0"/>
                <a:t>(String </a:t>
              </a:r>
              <a:r>
                <a:rPr lang="en-US" b="1" dirty="0"/>
                <a:t>word</a:t>
              </a:r>
              <a:r>
                <a:rPr lang="en-US" dirty="0"/>
                <a:t>, Iterator&lt;String&gt; </a:t>
              </a:r>
              <a:r>
                <a:rPr lang="en-US" b="1" dirty="0"/>
                <a:t>values</a:t>
              </a:r>
              <a:r>
                <a:rPr lang="en-US" dirty="0"/>
                <a:t>):</a:t>
              </a:r>
            </a:p>
            <a:p>
              <a:endParaRPr lang="en-US" dirty="0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2699792" y="3429000"/>
              <a:ext cx="21148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for each </a:t>
              </a:r>
              <a:r>
                <a:rPr lang="en-US" b="1" dirty="0"/>
                <a:t>v</a:t>
              </a:r>
              <a:r>
                <a:rPr lang="en-US" dirty="0"/>
                <a:t> in </a:t>
              </a:r>
              <a:r>
                <a:rPr lang="en-US" b="1" dirty="0"/>
                <a:t>values</a:t>
              </a:r>
              <a:r>
                <a:rPr lang="en-US" dirty="0"/>
                <a:t>: 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046877" y="3809601"/>
              <a:ext cx="27709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count = count + </a:t>
              </a:r>
              <a:r>
                <a:rPr lang="en-US" dirty="0" err="1"/>
                <a:t>parseInt</a:t>
              </a:r>
              <a:r>
                <a:rPr lang="en-US" dirty="0"/>
                <a:t>(v)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694016" y="3059668"/>
              <a:ext cx="136171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int</a:t>
              </a:r>
              <a:r>
                <a:rPr lang="en-US" dirty="0"/>
                <a:t> </a:t>
              </a:r>
              <a:r>
                <a:rPr lang="en-US" b="1" dirty="0"/>
                <a:t>count</a:t>
              </a:r>
              <a:r>
                <a:rPr lang="en-US" dirty="0"/>
                <a:t> = 0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694016" y="4176830"/>
              <a:ext cx="34740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output pair (</a:t>
              </a:r>
              <a:r>
                <a:rPr lang="en-US" b="1" dirty="0"/>
                <a:t>word</a:t>
              </a:r>
              <a:r>
                <a:rPr lang="en-US" dirty="0"/>
                <a:t>, </a:t>
              </a:r>
              <a:r>
                <a:rPr lang="en-US" dirty="0" err="1"/>
                <a:t>toString</a:t>
              </a:r>
              <a:r>
                <a:rPr lang="en-US" dirty="0"/>
                <a:t>(</a:t>
              </a:r>
              <a:r>
                <a:rPr lang="en-US" b="1" dirty="0"/>
                <a:t>count</a:t>
              </a:r>
              <a:r>
                <a:rPr lang="en-US" dirty="0"/>
                <a:t>))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2013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Putting Things Together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14</a:t>
            </a:fld>
            <a:endParaRPr lang="en-GB"/>
          </a:p>
        </p:txBody>
      </p:sp>
      <p:sp>
        <p:nvSpPr>
          <p:cNvPr id="5" name="TextBox 4"/>
          <p:cNvSpPr txBox="1"/>
          <p:nvPr/>
        </p:nvSpPr>
        <p:spPr>
          <a:xfrm>
            <a:off x="2194410" y="1695803"/>
            <a:ext cx="33255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(“file1.txt”, “Hello World! Hello</a:t>
            </a:r>
            <a:r>
              <a:rPr lang="en-GB" dirty="0"/>
              <a:t>”</a:t>
            </a:r>
            <a:r>
              <a:rPr lang="en-US" dirty="0"/>
              <a:t>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19937" y="1695803"/>
            <a:ext cx="1865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(“file2.txt”, “UK!</a:t>
            </a:r>
            <a:r>
              <a:rPr lang="en-GB" dirty="0"/>
              <a:t>”</a:t>
            </a:r>
            <a:r>
              <a:rPr lang="en-US" dirty="0"/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77240" y="1695803"/>
            <a:ext cx="3004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(“file3.txt</a:t>
            </a:r>
            <a:r>
              <a:rPr lang="en-US"/>
              <a:t>”, “Hello </a:t>
            </a:r>
            <a:r>
              <a:rPr lang="en-US" dirty="0"/>
              <a:t>Liverpool!</a:t>
            </a:r>
            <a:r>
              <a:rPr lang="en-GB" dirty="0"/>
              <a:t>”</a:t>
            </a:r>
            <a:r>
              <a:rPr lang="en-US" dirty="0"/>
              <a:t>)</a:t>
            </a:r>
          </a:p>
        </p:txBody>
      </p:sp>
      <p:sp>
        <p:nvSpPr>
          <p:cNvPr id="9" name="Rectangle 8"/>
          <p:cNvSpPr/>
          <p:nvPr/>
        </p:nvSpPr>
        <p:spPr>
          <a:xfrm>
            <a:off x="3272087" y="2262813"/>
            <a:ext cx="1315389" cy="42292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Map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051620" y="2905779"/>
            <a:ext cx="37563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(“Hello”, </a:t>
            </a:r>
            <a:r>
              <a:rPr lang="en-US" dirty="0">
                <a:solidFill>
                  <a:schemeClr val="accent1"/>
                </a:solidFill>
              </a:rPr>
              <a:t>1</a:t>
            </a:r>
            <a:r>
              <a:rPr lang="en-US" dirty="0"/>
              <a:t>), (“World!”, </a:t>
            </a:r>
            <a:r>
              <a:rPr lang="en-US" dirty="0">
                <a:solidFill>
                  <a:schemeClr val="accent2"/>
                </a:solidFill>
              </a:rPr>
              <a:t>1</a:t>
            </a:r>
            <a:r>
              <a:rPr lang="en-US" dirty="0"/>
              <a:t>), (“Hello”, </a:t>
            </a:r>
            <a:r>
              <a:rPr lang="en-US" dirty="0">
                <a:solidFill>
                  <a:schemeClr val="accent1"/>
                </a:solidFill>
              </a:rPr>
              <a:t>1</a:t>
            </a:r>
            <a:r>
              <a:rPr lang="en-US" dirty="0"/>
              <a:t>)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3929782" y="2685733"/>
            <a:ext cx="13" cy="2200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3929779" y="2041683"/>
            <a:ext cx="2" cy="2211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8232260" y="2257389"/>
            <a:ext cx="1315389" cy="42292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Map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7488749" y="2900355"/>
            <a:ext cx="2802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(“Hello”, </a:t>
            </a:r>
            <a:r>
              <a:rPr lang="en-US" dirty="0">
                <a:solidFill>
                  <a:schemeClr val="accent1"/>
                </a:solidFill>
              </a:rPr>
              <a:t>1</a:t>
            </a:r>
            <a:r>
              <a:rPr lang="en-US" dirty="0"/>
              <a:t>), (“Liverpool!”, </a:t>
            </a:r>
            <a:r>
              <a:rPr lang="en-US" dirty="0">
                <a:solidFill>
                  <a:schemeClr val="accent3"/>
                </a:solidFill>
              </a:rPr>
              <a:t>1</a:t>
            </a:r>
            <a:r>
              <a:rPr lang="en-US" dirty="0"/>
              <a:t>)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>
            <a:off x="8889955" y="2680309"/>
            <a:ext cx="13" cy="2200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8889952" y="2036259"/>
            <a:ext cx="2" cy="2211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5843447" y="2257389"/>
            <a:ext cx="1315389" cy="42292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Map</a:t>
            </a:r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5967866" y="2900355"/>
            <a:ext cx="1066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(“UK!”, </a:t>
            </a:r>
            <a:r>
              <a:rPr lang="en-US" dirty="0">
                <a:solidFill>
                  <a:schemeClr val="accent6"/>
                </a:solidFill>
              </a:rPr>
              <a:t>1</a:t>
            </a:r>
            <a:r>
              <a:rPr lang="en-US" dirty="0"/>
              <a:t>)</a:t>
            </a:r>
          </a:p>
        </p:txBody>
      </p:sp>
      <p:cxnSp>
        <p:nvCxnSpPr>
          <p:cNvPr id="19" name="Straight Arrow Connector 18"/>
          <p:cNvCxnSpPr/>
          <p:nvPr/>
        </p:nvCxnSpPr>
        <p:spPr>
          <a:xfrm>
            <a:off x="6501142" y="2680309"/>
            <a:ext cx="13" cy="2200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6501139" y="2036259"/>
            <a:ext cx="2" cy="2211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1668208" y="3423995"/>
            <a:ext cx="882028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446887" y="3821244"/>
            <a:ext cx="29658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(“Hello”, (</a:t>
            </a:r>
            <a:r>
              <a:rPr lang="en-US" dirty="0">
                <a:solidFill>
                  <a:schemeClr val="accent1"/>
                </a:solidFill>
              </a:rPr>
              <a:t>1</a:t>
            </a:r>
            <a:r>
              <a:rPr lang="en-US" dirty="0"/>
              <a:t>,</a:t>
            </a:r>
            <a:r>
              <a:rPr lang="en-US" dirty="0">
                <a:solidFill>
                  <a:schemeClr val="accent1"/>
                </a:solidFill>
              </a:rPr>
              <a:t>1</a:t>
            </a:r>
            <a:r>
              <a:rPr lang="en-US" dirty="0"/>
              <a:t>)), (“World!”, (</a:t>
            </a:r>
            <a:r>
              <a:rPr lang="en-US" dirty="0">
                <a:solidFill>
                  <a:schemeClr val="accent2"/>
                </a:solidFill>
              </a:rPr>
              <a:t>1</a:t>
            </a:r>
            <a:r>
              <a:rPr lang="en-US" dirty="0"/>
              <a:t>))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97321" y="3820963"/>
            <a:ext cx="1207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(“UK!”, (</a:t>
            </a:r>
            <a:r>
              <a:rPr lang="en-US" dirty="0">
                <a:solidFill>
                  <a:schemeClr val="accent6"/>
                </a:solidFill>
              </a:rPr>
              <a:t>1</a:t>
            </a:r>
            <a:r>
              <a:rPr lang="en-US" dirty="0"/>
              <a:t>))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47672" y="3814693"/>
            <a:ext cx="3084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(“Hello”, (</a:t>
            </a:r>
            <a:r>
              <a:rPr lang="en-US" dirty="0">
                <a:solidFill>
                  <a:schemeClr val="accent1"/>
                </a:solidFill>
              </a:rPr>
              <a:t>1</a:t>
            </a:r>
            <a:r>
              <a:rPr lang="en-US" dirty="0"/>
              <a:t>)), (“Liverpool!”, (</a:t>
            </a:r>
            <a:r>
              <a:rPr lang="en-US" dirty="0">
                <a:solidFill>
                  <a:schemeClr val="accent3"/>
                </a:solidFill>
              </a:rPr>
              <a:t>1</a:t>
            </a:r>
            <a:r>
              <a:rPr lang="en-US" dirty="0"/>
              <a:t>))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20641" y="5480492"/>
            <a:ext cx="1315389" cy="4229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Reducer</a:t>
            </a:r>
            <a:endParaRPr lang="en-US" dirty="0"/>
          </a:p>
        </p:txBody>
      </p:sp>
      <p:sp>
        <p:nvSpPr>
          <p:cNvPr id="27" name="Rectangle 26"/>
          <p:cNvSpPr/>
          <p:nvPr/>
        </p:nvSpPr>
        <p:spPr>
          <a:xfrm>
            <a:off x="6821468" y="5473272"/>
            <a:ext cx="1315389" cy="422920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Reducer</a:t>
            </a:r>
            <a:endParaRPr lang="en-US" dirty="0"/>
          </a:p>
        </p:txBody>
      </p:sp>
      <p:sp>
        <p:nvSpPr>
          <p:cNvPr id="28" name="Rectangle 27"/>
          <p:cNvSpPr/>
          <p:nvPr/>
        </p:nvSpPr>
        <p:spPr>
          <a:xfrm>
            <a:off x="5130214" y="5473272"/>
            <a:ext cx="1315389" cy="42292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Reducer</a:t>
            </a:r>
            <a:endParaRPr lang="en-US" dirty="0"/>
          </a:p>
        </p:txBody>
      </p:sp>
      <p:sp>
        <p:nvSpPr>
          <p:cNvPr id="29" name="Rectangle 28"/>
          <p:cNvSpPr/>
          <p:nvPr/>
        </p:nvSpPr>
        <p:spPr>
          <a:xfrm>
            <a:off x="8683611" y="5473272"/>
            <a:ext cx="1315389" cy="422920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Reducer</a:t>
            </a:r>
            <a:endParaRPr lang="en-US" dirty="0"/>
          </a:p>
        </p:txBody>
      </p:sp>
      <p:cxnSp>
        <p:nvCxnSpPr>
          <p:cNvPr id="30" name="Straight Arrow Connector 29"/>
          <p:cNvCxnSpPr/>
          <p:nvPr/>
        </p:nvCxnSpPr>
        <p:spPr>
          <a:xfrm>
            <a:off x="3095035" y="3246703"/>
            <a:ext cx="432048" cy="5926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 flipH="1">
            <a:off x="3648601" y="3207971"/>
            <a:ext cx="1885616" cy="5926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 flipH="1">
            <a:off x="8426896" y="3246702"/>
            <a:ext cx="48422" cy="5745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>
            <a:off x="10041780" y="3244591"/>
            <a:ext cx="86669" cy="5947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 flipH="1">
            <a:off x="6767125" y="3207972"/>
            <a:ext cx="31946" cy="6132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>
            <a:off x="4379504" y="3207971"/>
            <a:ext cx="714040" cy="5926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111" idx="2"/>
            <a:endCxn id="26" idx="0"/>
          </p:cNvCxnSpPr>
          <p:nvPr/>
        </p:nvCxnSpPr>
        <p:spPr>
          <a:xfrm>
            <a:off x="3778331" y="5054672"/>
            <a:ext cx="5" cy="4258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stCxn id="119" idx="2"/>
            <a:endCxn id="28" idx="0"/>
          </p:cNvCxnSpPr>
          <p:nvPr/>
        </p:nvCxnSpPr>
        <p:spPr>
          <a:xfrm>
            <a:off x="5784404" y="5063964"/>
            <a:ext cx="3505" cy="4093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/>
          <p:nvPr/>
        </p:nvCxnSpPr>
        <p:spPr>
          <a:xfrm>
            <a:off x="6816081" y="4190296"/>
            <a:ext cx="741049" cy="5400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>
            <a:stCxn id="134" idx="2"/>
            <a:endCxn id="29" idx="0"/>
          </p:cNvCxnSpPr>
          <p:nvPr/>
        </p:nvCxnSpPr>
        <p:spPr>
          <a:xfrm>
            <a:off x="9341305" y="5066514"/>
            <a:ext cx="1" cy="4067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>
            <a:endCxn id="111" idx="0"/>
          </p:cNvCxnSpPr>
          <p:nvPr/>
        </p:nvCxnSpPr>
        <p:spPr>
          <a:xfrm>
            <a:off x="3657732" y="4209314"/>
            <a:ext cx="120599" cy="4760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/>
          <p:cNvCxnSpPr/>
          <p:nvPr/>
        </p:nvCxnSpPr>
        <p:spPr>
          <a:xfrm>
            <a:off x="1668208" y="4216083"/>
            <a:ext cx="882028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>
            <a:cxnSpLocks/>
            <a:stCxn id="26" idx="2"/>
          </p:cNvCxnSpPr>
          <p:nvPr/>
        </p:nvCxnSpPr>
        <p:spPr>
          <a:xfrm>
            <a:off x="3778336" y="5903412"/>
            <a:ext cx="0" cy="2361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3078330" y="6023864"/>
            <a:ext cx="14000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(“Hello”, “3”)</a:t>
            </a:r>
          </a:p>
        </p:txBody>
      </p:sp>
      <p:cxnSp>
        <p:nvCxnSpPr>
          <p:cNvPr id="65" name="Straight Arrow Connector 64"/>
          <p:cNvCxnSpPr>
            <a:cxnSpLocks/>
            <a:stCxn id="28" idx="2"/>
          </p:cNvCxnSpPr>
          <p:nvPr/>
        </p:nvCxnSpPr>
        <p:spPr>
          <a:xfrm flipH="1">
            <a:off x="5784403" y="5896192"/>
            <a:ext cx="3506" cy="2433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5003742" y="6037904"/>
            <a:ext cx="156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(“World!”, “1”)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861291" y="6029033"/>
            <a:ext cx="12557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(“UK!”, “1”)</a:t>
            </a:r>
          </a:p>
        </p:txBody>
      </p:sp>
      <p:cxnSp>
        <p:nvCxnSpPr>
          <p:cNvPr id="73" name="Straight Arrow Connector 72"/>
          <p:cNvCxnSpPr>
            <a:cxnSpLocks/>
            <a:stCxn id="27" idx="2"/>
          </p:cNvCxnSpPr>
          <p:nvPr/>
        </p:nvCxnSpPr>
        <p:spPr>
          <a:xfrm>
            <a:off x="7479163" y="5896192"/>
            <a:ext cx="0" cy="2433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>
            <a:cxnSpLocks/>
            <a:stCxn id="29" idx="2"/>
          </p:cNvCxnSpPr>
          <p:nvPr/>
        </p:nvCxnSpPr>
        <p:spPr>
          <a:xfrm>
            <a:off x="9341306" y="5896192"/>
            <a:ext cx="0" cy="2433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8414621" y="6024137"/>
            <a:ext cx="1854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(“Liverpool!”, “1”)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2927649" y="4685340"/>
            <a:ext cx="17013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(“Hello”, (</a:t>
            </a:r>
            <a:r>
              <a:rPr lang="en-US" dirty="0">
                <a:solidFill>
                  <a:schemeClr val="accent1"/>
                </a:solidFill>
              </a:rPr>
              <a:t>1</a:t>
            </a:r>
            <a:r>
              <a:rPr lang="en-US" dirty="0"/>
              <a:t>,</a:t>
            </a:r>
            <a:r>
              <a:rPr lang="en-US" dirty="0">
                <a:solidFill>
                  <a:schemeClr val="accent1"/>
                </a:solidFill>
              </a:rPr>
              <a:t>1,1</a:t>
            </a:r>
            <a:r>
              <a:rPr lang="en-US" dirty="0"/>
              <a:t>))</a:t>
            </a:r>
          </a:p>
        </p:txBody>
      </p:sp>
      <p:cxnSp>
        <p:nvCxnSpPr>
          <p:cNvPr id="113" name="Straight Arrow Connector 112"/>
          <p:cNvCxnSpPr/>
          <p:nvPr/>
        </p:nvCxnSpPr>
        <p:spPr>
          <a:xfrm flipH="1">
            <a:off x="4478330" y="4142506"/>
            <a:ext cx="2995230" cy="5428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TextBox 118"/>
          <p:cNvSpPr txBox="1"/>
          <p:nvPr/>
        </p:nvSpPr>
        <p:spPr>
          <a:xfrm>
            <a:off x="5027786" y="4694632"/>
            <a:ext cx="15132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(“World!”, (</a:t>
            </a:r>
            <a:r>
              <a:rPr lang="en-US" dirty="0">
                <a:solidFill>
                  <a:schemeClr val="accent2"/>
                </a:solidFill>
              </a:rPr>
              <a:t>1</a:t>
            </a:r>
            <a:r>
              <a:rPr lang="en-US" dirty="0"/>
              <a:t>))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869741" y="4707814"/>
            <a:ext cx="1207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(“UK!”, (</a:t>
            </a:r>
            <a:r>
              <a:rPr lang="en-US" dirty="0">
                <a:solidFill>
                  <a:schemeClr val="accent6"/>
                </a:solidFill>
              </a:rPr>
              <a:t>1</a:t>
            </a:r>
            <a:r>
              <a:rPr lang="en-US" dirty="0"/>
              <a:t>))</a:t>
            </a:r>
          </a:p>
        </p:txBody>
      </p:sp>
      <p:cxnSp>
        <p:nvCxnSpPr>
          <p:cNvPr id="126" name="Straight Arrow Connector 125"/>
          <p:cNvCxnSpPr>
            <a:stCxn id="124" idx="2"/>
            <a:endCxn id="27" idx="0"/>
          </p:cNvCxnSpPr>
          <p:nvPr/>
        </p:nvCxnSpPr>
        <p:spPr>
          <a:xfrm>
            <a:off x="7473560" y="5077146"/>
            <a:ext cx="5602" cy="3961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30" name="Straight Arrow Connector 129"/>
          <p:cNvCxnSpPr>
            <a:endCxn id="119" idx="0"/>
          </p:cNvCxnSpPr>
          <p:nvPr/>
        </p:nvCxnSpPr>
        <p:spPr>
          <a:xfrm>
            <a:off x="5130213" y="4184026"/>
            <a:ext cx="654190" cy="5106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34" name="TextBox 133"/>
          <p:cNvSpPr txBox="1"/>
          <p:nvPr/>
        </p:nvSpPr>
        <p:spPr>
          <a:xfrm>
            <a:off x="8437948" y="4697181"/>
            <a:ext cx="18067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(“</a:t>
            </a:r>
            <a:r>
              <a:rPr lang="en-US" dirty="0"/>
              <a:t>Liverpool!”, (</a:t>
            </a:r>
            <a:r>
              <a:rPr lang="en-US" dirty="0">
                <a:solidFill>
                  <a:schemeClr val="accent3"/>
                </a:solidFill>
              </a:rPr>
              <a:t>1</a:t>
            </a:r>
            <a:r>
              <a:rPr lang="en-US" dirty="0"/>
              <a:t>))</a:t>
            </a:r>
          </a:p>
        </p:txBody>
      </p:sp>
      <p:cxnSp>
        <p:nvCxnSpPr>
          <p:cNvPr id="137" name="Straight Arrow Connector 136"/>
          <p:cNvCxnSpPr>
            <a:endCxn id="134" idx="0"/>
          </p:cNvCxnSpPr>
          <p:nvPr/>
        </p:nvCxnSpPr>
        <p:spPr>
          <a:xfrm flipH="1">
            <a:off x="9341305" y="4142507"/>
            <a:ext cx="206345" cy="5546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141" name="Rectangle 140"/>
          <p:cNvSpPr/>
          <p:nvPr/>
        </p:nvSpPr>
        <p:spPr>
          <a:xfrm>
            <a:off x="1510005" y="3373764"/>
            <a:ext cx="1257062" cy="37748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FF0000"/>
                </a:solidFill>
              </a:rPr>
              <a:t>“grouping”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46" name="Rectangle 145"/>
          <p:cNvSpPr/>
          <p:nvPr/>
        </p:nvSpPr>
        <p:spPr>
          <a:xfrm>
            <a:off x="1524001" y="4193642"/>
            <a:ext cx="1074927" cy="536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“copy &amp;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merge”</a:t>
            </a:r>
          </a:p>
        </p:txBody>
      </p:sp>
      <p:cxnSp>
        <p:nvCxnSpPr>
          <p:cNvPr id="147" name="Straight Connector 146"/>
          <p:cNvCxnSpPr/>
          <p:nvPr/>
        </p:nvCxnSpPr>
        <p:spPr>
          <a:xfrm>
            <a:off x="1668208" y="5152187"/>
            <a:ext cx="882028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416626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9" grpId="0" animBg="1"/>
      <p:bldP spid="10" grpId="0"/>
      <p:bldP spid="13" grpId="0" animBg="1"/>
      <p:bldP spid="14" grpId="0"/>
      <p:bldP spid="17" grpId="0" animBg="1"/>
      <p:bldP spid="18" grpId="0"/>
      <p:bldP spid="23" grpId="0"/>
      <p:bldP spid="24" grpId="0"/>
      <p:bldP spid="25" grpId="0"/>
      <p:bldP spid="26" grpId="0" animBg="1"/>
      <p:bldP spid="27" grpId="0" animBg="1"/>
      <p:bldP spid="28" grpId="0" animBg="1"/>
      <p:bldP spid="29" grpId="0" animBg="1"/>
      <p:bldP spid="64" grpId="0"/>
      <p:bldP spid="67" grpId="0"/>
      <p:bldP spid="72" grpId="0"/>
      <p:bldP spid="81" grpId="0"/>
      <p:bldP spid="111" grpId="0"/>
      <p:bldP spid="119" grpId="0"/>
      <p:bldP spid="124" grpId="0"/>
      <p:bldP spid="134" grpId="0"/>
      <p:bldP spid="141" grpId="0"/>
      <p:bldP spid="14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Beauty of It</a:t>
            </a:r>
            <a:r>
              <a:rPr lang="mr-IN" dirty="0"/>
              <a:t>…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400" dirty="0"/>
              <a:t>We only had to implement these two functions</a:t>
            </a:r>
            <a:r>
              <a:rPr lang="mr-IN" sz="2400" dirty="0"/>
              <a:t>…</a:t>
            </a:r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r>
              <a:rPr lang="en-GB" sz="2400" dirty="0"/>
              <a:t>MapReduce takes care of everything else:</a:t>
            </a:r>
          </a:p>
          <a:p>
            <a:pPr lvl="1"/>
            <a:r>
              <a:rPr lang="en-GB" sz="2000" dirty="0"/>
              <a:t>Parallel execution, including allocation of Map/Reduce to machines</a:t>
            </a:r>
          </a:p>
          <a:p>
            <a:pPr lvl="1"/>
            <a:r>
              <a:rPr lang="en-GB" sz="2000" dirty="0"/>
              <a:t>Failure</a:t>
            </a:r>
            <a:endParaRPr lang="en-US" sz="20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15</a:t>
            </a:fld>
            <a:endParaRPr lang="en-GB"/>
          </a:p>
        </p:txBody>
      </p:sp>
      <p:grpSp>
        <p:nvGrpSpPr>
          <p:cNvPr id="6" name="Group 5"/>
          <p:cNvGrpSpPr/>
          <p:nvPr/>
        </p:nvGrpSpPr>
        <p:grpSpPr>
          <a:xfrm>
            <a:off x="1985720" y="2378149"/>
            <a:ext cx="3888432" cy="1296144"/>
            <a:chOff x="2915816" y="2276872"/>
            <a:chExt cx="3888432" cy="1296144"/>
          </a:xfrm>
        </p:grpSpPr>
        <p:sp>
          <p:nvSpPr>
            <p:cNvPr id="7" name="Rectangle 6"/>
            <p:cNvSpPr/>
            <p:nvPr/>
          </p:nvSpPr>
          <p:spPr>
            <a:xfrm>
              <a:off x="2915816" y="2276872"/>
              <a:ext cx="3888432" cy="1296144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144000" tIns="144000" rIns="144000" bIns="144000" rtlCol="0" anchor="t"/>
            <a:lstStyle/>
            <a:p>
              <a:r>
                <a:rPr lang="en-US" b="1" dirty="0"/>
                <a:t>Map</a:t>
              </a:r>
              <a:r>
                <a:rPr lang="en-US" dirty="0"/>
                <a:t>(String </a:t>
              </a:r>
              <a:r>
                <a:rPr lang="en-US" b="1" dirty="0" err="1"/>
                <a:t>filepath</a:t>
              </a:r>
              <a:r>
                <a:rPr lang="en-US" dirty="0"/>
                <a:t>, String </a:t>
              </a:r>
              <a:r>
                <a:rPr lang="en-US" b="1" dirty="0"/>
                <a:t>contents</a:t>
              </a:r>
              <a:r>
                <a:rPr lang="en-US" dirty="0"/>
                <a:t>):</a:t>
              </a:r>
            </a:p>
            <a:p>
              <a:endParaRPr lang="en-US" dirty="0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203848" y="2731210"/>
              <a:ext cx="2952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for each word </a:t>
              </a:r>
              <a:r>
                <a:rPr lang="en-US" b="1" dirty="0"/>
                <a:t>w</a:t>
              </a:r>
              <a:r>
                <a:rPr lang="en-US" dirty="0"/>
                <a:t> in </a:t>
              </a:r>
              <a:r>
                <a:rPr lang="en-US" b="1" dirty="0"/>
                <a:t>contents</a:t>
              </a:r>
              <a:r>
                <a:rPr lang="en-US" dirty="0"/>
                <a:t>: 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550933" y="3111811"/>
              <a:ext cx="20004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output pair (w, “1”)</a:t>
              </a: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5669776" y="2657084"/>
            <a:ext cx="4536504" cy="2107646"/>
            <a:chOff x="2411760" y="2617498"/>
            <a:chExt cx="4536504" cy="2107646"/>
          </a:xfrm>
        </p:grpSpPr>
        <p:sp>
          <p:nvSpPr>
            <p:cNvPr id="11" name="Rectangle 10"/>
            <p:cNvSpPr/>
            <p:nvPr/>
          </p:nvSpPr>
          <p:spPr>
            <a:xfrm>
              <a:off x="2411760" y="2617498"/>
              <a:ext cx="4536504" cy="210764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144000" tIns="144000" rIns="144000" bIns="144000" rtlCol="0" anchor="t"/>
            <a:lstStyle/>
            <a:p>
              <a:r>
                <a:rPr lang="en-US" b="1" dirty="0"/>
                <a:t>Reduce</a:t>
              </a:r>
              <a:r>
                <a:rPr lang="en-US" dirty="0"/>
                <a:t>(String </a:t>
              </a:r>
              <a:r>
                <a:rPr lang="en-US" b="1" dirty="0"/>
                <a:t>word</a:t>
              </a:r>
              <a:r>
                <a:rPr lang="en-US" dirty="0"/>
                <a:t>, Iterator&lt;String&gt; </a:t>
              </a:r>
              <a:r>
                <a:rPr lang="en-US" b="1" dirty="0"/>
                <a:t>values</a:t>
              </a:r>
              <a:r>
                <a:rPr lang="en-US" dirty="0"/>
                <a:t>):</a:t>
              </a:r>
            </a:p>
            <a:p>
              <a:endParaRPr lang="en-US" dirty="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699792" y="3429000"/>
              <a:ext cx="21148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for each </a:t>
              </a:r>
              <a:r>
                <a:rPr lang="en-US" b="1" dirty="0"/>
                <a:t>v</a:t>
              </a:r>
              <a:r>
                <a:rPr lang="en-US" dirty="0"/>
                <a:t> in </a:t>
              </a:r>
              <a:r>
                <a:rPr lang="en-US" b="1" dirty="0"/>
                <a:t>values</a:t>
              </a:r>
              <a:r>
                <a:rPr lang="en-US" dirty="0"/>
                <a:t>: 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046877" y="3809601"/>
              <a:ext cx="27709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count = count + </a:t>
              </a:r>
              <a:r>
                <a:rPr lang="en-US" dirty="0" err="1"/>
                <a:t>parseInt</a:t>
              </a:r>
              <a:r>
                <a:rPr lang="en-US" dirty="0"/>
                <a:t>(v)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694016" y="3059668"/>
              <a:ext cx="136171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int</a:t>
              </a:r>
              <a:r>
                <a:rPr lang="en-US" dirty="0"/>
                <a:t> </a:t>
              </a:r>
              <a:r>
                <a:rPr lang="en-US" b="1" dirty="0"/>
                <a:t>count</a:t>
              </a:r>
              <a:r>
                <a:rPr lang="en-US" dirty="0"/>
                <a:t> = 0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694016" y="4176830"/>
              <a:ext cx="34740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output pair (</a:t>
              </a:r>
              <a:r>
                <a:rPr lang="en-US" b="1" dirty="0"/>
                <a:t>word</a:t>
              </a:r>
              <a:r>
                <a:rPr lang="en-US" dirty="0"/>
                <a:t>, </a:t>
              </a:r>
              <a:r>
                <a:rPr lang="en-US" dirty="0" err="1"/>
                <a:t>toString</a:t>
              </a:r>
              <a:r>
                <a:rPr lang="en-US" dirty="0"/>
                <a:t>(</a:t>
              </a:r>
              <a:r>
                <a:rPr lang="en-US" b="1" dirty="0"/>
                <a:t>count</a:t>
              </a:r>
              <a:r>
                <a:rPr lang="en-US" dirty="0"/>
                <a:t>))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344223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19DF6-9D45-49B5-93E4-98E825395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16338-4787-401F-A349-EAC00CB270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MapReduce (or Hadoop) is a powerful tool to deal with divide and conquer style problems</a:t>
            </a: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CF1DAE4E-D6FB-4A14-9410-3EEE553E5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C260D5AD-280D-4F23-8F09-5CDE2943111F}" type="slidenum">
              <a:rPr lang="en-GB" smtClean="0"/>
              <a:pPr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430648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0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2.5|6.6|27.8|13.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.7|29.4|9.8|11.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|30.2|5.7|3.4|2.9|11.1|30.5|3.5|1.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0.7|11.8|18.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4.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3|9.8|7.6|4.4|8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3.3|47.8|11.7|3.8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9|10.1|40.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2.3|67.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7|11.1|4.6|3.5|32.1|13.6|7.3"/>
</p:tagLst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48</TotalTime>
  <Words>1227</Words>
  <Application>Microsoft Office PowerPoint</Application>
  <PresentationFormat>Widescreen</PresentationFormat>
  <Paragraphs>191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Calibri</vt:lpstr>
      <vt:lpstr>Calibri Light</vt:lpstr>
      <vt:lpstr>Cambria Math</vt:lpstr>
      <vt:lpstr>Retrospect</vt:lpstr>
      <vt:lpstr>Basics of MapReduce</vt:lpstr>
      <vt:lpstr>Overview over this video</vt:lpstr>
      <vt:lpstr>Relational Databases are Powerful</vt:lpstr>
      <vt:lpstr>Importance of Web Pages</vt:lpstr>
      <vt:lpstr>Finding Patterns in Large Datasets</vt:lpstr>
      <vt:lpstr>Divide and Conquer</vt:lpstr>
      <vt:lpstr>MapReduce</vt:lpstr>
      <vt:lpstr>PowerPoint Presentation</vt:lpstr>
      <vt:lpstr>The Task</vt:lpstr>
      <vt:lpstr>How To Do This In MapReduce?</vt:lpstr>
      <vt:lpstr>The Map Function</vt:lpstr>
      <vt:lpstr>Grouping</vt:lpstr>
      <vt:lpstr>The Reduce Function</vt:lpstr>
      <vt:lpstr>Putting Things Together</vt:lpstr>
      <vt:lpstr>The Beauty of It…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Basics of MapReduce</dc:title>
  <dc:creator>Rasmus Ibsen-Jensen</dc:creator>
  <cp:lastModifiedBy>Rasmus Ibsen-Jensen</cp:lastModifiedBy>
  <cp:revision>6</cp:revision>
  <dcterms:created xsi:type="dcterms:W3CDTF">2020-11-21T18:54:48Z</dcterms:created>
  <dcterms:modified xsi:type="dcterms:W3CDTF">2020-11-24T17:32:44Z</dcterms:modified>
</cp:coreProperties>
</file>