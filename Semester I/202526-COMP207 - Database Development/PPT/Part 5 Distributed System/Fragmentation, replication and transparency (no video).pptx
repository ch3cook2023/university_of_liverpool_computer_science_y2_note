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46" r:id="rId3"/>
    <p:sldId id="435" r:id="rId4"/>
    <p:sldId id="436" r:id="rId5"/>
    <p:sldId id="440" r:id="rId6"/>
    <p:sldId id="438" r:id="rId7"/>
    <p:sldId id="444" r:id="rId8"/>
    <p:sldId id="443" r:id="rId9"/>
    <p:sldId id="447" r:id="rId10"/>
    <p:sldId id="445" r:id="rId11"/>
    <p:sldId id="44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24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38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21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58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54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75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32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06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94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513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B39DC6-96AD-4944-BDF3-78C2AE07C3A2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A5C2EE2-DE76-415D-ACCC-70BF291309D8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31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D1B6-6827-4360-BC20-CB8769ADF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Fragmentation, replication and transparency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611F8-E46B-47D8-8CD9-D759ECD3C9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952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15C2E-F797-4936-9723-E3E5CEE1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401A-FC4A-4EE9-A6AF-9B185ADD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video covers transparency, i.e. things that the DDBMS (distributed DMBS – distributed database management system) keeps hidden from people accessing the database</a:t>
            </a:r>
          </a:p>
          <a:p>
            <a:pPr lvl="1"/>
            <a:r>
              <a:rPr lang="en-US" dirty="0"/>
              <a:t>Fragmentation and replication from the title are important examples of such</a:t>
            </a:r>
          </a:p>
          <a:p>
            <a:pPr lvl="1"/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062B43D-E9F8-4253-B31A-15FA93EA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05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89210"/>
          </a:xfrm>
        </p:spPr>
        <p:txBody>
          <a:bodyPr>
            <a:normAutofit/>
          </a:bodyPr>
          <a:lstStyle/>
          <a:p>
            <a:r>
              <a:rPr lang="en-US" sz="2400" dirty="0"/>
              <a:t>Split database into different parts that can then be stored at different nodes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Users don’t see fragments, just the full relations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795331" y="3188197"/>
            <a:ext cx="1872208" cy="23042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77202" y="2507870"/>
            <a:ext cx="340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Horizontal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5635" y="31345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600486" y="3941820"/>
            <a:ext cx="22691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600486" y="4340325"/>
            <a:ext cx="22691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596837" y="5060487"/>
            <a:ext cx="22691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05432" y="3397074"/>
            <a:ext cx="1252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Fragment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5432" y="3948658"/>
            <a:ext cx="1252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Fragment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0024" y="4510696"/>
            <a:ext cx="1252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Fragment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8347" y="5091804"/>
            <a:ext cx="1252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Fragment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2442" y="3188197"/>
            <a:ext cx="1872208" cy="23042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640692" y="2507870"/>
            <a:ext cx="3055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Vertical fragmentation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2746" y="31345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</a:t>
            </a:r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7980052" y="3011925"/>
            <a:ext cx="0" cy="265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8484108" y="3011925"/>
            <a:ext cx="0" cy="265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8772140" y="3011925"/>
            <a:ext cx="0" cy="265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ular Callout 36"/>
          <p:cNvSpPr/>
          <p:nvPr/>
        </p:nvSpPr>
        <p:spPr>
          <a:xfrm>
            <a:off x="1980036" y="3900873"/>
            <a:ext cx="1410053" cy="660758"/>
          </a:xfrm>
          <a:prstGeom prst="wedgeRoundRectCallout">
            <a:avLst>
              <a:gd name="adj1" fmla="val 60500"/>
              <a:gd name="adj2" fmla="val -2205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Fragments </a:t>
            </a:r>
            <a:br>
              <a:rPr lang="en-US" dirty="0"/>
            </a:br>
            <a:r>
              <a:rPr lang="en-US" dirty="0"/>
              <a:t>may overlap</a:t>
            </a:r>
          </a:p>
        </p:txBody>
      </p:sp>
      <p:sp>
        <p:nvSpPr>
          <p:cNvPr id="38" name="Rounded Rectangular Callout 37"/>
          <p:cNvSpPr/>
          <p:nvPr/>
        </p:nvSpPr>
        <p:spPr>
          <a:xfrm>
            <a:off x="7497257" y="5819402"/>
            <a:ext cx="1772192" cy="615542"/>
          </a:xfrm>
          <a:prstGeom prst="wedgeRoundRectCallout">
            <a:avLst>
              <a:gd name="adj1" fmla="val -62683"/>
              <a:gd name="adj2" fmla="val -1260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“Fragmentation transparency”</a:t>
            </a:r>
          </a:p>
        </p:txBody>
      </p:sp>
      <p:sp>
        <p:nvSpPr>
          <p:cNvPr id="40" name="Rounded Rectangular Callout 39"/>
          <p:cNvSpPr/>
          <p:nvPr/>
        </p:nvSpPr>
        <p:spPr>
          <a:xfrm>
            <a:off x="5004846" y="2145891"/>
            <a:ext cx="1325386" cy="383218"/>
          </a:xfrm>
          <a:prstGeom prst="wedgeRoundRectCallout">
            <a:avLst>
              <a:gd name="adj1" fmla="val -21600"/>
              <a:gd name="adj2" fmla="val 8531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</a:t>
            </a:r>
            <a:r>
              <a:rPr lang="en-US" dirty="0" err="1"/>
              <a:t>Sharding</a:t>
            </a:r>
            <a:r>
              <a:rPr lang="en-US" dirty="0"/>
              <a:t>”</a:t>
            </a:r>
          </a:p>
        </p:txBody>
      </p:sp>
      <p:sp>
        <p:nvSpPr>
          <p:cNvPr id="25" name="Rounded Rectangular Callout 36">
            <a:extLst>
              <a:ext uri="{FF2B5EF4-FFF2-40B4-BE49-F238E27FC236}">
                <a16:creationId xmlns:a16="http://schemas.microsoft.com/office/drawing/2014/main" id="{94234541-F54B-42FC-93C9-02AE6E148D9F}"/>
              </a:ext>
            </a:extLst>
          </p:cNvPr>
          <p:cNvSpPr/>
          <p:nvPr/>
        </p:nvSpPr>
        <p:spPr>
          <a:xfrm>
            <a:off x="9558760" y="3581739"/>
            <a:ext cx="2100975" cy="758585"/>
          </a:xfrm>
          <a:prstGeom prst="wedgeRoundRectCallout">
            <a:avLst>
              <a:gd name="adj1" fmla="val -76917"/>
              <a:gd name="adj2" fmla="val 1583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Fragments </a:t>
            </a:r>
            <a:br>
              <a:rPr lang="en-US" dirty="0"/>
            </a:br>
            <a:r>
              <a:rPr lang="en-US" dirty="0"/>
              <a:t>typically should  overlap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375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37" grpId="0" animBg="1"/>
      <p:bldP spid="38" grpId="0" animBg="1"/>
      <p:bldP spid="40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Fragmentation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The chain of stores from our running example might jointly</a:t>
            </a:r>
            <a:br>
              <a:rPr lang="en-US" sz="2400" dirty="0"/>
            </a:br>
            <a:r>
              <a:rPr lang="en-US" sz="2400" dirty="0"/>
              <a:t>store the Transaction relation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spcBef>
                <a:spcPts val="672"/>
              </a:spcBef>
            </a:pPr>
            <a:endParaRPr lang="en-US" sz="2400" dirty="0"/>
          </a:p>
          <a:p>
            <a:pPr>
              <a:spcBef>
                <a:spcPts val="1872"/>
              </a:spcBef>
            </a:pPr>
            <a:r>
              <a:rPr lang="en-US" sz="2400" dirty="0"/>
              <a:t>Each site stores a relation that contains a subset of the tuples</a:t>
            </a:r>
          </a:p>
          <a:p>
            <a:pPr>
              <a:spcBef>
                <a:spcPts val="672"/>
              </a:spcBef>
            </a:pPr>
            <a:r>
              <a:rPr lang="en-US" sz="2400" dirty="0">
                <a:sym typeface="Wingdings"/>
              </a:rPr>
              <a:t>Entire relation = union of relations at the different sites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617235"/>
              </p:ext>
            </p:extLst>
          </p:nvPr>
        </p:nvGraphicFramePr>
        <p:xfrm>
          <a:off x="2334781" y="2402218"/>
          <a:ext cx="6096000" cy="259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2020-07-10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643682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2020-11-15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855321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2020-11-22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934342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2020-04-03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324456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2018-05-07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77891" y="2774389"/>
            <a:ext cx="125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@Liverpool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7892" y="3162914"/>
            <a:ext cx="1513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@Manchester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7892" y="3549226"/>
            <a:ext cx="1513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@Manchester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1659" y="3901820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@London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6476" y="4269049"/>
            <a:ext cx="125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@Liverpool</a:t>
            </a:r>
          </a:p>
        </p:txBody>
      </p:sp>
      <p:cxnSp>
        <p:nvCxnSpPr>
          <p:cNvPr id="15" name="Straight Arrow Connector 14"/>
          <p:cNvCxnSpPr>
            <a:stCxn id="9" idx="1"/>
          </p:cNvCxnSpPr>
          <p:nvPr/>
        </p:nvCxnSpPr>
        <p:spPr>
          <a:xfrm flipH="1">
            <a:off x="8518885" y="3347580"/>
            <a:ext cx="259006" cy="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1"/>
          </p:cNvCxnSpPr>
          <p:nvPr/>
        </p:nvCxnSpPr>
        <p:spPr>
          <a:xfrm flipH="1">
            <a:off x="8522845" y="3733892"/>
            <a:ext cx="255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8518884" y="4099017"/>
            <a:ext cx="25504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8527469" y="4451252"/>
            <a:ext cx="268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527470" y="2978282"/>
            <a:ext cx="259007" cy="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ounded Rectangular Callout 33"/>
          <p:cNvSpPr/>
          <p:nvPr/>
        </p:nvSpPr>
        <p:spPr>
          <a:xfrm>
            <a:off x="8724800" y="1792978"/>
            <a:ext cx="1619672" cy="648237"/>
          </a:xfrm>
          <a:prstGeom prst="wedgeRoundRectCallout">
            <a:avLst>
              <a:gd name="adj1" fmla="val -62732"/>
              <a:gd name="adj2" fmla="val 3953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Does not exist</a:t>
            </a:r>
          </a:p>
          <a:p>
            <a:pPr algn="ctr"/>
            <a:r>
              <a:rPr lang="en-US" dirty="0"/>
              <a:t>physically!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529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Fragmentation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Typically, tuples stored at different sites can be distinguished </a:t>
            </a:r>
          </a:p>
          <a:p>
            <a:pPr lvl="1"/>
            <a:r>
              <a:rPr lang="en-US" sz="2000" dirty="0"/>
              <a:t>by the value of one or a few attributes; or</a:t>
            </a:r>
          </a:p>
          <a:p>
            <a:pPr lvl="1"/>
            <a:r>
              <a:rPr lang="en-US" sz="2000" dirty="0"/>
              <a:t>by other conditions that are easy to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660027"/>
              </p:ext>
            </p:extLst>
          </p:nvPr>
        </p:nvGraphicFramePr>
        <p:xfrm>
          <a:off x="2423593" y="3284984"/>
          <a:ext cx="7433625" cy="259228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8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248"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Liverpool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2020-07-10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643682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Manchester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2020-11-15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855321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Manchester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2020-11-22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934342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2020-04-03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324456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Liverpool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2018-05-07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>
            <a:off x="2756030" y="2918901"/>
            <a:ext cx="1" cy="217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4254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Vertical Fragmentation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61405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The stores might also jointly store a relation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>
                  <a:spcBef>
                    <a:spcPts val="4272"/>
                  </a:spcBef>
                </a:pPr>
                <a:r>
                  <a:rPr lang="en-US" sz="2400" dirty="0"/>
                  <a:t>Original relation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sz="2400" dirty="0"/>
                  <a:t> join of the fragments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614051"/>
              </a:xfrm>
              <a:blipFill>
                <a:blip r:embed="rId5"/>
                <a:stretch>
                  <a:fillRect l="-788" t="-2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592738"/>
              </p:ext>
            </p:extLst>
          </p:nvPr>
        </p:nvGraphicFramePr>
        <p:xfrm>
          <a:off x="3095680" y="2151153"/>
          <a:ext cx="6096000" cy="1366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Cheese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Bread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52559" y="3856673"/>
            <a:ext cx="2159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Stored at other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6718" y="3856673"/>
            <a:ext cx="167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@Central Office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139909"/>
              </p:ext>
            </p:extLst>
          </p:nvPr>
        </p:nvGraphicFramePr>
        <p:xfrm>
          <a:off x="2248918" y="4334378"/>
          <a:ext cx="2808312" cy="1366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Cheese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Bread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453255"/>
              </p:ext>
            </p:extLst>
          </p:nvPr>
        </p:nvGraphicFramePr>
        <p:xfrm>
          <a:off x="6169485" y="4232744"/>
          <a:ext cx="3816424" cy="1366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t_id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c_id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Cheese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1245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Bread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>
            <a:cxnSpLocks/>
          </p:cNvCxnSpPr>
          <p:nvPr/>
        </p:nvCxnSpPr>
        <p:spPr>
          <a:xfrm flipV="1">
            <a:off x="4827802" y="3819890"/>
            <a:ext cx="334150" cy="294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Rounded Rectangular Callout 30"/>
          <p:cNvSpPr/>
          <p:nvPr/>
        </p:nvSpPr>
        <p:spPr>
          <a:xfrm>
            <a:off x="9429327" y="2167193"/>
            <a:ext cx="1619672" cy="648237"/>
          </a:xfrm>
          <a:prstGeom prst="wedgeRoundRectCallout">
            <a:avLst>
              <a:gd name="adj1" fmla="val -58969"/>
              <a:gd name="adj2" fmla="val 7560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Does not exist</a:t>
            </a:r>
          </a:p>
          <a:p>
            <a:pPr algn="ctr"/>
            <a:r>
              <a:rPr lang="en-US" dirty="0"/>
              <a:t>physically!</a:t>
            </a:r>
          </a:p>
        </p:txBody>
      </p:sp>
      <p:cxnSp>
        <p:nvCxnSpPr>
          <p:cNvPr id="36" name="Straight Arrow Connector 35"/>
          <p:cNvCxnSpPr>
            <a:cxnSpLocks/>
          </p:cNvCxnSpPr>
          <p:nvPr/>
        </p:nvCxnSpPr>
        <p:spPr>
          <a:xfrm flipH="1" flipV="1">
            <a:off x="6036555" y="3819890"/>
            <a:ext cx="334150" cy="294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Rounded Rectangular Callout 30">
            <a:extLst>
              <a:ext uri="{FF2B5EF4-FFF2-40B4-BE49-F238E27FC236}">
                <a16:creationId xmlns:a16="http://schemas.microsoft.com/office/drawing/2014/main" id="{29757A1C-240A-4BEF-8A24-EF08E0521066}"/>
              </a:ext>
            </a:extLst>
          </p:cNvPr>
          <p:cNvSpPr/>
          <p:nvPr/>
        </p:nvSpPr>
        <p:spPr>
          <a:xfrm>
            <a:off x="10311229" y="4512158"/>
            <a:ext cx="1684439" cy="807731"/>
          </a:xfrm>
          <a:prstGeom prst="wedgeRoundRectCallout">
            <a:avLst>
              <a:gd name="adj1" fmla="val -62898"/>
              <a:gd name="adj2" fmla="val 483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could then be horizontally </a:t>
            </a:r>
            <a:r>
              <a:rPr lang="en-US" dirty="0" err="1"/>
              <a:t>fragemented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32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31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Redundancy Improves Resilience</a:t>
            </a:r>
          </a:p>
        </p:txBody>
      </p:sp>
      <p:sp>
        <p:nvSpPr>
          <p:cNvPr id="56" name="Content Placeholder 34"/>
          <p:cNvSpPr>
            <a:spLocks noGrp="1"/>
          </p:cNvSpPr>
          <p:nvPr>
            <p:ph idx="1"/>
          </p:nvPr>
        </p:nvSpPr>
        <p:spPr>
          <a:xfrm>
            <a:off x="1981200" y="5415435"/>
            <a:ext cx="8229600" cy="1370769"/>
          </a:xfrm>
        </p:spPr>
        <p:txBody>
          <a:bodyPr>
            <a:normAutofit/>
          </a:bodyPr>
          <a:lstStyle/>
          <a:p>
            <a:r>
              <a:rPr lang="en-US" sz="2400" dirty="0"/>
              <a:t>Other sites keep copies of fragment stored at Manchester</a:t>
            </a:r>
          </a:p>
          <a:p>
            <a:r>
              <a:rPr lang="en-US" sz="2400" dirty="0"/>
              <a:t>Allows us to answer queries involving data from Manchester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3855491" y="2806891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28561" y="2208745"/>
            <a:ext cx="1368152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Manchester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7540729" y="3815003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38" name="Picture 37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603" y="2028727"/>
            <a:ext cx="864095" cy="864095"/>
          </a:xfrm>
          <a:prstGeom prst="rect">
            <a:avLst/>
          </a:prstGeom>
        </p:spPr>
      </p:pic>
      <p:pic>
        <p:nvPicPr>
          <p:cNvPr id="39" name="Picture 38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494" y="2626872"/>
            <a:ext cx="864095" cy="864095"/>
          </a:xfrm>
          <a:prstGeom prst="rect">
            <a:avLst/>
          </a:prstGeom>
        </p:spPr>
      </p:pic>
      <p:pic>
        <p:nvPicPr>
          <p:cNvPr id="40" name="Picture 39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866" y="3634984"/>
            <a:ext cx="864095" cy="864095"/>
          </a:xfrm>
          <a:prstGeom prst="rect">
            <a:avLst/>
          </a:prstGeom>
        </p:spPr>
      </p:pic>
      <p:cxnSp>
        <p:nvCxnSpPr>
          <p:cNvPr id="41" name="Straight Connector 40"/>
          <p:cNvCxnSpPr>
            <a:endCxn id="44" idx="1"/>
          </p:cNvCxnSpPr>
          <p:nvPr/>
        </p:nvCxnSpPr>
        <p:spPr>
          <a:xfrm flipV="1">
            <a:off x="4943871" y="2460773"/>
            <a:ext cx="1084690" cy="346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7050507" y="2712801"/>
            <a:ext cx="850263" cy="1102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45" idx="1"/>
          </p:cNvCxnSpPr>
          <p:nvPr/>
        </p:nvCxnSpPr>
        <p:spPr>
          <a:xfrm flipH="1" flipV="1">
            <a:off x="4943871" y="3318627"/>
            <a:ext cx="2596858" cy="748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4" idx="3"/>
            <a:endCxn id="47" idx="1"/>
          </p:cNvCxnSpPr>
          <p:nvPr/>
        </p:nvCxnSpPr>
        <p:spPr>
          <a:xfrm>
            <a:off x="7396714" y="2460774"/>
            <a:ext cx="226889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8" idx="3"/>
            <a:endCxn id="43" idx="1"/>
          </p:cNvCxnSpPr>
          <p:nvPr/>
        </p:nvCxnSpPr>
        <p:spPr>
          <a:xfrm>
            <a:off x="3656589" y="3058919"/>
            <a:ext cx="19890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45" idx="3"/>
            <a:endCxn id="49" idx="1"/>
          </p:cNvCxnSpPr>
          <p:nvPr/>
        </p:nvCxnSpPr>
        <p:spPr>
          <a:xfrm>
            <a:off x="8620849" y="4067031"/>
            <a:ext cx="14401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3" y="4067031"/>
            <a:ext cx="864095" cy="864095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943871" y="4197609"/>
            <a:ext cx="923274" cy="6029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4727847" y="4499078"/>
            <a:ext cx="21602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867145" y="4226408"/>
            <a:ext cx="1669014" cy="272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 flipV="1">
            <a:off x="4708422" y="3318627"/>
            <a:ext cx="438644" cy="87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771483" y="2712801"/>
            <a:ext cx="689126" cy="14848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ight Arrow 56"/>
          <p:cNvSpPr/>
          <p:nvPr/>
        </p:nvSpPr>
        <p:spPr>
          <a:xfrm rot="11466760">
            <a:off x="5998346" y="4735280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6460609" y="4796655"/>
            <a:ext cx="3282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Query about sales in Manchester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38661" y="1879609"/>
            <a:ext cx="150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System failure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7510980" y="1839461"/>
            <a:ext cx="1067565" cy="1076658"/>
            <a:chOff x="6922443" y="2636912"/>
            <a:chExt cx="1198419" cy="1208628"/>
          </a:xfrm>
        </p:grpSpPr>
        <p:cxnSp>
          <p:nvCxnSpPr>
            <p:cNvPr id="61" name="Straight Connector 60"/>
            <p:cNvCxnSpPr/>
            <p:nvPr/>
          </p:nvCxnSpPr>
          <p:spPr>
            <a:xfrm flipH="1">
              <a:off x="6937781" y="2636912"/>
              <a:ext cx="1183081" cy="1208628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6922443" y="2636912"/>
              <a:ext cx="1183081" cy="1208628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155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Redundancy Increases Efficiency</a:t>
            </a:r>
          </a:p>
        </p:txBody>
      </p:sp>
      <p:sp>
        <p:nvSpPr>
          <p:cNvPr id="35" name="Content Placeholder 34"/>
          <p:cNvSpPr>
            <a:spLocks noGrp="1"/>
          </p:cNvSpPr>
          <p:nvPr>
            <p:ph idx="1"/>
          </p:nvPr>
        </p:nvSpPr>
        <p:spPr>
          <a:xfrm>
            <a:off x="1981200" y="5077483"/>
            <a:ext cx="8229600" cy="1370769"/>
          </a:xfrm>
        </p:spPr>
        <p:txBody>
          <a:bodyPr>
            <a:normAutofit/>
          </a:bodyPr>
          <a:lstStyle/>
          <a:p>
            <a:r>
              <a:rPr lang="en-US" sz="2400" dirty="0"/>
              <a:t>Other sites keep copies of data about suppliers</a:t>
            </a:r>
          </a:p>
          <a:p>
            <a:r>
              <a:rPr lang="en-US" sz="2400" dirty="0"/>
              <a:t>Allows stores to answer queries involving suppliers without establishing a connection to the central office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855491" y="2774234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28561" y="2176088"/>
            <a:ext cx="1368152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Manchester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540729" y="3782346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8" name="Picture 7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603" y="1996070"/>
            <a:ext cx="864095" cy="864095"/>
          </a:xfrm>
          <a:prstGeom prst="rect">
            <a:avLst/>
          </a:prstGeom>
        </p:spPr>
      </p:pic>
      <p:pic>
        <p:nvPicPr>
          <p:cNvPr id="9" name="Picture 8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494" y="2594215"/>
            <a:ext cx="864095" cy="864095"/>
          </a:xfrm>
          <a:prstGeom prst="rect">
            <a:avLst/>
          </a:prstGeom>
        </p:spPr>
      </p:pic>
      <p:pic>
        <p:nvPicPr>
          <p:cNvPr id="10" name="Picture 9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866" y="3602327"/>
            <a:ext cx="864095" cy="864095"/>
          </a:xfrm>
          <a:prstGeom prst="rect">
            <a:avLst/>
          </a:prstGeom>
        </p:spPr>
      </p:pic>
      <p:cxnSp>
        <p:nvCxnSpPr>
          <p:cNvPr id="11" name="Straight Connector 10"/>
          <p:cNvCxnSpPr>
            <a:endCxn id="11" idx="1"/>
          </p:cNvCxnSpPr>
          <p:nvPr/>
        </p:nvCxnSpPr>
        <p:spPr>
          <a:xfrm flipV="1">
            <a:off x="4943871" y="2428116"/>
            <a:ext cx="1084690" cy="346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7050507" y="2680144"/>
            <a:ext cx="850263" cy="1102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2" idx="1"/>
          </p:cNvCxnSpPr>
          <p:nvPr/>
        </p:nvCxnSpPr>
        <p:spPr>
          <a:xfrm flipH="1" flipV="1">
            <a:off x="4943871" y="3285970"/>
            <a:ext cx="2596858" cy="748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1" idx="3"/>
            <a:endCxn id="14" idx="1"/>
          </p:cNvCxnSpPr>
          <p:nvPr/>
        </p:nvCxnSpPr>
        <p:spPr>
          <a:xfrm>
            <a:off x="7396714" y="2428117"/>
            <a:ext cx="226889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5" idx="3"/>
            <a:endCxn id="10" idx="1"/>
          </p:cNvCxnSpPr>
          <p:nvPr/>
        </p:nvCxnSpPr>
        <p:spPr>
          <a:xfrm>
            <a:off x="3656589" y="3026262"/>
            <a:ext cx="19890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2" idx="3"/>
            <a:endCxn id="16" idx="1"/>
          </p:cNvCxnSpPr>
          <p:nvPr/>
        </p:nvCxnSpPr>
        <p:spPr>
          <a:xfrm>
            <a:off x="8620849" y="4034374"/>
            <a:ext cx="14401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3" y="4034374"/>
            <a:ext cx="864095" cy="86409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43871" y="4164952"/>
            <a:ext cx="923274" cy="6029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4727847" y="4466421"/>
            <a:ext cx="21602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5867145" y="4193751"/>
            <a:ext cx="1669014" cy="272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4708422" y="3285970"/>
            <a:ext cx="438644" cy="87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5771483" y="2680144"/>
            <a:ext cx="689126" cy="14848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 rot="5400000">
            <a:off x="3013078" y="2114734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2092564" y="1761289"/>
            <a:ext cx="2263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Query about suppliers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2364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79EC-3E34-4220-B5AD-FF55AA55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3FADB-6D4D-4CA4-85E8-47470CAA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Controls how many sites keep a copy of a fragment</a:t>
            </a:r>
          </a:p>
          <a:p>
            <a:r>
              <a:rPr lang="en-US" b="1" dirty="0"/>
              <a:t>Full replication</a:t>
            </a:r>
            <a:endParaRPr lang="en-US" dirty="0"/>
          </a:p>
          <a:p>
            <a:pPr lvl="1"/>
            <a:r>
              <a:rPr lang="en-US" dirty="0"/>
              <a:t>Each fragment stored at every site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sym typeface="Wingdings"/>
              </a:rPr>
              <a:t> there are no fragments)</a:t>
            </a:r>
            <a:endParaRPr lang="en-US" dirty="0"/>
          </a:p>
          <a:p>
            <a:pPr lvl="1"/>
            <a:r>
              <a:rPr lang="en-US" dirty="0"/>
              <a:t>Faster query answering</a:t>
            </a:r>
          </a:p>
          <a:p>
            <a:pPr lvl="1"/>
            <a:r>
              <a:rPr lang="en-US" dirty="0"/>
              <a:t>Very slow updates:</a:t>
            </a:r>
            <a:br>
              <a:rPr lang="en-US" dirty="0"/>
            </a:br>
            <a:r>
              <a:rPr lang="en-US" dirty="0"/>
              <a:t>consider </a:t>
            </a:r>
            <a:r>
              <a:rPr lang="en-US" i="1" dirty="0"/>
              <a:t>every</a:t>
            </a:r>
            <a:r>
              <a:rPr lang="en-US" dirty="0"/>
              <a:t> copy</a:t>
            </a:r>
          </a:p>
          <a:p>
            <a:r>
              <a:rPr lang="en-US" b="1" dirty="0"/>
              <a:t>No replication</a:t>
            </a:r>
          </a:p>
          <a:p>
            <a:pPr lvl="1"/>
            <a:r>
              <a:rPr lang="en-US" dirty="0"/>
              <a:t>Each fragment stored at</a:t>
            </a:r>
            <a:br>
              <a:rPr lang="en-US" dirty="0"/>
            </a:br>
            <a:r>
              <a:rPr lang="en-US" dirty="0"/>
              <a:t>a unique site</a:t>
            </a:r>
          </a:p>
          <a:p>
            <a:pPr lvl="1"/>
            <a:r>
              <a:rPr lang="en-US" dirty="0"/>
              <a:t>Crashes are a big problem…</a:t>
            </a:r>
          </a:p>
          <a:p>
            <a:r>
              <a:rPr lang="en-US" dirty="0"/>
              <a:t>Wide spectrum of </a:t>
            </a:r>
            <a:r>
              <a:rPr lang="en-US" b="1" dirty="0"/>
              <a:t>partial replication</a:t>
            </a:r>
          </a:p>
          <a:p>
            <a:pPr lvl="1"/>
            <a:r>
              <a:rPr lang="en-US" dirty="0"/>
              <a:t>Limit number of copies of each fragment </a:t>
            </a:r>
          </a:p>
          <a:p>
            <a:pPr lvl="1"/>
            <a:r>
              <a:rPr lang="en-US" dirty="0"/>
              <a:t>Replicate only some fragments, </a:t>
            </a:r>
            <a:r>
              <a:rPr lang="mr-IN" dirty="0"/>
              <a:t>…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67AE4-9D79-42D9-AB29-7EE02851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5" name="Picture 4" descr="A database">
            <a:extLst>
              <a:ext uri="{FF2B5EF4-FFF2-40B4-BE49-F238E27FC236}">
                <a16:creationId xmlns:a16="http://schemas.microsoft.com/office/drawing/2014/main" id="{D0D426AF-2478-49DC-8367-AEA897724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862" y="3140969"/>
            <a:ext cx="864095" cy="864095"/>
          </a:xfrm>
          <a:prstGeom prst="rect">
            <a:avLst/>
          </a:prstGeom>
        </p:spPr>
      </p:pic>
      <p:pic>
        <p:nvPicPr>
          <p:cNvPr id="6" name="Picture 5" descr="A database">
            <a:extLst>
              <a:ext uri="{FF2B5EF4-FFF2-40B4-BE49-F238E27FC236}">
                <a16:creationId xmlns:a16="http://schemas.microsoft.com/office/drawing/2014/main" id="{9B2F6436-B690-4782-BEAE-AEF639B03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610" y="2508294"/>
            <a:ext cx="864095" cy="864095"/>
          </a:xfrm>
          <a:prstGeom prst="rect">
            <a:avLst/>
          </a:prstGeom>
        </p:spPr>
      </p:pic>
      <p:pic>
        <p:nvPicPr>
          <p:cNvPr id="7" name="Picture 6" descr="A database">
            <a:extLst>
              <a:ext uri="{FF2B5EF4-FFF2-40B4-BE49-F238E27FC236}">
                <a16:creationId xmlns:a16="http://schemas.microsoft.com/office/drawing/2014/main" id="{4C8ECFCF-E512-4ED5-9F3C-8570667FA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571" y="3779310"/>
            <a:ext cx="864095" cy="8640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FAF36F-A3D0-49AA-8438-394AB0471771}"/>
              </a:ext>
            </a:extLst>
          </p:cNvPr>
          <p:cNvCxnSpPr/>
          <p:nvPr/>
        </p:nvCxnSpPr>
        <p:spPr>
          <a:xfrm flipV="1">
            <a:off x="7602679" y="3159451"/>
            <a:ext cx="526930" cy="3118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870064-8D05-4067-B370-64A6EFB2021B}"/>
              </a:ext>
            </a:extLst>
          </p:cNvPr>
          <p:cNvCxnSpPr/>
          <p:nvPr/>
        </p:nvCxnSpPr>
        <p:spPr>
          <a:xfrm flipH="1" flipV="1">
            <a:off x="8993704" y="3244416"/>
            <a:ext cx="526930" cy="453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4B8B9B-8A0B-46B3-A1C6-7BC5E3B2ABC7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7553544" y="3738729"/>
            <a:ext cx="1759026" cy="472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E7492A-8AB5-472C-B17F-E9269017FC54}"/>
              </a:ext>
            </a:extLst>
          </p:cNvPr>
          <p:cNvSpPr txBox="1"/>
          <p:nvPr/>
        </p:nvSpPr>
        <p:spPr>
          <a:xfrm>
            <a:off x="6337978" y="331536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7DD5C-2060-4BAE-BA9E-8C392E4F92AE}"/>
              </a:ext>
            </a:extLst>
          </p:cNvPr>
          <p:cNvSpPr txBox="1"/>
          <p:nvPr/>
        </p:nvSpPr>
        <p:spPr>
          <a:xfrm>
            <a:off x="8380356" y="202634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08B76-7F90-44FF-B749-65101F1C3477}"/>
              </a:ext>
            </a:extLst>
          </p:cNvPr>
          <p:cNvSpPr txBox="1"/>
          <p:nvPr/>
        </p:nvSpPr>
        <p:spPr>
          <a:xfrm>
            <a:off x="10146596" y="393305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770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89139"/>
          </a:xfrm>
        </p:spPr>
        <p:txBody>
          <a:bodyPr>
            <a:normAutofit/>
          </a:bodyPr>
          <a:lstStyle/>
          <a:p>
            <a:r>
              <a:rPr lang="en-US" dirty="0"/>
              <a:t>DDBMSs ensures that users do not need to know certain facts then creating queries</a:t>
            </a:r>
          </a:p>
          <a:p>
            <a:r>
              <a:rPr lang="en-US" dirty="0"/>
              <a:t>Transparency at different levels</a:t>
            </a:r>
          </a:p>
          <a:p>
            <a:pPr lvl="1"/>
            <a:r>
              <a:rPr lang="en-US" b="1" dirty="0"/>
              <a:t>Fragmentation transparency</a:t>
            </a:r>
            <a:endParaRPr lang="en-US" dirty="0"/>
          </a:p>
          <a:p>
            <a:pPr lvl="2"/>
            <a:r>
              <a:rPr lang="en-US" dirty="0"/>
              <a:t>Fragmentation is transparent to users</a:t>
            </a:r>
          </a:p>
          <a:p>
            <a:pPr lvl="2"/>
            <a:r>
              <a:rPr lang="en-US" dirty="0"/>
              <a:t>Users pose queries against the entire database</a:t>
            </a:r>
          </a:p>
          <a:p>
            <a:pPr lvl="2"/>
            <a:r>
              <a:rPr lang="en-US" dirty="0"/>
              <a:t>The distributed DBMS translates this into a query plan that fetches the required information from appropriate nodes</a:t>
            </a:r>
          </a:p>
          <a:p>
            <a:pPr lvl="1"/>
            <a:r>
              <a:rPr lang="en-US" b="1" dirty="0"/>
              <a:t>Replication transparency</a:t>
            </a:r>
          </a:p>
          <a:p>
            <a:pPr lvl="2"/>
            <a:r>
              <a:rPr lang="en-US" dirty="0"/>
              <a:t>Ability to store copies of data items / fragments at different sites </a:t>
            </a:r>
          </a:p>
          <a:p>
            <a:pPr lvl="2"/>
            <a:r>
              <a:rPr lang="en-US" dirty="0"/>
              <a:t>Replication is transparent to users</a:t>
            </a:r>
          </a:p>
          <a:p>
            <a:pPr lvl="1"/>
            <a:r>
              <a:rPr lang="en-US" b="1" dirty="0"/>
              <a:t>Location transparency</a:t>
            </a:r>
          </a:p>
          <a:p>
            <a:pPr lvl="2"/>
            <a:r>
              <a:rPr lang="en-US" dirty="0"/>
              <a:t>The location where data is store is transparent to the user</a:t>
            </a:r>
          </a:p>
          <a:p>
            <a:pPr lvl="1"/>
            <a:r>
              <a:rPr lang="en-US" b="1" dirty="0"/>
              <a:t>Naming transparency</a:t>
            </a:r>
          </a:p>
          <a:p>
            <a:pPr lvl="2"/>
            <a:r>
              <a:rPr lang="en-US" dirty="0"/>
              <a:t>A given name (e.g. of a relation) has the same meaning everywhere in the system</a:t>
            </a:r>
          </a:p>
          <a:p>
            <a:pPr lvl="1"/>
            <a:r>
              <a:rPr lang="en-US" b="1" dirty="0"/>
              <a:t>…. and others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956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1BCF-50FB-4707-A097-F3DEEC2E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E328B-4CBD-4B91-80BB-EEC1D83C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four main kinds of transparency:</a:t>
            </a:r>
          </a:p>
          <a:p>
            <a:pPr lvl="1"/>
            <a:r>
              <a:rPr lang="en-US" b="1" dirty="0"/>
              <a:t>Fragmentation</a:t>
            </a:r>
          </a:p>
          <a:p>
            <a:pPr lvl="1"/>
            <a:r>
              <a:rPr lang="en-US" b="1" dirty="0"/>
              <a:t>Replication</a:t>
            </a:r>
          </a:p>
          <a:p>
            <a:pPr lvl="1"/>
            <a:r>
              <a:rPr lang="en-US" b="1" dirty="0"/>
              <a:t>Location</a:t>
            </a:r>
          </a:p>
          <a:p>
            <a:pPr lvl="1"/>
            <a:r>
              <a:rPr lang="en-US" b="1" dirty="0"/>
              <a:t>Naming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91EB9-1FDA-4C9E-8737-DA7549BD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6902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|22.1|11.4|28.9|9.8|2.5|6|28|3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3|5.9|3.6|2.7|6.7|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|20.7|22|21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6|6.1|13.8|21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3.5|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|34.8|30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21.6|12.5|20.7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275</TotalTime>
  <Words>616</Words>
  <Application>Microsoft Office PowerPoint</Application>
  <PresentationFormat>Widescreen</PresentationFormat>
  <Paragraphs>224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Cambria Math</vt:lpstr>
      <vt:lpstr>Retrospect</vt:lpstr>
      <vt:lpstr>Fragmentation, replication and transparency</vt:lpstr>
      <vt:lpstr>Overview over this video</vt:lpstr>
      <vt:lpstr>Fragmentation</vt:lpstr>
      <vt:lpstr>Horizontal Fragmentation Example</vt:lpstr>
      <vt:lpstr>Horizontal Fragmentation Example</vt:lpstr>
      <vt:lpstr>Vertical Fragmentation Example</vt:lpstr>
      <vt:lpstr>Redundancy Improves Resilience</vt:lpstr>
      <vt:lpstr>Redundancy Increases Efficiency</vt:lpstr>
      <vt:lpstr>Replication</vt:lpstr>
      <vt:lpstr>Transparency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Fragmentation and transparancy</dc:title>
  <dc:creator>Rasmus Ibsen-Jensen</dc:creator>
  <cp:lastModifiedBy>Rasmus Ibsen-Jensen</cp:lastModifiedBy>
  <cp:revision>16</cp:revision>
  <dcterms:created xsi:type="dcterms:W3CDTF">2020-11-21T16:24:16Z</dcterms:created>
  <dcterms:modified xsi:type="dcterms:W3CDTF">2020-11-24T17:25:17Z</dcterms:modified>
</cp:coreProperties>
</file>