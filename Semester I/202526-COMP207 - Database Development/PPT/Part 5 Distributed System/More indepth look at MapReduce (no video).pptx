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463" r:id="rId3"/>
    <p:sldId id="457" r:id="rId4"/>
    <p:sldId id="458" r:id="rId5"/>
    <p:sldId id="459" r:id="rId6"/>
    <p:sldId id="464" r:id="rId7"/>
    <p:sldId id="461" r:id="rId8"/>
    <p:sldId id="465" r:id="rId9"/>
    <p:sldId id="466" r:id="rId10"/>
    <p:sldId id="434" r:id="rId11"/>
    <p:sldId id="454" r:id="rId12"/>
    <p:sldId id="440" r:id="rId13"/>
    <p:sldId id="453" r:id="rId14"/>
    <p:sldId id="455" r:id="rId15"/>
    <p:sldId id="456" r:id="rId16"/>
    <p:sldId id="33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8DB3-76C1-4F46-9411-AA330ACEE898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92B50-1386-4DF2-9F26-56B6FD69DA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99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147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18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512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019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535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878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30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67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64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690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17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296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91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2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793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BA478F2-2730-4490-B4D8-41FCA0D61C83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F197C83-ED96-4E32-B0A9-3A96B2DC8523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816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24.png"/><Relationship Id="rId9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30.png"/><Relationship Id="rId5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9D30-F349-4ED7-B93D-3D00040B8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More </a:t>
            </a:r>
            <a:r>
              <a:rPr lang="en-US" dirty="0" err="1"/>
              <a:t>indepth</a:t>
            </a:r>
            <a:r>
              <a:rPr lang="en-US" dirty="0"/>
              <a:t> look at MapReduce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D7B35-9220-4333-9702-6E7295C5D4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Not required for </a:t>
            </a:r>
            <a:r>
              <a:rPr lang="en-US"/>
              <a:t>the exam!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194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3D77-ACDD-44B6-8662-2A98A3CB6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9FC56-D972-414C-B1B1-45C815192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video will show some more examples of MapReduce and then go in to more details with the framework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6BC94-A757-4876-9B11-FC733886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05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Matrix multiplication: Given (</a:t>
                </a:r>
                <a:r>
                  <a:rPr lang="en-US" dirty="0" err="1"/>
                  <a:t>r,s</a:t>
                </a:r>
                <a:r>
                  <a:rPr lang="en-US" dirty="0"/>
                  <a:t>)- and (</a:t>
                </a:r>
                <a:r>
                  <a:rPr lang="en-US" dirty="0" err="1"/>
                  <a:t>s,t</a:t>
                </a:r>
                <a:r>
                  <a:rPr lang="en-US" dirty="0"/>
                  <a:t>)-matrix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𝑀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𝑁</m:t>
                    </m:r>
                  </m:oMath>
                </a14:m>
                <a:r>
                  <a:rPr lang="en-US" dirty="0"/>
                  <a:t> resp., 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charset="0"/>
                            </a:rPr>
                            <m:t>,</m:t>
                          </m:r>
                          <m:r>
                            <a:rPr lang="en-GB" i="1">
                              <a:latin typeface="Cambria Math" charset="0"/>
                            </a:rPr>
                            <m:t>𝑘</m:t>
                          </m:r>
                        </m:sub>
                      </m:sSub>
                      <m:r>
                        <a:rPr lang="en-GB" i="1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GB" i="1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GB" i="1">
                                  <a:latin typeface="Cambria Math" charset="0"/>
                                </a:rPr>
                                <m:t>𝑗</m:t>
                              </m:r>
                              <m:r>
                                <a:rPr lang="en-GB" i="1"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𝑃</m:t>
                    </m:r>
                  </m:oMath>
                </a14:m>
                <a:r>
                  <a:rPr lang="en-US" dirty="0"/>
                  <a:t> can be computed in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charset="0"/>
                          </a:rPr>
                          <m:t>2.373</m:t>
                        </m:r>
                      </m:sup>
                    </m:sSup>
                  </m:oMath>
                </a14:m>
                <a:r>
                  <a:rPr lang="en-US" dirty="0"/>
                  <a:t>)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𝑛</m:t>
                    </m:r>
                    <m:r>
                      <a:rPr lang="en-GB" b="0" i="1" smtClean="0">
                        <a:latin typeface="Cambria Math" charset="0"/>
                      </a:rPr>
                      <m:t>=</m:t>
                    </m:r>
                    <m:r>
                      <a:rPr lang="en-GB" b="0" i="1" smtClean="0">
                        <a:latin typeface="Cambria Math" charset="0"/>
                      </a:rPr>
                      <m:t>𝑟</m:t>
                    </m:r>
                    <m:r>
                      <a:rPr lang="en-GB" b="0" i="1" smtClean="0">
                        <a:latin typeface="Cambria Math" charset="0"/>
                      </a:rPr>
                      <m:t>=</m:t>
                    </m:r>
                    <m:r>
                      <a:rPr lang="en-GB" b="0" i="1" smtClean="0">
                        <a:latin typeface="Cambria Math" charset="0"/>
                      </a:rPr>
                      <m:t>𝑠</m:t>
                    </m:r>
                    <m:r>
                      <a:rPr lang="en-GB" b="0" i="1" smtClean="0">
                        <a:latin typeface="Cambria Math" charset="0"/>
                      </a:rPr>
                      <m:t>=</m:t>
                    </m:r>
                    <m:r>
                      <a:rPr lang="en-GB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Easiest (also faster) for MapReduce: </a:t>
                </a:r>
                <a:br>
                  <a:rPr lang="en-US" dirty="0"/>
                </a:br>
                <a:r>
                  <a:rPr lang="en-US" dirty="0"/>
                  <a:t>use 2 MapReduce computations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5"/>
                <a:stretch>
                  <a:fillRect l="-1333" t="-1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591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MapReduce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matrix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∈{</m:t>
                    </m:r>
                    <m:r>
                      <a:rPr lang="en-GB" b="0" i="1" smtClean="0">
                        <a:latin typeface="Cambria Math" charset="0"/>
                      </a:rPr>
                      <m:t>𝑁</m:t>
                    </m:r>
                    <m:r>
                      <a:rPr lang="en-GB" b="0" i="1" smtClean="0">
                        <a:latin typeface="Cambria Math" charset="0"/>
                      </a:rPr>
                      <m:t>,</m:t>
                    </m:r>
                    <m:r>
                      <a:rPr lang="en-GB" b="0" i="1" smtClean="0">
                        <a:latin typeface="Cambria Math" charset="0"/>
                      </a:rPr>
                      <m:t>𝑀</m:t>
                    </m:r>
                    <m:r>
                      <a:rPr lang="en-GB" b="0" i="1" smtClean="0">
                        <a:latin typeface="Cambria Math" charset="0"/>
                      </a:rPr>
                      <m:t>}</m:t>
                    </m:r>
                  </m:oMath>
                </a14:m>
                <a:r>
                  <a:rPr lang="en-US" dirty="0"/>
                  <a:t> and triplet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∈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ℤ</m:t>
                        </m:r>
                      </m:e>
                      <m:sub>
                        <m:r>
                          <a:rPr lang="en-GB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+</m:t>
                        </m:r>
                      </m:sub>
                    </m:sSub>
                    <m:r>
                      <a:rPr lang="en-GB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ℤ</m:t>
                        </m:r>
                      </m:e>
                      <m:sub>
                        <m:r>
                          <a:rPr lang="en-GB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+</m:t>
                        </m:r>
                      </m:sub>
                    </m:sSub>
                    <m:r>
                      <a:rPr lang="en-GB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GB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879558" y="2195688"/>
            <a:ext cx="4169010" cy="15841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r>
              <a:rPr lang="en-US" b="1" dirty="0"/>
              <a:t>Map</a:t>
            </a:r>
            <a:r>
              <a:rPr lang="en-US" dirty="0"/>
              <a:t>(String </a:t>
            </a:r>
            <a:r>
              <a:rPr lang="en-US" b="1" dirty="0"/>
              <a:t>matrix</a:t>
            </a:r>
            <a:r>
              <a:rPr lang="en-US" dirty="0"/>
              <a:t>, String </a:t>
            </a:r>
            <a:r>
              <a:rPr lang="en-US" b="1" dirty="0"/>
              <a:t>triplet</a:t>
            </a:r>
            <a:r>
              <a:rPr lang="en-US" dirty="0"/>
              <a:t>):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67590" y="2650026"/>
            <a:ext cx="1767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 </a:t>
            </a:r>
            <a:r>
              <a:rPr lang="en-US" b="1" dirty="0"/>
              <a:t>(</a:t>
            </a:r>
            <a:r>
              <a:rPr lang="en-US" b="1" dirty="0" err="1"/>
              <a:t>i,j,v</a:t>
            </a:r>
            <a:r>
              <a:rPr lang="en-US" b="1" dirty="0"/>
              <a:t>)</a:t>
            </a:r>
            <a:r>
              <a:rPr lang="en-US" dirty="0"/>
              <a:t> = </a:t>
            </a:r>
            <a:r>
              <a:rPr lang="en-US" b="1" dirty="0"/>
              <a:t>triplet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4108" y="2987776"/>
            <a:ext cx="3884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</a:t>
            </a:r>
            <a:r>
              <a:rPr lang="en-US" b="1" dirty="0"/>
              <a:t>matrix</a:t>
            </a:r>
            <a:r>
              <a:rPr lang="en-US" dirty="0"/>
              <a:t> = </a:t>
            </a:r>
            <a:r>
              <a:rPr lang="en-US" i="1" dirty="0"/>
              <a:t>N</a:t>
            </a:r>
            <a:r>
              <a:rPr lang="en-US" dirty="0"/>
              <a:t> then output pair 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, (</a:t>
            </a:r>
            <a:r>
              <a:rPr lang="en-US" b="1" dirty="0" err="1"/>
              <a:t>N,j,v</a:t>
            </a:r>
            <a:r>
              <a:rPr lang="en-US" b="1" dirty="0"/>
              <a:t>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4107" y="3343042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else output pair </a:t>
            </a:r>
            <a:r>
              <a:rPr lang="en-US" b="1" dirty="0"/>
              <a:t>(j, (</a:t>
            </a:r>
            <a:r>
              <a:rPr lang="en-US" b="1" dirty="0" err="1"/>
              <a:t>M,i,v</a:t>
            </a:r>
            <a:r>
              <a:rPr lang="en-US" b="1" dirty="0"/>
              <a:t>))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3328947" y="3779864"/>
            <a:ext cx="4962728" cy="2385441"/>
            <a:chOff x="1804947" y="3779863"/>
            <a:chExt cx="4962728" cy="2385441"/>
          </a:xfrm>
        </p:grpSpPr>
        <p:sp>
          <p:nvSpPr>
            <p:cNvPr id="11" name="Rectangle 10"/>
            <p:cNvSpPr/>
            <p:nvPr/>
          </p:nvSpPr>
          <p:spPr>
            <a:xfrm>
              <a:off x="1804947" y="3779863"/>
              <a:ext cx="4962728" cy="238544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144000" tIns="144000" rIns="144000" bIns="144000" rtlCol="0" anchor="t"/>
            <a:lstStyle/>
            <a:p>
              <a:r>
                <a:rPr lang="en-US" b="1" dirty="0"/>
                <a:t>Reduce</a:t>
              </a:r>
              <a:r>
                <a:rPr lang="en-US" dirty="0"/>
                <a:t>(</a:t>
              </a:r>
              <a:r>
                <a:rPr lang="en-US" dirty="0" err="1"/>
                <a:t>int</a:t>
              </a:r>
              <a:r>
                <a:rPr lang="en-US" dirty="0"/>
                <a:t> </a:t>
              </a:r>
              <a:r>
                <a:rPr lang="en-US" b="1" dirty="0"/>
                <a:t>no</a:t>
              </a:r>
              <a:r>
                <a:rPr lang="en-US" dirty="0"/>
                <a:t>, Iterator&lt;String&gt; </a:t>
              </a:r>
              <a:r>
                <a:rPr lang="en-US" b="1" dirty="0"/>
                <a:t>values</a:t>
              </a:r>
              <a:r>
                <a:rPr lang="en-US" dirty="0"/>
                <a:t>):</a:t>
              </a:r>
            </a:p>
            <a:p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092979" y="4221088"/>
              <a:ext cx="25937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 each </a:t>
              </a:r>
              <a:r>
                <a:rPr lang="en-US" b="1" dirty="0"/>
                <a:t>(</a:t>
              </a:r>
              <a:r>
                <a:rPr lang="en-US" b="1" dirty="0" err="1"/>
                <a:t>S,x,k</a:t>
              </a:r>
              <a:r>
                <a:rPr lang="en-US" b="1" dirty="0"/>
                <a:t>)</a:t>
              </a:r>
              <a:r>
                <a:rPr lang="en-US" dirty="0"/>
                <a:t> in </a:t>
              </a:r>
              <a:r>
                <a:rPr lang="en-US" b="1" dirty="0"/>
                <a:t>values</a:t>
              </a:r>
              <a:r>
                <a:rPr lang="en-US" dirty="0"/>
                <a:t>: 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440063" y="4601689"/>
              <a:ext cx="2743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</a:t>
              </a:r>
              <a:r>
                <a:rPr lang="en-US" b="1" dirty="0"/>
                <a:t>S</a:t>
              </a:r>
              <a:r>
                <a:rPr lang="en-US" dirty="0"/>
                <a:t>=M then: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92050" y="4957304"/>
              <a:ext cx="2743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for each </a:t>
              </a:r>
              <a:r>
                <a:rPr lang="en-US" b="1" dirty="0"/>
                <a:t>(</a:t>
              </a:r>
              <a:r>
                <a:rPr lang="en-US" b="1" dirty="0" err="1"/>
                <a:t>S’,x’,k</a:t>
              </a:r>
              <a:r>
                <a:rPr lang="en-US" b="1" dirty="0"/>
                <a:t>’) </a:t>
              </a:r>
              <a:r>
                <a:rPr lang="en-US" dirty="0"/>
                <a:t>in </a:t>
              </a:r>
              <a:r>
                <a:rPr lang="en-US" b="1" dirty="0"/>
                <a:t>values</a:t>
              </a:r>
              <a:r>
                <a:rPr lang="en-US" dirty="0"/>
                <a:t>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3700772" y="5697012"/>
                  <a:ext cx="28154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output pair </a:t>
                  </a:r>
                  <a:r>
                    <a:rPr lang="en-US" b="1" dirty="0"/>
                    <a:t>((</a:t>
                  </a:r>
                  <a:r>
                    <a:rPr lang="en-US" b="1" dirty="0" err="1"/>
                    <a:t>x,x</a:t>
                  </a:r>
                  <a:r>
                    <a:rPr lang="en-US" b="1" dirty="0"/>
                    <a:t>’),</a:t>
                  </a:r>
                  <a14:m>
                    <m:oMath xmlns:m="http://schemas.openxmlformats.org/officeDocument/2006/math">
                      <m:r>
                        <a:rPr lang="en-GB" b="1" i="1">
                          <a:latin typeface="Cambria Math" charset="0"/>
                        </a:rPr>
                        <m:t>𝒌</m:t>
                      </m:r>
                      <m:r>
                        <a:rPr lang="en-GB" b="1" i="1">
                          <a:latin typeface="Cambria Math" charset="0"/>
                        </a:rPr>
                        <m:t>×</m:t>
                      </m:r>
                      <m:r>
                        <a:rPr lang="en-GB" b="1" i="1">
                          <a:latin typeface="Cambria Math" charset="0"/>
                        </a:rPr>
                        <m:t>𝒌</m:t>
                      </m:r>
                      <m:r>
                        <a:rPr lang="en-GB" b="1" i="1">
                          <a:latin typeface="Cambria Math" charset="0"/>
                        </a:rPr>
                        <m:t>′</m:t>
                      </m:r>
                    </m:oMath>
                  </a14:m>
                  <a:r>
                    <a:rPr lang="en-US" b="1" dirty="0"/>
                    <a:t>)</a:t>
                  </a: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0772" y="5697012"/>
                  <a:ext cx="2815444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732" t="-10000" b="-2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/>
            <p:cNvSpPr txBox="1"/>
            <p:nvPr/>
          </p:nvSpPr>
          <p:spPr>
            <a:xfrm>
              <a:off x="3301163" y="5337644"/>
              <a:ext cx="2743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</a:t>
              </a:r>
              <a:r>
                <a:rPr lang="en-US" b="1" dirty="0"/>
                <a:t> S’</a:t>
              </a:r>
              <a:r>
                <a:rPr lang="en-US" dirty="0"/>
                <a:t>=N then: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ular Callout 25"/>
              <p:cNvSpPr/>
              <p:nvPr/>
            </p:nvSpPr>
            <p:spPr>
              <a:xfrm>
                <a:off x="7175300" y="4464601"/>
                <a:ext cx="3169172" cy="643508"/>
              </a:xfrm>
              <a:prstGeom prst="wedgeRoundRectCallout">
                <a:avLst>
                  <a:gd name="adj1" fmla="val -49138"/>
                  <a:gd name="adj2" fmla="val 136387"/>
                  <a:gd name="adj3" fmla="val 16667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Creates the pair ((</a:t>
                </a:r>
                <a:r>
                  <a:rPr lang="en-US" dirty="0" err="1"/>
                  <a:t>i,k</a:t>
                </a:r>
                <a:r>
                  <a:rPr lang="en-US" dirty="0"/>
                  <a:t>),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𝑀</m:t>
                        </m:r>
                      </m:e>
                      <m:sub>
                        <m:r>
                          <a:rPr lang="en-GB" i="1">
                            <a:latin typeface="Cambria Math" charset="0"/>
                          </a:rPr>
                          <m:t>𝑖</m:t>
                        </m:r>
                        <m:r>
                          <a:rPr lang="en-GB" i="1">
                            <a:latin typeface="Cambria Math" charset="0"/>
                          </a:rPr>
                          <m:t>,</m:t>
                        </m:r>
                        <m:r>
                          <a:rPr lang="en-GB" i="1">
                            <a:latin typeface="Cambria Math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𝑁</m:t>
                        </m:r>
                      </m:e>
                      <m:sub>
                        <m:r>
                          <a:rPr lang="en-GB" i="1">
                            <a:latin typeface="Cambria Math" charset="0"/>
                          </a:rPr>
                          <m:t>𝑗</m:t>
                        </m:r>
                        <m:r>
                          <a:rPr lang="en-GB" i="1">
                            <a:latin typeface="Cambria Math" charset="0"/>
                          </a:rPr>
                          <m:t>,</m:t>
                        </m:r>
                        <m:r>
                          <a:rPr lang="en-GB" i="1">
                            <a:latin typeface="Cambria Math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b="1" dirty="0"/>
                  <a:t>)</a:t>
                </a:r>
              </a:p>
            </p:txBody>
          </p:sp>
        </mc:Choice>
        <mc:Fallback xmlns="">
          <p:sp>
            <p:nvSpPr>
              <p:cNvPr id="26" name="Rounded Rectangular Callou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300" y="4464601"/>
                <a:ext cx="3169172" cy="643508"/>
              </a:xfrm>
              <a:prstGeom prst="wedgeRoundRectCallout">
                <a:avLst>
                  <a:gd name="adj1" fmla="val -49138"/>
                  <a:gd name="adj2" fmla="val 136387"/>
                  <a:gd name="adj3" fmla="val 16667"/>
                </a:avLst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ular Callout 26"/>
              <p:cNvSpPr/>
              <p:nvPr/>
            </p:nvSpPr>
            <p:spPr>
              <a:xfrm>
                <a:off x="6297898" y="2195688"/>
                <a:ext cx="3169172" cy="643508"/>
              </a:xfrm>
              <a:prstGeom prst="wedgeRoundRectCallout">
                <a:avLst>
                  <a:gd name="adj1" fmla="val -83601"/>
                  <a:gd name="adj2" fmla="val 2185"/>
                  <a:gd name="adj3" fmla="val 16667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𝑀</m:t>
                        </m:r>
                      </m:e>
                      <m:sub>
                        <m:r>
                          <a:rPr lang="en-GB" i="1">
                            <a:latin typeface="Cambria Math" charset="0"/>
                          </a:rPr>
                          <m:t>𝑖</m:t>
                        </m:r>
                        <m:r>
                          <a:rPr lang="en-GB" i="1">
                            <a:latin typeface="Cambria Math" charset="0"/>
                          </a:rPr>
                          <m:t>,</m:t>
                        </m:r>
                        <m:r>
                          <a:rPr lang="en-GB" i="1">
                            <a:latin typeface="Cambria Math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charset="0"/>
                      </a:rPr>
                      <m:t>=</m:t>
                    </m:r>
                    <m:r>
                      <a:rPr lang="en-GB" i="1">
                        <a:latin typeface="Cambria Math" charset="0"/>
                      </a:rPr>
                      <m:t>𝑣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then</a:t>
                </a:r>
                <a:r>
                  <a:rPr lang="en-US" b="1" dirty="0"/>
                  <a:t> (M,”(</a:t>
                </a:r>
                <a:r>
                  <a:rPr lang="en-US" b="1" dirty="0" err="1"/>
                  <a:t>i,j,v</a:t>
                </a:r>
                <a:r>
                  <a:rPr lang="en-US" b="1" dirty="0"/>
                  <a:t>)”) </a:t>
                </a:r>
                <a:r>
                  <a:rPr lang="en-US" dirty="0"/>
                  <a:t>is</a:t>
                </a:r>
                <a:r>
                  <a:rPr lang="en-US" b="1" dirty="0"/>
                  <a:t> </a:t>
                </a:r>
                <a:r>
                  <a:rPr lang="en-US" dirty="0"/>
                  <a:t>an input, similar for N</a:t>
                </a:r>
              </a:p>
            </p:txBody>
          </p:sp>
        </mc:Choice>
        <mc:Fallback xmlns="">
          <p:sp>
            <p:nvSpPr>
              <p:cNvPr id="27" name="Rounded Rectangular Callou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898" y="2195688"/>
                <a:ext cx="3169172" cy="643508"/>
              </a:xfrm>
              <a:prstGeom prst="wedgeRoundRectCallout">
                <a:avLst>
                  <a:gd name="adj1" fmla="val -83601"/>
                  <a:gd name="adj2" fmla="val 2185"/>
                  <a:gd name="adj3" fmla="val 16667"/>
                </a:avLst>
              </a:prstGeom>
              <a:blipFill>
                <a:blip r:embed="rId9"/>
                <a:stretch>
                  <a:fillRect t="-4630" b="-157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338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141384" y="1988840"/>
            <a:ext cx="4169010" cy="9361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r>
              <a:rPr lang="en-US" b="1" dirty="0"/>
              <a:t>Map</a:t>
            </a:r>
            <a:r>
              <a:rPr lang="en-US" dirty="0"/>
              <a:t>(pair&lt;</a:t>
            </a:r>
            <a:r>
              <a:rPr lang="en-US" dirty="0" err="1"/>
              <a:t>int,int</a:t>
            </a:r>
            <a:r>
              <a:rPr lang="en-US" dirty="0"/>
              <a:t>&gt; </a:t>
            </a:r>
            <a:r>
              <a:rPr lang="en-US" b="1" dirty="0"/>
              <a:t>pair</a:t>
            </a:r>
            <a:r>
              <a:rPr lang="en-US" dirty="0"/>
              <a:t>, double </a:t>
            </a:r>
            <a:r>
              <a:rPr lang="en-US" b="1" dirty="0"/>
              <a:t>no</a:t>
            </a:r>
            <a:r>
              <a:rPr lang="en-US" dirty="0"/>
              <a:t>):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29417" y="2443178"/>
            <a:ext cx="2182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pair </a:t>
            </a:r>
            <a:r>
              <a:rPr lang="en-US" b="1" dirty="0"/>
              <a:t>(</a:t>
            </a:r>
            <a:r>
              <a:rPr lang="en-US" b="1" dirty="0" err="1"/>
              <a:t>pair,no</a:t>
            </a:r>
            <a:r>
              <a:rPr lang="en-US" b="1" dirty="0"/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947" y="3779864"/>
            <a:ext cx="5391307" cy="20974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r>
              <a:rPr lang="en-US" b="1" dirty="0"/>
              <a:t>Reduce</a:t>
            </a:r>
            <a:r>
              <a:rPr lang="en-US" dirty="0"/>
              <a:t>(pair&lt;</a:t>
            </a:r>
            <a:r>
              <a:rPr lang="en-US" dirty="0" err="1"/>
              <a:t>int,int</a:t>
            </a:r>
            <a:r>
              <a:rPr lang="en-US" dirty="0"/>
              <a:t>&gt; </a:t>
            </a:r>
            <a:r>
              <a:rPr lang="en-US" b="1" dirty="0"/>
              <a:t>pair</a:t>
            </a:r>
            <a:r>
              <a:rPr lang="en-US" dirty="0"/>
              <a:t>, Iterator&lt;double&gt; </a:t>
            </a:r>
            <a:r>
              <a:rPr lang="en-US" b="1" dirty="0"/>
              <a:t>numbers</a:t>
            </a:r>
            <a:r>
              <a:rPr lang="en-US" dirty="0"/>
              <a:t>):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616980" y="4603251"/>
            <a:ext cx="2998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each </a:t>
            </a:r>
            <a:r>
              <a:rPr lang="en-US" b="1" dirty="0"/>
              <a:t>number</a:t>
            </a:r>
            <a:r>
              <a:rPr lang="en-US" dirty="0"/>
              <a:t> in </a:t>
            </a:r>
            <a:r>
              <a:rPr lang="en-US" b="1" dirty="0"/>
              <a:t>numbers</a:t>
            </a:r>
            <a:r>
              <a:rPr lang="en-US" dirty="0"/>
              <a:t>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6980" y="4221088"/>
            <a:ext cx="165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 </a:t>
            </a:r>
            <a:r>
              <a:rPr lang="en-US" b="1" dirty="0"/>
              <a:t>result</a:t>
            </a:r>
            <a:r>
              <a:rPr lang="en-US" dirty="0"/>
              <a:t>=0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5013" y="4951331"/>
            <a:ext cx="2367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result</a:t>
            </a:r>
            <a:r>
              <a:rPr lang="en-US" dirty="0"/>
              <a:t>=</a:t>
            </a:r>
            <a:r>
              <a:rPr lang="en-US" b="1" dirty="0"/>
              <a:t>result</a:t>
            </a:r>
            <a:r>
              <a:rPr lang="en-US" dirty="0"/>
              <a:t> + </a:t>
            </a:r>
            <a:r>
              <a:rPr lang="en-US" b="1" dirty="0"/>
              <a:t>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5721" y="5314468"/>
            <a:ext cx="240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pair </a:t>
            </a:r>
            <a:r>
              <a:rPr lang="en-US" b="1" dirty="0"/>
              <a:t>(</a:t>
            </a:r>
            <a:r>
              <a:rPr lang="en-US" b="1" dirty="0" err="1"/>
              <a:t>pair,result</a:t>
            </a:r>
            <a:r>
              <a:rPr lang="en-US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ular Callout 25">
                <a:extLst>
                  <a:ext uri="{FF2B5EF4-FFF2-40B4-BE49-F238E27FC236}">
                    <a16:creationId xmlns:a16="http://schemas.microsoft.com/office/drawing/2014/main" id="{010F637A-10CD-4ADF-B99C-66C8F30D5843}"/>
                  </a:ext>
                </a:extLst>
              </p:cNvPr>
              <p:cNvSpPr/>
              <p:nvPr/>
            </p:nvSpPr>
            <p:spPr>
              <a:xfrm>
                <a:off x="7093397" y="4144409"/>
                <a:ext cx="2487333" cy="643508"/>
              </a:xfrm>
              <a:prstGeom prst="wedgeRoundRectCallout">
                <a:avLst>
                  <a:gd name="adj1" fmla="val -126988"/>
                  <a:gd name="adj2" fmla="val 39051"/>
                  <a:gd name="adj3" fmla="val 16667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Number: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𝑀</m:t>
                        </m:r>
                      </m:e>
                      <m:sub>
                        <m:r>
                          <a:rPr lang="en-GB" i="1">
                            <a:latin typeface="Cambria Math" charset="0"/>
                          </a:rPr>
                          <m:t>𝑖</m:t>
                        </m:r>
                        <m:r>
                          <a:rPr lang="en-GB" i="1">
                            <a:latin typeface="Cambria Math" charset="0"/>
                          </a:rPr>
                          <m:t>,</m:t>
                        </m:r>
                        <m:r>
                          <a:rPr lang="en-GB" i="1">
                            <a:latin typeface="Cambria Math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𝑁</m:t>
                        </m:r>
                      </m:e>
                      <m:sub>
                        <m:r>
                          <a:rPr lang="en-GB" i="1">
                            <a:latin typeface="Cambria Math" charset="0"/>
                          </a:rPr>
                          <m:t>𝑗</m:t>
                        </m:r>
                        <m:r>
                          <a:rPr lang="en-GB" i="1">
                            <a:latin typeface="Cambria Math" charset="0"/>
                          </a:rPr>
                          <m:t>,</m:t>
                        </m:r>
                        <m:r>
                          <a:rPr lang="en-GB" i="1">
                            <a:latin typeface="Cambria Math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16" name="Rounded Rectangular Callout 25">
                <a:extLst>
                  <a:ext uri="{FF2B5EF4-FFF2-40B4-BE49-F238E27FC236}">
                    <a16:creationId xmlns:a16="http://schemas.microsoft.com/office/drawing/2014/main" id="{010F637A-10CD-4ADF-B99C-66C8F30D5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397" y="4144409"/>
                <a:ext cx="2487333" cy="643508"/>
              </a:xfrm>
              <a:prstGeom prst="wedgeRoundRectCallout">
                <a:avLst>
                  <a:gd name="adj1" fmla="val -126988"/>
                  <a:gd name="adj2" fmla="val 39051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ular Callout 25">
                <a:extLst>
                  <a:ext uri="{FF2B5EF4-FFF2-40B4-BE49-F238E27FC236}">
                    <a16:creationId xmlns:a16="http://schemas.microsoft.com/office/drawing/2014/main" id="{FAF6D07E-845F-446F-8C5C-2C1B80BE2B0A}"/>
                  </a:ext>
                </a:extLst>
              </p:cNvPr>
              <p:cNvSpPr/>
              <p:nvPr/>
            </p:nvSpPr>
            <p:spPr>
              <a:xfrm>
                <a:off x="6857080" y="5590131"/>
                <a:ext cx="3202193" cy="643508"/>
              </a:xfrm>
              <a:prstGeom prst="wedgeRoundRectCallout">
                <a:avLst>
                  <a:gd name="adj1" fmla="val -81319"/>
                  <a:gd name="adj2" fmla="val -59063"/>
                  <a:gd name="adj3" fmla="val 16667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Result: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charset="0"/>
                          </a:rPr>
                          <m:t>𝑖</m:t>
                        </m:r>
                        <m:r>
                          <a:rPr lang="en-GB" i="1">
                            <a:latin typeface="Cambria Math" charset="0"/>
                          </a:rPr>
                          <m:t>,</m:t>
                        </m:r>
                        <m:r>
                          <a:rPr lang="en-GB" i="1">
                            <a:latin typeface="Cambria Math" charset="0"/>
                          </a:rPr>
                          <m:t>𝑘</m:t>
                        </m:r>
                      </m:sub>
                    </m:sSub>
                    <m:r>
                      <a:rPr lang="en-GB" i="1"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GB" i="1"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GB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i="1">
                                <a:latin typeface="Cambria Math" charset="0"/>
                              </a:rPr>
                              <m:t>𝑗</m:t>
                            </m:r>
                            <m:r>
                              <a:rPr lang="en-GB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Rounded Rectangular Callout 25">
                <a:extLst>
                  <a:ext uri="{FF2B5EF4-FFF2-40B4-BE49-F238E27FC236}">
                    <a16:creationId xmlns:a16="http://schemas.microsoft.com/office/drawing/2014/main" id="{FAF6D07E-845F-446F-8C5C-2C1B80BE2B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080" y="5590131"/>
                <a:ext cx="3202193" cy="643508"/>
              </a:xfrm>
              <a:prstGeom prst="wedgeRoundRectCallout">
                <a:avLst>
                  <a:gd name="adj1" fmla="val -81319"/>
                  <a:gd name="adj2" fmla="val -59063"/>
                  <a:gd name="adj3" fmla="val 16667"/>
                </a:avLst>
              </a:prstGeom>
              <a:blipFill>
                <a:blip r:embed="rId7"/>
                <a:stretch>
                  <a:fillRect t="-33898" b="-74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3618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9" grpId="0"/>
      <p:bldP spid="20" grpId="0"/>
      <p:bldP spid="22" grpId="0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161E8-327D-495B-AFB8-7E76EE2F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BFB03-F818-4F70-AEA1-4ECCDA7DC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779034" cy="4023360"/>
              </a:xfrm>
            </p:spPr>
            <p:txBody>
              <a:bodyPr/>
              <a:lstStyle/>
              <a:p>
                <a:r>
                  <a:rPr lang="en-US" dirty="0"/>
                  <a:t>Use MapReduce to implement relational algebra</a:t>
                </a:r>
              </a:p>
              <a:p>
                <a:r>
                  <a:rPr lang="en-US" dirty="0"/>
                  <a:t>Tuples in R are like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(</m:t>
                    </m:r>
                    <m:r>
                      <a:rPr lang="en-GB" b="0" i="1" dirty="0" smtClean="0">
                        <a:latin typeface="Cambria Math" charset="0"/>
                      </a:rPr>
                      <m:t>𝑅</m:t>
                    </m:r>
                    <m:r>
                      <a:rPr lang="en-GB" b="0" i="1" dirty="0" smtClean="0">
                        <a:latin typeface="Cambria Math" charset="0"/>
                      </a:rPr>
                      <m:t>,</m:t>
                    </m:r>
                    <m:r>
                      <a:rPr lang="en-US" i="1" dirty="0" err="1" smtClean="0">
                        <a:latin typeface="Cambria Math" charset="0"/>
                      </a:rPr>
                      <m:t>𝑎𝑡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GB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charset="0"/>
                      </a:rPr>
                      <m:t> = </m:t>
                    </m:r>
                    <m:r>
                      <a:rPr lang="en-US" i="1" dirty="0" err="1" smtClean="0">
                        <a:latin typeface="Cambria Math" charset="0"/>
                      </a:rPr>
                      <m:t>𝑣𝑎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charset="0"/>
                          </a:rPr>
                          <m:t>𝑙</m:t>
                        </m:r>
                      </m:e>
                      <m:sub>
                        <m:r>
                          <a:rPr lang="en-GB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GB" b="0" i="1" dirty="0" smtClean="0">
                        <a:latin typeface="Cambria Math" charset="0"/>
                      </a:rPr>
                      <m:t>,</m:t>
                    </m:r>
                    <m:r>
                      <a:rPr lang="en-US" i="1" dirty="0">
                        <a:latin typeface="Cambria Math" charset="0"/>
                      </a:rPr>
                      <m:t>𝑎𝑡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GB" b="0" i="1" dirty="0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charset="0"/>
                      </a:rPr>
                      <m:t> = </m:t>
                    </m:r>
                    <m:r>
                      <a:rPr lang="en-US" i="1" dirty="0" err="1">
                        <a:latin typeface="Cambria Math" charset="0"/>
                      </a:rPr>
                      <m:t>𝑣𝑎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charset="0"/>
                          </a:rPr>
                          <m:t>𝑙</m:t>
                        </m:r>
                      </m:e>
                      <m:sub>
                        <m:r>
                          <a:rPr lang="en-GB" b="0" i="1" dirty="0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latin typeface="Cambria Math" charset="0"/>
                      </a:rPr>
                      <m:t>, …)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E.g. if R has schema Employees(</a:t>
                </a:r>
                <a:r>
                  <a:rPr lang="en-US" dirty="0" err="1"/>
                  <a:t>name,birthday</a:t>
                </a:r>
                <a:r>
                  <a:rPr lang="en-US" dirty="0"/>
                  <a:t>), tuples are like: (</a:t>
                </a:r>
                <a:r>
                  <a:rPr lang="en-US" dirty="0" err="1"/>
                  <a:t>Employees,name</a:t>
                </a:r>
                <a:r>
                  <a:rPr lang="en-US" dirty="0"/>
                  <a:t> = Anne, birthday = 2000-11-1)</a:t>
                </a:r>
              </a:p>
              <a:p>
                <a:r>
                  <a:rPr lang="en-US" dirty="0"/>
                  <a:t>Input is </a:t>
                </a:r>
                <a:r>
                  <a:rPr lang="en-US" b="1" dirty="0"/>
                  <a:t>(</a:t>
                </a:r>
                <a:r>
                  <a:rPr lang="en-US" b="1" dirty="0" err="1"/>
                  <a:t>t,t</a:t>
                </a:r>
                <a:r>
                  <a:rPr lang="en-US" b="1" dirty="0"/>
                  <a:t>) </a:t>
                </a:r>
                <a:r>
                  <a:rPr lang="en-US" dirty="0"/>
                  <a:t>where </a:t>
                </a:r>
                <a:r>
                  <a:rPr lang="en-US" b="1" dirty="0"/>
                  <a:t>t</a:t>
                </a:r>
                <a:r>
                  <a:rPr lang="en-US" dirty="0"/>
                  <a:t> is some tuple</a:t>
                </a:r>
              </a:p>
              <a:p>
                <a:r>
                  <a:rPr lang="en-US" dirty="0"/>
                  <a:t>Two examples:</a:t>
                </a:r>
              </a:p>
              <a:p>
                <a:pPr lvl="1"/>
                <a:r>
                  <a:rPr lang="en-US" dirty="0"/>
                  <a:t>Selection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𝑅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Natural join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𝑅</m:t>
                    </m:r>
                    <m:r>
                      <a:rPr lang="en-GB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⋈</m:t>
                    </m:r>
                    <m:r>
                      <a:rPr lang="en-GB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BFB03-F818-4F70-AEA1-4ECCDA7DC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779034" cy="4023360"/>
              </a:xfrm>
              <a:blipFill>
                <a:blip r:embed="rId5"/>
                <a:stretch>
                  <a:fillRect l="-566" t="-1667" r="-13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499C0-470B-400D-85CB-618741984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91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lvl="1" algn="l" rtl="0">
                  <a:spcBef>
                    <a:spcPct val="0"/>
                  </a:spcBef>
                </a:pPr>
                <a:r>
                  <a:rPr lang="en-US" sz="4400" dirty="0"/>
                  <a:t>Selection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GB" sz="4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GB" sz="4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GB" sz="4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𝑅</m:t>
                        </m:r>
                      </m:e>
                    </m:d>
                  </m:oMath>
                </a14:m>
                <a:endParaRPr lang="en-US" sz="44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424" b="-197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Similar for everything but joins (and intersection and difference): Map does all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141384" y="1988841"/>
            <a:ext cx="5427215" cy="8285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r>
              <a:rPr lang="en-US" b="1" dirty="0"/>
              <a:t>Map</a:t>
            </a:r>
            <a:r>
              <a:rPr lang="en-US" dirty="0"/>
              <a:t>(String </a:t>
            </a:r>
            <a:r>
              <a:rPr lang="en-US" b="1" dirty="0"/>
              <a:t>tuple</a:t>
            </a:r>
            <a:r>
              <a:rPr lang="en-US" dirty="0"/>
              <a:t>, String </a:t>
            </a:r>
            <a:r>
              <a:rPr lang="en-US" b="1" dirty="0" err="1"/>
              <a:t>tupleCopy</a:t>
            </a:r>
            <a:r>
              <a:rPr lang="en-US" dirty="0"/>
              <a:t>):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29417" y="2443178"/>
            <a:ext cx="4761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</a:t>
            </a:r>
            <a:r>
              <a:rPr lang="en-US" b="1" dirty="0"/>
              <a:t>tuple </a:t>
            </a:r>
            <a:r>
              <a:rPr lang="en-US" dirty="0"/>
              <a:t>satisfies</a:t>
            </a:r>
            <a:r>
              <a:rPr lang="en-US" b="1" dirty="0"/>
              <a:t> c</a:t>
            </a:r>
            <a:r>
              <a:rPr lang="en-US" dirty="0"/>
              <a:t>  then output pair (</a:t>
            </a:r>
            <a:r>
              <a:rPr lang="en-US" b="1" dirty="0"/>
              <a:t>tuple</a:t>
            </a:r>
            <a:r>
              <a:rPr lang="en-US" dirty="0"/>
              <a:t>, </a:t>
            </a:r>
            <a:r>
              <a:rPr lang="en-US" b="1" dirty="0"/>
              <a:t>tuple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b="1" dirty="0"/>
          </a:p>
        </p:txBody>
      </p:sp>
      <p:grpSp>
        <p:nvGrpSpPr>
          <p:cNvPr id="16" name="Group 15"/>
          <p:cNvGrpSpPr/>
          <p:nvPr/>
        </p:nvGrpSpPr>
        <p:grpSpPr>
          <a:xfrm>
            <a:off x="2963311" y="3151396"/>
            <a:ext cx="5215325" cy="945281"/>
            <a:chOff x="1804946" y="3779863"/>
            <a:chExt cx="5215325" cy="945281"/>
          </a:xfrm>
        </p:grpSpPr>
        <p:sp>
          <p:nvSpPr>
            <p:cNvPr id="10" name="Rectangle 9"/>
            <p:cNvSpPr/>
            <p:nvPr/>
          </p:nvSpPr>
          <p:spPr>
            <a:xfrm>
              <a:off x="1804946" y="3779863"/>
              <a:ext cx="5215325" cy="94528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144000" tIns="144000" rIns="144000" bIns="144000" rtlCol="0" anchor="t"/>
            <a:lstStyle/>
            <a:p>
              <a:r>
                <a:rPr lang="en-US" b="1" dirty="0"/>
                <a:t>Reduce</a:t>
              </a:r>
              <a:r>
                <a:rPr lang="en-US" dirty="0"/>
                <a:t>(String </a:t>
              </a:r>
              <a:r>
                <a:rPr lang="en-US" b="1" dirty="0"/>
                <a:t>tuple</a:t>
              </a:r>
              <a:r>
                <a:rPr lang="en-US" dirty="0"/>
                <a:t>, Iterator&lt;String&gt; </a:t>
              </a:r>
              <a:r>
                <a:rPr lang="en-US" b="1" dirty="0" err="1"/>
                <a:t>tupleCopies</a:t>
              </a:r>
              <a:r>
                <a:rPr lang="en-US" dirty="0"/>
                <a:t>):</a:t>
              </a:r>
            </a:p>
            <a:p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07638" y="4221088"/>
              <a:ext cx="24945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 pair </a:t>
              </a:r>
              <a:r>
                <a:rPr lang="en-US" b="1" dirty="0"/>
                <a:t>(</a:t>
              </a:r>
              <a:r>
                <a:rPr lang="en-US" b="1" dirty="0" err="1"/>
                <a:t>tuple,tuple</a:t>
              </a:r>
              <a:r>
                <a:rPr lang="en-US" b="1" dirty="0"/>
                <a:t>)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1050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EDB843-7399-414E-8F13-9C8F5F00C2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800" dirty="0"/>
                  <a:t>Natural join </a:t>
                </a:r>
                <a14:m>
                  <m:oMath xmlns:m="http://schemas.openxmlformats.org/officeDocument/2006/math">
                    <m:r>
                      <a:rPr lang="en-GB" sz="4800" i="1">
                        <a:latin typeface="Cambria Math" charset="0"/>
                      </a:rPr>
                      <m:t>𝑅</m:t>
                    </m:r>
                    <m:r>
                      <a:rPr lang="en-GB" sz="4800" i="1">
                        <a:latin typeface="Cambria Math" charset="0"/>
                        <a:ea typeface="Cambria Math" charset="0"/>
                        <a:cs typeface="Cambria Math" charset="0"/>
                      </a:rPr>
                      <m:t>⋈</m:t>
                    </m:r>
                    <m:r>
                      <a:rPr lang="en-GB" sz="4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𝑆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EDB843-7399-414E-8F13-9C8F5F00C2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727" b="-226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5FC2B-FB13-4630-9496-5D9EE8A4D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Scheme: R(A,B) and S(B,C) – A,B,C are sets of attributes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Similar for other joins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C1897C-2DBA-48C2-8E69-C6A5C69E14B3}"/>
              </a:ext>
            </a:extLst>
          </p:cNvPr>
          <p:cNvSpPr/>
          <p:nvPr/>
        </p:nvSpPr>
        <p:spPr>
          <a:xfrm>
            <a:off x="1646881" y="2508358"/>
            <a:ext cx="5427215" cy="12134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r>
              <a:rPr lang="en-US" b="1" dirty="0"/>
              <a:t>Map</a:t>
            </a:r>
            <a:r>
              <a:rPr lang="en-US" dirty="0"/>
              <a:t>(String </a:t>
            </a:r>
            <a:r>
              <a:rPr lang="en-US" b="1" dirty="0"/>
              <a:t>tuple</a:t>
            </a:r>
            <a:r>
              <a:rPr lang="en-US" dirty="0"/>
              <a:t>, String </a:t>
            </a:r>
            <a:r>
              <a:rPr lang="en-US" b="1" dirty="0" err="1"/>
              <a:t>tupleCopy</a:t>
            </a:r>
            <a:r>
              <a:rPr lang="en-US" dirty="0"/>
              <a:t>):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4B66C-3C11-462E-9B27-9E3325703C79}"/>
              </a:ext>
            </a:extLst>
          </p:cNvPr>
          <p:cNvSpPr txBox="1"/>
          <p:nvPr/>
        </p:nvSpPr>
        <p:spPr>
          <a:xfrm>
            <a:off x="1934913" y="2962697"/>
            <a:ext cx="42372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 </a:t>
            </a:r>
            <a:r>
              <a:rPr lang="en-US" b="1" dirty="0"/>
              <a:t>Co</a:t>
            </a:r>
            <a:r>
              <a:rPr lang="en-US" dirty="0"/>
              <a:t> be the attribute and value pairs in </a:t>
            </a:r>
            <a:r>
              <a:rPr lang="en-US" b="1" dirty="0"/>
              <a:t>B</a:t>
            </a:r>
          </a:p>
          <a:p>
            <a:r>
              <a:rPr lang="en-US" dirty="0"/>
              <a:t>output pair (</a:t>
            </a:r>
            <a:r>
              <a:rPr lang="en-US" b="1" dirty="0"/>
              <a:t>Co</a:t>
            </a:r>
            <a:r>
              <a:rPr lang="en-US" dirty="0"/>
              <a:t>, </a:t>
            </a:r>
            <a:r>
              <a:rPr lang="en-US" b="1" dirty="0"/>
              <a:t>tuple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67FB26E-131B-4ADB-A466-A647AC03A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5115" y="6393239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CB51BE-6B66-4EBB-821E-09DCCD1E4D8F}"/>
              </a:ext>
            </a:extLst>
          </p:cNvPr>
          <p:cNvGrpSpPr/>
          <p:nvPr/>
        </p:nvGrpSpPr>
        <p:grpSpPr>
          <a:xfrm>
            <a:off x="5392823" y="3403726"/>
            <a:ext cx="4962728" cy="2385441"/>
            <a:chOff x="1804947" y="3779863"/>
            <a:chExt cx="4962728" cy="238544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8DBAF6-86D8-48ED-A145-CC201C2FAA00}"/>
                </a:ext>
              </a:extLst>
            </p:cNvPr>
            <p:cNvSpPr/>
            <p:nvPr/>
          </p:nvSpPr>
          <p:spPr>
            <a:xfrm>
              <a:off x="1804947" y="3779863"/>
              <a:ext cx="4962728" cy="238544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144000" tIns="144000" rIns="144000" bIns="144000" rtlCol="0" anchor="t"/>
            <a:lstStyle/>
            <a:p>
              <a:r>
                <a:rPr lang="en-US" b="1" dirty="0"/>
                <a:t>Reduce</a:t>
              </a:r>
              <a:r>
                <a:rPr lang="en-US" dirty="0"/>
                <a:t>(String </a:t>
              </a:r>
              <a:r>
                <a:rPr lang="en-US" b="1" dirty="0"/>
                <a:t>Co</a:t>
              </a:r>
              <a:r>
                <a:rPr lang="en-US" dirty="0"/>
                <a:t>, Iterator&lt;String&gt; </a:t>
              </a:r>
              <a:r>
                <a:rPr lang="en-US" b="1" dirty="0"/>
                <a:t>tuples</a:t>
              </a:r>
              <a:r>
                <a:rPr lang="en-US" dirty="0"/>
                <a:t>):</a:t>
              </a:r>
            </a:p>
            <a:p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5ADE49-092C-4D92-8B72-BB8590779079}"/>
                </a:ext>
              </a:extLst>
            </p:cNvPr>
            <p:cNvSpPr txBox="1"/>
            <p:nvPr/>
          </p:nvSpPr>
          <p:spPr>
            <a:xfrm>
              <a:off x="2092979" y="4221088"/>
              <a:ext cx="2071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 each </a:t>
              </a:r>
              <a:r>
                <a:rPr lang="en-US" b="1" dirty="0"/>
                <a:t>r </a:t>
              </a:r>
              <a:r>
                <a:rPr lang="en-US" dirty="0"/>
                <a:t>in </a:t>
              </a:r>
              <a:r>
                <a:rPr lang="en-US" b="1" dirty="0"/>
                <a:t>tuples</a:t>
              </a:r>
              <a:r>
                <a:rPr lang="en-US" dirty="0"/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FA4F69-7E9B-49A9-A380-EE79D4A93EB8}"/>
                </a:ext>
              </a:extLst>
            </p:cNvPr>
            <p:cNvSpPr txBox="1"/>
            <p:nvPr/>
          </p:nvSpPr>
          <p:spPr>
            <a:xfrm>
              <a:off x="2440063" y="4601689"/>
              <a:ext cx="2743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</a:t>
              </a:r>
              <a:r>
                <a:rPr lang="en-US" b="1" dirty="0" err="1"/>
                <a:t>r.relation</a:t>
              </a:r>
              <a:r>
                <a:rPr lang="en-US" b="1" dirty="0"/>
                <a:t> </a:t>
              </a:r>
              <a:r>
                <a:rPr lang="en-US" dirty="0"/>
                <a:t>= R then: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4A87A1-2635-4385-9813-BD30F8164CA9}"/>
                </a:ext>
              </a:extLst>
            </p:cNvPr>
            <p:cNvSpPr txBox="1"/>
            <p:nvPr/>
          </p:nvSpPr>
          <p:spPr>
            <a:xfrm>
              <a:off x="2792050" y="4957304"/>
              <a:ext cx="2743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for each </a:t>
              </a:r>
              <a:r>
                <a:rPr lang="en-US" b="1" dirty="0"/>
                <a:t>s </a:t>
              </a:r>
              <a:r>
                <a:rPr lang="en-US" dirty="0"/>
                <a:t>in </a:t>
              </a:r>
              <a:r>
                <a:rPr lang="en-US" b="1" dirty="0"/>
                <a:t>tuples</a:t>
              </a:r>
              <a:r>
                <a:rPr lang="en-US" dirty="0"/>
                <a:t>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D8DEB68-92D8-4DFF-8DF3-207F304375B8}"/>
                    </a:ext>
                  </a:extLst>
                </p:cNvPr>
                <p:cNvSpPr txBox="1"/>
                <p:nvPr/>
              </p:nvSpPr>
              <p:spPr>
                <a:xfrm>
                  <a:off x="3700772" y="5697012"/>
                  <a:ext cx="28154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output pair </a:t>
                  </a:r>
                  <a:r>
                    <a:rPr lang="en-US" b="1" dirty="0"/>
                    <a:t>(</a:t>
                  </a:r>
                  <a14:m>
                    <m:oMath xmlns:m="http://schemas.openxmlformats.org/officeDocument/2006/math">
                      <m:r>
                        <a:rPr lang="en-GB" b="1" i="1">
                          <a:latin typeface="Cambria Math" charset="0"/>
                        </a:rPr>
                        <m:t>𝒓</m:t>
                      </m:r>
                      <m:r>
                        <a:rPr lang="en-GB" b="1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⋈</m:t>
                      </m:r>
                      <m:r>
                        <a:rPr lang="en-GB" b="1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𝒔</m:t>
                      </m:r>
                      <m:r>
                        <a:rPr lang="en-GB" b="1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en-GB" b="1" i="1">
                          <a:latin typeface="Cambria Math" charset="0"/>
                        </a:rPr>
                        <m:t>𝒓</m:t>
                      </m:r>
                      <m:r>
                        <a:rPr lang="en-GB" b="1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⋈</m:t>
                      </m:r>
                      <m:r>
                        <a:rPr lang="en-GB" b="1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𝒔</m:t>
                      </m:r>
                    </m:oMath>
                  </a14:m>
                  <a:r>
                    <a:rPr lang="en-US" b="1" dirty="0"/>
                    <a:t>)</a:t>
                  </a: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0772" y="5697012"/>
                  <a:ext cx="2815444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952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F33F60-1F65-43F5-A17F-491E9DAEAB5F}"/>
                </a:ext>
              </a:extLst>
            </p:cNvPr>
            <p:cNvSpPr txBox="1"/>
            <p:nvPr/>
          </p:nvSpPr>
          <p:spPr>
            <a:xfrm>
              <a:off x="3301163" y="5337644"/>
              <a:ext cx="2743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</a:t>
              </a:r>
              <a:r>
                <a:rPr lang="en-US" b="1" dirty="0"/>
                <a:t> </a:t>
              </a:r>
              <a:r>
                <a:rPr lang="en-US" b="1" dirty="0" err="1"/>
                <a:t>s.relation</a:t>
              </a:r>
              <a:r>
                <a:rPr lang="en-US" b="1" dirty="0"/>
                <a:t> </a:t>
              </a:r>
              <a:r>
                <a:rPr lang="en-US" dirty="0"/>
                <a:t>= S then: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ular Callout 25">
                <a:extLst>
                  <a:ext uri="{FF2B5EF4-FFF2-40B4-BE49-F238E27FC236}">
                    <a16:creationId xmlns:a16="http://schemas.microsoft.com/office/drawing/2014/main" id="{53F26B92-35B4-49A4-BDCF-79D73F3EF050}"/>
                  </a:ext>
                </a:extLst>
              </p:cNvPr>
              <p:cNvSpPr/>
              <p:nvPr/>
            </p:nvSpPr>
            <p:spPr>
              <a:xfrm>
                <a:off x="7170277" y="5967485"/>
                <a:ext cx="3202193" cy="643508"/>
              </a:xfrm>
              <a:prstGeom prst="wedgeRoundRectCallout">
                <a:avLst>
                  <a:gd name="adj1" fmla="val 3327"/>
                  <a:gd name="adj2" fmla="val -86129"/>
                  <a:gd name="adj3" fmla="val 16667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GB" b="1" i="1" smtClean="0">
                        <a:latin typeface="Cambria Math" charset="0"/>
                      </a:rPr>
                      <m:t>𝒓</m:t>
                    </m:r>
                    <m:r>
                      <a:rPr lang="en-GB" b="1" i="1">
                        <a:latin typeface="Cambria Math" charset="0"/>
                        <a:ea typeface="Cambria Math" charset="0"/>
                        <a:cs typeface="Cambria Math" charset="0"/>
                      </a:rPr>
                      <m:t>⋈</m:t>
                    </m:r>
                    <m:r>
                      <a:rPr lang="en-GB" b="1" i="1">
                        <a:latin typeface="Cambria Math" charset="0"/>
                        <a:ea typeface="Cambria Math" charset="0"/>
                        <a:cs typeface="Cambria Math" charset="0"/>
                      </a:rPr>
                      <m:t>𝒔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natural join of the tuples r and s</a:t>
                </a:r>
                <a:endParaRPr lang="en-US" b="1" dirty="0"/>
              </a:p>
            </p:txBody>
          </p:sp>
        </mc:Choice>
        <mc:Fallback xmlns="">
          <p:sp>
            <p:nvSpPr>
              <p:cNvPr id="15" name="Rounded Rectangular Callout 25">
                <a:extLst>
                  <a:ext uri="{FF2B5EF4-FFF2-40B4-BE49-F238E27FC236}">
                    <a16:creationId xmlns:a16="http://schemas.microsoft.com/office/drawing/2014/main" id="{53F26B92-35B4-49A4-BDCF-79D73F3EF0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277" y="5967485"/>
                <a:ext cx="3202193" cy="643508"/>
              </a:xfrm>
              <a:prstGeom prst="wedgeRoundRectCallout">
                <a:avLst>
                  <a:gd name="adj1" fmla="val 3327"/>
                  <a:gd name="adj2" fmla="val -86129"/>
                  <a:gd name="adj3" fmla="val 16667"/>
                </a:avLst>
              </a:prstGeom>
              <a:blipFill>
                <a:blip r:embed="rId7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8580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8EC40-4113-48C9-8920-4E3B791F2FEE}"/>
              </a:ext>
            </a:extLst>
          </p:cNvPr>
          <p:cNvSpPr txBox="1">
            <a:spLocks/>
          </p:cNvSpPr>
          <p:nvPr/>
        </p:nvSpPr>
        <p:spPr>
          <a:xfrm>
            <a:off x="914400" y="2564905"/>
            <a:ext cx="103632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MapReduce: Closer Look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831EA7-61B4-4117-B833-CED68F86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854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File System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MapReduce operates on a distributed file system</a:t>
            </a:r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Similar to distributed DBMS</a:t>
            </a:r>
          </a:p>
          <a:p>
            <a:pPr lvl="1"/>
            <a:r>
              <a:rPr lang="en-US" sz="2000" dirty="0"/>
              <a:t>All the data is distributed over the nodes/sites</a:t>
            </a:r>
          </a:p>
          <a:p>
            <a:pPr lvl="1"/>
            <a:r>
              <a:rPr lang="en-US" sz="2000" dirty="0"/>
              <a:t>Replication is used for fault-tolerance</a:t>
            </a:r>
          </a:p>
          <a:p>
            <a:r>
              <a:rPr lang="en-US" sz="2400" dirty="0"/>
              <a:t>Appears to the user as if it was a regular file system</a:t>
            </a:r>
          </a:p>
          <a:p>
            <a:r>
              <a:rPr lang="en-US" sz="2400" dirty="0"/>
              <a:t>Implementations: Google File System, Hadoop File System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4079776" y="2135132"/>
            <a:ext cx="4032448" cy="1797924"/>
            <a:chOff x="2123728" y="2204864"/>
            <a:chExt cx="4608511" cy="205477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23728" y="2636912"/>
              <a:ext cx="864095" cy="86409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1960" y="2204864"/>
              <a:ext cx="864095" cy="86409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8144" y="3395539"/>
              <a:ext cx="864095" cy="864095"/>
            </a:xfrm>
            <a:prstGeom prst="rect">
              <a:avLst/>
            </a:prstGeom>
          </p:spPr>
        </p:pic>
        <p:cxnSp>
          <p:nvCxnSpPr>
            <p:cNvPr id="9" name="Straight Connector 8"/>
            <p:cNvCxnSpPr/>
            <p:nvPr/>
          </p:nvCxnSpPr>
          <p:spPr>
            <a:xfrm flipV="1">
              <a:off x="3057546" y="2636911"/>
              <a:ext cx="1154414" cy="311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 flipV="1">
              <a:off x="5102116" y="2773007"/>
              <a:ext cx="910044" cy="5505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 flipV="1">
              <a:off x="3008411" y="3234672"/>
              <a:ext cx="2880320" cy="6948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7062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Inputs To MapReduce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Input files to MapReduce programs can be very large (GBs/TBs in size) </a:t>
            </a:r>
          </a:p>
          <a:p>
            <a:pPr lvl="1"/>
            <a:r>
              <a:rPr lang="en-US" sz="2000" dirty="0"/>
              <a:t>Collections of web pages, links in a social network, Twitter feeds, stock market data, </a:t>
            </a:r>
            <a:r>
              <a:rPr lang="mr-IN" sz="2000" dirty="0"/>
              <a:t>…</a:t>
            </a:r>
            <a:endParaRPr lang="en-US" sz="2000" dirty="0"/>
          </a:p>
          <a:p>
            <a:pPr lvl="1"/>
            <a:r>
              <a:rPr lang="en-US" sz="2000" dirty="0"/>
              <a:t>Satellite images, data from scientific experiments, </a:t>
            </a:r>
            <a:r>
              <a:rPr lang="mr-IN" sz="2000" dirty="0"/>
              <a:t>…</a:t>
            </a:r>
            <a:endParaRPr lang="en-US" sz="2000" dirty="0"/>
          </a:p>
          <a:p>
            <a:r>
              <a:rPr lang="en-US" sz="2400" dirty="0"/>
              <a:t>MapReduce splits these into chunks (~16-64 MB) and provides an ID for each chunk (e.g., the filename)</a:t>
            </a:r>
          </a:p>
          <a:p>
            <a:pPr lvl="1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567608" y="4437112"/>
            <a:ext cx="7114000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Huge file/collection of files in the distributed file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0536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44728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468920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93112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917304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41496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365688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589880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814072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038264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262456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486648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710840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935032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159224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383416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607608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831800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055992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280184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504376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728568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952760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176952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401144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625336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849528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073720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297912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522104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8746296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8970488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194680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9418872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643064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9867256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0091448" y="5229200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6055992" y="4941168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ounded Rectangular Callout 43"/>
          <p:cNvSpPr/>
          <p:nvPr/>
        </p:nvSpPr>
        <p:spPr>
          <a:xfrm>
            <a:off x="2714328" y="5853365"/>
            <a:ext cx="6400176" cy="397687"/>
          </a:xfrm>
          <a:prstGeom prst="wedgeRoundRectCallout">
            <a:avLst>
              <a:gd name="adj1" fmla="val -28448"/>
              <a:gd name="adj2" fmla="val -8070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Each is a key/value pair: key = ID </a:t>
            </a:r>
            <a:r>
              <a:rPr lang="en-US"/>
              <a:t>of chunk, </a:t>
            </a:r>
            <a:r>
              <a:rPr lang="en-US" dirty="0"/>
              <a:t>value = the </a:t>
            </a:r>
            <a:r>
              <a:rPr lang="en-US"/>
              <a:t>chunk itself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862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Computations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1097280" y="4242416"/>
            <a:ext cx="8229600" cy="2135945"/>
          </a:xfrm>
        </p:spPr>
        <p:txBody>
          <a:bodyPr>
            <a:normAutofit/>
          </a:bodyPr>
          <a:lstStyle/>
          <a:p>
            <a:r>
              <a:rPr lang="en-US" sz="2400" dirty="0"/>
              <a:t>Keys/values can be arbitrary objects</a:t>
            </a:r>
          </a:p>
          <a:p>
            <a:pPr lvl="1"/>
            <a:r>
              <a:rPr lang="en-US" sz="2000" dirty="0"/>
              <a:t>Keys are typically small (e.g., integers, strings, etc.)</a:t>
            </a:r>
          </a:p>
          <a:p>
            <a:pPr lvl="1"/>
            <a:r>
              <a:rPr lang="en-US" sz="2000" dirty="0"/>
              <a:t>Values might be larger (e.g., entire text documents, images, etc.)</a:t>
            </a:r>
          </a:p>
          <a:p>
            <a:r>
              <a:rPr lang="en-US" sz="2400" dirty="0"/>
              <a:t>Each MapReduce computation is expressed in terms of two functions: </a:t>
            </a:r>
            <a:r>
              <a:rPr lang="en-US" sz="2400" b="1" dirty="0"/>
              <a:t>Map</a:t>
            </a:r>
            <a:r>
              <a:rPr lang="en-US" sz="2400" dirty="0"/>
              <a:t> &amp; </a:t>
            </a:r>
            <a:r>
              <a:rPr lang="en-US" sz="2400" b="1" dirty="0"/>
              <a:t>Reduce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5228201" y="2468623"/>
            <a:ext cx="2088232" cy="7614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MapReduce</a:t>
            </a:r>
          </a:p>
          <a:p>
            <a:pPr algn="ctr"/>
            <a:r>
              <a:rPr lang="en-US" dirty="0"/>
              <a:t>Computation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6687" y="1760743"/>
            <a:ext cx="5771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(key</a:t>
            </a:r>
            <a:r>
              <a:rPr lang="en-US" baseline="-25000" dirty="0"/>
              <a:t>1</a:t>
            </a:r>
            <a:r>
              <a:rPr lang="en-US" dirty="0"/>
              <a:t>, value</a:t>
            </a:r>
            <a:r>
              <a:rPr lang="en-US" baseline="-25000" dirty="0"/>
              <a:t>1</a:t>
            </a:r>
            <a:r>
              <a:rPr lang="en-US" dirty="0"/>
              <a:t>), (key</a:t>
            </a:r>
            <a:r>
              <a:rPr lang="en-US" baseline="-25000" dirty="0"/>
              <a:t>2</a:t>
            </a:r>
            <a:r>
              <a:rPr lang="en-US" dirty="0"/>
              <a:t>, value</a:t>
            </a:r>
            <a:r>
              <a:rPr lang="en-US" baseline="-25000" dirty="0"/>
              <a:t>2</a:t>
            </a:r>
            <a:r>
              <a:rPr lang="en-US" dirty="0"/>
              <a:t>), (key</a:t>
            </a:r>
            <a:r>
              <a:rPr lang="en-US" baseline="-25000" dirty="0"/>
              <a:t>3</a:t>
            </a:r>
            <a:r>
              <a:rPr lang="en-US" dirty="0"/>
              <a:t>, value</a:t>
            </a:r>
            <a:r>
              <a:rPr lang="en-US" baseline="-25000" dirty="0"/>
              <a:t>3</a:t>
            </a:r>
            <a:r>
              <a:rPr lang="en-US" dirty="0"/>
              <a:t>)</a:t>
            </a:r>
            <a:r>
              <a:rPr lang="en-GB" dirty="0"/>
              <a:t>, </a:t>
            </a:r>
            <a:r>
              <a:rPr lang="mr-IN" dirty="0"/>
              <a:t>…</a:t>
            </a:r>
            <a:r>
              <a:rPr lang="en-GB" dirty="0"/>
              <a:t>, </a:t>
            </a:r>
            <a:r>
              <a:rPr lang="en-US" dirty="0"/>
              <a:t>(</a:t>
            </a:r>
            <a:r>
              <a:rPr lang="en-US" dirty="0" err="1"/>
              <a:t>key</a:t>
            </a:r>
            <a:r>
              <a:rPr lang="en-US" baseline="-25000" dirty="0" err="1"/>
              <a:t>n</a:t>
            </a:r>
            <a:r>
              <a:rPr lang="en-US" dirty="0"/>
              <a:t>, </a:t>
            </a:r>
            <a:r>
              <a:rPr lang="en-US" dirty="0" err="1"/>
              <a:t>value</a:t>
            </a:r>
            <a:r>
              <a:rPr lang="en-US" baseline="-25000" dirty="0" err="1"/>
              <a:t>n</a:t>
            </a:r>
            <a:r>
              <a:rPr lang="en-US" dirty="0"/>
              <a:t>)</a:t>
            </a:r>
          </a:p>
        </p:txBody>
      </p:sp>
      <p:cxnSp>
        <p:nvCxnSpPr>
          <p:cNvPr id="16" name="Straight Arrow Connector 15"/>
          <p:cNvCxnSpPr>
            <a:stCxn id="6" idx="2"/>
            <a:endCxn id="5" idx="0"/>
          </p:cNvCxnSpPr>
          <p:nvPr/>
        </p:nvCxnSpPr>
        <p:spPr>
          <a:xfrm>
            <a:off x="6272317" y="2130076"/>
            <a:ext cx="0" cy="338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43672" y="3611458"/>
            <a:ext cx="625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(key’</a:t>
            </a:r>
            <a:r>
              <a:rPr lang="en-US" baseline="-25000" dirty="0"/>
              <a:t>1</a:t>
            </a:r>
            <a:r>
              <a:rPr lang="en-US" dirty="0"/>
              <a:t>, value’</a:t>
            </a:r>
            <a:r>
              <a:rPr lang="en-US" baseline="-25000" dirty="0"/>
              <a:t>1</a:t>
            </a:r>
            <a:r>
              <a:rPr lang="en-US" dirty="0"/>
              <a:t>), (key’</a:t>
            </a:r>
            <a:r>
              <a:rPr lang="en-US" baseline="-25000" dirty="0"/>
              <a:t>2</a:t>
            </a:r>
            <a:r>
              <a:rPr lang="en-US" dirty="0"/>
              <a:t>, value’</a:t>
            </a:r>
            <a:r>
              <a:rPr lang="en-US" baseline="-25000" dirty="0"/>
              <a:t>2</a:t>
            </a:r>
            <a:r>
              <a:rPr lang="en-US" dirty="0"/>
              <a:t>), (key’</a:t>
            </a:r>
            <a:r>
              <a:rPr lang="en-US" baseline="-25000" dirty="0"/>
              <a:t>3</a:t>
            </a:r>
            <a:r>
              <a:rPr lang="en-US" dirty="0"/>
              <a:t>, value’</a:t>
            </a:r>
            <a:r>
              <a:rPr lang="en-US" baseline="-25000" dirty="0"/>
              <a:t>3</a:t>
            </a:r>
            <a:r>
              <a:rPr lang="en-US" dirty="0"/>
              <a:t>)</a:t>
            </a:r>
            <a:r>
              <a:rPr lang="en-GB" dirty="0"/>
              <a:t>, </a:t>
            </a:r>
            <a:r>
              <a:rPr lang="mr-IN" dirty="0"/>
              <a:t>…</a:t>
            </a:r>
            <a:r>
              <a:rPr lang="en-GB" dirty="0"/>
              <a:t>, </a:t>
            </a:r>
            <a:r>
              <a:rPr lang="en-US" dirty="0"/>
              <a:t>(</a:t>
            </a:r>
            <a:r>
              <a:rPr lang="en-US" dirty="0" err="1"/>
              <a:t>key’</a:t>
            </a:r>
            <a:r>
              <a:rPr lang="en-US" baseline="-25000" dirty="0" err="1"/>
              <a:t>m</a:t>
            </a:r>
            <a:r>
              <a:rPr lang="en-US" dirty="0"/>
              <a:t>, </a:t>
            </a:r>
            <a:r>
              <a:rPr lang="en-US" dirty="0" err="1"/>
              <a:t>value’</a:t>
            </a:r>
            <a:r>
              <a:rPr lang="en-US" baseline="-25000" dirty="0" err="1"/>
              <a:t>m</a:t>
            </a:r>
            <a:r>
              <a:rPr lang="en-US" dirty="0"/>
              <a:t>)</a:t>
            </a:r>
          </a:p>
        </p:txBody>
      </p:sp>
      <p:cxnSp>
        <p:nvCxnSpPr>
          <p:cNvPr id="26" name="Straight Arrow Connector 25"/>
          <p:cNvCxnSpPr>
            <a:stCxn id="5" idx="2"/>
            <a:endCxn id="25" idx="0"/>
          </p:cNvCxnSpPr>
          <p:nvPr/>
        </p:nvCxnSpPr>
        <p:spPr>
          <a:xfrm>
            <a:off x="6272317" y="3230090"/>
            <a:ext cx="0" cy="381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ular Callout 30"/>
          <p:cNvSpPr/>
          <p:nvPr/>
        </p:nvSpPr>
        <p:spPr>
          <a:xfrm>
            <a:off x="7855739" y="2307159"/>
            <a:ext cx="1765803" cy="643508"/>
          </a:xfrm>
          <a:prstGeom prst="wedgeRoundRectCallout">
            <a:avLst>
              <a:gd name="adj1" fmla="val -39788"/>
              <a:gd name="adj2" fmla="val -8070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 keys in the database sense!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938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5" grpId="0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Map</a:t>
            </a:r>
            <a:r>
              <a:rPr lang="en-US" dirty="0"/>
              <a:t>(String key, String value): </a:t>
            </a:r>
          </a:p>
          <a:p>
            <a:pPr lvl="1"/>
            <a:r>
              <a:rPr lang="en-US" dirty="0"/>
              <a:t>Returns a list of key/value pairs</a:t>
            </a:r>
          </a:p>
          <a:p>
            <a:pPr>
              <a:spcBef>
                <a:spcPts val="2472"/>
              </a:spcBef>
            </a:pPr>
            <a:r>
              <a:rPr lang="en-US" b="1" dirty="0"/>
              <a:t>Reduce</a:t>
            </a:r>
            <a:r>
              <a:rPr lang="en-US" dirty="0"/>
              <a:t>(String key, Iterator&lt;String&gt; values):</a:t>
            </a:r>
          </a:p>
          <a:p>
            <a:pPr lvl="1"/>
            <a:r>
              <a:rPr lang="en-US" dirty="0"/>
              <a:t>Returns a list of key/value pairs</a:t>
            </a:r>
          </a:p>
          <a:p>
            <a:pPr>
              <a:spcBef>
                <a:spcPts val="2472"/>
              </a:spcBef>
            </a:pPr>
            <a:r>
              <a:rPr lang="en-US" dirty="0"/>
              <a:t>In practice also some additional code to set:</a:t>
            </a:r>
          </a:p>
          <a:p>
            <a:pPr lvl="1"/>
            <a:r>
              <a:rPr lang="en-US" dirty="0"/>
              <a:t>Locations of input and output files</a:t>
            </a:r>
          </a:p>
          <a:p>
            <a:pPr lvl="1"/>
            <a:r>
              <a:rPr lang="en-US" dirty="0"/>
              <a:t>Tuning parameters (e.g., number of machines, memory </a:t>
            </a:r>
            <a:br>
              <a:rPr lang="en-US" dirty="0"/>
            </a:br>
            <a:r>
              <a:rPr lang="en-US" dirty="0"/>
              <a:t>per Map/Reduce task, etc.)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668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9" name="Rectangle 48"/>
          <p:cNvSpPr/>
          <p:nvPr/>
        </p:nvSpPr>
        <p:spPr>
          <a:xfrm>
            <a:off x="2303984" y="2665071"/>
            <a:ext cx="96471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03984" y="3604194"/>
            <a:ext cx="7445432" cy="5760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Intermediate result (collection of all key/value pairs)</a:t>
            </a:r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3187144" y="5035567"/>
            <a:ext cx="96471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Reduce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84104" y="2665071"/>
            <a:ext cx="96471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64224" y="2665071"/>
            <a:ext cx="96471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44344" y="2665071"/>
            <a:ext cx="96471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24464" y="2665071"/>
            <a:ext cx="96471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04584" y="2665071"/>
            <a:ext cx="96471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84704" y="2665071"/>
            <a:ext cx="96471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88462" y="5035567"/>
            <a:ext cx="96471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Reduce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6198195" y="5035567"/>
            <a:ext cx="96471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Reduce</a:t>
            </a:r>
            <a:endParaRPr lang="en-US" dirty="0"/>
          </a:p>
        </p:txBody>
      </p:sp>
      <p:sp>
        <p:nvSpPr>
          <p:cNvPr id="76" name="Rectangle 75"/>
          <p:cNvSpPr/>
          <p:nvPr/>
        </p:nvSpPr>
        <p:spPr>
          <a:xfrm>
            <a:off x="7704584" y="5035567"/>
            <a:ext cx="96471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Reduce</a:t>
            </a:r>
            <a:endParaRPr lang="en-US" dirty="0"/>
          </a:p>
        </p:txBody>
      </p:sp>
      <p:cxnSp>
        <p:nvCxnSpPr>
          <p:cNvPr id="78" name="Straight Arrow Connector 77"/>
          <p:cNvCxnSpPr>
            <a:endCxn id="49" idx="0"/>
          </p:cNvCxnSpPr>
          <p:nvPr/>
        </p:nvCxnSpPr>
        <p:spPr>
          <a:xfrm>
            <a:off x="2786340" y="2169803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3866460" y="2169802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4946580" y="2169801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6026700" y="2169800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7106820" y="2169799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8186940" y="2169798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9267060" y="2169797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9" idx="2"/>
          </p:cNvCxnSpPr>
          <p:nvPr/>
        </p:nvCxnSpPr>
        <p:spPr>
          <a:xfrm>
            <a:off x="2786340" y="3097120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3866460" y="3108926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4978220" y="3097120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6026700" y="3097120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7106820" y="3097120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8186940" y="3097120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9267060" y="3097120"/>
            <a:ext cx="0" cy="4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67" idx="0"/>
          </p:cNvCxnSpPr>
          <p:nvPr/>
        </p:nvCxnSpPr>
        <p:spPr>
          <a:xfrm>
            <a:off x="3669500" y="4180259"/>
            <a:ext cx="0" cy="855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169538" y="4427640"/>
            <a:ext cx="1499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(key</a:t>
            </a:r>
            <a:r>
              <a:rPr lang="en-US" baseline="-25000" dirty="0"/>
              <a:t>1</a:t>
            </a:r>
            <a:r>
              <a:rPr lang="en-US" dirty="0"/>
              <a:t>, values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cxnSp>
        <p:nvCxnSpPr>
          <p:cNvPr id="98" name="Straight Arrow Connector 97"/>
          <p:cNvCxnSpPr/>
          <p:nvPr/>
        </p:nvCxnSpPr>
        <p:spPr>
          <a:xfrm>
            <a:off x="5179234" y="4180259"/>
            <a:ext cx="0" cy="855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3714243" y="4427640"/>
            <a:ext cx="1499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(key</a:t>
            </a:r>
            <a:r>
              <a:rPr lang="en-US" baseline="-25000" dirty="0"/>
              <a:t>2</a:t>
            </a:r>
            <a:r>
              <a:rPr lang="en-US" dirty="0"/>
              <a:t>, values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  <p:cxnSp>
        <p:nvCxnSpPr>
          <p:cNvPr id="100" name="Straight Arrow Connector 99"/>
          <p:cNvCxnSpPr/>
          <p:nvPr/>
        </p:nvCxnSpPr>
        <p:spPr>
          <a:xfrm>
            <a:off x="6678239" y="4189046"/>
            <a:ext cx="0" cy="855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5213248" y="4436427"/>
            <a:ext cx="1499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(key</a:t>
            </a:r>
            <a:r>
              <a:rPr lang="en-US" baseline="-25000" dirty="0"/>
              <a:t>3</a:t>
            </a:r>
            <a:r>
              <a:rPr lang="en-US" dirty="0"/>
              <a:t>, values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23938" y="4422540"/>
            <a:ext cx="1499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(key</a:t>
            </a:r>
            <a:r>
              <a:rPr lang="en-US" baseline="-25000" dirty="0"/>
              <a:t>4</a:t>
            </a:r>
            <a:r>
              <a:rPr lang="en-US" dirty="0"/>
              <a:t>, values</a:t>
            </a:r>
            <a:r>
              <a:rPr lang="en-US" baseline="-25000" dirty="0"/>
              <a:t>4</a:t>
            </a:r>
            <a:r>
              <a:rPr lang="en-US" dirty="0"/>
              <a:t>)</a:t>
            </a:r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8186940" y="4180258"/>
            <a:ext cx="0" cy="855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3669500" y="5467616"/>
            <a:ext cx="0" cy="590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5179234" y="5467616"/>
            <a:ext cx="0" cy="590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6688968" y="5467616"/>
            <a:ext cx="0" cy="590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8198702" y="5467616"/>
            <a:ext cx="0" cy="590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2994033" y="6055826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 file 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03766" y="6059246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 file 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043028" y="6062666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 file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555196" y="6066086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 file 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21002" y="1791594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Chunk 1</a:t>
            </a:r>
            <a:endParaRPr 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3392613" y="1782555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Chunk 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464224" y="1773516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Chunk 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535835" y="1764477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Chunk 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07446" y="1755438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Chunk 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79057" y="1746399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Chunk 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50668" y="1737360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Chunk 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054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4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96" grpId="0"/>
      <p:bldP spid="99" grpId="0"/>
      <p:bldP spid="101" grpId="0"/>
      <p:bldP spid="102" grpId="0"/>
      <p:bldP spid="112" grpId="0"/>
      <p:bldP spid="113" grpId="0"/>
      <p:bldP spid="114" grpId="0"/>
      <p:bldP spid="1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Expressiveness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MapReduce can be used to compute a number of interesting functions on large datasets</a:t>
            </a:r>
          </a:p>
          <a:p>
            <a:r>
              <a:rPr lang="en-US" dirty="0"/>
              <a:t>We have seen:</a:t>
            </a:r>
          </a:p>
          <a:p>
            <a:pPr lvl="1"/>
            <a:r>
              <a:rPr lang="en-US" dirty="0"/>
              <a:t>Counting the number of occurrences of each word</a:t>
            </a:r>
          </a:p>
          <a:p>
            <a:pPr lvl="1"/>
            <a:r>
              <a:rPr lang="en-US" dirty="0"/>
              <a:t>Operators of relational algebra</a:t>
            </a:r>
          </a:p>
          <a:p>
            <a:pPr lvl="1"/>
            <a:r>
              <a:rPr lang="en-US" dirty="0"/>
              <a:t>Matrix multiplication </a:t>
            </a:r>
            <a:r>
              <a:rPr lang="en-US" dirty="0">
                <a:sym typeface="Wingdings"/>
              </a:rPr>
              <a:t> PageRank</a:t>
            </a:r>
          </a:p>
          <a:p>
            <a:pPr>
              <a:spcBef>
                <a:spcPts val="2472"/>
              </a:spcBef>
            </a:pPr>
            <a:r>
              <a:rPr lang="en-US" dirty="0">
                <a:sym typeface="Wingdings"/>
              </a:rPr>
              <a:t>MapReduce is not a universal parallelism framework</a:t>
            </a:r>
          </a:p>
          <a:p>
            <a:pPr lvl="1"/>
            <a:r>
              <a:rPr lang="en-US" dirty="0">
                <a:sym typeface="Wingdings"/>
              </a:rPr>
              <a:t>Not every problem that is </a:t>
            </a:r>
            <a:r>
              <a:rPr lang="en-US" dirty="0" err="1">
                <a:sym typeface="Wingdings"/>
              </a:rPr>
              <a:t>parallelisable</a:t>
            </a:r>
            <a:r>
              <a:rPr lang="en-US" dirty="0">
                <a:sym typeface="Wingdings"/>
              </a:rPr>
              <a:t> can be expressed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and solved nicely in MapReduce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211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MapReduce is a framework for solving problems on large volumes of data</a:t>
            </a:r>
          </a:p>
          <a:p>
            <a:pPr lvl="1"/>
            <a:r>
              <a:rPr lang="en-US" dirty="0"/>
              <a:t>Simple implementation: Map &amp; Reduce</a:t>
            </a:r>
          </a:p>
          <a:p>
            <a:pPr lvl="1"/>
            <a:r>
              <a:rPr lang="en-US" dirty="0"/>
              <a:t>MapReduce takes care of the rest</a:t>
            </a:r>
          </a:p>
          <a:p>
            <a:r>
              <a:rPr lang="en-US" dirty="0"/>
              <a:t>Many interesting problems can be solved using MapReduce</a:t>
            </a:r>
          </a:p>
          <a:p>
            <a:r>
              <a:rPr lang="en-US" dirty="0"/>
              <a:t>Big Data tools are based on MapReduce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3406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8.8|45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2|84.3|89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43.9|9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6|22.6|29.8|10.1|1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5|20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|41.8|13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34.3|28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4|13.4|3.6|18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16.6|25.2|10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2.7|6.8|17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7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56</TotalTime>
  <Words>1106</Words>
  <Application>Microsoft Office PowerPoint</Application>
  <PresentationFormat>Widescreen</PresentationFormat>
  <Paragraphs>175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Calibri Light</vt:lpstr>
      <vt:lpstr>Cambria Math</vt:lpstr>
      <vt:lpstr>Retrospect</vt:lpstr>
      <vt:lpstr>More indepth look at MapReduce</vt:lpstr>
      <vt:lpstr>Overview over this video</vt:lpstr>
      <vt:lpstr>Matrix multiplication</vt:lpstr>
      <vt:lpstr>First MapReduce</vt:lpstr>
      <vt:lpstr>Second MapReduce</vt:lpstr>
      <vt:lpstr>Relational algebra</vt:lpstr>
      <vt:lpstr>Selection σ_c (R)</vt:lpstr>
      <vt:lpstr>Natural join R⋈S</vt:lpstr>
      <vt:lpstr>PowerPoint Presentation</vt:lpstr>
      <vt:lpstr>Distributed File System</vt:lpstr>
      <vt:lpstr>Inputs To MapReduce Programs</vt:lpstr>
      <vt:lpstr>MapReduce Computations</vt:lpstr>
      <vt:lpstr>Implementation</vt:lpstr>
      <vt:lpstr>Execution</vt:lpstr>
      <vt:lpstr>Expressiveness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indepth look at MapReduce</dc:title>
  <dc:creator>Rasmus Ibsen-Jensen</dc:creator>
  <cp:lastModifiedBy>Rasmus Ibsen-Jensen</cp:lastModifiedBy>
  <cp:revision>8</cp:revision>
  <dcterms:created xsi:type="dcterms:W3CDTF">2020-11-21T19:10:37Z</dcterms:created>
  <dcterms:modified xsi:type="dcterms:W3CDTF">2020-11-24T17:34:15Z</dcterms:modified>
</cp:coreProperties>
</file>